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9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8" r:id="rId2"/>
    <p:sldId id="259" r:id="rId3"/>
    <p:sldId id="265" r:id="rId4"/>
    <p:sldId id="268" r:id="rId5"/>
    <p:sldId id="267" r:id="rId6"/>
    <p:sldId id="261" r:id="rId7"/>
    <p:sldId id="260" r:id="rId8"/>
    <p:sldId id="276" r:id="rId9"/>
    <p:sldId id="277" r:id="rId10"/>
    <p:sldId id="278" r:id="rId11"/>
    <p:sldId id="279" r:id="rId12"/>
    <p:sldId id="280" r:id="rId13"/>
    <p:sldId id="282" r:id="rId14"/>
    <p:sldId id="281" r:id="rId15"/>
    <p:sldId id="262" r:id="rId16"/>
    <p:sldId id="275" r:id="rId17"/>
    <p:sldId id="283" r:id="rId18"/>
    <p:sldId id="287" r:id="rId19"/>
    <p:sldId id="284" r:id="rId20"/>
    <p:sldId id="285" r:id="rId21"/>
    <p:sldId id="286" r:id="rId22"/>
    <p:sldId id="288" r:id="rId23"/>
    <p:sldId id="257" r:id="rId24"/>
    <p:sldId id="256" r:id="rId25"/>
    <p:sldId id="289" r:id="rId26"/>
    <p:sldId id="290" r:id="rId27"/>
    <p:sldId id="351" r:id="rId28"/>
    <p:sldId id="352" r:id="rId29"/>
    <p:sldId id="353" r:id="rId30"/>
    <p:sldId id="354" r:id="rId31"/>
    <p:sldId id="355" r:id="rId32"/>
    <p:sldId id="356" r:id="rId33"/>
    <p:sldId id="357" r:id="rId34"/>
    <p:sldId id="358" r:id="rId35"/>
    <p:sldId id="359" r:id="rId36"/>
    <p:sldId id="369" r:id="rId37"/>
    <p:sldId id="314" r:id="rId38"/>
    <p:sldId id="344" r:id="rId39"/>
    <p:sldId id="362" r:id="rId40"/>
    <p:sldId id="363" r:id="rId41"/>
    <p:sldId id="364" r:id="rId42"/>
    <p:sldId id="360" r:id="rId43"/>
    <p:sldId id="370" r:id="rId44"/>
    <p:sldId id="361" r:id="rId45"/>
    <p:sldId id="366" r:id="rId46"/>
    <p:sldId id="367" r:id="rId47"/>
    <p:sldId id="368" r:id="rId48"/>
    <p:sldId id="342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01" autoAdjust="0"/>
    <p:restoredTop sz="94660"/>
  </p:normalViewPr>
  <p:slideViewPr>
    <p:cSldViewPr snapToGrid="0" showGuides="1">
      <p:cViewPr>
        <p:scale>
          <a:sx n="25" d="100"/>
          <a:sy n="25" d="100"/>
        </p:scale>
        <p:origin x="2102" y="7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D4E8F6-2DA1-4BE1-9252-FD9EC0E6F42D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87B20-610D-41D1-B544-AC819D4789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4967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56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5028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42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526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736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618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405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7158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31864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775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618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0979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1629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366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AB849B-8AA4-462E-90D4-30B99F7942ED}" type="slidenum">
              <a:rPr lang="zh-CN" altLang="en-US" smtClean="0"/>
              <a:t>48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A5859D-FFD8-4334-9F66-6892E83D68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712620-0227-40CE-8A03-884E934BA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CE1DD-0FEE-4D2E-A10D-4D024EC21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029806-4AC1-4C98-83DD-A1D6B3D9E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D68139-9925-4431-AE57-A63A252F6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3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62877A-0EE7-496F-AE46-7E98DF3BC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10890-13E6-4514-8F9C-5F9DF1754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07EA96-71BB-494B-954D-E969DBF83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605B51-B836-4AE9-A6DD-052B18B5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155A70-ECFC-4743-97B4-610CDB8A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11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5DBD2B-2D3D-437B-8748-AA5074B2B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4AAE9D-F821-4BD6-B6C7-A9EAD7F27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80916C-5063-4603-BBD9-92D3B9E2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7BBD59-EE1A-4E94-BDF3-2E8104842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CBA59-A162-4C23-8E51-8FFEABC9B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628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AAEE2E-43FA-4D50-BF6F-F1C67539F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4D13D-CA18-42BA-8017-03CA6E7B9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B3FBE7-5269-44D0-BCA2-8A2AB93B1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311A66-AF76-4E39-8E40-9A390542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283FB7-81C0-481C-ABE0-EB41C56E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19D660-ADB5-4FCA-B71E-5CA8D425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8080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384CE-052E-4360-8FAA-27240F555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24F319-337E-43B4-87FF-12D8FAD5A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96D6E8-AC4E-43DF-807B-CC265776E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4E3194-38FD-470B-AD18-C4EA7421A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EAC566-6572-4156-A2F6-C3204F00EB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9872956-BD4D-49A1-895D-E53DA1C77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A130C7-1CA0-482E-958C-E19F0DB35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A33E8D-0E12-4246-B609-6FB42CE8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274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8EF381-4303-4C8E-9555-6BB4ED58A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184F520-428B-414E-B985-2F8AC7BE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8C8822-E611-45FA-AD44-6C93A4369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45A16D-1877-4177-BCCF-3DAAE53A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10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983468D-2609-4482-A2D3-5F73CCB9E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2C6DA7-F253-44DC-A35B-60108C60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9196C0-BD18-4405-863C-60D61D08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08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BC2D1-1F52-4CF1-8121-3773C2E8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B4DA-551D-4ABE-A9BF-A95C54F59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B86BC0-240D-4EB5-A006-2823DEE1A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106003-193B-47D0-94A2-3532CB9B6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F5311F-3575-4E9F-9B1D-E8D3C841B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35F11F-5853-4C68-BB9F-02DA07C60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4459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A2BB2-3AA7-473D-B92D-483A422CE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512E76B-EA6D-4BAD-B9A0-2AE24D59F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25927D-8128-47AB-8C98-0324F380E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D7E9D2-F7DF-4383-BD08-00D9A924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2192BF-AD5D-4405-8B6F-EDB72BB4F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5D2F8F-21A0-4565-96E4-E0D087133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374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B090F-5771-4F33-BF4D-5A762A4B7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59FE6C-C2EA-4723-83B5-102BEB9F23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3D47B3-3F20-47E0-A176-D3CE2848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4F8FD6-65EB-418F-859E-6E538820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F3AFCC-F056-4326-BD49-F07A9EC02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1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785AE-2BDB-4DBD-BCDF-FB83387A6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47C909C-9758-4B3B-9949-61550C0590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3A8044-F538-455A-BCE8-ECDE7E136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C7AD0-5F9B-4467-A17F-F0AA1C95F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127FB-F202-405F-82B3-2F01372C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537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41E9BD-8EF0-479F-ADD7-B53BCDF6B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FB7FCB-7ECE-4100-9A21-6488A86F2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D7960-488F-4CD4-9596-F77B2D5179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5CA17-19BC-455D-94DE-194FAEF3D0B4}" type="datetimeFigureOut">
              <a:rPr lang="zh-CN" altLang="en-US" smtClean="0"/>
              <a:t>2021/7/3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C7FB34-BB2D-48A5-91D7-BF1CC7C65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A66030-FFE3-4184-B325-A3C1B7E3AE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0002B-DB28-4520-A569-03C3D79DD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780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9" Type="http://schemas.openxmlformats.org/officeDocument/2006/relationships/notesSlide" Target="../notesSlides/notesSlide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jp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167CDC-FCFE-4187-82BD-F117D848A8B8}"/>
              </a:ext>
            </a:extLst>
          </p:cNvPr>
          <p:cNvGrpSpPr/>
          <p:nvPr/>
        </p:nvGrpSpPr>
        <p:grpSpPr>
          <a:xfrm>
            <a:off x="4408902" y="6255915"/>
            <a:ext cx="3374196" cy="142436"/>
            <a:chOff x="3676844" y="6224606"/>
            <a:chExt cx="4857556" cy="205054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ACD39CF4-EE00-4EF0-AFF6-FA75B15E137A}"/>
                </a:ext>
              </a:extLst>
            </p:cNvPr>
            <p:cNvSpPr/>
            <p:nvPr/>
          </p:nvSpPr>
          <p:spPr>
            <a:xfrm>
              <a:off x="3676844" y="6249442"/>
              <a:ext cx="4857556" cy="180218"/>
            </a:xfrm>
            <a:prstGeom prst="parallelogram">
              <a:avLst>
                <a:gd name="adj" fmla="val 42747"/>
              </a:avLst>
            </a:prstGeom>
            <a:solidFill>
              <a:schemeClr val="bg1"/>
            </a:solidFill>
            <a:ln w="1905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2829C85-D3B3-4FEC-BEDF-355CBF5FCD82}"/>
                </a:ext>
              </a:extLst>
            </p:cNvPr>
            <p:cNvSpPr/>
            <p:nvPr/>
          </p:nvSpPr>
          <p:spPr>
            <a:xfrm>
              <a:off x="3718560" y="6224606"/>
              <a:ext cx="4796644" cy="178795"/>
            </a:xfrm>
            <a:prstGeom prst="parallelogram">
              <a:avLst>
                <a:gd name="adj" fmla="val 42747"/>
              </a:avLst>
            </a:prstGeom>
            <a:solidFill>
              <a:srgbClr val="EDA32C"/>
            </a:solidFill>
            <a:ln w="190500" cap="rnd">
              <a:solidFill>
                <a:srgbClr val="EDA32C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225C96F-069A-4998-B358-E463D525C4D4}"/>
              </a:ext>
            </a:extLst>
          </p:cNvPr>
          <p:cNvSpPr txBox="1"/>
          <p:nvPr/>
        </p:nvSpPr>
        <p:spPr>
          <a:xfrm>
            <a:off x="4371241" y="4417522"/>
            <a:ext cx="1468290" cy="341293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团队：</a:t>
            </a:r>
            <a:r>
              <a:rPr lang="en-US" altLang="zh-CN" sz="1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IMF</a:t>
            </a:r>
            <a:r>
              <a:rPr lang="zh-CN" altLang="en-US" sz="1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B32E973-6832-48AB-A6FE-314E0C400CAD}"/>
              </a:ext>
            </a:extLst>
          </p:cNvPr>
          <p:cNvSpPr txBox="1"/>
          <p:nvPr/>
        </p:nvSpPr>
        <p:spPr>
          <a:xfrm>
            <a:off x="6352471" y="4392400"/>
            <a:ext cx="1675606" cy="341293"/>
          </a:xfrm>
          <a:prstGeom prst="roundRect">
            <a:avLst>
              <a:gd name="adj" fmla="val 33061"/>
            </a:avLst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汇报人：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C985A1-D3EE-47E7-8309-D3E37407D18F}"/>
              </a:ext>
            </a:extLst>
          </p:cNvPr>
          <p:cNvSpPr txBox="1"/>
          <p:nvPr/>
        </p:nvSpPr>
        <p:spPr>
          <a:xfrm>
            <a:off x="2311399" y="2858763"/>
            <a:ext cx="7569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4800" spc="3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共享记账软件甲方汇报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EE346FC-6C17-4732-A254-C9D82CA8D539}"/>
              </a:ext>
            </a:extLst>
          </p:cNvPr>
          <p:cNvSpPr/>
          <p:nvPr/>
        </p:nvSpPr>
        <p:spPr>
          <a:xfrm>
            <a:off x="4256074" y="4474815"/>
            <a:ext cx="269668" cy="269668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18" name="Freeform 105">
            <a:extLst>
              <a:ext uri="{FF2B5EF4-FFF2-40B4-BE49-F238E27FC236}">
                <a16:creationId xmlns:a16="http://schemas.microsoft.com/office/drawing/2014/main" id="{B90AE814-6515-4EBE-A96C-166D0BE29BD7}"/>
              </a:ext>
            </a:extLst>
          </p:cNvPr>
          <p:cNvSpPr>
            <a:spLocks noEditPoints="1"/>
          </p:cNvSpPr>
          <p:nvPr/>
        </p:nvSpPr>
        <p:spPr bwMode="auto">
          <a:xfrm>
            <a:off x="4301897" y="4535932"/>
            <a:ext cx="189536" cy="133267"/>
          </a:xfrm>
          <a:custGeom>
            <a:avLst/>
            <a:gdLst>
              <a:gd name="T0" fmla="*/ 256 w 256"/>
              <a:gd name="T1" fmla="*/ 172 h 180"/>
              <a:gd name="T2" fmla="*/ 256 w 256"/>
              <a:gd name="T3" fmla="*/ 172 h 180"/>
              <a:gd name="T4" fmla="*/ 248 w 256"/>
              <a:gd name="T5" fmla="*/ 180 h 180"/>
              <a:gd name="T6" fmla="*/ 189 w 256"/>
              <a:gd name="T7" fmla="*/ 180 h 180"/>
              <a:gd name="T8" fmla="*/ 196 w 256"/>
              <a:gd name="T9" fmla="*/ 170 h 180"/>
              <a:gd name="T10" fmla="*/ 196 w 256"/>
              <a:gd name="T11" fmla="*/ 170 h 180"/>
              <a:gd name="T12" fmla="*/ 196 w 256"/>
              <a:gd name="T13" fmla="*/ 170 h 180"/>
              <a:gd name="T14" fmla="*/ 170 w 256"/>
              <a:gd name="T15" fmla="*/ 121 h 180"/>
              <a:gd name="T16" fmla="*/ 152 w 256"/>
              <a:gd name="T17" fmla="*/ 115 h 180"/>
              <a:gd name="T18" fmla="*/ 152 w 256"/>
              <a:gd name="T19" fmla="*/ 100 h 180"/>
              <a:gd name="T20" fmla="*/ 144 w 256"/>
              <a:gd name="T21" fmla="*/ 80 h 180"/>
              <a:gd name="T22" fmla="*/ 139 w 256"/>
              <a:gd name="T23" fmla="*/ 72 h 180"/>
              <a:gd name="T24" fmla="*/ 141 w 256"/>
              <a:gd name="T25" fmla="*/ 59 h 180"/>
              <a:gd name="T26" fmla="*/ 140 w 256"/>
              <a:gd name="T27" fmla="*/ 42 h 180"/>
              <a:gd name="T28" fmla="*/ 171 w 256"/>
              <a:gd name="T29" fmla="*/ 16 h 180"/>
              <a:gd name="T30" fmla="*/ 202 w 256"/>
              <a:gd name="T31" fmla="*/ 42 h 180"/>
              <a:gd name="T32" fmla="*/ 200 w 256"/>
              <a:gd name="T33" fmla="*/ 59 h 180"/>
              <a:gd name="T34" fmla="*/ 203 w 256"/>
              <a:gd name="T35" fmla="*/ 72 h 180"/>
              <a:gd name="T36" fmla="*/ 198 w 256"/>
              <a:gd name="T37" fmla="*/ 80 h 180"/>
              <a:gd name="T38" fmla="*/ 189 w 256"/>
              <a:gd name="T39" fmla="*/ 100 h 180"/>
              <a:gd name="T40" fmla="*/ 190 w 256"/>
              <a:gd name="T41" fmla="*/ 115 h 180"/>
              <a:gd name="T42" fmla="*/ 210 w 256"/>
              <a:gd name="T43" fmla="*/ 124 h 180"/>
              <a:gd name="T44" fmla="*/ 235 w 256"/>
              <a:gd name="T45" fmla="*/ 133 h 180"/>
              <a:gd name="T46" fmla="*/ 256 w 256"/>
              <a:gd name="T47" fmla="*/ 172 h 180"/>
              <a:gd name="T48" fmla="*/ 136 w 256"/>
              <a:gd name="T49" fmla="*/ 119 h 180"/>
              <a:gd name="T50" fmla="*/ 164 w 256"/>
              <a:gd name="T51" fmla="*/ 128 h 180"/>
              <a:gd name="T52" fmla="*/ 187 w 256"/>
              <a:gd name="T53" fmla="*/ 171 h 180"/>
              <a:gd name="T54" fmla="*/ 187 w 256"/>
              <a:gd name="T55" fmla="*/ 171 h 180"/>
              <a:gd name="T56" fmla="*/ 187 w 256"/>
              <a:gd name="T57" fmla="*/ 171 h 180"/>
              <a:gd name="T58" fmla="*/ 178 w 256"/>
              <a:gd name="T59" fmla="*/ 180 h 180"/>
              <a:gd name="T60" fmla="*/ 9 w 256"/>
              <a:gd name="T61" fmla="*/ 180 h 180"/>
              <a:gd name="T62" fmla="*/ 0 w 256"/>
              <a:gd name="T63" fmla="*/ 171 h 180"/>
              <a:gd name="T64" fmla="*/ 0 w 256"/>
              <a:gd name="T65" fmla="*/ 171 h 180"/>
              <a:gd name="T66" fmla="*/ 0 w 256"/>
              <a:gd name="T67" fmla="*/ 171 h 180"/>
              <a:gd name="T68" fmla="*/ 24 w 256"/>
              <a:gd name="T69" fmla="*/ 128 h 180"/>
              <a:gd name="T70" fmla="*/ 51 w 256"/>
              <a:gd name="T71" fmla="*/ 119 h 180"/>
              <a:gd name="T72" fmla="*/ 73 w 256"/>
              <a:gd name="T73" fmla="*/ 109 h 180"/>
              <a:gd name="T74" fmla="*/ 73 w 256"/>
              <a:gd name="T75" fmla="*/ 92 h 180"/>
              <a:gd name="T76" fmla="*/ 64 w 256"/>
              <a:gd name="T77" fmla="*/ 70 h 180"/>
              <a:gd name="T78" fmla="*/ 58 w 256"/>
              <a:gd name="T79" fmla="*/ 62 h 180"/>
              <a:gd name="T80" fmla="*/ 61 w 256"/>
              <a:gd name="T81" fmla="*/ 47 h 180"/>
              <a:gd name="T82" fmla="*/ 60 w 256"/>
              <a:gd name="T83" fmla="*/ 28 h 180"/>
              <a:gd name="T84" fmla="*/ 94 w 256"/>
              <a:gd name="T85" fmla="*/ 0 h 180"/>
              <a:gd name="T86" fmla="*/ 127 w 256"/>
              <a:gd name="T87" fmla="*/ 28 h 180"/>
              <a:gd name="T88" fmla="*/ 126 w 256"/>
              <a:gd name="T89" fmla="*/ 47 h 180"/>
              <a:gd name="T90" fmla="*/ 129 w 256"/>
              <a:gd name="T91" fmla="*/ 62 h 180"/>
              <a:gd name="T92" fmla="*/ 123 w 256"/>
              <a:gd name="T93" fmla="*/ 70 h 180"/>
              <a:gd name="T94" fmla="*/ 114 w 256"/>
              <a:gd name="T95" fmla="*/ 92 h 180"/>
              <a:gd name="T96" fmla="*/ 114 w 256"/>
              <a:gd name="T97" fmla="*/ 109 h 180"/>
              <a:gd name="T98" fmla="*/ 136 w 256"/>
              <a:gd name="T99" fmla="*/ 119 h 1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56" h="180">
                <a:moveTo>
                  <a:pt x="256" y="172"/>
                </a:moveTo>
                <a:cubicBezTo>
                  <a:pt x="256" y="172"/>
                  <a:pt x="256" y="172"/>
                  <a:pt x="256" y="172"/>
                </a:cubicBezTo>
                <a:cubicBezTo>
                  <a:pt x="256" y="176"/>
                  <a:pt x="252" y="180"/>
                  <a:pt x="248" y="180"/>
                </a:cubicBezTo>
                <a:cubicBezTo>
                  <a:pt x="189" y="180"/>
                  <a:pt x="189" y="180"/>
                  <a:pt x="189" y="180"/>
                </a:cubicBezTo>
                <a:cubicBezTo>
                  <a:pt x="193" y="179"/>
                  <a:pt x="196" y="175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70"/>
                  <a:pt x="196" y="170"/>
                </a:cubicBezTo>
                <a:cubicBezTo>
                  <a:pt x="196" y="170"/>
                  <a:pt x="196" y="134"/>
                  <a:pt x="170" y="121"/>
                </a:cubicBezTo>
                <a:cubicBezTo>
                  <a:pt x="159" y="116"/>
                  <a:pt x="158" y="117"/>
                  <a:pt x="152" y="115"/>
                </a:cubicBezTo>
                <a:cubicBezTo>
                  <a:pt x="152" y="100"/>
                  <a:pt x="152" y="100"/>
                  <a:pt x="152" y="100"/>
                </a:cubicBezTo>
                <a:cubicBezTo>
                  <a:pt x="152" y="100"/>
                  <a:pt x="146" y="95"/>
                  <a:pt x="144" y="80"/>
                </a:cubicBezTo>
                <a:cubicBezTo>
                  <a:pt x="141" y="81"/>
                  <a:pt x="139" y="76"/>
                  <a:pt x="139" y="72"/>
                </a:cubicBezTo>
                <a:cubicBezTo>
                  <a:pt x="139" y="69"/>
                  <a:pt x="137" y="58"/>
                  <a:pt x="141" y="59"/>
                </a:cubicBezTo>
                <a:cubicBezTo>
                  <a:pt x="141" y="52"/>
                  <a:pt x="140" y="45"/>
                  <a:pt x="140" y="42"/>
                </a:cubicBezTo>
                <a:cubicBezTo>
                  <a:pt x="141" y="30"/>
                  <a:pt x="153" y="17"/>
                  <a:pt x="171" y="16"/>
                </a:cubicBezTo>
                <a:cubicBezTo>
                  <a:pt x="192" y="17"/>
                  <a:pt x="201" y="30"/>
                  <a:pt x="202" y="42"/>
                </a:cubicBezTo>
                <a:cubicBezTo>
                  <a:pt x="202" y="45"/>
                  <a:pt x="201" y="52"/>
                  <a:pt x="200" y="59"/>
                </a:cubicBezTo>
                <a:cubicBezTo>
                  <a:pt x="205" y="58"/>
                  <a:pt x="203" y="69"/>
                  <a:pt x="203" y="72"/>
                </a:cubicBezTo>
                <a:cubicBezTo>
                  <a:pt x="203" y="76"/>
                  <a:pt x="201" y="81"/>
                  <a:pt x="198" y="80"/>
                </a:cubicBezTo>
                <a:cubicBezTo>
                  <a:pt x="196" y="95"/>
                  <a:pt x="189" y="100"/>
                  <a:pt x="189" y="100"/>
                </a:cubicBezTo>
                <a:cubicBezTo>
                  <a:pt x="190" y="115"/>
                  <a:pt x="190" y="115"/>
                  <a:pt x="190" y="115"/>
                </a:cubicBezTo>
                <a:cubicBezTo>
                  <a:pt x="190" y="115"/>
                  <a:pt x="193" y="117"/>
                  <a:pt x="210" y="124"/>
                </a:cubicBezTo>
                <a:cubicBezTo>
                  <a:pt x="226" y="131"/>
                  <a:pt x="221" y="126"/>
                  <a:pt x="235" y="133"/>
                </a:cubicBezTo>
                <a:cubicBezTo>
                  <a:pt x="256" y="143"/>
                  <a:pt x="256" y="172"/>
                  <a:pt x="256" y="172"/>
                </a:cubicBezTo>
                <a:close/>
                <a:moveTo>
                  <a:pt x="136" y="119"/>
                </a:moveTo>
                <a:cubicBezTo>
                  <a:pt x="155" y="126"/>
                  <a:pt x="149" y="121"/>
                  <a:pt x="164" y="128"/>
                </a:cubicBezTo>
                <a:cubicBezTo>
                  <a:pt x="187" y="140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1"/>
                  <a:pt x="187" y="171"/>
                  <a:pt x="187" y="171"/>
                </a:cubicBezTo>
                <a:cubicBezTo>
                  <a:pt x="187" y="176"/>
                  <a:pt x="183" y="180"/>
                  <a:pt x="178" y="180"/>
                </a:cubicBezTo>
                <a:cubicBezTo>
                  <a:pt x="9" y="180"/>
                  <a:pt x="9" y="180"/>
                  <a:pt x="9" y="180"/>
                </a:cubicBezTo>
                <a:cubicBezTo>
                  <a:pt x="4" y="180"/>
                  <a:pt x="0" y="176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71"/>
                  <a:pt x="0" y="171"/>
                </a:cubicBezTo>
                <a:cubicBezTo>
                  <a:pt x="0" y="171"/>
                  <a:pt x="0" y="140"/>
                  <a:pt x="24" y="128"/>
                </a:cubicBezTo>
                <a:cubicBezTo>
                  <a:pt x="38" y="121"/>
                  <a:pt x="33" y="127"/>
                  <a:pt x="51" y="119"/>
                </a:cubicBezTo>
                <a:cubicBezTo>
                  <a:pt x="69" y="112"/>
                  <a:pt x="73" y="109"/>
                  <a:pt x="73" y="109"/>
                </a:cubicBezTo>
                <a:cubicBezTo>
                  <a:pt x="73" y="92"/>
                  <a:pt x="73" y="92"/>
                  <a:pt x="73" y="92"/>
                </a:cubicBezTo>
                <a:cubicBezTo>
                  <a:pt x="73" y="92"/>
                  <a:pt x="66" y="87"/>
                  <a:pt x="64" y="70"/>
                </a:cubicBezTo>
                <a:cubicBezTo>
                  <a:pt x="60" y="72"/>
                  <a:pt x="59" y="65"/>
                  <a:pt x="58" y="62"/>
                </a:cubicBezTo>
                <a:cubicBezTo>
                  <a:pt x="58" y="58"/>
                  <a:pt x="56" y="46"/>
                  <a:pt x="61" y="47"/>
                </a:cubicBezTo>
                <a:cubicBezTo>
                  <a:pt x="60" y="39"/>
                  <a:pt x="59" y="32"/>
                  <a:pt x="60" y="28"/>
                </a:cubicBezTo>
                <a:cubicBezTo>
                  <a:pt x="61" y="15"/>
                  <a:pt x="74" y="1"/>
                  <a:pt x="94" y="0"/>
                </a:cubicBezTo>
                <a:cubicBezTo>
                  <a:pt x="117" y="1"/>
                  <a:pt x="126" y="15"/>
                  <a:pt x="127" y="28"/>
                </a:cubicBezTo>
                <a:cubicBezTo>
                  <a:pt x="128" y="32"/>
                  <a:pt x="127" y="39"/>
                  <a:pt x="126" y="47"/>
                </a:cubicBezTo>
                <a:cubicBezTo>
                  <a:pt x="131" y="46"/>
                  <a:pt x="129" y="58"/>
                  <a:pt x="129" y="62"/>
                </a:cubicBezTo>
                <a:cubicBezTo>
                  <a:pt x="128" y="65"/>
                  <a:pt x="127" y="72"/>
                  <a:pt x="123" y="70"/>
                </a:cubicBezTo>
                <a:cubicBezTo>
                  <a:pt x="121" y="87"/>
                  <a:pt x="114" y="92"/>
                  <a:pt x="114" y="92"/>
                </a:cubicBezTo>
                <a:cubicBezTo>
                  <a:pt x="114" y="109"/>
                  <a:pt x="114" y="109"/>
                  <a:pt x="114" y="109"/>
                </a:cubicBezTo>
                <a:cubicBezTo>
                  <a:pt x="114" y="109"/>
                  <a:pt x="118" y="111"/>
                  <a:pt x="136" y="119"/>
                </a:cubicBezTo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>
            <a:prstTxWarp prst="textNoShape">
              <a:avLst/>
            </a:prstTxWarp>
          </a:bodyPr>
          <a:lstStyle/>
          <a:p>
            <a:endParaRPr lang="en-US" sz="750">
              <a:solidFill>
                <a:schemeClr val="accent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5B3D266-43AB-415B-B558-8AEA53E76CEE}"/>
              </a:ext>
            </a:extLst>
          </p:cNvPr>
          <p:cNvSpPr/>
          <p:nvPr/>
        </p:nvSpPr>
        <p:spPr>
          <a:xfrm>
            <a:off x="6531275" y="4464379"/>
            <a:ext cx="269668" cy="269668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20" name="Freeform 106">
            <a:extLst>
              <a:ext uri="{FF2B5EF4-FFF2-40B4-BE49-F238E27FC236}">
                <a16:creationId xmlns:a16="http://schemas.microsoft.com/office/drawing/2014/main" id="{931DAEB3-5403-464C-8DF5-637C4027A0F2}"/>
              </a:ext>
            </a:extLst>
          </p:cNvPr>
          <p:cNvSpPr>
            <a:spLocks/>
          </p:cNvSpPr>
          <p:nvPr/>
        </p:nvSpPr>
        <p:spPr bwMode="auto">
          <a:xfrm>
            <a:off x="6586849" y="4512950"/>
            <a:ext cx="158782" cy="153821"/>
          </a:xfrm>
          <a:custGeom>
            <a:avLst/>
            <a:gdLst>
              <a:gd name="T0" fmla="*/ 256 w 256"/>
              <a:gd name="T1" fmla="*/ 236 h 248"/>
              <a:gd name="T2" fmla="*/ 256 w 256"/>
              <a:gd name="T3" fmla="*/ 236 h 248"/>
              <a:gd name="T4" fmla="*/ 244 w 256"/>
              <a:gd name="T5" fmla="*/ 248 h 248"/>
              <a:gd name="T6" fmla="*/ 12 w 256"/>
              <a:gd name="T7" fmla="*/ 248 h 248"/>
              <a:gd name="T8" fmla="*/ 0 w 256"/>
              <a:gd name="T9" fmla="*/ 236 h 248"/>
              <a:gd name="T10" fmla="*/ 0 w 256"/>
              <a:gd name="T11" fmla="*/ 236 h 248"/>
              <a:gd name="T12" fmla="*/ 0 w 256"/>
              <a:gd name="T13" fmla="*/ 236 h 248"/>
              <a:gd name="T14" fmla="*/ 32 w 256"/>
              <a:gd name="T15" fmla="*/ 176 h 248"/>
              <a:gd name="T16" fmla="*/ 70 w 256"/>
              <a:gd name="T17" fmla="*/ 164 h 248"/>
              <a:gd name="T18" fmla="*/ 100 w 256"/>
              <a:gd name="T19" fmla="*/ 150 h 248"/>
              <a:gd name="T20" fmla="*/ 100 w 256"/>
              <a:gd name="T21" fmla="*/ 127 h 248"/>
              <a:gd name="T22" fmla="*/ 88 w 256"/>
              <a:gd name="T23" fmla="*/ 97 h 248"/>
              <a:gd name="T24" fmla="*/ 80 w 256"/>
              <a:gd name="T25" fmla="*/ 85 h 248"/>
              <a:gd name="T26" fmla="*/ 84 w 256"/>
              <a:gd name="T27" fmla="*/ 65 h 248"/>
              <a:gd name="T28" fmla="*/ 82 w 256"/>
              <a:gd name="T29" fmla="*/ 39 h 248"/>
              <a:gd name="T30" fmla="*/ 129 w 256"/>
              <a:gd name="T31" fmla="*/ 0 h 248"/>
              <a:gd name="T32" fmla="*/ 175 w 256"/>
              <a:gd name="T33" fmla="*/ 39 h 248"/>
              <a:gd name="T34" fmla="*/ 173 w 256"/>
              <a:gd name="T35" fmla="*/ 65 h 248"/>
              <a:gd name="T36" fmla="*/ 177 w 256"/>
              <a:gd name="T37" fmla="*/ 85 h 248"/>
              <a:gd name="T38" fmla="*/ 168 w 256"/>
              <a:gd name="T39" fmla="*/ 97 h 248"/>
              <a:gd name="T40" fmla="*/ 156 w 256"/>
              <a:gd name="T41" fmla="*/ 126 h 248"/>
              <a:gd name="T42" fmla="*/ 156 w 256"/>
              <a:gd name="T43" fmla="*/ 150 h 248"/>
              <a:gd name="T44" fmla="*/ 187 w 256"/>
              <a:gd name="T45" fmla="*/ 164 h 248"/>
              <a:gd name="T46" fmla="*/ 224 w 256"/>
              <a:gd name="T47" fmla="*/ 176 h 248"/>
              <a:gd name="T48" fmla="*/ 256 w 256"/>
              <a:gd name="T49" fmla="*/ 236 h 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6" h="248">
                <a:moveTo>
                  <a:pt x="256" y="236"/>
                </a:moveTo>
                <a:cubicBezTo>
                  <a:pt x="256" y="236"/>
                  <a:pt x="256" y="236"/>
                  <a:pt x="256" y="236"/>
                </a:cubicBezTo>
                <a:cubicBezTo>
                  <a:pt x="256" y="243"/>
                  <a:pt x="251" y="248"/>
                  <a:pt x="244" y="248"/>
                </a:cubicBezTo>
                <a:cubicBezTo>
                  <a:pt x="12" y="248"/>
                  <a:pt x="12" y="248"/>
                  <a:pt x="12" y="248"/>
                </a:cubicBezTo>
                <a:cubicBezTo>
                  <a:pt x="6" y="248"/>
                  <a:pt x="0" y="243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236"/>
                  <a:pt x="0" y="236"/>
                </a:cubicBezTo>
                <a:cubicBezTo>
                  <a:pt x="0" y="236"/>
                  <a:pt x="0" y="192"/>
                  <a:pt x="32" y="176"/>
                </a:cubicBezTo>
                <a:cubicBezTo>
                  <a:pt x="53" y="166"/>
                  <a:pt x="45" y="174"/>
                  <a:pt x="70" y="164"/>
                </a:cubicBezTo>
                <a:cubicBezTo>
                  <a:pt x="94" y="154"/>
                  <a:pt x="100" y="150"/>
                  <a:pt x="100" y="150"/>
                </a:cubicBezTo>
                <a:cubicBezTo>
                  <a:pt x="100" y="127"/>
                  <a:pt x="100" y="127"/>
                  <a:pt x="100" y="127"/>
                </a:cubicBezTo>
                <a:cubicBezTo>
                  <a:pt x="100" y="127"/>
                  <a:pt x="91" y="119"/>
                  <a:pt x="88" y="97"/>
                </a:cubicBezTo>
                <a:cubicBezTo>
                  <a:pt x="82" y="99"/>
                  <a:pt x="81" y="90"/>
                  <a:pt x="80" y="85"/>
                </a:cubicBezTo>
                <a:cubicBezTo>
                  <a:pt x="80" y="80"/>
                  <a:pt x="77" y="63"/>
                  <a:pt x="84" y="65"/>
                </a:cubicBezTo>
                <a:cubicBezTo>
                  <a:pt x="82" y="54"/>
                  <a:pt x="81" y="44"/>
                  <a:pt x="82" y="39"/>
                </a:cubicBezTo>
                <a:cubicBezTo>
                  <a:pt x="84" y="20"/>
                  <a:pt x="101" y="1"/>
                  <a:pt x="129" y="0"/>
                </a:cubicBezTo>
                <a:cubicBezTo>
                  <a:pt x="160" y="1"/>
                  <a:pt x="173" y="20"/>
                  <a:pt x="175" y="39"/>
                </a:cubicBezTo>
                <a:cubicBezTo>
                  <a:pt x="175" y="44"/>
                  <a:pt x="174" y="54"/>
                  <a:pt x="173" y="65"/>
                </a:cubicBezTo>
                <a:cubicBezTo>
                  <a:pt x="180" y="63"/>
                  <a:pt x="177" y="80"/>
                  <a:pt x="177" y="85"/>
                </a:cubicBezTo>
                <a:cubicBezTo>
                  <a:pt x="176" y="90"/>
                  <a:pt x="174" y="99"/>
                  <a:pt x="168" y="97"/>
                </a:cubicBezTo>
                <a:cubicBezTo>
                  <a:pt x="166" y="119"/>
                  <a:pt x="156" y="126"/>
                  <a:pt x="156" y="126"/>
                </a:cubicBezTo>
                <a:cubicBezTo>
                  <a:pt x="156" y="150"/>
                  <a:pt x="156" y="150"/>
                  <a:pt x="156" y="150"/>
                </a:cubicBezTo>
                <a:cubicBezTo>
                  <a:pt x="156" y="150"/>
                  <a:pt x="162" y="153"/>
                  <a:pt x="187" y="164"/>
                </a:cubicBezTo>
                <a:cubicBezTo>
                  <a:pt x="212" y="174"/>
                  <a:pt x="204" y="166"/>
                  <a:pt x="224" y="176"/>
                </a:cubicBezTo>
                <a:cubicBezTo>
                  <a:pt x="256" y="192"/>
                  <a:pt x="256" y="236"/>
                  <a:pt x="256" y="236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</a:ln>
        </p:spPr>
        <p:txBody>
          <a:bodyPr vert="horz" wrap="square" lIns="38100" tIns="19050" rIns="38100" bIns="19050" numCol="1" anchor="t" anchorCtr="0" compatLnSpc="1">
            <a:prstTxWarp prst="textNoShape">
              <a:avLst/>
            </a:prstTxWarp>
          </a:bodyPr>
          <a:lstStyle/>
          <a:p>
            <a:endParaRPr lang="en-US" sz="750" dirty="0">
              <a:solidFill>
                <a:schemeClr val="accent1"/>
              </a:solidFill>
            </a:endParaRPr>
          </a:p>
        </p:txBody>
      </p:sp>
      <p:sp>
        <p:nvSpPr>
          <p:cNvPr id="43" name="Freeform 20">
            <a:extLst>
              <a:ext uri="{FF2B5EF4-FFF2-40B4-BE49-F238E27FC236}">
                <a16:creationId xmlns:a16="http://schemas.microsoft.com/office/drawing/2014/main" id="{DE862FE5-CCC7-47E0-A7B4-256B89105950}"/>
              </a:ext>
            </a:extLst>
          </p:cNvPr>
          <p:cNvSpPr>
            <a:spLocks noEditPoints="1"/>
          </p:cNvSpPr>
          <p:nvPr/>
        </p:nvSpPr>
        <p:spPr bwMode="auto">
          <a:xfrm>
            <a:off x="5214517" y="1486408"/>
            <a:ext cx="1762966" cy="1180828"/>
          </a:xfrm>
          <a:custGeom>
            <a:avLst/>
            <a:gdLst>
              <a:gd name="T0" fmla="*/ 2821 w 2821"/>
              <a:gd name="T1" fmla="*/ 623 h 1889"/>
              <a:gd name="T2" fmla="*/ 2817 w 2821"/>
              <a:gd name="T3" fmla="*/ 621 h 1889"/>
              <a:gd name="T4" fmla="*/ 2817 w 2821"/>
              <a:gd name="T5" fmla="*/ 621 h 1889"/>
              <a:gd name="T6" fmla="*/ 1409 w 2821"/>
              <a:gd name="T7" fmla="*/ 0 h 1889"/>
              <a:gd name="T8" fmla="*/ 464 w 2821"/>
              <a:gd name="T9" fmla="*/ 417 h 1889"/>
              <a:gd name="T10" fmla="*/ 397 w 2821"/>
              <a:gd name="T11" fmla="*/ 391 h 1889"/>
              <a:gd name="T12" fmla="*/ 294 w 2821"/>
              <a:gd name="T13" fmla="*/ 492 h 1889"/>
              <a:gd name="T14" fmla="*/ 0 w 2821"/>
              <a:gd name="T15" fmla="*/ 621 h 1889"/>
              <a:gd name="T16" fmla="*/ 293 w 2821"/>
              <a:gd name="T17" fmla="*/ 750 h 1889"/>
              <a:gd name="T18" fmla="*/ 293 w 2821"/>
              <a:gd name="T19" fmla="*/ 1170 h 1889"/>
              <a:gd name="T20" fmla="*/ 237 w 2821"/>
              <a:gd name="T21" fmla="*/ 1170 h 1889"/>
              <a:gd name="T22" fmla="*/ 179 w 2821"/>
              <a:gd name="T23" fmla="*/ 1877 h 1889"/>
              <a:gd name="T24" fmla="*/ 504 w 2821"/>
              <a:gd name="T25" fmla="*/ 1877 h 1889"/>
              <a:gd name="T26" fmla="*/ 446 w 2821"/>
              <a:gd name="T27" fmla="*/ 1170 h 1889"/>
              <a:gd name="T28" fmla="*/ 391 w 2821"/>
              <a:gd name="T29" fmla="*/ 1170 h 1889"/>
              <a:gd name="T30" fmla="*/ 391 w 2821"/>
              <a:gd name="T31" fmla="*/ 793 h 1889"/>
              <a:gd name="T32" fmla="*/ 468 w 2821"/>
              <a:gd name="T33" fmla="*/ 827 h 1889"/>
              <a:gd name="T34" fmla="*/ 468 w 2821"/>
              <a:gd name="T35" fmla="*/ 827 h 1889"/>
              <a:gd name="T36" fmla="*/ 638 w 2821"/>
              <a:gd name="T37" fmla="*/ 903 h 1889"/>
              <a:gd name="T38" fmla="*/ 638 w 2821"/>
              <a:gd name="T39" fmla="*/ 1450 h 1889"/>
              <a:gd name="T40" fmla="*/ 1409 w 2821"/>
              <a:gd name="T41" fmla="*/ 1889 h 1889"/>
              <a:gd name="T42" fmla="*/ 2179 w 2821"/>
              <a:gd name="T43" fmla="*/ 1450 h 1889"/>
              <a:gd name="T44" fmla="*/ 2179 w 2821"/>
              <a:gd name="T45" fmla="*/ 906 h 1889"/>
              <a:gd name="T46" fmla="*/ 2821 w 2821"/>
              <a:gd name="T47" fmla="*/ 623 h 1889"/>
              <a:gd name="T48" fmla="*/ 2034 w 2821"/>
              <a:gd name="T49" fmla="*/ 1427 h 1889"/>
              <a:gd name="T50" fmla="*/ 1409 w 2821"/>
              <a:gd name="T51" fmla="*/ 1704 h 1889"/>
              <a:gd name="T52" fmla="*/ 784 w 2821"/>
              <a:gd name="T53" fmla="*/ 1427 h 1889"/>
              <a:gd name="T54" fmla="*/ 784 w 2821"/>
              <a:gd name="T55" fmla="*/ 967 h 1889"/>
              <a:gd name="T56" fmla="*/ 1412 w 2821"/>
              <a:gd name="T57" fmla="*/ 1244 h 1889"/>
              <a:gd name="T58" fmla="*/ 2034 w 2821"/>
              <a:gd name="T59" fmla="*/ 970 h 1889"/>
              <a:gd name="T60" fmla="*/ 2034 w 2821"/>
              <a:gd name="T61" fmla="*/ 1427 h 18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821" h="1889">
                <a:moveTo>
                  <a:pt x="2821" y="623"/>
                </a:moveTo>
                <a:lnTo>
                  <a:pt x="2817" y="621"/>
                </a:lnTo>
                <a:lnTo>
                  <a:pt x="2817" y="621"/>
                </a:lnTo>
                <a:lnTo>
                  <a:pt x="1409" y="0"/>
                </a:lnTo>
                <a:lnTo>
                  <a:pt x="464" y="417"/>
                </a:lnTo>
                <a:cubicBezTo>
                  <a:pt x="446" y="401"/>
                  <a:pt x="423" y="391"/>
                  <a:pt x="397" y="391"/>
                </a:cubicBezTo>
                <a:cubicBezTo>
                  <a:pt x="341" y="391"/>
                  <a:pt x="296" y="436"/>
                  <a:pt x="294" y="492"/>
                </a:cubicBezTo>
                <a:lnTo>
                  <a:pt x="0" y="621"/>
                </a:lnTo>
                <a:lnTo>
                  <a:pt x="293" y="750"/>
                </a:lnTo>
                <a:lnTo>
                  <a:pt x="293" y="1170"/>
                </a:lnTo>
                <a:lnTo>
                  <a:pt x="237" y="1170"/>
                </a:lnTo>
                <a:lnTo>
                  <a:pt x="179" y="1877"/>
                </a:lnTo>
                <a:lnTo>
                  <a:pt x="504" y="1877"/>
                </a:lnTo>
                <a:lnTo>
                  <a:pt x="446" y="1170"/>
                </a:lnTo>
                <a:lnTo>
                  <a:pt x="391" y="1170"/>
                </a:lnTo>
                <a:lnTo>
                  <a:pt x="391" y="793"/>
                </a:lnTo>
                <a:lnTo>
                  <a:pt x="468" y="827"/>
                </a:lnTo>
                <a:lnTo>
                  <a:pt x="468" y="827"/>
                </a:lnTo>
                <a:lnTo>
                  <a:pt x="638" y="903"/>
                </a:lnTo>
                <a:lnTo>
                  <a:pt x="638" y="1450"/>
                </a:lnTo>
                <a:cubicBezTo>
                  <a:pt x="638" y="1641"/>
                  <a:pt x="1374" y="1889"/>
                  <a:pt x="1409" y="1889"/>
                </a:cubicBezTo>
                <a:cubicBezTo>
                  <a:pt x="1443" y="1889"/>
                  <a:pt x="2179" y="1641"/>
                  <a:pt x="2179" y="1450"/>
                </a:cubicBezTo>
                <a:lnTo>
                  <a:pt x="2179" y="906"/>
                </a:lnTo>
                <a:lnTo>
                  <a:pt x="2821" y="623"/>
                </a:lnTo>
                <a:close/>
                <a:moveTo>
                  <a:pt x="2034" y="1427"/>
                </a:moveTo>
                <a:cubicBezTo>
                  <a:pt x="1969" y="1489"/>
                  <a:pt x="1691" y="1644"/>
                  <a:pt x="1409" y="1704"/>
                </a:cubicBezTo>
                <a:cubicBezTo>
                  <a:pt x="1131" y="1645"/>
                  <a:pt x="848" y="1489"/>
                  <a:pt x="784" y="1427"/>
                </a:cubicBezTo>
                <a:lnTo>
                  <a:pt x="784" y="967"/>
                </a:lnTo>
                <a:lnTo>
                  <a:pt x="1412" y="1244"/>
                </a:lnTo>
                <a:lnTo>
                  <a:pt x="2034" y="970"/>
                </a:lnTo>
                <a:lnTo>
                  <a:pt x="2034" y="1427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th-TH"/>
            </a:defPPr>
            <a:lvl1pPr marL="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th-TH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14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3B1F43A-856E-4AFB-A5CB-11A70C116F96}"/>
              </a:ext>
            </a:extLst>
          </p:cNvPr>
          <p:cNvSpPr txBox="1"/>
          <p:nvPr/>
        </p:nvSpPr>
        <p:spPr>
          <a:xfrm>
            <a:off x="2609166" y="3342252"/>
            <a:ext cx="13097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Arial" panose="020B0604020202020204" pitchFamily="34" charset="0"/>
              </a:rPr>
              <a:t>CONTENTS</a:t>
            </a:r>
            <a:endParaRPr lang="zh-CN" altLang="en-US" sz="1400" dirty="0">
              <a:solidFill>
                <a:schemeClr val="accent1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087AEAF-154B-4867-B5F0-4A352B5A00C7}"/>
              </a:ext>
            </a:extLst>
          </p:cNvPr>
          <p:cNvSpPr txBox="1"/>
          <p:nvPr/>
        </p:nvSpPr>
        <p:spPr>
          <a:xfrm>
            <a:off x="2564248" y="2663760"/>
            <a:ext cx="1421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6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  <a:cs typeface="Arial" panose="020B0604020202020204" pitchFamily="34" charset="0"/>
              </a:rPr>
              <a:t>目 录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937EC55-9647-4D98-823E-3DF7A343FD94}"/>
              </a:ext>
            </a:extLst>
          </p:cNvPr>
          <p:cNvSpPr/>
          <p:nvPr/>
        </p:nvSpPr>
        <p:spPr>
          <a:xfrm>
            <a:off x="6232438" y="2063098"/>
            <a:ext cx="32697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团队及项目简介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F20E250-9797-4A38-8DCC-7F737D1AFA17}"/>
              </a:ext>
            </a:extLst>
          </p:cNvPr>
          <p:cNvSpPr/>
          <p:nvPr/>
        </p:nvSpPr>
        <p:spPr>
          <a:xfrm>
            <a:off x="6260494" y="2941270"/>
            <a:ext cx="3086299" cy="539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5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  <a:endParaRPr lang="en-US" altLang="zh-CN" sz="20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C429ECD-370B-4C59-8520-C83E650DEAE5}"/>
              </a:ext>
            </a:extLst>
          </p:cNvPr>
          <p:cNvSpPr/>
          <p:nvPr/>
        </p:nvSpPr>
        <p:spPr>
          <a:xfrm>
            <a:off x="6232438" y="3832004"/>
            <a:ext cx="3804359" cy="539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5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分功能性需求介绍</a:t>
            </a:r>
            <a:endParaRPr lang="en-US" altLang="zh-CN" sz="11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B02D9A17-20A4-474B-A35E-0C916DF0F08E}"/>
              </a:ext>
            </a:extLst>
          </p:cNvPr>
          <p:cNvSpPr/>
          <p:nvPr/>
        </p:nvSpPr>
        <p:spPr>
          <a:xfrm>
            <a:off x="5642955" y="2062518"/>
            <a:ext cx="507966" cy="507966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E3D0109-20C5-4CEA-955A-DE59FA4E56E1}"/>
              </a:ext>
            </a:extLst>
          </p:cNvPr>
          <p:cNvSpPr txBox="1"/>
          <p:nvPr/>
        </p:nvSpPr>
        <p:spPr>
          <a:xfrm>
            <a:off x="5532137" y="2063098"/>
            <a:ext cx="72835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01</a:t>
            </a:r>
            <a:endParaRPr lang="zh-CN" altLang="en-US" sz="24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4257772C-E81B-4688-B443-060E2BC7EEC1}"/>
              </a:ext>
            </a:extLst>
          </p:cNvPr>
          <p:cNvSpPr/>
          <p:nvPr/>
        </p:nvSpPr>
        <p:spPr>
          <a:xfrm>
            <a:off x="5642955" y="2994121"/>
            <a:ext cx="507966" cy="507966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7E79B4B0-C1DD-4C59-B6B4-516A3551AD52}"/>
              </a:ext>
            </a:extLst>
          </p:cNvPr>
          <p:cNvSpPr txBox="1"/>
          <p:nvPr/>
        </p:nvSpPr>
        <p:spPr>
          <a:xfrm>
            <a:off x="5532137" y="2994701"/>
            <a:ext cx="72835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02</a:t>
            </a:r>
            <a:endParaRPr lang="zh-CN" altLang="en-US" sz="24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DAECADA-7D61-403C-85C5-1A09DD8E488C}"/>
              </a:ext>
            </a:extLst>
          </p:cNvPr>
          <p:cNvSpPr/>
          <p:nvPr/>
        </p:nvSpPr>
        <p:spPr>
          <a:xfrm>
            <a:off x="5642955" y="3911472"/>
            <a:ext cx="507966" cy="507966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44DBC4C2-AB86-4BD3-8312-A5571230A51F}"/>
              </a:ext>
            </a:extLst>
          </p:cNvPr>
          <p:cNvSpPr txBox="1"/>
          <p:nvPr/>
        </p:nvSpPr>
        <p:spPr>
          <a:xfrm>
            <a:off x="5532137" y="3912052"/>
            <a:ext cx="7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03</a:t>
            </a:r>
            <a:endParaRPr lang="zh-CN" altLang="en-US" sz="24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174BF9-F944-45C5-B0A7-ACA3AE42EDA4}"/>
              </a:ext>
            </a:extLst>
          </p:cNvPr>
          <p:cNvSpPr/>
          <p:nvPr/>
        </p:nvSpPr>
        <p:spPr>
          <a:xfrm>
            <a:off x="6232438" y="4801135"/>
            <a:ext cx="3804359" cy="539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75000"/>
              </a:lnSpc>
            </a:pPr>
            <a:r>
              <a:rPr lang="zh-CN" altLang="en-US" sz="20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测试与修复</a:t>
            </a:r>
            <a:endParaRPr lang="en-US" altLang="zh-CN" sz="11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ADDFB3B-984F-4749-AD08-C2E42BBB5B54}"/>
              </a:ext>
            </a:extLst>
          </p:cNvPr>
          <p:cNvSpPr/>
          <p:nvPr/>
        </p:nvSpPr>
        <p:spPr>
          <a:xfrm>
            <a:off x="5642955" y="4880603"/>
            <a:ext cx="507966" cy="507966"/>
          </a:xfrm>
          <a:prstGeom prst="roundRect">
            <a:avLst/>
          </a:prstGeom>
          <a:noFill/>
          <a:ln w="127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24881D2-1AAA-48E9-8BC7-B9FAA9EE02CA}"/>
              </a:ext>
            </a:extLst>
          </p:cNvPr>
          <p:cNvSpPr txBox="1"/>
          <p:nvPr/>
        </p:nvSpPr>
        <p:spPr>
          <a:xfrm>
            <a:off x="5532137" y="4881183"/>
            <a:ext cx="728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04</a:t>
            </a:r>
            <a:endParaRPr lang="zh-CN" altLang="en-US" sz="2400" dirty="0">
              <a:solidFill>
                <a:schemeClr val="accent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3246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C0C55F-24A8-4CFD-BF02-4774F92CB4B6}"/>
              </a:ext>
            </a:extLst>
          </p:cNvPr>
          <p:cNvGrpSpPr/>
          <p:nvPr/>
        </p:nvGrpSpPr>
        <p:grpSpPr>
          <a:xfrm>
            <a:off x="379183" y="121460"/>
            <a:ext cx="779057" cy="324391"/>
            <a:chOff x="615950" y="458788"/>
            <a:chExt cx="2657475" cy="1108075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AF5234D-3DE7-4951-AF59-A73E391C39B9}"/>
                </a:ext>
              </a:extLst>
            </p:cNvPr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36E638A-DC80-408A-B7AE-871AB26BB6EA}"/>
                </a:ext>
              </a:extLst>
            </p:cNvPr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B5DA8D2-2D9A-4A2D-8EB3-D67D87A25A8F}"/>
                </a:ext>
              </a:extLst>
            </p:cNvPr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71BFCA66-8BD2-4AA9-917C-0F9E363A5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21BFF23C-AA7D-4505-B3DB-26756B95D74A}"/>
                </a:ext>
              </a:extLst>
            </p:cNvPr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9595180-E669-4BD5-AE9F-1797C69A1A23}"/>
                </a:ext>
              </a:extLst>
            </p:cNvPr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37275F7-96B9-4FFA-809F-8E203ACBC7E4}"/>
                </a:ext>
              </a:extLst>
            </p:cNvPr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2016070-15D4-4A59-A406-09C09C3C60BA}"/>
                </a:ext>
              </a:extLst>
            </p:cNvPr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396B1544-543B-4610-AEC9-9FE409D91C58}"/>
                </a:ext>
              </a:extLst>
            </p:cNvPr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97655B1-50C5-4C3D-BC6E-1380046AB0B5}"/>
                </a:ext>
              </a:extLst>
            </p:cNvPr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8D17F009-8172-4234-874B-3236D2F3E06E}"/>
                </a:ext>
              </a:extLst>
            </p:cNvPr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1370EA9-771C-43DB-9AF3-0565FA6A2F66}"/>
                </a:ext>
              </a:extLst>
            </p:cNvPr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A8522838-BCE3-42DA-9706-F521BFFB0376}"/>
                </a:ext>
              </a:extLst>
            </p:cNvPr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E7027D2-B70A-4DFC-85D8-3F0571CC879C}"/>
                </a:ext>
              </a:extLst>
            </p:cNvPr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BAB24B3C-4139-42BB-B4FA-DC9B8B35D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48FF9EC8-31A0-4AFC-B8BF-178592A1F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51E5AC-14C9-43BC-AF06-8A075B384240}"/>
              </a:ext>
            </a:extLst>
          </p:cNvPr>
          <p:cNvSpPr/>
          <p:nvPr/>
        </p:nvSpPr>
        <p:spPr>
          <a:xfrm>
            <a:off x="3510986" y="2139645"/>
            <a:ext cx="5170028" cy="2503476"/>
          </a:xfrm>
          <a:prstGeom prst="roundRect">
            <a:avLst>
              <a:gd name="adj" fmla="val 4546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09B652E-78FF-43D1-9653-DF6F177C67A3}"/>
              </a:ext>
            </a:extLst>
          </p:cNvPr>
          <p:cNvSpPr txBox="1"/>
          <p:nvPr/>
        </p:nvSpPr>
        <p:spPr>
          <a:xfrm>
            <a:off x="4357440" y="2952899"/>
            <a:ext cx="36605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spc="6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团队及项目简介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24448E2-AFDF-4968-AA91-5321765991CB}"/>
              </a:ext>
            </a:extLst>
          </p:cNvPr>
          <p:cNvSpPr/>
          <p:nvPr/>
        </p:nvSpPr>
        <p:spPr>
          <a:xfrm>
            <a:off x="5191058" y="1941847"/>
            <a:ext cx="1687756" cy="3832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pc="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Part 01</a:t>
            </a:r>
            <a:endParaRPr lang="zh-CN" altLang="en-US" sz="2000" spc="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64290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E67EC7F-A1F4-426E-A447-069A8DFC4D31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团队及项目简介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E49AEA6-4F9F-4CEE-A39E-34C0F5F7C171}"/>
              </a:ext>
            </a:extLst>
          </p:cNvPr>
          <p:cNvSpPr txBox="1"/>
          <p:nvPr/>
        </p:nvSpPr>
        <p:spPr>
          <a:xfrm>
            <a:off x="652481" y="952799"/>
            <a:ext cx="253209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400" spc="3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The introduction</a:t>
            </a:r>
          </a:p>
        </p:txBody>
      </p:sp>
      <p:sp>
        <p:nvSpPr>
          <p:cNvPr id="6" name="对话气泡: 矩形 5">
            <a:extLst>
              <a:ext uri="{FF2B5EF4-FFF2-40B4-BE49-F238E27FC236}">
                <a16:creationId xmlns:a16="http://schemas.microsoft.com/office/drawing/2014/main" id="{29DFDCD0-0666-4970-9F3E-C2FA0371F4AD}"/>
              </a:ext>
            </a:extLst>
          </p:cNvPr>
          <p:cNvSpPr/>
          <p:nvPr/>
        </p:nvSpPr>
        <p:spPr>
          <a:xfrm>
            <a:off x="6323784" y="1323649"/>
            <a:ext cx="2094718" cy="2247645"/>
          </a:xfrm>
          <a:prstGeom prst="wedgeRectCallout">
            <a:avLst>
              <a:gd name="adj1" fmla="val -63358"/>
              <a:gd name="adj2" fmla="val 48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Shape 717">
            <a:extLst>
              <a:ext uri="{FF2B5EF4-FFF2-40B4-BE49-F238E27FC236}">
                <a16:creationId xmlns:a16="http://schemas.microsoft.com/office/drawing/2014/main" id="{B2E12EB0-D5D7-47D7-A617-092B668AA8A4}"/>
              </a:ext>
            </a:extLst>
          </p:cNvPr>
          <p:cNvSpPr txBox="1"/>
          <p:nvPr/>
        </p:nvSpPr>
        <p:spPr>
          <a:xfrm>
            <a:off x="6694327" y="2267843"/>
            <a:ext cx="5627230" cy="106984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1851985     </a:t>
            </a:r>
            <a:r>
              <a:rPr lang="zh-CN" altLang="en-US" sz="1600" dirty="0">
                <a:solidFill>
                  <a:schemeClr val="bg1"/>
                </a:solidFill>
              </a:rPr>
              <a:t>屈宁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bg1"/>
                </a:solidFill>
              </a:rPr>
              <a:t>1856003     </a:t>
            </a:r>
            <a:r>
              <a:rPr lang="zh-CN" altLang="en-US" sz="1600" dirty="0">
                <a:solidFill>
                  <a:schemeClr val="bg1"/>
                </a:solidFill>
              </a:rPr>
              <a:t>泰戈</a:t>
            </a:r>
            <a:endParaRPr lang="en-US" altLang="zh-CN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5F0F3-1FBA-4910-A1EA-92A9F113C7EE}"/>
              </a:ext>
            </a:extLst>
          </p:cNvPr>
          <p:cNvSpPr txBox="1"/>
          <p:nvPr/>
        </p:nvSpPr>
        <p:spPr>
          <a:xfrm>
            <a:off x="6504140" y="1616569"/>
            <a:ext cx="1880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</a:t>
            </a:r>
          </a:p>
        </p:txBody>
      </p:sp>
      <p:sp>
        <p:nvSpPr>
          <p:cNvPr id="9" name="对话气泡: 矩形 8">
            <a:extLst>
              <a:ext uri="{FF2B5EF4-FFF2-40B4-BE49-F238E27FC236}">
                <a16:creationId xmlns:a16="http://schemas.microsoft.com/office/drawing/2014/main" id="{60040C2F-7212-4F2D-B5AA-C8640A93CD3F}"/>
              </a:ext>
            </a:extLst>
          </p:cNvPr>
          <p:cNvSpPr/>
          <p:nvPr/>
        </p:nvSpPr>
        <p:spPr>
          <a:xfrm>
            <a:off x="512326" y="1616569"/>
            <a:ext cx="2186485" cy="1302549"/>
          </a:xfrm>
          <a:prstGeom prst="wedgeRectCallout">
            <a:avLst>
              <a:gd name="adj1" fmla="val -63358"/>
              <a:gd name="adj2" fmla="val 488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0" name="Shape 717">
            <a:extLst>
              <a:ext uri="{FF2B5EF4-FFF2-40B4-BE49-F238E27FC236}">
                <a16:creationId xmlns:a16="http://schemas.microsoft.com/office/drawing/2014/main" id="{FB7509E7-D723-4F71-9921-14F303FF29A0}"/>
              </a:ext>
            </a:extLst>
          </p:cNvPr>
          <p:cNvSpPr txBox="1"/>
          <p:nvPr/>
        </p:nvSpPr>
        <p:spPr>
          <a:xfrm>
            <a:off x="640663" y="1616569"/>
            <a:ext cx="1687605" cy="8309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bg1"/>
                </a:solidFill>
              </a:rPr>
              <a:t>团队名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2B821A7-3E32-42C6-8F0E-C918152D2D96}"/>
              </a:ext>
            </a:extLst>
          </p:cNvPr>
          <p:cNvSpPr txBox="1"/>
          <p:nvPr/>
        </p:nvSpPr>
        <p:spPr>
          <a:xfrm>
            <a:off x="-286414" y="2334343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IMF</a:t>
            </a:r>
            <a:endParaRPr lang="zh-CN" altLang="en-US" sz="32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D8F6E945-1168-42AE-AFE5-8B947FC2CE78}"/>
              </a:ext>
            </a:extLst>
          </p:cNvPr>
          <p:cNvSpPr/>
          <p:nvPr/>
        </p:nvSpPr>
        <p:spPr>
          <a:xfrm>
            <a:off x="652481" y="4224717"/>
            <a:ext cx="2186485" cy="1302549"/>
          </a:xfrm>
          <a:prstGeom prst="wedgeRectCallout">
            <a:avLst>
              <a:gd name="adj1" fmla="val -63358"/>
              <a:gd name="adj2" fmla="val 488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Shape 717">
            <a:extLst>
              <a:ext uri="{FF2B5EF4-FFF2-40B4-BE49-F238E27FC236}">
                <a16:creationId xmlns:a16="http://schemas.microsoft.com/office/drawing/2014/main" id="{3F1F2B3B-5D12-487E-80D5-D032AD64B96E}"/>
              </a:ext>
            </a:extLst>
          </p:cNvPr>
          <p:cNvSpPr txBox="1"/>
          <p:nvPr/>
        </p:nvSpPr>
        <p:spPr>
          <a:xfrm>
            <a:off x="780818" y="4224717"/>
            <a:ext cx="1687605" cy="8309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t" anchorCtr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b="1" dirty="0">
                <a:solidFill>
                  <a:schemeClr val="bg1"/>
                </a:solidFill>
              </a:rPr>
              <a:t>开发小组</a:t>
            </a:r>
            <a:endParaRPr lang="en-US" altLang="zh-CN" sz="2800" b="1" dirty="0">
              <a:solidFill>
                <a:schemeClr val="bg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7A1200-F3AF-4BD7-BA5A-2A182D9A9AF7}"/>
              </a:ext>
            </a:extLst>
          </p:cNvPr>
          <p:cNvSpPr txBox="1"/>
          <p:nvPr/>
        </p:nvSpPr>
        <p:spPr>
          <a:xfrm>
            <a:off x="-36263" y="4885927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IMF</a:t>
            </a:r>
            <a:endParaRPr lang="zh-CN" altLang="en-US" sz="3200" dirty="0">
              <a:solidFill>
                <a:schemeClr val="bg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22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E67EC7F-A1F4-426E-A447-069A8DFC4D31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项目简介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E49AEA6-4F9F-4CEE-A39E-34C0F5F7C171}"/>
              </a:ext>
            </a:extLst>
          </p:cNvPr>
          <p:cNvSpPr txBox="1"/>
          <p:nvPr/>
        </p:nvSpPr>
        <p:spPr>
          <a:xfrm>
            <a:off x="652481" y="952799"/>
            <a:ext cx="253209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400" spc="3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The introduction</a:t>
            </a:r>
          </a:p>
        </p:txBody>
      </p:sp>
      <p:grpSp>
        <p:nvGrpSpPr>
          <p:cNvPr id="5" name="Group 61">
            <a:extLst>
              <a:ext uri="{FF2B5EF4-FFF2-40B4-BE49-F238E27FC236}">
                <a16:creationId xmlns:a16="http://schemas.microsoft.com/office/drawing/2014/main" id="{A562393D-9100-4D8E-8AED-15415F008B08}"/>
              </a:ext>
            </a:extLst>
          </p:cNvPr>
          <p:cNvGrpSpPr/>
          <p:nvPr/>
        </p:nvGrpSpPr>
        <p:grpSpPr>
          <a:xfrm rot="5400000" flipH="1">
            <a:off x="7705773" y="2609203"/>
            <a:ext cx="531108" cy="2615076"/>
            <a:chOff x="1447799" y="1047750"/>
            <a:chExt cx="609602" cy="3352800"/>
          </a:xfrm>
          <a:solidFill>
            <a:schemeClr val="accent1"/>
          </a:solidFill>
        </p:grpSpPr>
        <p:sp>
          <p:nvSpPr>
            <p:cNvPr id="6" name="Flowchart: Manual Input 50">
              <a:extLst>
                <a:ext uri="{FF2B5EF4-FFF2-40B4-BE49-F238E27FC236}">
                  <a16:creationId xmlns:a16="http://schemas.microsoft.com/office/drawing/2014/main" id="{287FBDD6-6446-468E-8D1D-9996FB082647}"/>
                </a:ext>
              </a:extLst>
            </p:cNvPr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7" name="Flowchart: Manual Input 51">
              <a:extLst>
                <a:ext uri="{FF2B5EF4-FFF2-40B4-BE49-F238E27FC236}">
                  <a16:creationId xmlns:a16="http://schemas.microsoft.com/office/drawing/2014/main" id="{5C7A9CF0-D75F-40AF-9C40-0FA3771913EF}"/>
                </a:ext>
              </a:extLst>
            </p:cNvPr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8" name="Rectangle 52">
            <a:extLst>
              <a:ext uri="{FF2B5EF4-FFF2-40B4-BE49-F238E27FC236}">
                <a16:creationId xmlns:a16="http://schemas.microsoft.com/office/drawing/2014/main" id="{64DE5105-3EF3-4594-9E01-8B817AEEE026}"/>
              </a:ext>
            </a:extLst>
          </p:cNvPr>
          <p:cNvSpPr/>
          <p:nvPr/>
        </p:nvSpPr>
        <p:spPr>
          <a:xfrm rot="5400000">
            <a:off x="7449461" y="1821780"/>
            <a:ext cx="1432612" cy="2226203"/>
          </a:xfrm>
          <a:prstGeom prst="rect">
            <a:avLst/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9" name="Parallelogram 54">
            <a:extLst>
              <a:ext uri="{FF2B5EF4-FFF2-40B4-BE49-F238E27FC236}">
                <a16:creationId xmlns:a16="http://schemas.microsoft.com/office/drawing/2014/main" id="{EDE7C6E8-2C43-48C8-9754-89F74624EDA1}"/>
              </a:ext>
            </a:extLst>
          </p:cNvPr>
          <p:cNvSpPr/>
          <p:nvPr/>
        </p:nvSpPr>
        <p:spPr>
          <a:xfrm rot="10800000">
            <a:off x="6925309" y="2218575"/>
            <a:ext cx="2353569" cy="569231"/>
          </a:xfrm>
          <a:prstGeom prst="parallelogram">
            <a:avLst>
              <a:gd name="adj" fmla="val 2109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lowchart: Manual Input 62">
            <a:extLst>
              <a:ext uri="{FF2B5EF4-FFF2-40B4-BE49-F238E27FC236}">
                <a16:creationId xmlns:a16="http://schemas.microsoft.com/office/drawing/2014/main" id="{4432E19B-DD06-4753-A928-6A8446024010}"/>
              </a:ext>
            </a:extLst>
          </p:cNvPr>
          <p:cNvSpPr/>
          <p:nvPr/>
        </p:nvSpPr>
        <p:spPr bwMode="auto">
          <a:xfrm rot="5400000" flipH="1">
            <a:off x="3395519" y="2936088"/>
            <a:ext cx="531108" cy="1961307"/>
          </a:xfrm>
          <a:prstGeom prst="flowChartManualInpu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8" name="Flowchart: Manual Input 63">
            <a:extLst>
              <a:ext uri="{FF2B5EF4-FFF2-40B4-BE49-F238E27FC236}">
                <a16:creationId xmlns:a16="http://schemas.microsoft.com/office/drawing/2014/main" id="{717364F9-49F1-4C14-BCFE-B3FB410CE6AF}"/>
              </a:ext>
            </a:extLst>
          </p:cNvPr>
          <p:cNvSpPr/>
          <p:nvPr/>
        </p:nvSpPr>
        <p:spPr bwMode="auto">
          <a:xfrm rot="16200000" flipH="1">
            <a:off x="2741750" y="2936088"/>
            <a:ext cx="531108" cy="1961307"/>
          </a:xfrm>
          <a:prstGeom prst="flowChartManualInput">
            <a:avLst/>
          </a:pr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/>
          </a:p>
        </p:txBody>
      </p:sp>
      <p:sp>
        <p:nvSpPr>
          <p:cNvPr id="19" name="Rectangle 55">
            <a:extLst>
              <a:ext uri="{FF2B5EF4-FFF2-40B4-BE49-F238E27FC236}">
                <a16:creationId xmlns:a16="http://schemas.microsoft.com/office/drawing/2014/main" id="{E1DD3096-3979-4587-9DB5-88554D3AA85D}"/>
              </a:ext>
            </a:extLst>
          </p:cNvPr>
          <p:cNvSpPr/>
          <p:nvPr/>
        </p:nvSpPr>
        <p:spPr>
          <a:xfrm rot="5400000">
            <a:off x="2812322" y="1821780"/>
            <a:ext cx="1432612" cy="2226203"/>
          </a:xfrm>
          <a:prstGeom prst="rect">
            <a:avLst/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0" name="Freeform 42">
            <a:extLst>
              <a:ext uri="{FF2B5EF4-FFF2-40B4-BE49-F238E27FC236}">
                <a16:creationId xmlns:a16="http://schemas.microsoft.com/office/drawing/2014/main" id="{7258B5C5-4C0C-42B2-987D-C7A0F840CADA}"/>
              </a:ext>
            </a:extLst>
          </p:cNvPr>
          <p:cNvSpPr>
            <a:spLocks noEditPoints="1"/>
          </p:cNvSpPr>
          <p:nvPr/>
        </p:nvSpPr>
        <p:spPr bwMode="auto">
          <a:xfrm>
            <a:off x="3256650" y="2973739"/>
            <a:ext cx="543956" cy="468216"/>
          </a:xfrm>
          <a:custGeom>
            <a:avLst/>
            <a:gdLst/>
            <a:ahLst/>
            <a:cxnLst>
              <a:cxn ang="0">
                <a:pos x="73" y="47"/>
              </a:cxn>
              <a:cxn ang="0">
                <a:pos x="67" y="53"/>
              </a:cxn>
              <a:cxn ang="0">
                <a:pos x="46" y="53"/>
              </a:cxn>
              <a:cxn ang="0">
                <a:pos x="48" y="60"/>
              </a:cxn>
              <a:cxn ang="0">
                <a:pos x="46" y="63"/>
              </a:cxn>
              <a:cxn ang="0">
                <a:pos x="26" y="63"/>
              </a:cxn>
              <a:cxn ang="0">
                <a:pos x="24" y="60"/>
              </a:cxn>
              <a:cxn ang="0">
                <a:pos x="26" y="53"/>
              </a:cxn>
              <a:cxn ang="0">
                <a:pos x="6" y="53"/>
              </a:cxn>
              <a:cxn ang="0">
                <a:pos x="0" y="47"/>
              </a:cxn>
              <a:cxn ang="0">
                <a:pos x="0" y="6"/>
              </a:cxn>
              <a:cxn ang="0">
                <a:pos x="6" y="0"/>
              </a:cxn>
              <a:cxn ang="0">
                <a:pos x="67" y="0"/>
              </a:cxn>
              <a:cxn ang="0">
                <a:pos x="73" y="6"/>
              </a:cxn>
              <a:cxn ang="0">
                <a:pos x="73" y="47"/>
              </a:cxn>
              <a:cxn ang="0">
                <a:pos x="68" y="6"/>
              </a:cxn>
              <a:cxn ang="0">
                <a:pos x="67" y="5"/>
              </a:cxn>
              <a:cxn ang="0">
                <a:pos x="6" y="5"/>
              </a:cxn>
              <a:cxn ang="0">
                <a:pos x="5" y="6"/>
              </a:cxn>
              <a:cxn ang="0">
                <a:pos x="5" y="37"/>
              </a:cxn>
              <a:cxn ang="0">
                <a:pos x="6" y="39"/>
              </a:cxn>
              <a:cxn ang="0">
                <a:pos x="67" y="39"/>
              </a:cxn>
              <a:cxn ang="0">
                <a:pos x="68" y="37"/>
              </a:cxn>
              <a:cxn ang="0">
                <a:pos x="68" y="6"/>
              </a:cxn>
            </a:cxnLst>
            <a:rect l="0" t="0" r="r" b="b"/>
            <a:pathLst>
              <a:path w="73" h="63">
                <a:moveTo>
                  <a:pt x="73" y="47"/>
                </a:moveTo>
                <a:cubicBezTo>
                  <a:pt x="73" y="50"/>
                  <a:pt x="70" y="53"/>
                  <a:pt x="67" y="53"/>
                </a:cubicBezTo>
                <a:cubicBezTo>
                  <a:pt x="46" y="53"/>
                  <a:pt x="46" y="53"/>
                  <a:pt x="46" y="53"/>
                </a:cubicBezTo>
                <a:cubicBezTo>
                  <a:pt x="46" y="56"/>
                  <a:pt x="48" y="59"/>
                  <a:pt x="48" y="60"/>
                </a:cubicBezTo>
                <a:cubicBezTo>
                  <a:pt x="48" y="62"/>
                  <a:pt x="47" y="63"/>
                  <a:pt x="46" y="63"/>
                </a:cubicBezTo>
                <a:cubicBezTo>
                  <a:pt x="26" y="63"/>
                  <a:pt x="26" y="63"/>
                  <a:pt x="26" y="63"/>
                </a:cubicBezTo>
                <a:cubicBezTo>
                  <a:pt x="25" y="63"/>
                  <a:pt x="24" y="62"/>
                  <a:pt x="24" y="60"/>
                </a:cubicBezTo>
                <a:cubicBezTo>
                  <a:pt x="24" y="59"/>
                  <a:pt x="26" y="56"/>
                  <a:pt x="26" y="53"/>
                </a:cubicBezTo>
                <a:cubicBezTo>
                  <a:pt x="6" y="53"/>
                  <a:pt x="6" y="53"/>
                  <a:pt x="6" y="53"/>
                </a:cubicBezTo>
                <a:cubicBezTo>
                  <a:pt x="2" y="53"/>
                  <a:pt x="0" y="50"/>
                  <a:pt x="0" y="47"/>
                </a:cubicBezTo>
                <a:cubicBezTo>
                  <a:pt x="0" y="6"/>
                  <a:pt x="0" y="6"/>
                  <a:pt x="0" y="6"/>
                </a:cubicBezTo>
                <a:cubicBezTo>
                  <a:pt x="0" y="2"/>
                  <a:pt x="2" y="0"/>
                  <a:pt x="6" y="0"/>
                </a:cubicBezTo>
                <a:cubicBezTo>
                  <a:pt x="67" y="0"/>
                  <a:pt x="67" y="0"/>
                  <a:pt x="67" y="0"/>
                </a:cubicBezTo>
                <a:cubicBezTo>
                  <a:pt x="70" y="0"/>
                  <a:pt x="73" y="2"/>
                  <a:pt x="73" y="6"/>
                </a:cubicBezTo>
                <a:lnTo>
                  <a:pt x="73" y="47"/>
                </a:lnTo>
                <a:close/>
                <a:moveTo>
                  <a:pt x="68" y="6"/>
                </a:moveTo>
                <a:cubicBezTo>
                  <a:pt x="68" y="5"/>
                  <a:pt x="67" y="5"/>
                  <a:pt x="67" y="5"/>
                </a:cubicBezTo>
                <a:cubicBezTo>
                  <a:pt x="6" y="5"/>
                  <a:pt x="6" y="5"/>
                  <a:pt x="6" y="5"/>
                </a:cubicBezTo>
                <a:cubicBezTo>
                  <a:pt x="5" y="5"/>
                  <a:pt x="5" y="5"/>
                  <a:pt x="5" y="6"/>
                </a:cubicBezTo>
                <a:cubicBezTo>
                  <a:pt x="5" y="37"/>
                  <a:pt x="5" y="37"/>
                  <a:pt x="5" y="37"/>
                </a:cubicBezTo>
                <a:cubicBezTo>
                  <a:pt x="5" y="38"/>
                  <a:pt x="5" y="39"/>
                  <a:pt x="6" y="39"/>
                </a:cubicBezTo>
                <a:cubicBezTo>
                  <a:pt x="67" y="39"/>
                  <a:pt x="67" y="39"/>
                  <a:pt x="67" y="39"/>
                </a:cubicBezTo>
                <a:cubicBezTo>
                  <a:pt x="67" y="39"/>
                  <a:pt x="68" y="38"/>
                  <a:pt x="68" y="37"/>
                </a:cubicBezTo>
                <a:lnTo>
                  <a:pt x="68" y="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21" name="Parallelogram 99">
            <a:extLst>
              <a:ext uri="{FF2B5EF4-FFF2-40B4-BE49-F238E27FC236}">
                <a16:creationId xmlns:a16="http://schemas.microsoft.com/office/drawing/2014/main" id="{7202F899-2537-439B-A2D1-9CDEA597684F}"/>
              </a:ext>
            </a:extLst>
          </p:cNvPr>
          <p:cNvSpPr/>
          <p:nvPr/>
        </p:nvSpPr>
        <p:spPr>
          <a:xfrm rot="10800000">
            <a:off x="2288171" y="2218575"/>
            <a:ext cx="2353569" cy="569231"/>
          </a:xfrm>
          <a:prstGeom prst="parallelogram">
            <a:avLst>
              <a:gd name="adj" fmla="val 2109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3" name="Group 132">
            <a:extLst>
              <a:ext uri="{FF2B5EF4-FFF2-40B4-BE49-F238E27FC236}">
                <a16:creationId xmlns:a16="http://schemas.microsoft.com/office/drawing/2014/main" id="{C1497A2E-2A92-4C55-8EEF-D4335EAE54D5}"/>
              </a:ext>
            </a:extLst>
          </p:cNvPr>
          <p:cNvGrpSpPr/>
          <p:nvPr/>
        </p:nvGrpSpPr>
        <p:grpSpPr>
          <a:xfrm rot="16200000" flipH="1">
            <a:off x="5386121" y="2607901"/>
            <a:ext cx="531108" cy="2615076"/>
            <a:chOff x="1447799" y="1047750"/>
            <a:chExt cx="609602" cy="3352800"/>
          </a:xfrm>
          <a:solidFill>
            <a:schemeClr val="accent2"/>
          </a:solidFill>
        </p:grpSpPr>
        <p:sp>
          <p:nvSpPr>
            <p:cNvPr id="24" name="Flowchart: Manual Input 133">
              <a:extLst>
                <a:ext uri="{FF2B5EF4-FFF2-40B4-BE49-F238E27FC236}">
                  <a16:creationId xmlns:a16="http://schemas.microsoft.com/office/drawing/2014/main" id="{B96B89EC-E59D-4B66-BF34-0F9CABE99021}"/>
                </a:ext>
              </a:extLst>
            </p:cNvPr>
            <p:cNvSpPr/>
            <p:nvPr/>
          </p:nvSpPr>
          <p:spPr bwMode="auto">
            <a:xfrm>
              <a:off x="1447799" y="10477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/>
            </a:p>
          </p:txBody>
        </p:sp>
        <p:sp>
          <p:nvSpPr>
            <p:cNvPr id="25" name="Flowchart: Manual Input 134">
              <a:extLst>
                <a:ext uri="{FF2B5EF4-FFF2-40B4-BE49-F238E27FC236}">
                  <a16:creationId xmlns:a16="http://schemas.microsoft.com/office/drawing/2014/main" id="{186C39DC-747A-483C-947E-C319792DF4CD}"/>
                </a:ext>
              </a:extLst>
            </p:cNvPr>
            <p:cNvSpPr/>
            <p:nvPr/>
          </p:nvSpPr>
          <p:spPr bwMode="auto">
            <a:xfrm rot="10800000">
              <a:off x="1447799" y="1885950"/>
              <a:ext cx="609602" cy="2514600"/>
            </a:xfrm>
            <a:prstGeom prst="flowChartManualInput">
              <a:avLst/>
            </a:pr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26" name="Rectangle 136">
            <a:extLst>
              <a:ext uri="{FF2B5EF4-FFF2-40B4-BE49-F238E27FC236}">
                <a16:creationId xmlns:a16="http://schemas.microsoft.com/office/drawing/2014/main" id="{D80B1325-E332-4B6C-B77A-58EE0B756E2A}"/>
              </a:ext>
            </a:extLst>
          </p:cNvPr>
          <p:cNvSpPr/>
          <p:nvPr/>
        </p:nvSpPr>
        <p:spPr>
          <a:xfrm rot="16200000">
            <a:off x="4740929" y="3784196"/>
            <a:ext cx="1432612" cy="2226203"/>
          </a:xfrm>
          <a:prstGeom prst="rect">
            <a:avLst/>
          </a:prstGeom>
          <a:solidFill>
            <a:srgbClr val="4B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tx1"/>
              </a:solidFill>
            </a:endParaRPr>
          </a:p>
        </p:txBody>
      </p:sp>
      <p:sp>
        <p:nvSpPr>
          <p:cNvPr id="27" name="Parallelogram 137">
            <a:extLst>
              <a:ext uri="{FF2B5EF4-FFF2-40B4-BE49-F238E27FC236}">
                <a16:creationId xmlns:a16="http://schemas.microsoft.com/office/drawing/2014/main" id="{3ECC4B59-4C43-4D49-BEDC-2B49817144B1}"/>
              </a:ext>
            </a:extLst>
          </p:cNvPr>
          <p:cNvSpPr/>
          <p:nvPr/>
        </p:nvSpPr>
        <p:spPr>
          <a:xfrm rot="10800000" flipH="1">
            <a:off x="4205069" y="5044374"/>
            <a:ext cx="2353569" cy="569231"/>
          </a:xfrm>
          <a:prstGeom prst="parallelogram">
            <a:avLst>
              <a:gd name="adj" fmla="val 2109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 178">
            <a:extLst>
              <a:ext uri="{FF2B5EF4-FFF2-40B4-BE49-F238E27FC236}">
                <a16:creationId xmlns:a16="http://schemas.microsoft.com/office/drawing/2014/main" id="{B68FD238-4A44-4327-AEBB-AF95A5AD8623}"/>
              </a:ext>
            </a:extLst>
          </p:cNvPr>
          <p:cNvSpPr>
            <a:spLocks noEditPoints="1"/>
          </p:cNvSpPr>
          <p:nvPr/>
        </p:nvSpPr>
        <p:spPr bwMode="auto">
          <a:xfrm>
            <a:off x="7875666" y="3004968"/>
            <a:ext cx="580200" cy="436987"/>
          </a:xfrm>
          <a:custGeom>
            <a:avLst/>
            <a:gdLst/>
            <a:ahLst/>
            <a:cxnLst>
              <a:cxn ang="0">
                <a:pos x="158" y="119"/>
              </a:cxn>
              <a:cxn ang="0">
                <a:pos x="0" y="119"/>
              </a:cxn>
              <a:cxn ang="0">
                <a:pos x="0" y="0"/>
              </a:cxn>
              <a:cxn ang="0">
                <a:pos x="9" y="0"/>
              </a:cxn>
              <a:cxn ang="0">
                <a:pos x="9" y="108"/>
              </a:cxn>
              <a:cxn ang="0">
                <a:pos x="158" y="108"/>
              </a:cxn>
              <a:cxn ang="0">
                <a:pos x="158" y="119"/>
              </a:cxn>
              <a:cxn ang="0">
                <a:pos x="50" y="99"/>
              </a:cxn>
              <a:cxn ang="0">
                <a:pos x="29" y="99"/>
              </a:cxn>
              <a:cxn ang="0">
                <a:pos x="29" y="60"/>
              </a:cxn>
              <a:cxn ang="0">
                <a:pos x="50" y="60"/>
              </a:cxn>
              <a:cxn ang="0">
                <a:pos x="50" y="99"/>
              </a:cxn>
              <a:cxn ang="0">
                <a:pos x="78" y="99"/>
              </a:cxn>
              <a:cxn ang="0">
                <a:pos x="59" y="99"/>
              </a:cxn>
              <a:cxn ang="0">
                <a:pos x="59" y="19"/>
              </a:cxn>
              <a:cxn ang="0">
                <a:pos x="78" y="19"/>
              </a:cxn>
              <a:cxn ang="0">
                <a:pos x="78" y="99"/>
              </a:cxn>
              <a:cxn ang="0">
                <a:pos x="109" y="99"/>
              </a:cxn>
              <a:cxn ang="0">
                <a:pos x="89" y="99"/>
              </a:cxn>
              <a:cxn ang="0">
                <a:pos x="89" y="39"/>
              </a:cxn>
              <a:cxn ang="0">
                <a:pos x="109" y="39"/>
              </a:cxn>
              <a:cxn ang="0">
                <a:pos x="109" y="99"/>
              </a:cxn>
              <a:cxn ang="0">
                <a:pos x="139" y="99"/>
              </a:cxn>
              <a:cxn ang="0">
                <a:pos x="119" y="99"/>
              </a:cxn>
              <a:cxn ang="0">
                <a:pos x="119" y="11"/>
              </a:cxn>
              <a:cxn ang="0">
                <a:pos x="139" y="11"/>
              </a:cxn>
              <a:cxn ang="0">
                <a:pos x="139" y="99"/>
              </a:cxn>
            </a:cxnLst>
            <a:rect l="0" t="0" r="r" b="b"/>
            <a:pathLst>
              <a:path w="158" h="119">
                <a:moveTo>
                  <a:pt x="158" y="119"/>
                </a:moveTo>
                <a:lnTo>
                  <a:pt x="0" y="119"/>
                </a:lnTo>
                <a:lnTo>
                  <a:pt x="0" y="0"/>
                </a:lnTo>
                <a:lnTo>
                  <a:pt x="9" y="0"/>
                </a:lnTo>
                <a:lnTo>
                  <a:pt x="9" y="108"/>
                </a:lnTo>
                <a:lnTo>
                  <a:pt x="158" y="108"/>
                </a:lnTo>
                <a:lnTo>
                  <a:pt x="158" y="119"/>
                </a:lnTo>
                <a:close/>
                <a:moveTo>
                  <a:pt x="50" y="99"/>
                </a:moveTo>
                <a:lnTo>
                  <a:pt x="29" y="99"/>
                </a:lnTo>
                <a:lnTo>
                  <a:pt x="29" y="60"/>
                </a:lnTo>
                <a:lnTo>
                  <a:pt x="50" y="60"/>
                </a:lnTo>
                <a:lnTo>
                  <a:pt x="50" y="99"/>
                </a:lnTo>
                <a:close/>
                <a:moveTo>
                  <a:pt x="78" y="99"/>
                </a:moveTo>
                <a:lnTo>
                  <a:pt x="59" y="99"/>
                </a:lnTo>
                <a:lnTo>
                  <a:pt x="59" y="19"/>
                </a:lnTo>
                <a:lnTo>
                  <a:pt x="78" y="19"/>
                </a:lnTo>
                <a:lnTo>
                  <a:pt x="78" y="99"/>
                </a:lnTo>
                <a:close/>
                <a:moveTo>
                  <a:pt x="109" y="99"/>
                </a:moveTo>
                <a:lnTo>
                  <a:pt x="89" y="99"/>
                </a:lnTo>
                <a:lnTo>
                  <a:pt x="89" y="39"/>
                </a:lnTo>
                <a:lnTo>
                  <a:pt x="109" y="39"/>
                </a:lnTo>
                <a:lnTo>
                  <a:pt x="109" y="99"/>
                </a:lnTo>
                <a:close/>
                <a:moveTo>
                  <a:pt x="139" y="99"/>
                </a:moveTo>
                <a:lnTo>
                  <a:pt x="119" y="99"/>
                </a:lnTo>
                <a:lnTo>
                  <a:pt x="119" y="11"/>
                </a:lnTo>
                <a:lnTo>
                  <a:pt x="139" y="11"/>
                </a:lnTo>
                <a:lnTo>
                  <a:pt x="139" y="99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31" name="Freeform 86">
            <a:extLst>
              <a:ext uri="{FF2B5EF4-FFF2-40B4-BE49-F238E27FC236}">
                <a16:creationId xmlns:a16="http://schemas.microsoft.com/office/drawing/2014/main" id="{F7366C30-58BC-446A-9747-8D783B895328}"/>
              </a:ext>
            </a:extLst>
          </p:cNvPr>
          <p:cNvSpPr>
            <a:spLocks noEditPoints="1"/>
          </p:cNvSpPr>
          <p:nvPr/>
        </p:nvSpPr>
        <p:spPr bwMode="auto">
          <a:xfrm>
            <a:off x="5254089" y="4361885"/>
            <a:ext cx="327575" cy="551156"/>
          </a:xfrm>
          <a:custGeom>
            <a:avLst/>
            <a:gdLst/>
            <a:ahLst/>
            <a:cxnLst>
              <a:cxn ang="0">
                <a:pos x="29" y="44"/>
              </a:cxn>
              <a:cxn ang="0">
                <a:pos x="24" y="49"/>
              </a:cxn>
              <a:cxn ang="0">
                <a:pos x="5" y="49"/>
              </a:cxn>
              <a:cxn ang="0">
                <a:pos x="0" y="44"/>
              </a:cxn>
              <a:cxn ang="0">
                <a:pos x="0" y="5"/>
              </a:cxn>
              <a:cxn ang="0">
                <a:pos x="5" y="0"/>
              </a:cxn>
              <a:cxn ang="0">
                <a:pos x="24" y="0"/>
              </a:cxn>
              <a:cxn ang="0">
                <a:pos x="29" y="5"/>
              </a:cxn>
              <a:cxn ang="0">
                <a:pos x="29" y="44"/>
              </a:cxn>
              <a:cxn ang="0">
                <a:pos x="25" y="11"/>
              </a:cxn>
              <a:cxn ang="0">
                <a:pos x="24" y="10"/>
              </a:cxn>
              <a:cxn ang="0">
                <a:pos x="5" y="10"/>
              </a:cxn>
              <a:cxn ang="0">
                <a:pos x="3" y="11"/>
              </a:cxn>
              <a:cxn ang="0">
                <a:pos x="3" y="38"/>
              </a:cxn>
              <a:cxn ang="0">
                <a:pos x="5" y="39"/>
              </a:cxn>
              <a:cxn ang="0">
                <a:pos x="24" y="39"/>
              </a:cxn>
              <a:cxn ang="0">
                <a:pos x="25" y="38"/>
              </a:cxn>
              <a:cxn ang="0">
                <a:pos x="25" y="11"/>
              </a:cxn>
              <a:cxn ang="0">
                <a:pos x="17" y="5"/>
              </a:cxn>
              <a:cxn ang="0">
                <a:pos x="11" y="5"/>
              </a:cxn>
              <a:cxn ang="0">
                <a:pos x="11" y="6"/>
              </a:cxn>
              <a:cxn ang="0">
                <a:pos x="11" y="6"/>
              </a:cxn>
              <a:cxn ang="0">
                <a:pos x="17" y="6"/>
              </a:cxn>
              <a:cxn ang="0">
                <a:pos x="18" y="6"/>
              </a:cxn>
              <a:cxn ang="0">
                <a:pos x="17" y="5"/>
              </a:cxn>
              <a:cxn ang="0">
                <a:pos x="14" y="41"/>
              </a:cxn>
              <a:cxn ang="0">
                <a:pos x="11" y="44"/>
              </a:cxn>
              <a:cxn ang="0">
                <a:pos x="14" y="47"/>
              </a:cxn>
              <a:cxn ang="0">
                <a:pos x="17" y="44"/>
              </a:cxn>
              <a:cxn ang="0">
                <a:pos x="14" y="41"/>
              </a:cxn>
            </a:cxnLst>
            <a:rect l="0" t="0" r="r" b="b"/>
            <a:pathLst>
              <a:path w="29" h="49">
                <a:moveTo>
                  <a:pt x="29" y="44"/>
                </a:moveTo>
                <a:cubicBezTo>
                  <a:pt x="29" y="47"/>
                  <a:pt x="27" y="49"/>
                  <a:pt x="24" y="49"/>
                </a:cubicBezTo>
                <a:cubicBezTo>
                  <a:pt x="5" y="49"/>
                  <a:pt x="5" y="49"/>
                  <a:pt x="5" y="49"/>
                </a:cubicBezTo>
                <a:cubicBezTo>
                  <a:pt x="2" y="49"/>
                  <a:pt x="0" y="47"/>
                  <a:pt x="0" y="44"/>
                </a:cubicBezTo>
                <a:cubicBezTo>
                  <a:pt x="0" y="5"/>
                  <a:pt x="0" y="5"/>
                  <a:pt x="0" y="5"/>
                </a:cubicBezTo>
                <a:cubicBezTo>
                  <a:pt x="0" y="3"/>
                  <a:pt x="2" y="0"/>
                  <a:pt x="5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7" y="0"/>
                  <a:pt x="29" y="3"/>
                  <a:pt x="29" y="5"/>
                </a:cubicBezTo>
                <a:lnTo>
                  <a:pt x="29" y="44"/>
                </a:lnTo>
                <a:close/>
                <a:moveTo>
                  <a:pt x="25" y="11"/>
                </a:moveTo>
                <a:cubicBezTo>
                  <a:pt x="25" y="11"/>
                  <a:pt x="25" y="10"/>
                  <a:pt x="24" y="10"/>
                </a:cubicBezTo>
                <a:cubicBezTo>
                  <a:pt x="5" y="10"/>
                  <a:pt x="5" y="10"/>
                  <a:pt x="5" y="10"/>
                </a:cubicBezTo>
                <a:cubicBezTo>
                  <a:pt x="4" y="10"/>
                  <a:pt x="3" y="11"/>
                  <a:pt x="3" y="11"/>
                </a:cubicBezTo>
                <a:cubicBezTo>
                  <a:pt x="3" y="38"/>
                  <a:pt x="3" y="38"/>
                  <a:pt x="3" y="38"/>
                </a:cubicBezTo>
                <a:cubicBezTo>
                  <a:pt x="3" y="39"/>
                  <a:pt x="4" y="39"/>
                  <a:pt x="5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25" y="39"/>
                  <a:pt x="25" y="39"/>
                  <a:pt x="25" y="38"/>
                </a:cubicBezTo>
                <a:lnTo>
                  <a:pt x="25" y="11"/>
                </a:lnTo>
                <a:close/>
                <a:moveTo>
                  <a:pt x="17" y="5"/>
                </a:moveTo>
                <a:cubicBezTo>
                  <a:pt x="11" y="5"/>
                  <a:pt x="11" y="5"/>
                  <a:pt x="11" y="5"/>
                </a:cubicBezTo>
                <a:cubicBezTo>
                  <a:pt x="11" y="5"/>
                  <a:pt x="11" y="6"/>
                  <a:pt x="11" y="6"/>
                </a:cubicBezTo>
                <a:cubicBezTo>
                  <a:pt x="11" y="6"/>
                  <a:pt x="11" y="6"/>
                  <a:pt x="11" y="6"/>
                </a:cubicBezTo>
                <a:cubicBezTo>
                  <a:pt x="17" y="6"/>
                  <a:pt x="17" y="6"/>
                  <a:pt x="17" y="6"/>
                </a:cubicBezTo>
                <a:cubicBezTo>
                  <a:pt x="18" y="6"/>
                  <a:pt x="18" y="6"/>
                  <a:pt x="18" y="6"/>
                </a:cubicBezTo>
                <a:cubicBezTo>
                  <a:pt x="18" y="6"/>
                  <a:pt x="18" y="5"/>
                  <a:pt x="17" y="5"/>
                </a:cubicBezTo>
                <a:close/>
                <a:moveTo>
                  <a:pt x="14" y="41"/>
                </a:moveTo>
                <a:cubicBezTo>
                  <a:pt x="13" y="41"/>
                  <a:pt x="11" y="42"/>
                  <a:pt x="11" y="44"/>
                </a:cubicBezTo>
                <a:cubicBezTo>
                  <a:pt x="11" y="46"/>
                  <a:pt x="13" y="47"/>
                  <a:pt x="14" y="47"/>
                </a:cubicBezTo>
                <a:cubicBezTo>
                  <a:pt x="16" y="47"/>
                  <a:pt x="17" y="46"/>
                  <a:pt x="17" y="44"/>
                </a:cubicBezTo>
                <a:cubicBezTo>
                  <a:pt x="17" y="42"/>
                  <a:pt x="16" y="41"/>
                  <a:pt x="14" y="41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A5FE9410-AAAD-415B-B314-D2FA244EE124}"/>
              </a:ext>
            </a:extLst>
          </p:cNvPr>
          <p:cNvSpPr/>
          <p:nvPr/>
        </p:nvSpPr>
        <p:spPr>
          <a:xfrm>
            <a:off x="4656697" y="2842322"/>
            <a:ext cx="2451995" cy="76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实现共享账本，同步对资产进行修改，完成数据同步以及账单清算等功能</a:t>
            </a:r>
          </a:p>
        </p:txBody>
      </p:sp>
      <p:sp>
        <p:nvSpPr>
          <p:cNvPr id="33" name="Rectangle 11">
            <a:extLst>
              <a:ext uri="{FF2B5EF4-FFF2-40B4-BE49-F238E27FC236}">
                <a16:creationId xmlns:a16="http://schemas.microsoft.com/office/drawing/2014/main" id="{F6FF32D9-822B-4AD3-9E48-838DF7D0E38F}"/>
              </a:ext>
            </a:extLst>
          </p:cNvPr>
          <p:cNvSpPr/>
          <p:nvPr/>
        </p:nvSpPr>
        <p:spPr>
          <a:xfrm>
            <a:off x="4656698" y="2548689"/>
            <a:ext cx="1349581" cy="372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</a:t>
            </a: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E34B6EE6-6B46-4EC1-A5DA-7C82E6D0338B}"/>
              </a:ext>
            </a:extLst>
          </p:cNvPr>
          <p:cNvSpPr/>
          <p:nvPr/>
        </p:nvSpPr>
        <p:spPr>
          <a:xfrm>
            <a:off x="1949192" y="4467070"/>
            <a:ext cx="2451995" cy="76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多人活动的记账问题，例如旅游过程中产生的花费，使用现有记账软件不方便</a:t>
            </a:r>
          </a:p>
        </p:txBody>
      </p:sp>
      <p:sp>
        <p:nvSpPr>
          <p:cNvPr id="37" name="Rectangle 11">
            <a:extLst>
              <a:ext uri="{FF2B5EF4-FFF2-40B4-BE49-F238E27FC236}">
                <a16:creationId xmlns:a16="http://schemas.microsoft.com/office/drawing/2014/main" id="{C74E8996-B407-40A7-ABE1-AD318EBB848C}"/>
              </a:ext>
            </a:extLst>
          </p:cNvPr>
          <p:cNvSpPr/>
          <p:nvPr/>
        </p:nvSpPr>
        <p:spPr>
          <a:xfrm>
            <a:off x="1949193" y="4173437"/>
            <a:ext cx="1349581" cy="372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背景</a:t>
            </a: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6F8FC1BE-27B7-4247-BA41-2C0545B8F659}"/>
              </a:ext>
            </a:extLst>
          </p:cNvPr>
          <p:cNvSpPr/>
          <p:nvPr/>
        </p:nvSpPr>
        <p:spPr>
          <a:xfrm>
            <a:off x="6668265" y="4467070"/>
            <a:ext cx="2451995" cy="76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对于多人活动垫付资金频繁的用户，如合租用户、旅游用户、寝室生活</a:t>
            </a:r>
          </a:p>
        </p:txBody>
      </p:sp>
      <p:sp>
        <p:nvSpPr>
          <p:cNvPr id="39" name="Rectangle 11">
            <a:extLst>
              <a:ext uri="{FF2B5EF4-FFF2-40B4-BE49-F238E27FC236}">
                <a16:creationId xmlns:a16="http://schemas.microsoft.com/office/drawing/2014/main" id="{954B0D0F-9CCC-4C45-A8B1-65272CF64D96}"/>
              </a:ext>
            </a:extLst>
          </p:cNvPr>
          <p:cNvSpPr/>
          <p:nvPr/>
        </p:nvSpPr>
        <p:spPr>
          <a:xfrm>
            <a:off x="6668266" y="4173437"/>
            <a:ext cx="1349581" cy="3720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目标用户</a:t>
            </a:r>
          </a:p>
        </p:txBody>
      </p:sp>
    </p:spTree>
    <p:extLst>
      <p:ext uri="{BB962C8B-B14F-4D97-AF65-F5344CB8AC3E}">
        <p14:creationId xmlns:p14="http://schemas.microsoft.com/office/powerpoint/2010/main" val="78764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C0C55F-24A8-4CFD-BF02-4774F92CB4B6}"/>
              </a:ext>
            </a:extLst>
          </p:cNvPr>
          <p:cNvGrpSpPr/>
          <p:nvPr/>
        </p:nvGrpSpPr>
        <p:grpSpPr>
          <a:xfrm>
            <a:off x="379183" y="121460"/>
            <a:ext cx="779057" cy="324391"/>
            <a:chOff x="615950" y="458788"/>
            <a:chExt cx="2657475" cy="1108075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AF5234D-3DE7-4951-AF59-A73E391C39B9}"/>
                </a:ext>
              </a:extLst>
            </p:cNvPr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36E638A-DC80-408A-B7AE-871AB26BB6EA}"/>
                </a:ext>
              </a:extLst>
            </p:cNvPr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B5DA8D2-2D9A-4A2D-8EB3-D67D87A25A8F}"/>
                </a:ext>
              </a:extLst>
            </p:cNvPr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71BFCA66-8BD2-4AA9-917C-0F9E363A5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21BFF23C-AA7D-4505-B3DB-26756B95D74A}"/>
                </a:ext>
              </a:extLst>
            </p:cNvPr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9595180-E669-4BD5-AE9F-1797C69A1A23}"/>
                </a:ext>
              </a:extLst>
            </p:cNvPr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37275F7-96B9-4FFA-809F-8E203ACBC7E4}"/>
                </a:ext>
              </a:extLst>
            </p:cNvPr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2016070-15D4-4A59-A406-09C09C3C60BA}"/>
                </a:ext>
              </a:extLst>
            </p:cNvPr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396B1544-543B-4610-AEC9-9FE409D91C58}"/>
                </a:ext>
              </a:extLst>
            </p:cNvPr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97655B1-50C5-4C3D-BC6E-1380046AB0B5}"/>
                </a:ext>
              </a:extLst>
            </p:cNvPr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8D17F009-8172-4234-874B-3236D2F3E06E}"/>
                </a:ext>
              </a:extLst>
            </p:cNvPr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1370EA9-771C-43DB-9AF3-0565FA6A2F66}"/>
                </a:ext>
              </a:extLst>
            </p:cNvPr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A8522838-BCE3-42DA-9706-F521BFFB0376}"/>
                </a:ext>
              </a:extLst>
            </p:cNvPr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E7027D2-B70A-4DFC-85D8-3F0571CC879C}"/>
                </a:ext>
              </a:extLst>
            </p:cNvPr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BAB24B3C-4139-42BB-B4FA-DC9B8B35D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48FF9EC8-31A0-4AFC-B8BF-178592A1F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51E5AC-14C9-43BC-AF06-8A075B384240}"/>
              </a:ext>
            </a:extLst>
          </p:cNvPr>
          <p:cNvSpPr/>
          <p:nvPr/>
        </p:nvSpPr>
        <p:spPr>
          <a:xfrm>
            <a:off x="3510986" y="2139645"/>
            <a:ext cx="5170028" cy="2503476"/>
          </a:xfrm>
          <a:prstGeom prst="roundRect">
            <a:avLst>
              <a:gd name="adj" fmla="val 4546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24448E2-AFDF-4968-AA91-5321765991CB}"/>
              </a:ext>
            </a:extLst>
          </p:cNvPr>
          <p:cNvSpPr/>
          <p:nvPr/>
        </p:nvSpPr>
        <p:spPr>
          <a:xfrm>
            <a:off x="5191058" y="1941847"/>
            <a:ext cx="1687756" cy="3832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pc="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Part 02</a:t>
            </a:r>
            <a:endParaRPr lang="zh-CN" altLang="en-US" sz="2000" spc="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4C6F0ED-F4C5-48EF-BED9-945106228492}"/>
              </a:ext>
            </a:extLst>
          </p:cNvPr>
          <p:cNvSpPr txBox="1"/>
          <p:nvPr/>
        </p:nvSpPr>
        <p:spPr>
          <a:xfrm>
            <a:off x="4080143" y="2952899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</p:spTree>
    <p:extLst>
      <p:ext uri="{BB962C8B-B14F-4D97-AF65-F5344CB8AC3E}">
        <p14:creationId xmlns:p14="http://schemas.microsoft.com/office/powerpoint/2010/main" val="992061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F5DFF13-9FAB-4351-AE44-89E30C33D972}"/>
              </a:ext>
            </a:extLst>
          </p:cNvPr>
          <p:cNvSpPr txBox="1"/>
          <p:nvPr/>
        </p:nvSpPr>
        <p:spPr>
          <a:xfrm>
            <a:off x="437249" y="5596170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用户案例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863A639-218F-4DF3-8299-36F77D19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059" y="1487887"/>
            <a:ext cx="9415917" cy="3385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17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812957" y="2967273"/>
            <a:ext cx="2114860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9C01C86-F7D5-450E-A2DA-502A35F45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575" y="1928812"/>
            <a:ext cx="68008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779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43208B7-DAB7-44A4-8C0E-88F118BC3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40" y="1619528"/>
            <a:ext cx="68008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706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资产管理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18AEDC3-7D22-4C91-B0A6-AA204D95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7457" y="1665091"/>
            <a:ext cx="6781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57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添加个人账单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9D39FAA-5919-4785-A65C-E5C31EE3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888" y="1788916"/>
            <a:ext cx="67532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4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添加共享账本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E42042-377E-47E2-9C44-D11567E52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51" y="1765103"/>
            <a:ext cx="677227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59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加入共享账本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760FDB-FFFA-42BE-9497-FC54D1CD5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305" y="1132874"/>
            <a:ext cx="677227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20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项目用例介绍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17A27DDE-1B75-4BE5-B3B2-A236882CBD6D}"/>
              </a:ext>
            </a:extLst>
          </p:cNvPr>
          <p:cNvGrpSpPr/>
          <p:nvPr/>
        </p:nvGrpSpPr>
        <p:grpSpPr>
          <a:xfrm>
            <a:off x="762397" y="2707872"/>
            <a:ext cx="1050559" cy="824119"/>
            <a:chOff x="6168929" y="957929"/>
            <a:chExt cx="1304469" cy="993236"/>
          </a:xfrm>
        </p:grpSpPr>
        <p:sp>
          <p:nvSpPr>
            <p:cNvPr id="9" name="Oval 19">
              <a:extLst>
                <a:ext uri="{FF2B5EF4-FFF2-40B4-BE49-F238E27FC236}">
                  <a16:creationId xmlns:a16="http://schemas.microsoft.com/office/drawing/2014/main" id="{878D69A2-A27D-4EAE-908C-420FE16B6D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2919" y="957929"/>
              <a:ext cx="995966" cy="99323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FontAwesome" pitchFamily="2" charset="0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E1E7E0-C2C1-417C-ACB8-278EEEFABD94}"/>
                </a:ext>
              </a:extLst>
            </p:cNvPr>
            <p:cNvSpPr txBox="1"/>
            <p:nvPr/>
          </p:nvSpPr>
          <p:spPr>
            <a:xfrm>
              <a:off x="6168929" y="1237861"/>
              <a:ext cx="1304469" cy="3709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</a:rPr>
                <a:t>用例名称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743084" y="2933918"/>
            <a:ext cx="2271513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删除账本参与者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ADAA46-3C2F-4A28-B756-766889E76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8541" y="1889464"/>
            <a:ext cx="6810375" cy="35052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F39B2C9-5B06-4A4F-82A4-27E4091F9438}"/>
              </a:ext>
            </a:extLst>
          </p:cNvPr>
          <p:cNvSpPr txBox="1"/>
          <p:nvPr/>
        </p:nvSpPr>
        <p:spPr>
          <a:xfrm>
            <a:off x="512326" y="5484401"/>
            <a:ext cx="2114860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接口需求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BC1DADA-E2A2-4DE9-A548-EAFC8CF13F18}"/>
              </a:ext>
            </a:extLst>
          </p:cNvPr>
          <p:cNvSpPr txBox="1"/>
          <p:nvPr/>
        </p:nvSpPr>
        <p:spPr>
          <a:xfrm>
            <a:off x="5938062" y="5491280"/>
            <a:ext cx="2114860" cy="372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功能性需求</a:t>
            </a:r>
          </a:p>
        </p:txBody>
      </p:sp>
    </p:spTree>
    <p:extLst>
      <p:ext uri="{BB962C8B-B14F-4D97-AF65-F5344CB8AC3E}">
        <p14:creationId xmlns:p14="http://schemas.microsoft.com/office/powerpoint/2010/main" val="569097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C0C55F-24A8-4CFD-BF02-4774F92CB4B6}"/>
              </a:ext>
            </a:extLst>
          </p:cNvPr>
          <p:cNvGrpSpPr/>
          <p:nvPr/>
        </p:nvGrpSpPr>
        <p:grpSpPr>
          <a:xfrm>
            <a:off x="379183" y="121460"/>
            <a:ext cx="779057" cy="324391"/>
            <a:chOff x="615950" y="458788"/>
            <a:chExt cx="2657475" cy="1108075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AF5234D-3DE7-4951-AF59-A73E391C39B9}"/>
                </a:ext>
              </a:extLst>
            </p:cNvPr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36E638A-DC80-408A-B7AE-871AB26BB6EA}"/>
                </a:ext>
              </a:extLst>
            </p:cNvPr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B5DA8D2-2D9A-4A2D-8EB3-D67D87A25A8F}"/>
                </a:ext>
              </a:extLst>
            </p:cNvPr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71BFCA66-8BD2-4AA9-917C-0F9E363A5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21BFF23C-AA7D-4505-B3DB-26756B95D74A}"/>
                </a:ext>
              </a:extLst>
            </p:cNvPr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9595180-E669-4BD5-AE9F-1797C69A1A23}"/>
                </a:ext>
              </a:extLst>
            </p:cNvPr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37275F7-96B9-4FFA-809F-8E203ACBC7E4}"/>
                </a:ext>
              </a:extLst>
            </p:cNvPr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2016070-15D4-4A59-A406-09C09C3C60BA}"/>
                </a:ext>
              </a:extLst>
            </p:cNvPr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396B1544-543B-4610-AEC9-9FE409D91C58}"/>
                </a:ext>
              </a:extLst>
            </p:cNvPr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97655B1-50C5-4C3D-BC6E-1380046AB0B5}"/>
                </a:ext>
              </a:extLst>
            </p:cNvPr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8D17F009-8172-4234-874B-3236D2F3E06E}"/>
                </a:ext>
              </a:extLst>
            </p:cNvPr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1370EA9-771C-43DB-9AF3-0565FA6A2F66}"/>
                </a:ext>
              </a:extLst>
            </p:cNvPr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A8522838-BCE3-42DA-9706-F521BFFB0376}"/>
                </a:ext>
              </a:extLst>
            </p:cNvPr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E7027D2-B70A-4DFC-85D8-3F0571CC879C}"/>
                </a:ext>
              </a:extLst>
            </p:cNvPr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BAB24B3C-4139-42BB-B4FA-DC9B8B35D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48FF9EC8-31A0-4AFC-B8BF-178592A1F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51E5AC-14C9-43BC-AF06-8A075B384240}"/>
              </a:ext>
            </a:extLst>
          </p:cNvPr>
          <p:cNvSpPr/>
          <p:nvPr/>
        </p:nvSpPr>
        <p:spPr>
          <a:xfrm>
            <a:off x="3510986" y="2139645"/>
            <a:ext cx="5170028" cy="2503476"/>
          </a:xfrm>
          <a:prstGeom prst="roundRect">
            <a:avLst>
              <a:gd name="adj" fmla="val 4546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24448E2-AFDF-4968-AA91-5321765991CB}"/>
              </a:ext>
            </a:extLst>
          </p:cNvPr>
          <p:cNvSpPr/>
          <p:nvPr/>
        </p:nvSpPr>
        <p:spPr>
          <a:xfrm>
            <a:off x="5191058" y="1941847"/>
            <a:ext cx="1687756" cy="3832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pc="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Part 03</a:t>
            </a:r>
            <a:endParaRPr lang="zh-CN" altLang="en-US" sz="2000" spc="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5FC37142-326E-4628-B5DC-ED06E9ED8790}"/>
              </a:ext>
            </a:extLst>
          </p:cNvPr>
          <p:cNvSpPr txBox="1"/>
          <p:nvPr/>
        </p:nvSpPr>
        <p:spPr>
          <a:xfrm>
            <a:off x="4080143" y="3098995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spc="3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非功能性需求</a:t>
            </a:r>
          </a:p>
        </p:txBody>
      </p:sp>
    </p:spTree>
    <p:extLst>
      <p:ext uri="{BB962C8B-B14F-4D97-AF65-F5344CB8AC3E}">
        <p14:creationId xmlns:p14="http://schemas.microsoft.com/office/powerpoint/2010/main" val="2501514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非功能性需求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1A6CCA3-8577-40AE-B579-2FE50364994E}"/>
              </a:ext>
            </a:extLst>
          </p:cNvPr>
          <p:cNvSpPr txBox="1"/>
          <p:nvPr/>
        </p:nvSpPr>
        <p:spPr>
          <a:xfrm>
            <a:off x="652481" y="952799"/>
            <a:ext cx="3934759" cy="3761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altLang="zh-CN" sz="1400" spc="300" dirty="0">
                <a:solidFill>
                  <a:schemeClr val="accent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Research ideas and methods</a:t>
            </a:r>
          </a:p>
        </p:txBody>
      </p:sp>
      <p:cxnSp>
        <p:nvCxnSpPr>
          <p:cNvPr id="5" name="Straight Connector 55">
            <a:extLst>
              <a:ext uri="{FF2B5EF4-FFF2-40B4-BE49-F238E27FC236}">
                <a16:creationId xmlns:a16="http://schemas.microsoft.com/office/drawing/2014/main" id="{E202ED27-57D7-436D-9E96-878C58B03C4B}"/>
              </a:ext>
            </a:extLst>
          </p:cNvPr>
          <p:cNvCxnSpPr/>
          <p:nvPr/>
        </p:nvCxnSpPr>
        <p:spPr>
          <a:xfrm flipV="1">
            <a:off x="4257301" y="4370297"/>
            <a:ext cx="0" cy="85960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6">
            <a:extLst>
              <a:ext uri="{FF2B5EF4-FFF2-40B4-BE49-F238E27FC236}">
                <a16:creationId xmlns:a16="http://schemas.microsoft.com/office/drawing/2014/main" id="{A35AC0C2-A355-4CBC-A5A8-7F5EE9221A51}"/>
              </a:ext>
            </a:extLst>
          </p:cNvPr>
          <p:cNvCxnSpPr/>
          <p:nvPr/>
        </p:nvCxnSpPr>
        <p:spPr>
          <a:xfrm>
            <a:off x="6141519" y="3940497"/>
            <a:ext cx="0" cy="859600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57">
            <a:extLst>
              <a:ext uri="{FF2B5EF4-FFF2-40B4-BE49-F238E27FC236}">
                <a16:creationId xmlns:a16="http://schemas.microsoft.com/office/drawing/2014/main" id="{97150277-55CC-4C3D-8D27-E3A3B34A4D60}"/>
              </a:ext>
            </a:extLst>
          </p:cNvPr>
          <p:cNvCxnSpPr/>
          <p:nvPr/>
        </p:nvCxnSpPr>
        <p:spPr>
          <a:xfrm flipV="1">
            <a:off x="8025736" y="3657959"/>
            <a:ext cx="0" cy="859600"/>
          </a:xfrm>
          <a:prstGeom prst="line">
            <a:avLst/>
          </a:prstGeom>
          <a:ln>
            <a:solidFill>
              <a:schemeClr val="accent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0">
            <a:extLst>
              <a:ext uri="{FF2B5EF4-FFF2-40B4-BE49-F238E27FC236}">
                <a16:creationId xmlns:a16="http://schemas.microsoft.com/office/drawing/2014/main" id="{EFA19688-97F0-484A-AC91-F524CA31253B}"/>
              </a:ext>
            </a:extLst>
          </p:cNvPr>
          <p:cNvCxnSpPr/>
          <p:nvPr/>
        </p:nvCxnSpPr>
        <p:spPr>
          <a:xfrm flipV="1">
            <a:off x="2350009" y="3871222"/>
            <a:ext cx="0" cy="859600"/>
          </a:xfrm>
          <a:prstGeom prst="line">
            <a:avLst/>
          </a:prstGeom>
          <a:ln>
            <a:solidFill>
              <a:schemeClr val="accent1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reeform 21">
            <a:extLst>
              <a:ext uri="{FF2B5EF4-FFF2-40B4-BE49-F238E27FC236}">
                <a16:creationId xmlns:a16="http://schemas.microsoft.com/office/drawing/2014/main" id="{37BE6D4A-26F0-4322-8AB6-5F0A87CE5F70}"/>
              </a:ext>
            </a:extLst>
          </p:cNvPr>
          <p:cNvSpPr>
            <a:spLocks/>
          </p:cNvSpPr>
          <p:nvPr/>
        </p:nvSpPr>
        <p:spPr bwMode="auto">
          <a:xfrm>
            <a:off x="2514" y="2784459"/>
            <a:ext cx="9794527" cy="3583614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8" h="1032">
                <a:moveTo>
                  <a:pt x="0" y="856"/>
                </a:moveTo>
                <a:cubicBezTo>
                  <a:pt x="420" y="1032"/>
                  <a:pt x="464" y="536"/>
                  <a:pt x="660" y="540"/>
                </a:cubicBezTo>
                <a:cubicBezTo>
                  <a:pt x="856" y="544"/>
                  <a:pt x="976" y="736"/>
                  <a:pt x="1232" y="720"/>
                </a:cubicBezTo>
                <a:cubicBezTo>
                  <a:pt x="1488" y="704"/>
                  <a:pt x="1508" y="352"/>
                  <a:pt x="1772" y="320"/>
                </a:cubicBezTo>
                <a:cubicBezTo>
                  <a:pt x="2036" y="288"/>
                  <a:pt x="2063" y="491"/>
                  <a:pt x="2315" y="479"/>
                </a:cubicBezTo>
                <a:cubicBezTo>
                  <a:pt x="2567" y="467"/>
                  <a:pt x="2572" y="84"/>
                  <a:pt x="2828" y="0"/>
                </a:cubicBezTo>
              </a:path>
            </a:pathLst>
          </a:custGeom>
          <a:noFill/>
          <a:ln w="15875" cap="flat">
            <a:solidFill>
              <a:schemeClr val="accent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Oval 19">
            <a:extLst>
              <a:ext uri="{FF2B5EF4-FFF2-40B4-BE49-F238E27FC236}">
                <a16:creationId xmlns:a16="http://schemas.microsoft.com/office/drawing/2014/main" id="{7E30B774-2767-4E59-BD5E-CA2C1880F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5463" y="4800097"/>
            <a:ext cx="995966" cy="9932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11" name="Oval 19">
            <a:extLst>
              <a:ext uri="{FF2B5EF4-FFF2-40B4-BE49-F238E27FC236}">
                <a16:creationId xmlns:a16="http://schemas.microsoft.com/office/drawing/2014/main" id="{D0BE2964-FA00-43B6-87D7-4627E4592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3536" y="3444497"/>
            <a:ext cx="995966" cy="9932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12" name="Oval 19">
            <a:extLst>
              <a:ext uri="{FF2B5EF4-FFF2-40B4-BE49-F238E27FC236}">
                <a16:creationId xmlns:a16="http://schemas.microsoft.com/office/drawing/2014/main" id="{5F8CE9B2-B8FD-4083-9301-A675D57DB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609" y="3970714"/>
            <a:ext cx="995966" cy="9932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13" name="Oval 19">
            <a:extLst>
              <a:ext uri="{FF2B5EF4-FFF2-40B4-BE49-F238E27FC236}">
                <a16:creationId xmlns:a16="http://schemas.microsoft.com/office/drawing/2014/main" id="{3AE62E0A-0487-4BF8-8941-5A35FC1B5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390" y="4178788"/>
            <a:ext cx="995966" cy="9932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FontAwesome" pitchFamily="2" charset="0"/>
            </a:endParaRPr>
          </a:p>
        </p:txBody>
      </p:sp>
      <p:sp>
        <p:nvSpPr>
          <p:cNvPr id="14" name="Freeform 22">
            <a:extLst>
              <a:ext uri="{FF2B5EF4-FFF2-40B4-BE49-F238E27FC236}">
                <a16:creationId xmlns:a16="http://schemas.microsoft.com/office/drawing/2014/main" id="{BC18E219-76A2-4F22-AAE7-4F67878BB492}"/>
              </a:ext>
            </a:extLst>
          </p:cNvPr>
          <p:cNvSpPr>
            <a:spLocks/>
          </p:cNvSpPr>
          <p:nvPr/>
        </p:nvSpPr>
        <p:spPr bwMode="auto">
          <a:xfrm>
            <a:off x="10096558" y="2637363"/>
            <a:ext cx="406459" cy="354931"/>
          </a:xfrm>
          <a:custGeom>
            <a:avLst/>
            <a:gdLst>
              <a:gd name="T0" fmla="*/ 71 w 71"/>
              <a:gd name="T1" fmla="*/ 3 h 62"/>
              <a:gd name="T2" fmla="*/ 0 w 71"/>
              <a:gd name="T3" fmla="*/ 62 h 62"/>
              <a:gd name="T4" fmla="*/ 14 w 71"/>
              <a:gd name="T5" fmla="*/ 0 h 62"/>
              <a:gd name="T6" fmla="*/ 71 w 71"/>
              <a:gd name="T7" fmla="*/ 3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1" h="62">
                <a:moveTo>
                  <a:pt x="71" y="3"/>
                </a:moveTo>
                <a:lnTo>
                  <a:pt x="0" y="62"/>
                </a:lnTo>
                <a:lnTo>
                  <a:pt x="14" y="0"/>
                </a:lnTo>
                <a:lnTo>
                  <a:pt x="71" y="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Freeform 23">
            <a:extLst>
              <a:ext uri="{FF2B5EF4-FFF2-40B4-BE49-F238E27FC236}">
                <a16:creationId xmlns:a16="http://schemas.microsoft.com/office/drawing/2014/main" id="{0B932B4E-AF7F-4856-81BE-402F7886FC6E}"/>
              </a:ext>
            </a:extLst>
          </p:cNvPr>
          <p:cNvSpPr>
            <a:spLocks/>
          </p:cNvSpPr>
          <p:nvPr/>
        </p:nvSpPr>
        <p:spPr bwMode="auto">
          <a:xfrm>
            <a:off x="9741624" y="2202286"/>
            <a:ext cx="1316691" cy="681241"/>
          </a:xfrm>
          <a:custGeom>
            <a:avLst/>
            <a:gdLst>
              <a:gd name="T0" fmla="*/ 230 w 230"/>
              <a:gd name="T1" fmla="*/ 0 h 119"/>
              <a:gd name="T2" fmla="*/ 0 w 230"/>
              <a:gd name="T3" fmla="*/ 26 h 119"/>
              <a:gd name="T4" fmla="*/ 140 w 230"/>
              <a:gd name="T5" fmla="*/ 119 h 119"/>
              <a:gd name="T6" fmla="*/ 230 w 230"/>
              <a:gd name="T7" fmla="*/ 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0" h="119">
                <a:moveTo>
                  <a:pt x="230" y="0"/>
                </a:moveTo>
                <a:lnTo>
                  <a:pt x="0" y="26"/>
                </a:lnTo>
                <a:lnTo>
                  <a:pt x="140" y="119"/>
                </a:lnTo>
                <a:lnTo>
                  <a:pt x="23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7E1D0A3A-0E20-4340-9926-8F28E91AB180}"/>
              </a:ext>
            </a:extLst>
          </p:cNvPr>
          <p:cNvSpPr>
            <a:spLocks/>
          </p:cNvSpPr>
          <p:nvPr/>
        </p:nvSpPr>
        <p:spPr bwMode="auto">
          <a:xfrm>
            <a:off x="10027861" y="2248084"/>
            <a:ext cx="933135" cy="744210"/>
          </a:xfrm>
          <a:custGeom>
            <a:avLst/>
            <a:gdLst>
              <a:gd name="T0" fmla="*/ 163 w 163"/>
              <a:gd name="T1" fmla="*/ 0 h 130"/>
              <a:gd name="T2" fmla="*/ 0 w 163"/>
              <a:gd name="T3" fmla="*/ 52 h 130"/>
              <a:gd name="T4" fmla="*/ 12 w 163"/>
              <a:gd name="T5" fmla="*/ 130 h 130"/>
              <a:gd name="T6" fmla="*/ 26 w 163"/>
              <a:gd name="T7" fmla="*/ 68 h 130"/>
              <a:gd name="T8" fmla="*/ 163 w 163"/>
              <a:gd name="T9" fmla="*/ 0 h 1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3" h="130">
                <a:moveTo>
                  <a:pt x="163" y="0"/>
                </a:moveTo>
                <a:lnTo>
                  <a:pt x="0" y="52"/>
                </a:lnTo>
                <a:lnTo>
                  <a:pt x="12" y="130"/>
                </a:lnTo>
                <a:lnTo>
                  <a:pt x="26" y="68"/>
                </a:lnTo>
                <a:lnTo>
                  <a:pt x="16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DD5960-5740-413A-9AE4-7934A6F44CE6}"/>
              </a:ext>
            </a:extLst>
          </p:cNvPr>
          <p:cNvSpPr txBox="1"/>
          <p:nvPr/>
        </p:nvSpPr>
        <p:spPr>
          <a:xfrm>
            <a:off x="1219908" y="3387364"/>
            <a:ext cx="2114860" cy="53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准确不冲突，确保用户修改可以正确的上传到云端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69EDD1A-DEF9-4B8E-8C63-1BFB8417AC55}"/>
              </a:ext>
            </a:extLst>
          </p:cNvPr>
          <p:cNvSpPr txBox="1"/>
          <p:nvPr/>
        </p:nvSpPr>
        <p:spPr>
          <a:xfrm>
            <a:off x="3179445" y="3689434"/>
            <a:ext cx="2114860" cy="7637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支持最多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人加入同一共享账本，同一用户最多可创建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本共享账本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5B7D46-3762-435F-A3DA-FC3E4714184B}"/>
              </a:ext>
            </a:extLst>
          </p:cNvPr>
          <p:cNvSpPr txBox="1"/>
          <p:nvPr/>
        </p:nvSpPr>
        <p:spPr>
          <a:xfrm>
            <a:off x="1337529" y="3134432"/>
            <a:ext cx="135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数据准确度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6C306F-4ECB-4DEE-8528-CE409F7B6E05}"/>
              </a:ext>
            </a:extLst>
          </p:cNvPr>
          <p:cNvSpPr txBox="1"/>
          <p:nvPr/>
        </p:nvSpPr>
        <p:spPr>
          <a:xfrm>
            <a:off x="3188214" y="3378765"/>
            <a:ext cx="135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用户数量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6C14B0-A988-42F0-A59D-06AB62D7BA84}"/>
              </a:ext>
            </a:extLst>
          </p:cNvPr>
          <p:cNvSpPr txBox="1"/>
          <p:nvPr/>
        </p:nvSpPr>
        <p:spPr>
          <a:xfrm>
            <a:off x="6968306" y="2501674"/>
            <a:ext cx="135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适应性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10CF075-DBBD-492F-AE34-171F3E650F61}"/>
              </a:ext>
            </a:extLst>
          </p:cNvPr>
          <p:cNvSpPr txBox="1"/>
          <p:nvPr/>
        </p:nvSpPr>
        <p:spPr>
          <a:xfrm>
            <a:off x="5094370" y="4775933"/>
            <a:ext cx="1359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防护需求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B5E2EDF-E001-48A8-A33B-2968B855F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786" y="5207444"/>
            <a:ext cx="4629150" cy="771525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E18622A-1922-4A43-A69E-20121DCFD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14828"/>
            <a:ext cx="27813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82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SRS</a:t>
            </a: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修正总结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894003" y="2013962"/>
            <a:ext cx="6886011" cy="3142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重构了系统用例图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重新编写了各个用例的详细说明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添加接口需求部分，包含用户接口、硬件接口、通讯接口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添加系统特性，明确功能性需求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修改非功能性需求，使之符合开发要求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8908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SRS</a:t>
            </a: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修正总结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3B561C-B233-4FB3-B0A9-1D3CF984DBF2}"/>
              </a:ext>
            </a:extLst>
          </p:cNvPr>
          <p:cNvSpPr txBox="1"/>
          <p:nvPr/>
        </p:nvSpPr>
        <p:spPr>
          <a:xfrm>
            <a:off x="1894003" y="2013962"/>
            <a:ext cx="6886011" cy="3449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需求调整：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用户账户唯一性：允许同名，但手机号和邮箱不能相同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注册验证方式改为邮箱验证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安卓开发使用原生安卓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添加共享账本用户时删掉通过用户名称添加的方式，改为生成邀请码自行添加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5000"/>
              </a:lnSpc>
            </a:pP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2878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C0C55F-24A8-4CFD-BF02-4774F92CB4B6}"/>
              </a:ext>
            </a:extLst>
          </p:cNvPr>
          <p:cNvGrpSpPr/>
          <p:nvPr/>
        </p:nvGrpSpPr>
        <p:grpSpPr>
          <a:xfrm>
            <a:off x="379183" y="121460"/>
            <a:ext cx="779057" cy="324391"/>
            <a:chOff x="615950" y="458788"/>
            <a:chExt cx="2657475" cy="1108075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AF5234D-3DE7-4951-AF59-A73E391C39B9}"/>
                </a:ext>
              </a:extLst>
            </p:cNvPr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36E638A-DC80-408A-B7AE-871AB26BB6EA}"/>
                </a:ext>
              </a:extLst>
            </p:cNvPr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B5DA8D2-2D9A-4A2D-8EB3-D67D87A25A8F}"/>
                </a:ext>
              </a:extLst>
            </p:cNvPr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71BFCA66-8BD2-4AA9-917C-0F9E363A5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21BFF23C-AA7D-4505-B3DB-26756B95D74A}"/>
                </a:ext>
              </a:extLst>
            </p:cNvPr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9595180-E669-4BD5-AE9F-1797C69A1A23}"/>
                </a:ext>
              </a:extLst>
            </p:cNvPr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37275F7-96B9-4FFA-809F-8E203ACBC7E4}"/>
                </a:ext>
              </a:extLst>
            </p:cNvPr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2016070-15D4-4A59-A406-09C09C3C60BA}"/>
                </a:ext>
              </a:extLst>
            </p:cNvPr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396B1544-543B-4610-AEC9-9FE409D91C58}"/>
                </a:ext>
              </a:extLst>
            </p:cNvPr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97655B1-50C5-4C3D-BC6E-1380046AB0B5}"/>
                </a:ext>
              </a:extLst>
            </p:cNvPr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8D17F009-8172-4234-874B-3236D2F3E06E}"/>
                </a:ext>
              </a:extLst>
            </p:cNvPr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1370EA9-771C-43DB-9AF3-0565FA6A2F66}"/>
                </a:ext>
              </a:extLst>
            </p:cNvPr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A8522838-BCE3-42DA-9706-F521BFFB0376}"/>
                </a:ext>
              </a:extLst>
            </p:cNvPr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E7027D2-B70A-4DFC-85D8-3F0571CC879C}"/>
                </a:ext>
              </a:extLst>
            </p:cNvPr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BAB24B3C-4139-42BB-B4FA-DC9B8B35D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48FF9EC8-31A0-4AFC-B8BF-178592A1F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7F51E5AC-14C9-43BC-AF06-8A075B384240}"/>
              </a:ext>
            </a:extLst>
          </p:cNvPr>
          <p:cNvSpPr/>
          <p:nvPr/>
        </p:nvSpPr>
        <p:spPr>
          <a:xfrm>
            <a:off x="3510986" y="2139645"/>
            <a:ext cx="5170028" cy="2503476"/>
          </a:xfrm>
          <a:prstGeom prst="roundRect">
            <a:avLst>
              <a:gd name="adj" fmla="val 4546"/>
            </a:avLst>
          </a:prstGeom>
          <a:noFill/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accent1"/>
              </a:solidFill>
            </a:endParaRP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924448E2-AFDF-4968-AA91-5321765991CB}"/>
              </a:ext>
            </a:extLst>
          </p:cNvPr>
          <p:cNvSpPr/>
          <p:nvPr/>
        </p:nvSpPr>
        <p:spPr>
          <a:xfrm>
            <a:off x="5191058" y="1941847"/>
            <a:ext cx="1687756" cy="38329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spc="3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Part 04</a:t>
            </a:r>
            <a:endParaRPr lang="zh-CN" altLang="en-US" sz="2000" spc="300" dirty="0">
              <a:solidFill>
                <a:schemeClr val="bg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4C6F0ED-F4C5-48EF-BED9-945106228492}"/>
              </a:ext>
            </a:extLst>
          </p:cNvPr>
          <p:cNvSpPr txBox="1"/>
          <p:nvPr/>
        </p:nvSpPr>
        <p:spPr>
          <a:xfrm>
            <a:off x="4080143" y="2952899"/>
            <a:ext cx="390958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项目测试与修复</a:t>
            </a:r>
          </a:p>
        </p:txBody>
      </p:sp>
    </p:spTree>
    <p:extLst>
      <p:ext uri="{BB962C8B-B14F-4D97-AF65-F5344CB8AC3E}">
        <p14:creationId xmlns:p14="http://schemas.microsoft.com/office/powerpoint/2010/main" val="36873141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功能性测试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4608645-432A-46EF-9700-97846B894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7302"/>
              </p:ext>
            </p:extLst>
          </p:nvPr>
        </p:nvGraphicFramePr>
        <p:xfrm>
          <a:off x="2353587" y="1796994"/>
          <a:ext cx="7673009" cy="37371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20914">
                  <a:extLst>
                    <a:ext uri="{9D8B030D-6E8A-4147-A177-3AD203B41FA5}">
                      <a16:colId xmlns:a16="http://schemas.microsoft.com/office/drawing/2014/main" val="1543680196"/>
                    </a:ext>
                  </a:extLst>
                </a:gridCol>
                <a:gridCol w="1308590">
                  <a:extLst>
                    <a:ext uri="{9D8B030D-6E8A-4147-A177-3AD203B41FA5}">
                      <a16:colId xmlns:a16="http://schemas.microsoft.com/office/drawing/2014/main" val="2582073347"/>
                    </a:ext>
                  </a:extLst>
                </a:gridCol>
                <a:gridCol w="4043505">
                  <a:extLst>
                    <a:ext uri="{9D8B030D-6E8A-4147-A177-3AD203B41FA5}">
                      <a16:colId xmlns:a16="http://schemas.microsoft.com/office/drawing/2014/main" val="2152196617"/>
                    </a:ext>
                  </a:extLst>
                </a:gridCol>
              </a:tblGrid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功能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是否完成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备注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7974420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注册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手机号和邮箱不能重复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6368424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登录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0142578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退出登录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20753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个人信息修改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可以修改用户名和密码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685376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添加个人资产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4216039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修改个人资产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修改资产名称或金额能保留消费记录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4829143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449580" algn="l"/>
                        </a:tabLst>
                      </a:pPr>
                      <a:r>
                        <a:rPr lang="zh-CN" sz="1200" kern="100">
                          <a:effectLst/>
                        </a:rPr>
                        <a:t>添加本地账单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884328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449580" algn="l"/>
                        </a:tabLst>
                      </a:pPr>
                      <a:r>
                        <a:rPr lang="zh-CN" sz="1200" kern="100">
                          <a:effectLst/>
                        </a:rPr>
                        <a:t>本地账单保存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下次登录本地依然存在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0467704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创建共享账单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会生成邀请码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4919434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添加共享账单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kern="100">
                          <a:effectLst/>
                        </a:rPr>
                        <a:t> 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69054774"/>
                  </a:ext>
                </a:extLst>
              </a:tr>
              <a:tr h="31142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编辑共享账单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>
                          <a:effectLst/>
                        </a:rPr>
                        <a:t>是</a:t>
                      </a:r>
                      <a:endParaRPr lang="zh-CN" sz="105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200" kern="100" dirty="0">
                          <a:effectLst/>
                        </a:rPr>
                        <a:t>可以修改账单内容和</a:t>
                      </a:r>
                      <a:endParaRPr lang="zh-CN" sz="105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2768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22667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29331" y="443969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CN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Bug</a:t>
            </a: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发现与修复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DAA327-475E-44D2-9E73-816DBCF039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79"/>
          <a:stretch/>
        </p:blipFill>
        <p:spPr>
          <a:xfrm>
            <a:off x="1765511" y="2576222"/>
            <a:ext cx="5959356" cy="246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827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2BD6A15B-958E-474B-8732-22679C8E6A99}"/>
              </a:ext>
            </a:extLst>
          </p:cNvPr>
          <p:cNvSpPr/>
          <p:nvPr/>
        </p:nvSpPr>
        <p:spPr>
          <a:xfrm rot="2700000" flipH="1">
            <a:off x="-362154" y="502441"/>
            <a:ext cx="724306" cy="72477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B787BAC-F6F8-43A8-A0D5-1D4F71CA2C47}"/>
              </a:ext>
            </a:extLst>
          </p:cNvPr>
          <p:cNvSpPr txBox="1"/>
          <p:nvPr/>
        </p:nvSpPr>
        <p:spPr>
          <a:xfrm>
            <a:off x="653394" y="352500"/>
            <a:ext cx="3426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zh-CN" altLang="en-US" sz="32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甲乙合作融洽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2F0085-9BE9-44EE-8B95-32D859574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94" y="1377153"/>
            <a:ext cx="10382250" cy="471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473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BFBF262-9550-43DD-8FAA-1DE6BC4BF3BF}"/>
              </a:ext>
            </a:extLst>
          </p:cNvPr>
          <p:cNvSpPr/>
          <p:nvPr/>
        </p:nvSpPr>
        <p:spPr>
          <a:xfrm>
            <a:off x="0" y="633730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C4167CDC-FCFE-4187-82BD-F117D848A8B8}"/>
              </a:ext>
            </a:extLst>
          </p:cNvPr>
          <p:cNvGrpSpPr/>
          <p:nvPr/>
        </p:nvGrpSpPr>
        <p:grpSpPr>
          <a:xfrm>
            <a:off x="4408902" y="6255915"/>
            <a:ext cx="3374196" cy="142436"/>
            <a:chOff x="3676844" y="6224606"/>
            <a:chExt cx="4857556" cy="205054"/>
          </a:xfrm>
        </p:grpSpPr>
        <p:sp>
          <p:nvSpPr>
            <p:cNvPr id="5" name="平行四边形 4">
              <a:extLst>
                <a:ext uri="{FF2B5EF4-FFF2-40B4-BE49-F238E27FC236}">
                  <a16:creationId xmlns:a16="http://schemas.microsoft.com/office/drawing/2014/main" id="{ACD39CF4-EE00-4EF0-AFF6-FA75B15E137A}"/>
                </a:ext>
              </a:extLst>
            </p:cNvPr>
            <p:cNvSpPr/>
            <p:nvPr/>
          </p:nvSpPr>
          <p:spPr>
            <a:xfrm>
              <a:off x="3676844" y="6249442"/>
              <a:ext cx="4857556" cy="180218"/>
            </a:xfrm>
            <a:prstGeom prst="parallelogram">
              <a:avLst>
                <a:gd name="adj" fmla="val 42747"/>
              </a:avLst>
            </a:prstGeom>
            <a:solidFill>
              <a:schemeClr val="bg1"/>
            </a:solidFill>
            <a:ln w="190500" cap="rnd">
              <a:solidFill>
                <a:schemeClr val="bg1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5">
              <a:extLst>
                <a:ext uri="{FF2B5EF4-FFF2-40B4-BE49-F238E27FC236}">
                  <a16:creationId xmlns:a16="http://schemas.microsoft.com/office/drawing/2014/main" id="{22829C85-D3B3-4FEC-BEDF-355CBF5FCD82}"/>
                </a:ext>
              </a:extLst>
            </p:cNvPr>
            <p:cNvSpPr/>
            <p:nvPr/>
          </p:nvSpPr>
          <p:spPr>
            <a:xfrm>
              <a:off x="3718560" y="6224606"/>
              <a:ext cx="4796644" cy="178795"/>
            </a:xfrm>
            <a:prstGeom prst="parallelogram">
              <a:avLst>
                <a:gd name="adj" fmla="val 42747"/>
              </a:avLst>
            </a:prstGeom>
            <a:solidFill>
              <a:srgbClr val="EDA32C"/>
            </a:solidFill>
            <a:ln w="190500" cap="rnd">
              <a:solidFill>
                <a:srgbClr val="EDA32C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D7C52C8A-9F76-4858-9733-AB225ACC2050}"/>
              </a:ext>
            </a:extLst>
          </p:cNvPr>
          <p:cNvSpPr/>
          <p:nvPr/>
        </p:nvSpPr>
        <p:spPr>
          <a:xfrm>
            <a:off x="0" y="1"/>
            <a:ext cx="12192000" cy="520699"/>
          </a:xfrm>
          <a:prstGeom prst="rect">
            <a:avLst/>
          </a:prstGeom>
          <a:solidFill>
            <a:srgbClr val="4149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BC0C55F-24A8-4CFD-BF02-4774F92CB4B6}"/>
              </a:ext>
            </a:extLst>
          </p:cNvPr>
          <p:cNvGrpSpPr/>
          <p:nvPr/>
        </p:nvGrpSpPr>
        <p:grpSpPr>
          <a:xfrm>
            <a:off x="379183" y="121460"/>
            <a:ext cx="779057" cy="324391"/>
            <a:chOff x="615950" y="458788"/>
            <a:chExt cx="2657475" cy="1108075"/>
          </a:xfrm>
          <a:solidFill>
            <a:schemeClr val="bg1"/>
          </a:solidFill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EAF5234D-3DE7-4951-AF59-A73E391C39B9}"/>
                </a:ext>
              </a:extLst>
            </p:cNvPr>
            <p:cNvSpPr/>
            <p:nvPr/>
          </p:nvSpPr>
          <p:spPr bwMode="auto">
            <a:xfrm>
              <a:off x="3015755" y="974351"/>
              <a:ext cx="257670" cy="557884"/>
            </a:xfrm>
            <a:custGeom>
              <a:avLst/>
              <a:gdLst>
                <a:gd name="T0" fmla="*/ 48 w 210"/>
                <a:gd name="T1" fmla="*/ 208 h 453"/>
                <a:gd name="T2" fmla="*/ 46 w 210"/>
                <a:gd name="T3" fmla="*/ 208 h 453"/>
                <a:gd name="T4" fmla="*/ 46 w 210"/>
                <a:gd name="T5" fmla="*/ 451 h 453"/>
                <a:gd name="T6" fmla="*/ 0 w 210"/>
                <a:gd name="T7" fmla="*/ 453 h 453"/>
                <a:gd name="T8" fmla="*/ 0 w 210"/>
                <a:gd name="T9" fmla="*/ 208 h 453"/>
                <a:gd name="T10" fmla="*/ 0 w 210"/>
                <a:gd name="T11" fmla="*/ 204 h 453"/>
                <a:gd name="T12" fmla="*/ 0 w 210"/>
                <a:gd name="T13" fmla="*/ 164 h 453"/>
                <a:gd name="T14" fmla="*/ 210 w 210"/>
                <a:gd name="T15" fmla="*/ 0 h 453"/>
                <a:gd name="T16" fmla="*/ 210 w 210"/>
                <a:gd name="T17" fmla="*/ 55 h 453"/>
                <a:gd name="T18" fmla="*/ 48 w 210"/>
                <a:gd name="T19" fmla="*/ 208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0" h="453">
                  <a:moveTo>
                    <a:pt x="48" y="208"/>
                  </a:moveTo>
                  <a:cubicBezTo>
                    <a:pt x="46" y="208"/>
                    <a:pt x="46" y="208"/>
                    <a:pt x="46" y="208"/>
                  </a:cubicBezTo>
                  <a:cubicBezTo>
                    <a:pt x="46" y="451"/>
                    <a:pt x="46" y="451"/>
                    <a:pt x="46" y="451"/>
                  </a:cubicBezTo>
                  <a:cubicBezTo>
                    <a:pt x="0" y="453"/>
                    <a:pt x="0" y="453"/>
                    <a:pt x="0" y="453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4"/>
                    <a:pt x="0" y="204"/>
                    <a:pt x="0" y="20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24" y="70"/>
                    <a:pt x="109" y="0"/>
                    <a:pt x="210" y="0"/>
                  </a:cubicBezTo>
                  <a:cubicBezTo>
                    <a:pt x="210" y="55"/>
                    <a:pt x="210" y="55"/>
                    <a:pt x="210" y="55"/>
                  </a:cubicBezTo>
                  <a:cubicBezTo>
                    <a:pt x="125" y="57"/>
                    <a:pt x="56" y="123"/>
                    <a:pt x="48" y="20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8" name="Freeform 6">
              <a:extLst>
                <a:ext uri="{FF2B5EF4-FFF2-40B4-BE49-F238E27FC236}">
                  <a16:creationId xmlns:a16="http://schemas.microsoft.com/office/drawing/2014/main" id="{336E638A-DC80-408A-B7AE-871AB26BB6EA}"/>
                </a:ext>
              </a:extLst>
            </p:cNvPr>
            <p:cNvSpPr/>
            <p:nvPr/>
          </p:nvSpPr>
          <p:spPr bwMode="auto">
            <a:xfrm>
              <a:off x="3154205" y="566518"/>
              <a:ext cx="99992" cy="319340"/>
            </a:xfrm>
            <a:custGeom>
              <a:avLst/>
              <a:gdLst>
                <a:gd name="T0" fmla="*/ 0 w 79"/>
                <a:gd name="T1" fmla="*/ 185 h 258"/>
                <a:gd name="T2" fmla="*/ 0 w 79"/>
                <a:gd name="T3" fmla="*/ 185 h 258"/>
                <a:gd name="T4" fmla="*/ 0 w 79"/>
                <a:gd name="T5" fmla="*/ 0 h 258"/>
                <a:gd name="T6" fmla="*/ 21 w 79"/>
                <a:gd name="T7" fmla="*/ 0 h 258"/>
                <a:gd name="T8" fmla="*/ 21 w 79"/>
                <a:gd name="T9" fmla="*/ 186 h 258"/>
                <a:gd name="T10" fmla="*/ 79 w 79"/>
                <a:gd name="T11" fmla="*/ 240 h 258"/>
                <a:gd name="T12" fmla="*/ 79 w 79"/>
                <a:gd name="T13" fmla="*/ 258 h 258"/>
                <a:gd name="T14" fmla="*/ 76 w 79"/>
                <a:gd name="T15" fmla="*/ 258 h 258"/>
                <a:gd name="T16" fmla="*/ 0 w 79"/>
                <a:gd name="T17" fmla="*/ 18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9" h="258">
                  <a:moveTo>
                    <a:pt x="0" y="185"/>
                  </a:moveTo>
                  <a:cubicBezTo>
                    <a:pt x="0" y="185"/>
                    <a:pt x="0" y="185"/>
                    <a:pt x="0" y="18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186"/>
                    <a:pt x="21" y="186"/>
                    <a:pt x="21" y="186"/>
                  </a:cubicBezTo>
                  <a:cubicBezTo>
                    <a:pt x="24" y="216"/>
                    <a:pt x="48" y="240"/>
                    <a:pt x="79" y="240"/>
                  </a:cubicBezTo>
                  <a:cubicBezTo>
                    <a:pt x="79" y="258"/>
                    <a:pt x="79" y="258"/>
                    <a:pt x="79" y="258"/>
                  </a:cubicBezTo>
                  <a:cubicBezTo>
                    <a:pt x="78" y="258"/>
                    <a:pt x="77" y="258"/>
                    <a:pt x="76" y="258"/>
                  </a:cubicBezTo>
                  <a:cubicBezTo>
                    <a:pt x="35" y="258"/>
                    <a:pt x="1" y="226"/>
                    <a:pt x="0" y="1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EB5DA8D2-2D9A-4A2D-8EB3-D67D87A25A8F}"/>
                </a:ext>
              </a:extLst>
            </p:cNvPr>
            <p:cNvSpPr/>
            <p:nvPr/>
          </p:nvSpPr>
          <p:spPr bwMode="auto">
            <a:xfrm>
              <a:off x="2969605" y="566518"/>
              <a:ext cx="96145" cy="319340"/>
            </a:xfrm>
            <a:custGeom>
              <a:avLst/>
              <a:gdLst>
                <a:gd name="T0" fmla="*/ 79 w 79"/>
                <a:gd name="T1" fmla="*/ 188 h 258"/>
                <a:gd name="T2" fmla="*/ 79 w 79"/>
                <a:gd name="T3" fmla="*/ 188 h 258"/>
                <a:gd name="T4" fmla="*/ 3 w 79"/>
                <a:gd name="T5" fmla="*/ 258 h 258"/>
                <a:gd name="T6" fmla="*/ 0 w 79"/>
                <a:gd name="T7" fmla="*/ 258 h 258"/>
                <a:gd name="T8" fmla="*/ 0 w 79"/>
                <a:gd name="T9" fmla="*/ 240 h 258"/>
                <a:gd name="T10" fmla="*/ 57 w 79"/>
                <a:gd name="T11" fmla="*/ 186 h 258"/>
                <a:gd name="T12" fmla="*/ 57 w 79"/>
                <a:gd name="T13" fmla="*/ 0 h 258"/>
                <a:gd name="T14" fmla="*/ 79 w 79"/>
                <a:gd name="T15" fmla="*/ 0 h 258"/>
                <a:gd name="T16" fmla="*/ 79 w 79"/>
                <a:gd name="T17" fmla="*/ 185 h 258"/>
                <a:gd name="T18" fmla="*/ 79 w 79"/>
                <a:gd name="T19" fmla="*/ 185 h 258"/>
                <a:gd name="T20" fmla="*/ 79 w 79"/>
                <a:gd name="T21" fmla="*/ 186 h 258"/>
                <a:gd name="T22" fmla="*/ 79 w 79"/>
                <a:gd name="T23" fmla="*/ 188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9" h="258">
                  <a:moveTo>
                    <a:pt x="79" y="188"/>
                  </a:moveTo>
                  <a:cubicBezTo>
                    <a:pt x="79" y="188"/>
                    <a:pt x="79" y="188"/>
                    <a:pt x="79" y="188"/>
                  </a:cubicBezTo>
                  <a:cubicBezTo>
                    <a:pt x="76" y="227"/>
                    <a:pt x="44" y="258"/>
                    <a:pt x="3" y="258"/>
                  </a:cubicBezTo>
                  <a:cubicBezTo>
                    <a:pt x="2" y="258"/>
                    <a:pt x="1" y="258"/>
                    <a:pt x="0" y="258"/>
                  </a:cubicBezTo>
                  <a:cubicBezTo>
                    <a:pt x="0" y="240"/>
                    <a:pt x="0" y="240"/>
                    <a:pt x="0" y="240"/>
                  </a:cubicBezTo>
                  <a:cubicBezTo>
                    <a:pt x="30" y="240"/>
                    <a:pt x="55" y="216"/>
                    <a:pt x="57" y="186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5"/>
                    <a:pt x="79" y="185"/>
                    <a:pt x="79" y="185"/>
                  </a:cubicBezTo>
                  <a:cubicBezTo>
                    <a:pt x="79" y="186"/>
                    <a:pt x="79" y="186"/>
                    <a:pt x="79" y="186"/>
                  </a:cubicBezTo>
                  <a:lnTo>
                    <a:pt x="79" y="18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71BFCA66-8BD2-4AA9-917C-0F9E363A5C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19648" y="955112"/>
              <a:ext cx="584568" cy="611751"/>
            </a:xfrm>
            <a:custGeom>
              <a:avLst/>
              <a:gdLst>
                <a:gd name="T0" fmla="*/ 463 w 478"/>
                <a:gd name="T1" fmla="*/ 211 h 498"/>
                <a:gd name="T2" fmla="*/ 409 w 478"/>
                <a:gd name="T3" fmla="*/ 220 h 498"/>
                <a:gd name="T4" fmla="*/ 330 w 478"/>
                <a:gd name="T5" fmla="*/ 391 h 498"/>
                <a:gd name="T6" fmla="*/ 108 w 478"/>
                <a:gd name="T7" fmla="*/ 332 h 498"/>
                <a:gd name="T8" fmla="*/ 417 w 478"/>
                <a:gd name="T9" fmla="*/ 153 h 498"/>
                <a:gd name="T10" fmla="*/ 417 w 478"/>
                <a:gd name="T11" fmla="*/ 153 h 498"/>
                <a:gd name="T12" fmla="*/ 438 w 478"/>
                <a:gd name="T13" fmla="*/ 141 h 498"/>
                <a:gd name="T14" fmla="*/ 437 w 478"/>
                <a:gd name="T15" fmla="*/ 140 h 498"/>
                <a:gd name="T16" fmla="*/ 140 w 478"/>
                <a:gd name="T17" fmla="*/ 60 h 498"/>
                <a:gd name="T18" fmla="*/ 60 w 478"/>
                <a:gd name="T19" fmla="*/ 358 h 498"/>
                <a:gd name="T20" fmla="*/ 357 w 478"/>
                <a:gd name="T21" fmla="*/ 437 h 498"/>
                <a:gd name="T22" fmla="*/ 463 w 478"/>
                <a:gd name="T23" fmla="*/ 211 h 498"/>
                <a:gd name="T24" fmla="*/ 87 w 478"/>
                <a:gd name="T25" fmla="*/ 274 h 498"/>
                <a:gd name="T26" fmla="*/ 167 w 478"/>
                <a:gd name="T27" fmla="*/ 108 h 498"/>
                <a:gd name="T28" fmla="*/ 350 w 478"/>
                <a:gd name="T29" fmla="*/ 122 h 498"/>
                <a:gd name="T30" fmla="*/ 87 w 478"/>
                <a:gd name="T31" fmla="*/ 274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8" h="498">
                  <a:moveTo>
                    <a:pt x="463" y="211"/>
                  </a:moveTo>
                  <a:cubicBezTo>
                    <a:pt x="409" y="220"/>
                    <a:pt x="409" y="220"/>
                    <a:pt x="409" y="220"/>
                  </a:cubicBezTo>
                  <a:cubicBezTo>
                    <a:pt x="421" y="286"/>
                    <a:pt x="392" y="356"/>
                    <a:pt x="330" y="391"/>
                  </a:cubicBezTo>
                  <a:cubicBezTo>
                    <a:pt x="252" y="436"/>
                    <a:pt x="153" y="410"/>
                    <a:pt x="108" y="332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17" y="153"/>
                    <a:pt x="417" y="153"/>
                    <a:pt x="417" y="153"/>
                  </a:cubicBezTo>
                  <a:cubicBezTo>
                    <a:pt x="438" y="141"/>
                    <a:pt x="438" y="141"/>
                    <a:pt x="438" y="141"/>
                  </a:cubicBezTo>
                  <a:cubicBezTo>
                    <a:pt x="437" y="141"/>
                    <a:pt x="437" y="140"/>
                    <a:pt x="437" y="140"/>
                  </a:cubicBezTo>
                  <a:cubicBezTo>
                    <a:pt x="377" y="35"/>
                    <a:pt x="244" y="0"/>
                    <a:pt x="140" y="60"/>
                  </a:cubicBezTo>
                  <a:cubicBezTo>
                    <a:pt x="35" y="120"/>
                    <a:pt x="0" y="253"/>
                    <a:pt x="60" y="358"/>
                  </a:cubicBezTo>
                  <a:cubicBezTo>
                    <a:pt x="120" y="462"/>
                    <a:pt x="253" y="498"/>
                    <a:pt x="357" y="437"/>
                  </a:cubicBezTo>
                  <a:cubicBezTo>
                    <a:pt x="439" y="390"/>
                    <a:pt x="478" y="299"/>
                    <a:pt x="463" y="211"/>
                  </a:cubicBezTo>
                  <a:close/>
                  <a:moveTo>
                    <a:pt x="87" y="274"/>
                  </a:moveTo>
                  <a:cubicBezTo>
                    <a:pt x="78" y="209"/>
                    <a:pt x="107" y="142"/>
                    <a:pt x="167" y="108"/>
                  </a:cubicBezTo>
                  <a:cubicBezTo>
                    <a:pt x="227" y="73"/>
                    <a:pt x="299" y="81"/>
                    <a:pt x="350" y="122"/>
                  </a:cubicBezTo>
                  <a:lnTo>
                    <a:pt x="87" y="27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21BFF23C-AA7D-4505-B3DB-26756B95D74A}"/>
                </a:ext>
              </a:extLst>
            </p:cNvPr>
            <p:cNvSpPr/>
            <p:nvPr/>
          </p:nvSpPr>
          <p:spPr bwMode="auto">
            <a:xfrm>
              <a:off x="2619632" y="728112"/>
              <a:ext cx="307667" cy="157746"/>
            </a:xfrm>
            <a:custGeom>
              <a:avLst/>
              <a:gdLst>
                <a:gd name="T0" fmla="*/ 172 w 251"/>
                <a:gd name="T1" fmla="*/ 58 h 128"/>
                <a:gd name="T2" fmla="*/ 172 w 251"/>
                <a:gd name="T3" fmla="*/ 58 h 128"/>
                <a:gd name="T4" fmla="*/ 172 w 251"/>
                <a:gd name="T5" fmla="*/ 56 h 128"/>
                <a:gd name="T6" fmla="*/ 172 w 251"/>
                <a:gd name="T7" fmla="*/ 55 h 128"/>
                <a:gd name="T8" fmla="*/ 172 w 251"/>
                <a:gd name="T9" fmla="*/ 55 h 128"/>
                <a:gd name="T10" fmla="*/ 172 w 251"/>
                <a:gd name="T11" fmla="*/ 22 h 128"/>
                <a:gd name="T12" fmla="*/ 79 w 251"/>
                <a:gd name="T13" fmla="*/ 22 h 128"/>
                <a:gd name="T14" fmla="*/ 79 w 251"/>
                <a:gd name="T15" fmla="*/ 55 h 128"/>
                <a:gd name="T16" fmla="*/ 79 w 251"/>
                <a:gd name="T17" fmla="*/ 55 h 128"/>
                <a:gd name="T18" fmla="*/ 79 w 251"/>
                <a:gd name="T19" fmla="*/ 56 h 128"/>
                <a:gd name="T20" fmla="*/ 79 w 251"/>
                <a:gd name="T21" fmla="*/ 58 h 128"/>
                <a:gd name="T22" fmla="*/ 79 w 251"/>
                <a:gd name="T23" fmla="*/ 58 h 128"/>
                <a:gd name="T24" fmla="*/ 3 w 251"/>
                <a:gd name="T25" fmla="*/ 128 h 128"/>
                <a:gd name="T26" fmla="*/ 0 w 251"/>
                <a:gd name="T27" fmla="*/ 128 h 128"/>
                <a:gd name="T28" fmla="*/ 0 w 251"/>
                <a:gd name="T29" fmla="*/ 110 h 128"/>
                <a:gd name="T30" fmla="*/ 57 w 251"/>
                <a:gd name="T31" fmla="*/ 56 h 128"/>
                <a:gd name="T32" fmla="*/ 57 w 251"/>
                <a:gd name="T33" fmla="*/ 22 h 128"/>
                <a:gd name="T34" fmla="*/ 57 w 251"/>
                <a:gd name="T35" fmla="*/ 0 h 128"/>
                <a:gd name="T36" fmla="*/ 79 w 251"/>
                <a:gd name="T37" fmla="*/ 0 h 128"/>
                <a:gd name="T38" fmla="*/ 172 w 251"/>
                <a:gd name="T39" fmla="*/ 0 h 128"/>
                <a:gd name="T40" fmla="*/ 179 w 251"/>
                <a:gd name="T41" fmla="*/ 0 h 128"/>
                <a:gd name="T42" fmla="*/ 194 w 251"/>
                <a:gd name="T43" fmla="*/ 0 h 128"/>
                <a:gd name="T44" fmla="*/ 194 w 251"/>
                <a:gd name="T45" fmla="*/ 56 h 128"/>
                <a:gd name="T46" fmla="*/ 251 w 251"/>
                <a:gd name="T47" fmla="*/ 110 h 128"/>
                <a:gd name="T48" fmla="*/ 251 w 251"/>
                <a:gd name="T49" fmla="*/ 128 h 128"/>
                <a:gd name="T50" fmla="*/ 248 w 251"/>
                <a:gd name="T51" fmla="*/ 128 h 128"/>
                <a:gd name="T52" fmla="*/ 172 w 251"/>
                <a:gd name="T53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51" h="128">
                  <a:moveTo>
                    <a:pt x="172" y="58"/>
                  </a:moveTo>
                  <a:cubicBezTo>
                    <a:pt x="172" y="58"/>
                    <a:pt x="172" y="58"/>
                    <a:pt x="172" y="58"/>
                  </a:cubicBezTo>
                  <a:cubicBezTo>
                    <a:pt x="172" y="56"/>
                    <a:pt x="172" y="56"/>
                    <a:pt x="172" y="56"/>
                  </a:cubicBezTo>
                  <a:cubicBezTo>
                    <a:pt x="172" y="56"/>
                    <a:pt x="172" y="56"/>
                    <a:pt x="172" y="55"/>
                  </a:cubicBezTo>
                  <a:cubicBezTo>
                    <a:pt x="172" y="55"/>
                    <a:pt x="172" y="55"/>
                    <a:pt x="172" y="55"/>
                  </a:cubicBezTo>
                  <a:cubicBezTo>
                    <a:pt x="172" y="22"/>
                    <a:pt x="172" y="22"/>
                    <a:pt x="172" y="22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79" y="56"/>
                    <a:pt x="79" y="56"/>
                    <a:pt x="79" y="56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76" y="97"/>
                    <a:pt x="43" y="128"/>
                    <a:pt x="3" y="128"/>
                  </a:cubicBezTo>
                  <a:cubicBezTo>
                    <a:pt x="2" y="128"/>
                    <a:pt x="1" y="128"/>
                    <a:pt x="0" y="128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30" y="110"/>
                    <a:pt x="55" y="86"/>
                    <a:pt x="57" y="56"/>
                  </a:cubicBezTo>
                  <a:cubicBezTo>
                    <a:pt x="57" y="22"/>
                    <a:pt x="57" y="22"/>
                    <a:pt x="57" y="22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172" y="0"/>
                    <a:pt x="172" y="0"/>
                    <a:pt x="172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94" y="56"/>
                    <a:pt x="194" y="56"/>
                    <a:pt x="194" y="56"/>
                  </a:cubicBezTo>
                  <a:cubicBezTo>
                    <a:pt x="196" y="86"/>
                    <a:pt x="221" y="110"/>
                    <a:pt x="251" y="110"/>
                  </a:cubicBezTo>
                  <a:cubicBezTo>
                    <a:pt x="251" y="128"/>
                    <a:pt x="251" y="128"/>
                    <a:pt x="251" y="128"/>
                  </a:cubicBezTo>
                  <a:cubicBezTo>
                    <a:pt x="250" y="128"/>
                    <a:pt x="249" y="128"/>
                    <a:pt x="248" y="128"/>
                  </a:cubicBezTo>
                  <a:cubicBezTo>
                    <a:pt x="208" y="128"/>
                    <a:pt x="175" y="97"/>
                    <a:pt x="172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2" name="Freeform 10">
              <a:extLst>
                <a:ext uri="{FF2B5EF4-FFF2-40B4-BE49-F238E27FC236}">
                  <a16:creationId xmlns:a16="http://schemas.microsoft.com/office/drawing/2014/main" id="{C9595180-E669-4BD5-AE9F-1797C69A1A23}"/>
                </a:ext>
              </a:extLst>
            </p:cNvPr>
            <p:cNvSpPr/>
            <p:nvPr/>
          </p:nvSpPr>
          <p:spPr bwMode="auto">
            <a:xfrm>
              <a:off x="2627324" y="678093"/>
              <a:ext cx="292284" cy="42324"/>
            </a:xfrm>
            <a:custGeom>
              <a:avLst/>
              <a:gdLst>
                <a:gd name="T0" fmla="*/ 166 w 183"/>
                <a:gd name="T1" fmla="*/ 16 h 28"/>
                <a:gd name="T2" fmla="*/ 17 w 183"/>
                <a:gd name="T3" fmla="*/ 16 h 28"/>
                <a:gd name="T4" fmla="*/ 17 w 183"/>
                <a:gd name="T5" fmla="*/ 28 h 28"/>
                <a:gd name="T6" fmla="*/ 0 w 183"/>
                <a:gd name="T7" fmla="*/ 28 h 28"/>
                <a:gd name="T8" fmla="*/ 0 w 183"/>
                <a:gd name="T9" fmla="*/ 16 h 28"/>
                <a:gd name="T10" fmla="*/ 0 w 183"/>
                <a:gd name="T11" fmla="*/ 0 h 28"/>
                <a:gd name="T12" fmla="*/ 17 w 183"/>
                <a:gd name="T13" fmla="*/ 0 h 28"/>
                <a:gd name="T14" fmla="*/ 166 w 183"/>
                <a:gd name="T15" fmla="*/ 0 h 28"/>
                <a:gd name="T16" fmla="*/ 183 w 183"/>
                <a:gd name="T17" fmla="*/ 0 h 28"/>
                <a:gd name="T18" fmla="*/ 183 w 183"/>
                <a:gd name="T19" fmla="*/ 16 h 28"/>
                <a:gd name="T20" fmla="*/ 183 w 183"/>
                <a:gd name="T21" fmla="*/ 28 h 28"/>
                <a:gd name="T22" fmla="*/ 166 w 183"/>
                <a:gd name="T23" fmla="*/ 28 h 28"/>
                <a:gd name="T24" fmla="*/ 166 w 183"/>
                <a:gd name="T25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83" h="28">
                  <a:moveTo>
                    <a:pt x="166" y="16"/>
                  </a:moveTo>
                  <a:lnTo>
                    <a:pt x="17" y="16"/>
                  </a:lnTo>
                  <a:lnTo>
                    <a:pt x="17" y="28"/>
                  </a:lnTo>
                  <a:lnTo>
                    <a:pt x="0" y="28"/>
                  </a:lnTo>
                  <a:lnTo>
                    <a:pt x="0" y="16"/>
                  </a:lnTo>
                  <a:lnTo>
                    <a:pt x="0" y="0"/>
                  </a:lnTo>
                  <a:lnTo>
                    <a:pt x="17" y="0"/>
                  </a:lnTo>
                  <a:lnTo>
                    <a:pt x="166" y="0"/>
                  </a:lnTo>
                  <a:lnTo>
                    <a:pt x="183" y="0"/>
                  </a:lnTo>
                  <a:lnTo>
                    <a:pt x="183" y="16"/>
                  </a:lnTo>
                  <a:lnTo>
                    <a:pt x="183" y="28"/>
                  </a:lnTo>
                  <a:lnTo>
                    <a:pt x="166" y="28"/>
                  </a:lnTo>
                  <a:lnTo>
                    <a:pt x="16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737275F7-96B9-4FFA-809F-8E203ACBC7E4}"/>
                </a:ext>
              </a:extLst>
            </p:cNvPr>
            <p:cNvSpPr/>
            <p:nvPr/>
          </p:nvSpPr>
          <p:spPr bwMode="auto">
            <a:xfrm>
              <a:off x="2635015" y="535738"/>
              <a:ext cx="273056" cy="123119"/>
            </a:xfrm>
            <a:custGeom>
              <a:avLst/>
              <a:gdLst>
                <a:gd name="T0" fmla="*/ 94 w 172"/>
                <a:gd name="T1" fmla="*/ 61 h 77"/>
                <a:gd name="T2" fmla="*/ 144 w 172"/>
                <a:gd name="T3" fmla="*/ 61 h 77"/>
                <a:gd name="T4" fmla="*/ 144 w 172"/>
                <a:gd name="T5" fmla="*/ 77 h 77"/>
                <a:gd name="T6" fmla="*/ 27 w 172"/>
                <a:gd name="T7" fmla="*/ 77 h 77"/>
                <a:gd name="T8" fmla="*/ 27 w 172"/>
                <a:gd name="T9" fmla="*/ 61 h 77"/>
                <a:gd name="T10" fmla="*/ 78 w 172"/>
                <a:gd name="T11" fmla="*/ 61 h 77"/>
                <a:gd name="T12" fmla="*/ 78 w 172"/>
                <a:gd name="T13" fmla="*/ 44 h 77"/>
                <a:gd name="T14" fmla="*/ 0 w 172"/>
                <a:gd name="T15" fmla="*/ 44 h 77"/>
                <a:gd name="T16" fmla="*/ 0 w 172"/>
                <a:gd name="T17" fmla="*/ 28 h 77"/>
                <a:gd name="T18" fmla="*/ 78 w 172"/>
                <a:gd name="T19" fmla="*/ 28 h 77"/>
                <a:gd name="T20" fmla="*/ 78 w 172"/>
                <a:gd name="T21" fmla="*/ 0 h 77"/>
                <a:gd name="T22" fmla="*/ 94 w 172"/>
                <a:gd name="T23" fmla="*/ 0 h 77"/>
                <a:gd name="T24" fmla="*/ 94 w 172"/>
                <a:gd name="T25" fmla="*/ 28 h 77"/>
                <a:gd name="T26" fmla="*/ 172 w 172"/>
                <a:gd name="T27" fmla="*/ 28 h 77"/>
                <a:gd name="T28" fmla="*/ 172 w 172"/>
                <a:gd name="T29" fmla="*/ 44 h 77"/>
                <a:gd name="T30" fmla="*/ 94 w 172"/>
                <a:gd name="T31" fmla="*/ 44 h 77"/>
                <a:gd name="T32" fmla="*/ 94 w 172"/>
                <a:gd name="T33" fmla="*/ 61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2" h="77">
                  <a:moveTo>
                    <a:pt x="94" y="61"/>
                  </a:moveTo>
                  <a:lnTo>
                    <a:pt x="144" y="61"/>
                  </a:lnTo>
                  <a:lnTo>
                    <a:pt x="144" y="77"/>
                  </a:lnTo>
                  <a:lnTo>
                    <a:pt x="27" y="77"/>
                  </a:lnTo>
                  <a:lnTo>
                    <a:pt x="27" y="61"/>
                  </a:lnTo>
                  <a:lnTo>
                    <a:pt x="78" y="61"/>
                  </a:lnTo>
                  <a:lnTo>
                    <a:pt x="78" y="4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78" y="28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94" y="28"/>
                  </a:lnTo>
                  <a:lnTo>
                    <a:pt x="172" y="28"/>
                  </a:lnTo>
                  <a:lnTo>
                    <a:pt x="172" y="44"/>
                  </a:lnTo>
                  <a:lnTo>
                    <a:pt x="94" y="44"/>
                  </a:lnTo>
                  <a:lnTo>
                    <a:pt x="94" y="6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4" name="Freeform 12">
              <a:extLst>
                <a:ext uri="{FF2B5EF4-FFF2-40B4-BE49-F238E27FC236}">
                  <a16:creationId xmlns:a16="http://schemas.microsoft.com/office/drawing/2014/main" id="{82016070-15D4-4A59-A406-09C09C3C60BA}"/>
                </a:ext>
              </a:extLst>
            </p:cNvPr>
            <p:cNvSpPr/>
            <p:nvPr/>
          </p:nvSpPr>
          <p:spPr bwMode="auto">
            <a:xfrm>
              <a:off x="2373498" y="685788"/>
              <a:ext cx="192292" cy="200069"/>
            </a:xfrm>
            <a:custGeom>
              <a:avLst/>
              <a:gdLst>
                <a:gd name="T0" fmla="*/ 17 w 123"/>
                <a:gd name="T1" fmla="*/ 128 h 128"/>
                <a:gd name="T2" fmla="*/ 0 w 123"/>
                <a:gd name="T3" fmla="*/ 128 h 128"/>
                <a:gd name="T4" fmla="*/ 0 w 123"/>
                <a:gd name="T5" fmla="*/ 112 h 128"/>
                <a:gd name="T6" fmla="*/ 0 w 123"/>
                <a:gd name="T7" fmla="*/ 11 h 128"/>
                <a:gd name="T8" fmla="*/ 15 w 123"/>
                <a:gd name="T9" fmla="*/ 11 h 128"/>
                <a:gd name="T10" fmla="*/ 34 w 123"/>
                <a:gd name="T11" fmla="*/ 0 h 128"/>
                <a:gd name="T12" fmla="*/ 43 w 123"/>
                <a:gd name="T13" fmla="*/ 15 h 128"/>
                <a:gd name="T14" fmla="*/ 17 w 123"/>
                <a:gd name="T15" fmla="*/ 29 h 128"/>
                <a:gd name="T16" fmla="*/ 17 w 123"/>
                <a:gd name="T17" fmla="*/ 61 h 128"/>
                <a:gd name="T18" fmla="*/ 50 w 123"/>
                <a:gd name="T19" fmla="*/ 61 h 128"/>
                <a:gd name="T20" fmla="*/ 50 w 123"/>
                <a:gd name="T21" fmla="*/ 78 h 128"/>
                <a:gd name="T22" fmla="*/ 17 w 123"/>
                <a:gd name="T23" fmla="*/ 78 h 128"/>
                <a:gd name="T24" fmla="*/ 17 w 123"/>
                <a:gd name="T25" fmla="*/ 112 h 128"/>
                <a:gd name="T26" fmla="*/ 106 w 123"/>
                <a:gd name="T27" fmla="*/ 112 h 128"/>
                <a:gd name="T28" fmla="*/ 106 w 123"/>
                <a:gd name="T29" fmla="*/ 78 h 128"/>
                <a:gd name="T30" fmla="*/ 73 w 123"/>
                <a:gd name="T31" fmla="*/ 78 h 128"/>
                <a:gd name="T32" fmla="*/ 73 w 123"/>
                <a:gd name="T33" fmla="*/ 61 h 128"/>
                <a:gd name="T34" fmla="*/ 106 w 123"/>
                <a:gd name="T35" fmla="*/ 61 h 128"/>
                <a:gd name="T36" fmla="*/ 106 w 123"/>
                <a:gd name="T37" fmla="*/ 28 h 128"/>
                <a:gd name="T38" fmla="*/ 73 w 123"/>
                <a:gd name="T39" fmla="*/ 28 h 128"/>
                <a:gd name="T40" fmla="*/ 73 w 123"/>
                <a:gd name="T41" fmla="*/ 11 h 128"/>
                <a:gd name="T42" fmla="*/ 106 w 123"/>
                <a:gd name="T43" fmla="*/ 11 h 128"/>
                <a:gd name="T44" fmla="*/ 123 w 123"/>
                <a:gd name="T45" fmla="*/ 11 h 128"/>
                <a:gd name="T46" fmla="*/ 123 w 123"/>
                <a:gd name="T47" fmla="*/ 128 h 128"/>
                <a:gd name="T48" fmla="*/ 106 w 123"/>
                <a:gd name="T49" fmla="*/ 128 h 128"/>
                <a:gd name="T50" fmla="*/ 17 w 123"/>
                <a:gd name="T51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23" h="128">
                  <a:moveTo>
                    <a:pt x="17" y="128"/>
                  </a:moveTo>
                  <a:lnTo>
                    <a:pt x="0" y="128"/>
                  </a:lnTo>
                  <a:lnTo>
                    <a:pt x="0" y="112"/>
                  </a:lnTo>
                  <a:lnTo>
                    <a:pt x="0" y="11"/>
                  </a:lnTo>
                  <a:lnTo>
                    <a:pt x="15" y="11"/>
                  </a:lnTo>
                  <a:lnTo>
                    <a:pt x="34" y="0"/>
                  </a:lnTo>
                  <a:lnTo>
                    <a:pt x="43" y="15"/>
                  </a:lnTo>
                  <a:lnTo>
                    <a:pt x="17" y="29"/>
                  </a:lnTo>
                  <a:lnTo>
                    <a:pt x="17" y="61"/>
                  </a:lnTo>
                  <a:lnTo>
                    <a:pt x="50" y="61"/>
                  </a:lnTo>
                  <a:lnTo>
                    <a:pt x="50" y="78"/>
                  </a:lnTo>
                  <a:lnTo>
                    <a:pt x="17" y="78"/>
                  </a:lnTo>
                  <a:lnTo>
                    <a:pt x="17" y="112"/>
                  </a:lnTo>
                  <a:lnTo>
                    <a:pt x="106" y="112"/>
                  </a:lnTo>
                  <a:lnTo>
                    <a:pt x="106" y="78"/>
                  </a:lnTo>
                  <a:lnTo>
                    <a:pt x="73" y="78"/>
                  </a:lnTo>
                  <a:lnTo>
                    <a:pt x="73" y="61"/>
                  </a:lnTo>
                  <a:lnTo>
                    <a:pt x="106" y="61"/>
                  </a:lnTo>
                  <a:lnTo>
                    <a:pt x="106" y="28"/>
                  </a:lnTo>
                  <a:lnTo>
                    <a:pt x="73" y="28"/>
                  </a:lnTo>
                  <a:lnTo>
                    <a:pt x="73" y="11"/>
                  </a:lnTo>
                  <a:lnTo>
                    <a:pt x="106" y="11"/>
                  </a:lnTo>
                  <a:lnTo>
                    <a:pt x="123" y="11"/>
                  </a:lnTo>
                  <a:lnTo>
                    <a:pt x="123" y="128"/>
                  </a:lnTo>
                  <a:lnTo>
                    <a:pt x="106" y="128"/>
                  </a:lnTo>
                  <a:lnTo>
                    <a:pt x="17" y="12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5" name="Freeform 13">
              <a:extLst>
                <a:ext uri="{FF2B5EF4-FFF2-40B4-BE49-F238E27FC236}">
                  <a16:creationId xmlns:a16="http://schemas.microsoft.com/office/drawing/2014/main" id="{396B1544-543B-4610-AEC9-9FE409D91C58}"/>
                </a:ext>
              </a:extLst>
            </p:cNvPr>
            <p:cNvSpPr/>
            <p:nvPr/>
          </p:nvSpPr>
          <p:spPr bwMode="auto">
            <a:xfrm>
              <a:off x="2511948" y="612687"/>
              <a:ext cx="53842" cy="61560"/>
            </a:xfrm>
            <a:custGeom>
              <a:avLst/>
              <a:gdLst>
                <a:gd name="T0" fmla="*/ 0 w 34"/>
                <a:gd name="T1" fmla="*/ 31 h 40"/>
                <a:gd name="T2" fmla="*/ 19 w 34"/>
                <a:gd name="T3" fmla="*/ 0 h 40"/>
                <a:gd name="T4" fmla="*/ 34 w 34"/>
                <a:gd name="T5" fmla="*/ 8 h 40"/>
                <a:gd name="T6" fmla="*/ 14 w 34"/>
                <a:gd name="T7" fmla="*/ 40 h 40"/>
                <a:gd name="T8" fmla="*/ 0 w 34"/>
                <a:gd name="T9" fmla="*/ 3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31"/>
                  </a:moveTo>
                  <a:lnTo>
                    <a:pt x="19" y="0"/>
                  </a:lnTo>
                  <a:lnTo>
                    <a:pt x="34" y="8"/>
                  </a:lnTo>
                  <a:lnTo>
                    <a:pt x="14" y="40"/>
                  </a:lnTo>
                  <a:lnTo>
                    <a:pt x="0" y="3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B97655B1-50C5-4C3D-BC6E-1380046AB0B5}"/>
                </a:ext>
              </a:extLst>
            </p:cNvPr>
            <p:cNvSpPr/>
            <p:nvPr/>
          </p:nvSpPr>
          <p:spPr bwMode="auto">
            <a:xfrm>
              <a:off x="2435032" y="601144"/>
              <a:ext cx="53842" cy="65408"/>
            </a:xfrm>
            <a:custGeom>
              <a:avLst/>
              <a:gdLst>
                <a:gd name="T0" fmla="*/ 34 w 34"/>
                <a:gd name="T1" fmla="*/ 32 h 40"/>
                <a:gd name="T2" fmla="*/ 20 w 34"/>
                <a:gd name="T3" fmla="*/ 40 h 40"/>
                <a:gd name="T4" fmla="*/ 0 w 34"/>
                <a:gd name="T5" fmla="*/ 8 h 40"/>
                <a:gd name="T6" fmla="*/ 14 w 34"/>
                <a:gd name="T7" fmla="*/ 0 h 40"/>
                <a:gd name="T8" fmla="*/ 34 w 34"/>
                <a:gd name="T9" fmla="*/ 3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34" y="32"/>
                  </a:moveTo>
                  <a:lnTo>
                    <a:pt x="20" y="40"/>
                  </a:lnTo>
                  <a:lnTo>
                    <a:pt x="0" y="8"/>
                  </a:lnTo>
                  <a:lnTo>
                    <a:pt x="14" y="0"/>
                  </a:lnTo>
                  <a:lnTo>
                    <a:pt x="34" y="3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8D17F009-8172-4234-874B-3236D2F3E06E}"/>
                </a:ext>
              </a:extLst>
            </p:cNvPr>
            <p:cNvSpPr/>
            <p:nvPr/>
          </p:nvSpPr>
          <p:spPr bwMode="auto">
            <a:xfrm>
              <a:off x="2381190" y="612687"/>
              <a:ext cx="53842" cy="61560"/>
            </a:xfrm>
            <a:custGeom>
              <a:avLst/>
              <a:gdLst>
                <a:gd name="T0" fmla="*/ 0 w 33"/>
                <a:gd name="T1" fmla="*/ 8 h 40"/>
                <a:gd name="T2" fmla="*/ 14 w 33"/>
                <a:gd name="T3" fmla="*/ 0 h 40"/>
                <a:gd name="T4" fmla="*/ 33 w 33"/>
                <a:gd name="T5" fmla="*/ 31 h 40"/>
                <a:gd name="T6" fmla="*/ 20 w 33"/>
                <a:gd name="T7" fmla="*/ 40 h 40"/>
                <a:gd name="T8" fmla="*/ 0 w 33"/>
                <a:gd name="T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40">
                  <a:moveTo>
                    <a:pt x="0" y="8"/>
                  </a:moveTo>
                  <a:lnTo>
                    <a:pt x="14" y="0"/>
                  </a:lnTo>
                  <a:lnTo>
                    <a:pt x="33" y="31"/>
                  </a:lnTo>
                  <a:lnTo>
                    <a:pt x="20" y="4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8" name="Freeform 16">
              <a:extLst>
                <a:ext uri="{FF2B5EF4-FFF2-40B4-BE49-F238E27FC236}">
                  <a16:creationId xmlns:a16="http://schemas.microsoft.com/office/drawing/2014/main" id="{91370EA9-771C-43DB-9AF3-0565FA6A2F66}"/>
                </a:ext>
              </a:extLst>
            </p:cNvPr>
            <p:cNvSpPr/>
            <p:nvPr/>
          </p:nvSpPr>
          <p:spPr bwMode="auto">
            <a:xfrm>
              <a:off x="2373498" y="535738"/>
              <a:ext cx="184600" cy="61560"/>
            </a:xfrm>
            <a:custGeom>
              <a:avLst/>
              <a:gdLst>
                <a:gd name="T0" fmla="*/ 0 w 117"/>
                <a:gd name="T1" fmla="*/ 23 h 39"/>
                <a:gd name="T2" fmla="*/ 112 w 117"/>
                <a:gd name="T3" fmla="*/ 0 h 39"/>
                <a:gd name="T4" fmla="*/ 117 w 117"/>
                <a:gd name="T5" fmla="*/ 15 h 39"/>
                <a:gd name="T6" fmla="*/ 4 w 117"/>
                <a:gd name="T7" fmla="*/ 39 h 39"/>
                <a:gd name="T8" fmla="*/ 0 w 117"/>
                <a:gd name="T9" fmla="*/ 2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" h="39">
                  <a:moveTo>
                    <a:pt x="0" y="23"/>
                  </a:moveTo>
                  <a:lnTo>
                    <a:pt x="112" y="0"/>
                  </a:lnTo>
                  <a:lnTo>
                    <a:pt x="117" y="15"/>
                  </a:lnTo>
                  <a:lnTo>
                    <a:pt x="4" y="39"/>
                  </a:lnTo>
                  <a:lnTo>
                    <a:pt x="0" y="2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Freeform 17">
              <a:extLst>
                <a:ext uri="{FF2B5EF4-FFF2-40B4-BE49-F238E27FC236}">
                  <a16:creationId xmlns:a16="http://schemas.microsoft.com/office/drawing/2014/main" id="{A8522838-BCE3-42DA-9706-F521BFFB0376}"/>
                </a:ext>
              </a:extLst>
            </p:cNvPr>
            <p:cNvSpPr/>
            <p:nvPr/>
          </p:nvSpPr>
          <p:spPr bwMode="auto">
            <a:xfrm>
              <a:off x="2204281" y="604992"/>
              <a:ext cx="157681" cy="280865"/>
            </a:xfrm>
            <a:custGeom>
              <a:avLst/>
              <a:gdLst>
                <a:gd name="T0" fmla="*/ 62 w 101"/>
                <a:gd name="T1" fmla="*/ 67 h 178"/>
                <a:gd name="T2" fmla="*/ 65 w 101"/>
                <a:gd name="T3" fmla="*/ 65 h 178"/>
                <a:gd name="T4" fmla="*/ 96 w 101"/>
                <a:gd name="T5" fmla="*/ 119 h 178"/>
                <a:gd name="T6" fmla="*/ 81 w 101"/>
                <a:gd name="T7" fmla="*/ 127 h 178"/>
                <a:gd name="T8" fmla="*/ 62 w 101"/>
                <a:gd name="T9" fmla="*/ 93 h 178"/>
                <a:gd name="T10" fmla="*/ 62 w 101"/>
                <a:gd name="T11" fmla="*/ 178 h 178"/>
                <a:gd name="T12" fmla="*/ 45 w 101"/>
                <a:gd name="T13" fmla="*/ 178 h 178"/>
                <a:gd name="T14" fmla="*/ 45 w 101"/>
                <a:gd name="T15" fmla="*/ 79 h 178"/>
                <a:gd name="T16" fmla="*/ 15 w 101"/>
                <a:gd name="T17" fmla="*/ 133 h 178"/>
                <a:gd name="T18" fmla="*/ 0 w 101"/>
                <a:gd name="T19" fmla="*/ 124 h 178"/>
                <a:gd name="T20" fmla="*/ 45 w 101"/>
                <a:gd name="T21" fmla="*/ 46 h 178"/>
                <a:gd name="T22" fmla="*/ 45 w 101"/>
                <a:gd name="T23" fmla="*/ 33 h 178"/>
                <a:gd name="T24" fmla="*/ 7 w 101"/>
                <a:gd name="T25" fmla="*/ 33 h 178"/>
                <a:gd name="T26" fmla="*/ 7 w 101"/>
                <a:gd name="T27" fmla="*/ 17 h 178"/>
                <a:gd name="T28" fmla="*/ 45 w 101"/>
                <a:gd name="T29" fmla="*/ 17 h 178"/>
                <a:gd name="T30" fmla="*/ 45 w 101"/>
                <a:gd name="T31" fmla="*/ 0 h 178"/>
                <a:gd name="T32" fmla="*/ 62 w 101"/>
                <a:gd name="T33" fmla="*/ 0 h 178"/>
                <a:gd name="T34" fmla="*/ 62 w 101"/>
                <a:gd name="T35" fmla="*/ 17 h 178"/>
                <a:gd name="T36" fmla="*/ 101 w 101"/>
                <a:gd name="T37" fmla="*/ 17 h 178"/>
                <a:gd name="T38" fmla="*/ 101 w 101"/>
                <a:gd name="T39" fmla="*/ 33 h 178"/>
                <a:gd name="T40" fmla="*/ 62 w 101"/>
                <a:gd name="T41" fmla="*/ 33 h 178"/>
                <a:gd name="T42" fmla="*/ 62 w 101"/>
                <a:gd name="T43" fmla="*/ 67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78">
                  <a:moveTo>
                    <a:pt x="62" y="67"/>
                  </a:moveTo>
                  <a:lnTo>
                    <a:pt x="65" y="65"/>
                  </a:lnTo>
                  <a:lnTo>
                    <a:pt x="96" y="119"/>
                  </a:lnTo>
                  <a:lnTo>
                    <a:pt x="81" y="127"/>
                  </a:lnTo>
                  <a:lnTo>
                    <a:pt x="62" y="93"/>
                  </a:lnTo>
                  <a:lnTo>
                    <a:pt x="62" y="178"/>
                  </a:lnTo>
                  <a:lnTo>
                    <a:pt x="45" y="178"/>
                  </a:lnTo>
                  <a:lnTo>
                    <a:pt x="45" y="79"/>
                  </a:lnTo>
                  <a:lnTo>
                    <a:pt x="15" y="133"/>
                  </a:lnTo>
                  <a:lnTo>
                    <a:pt x="0" y="124"/>
                  </a:lnTo>
                  <a:lnTo>
                    <a:pt x="45" y="46"/>
                  </a:lnTo>
                  <a:lnTo>
                    <a:pt x="45" y="33"/>
                  </a:lnTo>
                  <a:lnTo>
                    <a:pt x="7" y="33"/>
                  </a:lnTo>
                  <a:lnTo>
                    <a:pt x="7" y="17"/>
                  </a:lnTo>
                  <a:lnTo>
                    <a:pt x="45" y="17"/>
                  </a:lnTo>
                  <a:lnTo>
                    <a:pt x="45" y="0"/>
                  </a:lnTo>
                  <a:lnTo>
                    <a:pt x="62" y="0"/>
                  </a:lnTo>
                  <a:lnTo>
                    <a:pt x="62" y="17"/>
                  </a:lnTo>
                  <a:lnTo>
                    <a:pt x="101" y="17"/>
                  </a:lnTo>
                  <a:lnTo>
                    <a:pt x="101" y="33"/>
                  </a:lnTo>
                  <a:lnTo>
                    <a:pt x="62" y="33"/>
                  </a:lnTo>
                  <a:lnTo>
                    <a:pt x="62" y="6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8E7027D2-B70A-4DFC-85D8-3F0571CC879C}"/>
                </a:ext>
              </a:extLst>
            </p:cNvPr>
            <p:cNvSpPr/>
            <p:nvPr/>
          </p:nvSpPr>
          <p:spPr bwMode="auto">
            <a:xfrm>
              <a:off x="2211973" y="535738"/>
              <a:ext cx="142297" cy="61560"/>
            </a:xfrm>
            <a:custGeom>
              <a:avLst/>
              <a:gdLst>
                <a:gd name="T0" fmla="*/ 0 w 89"/>
                <a:gd name="T1" fmla="*/ 22 h 38"/>
                <a:gd name="T2" fmla="*/ 84 w 89"/>
                <a:gd name="T3" fmla="*/ 0 h 38"/>
                <a:gd name="T4" fmla="*/ 89 w 89"/>
                <a:gd name="T5" fmla="*/ 16 h 38"/>
                <a:gd name="T6" fmla="*/ 4 w 89"/>
                <a:gd name="T7" fmla="*/ 38 h 38"/>
                <a:gd name="T8" fmla="*/ 0 w 89"/>
                <a:gd name="T9" fmla="*/ 2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9" h="38">
                  <a:moveTo>
                    <a:pt x="0" y="22"/>
                  </a:moveTo>
                  <a:lnTo>
                    <a:pt x="84" y="0"/>
                  </a:lnTo>
                  <a:lnTo>
                    <a:pt x="89" y="16"/>
                  </a:lnTo>
                  <a:lnTo>
                    <a:pt x="4" y="38"/>
                  </a:lnTo>
                  <a:lnTo>
                    <a:pt x="0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1" name="Freeform 19">
              <a:extLst>
                <a:ext uri="{FF2B5EF4-FFF2-40B4-BE49-F238E27FC236}">
                  <a16:creationId xmlns:a16="http://schemas.microsoft.com/office/drawing/2014/main" id="{BAB24B3C-4139-42BB-B4FA-DC9B8B35D7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8952" y="993587"/>
              <a:ext cx="949922" cy="534801"/>
            </a:xfrm>
            <a:custGeom>
              <a:avLst/>
              <a:gdLst>
                <a:gd name="T0" fmla="*/ 740 w 776"/>
                <a:gd name="T1" fmla="*/ 336 h 436"/>
                <a:gd name="T2" fmla="*/ 626 w 776"/>
                <a:gd name="T3" fmla="*/ 383 h 436"/>
                <a:gd name="T4" fmla="*/ 462 w 776"/>
                <a:gd name="T5" fmla="*/ 218 h 436"/>
                <a:gd name="T6" fmla="*/ 626 w 776"/>
                <a:gd name="T7" fmla="*/ 54 h 436"/>
                <a:gd name="T8" fmla="*/ 738 w 776"/>
                <a:gd name="T9" fmla="*/ 99 h 436"/>
                <a:gd name="T10" fmla="*/ 774 w 776"/>
                <a:gd name="T11" fmla="*/ 58 h 436"/>
                <a:gd name="T12" fmla="*/ 626 w 776"/>
                <a:gd name="T13" fmla="*/ 0 h 436"/>
                <a:gd name="T14" fmla="*/ 422 w 776"/>
                <a:gd name="T15" fmla="*/ 141 h 436"/>
                <a:gd name="T16" fmla="*/ 218 w 776"/>
                <a:gd name="T17" fmla="*/ 0 h 436"/>
                <a:gd name="T18" fmla="*/ 0 w 776"/>
                <a:gd name="T19" fmla="*/ 218 h 436"/>
                <a:gd name="T20" fmla="*/ 218 w 776"/>
                <a:gd name="T21" fmla="*/ 436 h 436"/>
                <a:gd name="T22" fmla="*/ 422 w 776"/>
                <a:gd name="T23" fmla="*/ 294 h 436"/>
                <a:gd name="T24" fmla="*/ 626 w 776"/>
                <a:gd name="T25" fmla="*/ 436 h 436"/>
                <a:gd name="T26" fmla="*/ 776 w 776"/>
                <a:gd name="T27" fmla="*/ 375 h 436"/>
                <a:gd name="T28" fmla="*/ 740 w 776"/>
                <a:gd name="T29" fmla="*/ 336 h 436"/>
                <a:gd name="T30" fmla="*/ 218 w 776"/>
                <a:gd name="T31" fmla="*/ 382 h 436"/>
                <a:gd name="T32" fmla="*/ 55 w 776"/>
                <a:gd name="T33" fmla="*/ 219 h 436"/>
                <a:gd name="T34" fmla="*/ 218 w 776"/>
                <a:gd name="T35" fmla="*/ 55 h 436"/>
                <a:gd name="T36" fmla="*/ 381 w 776"/>
                <a:gd name="T37" fmla="*/ 219 h 436"/>
                <a:gd name="T38" fmla="*/ 218 w 776"/>
                <a:gd name="T39" fmla="*/ 382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76" h="436">
                  <a:moveTo>
                    <a:pt x="740" y="336"/>
                  </a:moveTo>
                  <a:cubicBezTo>
                    <a:pt x="710" y="365"/>
                    <a:pt x="670" y="383"/>
                    <a:pt x="626" y="383"/>
                  </a:cubicBezTo>
                  <a:cubicBezTo>
                    <a:pt x="536" y="383"/>
                    <a:pt x="462" y="309"/>
                    <a:pt x="462" y="218"/>
                  </a:cubicBezTo>
                  <a:cubicBezTo>
                    <a:pt x="462" y="128"/>
                    <a:pt x="536" y="54"/>
                    <a:pt x="626" y="54"/>
                  </a:cubicBezTo>
                  <a:cubicBezTo>
                    <a:pt x="670" y="54"/>
                    <a:pt x="709" y="71"/>
                    <a:pt x="738" y="99"/>
                  </a:cubicBezTo>
                  <a:cubicBezTo>
                    <a:pt x="774" y="58"/>
                    <a:pt x="774" y="58"/>
                    <a:pt x="774" y="58"/>
                  </a:cubicBezTo>
                  <a:cubicBezTo>
                    <a:pt x="735" y="22"/>
                    <a:pt x="683" y="0"/>
                    <a:pt x="626" y="0"/>
                  </a:cubicBezTo>
                  <a:cubicBezTo>
                    <a:pt x="532" y="0"/>
                    <a:pt x="453" y="58"/>
                    <a:pt x="422" y="141"/>
                  </a:cubicBezTo>
                  <a:cubicBezTo>
                    <a:pt x="391" y="58"/>
                    <a:pt x="311" y="0"/>
                    <a:pt x="218" y="0"/>
                  </a:cubicBezTo>
                  <a:cubicBezTo>
                    <a:pt x="98" y="0"/>
                    <a:pt x="0" y="97"/>
                    <a:pt x="0" y="218"/>
                  </a:cubicBezTo>
                  <a:cubicBezTo>
                    <a:pt x="0" y="338"/>
                    <a:pt x="98" y="436"/>
                    <a:pt x="218" y="436"/>
                  </a:cubicBezTo>
                  <a:cubicBezTo>
                    <a:pt x="311" y="436"/>
                    <a:pt x="391" y="377"/>
                    <a:pt x="422" y="294"/>
                  </a:cubicBezTo>
                  <a:cubicBezTo>
                    <a:pt x="453" y="377"/>
                    <a:pt x="532" y="436"/>
                    <a:pt x="626" y="436"/>
                  </a:cubicBezTo>
                  <a:cubicBezTo>
                    <a:pt x="684" y="436"/>
                    <a:pt x="737" y="413"/>
                    <a:pt x="776" y="375"/>
                  </a:cubicBezTo>
                  <a:lnTo>
                    <a:pt x="740" y="336"/>
                  </a:lnTo>
                  <a:close/>
                  <a:moveTo>
                    <a:pt x="218" y="382"/>
                  </a:moveTo>
                  <a:cubicBezTo>
                    <a:pt x="128" y="382"/>
                    <a:pt x="55" y="309"/>
                    <a:pt x="55" y="219"/>
                  </a:cubicBezTo>
                  <a:cubicBezTo>
                    <a:pt x="55" y="128"/>
                    <a:pt x="128" y="55"/>
                    <a:pt x="218" y="55"/>
                  </a:cubicBezTo>
                  <a:cubicBezTo>
                    <a:pt x="308" y="55"/>
                    <a:pt x="381" y="128"/>
                    <a:pt x="381" y="219"/>
                  </a:cubicBezTo>
                  <a:cubicBezTo>
                    <a:pt x="381" y="309"/>
                    <a:pt x="308" y="382"/>
                    <a:pt x="218" y="3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2" name="Freeform 20">
              <a:extLst>
                <a:ext uri="{FF2B5EF4-FFF2-40B4-BE49-F238E27FC236}">
                  <a16:creationId xmlns:a16="http://schemas.microsoft.com/office/drawing/2014/main" id="{48FF9EC8-31A0-4AFC-B8BF-178592A1F0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5950" y="458788"/>
              <a:ext cx="926846" cy="1088836"/>
            </a:xfrm>
            <a:custGeom>
              <a:avLst/>
              <a:gdLst>
                <a:gd name="T0" fmla="*/ 313 w 756"/>
                <a:gd name="T1" fmla="*/ 0 h 888"/>
                <a:gd name="T2" fmla="*/ 296 w 756"/>
                <a:gd name="T3" fmla="*/ 1 h 888"/>
                <a:gd name="T4" fmla="*/ 296 w 756"/>
                <a:gd name="T5" fmla="*/ 0 h 888"/>
                <a:gd name="T6" fmla="*/ 0 w 756"/>
                <a:gd name="T7" fmla="*/ 0 h 888"/>
                <a:gd name="T8" fmla="*/ 0 w 756"/>
                <a:gd name="T9" fmla="*/ 888 h 888"/>
                <a:gd name="T10" fmla="*/ 296 w 756"/>
                <a:gd name="T11" fmla="*/ 888 h 888"/>
                <a:gd name="T12" fmla="*/ 296 w 756"/>
                <a:gd name="T13" fmla="*/ 888 h 888"/>
                <a:gd name="T14" fmla="*/ 311 w 756"/>
                <a:gd name="T15" fmla="*/ 888 h 888"/>
                <a:gd name="T16" fmla="*/ 756 w 756"/>
                <a:gd name="T17" fmla="*/ 442 h 888"/>
                <a:gd name="T18" fmla="*/ 313 w 756"/>
                <a:gd name="T19" fmla="*/ 0 h 888"/>
                <a:gd name="T20" fmla="*/ 257 w 756"/>
                <a:gd name="T21" fmla="*/ 326 h 888"/>
                <a:gd name="T22" fmla="*/ 349 w 756"/>
                <a:gd name="T23" fmla="*/ 92 h 888"/>
                <a:gd name="T24" fmla="*/ 411 w 756"/>
                <a:gd name="T25" fmla="*/ 341 h 888"/>
                <a:gd name="T26" fmla="*/ 317 w 756"/>
                <a:gd name="T27" fmla="*/ 578 h 888"/>
                <a:gd name="T28" fmla="*/ 257 w 756"/>
                <a:gd name="T29" fmla="*/ 326 h 888"/>
                <a:gd name="T30" fmla="*/ 234 w 756"/>
                <a:gd name="T31" fmla="*/ 790 h 888"/>
                <a:gd name="T32" fmla="*/ 118 w 756"/>
                <a:gd name="T33" fmla="*/ 558 h 888"/>
                <a:gd name="T34" fmla="*/ 212 w 756"/>
                <a:gd name="T35" fmla="*/ 279 h 888"/>
                <a:gd name="T36" fmla="*/ 273 w 756"/>
                <a:gd name="T37" fmla="*/ 573 h 888"/>
                <a:gd name="T38" fmla="*/ 278 w 756"/>
                <a:gd name="T39" fmla="*/ 667 h 888"/>
                <a:gd name="T40" fmla="*/ 234 w 756"/>
                <a:gd name="T41" fmla="*/ 790 h 888"/>
                <a:gd name="T42" fmla="*/ 505 w 756"/>
                <a:gd name="T43" fmla="*/ 664 h 888"/>
                <a:gd name="T44" fmla="*/ 278 w 756"/>
                <a:gd name="T45" fmla="*/ 789 h 888"/>
                <a:gd name="T46" fmla="*/ 395 w 756"/>
                <a:gd name="T47" fmla="*/ 559 h 888"/>
                <a:gd name="T48" fmla="*/ 616 w 756"/>
                <a:gd name="T49" fmla="*/ 426 h 888"/>
                <a:gd name="T50" fmla="*/ 505 w 756"/>
                <a:gd name="T51" fmla="*/ 664 h 8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56" h="888">
                  <a:moveTo>
                    <a:pt x="313" y="0"/>
                  </a:moveTo>
                  <a:cubicBezTo>
                    <a:pt x="307" y="0"/>
                    <a:pt x="302" y="0"/>
                    <a:pt x="296" y="1"/>
                  </a:cubicBezTo>
                  <a:cubicBezTo>
                    <a:pt x="296" y="0"/>
                    <a:pt x="296" y="0"/>
                    <a:pt x="2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8"/>
                    <a:pt x="0" y="888"/>
                    <a:pt x="0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296" y="888"/>
                    <a:pt x="296" y="888"/>
                    <a:pt x="296" y="888"/>
                  </a:cubicBezTo>
                  <a:cubicBezTo>
                    <a:pt x="301" y="888"/>
                    <a:pt x="306" y="888"/>
                    <a:pt x="311" y="888"/>
                  </a:cubicBezTo>
                  <a:cubicBezTo>
                    <a:pt x="556" y="888"/>
                    <a:pt x="756" y="686"/>
                    <a:pt x="756" y="442"/>
                  </a:cubicBezTo>
                  <a:cubicBezTo>
                    <a:pt x="756" y="197"/>
                    <a:pt x="557" y="1"/>
                    <a:pt x="313" y="0"/>
                  </a:cubicBezTo>
                  <a:close/>
                  <a:moveTo>
                    <a:pt x="257" y="326"/>
                  </a:moveTo>
                  <a:cubicBezTo>
                    <a:pt x="268" y="192"/>
                    <a:pt x="349" y="92"/>
                    <a:pt x="349" y="92"/>
                  </a:cubicBezTo>
                  <a:cubicBezTo>
                    <a:pt x="349" y="92"/>
                    <a:pt x="427" y="188"/>
                    <a:pt x="411" y="341"/>
                  </a:cubicBezTo>
                  <a:cubicBezTo>
                    <a:pt x="396" y="491"/>
                    <a:pt x="317" y="578"/>
                    <a:pt x="317" y="578"/>
                  </a:cubicBezTo>
                  <a:cubicBezTo>
                    <a:pt x="317" y="578"/>
                    <a:pt x="245" y="459"/>
                    <a:pt x="257" y="326"/>
                  </a:cubicBezTo>
                  <a:close/>
                  <a:moveTo>
                    <a:pt x="234" y="790"/>
                  </a:moveTo>
                  <a:cubicBezTo>
                    <a:pt x="234" y="790"/>
                    <a:pt x="127" y="667"/>
                    <a:pt x="118" y="558"/>
                  </a:cubicBezTo>
                  <a:cubicBezTo>
                    <a:pt x="105" y="410"/>
                    <a:pt x="212" y="279"/>
                    <a:pt x="212" y="279"/>
                  </a:cubicBezTo>
                  <a:cubicBezTo>
                    <a:pt x="205" y="483"/>
                    <a:pt x="273" y="573"/>
                    <a:pt x="273" y="573"/>
                  </a:cubicBezTo>
                  <a:cubicBezTo>
                    <a:pt x="273" y="573"/>
                    <a:pt x="289" y="597"/>
                    <a:pt x="278" y="667"/>
                  </a:cubicBezTo>
                  <a:cubicBezTo>
                    <a:pt x="267" y="736"/>
                    <a:pt x="234" y="790"/>
                    <a:pt x="234" y="790"/>
                  </a:cubicBezTo>
                  <a:close/>
                  <a:moveTo>
                    <a:pt x="505" y="664"/>
                  </a:moveTo>
                  <a:cubicBezTo>
                    <a:pt x="408" y="771"/>
                    <a:pt x="278" y="789"/>
                    <a:pt x="278" y="789"/>
                  </a:cubicBezTo>
                  <a:cubicBezTo>
                    <a:pt x="278" y="789"/>
                    <a:pt x="282" y="666"/>
                    <a:pt x="395" y="559"/>
                  </a:cubicBezTo>
                  <a:cubicBezTo>
                    <a:pt x="508" y="453"/>
                    <a:pt x="616" y="426"/>
                    <a:pt x="616" y="426"/>
                  </a:cubicBezTo>
                  <a:cubicBezTo>
                    <a:pt x="616" y="426"/>
                    <a:pt x="601" y="557"/>
                    <a:pt x="505" y="66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C6987BFF-4EED-4627-84FF-EC0B909E8056}"/>
              </a:ext>
            </a:extLst>
          </p:cNvPr>
          <p:cNvSpPr txBox="1"/>
          <p:nvPr/>
        </p:nvSpPr>
        <p:spPr>
          <a:xfrm>
            <a:off x="10154221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AD23D2-9E0F-4893-8509-E5C7181252E6}"/>
              </a:ext>
            </a:extLst>
          </p:cNvPr>
          <p:cNvSpPr txBox="1"/>
          <p:nvPr/>
        </p:nvSpPr>
        <p:spPr>
          <a:xfrm>
            <a:off x="10631408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08B93B5-048E-4C92-99E4-BCAEFB059CA3}"/>
              </a:ext>
            </a:extLst>
          </p:cNvPr>
          <p:cNvSpPr txBox="1"/>
          <p:nvPr/>
        </p:nvSpPr>
        <p:spPr>
          <a:xfrm>
            <a:off x="11108595" y="19600"/>
            <a:ext cx="1283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400" spc="30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BEBBD949-5075-4826-BC15-D7B30A112103}"/>
              </a:ext>
            </a:extLst>
          </p:cNvPr>
          <p:cNvSpPr txBox="1"/>
          <p:nvPr/>
        </p:nvSpPr>
        <p:spPr>
          <a:xfrm>
            <a:off x="2606040" y="2436487"/>
            <a:ext cx="6979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6000" spc="300" dirty="0">
                <a:solidFill>
                  <a:schemeClr val="accent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感谢聆听</a:t>
            </a:r>
          </a:p>
        </p:txBody>
      </p:sp>
    </p:spTree>
    <p:extLst>
      <p:ext uri="{BB962C8B-B14F-4D97-AF65-F5344CB8AC3E}">
        <p14:creationId xmlns:p14="http://schemas.microsoft.com/office/powerpoint/2010/main" val="3300543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/>
        </p:nvSpPr>
        <p:spPr>
          <a:xfrm>
            <a:off x="0" y="0"/>
            <a:ext cx="4052262" cy="3016345"/>
          </a:xfrm>
          <a:custGeom>
            <a:avLst/>
            <a:gdLst>
              <a:gd name="connsiteX0" fmla="*/ 0 w 4052262"/>
              <a:gd name="connsiteY0" fmla="*/ 0 h 3016345"/>
              <a:gd name="connsiteX1" fmla="*/ 4052262 w 4052262"/>
              <a:gd name="connsiteY1" fmla="*/ 0 h 3016345"/>
              <a:gd name="connsiteX2" fmla="*/ 3939818 w 4052262"/>
              <a:gd name="connsiteY2" fmla="*/ 42030 h 3016345"/>
              <a:gd name="connsiteX3" fmla="*/ 2418080 w 4052262"/>
              <a:gd name="connsiteY3" fmla="*/ 762001 h 3016345"/>
              <a:gd name="connsiteX4" fmla="*/ 1503680 w 4052262"/>
              <a:gd name="connsiteY4" fmla="*/ 1899921 h 3016345"/>
              <a:gd name="connsiteX5" fmla="*/ 77467 w 4052262"/>
              <a:gd name="connsiteY5" fmla="*/ 3016345 h 3016345"/>
              <a:gd name="connsiteX6" fmla="*/ 0 w 4052262"/>
              <a:gd name="connsiteY6" fmla="*/ 3015938 h 3016345"/>
              <a:gd name="connsiteX7" fmla="*/ 0 w 4052262"/>
              <a:gd name="connsiteY7" fmla="*/ 0 h 301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2262" h="3016345">
                <a:moveTo>
                  <a:pt x="0" y="0"/>
                </a:moveTo>
                <a:lnTo>
                  <a:pt x="4052262" y="0"/>
                </a:lnTo>
                <a:lnTo>
                  <a:pt x="3939818" y="42030"/>
                </a:lnTo>
                <a:cubicBezTo>
                  <a:pt x="3347561" y="268447"/>
                  <a:pt x="2797810" y="501651"/>
                  <a:pt x="2418080" y="762001"/>
                </a:cubicBezTo>
                <a:cubicBezTo>
                  <a:pt x="1911773" y="1109134"/>
                  <a:pt x="1930400" y="1539241"/>
                  <a:pt x="1503680" y="1899921"/>
                </a:cubicBezTo>
                <a:cubicBezTo>
                  <a:pt x="1156970" y="2192974"/>
                  <a:pt x="472665" y="2961119"/>
                  <a:pt x="77467" y="3016345"/>
                </a:cubicBezTo>
                <a:lnTo>
                  <a:pt x="0" y="3015938"/>
                </a:lnTo>
                <a:lnTo>
                  <a:pt x="0" y="0"/>
                </a:lnTo>
                <a:close/>
              </a:path>
            </a:pathLst>
          </a:cu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>
            <a:off x="9993672" y="2964606"/>
            <a:ext cx="2198329" cy="3893394"/>
          </a:xfrm>
          <a:custGeom>
            <a:avLst/>
            <a:gdLst>
              <a:gd name="connsiteX0" fmla="*/ 2198329 w 2198329"/>
              <a:gd name="connsiteY0" fmla="*/ 0 h 3893394"/>
              <a:gd name="connsiteX1" fmla="*/ 2198329 w 2198329"/>
              <a:gd name="connsiteY1" fmla="*/ 3893394 h 3893394"/>
              <a:gd name="connsiteX2" fmla="*/ 0 w 2198329"/>
              <a:gd name="connsiteY2" fmla="*/ 3893394 h 3893394"/>
              <a:gd name="connsiteX3" fmla="*/ 35142 w 2198329"/>
              <a:gd name="connsiteY3" fmla="*/ 3797340 h 3893394"/>
              <a:gd name="connsiteX4" fmla="*/ 1060409 w 2198329"/>
              <a:gd name="connsiteY4" fmla="*/ 1830914 h 3893394"/>
              <a:gd name="connsiteX5" fmla="*/ 2183125 w 2198329"/>
              <a:gd name="connsiteY5" fmla="*/ 16110 h 3893394"/>
              <a:gd name="connsiteX6" fmla="*/ 2198329 w 2198329"/>
              <a:gd name="connsiteY6" fmla="*/ 0 h 389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8329" h="3893394">
                <a:moveTo>
                  <a:pt x="2198329" y="0"/>
                </a:moveTo>
                <a:lnTo>
                  <a:pt x="2198329" y="3893394"/>
                </a:lnTo>
                <a:lnTo>
                  <a:pt x="0" y="3893394"/>
                </a:lnTo>
                <a:lnTo>
                  <a:pt x="35142" y="3797340"/>
                </a:lnTo>
                <a:cubicBezTo>
                  <a:pt x="238825" y="3265353"/>
                  <a:pt x="678139" y="2429508"/>
                  <a:pt x="1060409" y="1830914"/>
                </a:cubicBezTo>
                <a:cubicBezTo>
                  <a:pt x="1360764" y="1360591"/>
                  <a:pt x="1823593" y="417252"/>
                  <a:pt x="2183125" y="16110"/>
                </a:cubicBezTo>
                <a:lnTo>
                  <a:pt x="2198329" y="0"/>
                </a:lnTo>
                <a:close/>
              </a:path>
            </a:pathLst>
          </a:custGeom>
          <a:solidFill>
            <a:srgbClr val="AE6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>
            <a:off x="2227226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2227226" y="2004988"/>
            <a:ext cx="10060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>
                <a:solidFill>
                  <a:srgbClr val="2E3F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共享记账软件</a:t>
            </a:r>
            <a:endParaRPr lang="zh-CN" altLang="en-US" sz="6000" dirty="0">
              <a:solidFill>
                <a:srgbClr val="2E3F5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333864" y="3429000"/>
            <a:ext cx="5747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交付报告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333864" y="4385735"/>
            <a:ext cx="6096000" cy="369332"/>
            <a:chOff x="2333864" y="4385735"/>
            <a:chExt cx="6096000" cy="369332"/>
          </a:xfrm>
        </p:grpSpPr>
        <p:sp>
          <p:nvSpPr>
            <p:cNvPr id="52" name="矩形 51"/>
            <p:cNvSpPr/>
            <p:nvPr/>
          </p:nvSpPr>
          <p:spPr>
            <a:xfrm>
              <a:off x="2333864" y="4385735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Segoe UI Semilight" panose="020B0402040204020203" pitchFamily="34" charset="0"/>
                </a:rPr>
                <a:t>南鸽难鸽组 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Segoe UI Semilight" panose="020B0402040204020203" pitchFamily="34" charset="0"/>
                </a:rPr>
                <a:t>2021/6/21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2436948" y="4755067"/>
              <a:ext cx="22172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椭圆 48"/>
          <p:cNvSpPr/>
          <p:nvPr/>
        </p:nvSpPr>
        <p:spPr>
          <a:xfrm>
            <a:off x="883406" y="950049"/>
            <a:ext cx="172720" cy="172720"/>
          </a:xfrm>
          <a:prstGeom prst="ellipse">
            <a:avLst/>
          </a:prstGeom>
          <a:solidFill>
            <a:srgbClr val="EFE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17715" y="87086"/>
            <a:ext cx="2731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151018" y="1750560"/>
            <a:ext cx="3671284" cy="892552"/>
            <a:chOff x="2151018" y="1427830"/>
            <a:chExt cx="2879720" cy="892552"/>
          </a:xfrm>
        </p:grpSpPr>
        <p:sp>
          <p:nvSpPr>
            <p:cNvPr id="3" name="矩形 2"/>
            <p:cNvSpPr/>
            <p:nvPr/>
          </p:nvSpPr>
          <p:spPr>
            <a:xfrm>
              <a:off x="2151018" y="1501777"/>
              <a:ext cx="148046" cy="788577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2299064" y="1427830"/>
              <a:ext cx="2731674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01</a:t>
              </a:r>
            </a:p>
            <a:p>
              <a:r>
                <a:rPr lang="zh-CN" altLang="en-US" sz="28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成员分工与贡献度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032174" y="1772519"/>
            <a:ext cx="2586445" cy="892552"/>
            <a:chOff x="2151018" y="1427830"/>
            <a:chExt cx="2586445" cy="892552"/>
          </a:xfrm>
        </p:grpSpPr>
        <p:sp>
          <p:nvSpPr>
            <p:cNvPr id="13" name="矩形 12"/>
            <p:cNvSpPr/>
            <p:nvPr/>
          </p:nvSpPr>
          <p:spPr>
            <a:xfrm>
              <a:off x="2151018" y="1501777"/>
              <a:ext cx="148046" cy="788577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2299064" y="1427830"/>
              <a:ext cx="243839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02</a:t>
              </a:r>
            </a:p>
            <a:p>
              <a:r>
                <a:rPr lang="zh-CN" altLang="en-US" sz="28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系统设计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151018" y="3729771"/>
            <a:ext cx="3549986" cy="892552"/>
            <a:chOff x="2151018" y="1427830"/>
            <a:chExt cx="3549986" cy="892552"/>
          </a:xfrm>
        </p:grpSpPr>
        <p:sp>
          <p:nvSpPr>
            <p:cNvPr id="16" name="矩形 15"/>
            <p:cNvSpPr/>
            <p:nvPr/>
          </p:nvSpPr>
          <p:spPr>
            <a:xfrm>
              <a:off x="2151018" y="1501777"/>
              <a:ext cx="148046" cy="788577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299064" y="1427830"/>
              <a:ext cx="3401940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03</a:t>
              </a:r>
            </a:p>
            <a:p>
              <a:r>
                <a:rPr lang="zh-CN" altLang="en-US" sz="2800" dirty="0">
                  <a:ea typeface="思源宋体 Heavy" panose="02020900000000000000" pitchFamily="18" charset="-122"/>
                </a:rPr>
                <a:t>开发过程</a:t>
              </a:r>
              <a:endParaRPr lang="en-US" altLang="zh-CN" sz="2800" dirty="0">
                <a:ea typeface="思源宋体 Heavy" panose="02020900000000000000" pitchFamily="18" charset="-122"/>
              </a:endParaRPr>
            </a:p>
          </p:txBody>
        </p:sp>
      </p:grpSp>
      <p:sp>
        <p:nvSpPr>
          <p:cNvPr id="21" name="任意多边形: 形状 20"/>
          <p:cNvSpPr/>
          <p:nvPr/>
        </p:nvSpPr>
        <p:spPr>
          <a:xfrm>
            <a:off x="0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任意多边形: 形状 21"/>
          <p:cNvSpPr/>
          <p:nvPr/>
        </p:nvSpPr>
        <p:spPr>
          <a:xfrm flipH="1" flipV="1">
            <a:off x="8139738" y="3853317"/>
            <a:ext cx="4052262" cy="3016345"/>
          </a:xfrm>
          <a:custGeom>
            <a:avLst/>
            <a:gdLst>
              <a:gd name="connsiteX0" fmla="*/ 0 w 4052262"/>
              <a:gd name="connsiteY0" fmla="*/ 0 h 3016345"/>
              <a:gd name="connsiteX1" fmla="*/ 4052262 w 4052262"/>
              <a:gd name="connsiteY1" fmla="*/ 0 h 3016345"/>
              <a:gd name="connsiteX2" fmla="*/ 3939818 w 4052262"/>
              <a:gd name="connsiteY2" fmla="*/ 42030 h 3016345"/>
              <a:gd name="connsiteX3" fmla="*/ 2418080 w 4052262"/>
              <a:gd name="connsiteY3" fmla="*/ 762001 h 3016345"/>
              <a:gd name="connsiteX4" fmla="*/ 1503680 w 4052262"/>
              <a:gd name="connsiteY4" fmla="*/ 1899921 h 3016345"/>
              <a:gd name="connsiteX5" fmla="*/ 77467 w 4052262"/>
              <a:gd name="connsiteY5" fmla="*/ 3016345 h 3016345"/>
              <a:gd name="connsiteX6" fmla="*/ 0 w 4052262"/>
              <a:gd name="connsiteY6" fmla="*/ 3015938 h 3016345"/>
              <a:gd name="connsiteX7" fmla="*/ 0 w 4052262"/>
              <a:gd name="connsiteY7" fmla="*/ 0 h 301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2262" h="3016345">
                <a:moveTo>
                  <a:pt x="0" y="0"/>
                </a:moveTo>
                <a:lnTo>
                  <a:pt x="4052262" y="0"/>
                </a:lnTo>
                <a:lnTo>
                  <a:pt x="3939818" y="42030"/>
                </a:lnTo>
                <a:cubicBezTo>
                  <a:pt x="3347561" y="268447"/>
                  <a:pt x="2797810" y="501651"/>
                  <a:pt x="2418080" y="762001"/>
                </a:cubicBezTo>
                <a:cubicBezTo>
                  <a:pt x="1911773" y="1109134"/>
                  <a:pt x="1930400" y="1539241"/>
                  <a:pt x="1503680" y="1899921"/>
                </a:cubicBezTo>
                <a:cubicBezTo>
                  <a:pt x="1156970" y="2192974"/>
                  <a:pt x="472665" y="2961119"/>
                  <a:pt x="77467" y="3016345"/>
                </a:cubicBezTo>
                <a:lnTo>
                  <a:pt x="0" y="3015938"/>
                </a:lnTo>
                <a:lnTo>
                  <a:pt x="0" y="0"/>
                </a:lnTo>
                <a:close/>
              </a:path>
            </a:pathLst>
          </a:cu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11246606" y="5787138"/>
            <a:ext cx="172720" cy="172926"/>
          </a:xfrm>
          <a:prstGeom prst="ellipse">
            <a:avLst/>
          </a:prstGeom>
          <a:solidFill>
            <a:srgbClr val="EFE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7032174" y="3720413"/>
            <a:ext cx="2586445" cy="892552"/>
            <a:chOff x="2151018" y="1427830"/>
            <a:chExt cx="2586445" cy="892552"/>
          </a:xfrm>
        </p:grpSpPr>
        <p:sp>
          <p:nvSpPr>
            <p:cNvPr id="19" name="矩形 18"/>
            <p:cNvSpPr/>
            <p:nvPr/>
          </p:nvSpPr>
          <p:spPr>
            <a:xfrm>
              <a:off x="2151018" y="1501777"/>
              <a:ext cx="148046" cy="788577"/>
            </a:xfrm>
            <a:prstGeom prst="rect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2299064" y="1427830"/>
              <a:ext cx="2438399" cy="8925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Part 04</a:t>
              </a:r>
            </a:p>
            <a:p>
              <a:r>
                <a:rPr lang="zh-CN" altLang="en-US" sz="2800" dirty="0"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项目反思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78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1590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000410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832375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225281" y="272454"/>
            <a:ext cx="5619517" cy="5334869"/>
            <a:chOff x="3431177" y="627017"/>
            <a:chExt cx="5207726" cy="4943937"/>
          </a:xfrm>
        </p:grpSpPr>
        <p:sp>
          <p:nvSpPr>
            <p:cNvPr id="17" name="椭圆 16"/>
            <p:cNvSpPr/>
            <p:nvPr/>
          </p:nvSpPr>
          <p:spPr>
            <a:xfrm>
              <a:off x="4007031" y="1287045"/>
              <a:ext cx="4177938" cy="4283909"/>
            </a:xfrm>
            <a:prstGeom prst="ellipse">
              <a:avLst/>
            </a:prstGeom>
            <a:noFill/>
            <a:ln w="38100">
              <a:gradFill>
                <a:gsLst>
                  <a:gs pos="100000">
                    <a:srgbClr val="AE6339"/>
                  </a:gs>
                  <a:gs pos="65000">
                    <a:srgbClr val="EFE6DD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8" name="矩形 17"/>
            <p:cNvSpPr/>
            <p:nvPr/>
          </p:nvSpPr>
          <p:spPr>
            <a:xfrm>
              <a:off x="3431177" y="627017"/>
              <a:ext cx="5207726" cy="280198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484800" y="1775320"/>
              <a:ext cx="3217934" cy="3307361"/>
              <a:chOff x="4484800" y="1775320"/>
              <a:chExt cx="3217934" cy="330736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489269" y="1775320"/>
                <a:ext cx="3213465" cy="330736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 ME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SOFTWARE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 SPECIFICATION</a:t>
                </a:r>
                <a:endParaRPr lang="zh-CN" altLang="en-US" sz="4400" b="1" dirty="0">
                  <a:solidFill>
                    <a:srgbClr val="AE6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4484800" y="2745854"/>
                <a:ext cx="3213463" cy="16828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 01</a:t>
                </a:r>
              </a:p>
              <a:p>
                <a:pPr algn="ctr"/>
                <a:r>
                  <a:rPr lang="zh-CN" altLang="en-US" sz="3600" b="1" dirty="0">
                    <a:solidFill>
                      <a:srgbClr val="AE6339"/>
                    </a:solidFill>
                    <a:ea typeface="思源宋体 Heavy" panose="02020900000000000000" pitchFamily="18" charset="-122"/>
                  </a:rPr>
                  <a:t>成员分工和</a:t>
                </a:r>
                <a:endParaRPr lang="en-US" altLang="zh-CN" sz="3600" b="1" dirty="0">
                  <a:solidFill>
                    <a:srgbClr val="AE6339"/>
                  </a:solidFill>
                  <a:ea typeface="思源宋体 Heavy" panose="02020900000000000000" pitchFamily="18" charset="-122"/>
                </a:endParaRPr>
              </a:p>
              <a:p>
                <a:pPr algn="ctr"/>
                <a:r>
                  <a:rPr lang="zh-CN" altLang="en-US" sz="3600" b="1" dirty="0">
                    <a:solidFill>
                      <a:srgbClr val="AE6339"/>
                    </a:solidFill>
                    <a:ea typeface="思源宋体 Heavy" panose="02020900000000000000" pitchFamily="18" charset="-122"/>
                  </a:rPr>
                  <a:t>贡献度</a:t>
                </a:r>
              </a:p>
            </p:txBody>
          </p:sp>
        </p:grpSp>
      </p:grpSp>
      <p:sp>
        <p:nvSpPr>
          <p:cNvPr id="20" name="矩形 19"/>
          <p:cNvSpPr/>
          <p:nvPr/>
        </p:nvSpPr>
        <p:spPr>
          <a:xfrm rot="5400000">
            <a:off x="6001293" y="599985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5940334" y="-67762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直接连接符 19">
            <a:extLst>
              <a:ext uri="{FF2B5EF4-FFF2-40B4-BE49-F238E27FC236}">
                <a16:creationId xmlns:a16="http://schemas.microsoft.com/office/drawing/2014/main" id="{67D12C7F-8C5B-DD4B-9CE8-714EB96F2F82}"/>
              </a:ext>
            </a:extLst>
          </p:cNvPr>
          <p:cNvCxnSpPr>
            <a:cxnSpLocks/>
            <a:stCxn id="21" idx="2"/>
            <a:endCxn id="30" idx="0"/>
          </p:cNvCxnSpPr>
          <p:nvPr/>
        </p:nvCxnSpPr>
        <p:spPr>
          <a:xfrm>
            <a:off x="7713949" y="1862990"/>
            <a:ext cx="866042" cy="1450301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21">
            <a:extLst>
              <a:ext uri="{FF2B5EF4-FFF2-40B4-BE49-F238E27FC236}">
                <a16:creationId xmlns:a16="http://schemas.microsoft.com/office/drawing/2014/main" id="{D619F06A-2610-7141-8D68-58D356D16536}"/>
              </a:ext>
            </a:extLst>
          </p:cNvPr>
          <p:cNvCxnSpPr>
            <a:cxnSpLocks/>
            <a:stCxn id="23" idx="2"/>
            <a:endCxn id="35" idx="0"/>
          </p:cNvCxnSpPr>
          <p:nvPr/>
        </p:nvCxnSpPr>
        <p:spPr>
          <a:xfrm>
            <a:off x="3072078" y="1896304"/>
            <a:ext cx="1918836" cy="1436015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21">
            <a:extLst>
              <a:ext uri="{FF2B5EF4-FFF2-40B4-BE49-F238E27FC236}">
                <a16:creationId xmlns:a16="http://schemas.microsoft.com/office/drawing/2014/main" id="{83C38F45-A826-724A-883E-2A6085DA3443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>
          <a:xfrm flipH="1">
            <a:off x="1207021" y="1896304"/>
            <a:ext cx="1865057" cy="1432706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10" name="文本框 9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人员分工</a:t>
              </a:r>
            </a:p>
          </p:txBody>
        </p:sp>
        <p:sp>
          <p:nvSpPr>
            <p:cNvPr id="2" name="椭圆 1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TextBox 13"/>
          <p:cNvSpPr txBox="1"/>
          <p:nvPr/>
        </p:nvSpPr>
        <p:spPr>
          <a:xfrm>
            <a:off x="340977" y="3329010"/>
            <a:ext cx="1732088" cy="285264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方润楠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注册登录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个人信息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(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信息查看、信息修改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)</a:t>
            </a: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整体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UI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调整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(CSS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文档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)</a:t>
            </a:r>
          </a:p>
        </p:txBody>
      </p:sp>
      <p:sp>
        <p:nvSpPr>
          <p:cNvPr id="31" name="TextBox 13"/>
          <p:cNvSpPr txBox="1"/>
          <p:nvPr/>
        </p:nvSpPr>
        <p:spPr>
          <a:xfrm>
            <a:off x="5893642" y="3334851"/>
            <a:ext cx="1732083" cy="185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刘孔阳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建立框架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api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设计实现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解决疑难杂症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</p:txBody>
      </p:sp>
      <p:sp>
        <p:nvSpPr>
          <p:cNvPr id="19" name="TextBox 13"/>
          <p:cNvSpPr txBox="1"/>
          <p:nvPr/>
        </p:nvSpPr>
        <p:spPr>
          <a:xfrm>
            <a:off x="2148361" y="3332319"/>
            <a:ext cx="1836751" cy="318503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彭瀚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账本信息模块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(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本地、共享账本账单添加、账本账单详情查看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)</a:t>
            </a: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导航栏模块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页面跳转调整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30" name="TextBox 13"/>
          <p:cNvSpPr txBox="1"/>
          <p:nvPr/>
        </p:nvSpPr>
        <p:spPr>
          <a:xfrm>
            <a:off x="7713949" y="3313291"/>
            <a:ext cx="1732083" cy="14676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夏文勇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数据库设计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dirty="0" err="1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api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设计实现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25" name="TextBox 13"/>
          <p:cNvSpPr txBox="1"/>
          <p:nvPr/>
        </p:nvSpPr>
        <p:spPr>
          <a:xfrm>
            <a:off x="9521328" y="3303060"/>
            <a:ext cx="1732083" cy="146764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李昊龙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测试本组项目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测试乙方项目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5086" y="1430966"/>
            <a:ext cx="10955905" cy="1903885"/>
            <a:chOff x="595086" y="1430966"/>
            <a:chExt cx="10955905" cy="1903885"/>
          </a:xfrm>
        </p:grpSpPr>
        <p:cxnSp>
          <p:nvCxnSpPr>
            <p:cNvPr id="24" name="直接连接符 23"/>
            <p:cNvCxnSpPr>
              <a:cxnSpLocks/>
              <a:stCxn id="26" idx="2"/>
              <a:endCxn id="25" idx="0"/>
            </p:cNvCxnSpPr>
            <p:nvPr/>
          </p:nvCxnSpPr>
          <p:spPr>
            <a:xfrm>
              <a:off x="10387369" y="1862990"/>
              <a:ext cx="1" cy="144007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25957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95086" y="1430966"/>
              <a:ext cx="10858500" cy="1903885"/>
              <a:chOff x="660400" y="1686006"/>
              <a:chExt cx="10858500" cy="1903885"/>
            </a:xfrm>
          </p:grpSpPr>
          <p:grpSp>
            <p:nvGrpSpPr>
              <p:cNvPr id="8" name="îš1iḑé"/>
              <p:cNvGrpSpPr/>
              <p:nvPr/>
            </p:nvGrpSpPr>
            <p:grpSpPr>
              <a:xfrm>
                <a:off x="1973770" y="1719320"/>
                <a:ext cx="2327244" cy="1868039"/>
                <a:chOff x="1973770" y="1719320"/>
                <a:chExt cx="2327244" cy="1868039"/>
              </a:xfrm>
            </p:grpSpPr>
            <p:cxnSp>
              <p:nvCxnSpPr>
                <p:cNvPr id="22" name="直接连接符 21"/>
                <p:cNvCxnSpPr>
                  <a:cxnSpLocks/>
                  <a:stCxn id="23" idx="2"/>
                  <a:endCxn id="19" idx="0"/>
                </p:cNvCxnSpPr>
                <p:nvPr/>
              </p:nvCxnSpPr>
              <p:spPr>
                <a:xfrm flipH="1">
                  <a:off x="3132051" y="2151344"/>
                  <a:ext cx="5341" cy="1436015"/>
                </a:xfrm>
                <a:prstGeom prst="line">
                  <a:avLst/>
                </a:prstGeom>
                <a:ln w="3175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íṩḷíḑê"/>
                <p:cNvSpPr txBox="1"/>
                <p:nvPr/>
              </p:nvSpPr>
              <p:spPr bwMode="auto">
                <a:xfrm>
                  <a:off x="1973770" y="1719320"/>
                  <a:ext cx="2327244" cy="4320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2000" b="1" dirty="0">
                      <a:solidFill>
                        <a:srgbClr val="AE6339"/>
                      </a:solidFill>
                      <a:latin typeface="思源宋体 Heavy" panose="02020900000000000000" pitchFamily="18" charset="-122"/>
                      <a:ea typeface="思源宋体 Heavy" panose="02020900000000000000" pitchFamily="18" charset="-122"/>
                    </a:rPr>
                    <a:t>前端</a:t>
                  </a:r>
                  <a:endParaRPr lang="en-US" altLang="zh-CN" sz="2000" b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endParaRPr>
                </a:p>
              </p:txBody>
            </p:sp>
          </p:grpSp>
          <p:grpSp>
            <p:nvGrpSpPr>
              <p:cNvPr id="9" name="ïSḻïḍè"/>
              <p:cNvGrpSpPr/>
              <p:nvPr/>
            </p:nvGrpSpPr>
            <p:grpSpPr>
              <a:xfrm>
                <a:off x="6615641" y="1686006"/>
                <a:ext cx="2327244" cy="1903885"/>
                <a:chOff x="6615641" y="1686006"/>
                <a:chExt cx="2327244" cy="1903885"/>
              </a:xfrm>
            </p:grpSpPr>
            <p:cxnSp>
              <p:nvCxnSpPr>
                <p:cNvPr id="20" name="直接连接符 19"/>
                <p:cNvCxnSpPr>
                  <a:cxnSpLocks/>
                  <a:stCxn id="21" idx="2"/>
                  <a:endCxn id="31" idx="0"/>
                </p:cNvCxnSpPr>
                <p:nvPr/>
              </p:nvCxnSpPr>
              <p:spPr>
                <a:xfrm flipH="1">
                  <a:off x="6824998" y="2118030"/>
                  <a:ext cx="954265" cy="1471861"/>
                </a:xfrm>
                <a:prstGeom prst="line">
                  <a:avLst/>
                </a:prstGeom>
                <a:ln w="3175" cap="rnd">
                  <a:solidFill>
                    <a:schemeClr val="bg1">
                      <a:lumMod val="7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íSḷíḑé"/>
                <p:cNvSpPr txBox="1"/>
                <p:nvPr/>
              </p:nvSpPr>
              <p:spPr bwMode="auto">
                <a:xfrm>
                  <a:off x="6615641" y="1686006"/>
                  <a:ext cx="2327244" cy="43202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spcBef>
                      <a:spcPct val="0"/>
                    </a:spcBef>
                  </a:pPr>
                  <a:r>
                    <a:rPr lang="zh-CN" altLang="en-US" sz="2000" b="1" dirty="0">
                      <a:solidFill>
                        <a:srgbClr val="AE6339"/>
                      </a:solidFill>
                      <a:latin typeface="思源宋体 Heavy" panose="02020900000000000000" pitchFamily="18" charset="-122"/>
                      <a:ea typeface="思源宋体 Heavy" panose="02020900000000000000" pitchFamily="18" charset="-122"/>
                    </a:rPr>
                    <a:t>后端</a:t>
                  </a:r>
                  <a:endParaRPr lang="en-US" altLang="zh-CN" sz="2000" b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endParaRPr>
                </a:p>
              </p:txBody>
            </p:sp>
          </p:grpSp>
          <p:sp>
            <p:nvSpPr>
              <p:cNvPr id="11" name="iṡļiḓê"/>
              <p:cNvSpPr/>
              <p:nvPr/>
            </p:nvSpPr>
            <p:spPr>
              <a:xfrm>
                <a:off x="660400" y="2605771"/>
                <a:ext cx="10858500" cy="615636"/>
              </a:xfrm>
              <a:prstGeom prst="rect">
                <a:avLst/>
              </a:prstGeom>
              <a:solidFill>
                <a:srgbClr val="D0A793"/>
              </a:solidFill>
              <a:ln w="3175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i="1" dirty="0">
                  <a:solidFill>
                    <a:srgbClr val="AE6339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endParaRPr>
              </a:p>
            </p:txBody>
          </p:sp>
        </p:grpSp>
        <p:sp>
          <p:nvSpPr>
            <p:cNvPr id="26" name="íSḷíḑé"/>
            <p:cNvSpPr txBox="1"/>
            <p:nvPr/>
          </p:nvSpPr>
          <p:spPr bwMode="auto">
            <a:xfrm>
              <a:off x="9223747" y="1430966"/>
              <a:ext cx="2327244" cy="43202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spcBef>
                  <a:spcPct val="0"/>
                </a:spcBef>
              </a:pPr>
              <a:r>
                <a:rPr lang="zh-CN" altLang="en-US" sz="2000" b="1" dirty="0">
                  <a:solidFill>
                    <a:srgbClr val="AE6339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rPr>
                <a:t>测试</a:t>
              </a:r>
              <a:endParaRPr lang="en-US" altLang="zh-CN" sz="2000" b="1"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</p:grpSp>
      <p:sp>
        <p:nvSpPr>
          <p:cNvPr id="35" name="TextBox 13">
            <a:extLst>
              <a:ext uri="{FF2B5EF4-FFF2-40B4-BE49-F238E27FC236}">
                <a16:creationId xmlns:a16="http://schemas.microsoft.com/office/drawing/2014/main" id="{B35F39B2-E8F9-2D4A-807F-522922DF7E08}"/>
              </a:ext>
            </a:extLst>
          </p:cNvPr>
          <p:cNvSpPr txBox="1"/>
          <p:nvPr/>
        </p:nvSpPr>
        <p:spPr>
          <a:xfrm>
            <a:off x="4124870" y="3332319"/>
            <a:ext cx="1732088" cy="357283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Calibri" panose="020F0502020204030204" pitchFamily="34" charset="0"/>
              </a:rPr>
              <a:t>金唱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  <a:cs typeface="+mn-ea"/>
              <a:sym typeface="Calibri" panose="020F0502020204030204" pitchFamily="34" charset="0"/>
            </a:endParaRP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资产信息模块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(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资产添加、查看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)</a:t>
            </a: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修改模块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(</a:t>
            </a: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账单修改、资产修改</a:t>
            </a:r>
            <a:r>
              <a:rPr lang="en-US" altLang="zh-CN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)</a:t>
            </a:r>
          </a:p>
          <a:p>
            <a:pPr marL="285750" indent="-285750" defTabSz="1216660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rPr>
              <a:t>页面刷新调整</a:t>
            </a: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endParaRPr lang="en-US" altLang="zh-CN" dirty="0">
              <a:solidFill>
                <a:srgbClr val="2E3F55"/>
              </a:solidFill>
              <a:latin typeface="思源宋体 Heavy" panose="02020900000000000000" pitchFamily="18" charset="-122"/>
              <a:ea typeface="思源宋体 Heavy" panose="02020900000000000000" pitchFamily="18" charset="-122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8875B36-B1B0-6E47-888E-B9458261E2EF}"/>
              </a:ext>
            </a:extLst>
          </p:cNvPr>
          <p:cNvSpPr/>
          <p:nvPr/>
        </p:nvSpPr>
        <p:spPr>
          <a:xfrm>
            <a:off x="134826" y="180323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D0A793"/>
                </a:solidFill>
              </a:rPr>
              <a:t>贡献度：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702DE3E-380A-3241-95BA-9C06CE584DB2}"/>
              </a:ext>
            </a:extLst>
          </p:cNvPr>
          <p:cNvSpPr/>
          <p:nvPr/>
        </p:nvSpPr>
        <p:spPr>
          <a:xfrm>
            <a:off x="883370" y="2442216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100%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372A056-17C9-0543-BD23-9AFA575D1E14}"/>
              </a:ext>
            </a:extLst>
          </p:cNvPr>
          <p:cNvSpPr/>
          <p:nvPr/>
        </p:nvSpPr>
        <p:spPr>
          <a:xfrm>
            <a:off x="2652140" y="2427716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100%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C145EA54-4313-354C-97F5-A563480B74D8}"/>
              </a:ext>
            </a:extLst>
          </p:cNvPr>
          <p:cNvSpPr/>
          <p:nvPr/>
        </p:nvSpPr>
        <p:spPr>
          <a:xfrm>
            <a:off x="4564354" y="2442215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100%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8DF7DF3-0A38-A040-BDD2-BDAE890E2A7B}"/>
              </a:ext>
            </a:extLst>
          </p:cNvPr>
          <p:cNvSpPr/>
          <p:nvPr/>
        </p:nvSpPr>
        <p:spPr>
          <a:xfrm>
            <a:off x="6329592" y="2427715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100%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E482AFE-B187-4F48-B3E1-27F3CC928F59}"/>
              </a:ext>
            </a:extLst>
          </p:cNvPr>
          <p:cNvSpPr/>
          <p:nvPr/>
        </p:nvSpPr>
        <p:spPr>
          <a:xfrm>
            <a:off x="8119365" y="2442214"/>
            <a:ext cx="8531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100%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6DB6032-AF71-0D4F-A7C6-D6F64820C7D0}"/>
              </a:ext>
            </a:extLst>
          </p:cNvPr>
          <p:cNvSpPr/>
          <p:nvPr/>
        </p:nvSpPr>
        <p:spPr>
          <a:xfrm>
            <a:off x="10046570" y="2442213"/>
            <a:ext cx="681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EFE6DD"/>
                </a:solidFill>
              </a:rPr>
              <a:t>95%</a:t>
            </a:r>
            <a:endParaRPr lang="zh-CN" altLang="en-US" sz="2400" b="1" dirty="0">
              <a:solidFill>
                <a:srgbClr val="EFE6D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5612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9" grpId="0"/>
      <p:bldP spid="30" grpId="0"/>
      <p:bldP spid="25" grpId="0"/>
      <p:bldP spid="35" grpId="0"/>
      <p:bldP spid="56" grpId="0"/>
      <p:bldP spid="57" grpId="0"/>
      <p:bldP spid="58" grpId="0"/>
      <p:bldP spid="59" grpId="0"/>
      <p:bldP spid="60" grpId="0"/>
      <p:bldP spid="61" grpId="0"/>
      <p:bldP spid="6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78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1590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000410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832375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431177" y="627017"/>
            <a:ext cx="5207726" cy="4943937"/>
            <a:chOff x="3431177" y="627017"/>
            <a:chExt cx="5207726" cy="4943937"/>
          </a:xfrm>
        </p:grpSpPr>
        <p:sp>
          <p:nvSpPr>
            <p:cNvPr id="17" name="椭圆 16"/>
            <p:cNvSpPr/>
            <p:nvPr/>
          </p:nvSpPr>
          <p:spPr>
            <a:xfrm>
              <a:off x="4007031" y="1287045"/>
              <a:ext cx="4177938" cy="4283909"/>
            </a:xfrm>
            <a:prstGeom prst="ellipse">
              <a:avLst/>
            </a:prstGeom>
            <a:noFill/>
            <a:ln w="38100">
              <a:gradFill>
                <a:gsLst>
                  <a:gs pos="100000">
                    <a:srgbClr val="AE6339"/>
                  </a:gs>
                  <a:gs pos="65000">
                    <a:srgbClr val="EFE6DD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8" name="矩形 17"/>
            <p:cNvSpPr/>
            <p:nvPr/>
          </p:nvSpPr>
          <p:spPr>
            <a:xfrm>
              <a:off x="3431177" y="627017"/>
              <a:ext cx="5207726" cy="280198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489269" y="1775320"/>
              <a:ext cx="3213463" cy="3307361"/>
              <a:chOff x="4489269" y="1775320"/>
              <a:chExt cx="3213463" cy="330736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489269" y="1775320"/>
                <a:ext cx="3213463" cy="330736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 ME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SOFTWARE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 SPECIFICATION</a:t>
                </a:r>
                <a:endParaRPr lang="zh-CN" altLang="en-US" sz="4400" b="1" dirty="0">
                  <a:solidFill>
                    <a:srgbClr val="AE6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4693919" y="2859613"/>
                <a:ext cx="2804161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 02</a:t>
                </a:r>
              </a:p>
              <a:p>
                <a:pPr algn="ctr"/>
                <a:r>
                  <a:rPr lang="zh-CN" altLang="en-US" sz="3600" b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rPr>
                  <a:t>系统设计</a:t>
                </a:r>
              </a:p>
            </p:txBody>
          </p:sp>
        </p:grpSp>
      </p:grpSp>
      <p:sp>
        <p:nvSpPr>
          <p:cNvPr id="20" name="矩形 19"/>
          <p:cNvSpPr/>
          <p:nvPr/>
        </p:nvSpPr>
        <p:spPr>
          <a:xfrm rot="5400000">
            <a:off x="6001293" y="599985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5940334" y="-67762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502712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数据库设计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012190" y="1927189"/>
            <a:ext cx="5749698" cy="2098741"/>
            <a:chOff x="1118415" y="2571231"/>
            <a:chExt cx="5749698" cy="2098741"/>
          </a:xfrm>
        </p:grpSpPr>
        <p:grpSp>
          <p:nvGrpSpPr>
            <p:cNvPr id="27" name="组合 26"/>
            <p:cNvGrpSpPr/>
            <p:nvPr/>
          </p:nvGrpSpPr>
          <p:grpSpPr>
            <a:xfrm>
              <a:off x="1118415" y="2571231"/>
              <a:ext cx="5749698" cy="2098741"/>
              <a:chOff x="1482308" y="1860199"/>
              <a:chExt cx="5749698" cy="2098741"/>
            </a:xfrm>
          </p:grpSpPr>
          <p:grpSp>
            <p:nvGrpSpPr>
              <p:cNvPr id="12" name="24939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  <p:cNvGrpSpPr>
                <a:grpSpLocks noChangeAspect="1"/>
              </p:cNvGrpSpPr>
              <p:nvPr>
                <p:custDataLst>
                  <p:tags r:id="rId7"/>
                </p:custDataLst>
              </p:nvPr>
            </p:nvGrpSpPr>
            <p:grpSpPr>
              <a:xfrm>
                <a:off x="1482308" y="1860199"/>
                <a:ext cx="5749698" cy="2098741"/>
                <a:chOff x="-501280" y="2370338"/>
                <a:chExt cx="5749698" cy="2098741"/>
              </a:xfrm>
            </p:grpSpPr>
            <p:sp>
              <p:nvSpPr>
                <p:cNvPr id="23" name="íSḻiḑè"/>
                <p:cNvSpPr/>
                <p:nvPr/>
              </p:nvSpPr>
              <p:spPr>
                <a:xfrm>
                  <a:off x="-501280" y="2370338"/>
                  <a:ext cx="3783490" cy="1627758"/>
                </a:xfrm>
                <a:custGeom>
                  <a:avLst/>
                  <a:gdLst>
                    <a:gd name="connsiteX0" fmla="*/ 9176008 w 10845799"/>
                    <a:gd name="connsiteY0" fmla="*/ 0 h 1627758"/>
                    <a:gd name="connsiteX1" fmla="*/ 10845799 w 10845799"/>
                    <a:gd name="connsiteY1" fmla="*/ 0 h 1627758"/>
                    <a:gd name="connsiteX2" fmla="*/ 10438860 w 10845799"/>
                    <a:gd name="connsiteY2" fmla="*/ 1627758 h 1627758"/>
                    <a:gd name="connsiteX3" fmla="*/ 8769068 w 10845799"/>
                    <a:gd name="connsiteY3" fmla="*/ 1627758 h 1627758"/>
                    <a:gd name="connsiteX4" fmla="*/ 7422195 w 10845799"/>
                    <a:gd name="connsiteY4" fmla="*/ 0 h 1627758"/>
                    <a:gd name="connsiteX5" fmla="*/ 9091986 w 10845799"/>
                    <a:gd name="connsiteY5" fmla="*/ 0 h 1627758"/>
                    <a:gd name="connsiteX6" fmla="*/ 8685047 w 10845799"/>
                    <a:gd name="connsiteY6" fmla="*/ 1627758 h 1627758"/>
                    <a:gd name="connsiteX7" fmla="*/ 7015255 w 10845799"/>
                    <a:gd name="connsiteY7" fmla="*/ 1627758 h 1627758"/>
                    <a:gd name="connsiteX8" fmla="*/ 5668381 w 10845799"/>
                    <a:gd name="connsiteY8" fmla="*/ 0 h 1627758"/>
                    <a:gd name="connsiteX9" fmla="*/ 7338172 w 10845799"/>
                    <a:gd name="connsiteY9" fmla="*/ 0 h 1627758"/>
                    <a:gd name="connsiteX10" fmla="*/ 6931233 w 10845799"/>
                    <a:gd name="connsiteY10" fmla="*/ 1627758 h 1627758"/>
                    <a:gd name="connsiteX11" fmla="*/ 5261441 w 10845799"/>
                    <a:gd name="connsiteY11" fmla="*/ 1627758 h 1627758"/>
                    <a:gd name="connsiteX12" fmla="*/ 3914567 w 10845799"/>
                    <a:gd name="connsiteY12" fmla="*/ 0 h 1627758"/>
                    <a:gd name="connsiteX13" fmla="*/ 5584358 w 10845799"/>
                    <a:gd name="connsiteY13" fmla="*/ 0 h 1627758"/>
                    <a:gd name="connsiteX14" fmla="*/ 5177419 w 10845799"/>
                    <a:gd name="connsiteY14" fmla="*/ 1627758 h 1627758"/>
                    <a:gd name="connsiteX15" fmla="*/ 3507628 w 10845799"/>
                    <a:gd name="connsiteY15" fmla="*/ 1627758 h 1627758"/>
                    <a:gd name="connsiteX16" fmla="*/ 2160753 w 10845799"/>
                    <a:gd name="connsiteY16" fmla="*/ 0 h 1627758"/>
                    <a:gd name="connsiteX17" fmla="*/ 3830544 w 10845799"/>
                    <a:gd name="connsiteY17" fmla="*/ 0 h 1627758"/>
                    <a:gd name="connsiteX18" fmla="*/ 3423606 w 10845799"/>
                    <a:gd name="connsiteY18" fmla="*/ 1627758 h 1627758"/>
                    <a:gd name="connsiteX19" fmla="*/ 1753814 w 10845799"/>
                    <a:gd name="connsiteY19" fmla="*/ 1627758 h 1627758"/>
                    <a:gd name="connsiteX20" fmla="*/ 406940 w 10845799"/>
                    <a:gd name="connsiteY20" fmla="*/ 0 h 1627758"/>
                    <a:gd name="connsiteX21" fmla="*/ 2076730 w 10845799"/>
                    <a:gd name="connsiteY21" fmla="*/ 0 h 1627758"/>
                    <a:gd name="connsiteX22" fmla="*/ 1669792 w 10845799"/>
                    <a:gd name="connsiteY22" fmla="*/ 1627758 h 1627758"/>
                    <a:gd name="connsiteX23" fmla="*/ 0 w 10845799"/>
                    <a:gd name="connsiteY23" fmla="*/ 1627758 h 16277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076730" h="1627758">
                      <a:moveTo>
                        <a:pt x="406940" y="0"/>
                      </a:moveTo>
                      <a:lnTo>
                        <a:pt x="2076730" y="0"/>
                      </a:lnTo>
                      <a:lnTo>
                        <a:pt x="1669792" y="1627758"/>
                      </a:lnTo>
                      <a:lnTo>
                        <a:pt x="0" y="1627758"/>
                      </a:lnTo>
                      <a:close/>
                    </a:path>
                  </a:pathLst>
                </a:custGeom>
                <a:solidFill>
                  <a:srgbClr val="D0A793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endParaRPr>
                </a:p>
              </p:txBody>
            </p:sp>
            <p:sp>
              <p:nvSpPr>
                <p:cNvPr id="24" name="ïṣḷïḓè"/>
                <p:cNvSpPr/>
                <p:nvPr/>
              </p:nvSpPr>
              <p:spPr>
                <a:xfrm>
                  <a:off x="2005707" y="2841321"/>
                  <a:ext cx="3242711" cy="1627758"/>
                </a:xfrm>
                <a:prstGeom prst="parallelogram">
                  <a:avLst>
                    <a:gd name="adj" fmla="val 45373"/>
                  </a:avLst>
                </a:prstGeom>
                <a:solidFill>
                  <a:srgbClr val="EFE6DD">
                    <a:alpha val="7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 altLang="zh-CN" sz="1600" b="1" i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endParaRPr>
                </a:p>
              </p:txBody>
            </p:sp>
          </p:grpSp>
          <p:sp>
            <p:nvSpPr>
              <p:cNvPr id="3" name="矩形 2"/>
              <p:cNvSpPr/>
              <p:nvPr/>
            </p:nvSpPr>
            <p:spPr>
              <a:xfrm>
                <a:off x="2521839" y="2980662"/>
                <a:ext cx="133882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dirty="0">
                    <a:solidFill>
                      <a:schemeClr val="bg1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数据库设计</a:t>
                </a:r>
                <a:endParaRPr lang="en-US" altLang="zh-CN" dirty="0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604186" y="3042214"/>
              <a:ext cx="582859" cy="549772"/>
              <a:chOff x="2981435" y="2332865"/>
              <a:chExt cx="461785" cy="435571"/>
            </a:xfrm>
          </p:grpSpPr>
          <p:sp>
            <p:nvSpPr>
              <p:cNvPr id="25" name="Freeform 15"/>
              <p:cNvSpPr>
                <a:spLocks noEditPoints="1"/>
              </p:cNvSpPr>
              <p:nvPr/>
            </p:nvSpPr>
            <p:spPr bwMode="auto">
              <a:xfrm>
                <a:off x="2981435" y="2504270"/>
                <a:ext cx="130066" cy="264165"/>
              </a:xfrm>
              <a:custGeom>
                <a:avLst/>
                <a:gdLst>
                  <a:gd name="T0" fmla="*/ 41 w 54"/>
                  <a:gd name="T1" fmla="*/ 13 h 109"/>
                  <a:gd name="T2" fmla="*/ 41 w 54"/>
                  <a:gd name="T3" fmla="*/ 47 h 109"/>
                  <a:gd name="T4" fmla="*/ 13 w 54"/>
                  <a:gd name="T5" fmla="*/ 47 h 109"/>
                  <a:gd name="T6" fmla="*/ 13 w 54"/>
                  <a:gd name="T7" fmla="*/ 13 h 109"/>
                  <a:gd name="T8" fmla="*/ 41 w 54"/>
                  <a:gd name="T9" fmla="*/ 13 h 109"/>
                  <a:gd name="T10" fmla="*/ 50 w 54"/>
                  <a:gd name="T11" fmla="*/ 0 h 109"/>
                  <a:gd name="T12" fmla="*/ 4 w 54"/>
                  <a:gd name="T13" fmla="*/ 0 h 109"/>
                  <a:gd name="T14" fmla="*/ 0 w 54"/>
                  <a:gd name="T15" fmla="*/ 5 h 109"/>
                  <a:gd name="T16" fmla="*/ 0 w 54"/>
                  <a:gd name="T17" fmla="*/ 105 h 109"/>
                  <a:gd name="T18" fmla="*/ 4 w 54"/>
                  <a:gd name="T19" fmla="*/ 109 h 109"/>
                  <a:gd name="T20" fmla="*/ 50 w 54"/>
                  <a:gd name="T21" fmla="*/ 109 h 109"/>
                  <a:gd name="T22" fmla="*/ 54 w 54"/>
                  <a:gd name="T23" fmla="*/ 105 h 109"/>
                  <a:gd name="T24" fmla="*/ 54 w 54"/>
                  <a:gd name="T25" fmla="*/ 5 h 109"/>
                  <a:gd name="T26" fmla="*/ 50 w 54"/>
                  <a:gd name="T27" fmla="*/ 0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4" h="109">
                    <a:moveTo>
                      <a:pt x="41" y="13"/>
                    </a:moveTo>
                    <a:cubicBezTo>
                      <a:pt x="41" y="47"/>
                      <a:pt x="41" y="47"/>
                      <a:pt x="41" y="47"/>
                    </a:cubicBezTo>
                    <a:cubicBezTo>
                      <a:pt x="13" y="47"/>
                      <a:pt x="13" y="47"/>
                      <a:pt x="13" y="47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41" y="13"/>
                      <a:pt x="41" y="13"/>
                      <a:pt x="41" y="13"/>
                    </a:cubicBezTo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05"/>
                      <a:pt x="0" y="105"/>
                      <a:pt x="0" y="105"/>
                    </a:cubicBezTo>
                    <a:cubicBezTo>
                      <a:pt x="0" y="107"/>
                      <a:pt x="2" y="109"/>
                      <a:pt x="4" y="109"/>
                    </a:cubicBezTo>
                    <a:cubicBezTo>
                      <a:pt x="50" y="109"/>
                      <a:pt x="50" y="109"/>
                      <a:pt x="50" y="109"/>
                    </a:cubicBezTo>
                    <a:cubicBezTo>
                      <a:pt x="52" y="109"/>
                      <a:pt x="54" y="107"/>
                      <a:pt x="54" y="10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2"/>
                      <a:pt x="52" y="0"/>
                      <a:pt x="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2E3F55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Freeform 16"/>
              <p:cNvSpPr>
                <a:spLocks noEditPoints="1"/>
              </p:cNvSpPr>
              <p:nvPr/>
            </p:nvSpPr>
            <p:spPr bwMode="auto">
              <a:xfrm>
                <a:off x="3143766" y="2441758"/>
                <a:ext cx="132083" cy="326678"/>
              </a:xfrm>
              <a:custGeom>
                <a:avLst/>
                <a:gdLst>
                  <a:gd name="T0" fmla="*/ 42 w 55"/>
                  <a:gd name="T1" fmla="*/ 13 h 135"/>
                  <a:gd name="T2" fmla="*/ 42 w 55"/>
                  <a:gd name="T3" fmla="*/ 81 h 135"/>
                  <a:gd name="T4" fmla="*/ 13 w 55"/>
                  <a:gd name="T5" fmla="*/ 81 h 135"/>
                  <a:gd name="T6" fmla="*/ 13 w 55"/>
                  <a:gd name="T7" fmla="*/ 13 h 135"/>
                  <a:gd name="T8" fmla="*/ 42 w 55"/>
                  <a:gd name="T9" fmla="*/ 13 h 135"/>
                  <a:gd name="T10" fmla="*/ 51 w 55"/>
                  <a:gd name="T11" fmla="*/ 0 h 135"/>
                  <a:gd name="T12" fmla="*/ 5 w 55"/>
                  <a:gd name="T13" fmla="*/ 0 h 135"/>
                  <a:gd name="T14" fmla="*/ 0 w 55"/>
                  <a:gd name="T15" fmla="*/ 5 h 135"/>
                  <a:gd name="T16" fmla="*/ 0 w 55"/>
                  <a:gd name="T17" fmla="*/ 131 h 135"/>
                  <a:gd name="T18" fmla="*/ 5 w 55"/>
                  <a:gd name="T19" fmla="*/ 135 h 135"/>
                  <a:gd name="T20" fmla="*/ 51 w 55"/>
                  <a:gd name="T21" fmla="*/ 135 h 135"/>
                  <a:gd name="T22" fmla="*/ 55 w 55"/>
                  <a:gd name="T23" fmla="*/ 131 h 135"/>
                  <a:gd name="T24" fmla="*/ 55 w 55"/>
                  <a:gd name="T25" fmla="*/ 5 h 135"/>
                  <a:gd name="T26" fmla="*/ 51 w 55"/>
                  <a:gd name="T27" fmla="*/ 0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135">
                    <a:moveTo>
                      <a:pt x="42" y="13"/>
                    </a:moveTo>
                    <a:cubicBezTo>
                      <a:pt x="42" y="81"/>
                      <a:pt x="42" y="81"/>
                      <a:pt x="42" y="81"/>
                    </a:cubicBezTo>
                    <a:cubicBezTo>
                      <a:pt x="13" y="81"/>
                      <a:pt x="13" y="81"/>
                      <a:pt x="13" y="81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42" y="13"/>
                      <a:pt x="42" y="13"/>
                      <a:pt x="42" y="13"/>
                    </a:cubicBezTo>
                    <a:moveTo>
                      <a:pt x="51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0" y="133"/>
                      <a:pt x="2" y="135"/>
                      <a:pt x="5" y="135"/>
                    </a:cubicBezTo>
                    <a:cubicBezTo>
                      <a:pt x="51" y="135"/>
                      <a:pt x="51" y="135"/>
                      <a:pt x="51" y="135"/>
                    </a:cubicBezTo>
                    <a:cubicBezTo>
                      <a:pt x="53" y="135"/>
                      <a:pt x="55" y="133"/>
                      <a:pt x="55" y="131"/>
                    </a:cubicBezTo>
                    <a:cubicBezTo>
                      <a:pt x="55" y="5"/>
                      <a:pt x="55" y="5"/>
                      <a:pt x="55" y="5"/>
                    </a:cubicBezTo>
                    <a:cubicBezTo>
                      <a:pt x="55" y="2"/>
                      <a:pt x="53" y="0"/>
                      <a:pt x="5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>
                  <a:solidFill>
                    <a:srgbClr val="2E3F55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  <a:cs typeface="+mn-ea"/>
                  <a:sym typeface="+mn-lt"/>
                </a:endParaRPr>
              </a:p>
            </p:txBody>
          </p:sp>
          <p:sp>
            <p:nvSpPr>
              <p:cNvPr id="29" name="Freeform 17"/>
              <p:cNvSpPr>
                <a:spLocks noEditPoints="1"/>
              </p:cNvSpPr>
              <p:nvPr/>
            </p:nvSpPr>
            <p:spPr bwMode="auto">
              <a:xfrm>
                <a:off x="3310129" y="2332865"/>
                <a:ext cx="133091" cy="435570"/>
              </a:xfrm>
              <a:custGeom>
                <a:avLst/>
                <a:gdLst>
                  <a:gd name="T0" fmla="*/ 42 w 55"/>
                  <a:gd name="T1" fmla="*/ 13 h 180"/>
                  <a:gd name="T2" fmla="*/ 42 w 55"/>
                  <a:gd name="T3" fmla="*/ 96 h 180"/>
                  <a:gd name="T4" fmla="*/ 13 w 55"/>
                  <a:gd name="T5" fmla="*/ 96 h 180"/>
                  <a:gd name="T6" fmla="*/ 13 w 55"/>
                  <a:gd name="T7" fmla="*/ 13 h 180"/>
                  <a:gd name="T8" fmla="*/ 42 w 55"/>
                  <a:gd name="T9" fmla="*/ 13 h 180"/>
                  <a:gd name="T10" fmla="*/ 50 w 55"/>
                  <a:gd name="T11" fmla="*/ 0 h 180"/>
                  <a:gd name="T12" fmla="*/ 4 w 55"/>
                  <a:gd name="T13" fmla="*/ 0 h 180"/>
                  <a:gd name="T14" fmla="*/ 0 w 55"/>
                  <a:gd name="T15" fmla="*/ 4 h 180"/>
                  <a:gd name="T16" fmla="*/ 0 w 55"/>
                  <a:gd name="T17" fmla="*/ 176 h 180"/>
                  <a:gd name="T18" fmla="*/ 4 w 55"/>
                  <a:gd name="T19" fmla="*/ 180 h 180"/>
                  <a:gd name="T20" fmla="*/ 50 w 55"/>
                  <a:gd name="T21" fmla="*/ 180 h 180"/>
                  <a:gd name="T22" fmla="*/ 55 w 55"/>
                  <a:gd name="T23" fmla="*/ 176 h 180"/>
                  <a:gd name="T24" fmla="*/ 55 w 55"/>
                  <a:gd name="T25" fmla="*/ 4 h 180"/>
                  <a:gd name="T26" fmla="*/ 50 w 55"/>
                  <a:gd name="T27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180">
                    <a:moveTo>
                      <a:pt x="42" y="13"/>
                    </a:moveTo>
                    <a:cubicBezTo>
                      <a:pt x="42" y="96"/>
                      <a:pt x="42" y="96"/>
                      <a:pt x="42" y="96"/>
                    </a:cubicBezTo>
                    <a:cubicBezTo>
                      <a:pt x="13" y="96"/>
                      <a:pt x="13" y="96"/>
                      <a:pt x="13" y="96"/>
                    </a:cubicBezTo>
                    <a:cubicBezTo>
                      <a:pt x="13" y="13"/>
                      <a:pt x="13" y="13"/>
                      <a:pt x="13" y="13"/>
                    </a:cubicBezTo>
                    <a:cubicBezTo>
                      <a:pt x="42" y="13"/>
                      <a:pt x="42" y="13"/>
                      <a:pt x="42" y="13"/>
                    </a:cubicBezTo>
                    <a:moveTo>
                      <a:pt x="50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78"/>
                      <a:pt x="2" y="180"/>
                      <a:pt x="4" y="180"/>
                    </a:cubicBezTo>
                    <a:cubicBezTo>
                      <a:pt x="50" y="180"/>
                      <a:pt x="50" y="180"/>
                      <a:pt x="50" y="180"/>
                    </a:cubicBezTo>
                    <a:cubicBezTo>
                      <a:pt x="53" y="180"/>
                      <a:pt x="55" y="178"/>
                      <a:pt x="55" y="176"/>
                    </a:cubicBezTo>
                    <a:cubicBezTo>
                      <a:pt x="55" y="4"/>
                      <a:pt x="55" y="4"/>
                      <a:pt x="55" y="4"/>
                    </a:cubicBezTo>
                    <a:cubicBezTo>
                      <a:pt x="55" y="2"/>
                      <a:pt x="53" y="0"/>
                      <a:pt x="5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zh-CN" altLang="en-US" kern="0" dirty="0">
                  <a:solidFill>
                    <a:srgbClr val="2E3F55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  <a:cs typeface="+mn-ea"/>
                  <a:sym typeface="+mn-lt"/>
                </a:endParaRPr>
              </a:p>
            </p:txBody>
          </p:sp>
        </p:grpSp>
      </p:grp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1F43E09-33ED-4045-B2A8-C78FE7CDCC4B}"/>
              </a:ext>
            </a:extLst>
          </p:cNvPr>
          <p:cNvGraphicFramePr/>
          <p:nvPr>
            <p:custDataLst>
              <p:tags r:id="rId1"/>
            </p:custDataLst>
            <p:extLst/>
          </p:nvPr>
        </p:nvGraphicFramePr>
        <p:xfrm>
          <a:off x="6486343" y="375323"/>
          <a:ext cx="5689600" cy="2537453"/>
        </p:xfrm>
        <a:graphic>
          <a:graphicData uri="http://schemas.openxmlformats.org/drawingml/2006/table">
            <a:tbl>
              <a:tblPr firstRow="1" bandRow="1"/>
              <a:tblGrid>
                <a:gridCol w="87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0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938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user_info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用户信息</a:t>
                      </a: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YES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user_name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CHAR(16)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用户昵称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user_phone</a:t>
                      </a:r>
                      <a:endParaRPr lang="en-US" altLang="en-US" sz="10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CHAR(11)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用户手机号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user_email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CHAR(40)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用户邮箱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user_permission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YES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用户权限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user_createtime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用户创建时间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user_passwd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CHAR(100)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 err="1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用户密码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1" name="表格 30">
            <a:extLst>
              <a:ext uri="{FF2B5EF4-FFF2-40B4-BE49-F238E27FC236}">
                <a16:creationId xmlns:a16="http://schemas.microsoft.com/office/drawing/2014/main" id="{2BF0BC50-79C7-5847-B278-C08BA9B4BCB3}"/>
              </a:ext>
            </a:extLst>
          </p:cNvPr>
          <p:cNvGraphicFramePr/>
          <p:nvPr>
            <p:custDataLst>
              <p:tags r:id="rId2"/>
            </p:custDataLst>
            <p:extLst/>
          </p:nvPr>
        </p:nvGraphicFramePr>
        <p:xfrm>
          <a:off x="6501130" y="870552"/>
          <a:ext cx="5688013" cy="2113274"/>
        </p:xfrm>
        <a:graphic>
          <a:graphicData uri="http://schemas.openxmlformats.org/drawingml/2006/table">
            <a:tbl>
              <a:tblPr firstRow="1" bandRow="1"/>
              <a:tblGrid>
                <a:gridCol w="11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assets_info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资产信息</a:t>
                      </a: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asstes</a:t>
                      </a: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YES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资产编号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assets_user_id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assets_name</a:t>
                      </a:r>
                      <a:endParaRPr lang="en-US" altLang="en-US" sz="10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CHAR(20)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资产名称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assets_number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资产值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assets_createtime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资产创建时间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assets_isTrash</a:t>
                      </a: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Boolean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是否是未分类资产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9C6A507A-88FF-4746-ADA9-BB1F0A56A334}"/>
              </a:ext>
            </a:extLst>
          </p:cNvPr>
          <p:cNvGraphicFramePr/>
          <p:nvPr>
            <p:custDataLst>
              <p:tags r:id="rId3"/>
            </p:custDataLst>
            <p:extLst/>
          </p:nvPr>
        </p:nvGraphicFramePr>
        <p:xfrm>
          <a:off x="6503987" y="1386214"/>
          <a:ext cx="5688013" cy="1630676"/>
        </p:xfrm>
        <a:graphic>
          <a:graphicData uri="http://schemas.openxmlformats.org/drawingml/2006/table">
            <a:tbl>
              <a:tblPr firstRow="1" bandRow="1"/>
              <a:tblGrid>
                <a:gridCol w="11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bill_info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账本信息</a:t>
                      </a: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bill_name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CHAR(40)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账本名称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bill_isshare</a:t>
                      </a:r>
                      <a:endParaRPr lang="en-US" altLang="en-US" sz="10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BOOLEAN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账本是否共享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assets_createtime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 err="1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账本创建时间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B68E6649-9767-2749-A336-6DF72D15FDB9}"/>
              </a:ext>
            </a:extLst>
          </p:cNvPr>
          <p:cNvGraphicFramePr/>
          <p:nvPr>
            <p:custDataLst>
              <p:tags r:id="rId4"/>
            </p:custDataLst>
            <p:extLst/>
          </p:nvPr>
        </p:nvGraphicFramePr>
        <p:xfrm>
          <a:off x="6510787" y="1856857"/>
          <a:ext cx="5688013" cy="965199"/>
        </p:xfrm>
        <a:graphic>
          <a:graphicData uri="http://schemas.openxmlformats.org/drawingml/2006/table">
            <a:tbl>
              <a:tblPr firstRow="1" bandRow="1"/>
              <a:tblGrid>
                <a:gridCol w="117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2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record_user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账单与对应参与者</a:t>
                      </a:r>
                      <a:endParaRPr lang="zh-CN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bill_detail_id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</a:t>
                      </a: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 err="1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用户编号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F15C5378-4B3D-D647-AEA4-147E73B5F7E3}"/>
              </a:ext>
            </a:extLst>
          </p:cNvPr>
          <p:cNvGraphicFramePr/>
          <p:nvPr>
            <p:custDataLst>
              <p:tags r:id="rId5"/>
            </p:custDataLst>
            <p:extLst/>
          </p:nvPr>
        </p:nvGraphicFramePr>
        <p:xfrm>
          <a:off x="6512107" y="2345169"/>
          <a:ext cx="5688013" cy="2237735"/>
        </p:xfrm>
        <a:graphic>
          <a:graphicData uri="http://schemas.openxmlformats.org/drawingml/2006/table">
            <a:tbl>
              <a:tblPr firstRow="1" bandRow="1"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bill_user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账本与对应参与者</a:t>
                      </a: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user_nickname</a:t>
                      </a:r>
                      <a:endParaRPr lang="en-US" altLang="en-US" sz="10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CHAR(16)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user_name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YES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用户在本账本昵称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bill_user_createtime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用户加入账本时间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bill_user_leavetime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 err="1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用户退出账本时间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0F2D4711-9213-D042-97DD-E7530B6E4A2F}"/>
              </a:ext>
            </a:extLst>
          </p:cNvPr>
          <p:cNvGraphicFramePr/>
          <p:nvPr>
            <p:custDataLst>
              <p:tags r:id="rId6"/>
            </p:custDataLst>
            <p:extLst/>
          </p:nvPr>
        </p:nvGraphicFramePr>
        <p:xfrm>
          <a:off x="6515917" y="2875059"/>
          <a:ext cx="5688013" cy="3444228"/>
        </p:xfrm>
        <a:graphic>
          <a:graphicData uri="http://schemas.openxmlformats.org/drawingml/2006/table">
            <a:tbl>
              <a:tblPr firstRow="1" bandRow="1"/>
              <a:tblGrid>
                <a:gridCol w="1330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bill_detail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3175">
                      <a:solidFill>
                        <a:srgbClr val="FFFFFF"/>
                      </a:solidFill>
                      <a:prstDash val="dot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CN" altLang="en-US" sz="1200" b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账单信息</a:t>
                      </a:r>
                      <a:endParaRPr lang="zh-CN" altLang="en-US" sz="1200" b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FFFFFF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 cap="rnd">
                      <a:solidFill>
                        <a:srgbClr val="03A9F5"/>
                      </a:solidFill>
                      <a:prstDash val="solid"/>
                    </a:lnT>
                    <a:lnB w="19050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3A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字段名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数据类型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默认值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允许空值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自动递增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19050">
                      <a:solidFill>
                        <a:srgbClr val="03A9F5"/>
                      </a:solidFill>
                      <a:prstDash val="solid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bill_detail_id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用户编号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bill_id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账本编号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assets_id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资产编号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bill_count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TINYINT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账单价值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bill_describe</a:t>
                      </a: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CHAR(256)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账单描述</a:t>
                      </a: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bill_photo_addr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CHAR(100)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账单小票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bill_clean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BOOLEAN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账单是否结清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bill_detail_createtime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账单创建时间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3175">
                      <a:solidFill>
                        <a:srgbClr val="03A9F5"/>
                      </a:solidFill>
                      <a:prstDash val="dot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bill_detail_cleantime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19050" cap="rnd">
                      <a:solidFill>
                        <a:srgbClr val="03A9F5"/>
                      </a:solidFill>
                      <a:prstDash val="solid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DATETIME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40404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en-US" sz="1200" b="0">
                        <a:solidFill>
                          <a:srgbClr val="404040"/>
                        </a:solid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3175">
                      <a:solidFill>
                        <a:srgbClr val="03A9F5"/>
                      </a:solidFill>
                      <a:prstDash val="dot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0" dirty="0" err="1">
                          <a:solidFill>
                            <a:srgbClr val="40404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账单结清时间</a:t>
                      </a:r>
                      <a:endParaRPr lang="en-US" altLang="en-US" sz="1200" b="0" dirty="0">
                        <a:solidFill>
                          <a:srgbClr val="40404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marB="45719" anchor="ctr">
                    <a:lnL w="3175">
                      <a:solidFill>
                        <a:srgbClr val="03A9F5"/>
                      </a:solidFill>
                      <a:prstDash val="dot"/>
                    </a:lnL>
                    <a:lnR w="19050" cap="rnd">
                      <a:solidFill>
                        <a:srgbClr val="03A9F5"/>
                      </a:solidFill>
                      <a:prstDash val="solid"/>
                    </a:lnR>
                    <a:lnT w="3175">
                      <a:solidFill>
                        <a:srgbClr val="03A9F5"/>
                      </a:solidFill>
                      <a:prstDash val="dot"/>
                    </a:lnT>
                    <a:lnB w="19050" cap="rnd">
                      <a:solidFill>
                        <a:srgbClr val="03A9F5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502712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接口设计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937177" y="2164977"/>
            <a:ext cx="3783490" cy="1627758"/>
            <a:chOff x="937177" y="2164977"/>
            <a:chExt cx="3783490" cy="1627758"/>
          </a:xfrm>
        </p:grpSpPr>
        <p:grpSp>
          <p:nvGrpSpPr>
            <p:cNvPr id="27" name="组合 26"/>
            <p:cNvGrpSpPr/>
            <p:nvPr/>
          </p:nvGrpSpPr>
          <p:grpSpPr>
            <a:xfrm>
              <a:off x="937177" y="2164977"/>
              <a:ext cx="3783490" cy="1627758"/>
              <a:chOff x="6376102" y="1860199"/>
              <a:chExt cx="3783490" cy="1627758"/>
            </a:xfrm>
          </p:grpSpPr>
          <p:sp>
            <p:nvSpPr>
              <p:cNvPr id="22" name="ïsḻïḑê"/>
              <p:cNvSpPr/>
              <p:nvPr/>
            </p:nvSpPr>
            <p:spPr>
              <a:xfrm>
                <a:off x="6376102" y="1860199"/>
                <a:ext cx="3783490" cy="1627758"/>
              </a:xfrm>
              <a:custGeom>
                <a:avLst/>
                <a:gdLst>
                  <a:gd name="connsiteX0" fmla="*/ 9176008 w 10845799"/>
                  <a:gd name="connsiteY0" fmla="*/ 0 h 1627758"/>
                  <a:gd name="connsiteX1" fmla="*/ 10845799 w 10845799"/>
                  <a:gd name="connsiteY1" fmla="*/ 0 h 1627758"/>
                  <a:gd name="connsiteX2" fmla="*/ 10438860 w 10845799"/>
                  <a:gd name="connsiteY2" fmla="*/ 1627758 h 1627758"/>
                  <a:gd name="connsiteX3" fmla="*/ 8769068 w 10845799"/>
                  <a:gd name="connsiteY3" fmla="*/ 1627758 h 1627758"/>
                  <a:gd name="connsiteX4" fmla="*/ 7422195 w 10845799"/>
                  <a:gd name="connsiteY4" fmla="*/ 0 h 1627758"/>
                  <a:gd name="connsiteX5" fmla="*/ 9091986 w 10845799"/>
                  <a:gd name="connsiteY5" fmla="*/ 0 h 1627758"/>
                  <a:gd name="connsiteX6" fmla="*/ 8685047 w 10845799"/>
                  <a:gd name="connsiteY6" fmla="*/ 1627758 h 1627758"/>
                  <a:gd name="connsiteX7" fmla="*/ 7015255 w 10845799"/>
                  <a:gd name="connsiteY7" fmla="*/ 1627758 h 1627758"/>
                  <a:gd name="connsiteX8" fmla="*/ 5668381 w 10845799"/>
                  <a:gd name="connsiteY8" fmla="*/ 0 h 1627758"/>
                  <a:gd name="connsiteX9" fmla="*/ 7338172 w 10845799"/>
                  <a:gd name="connsiteY9" fmla="*/ 0 h 1627758"/>
                  <a:gd name="connsiteX10" fmla="*/ 6931233 w 10845799"/>
                  <a:gd name="connsiteY10" fmla="*/ 1627758 h 1627758"/>
                  <a:gd name="connsiteX11" fmla="*/ 5261441 w 10845799"/>
                  <a:gd name="connsiteY11" fmla="*/ 1627758 h 1627758"/>
                  <a:gd name="connsiteX12" fmla="*/ 3914567 w 10845799"/>
                  <a:gd name="connsiteY12" fmla="*/ 0 h 1627758"/>
                  <a:gd name="connsiteX13" fmla="*/ 5584358 w 10845799"/>
                  <a:gd name="connsiteY13" fmla="*/ 0 h 1627758"/>
                  <a:gd name="connsiteX14" fmla="*/ 5177419 w 10845799"/>
                  <a:gd name="connsiteY14" fmla="*/ 1627758 h 1627758"/>
                  <a:gd name="connsiteX15" fmla="*/ 3507628 w 10845799"/>
                  <a:gd name="connsiteY15" fmla="*/ 1627758 h 1627758"/>
                  <a:gd name="connsiteX16" fmla="*/ 2160753 w 10845799"/>
                  <a:gd name="connsiteY16" fmla="*/ 0 h 1627758"/>
                  <a:gd name="connsiteX17" fmla="*/ 3830544 w 10845799"/>
                  <a:gd name="connsiteY17" fmla="*/ 0 h 1627758"/>
                  <a:gd name="connsiteX18" fmla="*/ 3423606 w 10845799"/>
                  <a:gd name="connsiteY18" fmla="*/ 1627758 h 1627758"/>
                  <a:gd name="connsiteX19" fmla="*/ 1753814 w 10845799"/>
                  <a:gd name="connsiteY19" fmla="*/ 1627758 h 1627758"/>
                  <a:gd name="connsiteX20" fmla="*/ 406940 w 10845799"/>
                  <a:gd name="connsiteY20" fmla="*/ 0 h 1627758"/>
                  <a:gd name="connsiteX21" fmla="*/ 2076730 w 10845799"/>
                  <a:gd name="connsiteY21" fmla="*/ 0 h 1627758"/>
                  <a:gd name="connsiteX22" fmla="*/ 1669792 w 10845799"/>
                  <a:gd name="connsiteY22" fmla="*/ 1627758 h 1627758"/>
                  <a:gd name="connsiteX23" fmla="*/ 0 w 10845799"/>
                  <a:gd name="connsiteY23" fmla="*/ 1627758 h 1627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076730" h="1627758">
                    <a:moveTo>
                      <a:pt x="406939" y="0"/>
                    </a:moveTo>
                    <a:lnTo>
                      <a:pt x="2076730" y="0"/>
                    </a:lnTo>
                    <a:lnTo>
                      <a:pt x="1669792" y="1627758"/>
                    </a:lnTo>
                    <a:lnTo>
                      <a:pt x="0" y="1627758"/>
                    </a:lnTo>
                    <a:close/>
                  </a:path>
                </a:pathLst>
              </a:custGeom>
              <a:solidFill>
                <a:srgbClr val="D0A793"/>
              </a:solid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>
                  <a:solidFill>
                    <a:srgbClr val="AE6339"/>
                  </a:solidFill>
                  <a:latin typeface="思源宋体 Heavy" panose="02020900000000000000" pitchFamily="18" charset="-122"/>
                  <a:ea typeface="思源宋体 Heavy" panose="02020900000000000000" pitchFamily="18" charset="-122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547937" y="3059668"/>
                <a:ext cx="14398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dirty="0">
                    <a:solidFill>
                      <a:schemeClr val="bg1"/>
                    </a:solidFill>
                  </a:rPr>
                  <a:t>API</a:t>
                </a:r>
                <a:r>
                  <a:rPr lang="zh-CN" altLang="en-US" dirty="0">
                    <a:solidFill>
                      <a:schemeClr val="bg1"/>
                    </a:solidFill>
                  </a:rPr>
                  <a:t>接口设计</a:t>
                </a:r>
                <a:endParaRPr lang="en-US" altLang="zh-CN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Freeform 21"/>
            <p:cNvSpPr>
              <a:spLocks noEditPoints="1"/>
            </p:cNvSpPr>
            <p:nvPr/>
          </p:nvSpPr>
          <p:spPr bwMode="auto">
            <a:xfrm>
              <a:off x="2522867" y="2635960"/>
              <a:ext cx="612109" cy="601048"/>
            </a:xfrm>
            <a:custGeom>
              <a:avLst/>
              <a:gdLst>
                <a:gd name="T0" fmla="*/ 179 w 208"/>
                <a:gd name="T1" fmla="*/ 79 h 204"/>
                <a:gd name="T2" fmla="*/ 174 w 208"/>
                <a:gd name="T3" fmla="*/ 66 h 204"/>
                <a:gd name="T4" fmla="*/ 185 w 208"/>
                <a:gd name="T5" fmla="*/ 38 h 204"/>
                <a:gd name="T6" fmla="*/ 169 w 208"/>
                <a:gd name="T7" fmla="*/ 22 h 204"/>
                <a:gd name="T8" fmla="*/ 140 w 208"/>
                <a:gd name="T9" fmla="*/ 33 h 204"/>
                <a:gd name="T10" fmla="*/ 128 w 208"/>
                <a:gd name="T11" fmla="*/ 28 h 204"/>
                <a:gd name="T12" fmla="*/ 115 w 208"/>
                <a:gd name="T13" fmla="*/ 0 h 204"/>
                <a:gd name="T14" fmla="*/ 92 w 208"/>
                <a:gd name="T15" fmla="*/ 0 h 204"/>
                <a:gd name="T16" fmla="*/ 80 w 208"/>
                <a:gd name="T17" fmla="*/ 28 h 204"/>
                <a:gd name="T18" fmla="*/ 67 w 208"/>
                <a:gd name="T19" fmla="*/ 33 h 204"/>
                <a:gd name="T20" fmla="*/ 38 w 208"/>
                <a:gd name="T21" fmla="*/ 22 h 204"/>
                <a:gd name="T22" fmla="*/ 22 w 208"/>
                <a:gd name="T23" fmla="*/ 38 h 204"/>
                <a:gd name="T24" fmla="*/ 34 w 208"/>
                <a:gd name="T25" fmla="*/ 66 h 204"/>
                <a:gd name="T26" fmla="*/ 28 w 208"/>
                <a:gd name="T27" fmla="*/ 79 h 204"/>
                <a:gd name="T28" fmla="*/ 0 w 208"/>
                <a:gd name="T29" fmla="*/ 91 h 204"/>
                <a:gd name="T30" fmla="*/ 0 w 208"/>
                <a:gd name="T31" fmla="*/ 114 h 204"/>
                <a:gd name="T32" fmla="*/ 28 w 208"/>
                <a:gd name="T33" fmla="*/ 126 h 204"/>
                <a:gd name="T34" fmla="*/ 34 w 208"/>
                <a:gd name="T35" fmla="*/ 138 h 204"/>
                <a:gd name="T36" fmla="*/ 23 w 208"/>
                <a:gd name="T37" fmla="*/ 167 h 204"/>
                <a:gd name="T38" fmla="*/ 39 w 208"/>
                <a:gd name="T39" fmla="*/ 182 h 204"/>
                <a:gd name="T40" fmla="*/ 67 w 208"/>
                <a:gd name="T41" fmla="*/ 171 h 204"/>
                <a:gd name="T42" fmla="*/ 80 w 208"/>
                <a:gd name="T43" fmla="*/ 176 h 204"/>
                <a:gd name="T44" fmla="*/ 93 w 208"/>
                <a:gd name="T45" fmla="*/ 204 h 204"/>
                <a:gd name="T46" fmla="*/ 116 w 208"/>
                <a:gd name="T47" fmla="*/ 204 h 204"/>
                <a:gd name="T48" fmla="*/ 128 w 208"/>
                <a:gd name="T49" fmla="*/ 176 h 204"/>
                <a:gd name="T50" fmla="*/ 141 w 208"/>
                <a:gd name="T51" fmla="*/ 171 h 204"/>
                <a:gd name="T52" fmla="*/ 170 w 208"/>
                <a:gd name="T53" fmla="*/ 182 h 204"/>
                <a:gd name="T54" fmla="*/ 186 w 208"/>
                <a:gd name="T55" fmla="*/ 166 h 204"/>
                <a:gd name="T56" fmla="*/ 174 w 208"/>
                <a:gd name="T57" fmla="*/ 138 h 204"/>
                <a:gd name="T58" fmla="*/ 179 w 208"/>
                <a:gd name="T59" fmla="*/ 125 h 204"/>
                <a:gd name="T60" fmla="*/ 208 w 208"/>
                <a:gd name="T61" fmla="*/ 113 h 204"/>
                <a:gd name="T62" fmla="*/ 208 w 208"/>
                <a:gd name="T63" fmla="*/ 90 h 204"/>
                <a:gd name="T64" fmla="*/ 179 w 208"/>
                <a:gd name="T65" fmla="*/ 79 h 204"/>
                <a:gd name="T66" fmla="*/ 137 w 208"/>
                <a:gd name="T67" fmla="*/ 102 h 204"/>
                <a:gd name="T68" fmla="*/ 104 w 208"/>
                <a:gd name="T69" fmla="*/ 135 h 204"/>
                <a:gd name="T70" fmla="*/ 71 w 208"/>
                <a:gd name="T71" fmla="*/ 102 h 204"/>
                <a:gd name="T72" fmla="*/ 104 w 208"/>
                <a:gd name="T73" fmla="*/ 69 h 204"/>
                <a:gd name="T74" fmla="*/ 137 w 208"/>
                <a:gd name="T75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08" h="204">
                  <a:moveTo>
                    <a:pt x="179" y="79"/>
                  </a:moveTo>
                  <a:cubicBezTo>
                    <a:pt x="174" y="66"/>
                    <a:pt x="174" y="66"/>
                    <a:pt x="174" y="66"/>
                  </a:cubicBezTo>
                  <a:cubicBezTo>
                    <a:pt x="174" y="66"/>
                    <a:pt x="186" y="39"/>
                    <a:pt x="185" y="38"/>
                  </a:cubicBezTo>
                  <a:cubicBezTo>
                    <a:pt x="169" y="22"/>
                    <a:pt x="169" y="22"/>
                    <a:pt x="169" y="22"/>
                  </a:cubicBezTo>
                  <a:cubicBezTo>
                    <a:pt x="168" y="21"/>
                    <a:pt x="140" y="33"/>
                    <a:pt x="140" y="33"/>
                  </a:cubicBezTo>
                  <a:cubicBezTo>
                    <a:pt x="128" y="28"/>
                    <a:pt x="128" y="28"/>
                    <a:pt x="128" y="28"/>
                  </a:cubicBezTo>
                  <a:cubicBezTo>
                    <a:pt x="128" y="28"/>
                    <a:pt x="116" y="0"/>
                    <a:pt x="115" y="0"/>
                  </a:cubicBezTo>
                  <a:cubicBezTo>
                    <a:pt x="92" y="0"/>
                    <a:pt x="92" y="0"/>
                    <a:pt x="92" y="0"/>
                  </a:cubicBezTo>
                  <a:cubicBezTo>
                    <a:pt x="90" y="0"/>
                    <a:pt x="80" y="28"/>
                    <a:pt x="80" y="28"/>
                  </a:cubicBezTo>
                  <a:cubicBezTo>
                    <a:pt x="67" y="33"/>
                    <a:pt x="67" y="33"/>
                    <a:pt x="67" y="33"/>
                  </a:cubicBezTo>
                  <a:cubicBezTo>
                    <a:pt x="67" y="33"/>
                    <a:pt x="39" y="21"/>
                    <a:pt x="38" y="22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9"/>
                    <a:pt x="34" y="66"/>
                    <a:pt x="34" y="66"/>
                  </a:cubicBezTo>
                  <a:cubicBezTo>
                    <a:pt x="28" y="79"/>
                    <a:pt x="28" y="79"/>
                    <a:pt x="28" y="79"/>
                  </a:cubicBezTo>
                  <a:cubicBezTo>
                    <a:pt x="28" y="79"/>
                    <a:pt x="0" y="90"/>
                    <a:pt x="0" y="91"/>
                  </a:cubicBezTo>
                  <a:cubicBezTo>
                    <a:pt x="0" y="114"/>
                    <a:pt x="0" y="114"/>
                    <a:pt x="0" y="114"/>
                  </a:cubicBezTo>
                  <a:cubicBezTo>
                    <a:pt x="0" y="115"/>
                    <a:pt x="28" y="126"/>
                    <a:pt x="28" y="126"/>
                  </a:cubicBezTo>
                  <a:cubicBezTo>
                    <a:pt x="34" y="138"/>
                    <a:pt x="34" y="138"/>
                    <a:pt x="34" y="138"/>
                  </a:cubicBezTo>
                  <a:cubicBezTo>
                    <a:pt x="34" y="138"/>
                    <a:pt x="21" y="166"/>
                    <a:pt x="23" y="167"/>
                  </a:cubicBezTo>
                  <a:cubicBezTo>
                    <a:pt x="39" y="182"/>
                    <a:pt x="39" y="182"/>
                    <a:pt x="39" y="182"/>
                  </a:cubicBezTo>
                  <a:cubicBezTo>
                    <a:pt x="40" y="184"/>
                    <a:pt x="67" y="171"/>
                    <a:pt x="67" y="171"/>
                  </a:cubicBezTo>
                  <a:cubicBezTo>
                    <a:pt x="80" y="176"/>
                    <a:pt x="80" y="176"/>
                    <a:pt x="80" y="176"/>
                  </a:cubicBezTo>
                  <a:cubicBezTo>
                    <a:pt x="80" y="176"/>
                    <a:pt x="91" y="204"/>
                    <a:pt x="93" y="204"/>
                  </a:cubicBezTo>
                  <a:cubicBezTo>
                    <a:pt x="116" y="204"/>
                    <a:pt x="116" y="204"/>
                    <a:pt x="116" y="204"/>
                  </a:cubicBezTo>
                  <a:cubicBezTo>
                    <a:pt x="117" y="204"/>
                    <a:pt x="128" y="176"/>
                    <a:pt x="128" y="176"/>
                  </a:cubicBezTo>
                  <a:cubicBezTo>
                    <a:pt x="141" y="171"/>
                    <a:pt x="141" y="171"/>
                    <a:pt x="141" y="171"/>
                  </a:cubicBezTo>
                  <a:cubicBezTo>
                    <a:pt x="141" y="171"/>
                    <a:pt x="169" y="183"/>
                    <a:pt x="170" y="182"/>
                  </a:cubicBezTo>
                  <a:cubicBezTo>
                    <a:pt x="186" y="166"/>
                    <a:pt x="186" y="166"/>
                    <a:pt x="186" y="166"/>
                  </a:cubicBezTo>
                  <a:cubicBezTo>
                    <a:pt x="187" y="165"/>
                    <a:pt x="174" y="138"/>
                    <a:pt x="174" y="138"/>
                  </a:cubicBezTo>
                  <a:cubicBezTo>
                    <a:pt x="179" y="125"/>
                    <a:pt x="179" y="125"/>
                    <a:pt x="179" y="125"/>
                  </a:cubicBezTo>
                  <a:cubicBezTo>
                    <a:pt x="179" y="125"/>
                    <a:pt x="208" y="114"/>
                    <a:pt x="208" y="113"/>
                  </a:cubicBezTo>
                  <a:cubicBezTo>
                    <a:pt x="208" y="90"/>
                    <a:pt x="208" y="90"/>
                    <a:pt x="208" y="90"/>
                  </a:cubicBezTo>
                  <a:cubicBezTo>
                    <a:pt x="208" y="89"/>
                    <a:pt x="179" y="79"/>
                    <a:pt x="179" y="79"/>
                  </a:cubicBezTo>
                  <a:close/>
                  <a:moveTo>
                    <a:pt x="137" y="102"/>
                  </a:moveTo>
                  <a:cubicBezTo>
                    <a:pt x="137" y="120"/>
                    <a:pt x="122" y="135"/>
                    <a:pt x="104" y="135"/>
                  </a:cubicBezTo>
                  <a:cubicBezTo>
                    <a:pt x="86" y="135"/>
                    <a:pt x="71" y="120"/>
                    <a:pt x="71" y="102"/>
                  </a:cubicBezTo>
                  <a:cubicBezTo>
                    <a:pt x="71" y="84"/>
                    <a:pt x="86" y="69"/>
                    <a:pt x="104" y="69"/>
                  </a:cubicBezTo>
                  <a:cubicBezTo>
                    <a:pt x="122" y="69"/>
                    <a:pt x="137" y="84"/>
                    <a:pt x="137" y="1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 dirty="0">
                <a:solidFill>
                  <a:srgbClr val="2E3F55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  <a:cs typeface="+mn-ea"/>
                <a:sym typeface="+mn-lt"/>
              </a:endParaRP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DFD1ED7-FA76-4735-8930-75D177B0A99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266040" y="346255"/>
            <a:ext cx="6569009" cy="18746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3249B94-35ED-45B9-8909-15A7E0E150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266039" y="2384706"/>
            <a:ext cx="6569009" cy="41608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502712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接口设计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9174F1-41C1-41FB-9A12-21ACA0DE7D7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83074" y="710220"/>
            <a:ext cx="5287302" cy="167845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BDC1B41-8CF4-4221-900B-34074D78D40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83074" y="2524948"/>
            <a:ext cx="5287302" cy="17984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877706-9E86-406A-A1C9-FB2DD602868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799909" y="710220"/>
            <a:ext cx="5710101" cy="279678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2D0E808-C1A7-4092-B21F-F4E696EE3C67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283075" y="4469322"/>
            <a:ext cx="5287302" cy="179847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0BA376F-8ECD-49C9-845B-6D4C484BF52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799909" y="4108247"/>
            <a:ext cx="5710099" cy="182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952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502712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API</a:t>
              </a:r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接口设计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36476A-4C4A-4E89-B706-4E25765F681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1648700" y="1209675"/>
            <a:ext cx="8353425" cy="443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88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82880" y="99919"/>
            <a:ext cx="3528508" cy="461665"/>
            <a:chOff x="182880" y="99919"/>
            <a:chExt cx="3050526" cy="461665"/>
          </a:xfrm>
        </p:grpSpPr>
        <p:sp>
          <p:nvSpPr>
            <p:cNvPr id="10" name="文本框 9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前端实现</a:t>
              </a:r>
            </a:p>
          </p:txBody>
        </p:sp>
        <p:sp>
          <p:nvSpPr>
            <p:cNvPr id="2" name="椭圆 1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A8CCA378-A58B-45E9-B627-3FAB074027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44" y="802433"/>
            <a:ext cx="2730137" cy="567301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C1987D-3C3C-4577-9F16-94493F3536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124" y="802432"/>
            <a:ext cx="2730137" cy="567301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554B7A-529B-4D03-9B9D-FC7ACE7A69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756" y="802431"/>
            <a:ext cx="2738243" cy="568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82880" y="99919"/>
            <a:ext cx="3528508" cy="461665"/>
            <a:chOff x="182880" y="99919"/>
            <a:chExt cx="3050526" cy="461665"/>
          </a:xfrm>
        </p:grpSpPr>
        <p:sp>
          <p:nvSpPr>
            <p:cNvPr id="10" name="文本框 9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前端实现</a:t>
              </a:r>
            </a:p>
          </p:txBody>
        </p:sp>
        <p:sp>
          <p:nvSpPr>
            <p:cNvPr id="2" name="椭圆 1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3F3BE0A-9DDA-45F3-812F-23DD09BB171E}"/>
              </a:ext>
            </a:extLst>
          </p:cNvPr>
          <p:cNvSpPr txBox="1"/>
          <p:nvPr/>
        </p:nvSpPr>
        <p:spPr>
          <a:xfrm>
            <a:off x="1606602" y="1506272"/>
            <a:ext cx="8616950" cy="3269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ionic+vue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Ionic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：可使用封装好的前端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小组件，如按钮、导航栏、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popover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弹出框等，实现美观多样的界面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Vue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ionic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结合使用，实现页面间的跳转与传值、事件响应、与后端的数据交互等内部逻辑</a:t>
            </a:r>
          </a:p>
        </p:txBody>
      </p:sp>
    </p:spTree>
    <p:extLst>
      <p:ext uri="{BB962C8B-B14F-4D97-AF65-F5344CB8AC3E}">
        <p14:creationId xmlns:p14="http://schemas.microsoft.com/office/powerpoint/2010/main" val="1839951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10" name="文本框 9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后端实现</a:t>
              </a:r>
            </a:p>
          </p:txBody>
        </p:sp>
        <p:sp>
          <p:nvSpPr>
            <p:cNvPr id="2" name="椭圆 1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任意多边形: 形状 20"/>
          <p:cNvSpPr/>
          <p:nvPr/>
        </p:nvSpPr>
        <p:spPr>
          <a:xfrm flipH="1" flipV="1">
            <a:off x="8856134" y="3589866"/>
            <a:ext cx="3335866" cy="3279795"/>
          </a:xfrm>
          <a:custGeom>
            <a:avLst/>
            <a:gdLst>
              <a:gd name="connsiteX0" fmla="*/ 0 w 4052262"/>
              <a:gd name="connsiteY0" fmla="*/ 0 h 3016345"/>
              <a:gd name="connsiteX1" fmla="*/ 4052262 w 4052262"/>
              <a:gd name="connsiteY1" fmla="*/ 0 h 3016345"/>
              <a:gd name="connsiteX2" fmla="*/ 3939818 w 4052262"/>
              <a:gd name="connsiteY2" fmla="*/ 42030 h 3016345"/>
              <a:gd name="connsiteX3" fmla="*/ 2418080 w 4052262"/>
              <a:gd name="connsiteY3" fmla="*/ 762001 h 3016345"/>
              <a:gd name="connsiteX4" fmla="*/ 1503680 w 4052262"/>
              <a:gd name="connsiteY4" fmla="*/ 1899921 h 3016345"/>
              <a:gd name="connsiteX5" fmla="*/ 77467 w 4052262"/>
              <a:gd name="connsiteY5" fmla="*/ 3016345 h 3016345"/>
              <a:gd name="connsiteX6" fmla="*/ 0 w 4052262"/>
              <a:gd name="connsiteY6" fmla="*/ 3015938 h 3016345"/>
              <a:gd name="connsiteX7" fmla="*/ 0 w 4052262"/>
              <a:gd name="connsiteY7" fmla="*/ 0 h 301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2262" h="3016345">
                <a:moveTo>
                  <a:pt x="0" y="0"/>
                </a:moveTo>
                <a:lnTo>
                  <a:pt x="4052262" y="0"/>
                </a:lnTo>
                <a:lnTo>
                  <a:pt x="3939818" y="42030"/>
                </a:lnTo>
                <a:cubicBezTo>
                  <a:pt x="3347561" y="268447"/>
                  <a:pt x="2797810" y="501651"/>
                  <a:pt x="2418080" y="762001"/>
                </a:cubicBezTo>
                <a:cubicBezTo>
                  <a:pt x="1911773" y="1109134"/>
                  <a:pt x="1930400" y="1539241"/>
                  <a:pt x="1503680" y="1899921"/>
                </a:cubicBezTo>
                <a:cubicBezTo>
                  <a:pt x="1156970" y="2192974"/>
                  <a:pt x="472665" y="2961119"/>
                  <a:pt x="77467" y="3016345"/>
                </a:cubicBezTo>
                <a:lnTo>
                  <a:pt x="0" y="3015938"/>
                </a:lnTo>
                <a:lnTo>
                  <a:pt x="0" y="0"/>
                </a:lnTo>
                <a:close/>
              </a:path>
            </a:pathLst>
          </a:cu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11246606" y="5787138"/>
            <a:ext cx="172720" cy="172926"/>
          </a:xfrm>
          <a:prstGeom prst="ellipse">
            <a:avLst/>
          </a:prstGeom>
          <a:solidFill>
            <a:srgbClr val="EFE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738855" y="703839"/>
            <a:ext cx="86169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语言：Java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框架：SprintBoot + Hibernate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数据库：在Hibernate框架的基础上通过ORM技术实现Java与MySQL之间的交互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90080" y="1689994"/>
            <a:ext cx="4926965" cy="39528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010" y="3102869"/>
            <a:ext cx="2453640" cy="3276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125" y="1689994"/>
            <a:ext cx="2314575" cy="4915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10" name="文本框 9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日志</a:t>
              </a:r>
            </a:p>
          </p:txBody>
        </p:sp>
        <p:sp>
          <p:nvSpPr>
            <p:cNvPr id="2" name="椭圆 1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任意多边形: 形状 20"/>
          <p:cNvSpPr/>
          <p:nvPr/>
        </p:nvSpPr>
        <p:spPr>
          <a:xfrm flipH="1" flipV="1">
            <a:off x="8856134" y="3589866"/>
            <a:ext cx="3335866" cy="3279795"/>
          </a:xfrm>
          <a:custGeom>
            <a:avLst/>
            <a:gdLst>
              <a:gd name="connsiteX0" fmla="*/ 0 w 4052262"/>
              <a:gd name="connsiteY0" fmla="*/ 0 h 3016345"/>
              <a:gd name="connsiteX1" fmla="*/ 4052262 w 4052262"/>
              <a:gd name="connsiteY1" fmla="*/ 0 h 3016345"/>
              <a:gd name="connsiteX2" fmla="*/ 3939818 w 4052262"/>
              <a:gd name="connsiteY2" fmla="*/ 42030 h 3016345"/>
              <a:gd name="connsiteX3" fmla="*/ 2418080 w 4052262"/>
              <a:gd name="connsiteY3" fmla="*/ 762001 h 3016345"/>
              <a:gd name="connsiteX4" fmla="*/ 1503680 w 4052262"/>
              <a:gd name="connsiteY4" fmla="*/ 1899921 h 3016345"/>
              <a:gd name="connsiteX5" fmla="*/ 77467 w 4052262"/>
              <a:gd name="connsiteY5" fmla="*/ 3016345 h 3016345"/>
              <a:gd name="connsiteX6" fmla="*/ 0 w 4052262"/>
              <a:gd name="connsiteY6" fmla="*/ 3015938 h 3016345"/>
              <a:gd name="connsiteX7" fmla="*/ 0 w 4052262"/>
              <a:gd name="connsiteY7" fmla="*/ 0 h 301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2262" h="3016345">
                <a:moveTo>
                  <a:pt x="0" y="0"/>
                </a:moveTo>
                <a:lnTo>
                  <a:pt x="4052262" y="0"/>
                </a:lnTo>
                <a:lnTo>
                  <a:pt x="3939818" y="42030"/>
                </a:lnTo>
                <a:cubicBezTo>
                  <a:pt x="3347561" y="268447"/>
                  <a:pt x="2797810" y="501651"/>
                  <a:pt x="2418080" y="762001"/>
                </a:cubicBezTo>
                <a:cubicBezTo>
                  <a:pt x="1911773" y="1109134"/>
                  <a:pt x="1930400" y="1539241"/>
                  <a:pt x="1503680" y="1899921"/>
                </a:cubicBezTo>
                <a:cubicBezTo>
                  <a:pt x="1156970" y="2192974"/>
                  <a:pt x="472665" y="2961119"/>
                  <a:pt x="77467" y="3016345"/>
                </a:cubicBezTo>
                <a:lnTo>
                  <a:pt x="0" y="3015938"/>
                </a:lnTo>
                <a:lnTo>
                  <a:pt x="0" y="0"/>
                </a:lnTo>
                <a:close/>
              </a:path>
            </a:pathLst>
          </a:cu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11246606" y="5787138"/>
            <a:ext cx="172720" cy="172926"/>
          </a:xfrm>
          <a:prstGeom prst="ellipse">
            <a:avLst/>
          </a:prstGeom>
          <a:solidFill>
            <a:srgbClr val="EFE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2D87BBD-A326-AF4C-97F5-DF5A88276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965" y="1949969"/>
            <a:ext cx="10918070" cy="327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5955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78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1590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000410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832375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431177" y="627017"/>
            <a:ext cx="5207726" cy="4943937"/>
            <a:chOff x="3431177" y="627017"/>
            <a:chExt cx="5207726" cy="4943937"/>
          </a:xfrm>
        </p:grpSpPr>
        <p:sp>
          <p:nvSpPr>
            <p:cNvPr id="17" name="椭圆 16"/>
            <p:cNvSpPr/>
            <p:nvPr/>
          </p:nvSpPr>
          <p:spPr>
            <a:xfrm>
              <a:off x="4007031" y="1287045"/>
              <a:ext cx="4177938" cy="4283909"/>
            </a:xfrm>
            <a:prstGeom prst="ellipse">
              <a:avLst/>
            </a:prstGeom>
            <a:noFill/>
            <a:ln w="38100">
              <a:gradFill>
                <a:gsLst>
                  <a:gs pos="100000">
                    <a:srgbClr val="AE6339"/>
                  </a:gs>
                  <a:gs pos="65000">
                    <a:srgbClr val="EFE6DD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8" name="矩形 17"/>
            <p:cNvSpPr/>
            <p:nvPr/>
          </p:nvSpPr>
          <p:spPr>
            <a:xfrm>
              <a:off x="3431177" y="627017"/>
              <a:ext cx="5207726" cy="280198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489269" y="1775320"/>
              <a:ext cx="3213463" cy="3307361"/>
              <a:chOff x="4489269" y="1775320"/>
              <a:chExt cx="3213463" cy="330736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489269" y="1775320"/>
                <a:ext cx="3213463" cy="330736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 ME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SOFTWARE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 SPECIFICATION</a:t>
                </a:r>
                <a:endParaRPr lang="zh-CN" altLang="en-US" sz="4400" b="1" dirty="0">
                  <a:solidFill>
                    <a:srgbClr val="AE6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4693919" y="2859613"/>
                <a:ext cx="2804161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 03</a:t>
                </a:r>
              </a:p>
              <a:p>
                <a:pPr algn="ctr"/>
                <a:r>
                  <a:rPr lang="zh-CN" altLang="en-US" sz="3600" b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rPr>
                  <a:t>开发过程</a:t>
                </a:r>
              </a:p>
            </p:txBody>
          </p:sp>
        </p:grpSp>
      </p:grpSp>
      <p:sp>
        <p:nvSpPr>
          <p:cNvPr id="20" name="矩形 19"/>
          <p:cNvSpPr/>
          <p:nvPr/>
        </p:nvSpPr>
        <p:spPr>
          <a:xfrm rot="5400000">
            <a:off x="6001293" y="599985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5940334" y="-67762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9BEAF5D-AC4E-FB4A-B130-F3D3F2861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848" y="374940"/>
            <a:ext cx="9409272" cy="4552510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看板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5BD468F-28E1-924B-BCA1-066B31FB44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167" y="1415697"/>
            <a:ext cx="9349061" cy="4405745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7220A646-ECD0-4292-962A-ACAF75B7C32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06"/>
          <a:stretch/>
        </p:blipFill>
        <p:spPr>
          <a:xfrm>
            <a:off x="398002" y="2702754"/>
            <a:ext cx="7120445" cy="3991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开发流程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406072" y="3006269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</a:rPr>
                <a:t>milestone1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816925" y="2529444"/>
            <a:ext cx="8799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完成基础的注册登录功能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完成显示账本、资产等功能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完成数据库的初步设计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</a:t>
            </a:r>
            <a:r>
              <a:rPr kumimoji="1" lang="en-US" altLang="zh-CN" sz="2800" b="1" dirty="0" err="1"/>
              <a:t>api</a:t>
            </a:r>
            <a:r>
              <a:rPr kumimoji="1" lang="zh-CN" altLang="en-US" sz="2800" b="1" dirty="0"/>
              <a:t>的初步设计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34625554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开发流程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406072" y="3006269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</a:rPr>
                <a:t>milestone2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816925" y="2529444"/>
            <a:ext cx="87996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完成账本添加、账单添加、共享账本等功能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完成修改资产等功能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完成账本结算功能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</a:t>
            </a:r>
            <a:r>
              <a:rPr kumimoji="1" lang="en-US" altLang="zh-CN" sz="2800" b="1" dirty="0" err="1"/>
              <a:t>api</a:t>
            </a:r>
            <a:r>
              <a:rPr kumimoji="1" lang="zh-CN" altLang="en-US" sz="2800" b="1" dirty="0"/>
              <a:t>的修订和实现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完成日志功能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16335352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开发流程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406072" y="3006269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</a:rPr>
                <a:t>milestone3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816925" y="2529444"/>
            <a:ext cx="8799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完成账本修改等功能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完成页面刷新和跳转等功能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完成查看参与者功能</a:t>
            </a: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endParaRPr kumimoji="1" lang="en-US" altLang="zh-CN" sz="2800" b="1" dirty="0"/>
          </a:p>
          <a:p>
            <a:pPr marL="457200" indent="-457200">
              <a:buFont typeface="Wingdings" pitchFamily="2" charset="2"/>
              <a:buChar char="l"/>
            </a:pPr>
            <a:r>
              <a:rPr kumimoji="1" lang="zh-CN" altLang="en-US" sz="2800" b="1" dirty="0"/>
              <a:t>完成新增</a:t>
            </a:r>
            <a:r>
              <a:rPr kumimoji="1" lang="en-US" altLang="zh-CN" sz="2800" b="1" dirty="0" err="1"/>
              <a:t>api</a:t>
            </a:r>
            <a:r>
              <a:rPr kumimoji="1" lang="zh-CN" altLang="en-US" sz="2800" b="1" dirty="0"/>
              <a:t>的实现</a:t>
            </a:r>
            <a:endParaRPr kumimoji="1" lang="en-US" altLang="zh-CN" sz="2800" b="1" dirty="0"/>
          </a:p>
        </p:txBody>
      </p:sp>
    </p:spTree>
    <p:extLst>
      <p:ext uri="{BB962C8B-B14F-4D97-AF65-F5344CB8AC3E}">
        <p14:creationId xmlns:p14="http://schemas.microsoft.com/office/powerpoint/2010/main" val="703964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提交记录 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4FA644-E878-604F-A362-A7FE913A3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292" y="1857295"/>
            <a:ext cx="10660083" cy="278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037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分枝图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126A14-715F-684A-9CF5-03C01471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533" y="837692"/>
            <a:ext cx="9391495" cy="569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5676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78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1590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2000410" y="2665557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10832375" y="3444238"/>
            <a:ext cx="1357447" cy="0"/>
          </a:xfrm>
          <a:prstGeom prst="line">
            <a:avLst/>
          </a:prstGeom>
          <a:ln w="28575">
            <a:solidFill>
              <a:srgbClr val="2E3F55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3431177" y="627017"/>
            <a:ext cx="5207726" cy="4943937"/>
            <a:chOff x="3431177" y="627017"/>
            <a:chExt cx="5207726" cy="4943937"/>
          </a:xfrm>
        </p:grpSpPr>
        <p:sp>
          <p:nvSpPr>
            <p:cNvPr id="17" name="椭圆 16"/>
            <p:cNvSpPr/>
            <p:nvPr/>
          </p:nvSpPr>
          <p:spPr>
            <a:xfrm>
              <a:off x="4007031" y="1287045"/>
              <a:ext cx="4177938" cy="4283909"/>
            </a:xfrm>
            <a:prstGeom prst="ellipse">
              <a:avLst/>
            </a:prstGeom>
            <a:noFill/>
            <a:ln w="38100">
              <a:gradFill>
                <a:gsLst>
                  <a:gs pos="100000">
                    <a:srgbClr val="AE6339"/>
                  </a:gs>
                  <a:gs pos="65000">
                    <a:srgbClr val="EFE6DD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 useBgFill="1">
          <p:nvSpPr>
            <p:cNvPr id="18" name="矩形 17"/>
            <p:cNvSpPr/>
            <p:nvPr/>
          </p:nvSpPr>
          <p:spPr>
            <a:xfrm>
              <a:off x="3431177" y="627017"/>
              <a:ext cx="5207726" cy="280198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489269" y="1775320"/>
              <a:ext cx="3213463" cy="3307361"/>
              <a:chOff x="4489269" y="1775320"/>
              <a:chExt cx="3213463" cy="3307361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4489269" y="1775320"/>
                <a:ext cx="3213463" cy="3307361"/>
              </a:xfrm>
              <a:prstGeom prst="rect">
                <a:avLst/>
              </a:prstGeom>
              <a:noFill/>
            </p:spPr>
            <p:txBody>
              <a:bodyPr wrap="square" rtlCol="0">
                <a:prstTxWarp prst="textCircle">
                  <a:avLst/>
                </a:prstTxWarp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HELP ME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SOFTWARE</a:t>
                </a:r>
                <a:r>
                  <a:rPr lang="zh-CN" altLang="en-US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44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REQUIREMENT SPECIFICATION</a:t>
                </a:r>
                <a:endParaRPr lang="zh-CN" altLang="en-US" sz="4400" b="1" dirty="0">
                  <a:solidFill>
                    <a:srgbClr val="AE633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4693919" y="2859613"/>
                <a:ext cx="2804161" cy="1138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3200" b="1" dirty="0">
                    <a:solidFill>
                      <a:srgbClr val="AE633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 03</a:t>
                </a:r>
              </a:p>
              <a:p>
                <a:pPr algn="ctr"/>
                <a:r>
                  <a:rPr lang="zh-CN" altLang="en-US" sz="3600" b="1" dirty="0">
                    <a:solidFill>
                      <a:srgbClr val="AE6339"/>
                    </a:solidFill>
                    <a:latin typeface="思源宋体 Heavy" panose="02020900000000000000" pitchFamily="18" charset="-122"/>
                    <a:ea typeface="思源宋体 Heavy" panose="02020900000000000000" pitchFamily="18" charset="-122"/>
                  </a:rPr>
                  <a:t>项目反思</a:t>
                </a:r>
              </a:p>
            </p:txBody>
          </p:sp>
        </p:grpSp>
      </p:grpSp>
      <p:sp>
        <p:nvSpPr>
          <p:cNvPr id="20" name="矩形 19"/>
          <p:cNvSpPr/>
          <p:nvPr/>
        </p:nvSpPr>
        <p:spPr>
          <a:xfrm rot="5400000">
            <a:off x="6001293" y="599985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5400000">
            <a:off x="5940334" y="-677622"/>
            <a:ext cx="189412" cy="1526884"/>
          </a:xfrm>
          <a:prstGeom prst="rect">
            <a:avLst/>
          </a:pr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169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项目完成情况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834580" y="3006268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安全性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816925" y="2529444"/>
            <a:ext cx="87996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密码传输和存储使用</a:t>
            </a:r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md5</a:t>
            </a: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加密，保证了安全性</a:t>
            </a: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有完善的日志，能够追溯操作</a:t>
            </a: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kumimoji="1"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cookies</a:t>
            </a:r>
            <a:r>
              <a:rPr kumimoji="1" lang="zh-CN" altLang="en-US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来记录用户登录状态</a:t>
            </a:r>
            <a:endParaRPr kumimoji="1" lang="en-US" altLang="zh-CN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661522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项目完成情况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406071" y="3006268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存在的问题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096724" y="2380756"/>
            <a:ext cx="9998550" cy="325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开发初期没有有效使用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来合作，后期虽然使用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来进行代码和项目的管理，但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issue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等的完成情况没有进行及时更新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由于首次使用前后端分离，所以项目开发初期在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接口的设定上产生了一些分歧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不能使用系统的返回操作，如系统返回键</a:t>
            </a:r>
            <a:endParaRPr kumimoji="1"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40619531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82880" y="99919"/>
            <a:ext cx="3050526" cy="461665"/>
            <a:chOff x="182880" y="99919"/>
            <a:chExt cx="3050526" cy="461665"/>
          </a:xfrm>
        </p:grpSpPr>
        <p:sp>
          <p:nvSpPr>
            <p:cNvPr id="5" name="文本框 4"/>
            <p:cNvSpPr txBox="1"/>
            <p:nvPr/>
          </p:nvSpPr>
          <p:spPr>
            <a:xfrm>
              <a:off x="357400" y="99919"/>
              <a:ext cx="2876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i="1" dirty="0">
                  <a:solidFill>
                    <a:srgbClr val="2E3F55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项目完成情况</a:t>
              </a:r>
            </a:p>
          </p:txBody>
        </p:sp>
        <p:sp>
          <p:nvSpPr>
            <p:cNvPr id="6" name="椭圆 5"/>
            <p:cNvSpPr/>
            <p:nvPr/>
          </p:nvSpPr>
          <p:spPr>
            <a:xfrm>
              <a:off x="182880" y="243492"/>
              <a:ext cx="174520" cy="174520"/>
            </a:xfrm>
            <a:prstGeom prst="ellipse">
              <a:avLst/>
            </a:prstGeom>
            <a:solidFill>
              <a:srgbClr val="2E3F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任意多边形: 形状 25"/>
          <p:cNvSpPr/>
          <p:nvPr/>
        </p:nvSpPr>
        <p:spPr>
          <a:xfrm flipH="1">
            <a:off x="1382817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1510010" y="5452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1699C1E-D828-1D47-87BC-982868D61996}"/>
              </a:ext>
            </a:extLst>
          </p:cNvPr>
          <p:cNvGrpSpPr/>
          <p:nvPr/>
        </p:nvGrpSpPr>
        <p:grpSpPr>
          <a:xfrm>
            <a:off x="4213274" y="980313"/>
            <a:ext cx="3765452" cy="789670"/>
            <a:chOff x="6385120" y="2842266"/>
            <a:chExt cx="3765452" cy="789670"/>
          </a:xfrm>
        </p:grpSpPr>
        <p:sp>
          <p:nvSpPr>
            <p:cNvPr id="13" name="ïsḻïḑê">
              <a:extLst>
                <a:ext uri="{FF2B5EF4-FFF2-40B4-BE49-F238E27FC236}">
                  <a16:creationId xmlns:a16="http://schemas.microsoft.com/office/drawing/2014/main" id="{53B7FC7D-8355-B640-87DA-BCB269024EEA}"/>
                </a:ext>
              </a:extLst>
            </p:cNvPr>
            <p:cNvSpPr/>
            <p:nvPr/>
          </p:nvSpPr>
          <p:spPr>
            <a:xfrm>
              <a:off x="6385120" y="2842266"/>
              <a:ext cx="3765452" cy="789670"/>
            </a:xfrm>
            <a:custGeom>
              <a:avLst/>
              <a:gdLst>
                <a:gd name="connsiteX0" fmla="*/ 9176008 w 10845799"/>
                <a:gd name="connsiteY0" fmla="*/ 0 h 1627758"/>
                <a:gd name="connsiteX1" fmla="*/ 10845799 w 10845799"/>
                <a:gd name="connsiteY1" fmla="*/ 0 h 1627758"/>
                <a:gd name="connsiteX2" fmla="*/ 10438860 w 10845799"/>
                <a:gd name="connsiteY2" fmla="*/ 1627758 h 1627758"/>
                <a:gd name="connsiteX3" fmla="*/ 8769068 w 10845799"/>
                <a:gd name="connsiteY3" fmla="*/ 1627758 h 1627758"/>
                <a:gd name="connsiteX4" fmla="*/ 7422195 w 10845799"/>
                <a:gd name="connsiteY4" fmla="*/ 0 h 1627758"/>
                <a:gd name="connsiteX5" fmla="*/ 9091986 w 10845799"/>
                <a:gd name="connsiteY5" fmla="*/ 0 h 1627758"/>
                <a:gd name="connsiteX6" fmla="*/ 8685047 w 10845799"/>
                <a:gd name="connsiteY6" fmla="*/ 1627758 h 1627758"/>
                <a:gd name="connsiteX7" fmla="*/ 7015255 w 10845799"/>
                <a:gd name="connsiteY7" fmla="*/ 1627758 h 1627758"/>
                <a:gd name="connsiteX8" fmla="*/ 5668381 w 10845799"/>
                <a:gd name="connsiteY8" fmla="*/ 0 h 1627758"/>
                <a:gd name="connsiteX9" fmla="*/ 7338172 w 10845799"/>
                <a:gd name="connsiteY9" fmla="*/ 0 h 1627758"/>
                <a:gd name="connsiteX10" fmla="*/ 6931233 w 10845799"/>
                <a:gd name="connsiteY10" fmla="*/ 1627758 h 1627758"/>
                <a:gd name="connsiteX11" fmla="*/ 5261441 w 10845799"/>
                <a:gd name="connsiteY11" fmla="*/ 1627758 h 1627758"/>
                <a:gd name="connsiteX12" fmla="*/ 3914567 w 10845799"/>
                <a:gd name="connsiteY12" fmla="*/ 0 h 1627758"/>
                <a:gd name="connsiteX13" fmla="*/ 5584358 w 10845799"/>
                <a:gd name="connsiteY13" fmla="*/ 0 h 1627758"/>
                <a:gd name="connsiteX14" fmla="*/ 5177419 w 10845799"/>
                <a:gd name="connsiteY14" fmla="*/ 1627758 h 1627758"/>
                <a:gd name="connsiteX15" fmla="*/ 3507628 w 10845799"/>
                <a:gd name="connsiteY15" fmla="*/ 1627758 h 1627758"/>
                <a:gd name="connsiteX16" fmla="*/ 2160753 w 10845799"/>
                <a:gd name="connsiteY16" fmla="*/ 0 h 1627758"/>
                <a:gd name="connsiteX17" fmla="*/ 3830544 w 10845799"/>
                <a:gd name="connsiteY17" fmla="*/ 0 h 1627758"/>
                <a:gd name="connsiteX18" fmla="*/ 3423606 w 10845799"/>
                <a:gd name="connsiteY18" fmla="*/ 1627758 h 1627758"/>
                <a:gd name="connsiteX19" fmla="*/ 1753814 w 10845799"/>
                <a:gd name="connsiteY19" fmla="*/ 1627758 h 1627758"/>
                <a:gd name="connsiteX20" fmla="*/ 406940 w 10845799"/>
                <a:gd name="connsiteY20" fmla="*/ 0 h 1627758"/>
                <a:gd name="connsiteX21" fmla="*/ 2076730 w 10845799"/>
                <a:gd name="connsiteY21" fmla="*/ 0 h 1627758"/>
                <a:gd name="connsiteX22" fmla="*/ 1669792 w 10845799"/>
                <a:gd name="connsiteY22" fmla="*/ 1627758 h 1627758"/>
                <a:gd name="connsiteX23" fmla="*/ 0 w 10845799"/>
                <a:gd name="connsiteY23" fmla="*/ 1627758 h 1627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76730" h="1627758">
                  <a:moveTo>
                    <a:pt x="406939" y="0"/>
                  </a:moveTo>
                  <a:lnTo>
                    <a:pt x="2076730" y="0"/>
                  </a:lnTo>
                  <a:lnTo>
                    <a:pt x="1669792" y="1627758"/>
                  </a:lnTo>
                  <a:lnTo>
                    <a:pt x="0" y="1627758"/>
                  </a:lnTo>
                  <a:close/>
                </a:path>
              </a:pathLst>
            </a:custGeom>
            <a:solidFill>
              <a:srgbClr val="D0A79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dirty="0">
                <a:solidFill>
                  <a:srgbClr val="AE6339"/>
                </a:solidFill>
                <a:latin typeface="思源宋体 Heavy" panose="02020900000000000000" pitchFamily="18" charset="-122"/>
                <a:ea typeface="思源宋体 Heavy" panose="02020900000000000000" pitchFamily="18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2735056-4C29-E446-AFDF-63655B32048C}"/>
                </a:ext>
              </a:extLst>
            </p:cNvPr>
            <p:cNvSpPr/>
            <p:nvPr/>
          </p:nvSpPr>
          <p:spPr>
            <a:xfrm>
              <a:off x="7406071" y="3006268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</a:rPr>
                <a:t>总结与反思</a:t>
              </a:r>
              <a:endParaRPr lang="en-US" altLang="zh-CN" sz="2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9B8BE147-97B8-A64C-A96B-F1C95081CC90}"/>
              </a:ext>
            </a:extLst>
          </p:cNvPr>
          <p:cNvSpPr txBox="1"/>
          <p:nvPr/>
        </p:nvSpPr>
        <p:spPr>
          <a:xfrm>
            <a:off x="1382817" y="2486472"/>
            <a:ext cx="9103095" cy="3247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较好地实现了前后端分离，进行了较为明确的分工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开发过程中存在一些沟通上的问题，但基本贯彻了敏捷开发的思想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还可以加入更多的功能使用户体验感更好，例如找回密码、加入共享账本时需要双方同意等等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19508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/>
        </p:nvSpPr>
        <p:spPr>
          <a:xfrm>
            <a:off x="0" y="-226274"/>
            <a:ext cx="4052262" cy="3016345"/>
          </a:xfrm>
          <a:custGeom>
            <a:avLst/>
            <a:gdLst>
              <a:gd name="connsiteX0" fmla="*/ 0 w 4052262"/>
              <a:gd name="connsiteY0" fmla="*/ 0 h 3016345"/>
              <a:gd name="connsiteX1" fmla="*/ 4052262 w 4052262"/>
              <a:gd name="connsiteY1" fmla="*/ 0 h 3016345"/>
              <a:gd name="connsiteX2" fmla="*/ 3939818 w 4052262"/>
              <a:gd name="connsiteY2" fmla="*/ 42030 h 3016345"/>
              <a:gd name="connsiteX3" fmla="*/ 2418080 w 4052262"/>
              <a:gd name="connsiteY3" fmla="*/ 762001 h 3016345"/>
              <a:gd name="connsiteX4" fmla="*/ 1503680 w 4052262"/>
              <a:gd name="connsiteY4" fmla="*/ 1899921 h 3016345"/>
              <a:gd name="connsiteX5" fmla="*/ 77467 w 4052262"/>
              <a:gd name="connsiteY5" fmla="*/ 3016345 h 3016345"/>
              <a:gd name="connsiteX6" fmla="*/ 0 w 4052262"/>
              <a:gd name="connsiteY6" fmla="*/ 3015938 h 3016345"/>
              <a:gd name="connsiteX7" fmla="*/ 0 w 4052262"/>
              <a:gd name="connsiteY7" fmla="*/ 0 h 3016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052262" h="3016345">
                <a:moveTo>
                  <a:pt x="0" y="0"/>
                </a:moveTo>
                <a:lnTo>
                  <a:pt x="4052262" y="0"/>
                </a:lnTo>
                <a:lnTo>
                  <a:pt x="3939818" y="42030"/>
                </a:lnTo>
                <a:cubicBezTo>
                  <a:pt x="3347561" y="268447"/>
                  <a:pt x="2797810" y="501651"/>
                  <a:pt x="2418080" y="762001"/>
                </a:cubicBezTo>
                <a:cubicBezTo>
                  <a:pt x="1911773" y="1109134"/>
                  <a:pt x="1930400" y="1539241"/>
                  <a:pt x="1503680" y="1899921"/>
                </a:cubicBezTo>
                <a:cubicBezTo>
                  <a:pt x="1156970" y="2192974"/>
                  <a:pt x="472665" y="2961119"/>
                  <a:pt x="77467" y="3016345"/>
                </a:cubicBezTo>
                <a:lnTo>
                  <a:pt x="0" y="3015938"/>
                </a:lnTo>
                <a:lnTo>
                  <a:pt x="0" y="0"/>
                </a:lnTo>
                <a:close/>
              </a:path>
            </a:pathLst>
          </a:custGeom>
          <a:solidFill>
            <a:srgbClr val="2E3F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>
            <a:off x="9993672" y="2964606"/>
            <a:ext cx="2198329" cy="3893394"/>
          </a:xfrm>
          <a:custGeom>
            <a:avLst/>
            <a:gdLst>
              <a:gd name="connsiteX0" fmla="*/ 2198329 w 2198329"/>
              <a:gd name="connsiteY0" fmla="*/ 0 h 3893394"/>
              <a:gd name="connsiteX1" fmla="*/ 2198329 w 2198329"/>
              <a:gd name="connsiteY1" fmla="*/ 3893394 h 3893394"/>
              <a:gd name="connsiteX2" fmla="*/ 0 w 2198329"/>
              <a:gd name="connsiteY2" fmla="*/ 3893394 h 3893394"/>
              <a:gd name="connsiteX3" fmla="*/ 35142 w 2198329"/>
              <a:gd name="connsiteY3" fmla="*/ 3797340 h 3893394"/>
              <a:gd name="connsiteX4" fmla="*/ 1060409 w 2198329"/>
              <a:gd name="connsiteY4" fmla="*/ 1830914 h 3893394"/>
              <a:gd name="connsiteX5" fmla="*/ 2183125 w 2198329"/>
              <a:gd name="connsiteY5" fmla="*/ 16110 h 3893394"/>
              <a:gd name="connsiteX6" fmla="*/ 2198329 w 2198329"/>
              <a:gd name="connsiteY6" fmla="*/ 0 h 3893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98329" h="3893394">
                <a:moveTo>
                  <a:pt x="2198329" y="0"/>
                </a:moveTo>
                <a:lnTo>
                  <a:pt x="2198329" y="3893394"/>
                </a:lnTo>
                <a:lnTo>
                  <a:pt x="0" y="3893394"/>
                </a:lnTo>
                <a:lnTo>
                  <a:pt x="35142" y="3797340"/>
                </a:lnTo>
                <a:cubicBezTo>
                  <a:pt x="238825" y="3265353"/>
                  <a:pt x="678139" y="2429508"/>
                  <a:pt x="1060409" y="1830914"/>
                </a:cubicBezTo>
                <a:cubicBezTo>
                  <a:pt x="1360764" y="1360591"/>
                  <a:pt x="1823593" y="417252"/>
                  <a:pt x="2183125" y="16110"/>
                </a:cubicBezTo>
                <a:lnTo>
                  <a:pt x="2198329" y="0"/>
                </a:lnTo>
                <a:close/>
              </a:path>
            </a:pathLst>
          </a:custGeom>
          <a:solidFill>
            <a:srgbClr val="AE63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任意多边形: 形状 38"/>
          <p:cNvSpPr/>
          <p:nvPr/>
        </p:nvSpPr>
        <p:spPr>
          <a:xfrm>
            <a:off x="2227226" y="6530831"/>
            <a:ext cx="7766446" cy="327169"/>
          </a:xfrm>
          <a:custGeom>
            <a:avLst/>
            <a:gdLst>
              <a:gd name="connsiteX0" fmla="*/ 2552410 w 7766446"/>
              <a:gd name="connsiteY0" fmla="*/ 217 h 327169"/>
              <a:gd name="connsiteX1" fmla="*/ 4402755 w 7766446"/>
              <a:gd name="connsiteY1" fmla="*/ 93489 h 327169"/>
              <a:gd name="connsiteX2" fmla="*/ 5784515 w 7766446"/>
              <a:gd name="connsiteY2" fmla="*/ 144289 h 327169"/>
              <a:gd name="connsiteX3" fmla="*/ 6861475 w 7766446"/>
              <a:gd name="connsiteY3" fmla="*/ 32529 h 327169"/>
              <a:gd name="connsiteX4" fmla="*/ 7636175 w 7766446"/>
              <a:gd name="connsiteY4" fmla="*/ 271289 h 327169"/>
              <a:gd name="connsiteX5" fmla="*/ 7766446 w 7766446"/>
              <a:gd name="connsiteY5" fmla="*/ 327169 h 327169"/>
              <a:gd name="connsiteX6" fmla="*/ 0 w 7766446"/>
              <a:gd name="connsiteY6" fmla="*/ 327169 h 327169"/>
              <a:gd name="connsiteX7" fmla="*/ 32753 w 7766446"/>
              <a:gd name="connsiteY7" fmla="*/ 318531 h 327169"/>
              <a:gd name="connsiteX8" fmla="*/ 2045635 w 7766446"/>
              <a:gd name="connsiteY8" fmla="*/ 12209 h 327169"/>
              <a:gd name="connsiteX9" fmla="*/ 2552410 w 7766446"/>
              <a:gd name="connsiteY9" fmla="*/ 217 h 327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66446" h="327169">
                <a:moveTo>
                  <a:pt x="2552410" y="217"/>
                </a:moveTo>
                <a:cubicBezTo>
                  <a:pt x="3360905" y="5178"/>
                  <a:pt x="4402755" y="93489"/>
                  <a:pt x="4402755" y="93489"/>
                </a:cubicBezTo>
                <a:cubicBezTo>
                  <a:pt x="5025902" y="115502"/>
                  <a:pt x="5374728" y="154449"/>
                  <a:pt x="5784515" y="144289"/>
                </a:cubicBezTo>
                <a:cubicBezTo>
                  <a:pt x="6194302" y="134129"/>
                  <a:pt x="6456768" y="-43671"/>
                  <a:pt x="6861475" y="32529"/>
                </a:cubicBezTo>
                <a:cubicBezTo>
                  <a:pt x="7063828" y="70629"/>
                  <a:pt x="7366512" y="163339"/>
                  <a:pt x="7636175" y="271289"/>
                </a:cubicBezTo>
                <a:lnTo>
                  <a:pt x="7766446" y="327169"/>
                </a:lnTo>
                <a:lnTo>
                  <a:pt x="0" y="327169"/>
                </a:lnTo>
                <a:lnTo>
                  <a:pt x="32753" y="318531"/>
                </a:lnTo>
                <a:cubicBezTo>
                  <a:pt x="557413" y="186940"/>
                  <a:pt x="1412752" y="54860"/>
                  <a:pt x="2045635" y="12209"/>
                </a:cubicBezTo>
                <a:cubicBezTo>
                  <a:pt x="2191685" y="2367"/>
                  <a:pt x="2365834" y="-927"/>
                  <a:pt x="2552410" y="217"/>
                </a:cubicBezTo>
                <a:close/>
              </a:path>
            </a:pathLst>
          </a:custGeom>
          <a:solidFill>
            <a:srgbClr val="D4B5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2227226" y="2641092"/>
            <a:ext cx="1006056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b="1" dirty="0">
                <a:solidFill>
                  <a:srgbClr val="2E3F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谢谢大家</a:t>
            </a:r>
            <a:endParaRPr lang="zh-CN" altLang="en-US" sz="6000" dirty="0">
              <a:solidFill>
                <a:srgbClr val="2E3F55"/>
              </a:solidFill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333864" y="4385735"/>
            <a:ext cx="6096000" cy="369332"/>
            <a:chOff x="2333864" y="4385735"/>
            <a:chExt cx="6096000" cy="369332"/>
          </a:xfrm>
        </p:grpSpPr>
        <p:sp>
          <p:nvSpPr>
            <p:cNvPr id="52" name="矩形 51"/>
            <p:cNvSpPr/>
            <p:nvPr/>
          </p:nvSpPr>
          <p:spPr>
            <a:xfrm>
              <a:off x="2333864" y="4385735"/>
              <a:ext cx="6096000" cy="36933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zh-CN" altLang="en-US" b="1" dirty="0">
                  <a:latin typeface="宋体" panose="02010600030101010101" pitchFamily="2" charset="-122"/>
                  <a:ea typeface="宋体" panose="02010600030101010101" pitchFamily="2" charset="-122"/>
                  <a:cs typeface="Segoe UI Semilight" panose="020B0402040204020203" pitchFamily="34" charset="0"/>
                </a:rPr>
                <a:t>南鸽难鸽组 </a:t>
              </a:r>
              <a:r>
                <a:rPr lang="en-US" altLang="zh-CN" b="1" dirty="0">
                  <a:latin typeface="宋体" panose="02010600030101010101" pitchFamily="2" charset="-122"/>
                  <a:ea typeface="宋体" panose="02010600030101010101" pitchFamily="2" charset="-122"/>
                  <a:cs typeface="Segoe UI Semilight" panose="020B0402040204020203" pitchFamily="34" charset="0"/>
                </a:rPr>
                <a:t>2021/6/21</a:t>
              </a:r>
              <a:endPara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>
            <a:xfrm>
              <a:off x="2436948" y="4755067"/>
              <a:ext cx="22172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椭圆 48"/>
          <p:cNvSpPr/>
          <p:nvPr/>
        </p:nvSpPr>
        <p:spPr>
          <a:xfrm>
            <a:off x="883406" y="950049"/>
            <a:ext cx="172720" cy="172720"/>
          </a:xfrm>
          <a:prstGeom prst="ellipse">
            <a:avLst/>
          </a:prstGeom>
          <a:solidFill>
            <a:srgbClr val="EFE6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 advTm="3000">
        <p15:prstTrans prst="drape"/>
      </p:transition>
    </mc:Choice>
    <mc:Fallback xmlns=""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59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83626ad-ab22-475d-8610-ef0b10f71c43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17db17df-44c8-42d0-88e7-d19093e6af66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60fb418-ba42-4f6c-aff2-88501aad6348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a7037ec9-1034-407a-8ee0-bd7db99a8a51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2b2c92a7-6c28-4a2c-bdeb-33eb827b3dd3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c3e0db4-92c4-4cf0-bdfb-7a3f10bf909a}"/>
  <p:tag name="TABLE_EMPHASIZE_COLOR" val="240117"/>
  <p:tag name="TABLE_SKINIDX" val="0"/>
  <p:tag name="TABLE_COLORIDX" val="2"/>
  <p:tag name="TABLE_COLOR_RGB" val="0x000000*0xFFFFFF*0x212121*0xFFFFFF*0x03A9F5*0x00BCD5*0x009788*0x4CB050*0x8CC34B*0xCDDC3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24939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960,&quot;width&quot;:8676}"/>
</p:tagLst>
</file>

<file path=ppt/theme/theme1.xml><?xml version="1.0" encoding="utf-8"?>
<a:theme xmlns:a="http://schemas.openxmlformats.org/drawingml/2006/main" name="Office 主题​​">
  <a:themeElements>
    <a:clrScheme name="自定义 70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14955"/>
      </a:accent1>
      <a:accent2>
        <a:srgbClr val="64708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1451</Words>
  <Application>Microsoft Office PowerPoint</Application>
  <PresentationFormat>宽屏</PresentationFormat>
  <Paragraphs>571</Paragraphs>
  <Slides>48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48</vt:i4>
      </vt:variant>
    </vt:vector>
  </HeadingPairs>
  <TitlesOfParts>
    <vt:vector size="66" baseType="lpstr">
      <vt:lpstr>FontAwesome</vt:lpstr>
      <vt:lpstr>等线</vt:lpstr>
      <vt:lpstr>等线 Light</vt:lpstr>
      <vt:lpstr>黑体</vt:lpstr>
      <vt:lpstr>华文细黑</vt:lpstr>
      <vt:lpstr>思源宋体 Heavy</vt:lpstr>
      <vt:lpstr>宋体</vt:lpstr>
      <vt:lpstr>微软雅黑</vt:lpstr>
      <vt:lpstr>微软雅黑</vt:lpstr>
      <vt:lpstr>微软雅黑 Light</vt:lpstr>
      <vt:lpstr>幼圆</vt:lpstr>
      <vt:lpstr>Arial</vt:lpstr>
      <vt:lpstr>Calibri</vt:lpstr>
      <vt:lpstr>Cordia New</vt:lpstr>
      <vt:lpstr>Segoe UI Semilight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稻壳儿演示武汉组</dc:creator>
  <cp:lastModifiedBy>Yuzu</cp:lastModifiedBy>
  <cp:revision>68</cp:revision>
  <dcterms:created xsi:type="dcterms:W3CDTF">2019-03-21T01:58:54Z</dcterms:created>
  <dcterms:modified xsi:type="dcterms:W3CDTF">2021-07-03T13:37:32Z</dcterms:modified>
</cp:coreProperties>
</file>