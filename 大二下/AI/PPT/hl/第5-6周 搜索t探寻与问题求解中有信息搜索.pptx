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wmv" ContentType="video/x-ms-wm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91" r:id="rId2"/>
    <p:sldId id="294" r:id="rId3"/>
    <p:sldId id="564" r:id="rId4"/>
    <p:sldId id="389" r:id="rId5"/>
    <p:sldId id="635" r:id="rId6"/>
    <p:sldId id="668" r:id="rId7"/>
    <p:sldId id="669" r:id="rId8"/>
    <p:sldId id="670" r:id="rId9"/>
    <p:sldId id="671" r:id="rId10"/>
    <p:sldId id="672" r:id="rId11"/>
    <p:sldId id="636" r:id="rId12"/>
    <p:sldId id="640" r:id="rId13"/>
    <p:sldId id="641" r:id="rId14"/>
    <p:sldId id="649" r:id="rId15"/>
    <p:sldId id="650" r:id="rId16"/>
    <p:sldId id="651" r:id="rId17"/>
    <p:sldId id="652" r:id="rId18"/>
    <p:sldId id="673" r:id="rId19"/>
    <p:sldId id="675" r:id="rId20"/>
    <p:sldId id="676" r:id="rId21"/>
    <p:sldId id="674" r:id="rId22"/>
    <p:sldId id="662" r:id="rId23"/>
    <p:sldId id="661" r:id="rId24"/>
    <p:sldId id="663" r:id="rId25"/>
    <p:sldId id="664" r:id="rId26"/>
    <p:sldId id="665" r:id="rId27"/>
    <p:sldId id="677" r:id="rId28"/>
    <p:sldId id="678" r:id="rId29"/>
    <p:sldId id="680" r:id="rId30"/>
    <p:sldId id="681" r:id="rId31"/>
    <p:sldId id="683" r:id="rId32"/>
    <p:sldId id="684" r:id="rId33"/>
    <p:sldId id="685" r:id="rId34"/>
    <p:sldId id="719" r:id="rId35"/>
    <p:sldId id="686" r:id="rId36"/>
    <p:sldId id="720" r:id="rId37"/>
    <p:sldId id="722" r:id="rId38"/>
    <p:sldId id="687" r:id="rId39"/>
    <p:sldId id="692" r:id="rId40"/>
    <p:sldId id="693" r:id="rId41"/>
    <p:sldId id="694" r:id="rId42"/>
    <p:sldId id="723" r:id="rId43"/>
    <p:sldId id="701" r:id="rId44"/>
    <p:sldId id="724" r:id="rId45"/>
    <p:sldId id="703" r:id="rId46"/>
    <p:sldId id="704" r:id="rId47"/>
    <p:sldId id="725" r:id="rId48"/>
    <p:sldId id="705" r:id="rId49"/>
    <p:sldId id="706" r:id="rId50"/>
    <p:sldId id="709" r:id="rId51"/>
    <p:sldId id="710" r:id="rId52"/>
    <p:sldId id="711" r:id="rId53"/>
    <p:sldId id="712" r:id="rId54"/>
    <p:sldId id="713" r:id="rId55"/>
    <p:sldId id="714" r:id="rId56"/>
    <p:sldId id="716" r:id="rId57"/>
  </p:sldIdLst>
  <p:sldSz cx="12192000" cy="6858000"/>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66" autoAdjust="0"/>
    <p:restoredTop sz="82929" autoAdjust="0"/>
  </p:normalViewPr>
  <p:slideViewPr>
    <p:cSldViewPr snapToGrid="0">
      <p:cViewPr varScale="1">
        <p:scale>
          <a:sx n="90" d="100"/>
          <a:sy n="90" d="100"/>
        </p:scale>
        <p:origin x="99"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84203F-7AEF-4A7F-94F0-3925A564E5DE}" type="datetimeFigureOut">
              <a:rPr lang="zh-CN" altLang="en-US" smtClean="0"/>
              <a:t>2025/3/12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97FE7-9E44-4705-9F7F-2B1202D9D66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917CA-E119-4CA9-BEEE-872CB9B8AD24}" type="slidenum">
              <a:rPr lang="zh-CN" altLang="en-US" smtClean="0"/>
              <a:pPr/>
              <a:t>5</a:t>
            </a:fld>
            <a:endParaRPr lang="zh-CN" altLang="en-US"/>
          </a:p>
        </p:txBody>
      </p:sp>
    </p:spTree>
    <p:extLst>
      <p:ext uri="{BB962C8B-B14F-4D97-AF65-F5344CB8AC3E}">
        <p14:creationId xmlns:p14="http://schemas.microsoft.com/office/powerpoint/2010/main" val="1405634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747623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24891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3741144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4104082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3030067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a:bodyPr>
          <a:lstStyle/>
          <a:p>
            <a:pPr>
              <a:defRPr/>
            </a:pPr>
            <a:endParaRPr lang="zh-CN" altLang="en-US" dirty="0"/>
          </a:p>
        </p:txBody>
      </p:sp>
      <p:sp>
        <p:nvSpPr>
          <p:cNvPr id="4" name="灯片编号占位符 3"/>
          <p:cNvSpPr>
            <a:spLocks noGrp="1"/>
          </p:cNvSpPr>
          <p:nvPr>
            <p:ph type="sldNum" sz="quarter" idx="5"/>
          </p:nvPr>
        </p:nvSpPr>
        <p:spPr/>
        <p:txBody>
          <a:bodyPr/>
          <a:lstStyle/>
          <a:p>
            <a:pPr>
              <a:defRPr/>
            </a:pPr>
            <a:fld id="{A1193968-F1D1-44EB-9C58-96F6D6D47C88}" type="slidenum">
              <a:rPr lang="en-US" altLang="zh-CN" smtClean="0"/>
              <a:pPr>
                <a:defRPr/>
              </a:pPr>
              <a:t>11</a:t>
            </a:fld>
            <a:endParaRPr lang="en-US" altLang="zh-CN" dirty="0"/>
          </a:p>
        </p:txBody>
      </p:sp>
    </p:spTree>
    <p:extLst>
      <p:ext uri="{BB962C8B-B14F-4D97-AF65-F5344CB8AC3E}">
        <p14:creationId xmlns:p14="http://schemas.microsoft.com/office/powerpoint/2010/main" val="329495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a:bodyPr>
          <a:lstStyle/>
          <a:p>
            <a:pPr defTabSz="844083" eaLnBrk="0" fontAlgn="base" hangingPunct="0">
              <a:spcBef>
                <a:spcPct val="30000"/>
              </a:spcBef>
              <a:spcAft>
                <a:spcPct val="0"/>
              </a:spcAft>
              <a:defRPr/>
            </a:pPr>
            <a:endParaRPr lang="zh-CN" altLang="en-US" dirty="0"/>
          </a:p>
        </p:txBody>
      </p:sp>
      <p:sp>
        <p:nvSpPr>
          <p:cNvPr id="4" name="灯片编号占位符 3"/>
          <p:cNvSpPr>
            <a:spLocks noGrp="1"/>
          </p:cNvSpPr>
          <p:nvPr>
            <p:ph type="sldNum" sz="quarter" idx="5"/>
          </p:nvPr>
        </p:nvSpPr>
        <p:spPr/>
        <p:txBody>
          <a:bodyPr/>
          <a:lstStyle/>
          <a:p>
            <a:pPr>
              <a:defRPr/>
            </a:pPr>
            <a:fld id="{A1193968-F1D1-44EB-9C58-96F6D6D47C88}" type="slidenum">
              <a:rPr lang="en-US" altLang="zh-CN" smtClean="0"/>
              <a:pPr>
                <a:defRPr/>
              </a:pPr>
              <a:t>12</a:t>
            </a:fld>
            <a:endParaRPr lang="en-US" altLang="zh-CN" dirty="0"/>
          </a:p>
        </p:txBody>
      </p:sp>
    </p:spTree>
    <p:extLst>
      <p:ext uri="{BB962C8B-B14F-4D97-AF65-F5344CB8AC3E}">
        <p14:creationId xmlns:p14="http://schemas.microsoft.com/office/powerpoint/2010/main" val="3916843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a:bodyPr>
          <a:lstStyle/>
          <a:p>
            <a:pPr>
              <a:defRPr/>
            </a:pPr>
            <a:endParaRPr lang="zh-CN" altLang="en-US" dirty="0"/>
          </a:p>
        </p:txBody>
      </p:sp>
      <p:sp>
        <p:nvSpPr>
          <p:cNvPr id="4" name="灯片编号占位符 3"/>
          <p:cNvSpPr>
            <a:spLocks noGrp="1"/>
          </p:cNvSpPr>
          <p:nvPr>
            <p:ph type="sldNum" sz="quarter" idx="5"/>
          </p:nvPr>
        </p:nvSpPr>
        <p:spPr/>
        <p:txBody>
          <a:bodyPr/>
          <a:lstStyle/>
          <a:p>
            <a:pPr>
              <a:defRPr/>
            </a:pPr>
            <a:fld id="{A1193968-F1D1-44EB-9C58-96F6D6D47C88}" type="slidenum">
              <a:rPr lang="en-US" altLang="zh-CN" smtClean="0"/>
              <a:pPr>
                <a:defRPr/>
              </a:pPr>
              <a:t>13</a:t>
            </a:fld>
            <a:endParaRPr lang="en-US" altLang="zh-CN" dirty="0"/>
          </a:p>
        </p:txBody>
      </p:sp>
    </p:spTree>
    <p:extLst>
      <p:ext uri="{BB962C8B-B14F-4D97-AF65-F5344CB8AC3E}">
        <p14:creationId xmlns:p14="http://schemas.microsoft.com/office/powerpoint/2010/main" val="3721828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a:bodyPr>
          <a:lstStyle/>
          <a:p>
            <a:pPr>
              <a:defRPr/>
            </a:pPr>
            <a:endParaRPr lang="zh-CN" altLang="en-US" dirty="0"/>
          </a:p>
        </p:txBody>
      </p:sp>
      <p:sp>
        <p:nvSpPr>
          <p:cNvPr id="4" name="灯片编号占位符 3"/>
          <p:cNvSpPr>
            <a:spLocks noGrp="1"/>
          </p:cNvSpPr>
          <p:nvPr>
            <p:ph type="sldNum" sz="quarter" idx="5"/>
          </p:nvPr>
        </p:nvSpPr>
        <p:spPr/>
        <p:txBody>
          <a:bodyPr/>
          <a:lstStyle/>
          <a:p>
            <a:pPr>
              <a:defRPr/>
            </a:pPr>
            <a:fld id="{A1193968-F1D1-44EB-9C58-96F6D6D47C88}" type="slidenum">
              <a:rPr lang="en-US" altLang="zh-CN" smtClean="0"/>
              <a:pPr>
                <a:defRPr/>
              </a:pPr>
              <a:t>14</a:t>
            </a:fld>
            <a:endParaRPr lang="en-US" altLang="zh-CN" dirty="0"/>
          </a:p>
        </p:txBody>
      </p:sp>
    </p:spTree>
    <p:extLst>
      <p:ext uri="{BB962C8B-B14F-4D97-AF65-F5344CB8AC3E}">
        <p14:creationId xmlns:p14="http://schemas.microsoft.com/office/powerpoint/2010/main" val="393562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a:bodyPr>
          <a:lstStyle/>
          <a:p>
            <a:pPr>
              <a:defRPr/>
            </a:pPr>
            <a:endParaRPr lang="zh-CN" altLang="en-US" dirty="0"/>
          </a:p>
        </p:txBody>
      </p:sp>
      <p:sp>
        <p:nvSpPr>
          <p:cNvPr id="4" name="灯片编号占位符 3"/>
          <p:cNvSpPr>
            <a:spLocks noGrp="1"/>
          </p:cNvSpPr>
          <p:nvPr>
            <p:ph type="sldNum" sz="quarter" idx="5"/>
          </p:nvPr>
        </p:nvSpPr>
        <p:spPr/>
        <p:txBody>
          <a:bodyPr/>
          <a:lstStyle/>
          <a:p>
            <a:pPr>
              <a:defRPr/>
            </a:pPr>
            <a:fld id="{A1193968-F1D1-44EB-9C58-96F6D6D47C88}" type="slidenum">
              <a:rPr lang="en-US" altLang="zh-CN" smtClean="0"/>
              <a:pPr>
                <a:defRPr/>
              </a:pPr>
              <a:t>15</a:t>
            </a:fld>
            <a:endParaRPr lang="en-US" altLang="zh-CN" dirty="0"/>
          </a:p>
        </p:txBody>
      </p:sp>
    </p:spTree>
    <p:extLst>
      <p:ext uri="{BB962C8B-B14F-4D97-AF65-F5344CB8AC3E}">
        <p14:creationId xmlns:p14="http://schemas.microsoft.com/office/powerpoint/2010/main" val="1284867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normAutofit/>
          </a:bodyPr>
          <a:lstStyle/>
          <a:p>
            <a:pPr>
              <a:defRPr/>
            </a:pPr>
            <a:r>
              <a:rPr lang="zh-CN" altLang="en-US" dirty="0"/>
              <a:t>八数码的问题可形式化如下：</a:t>
            </a:r>
            <a:endParaRPr lang="en-US" altLang="zh-CN" dirty="0"/>
          </a:p>
          <a:p>
            <a:pPr>
              <a:defRPr/>
            </a:pPr>
            <a:r>
              <a:rPr lang="zh-CN" altLang="en-US" dirty="0"/>
              <a:t>可能状态：所有</a:t>
            </a:r>
            <a:r>
              <a:rPr lang="en-US" altLang="zh-CN" dirty="0"/>
              <a:t>8</a:t>
            </a:r>
            <a:r>
              <a:rPr lang="zh-CN" altLang="en-US" dirty="0"/>
              <a:t>个棋子及空格在棋盘上的可能分布</a:t>
            </a:r>
            <a:endParaRPr lang="en-US" altLang="zh-CN" dirty="0"/>
          </a:p>
          <a:p>
            <a:pPr>
              <a:defRPr/>
            </a:pPr>
            <a:r>
              <a:rPr lang="zh-CN" altLang="en-US" dirty="0"/>
              <a:t>初始状态：任何可能状态里的一种。</a:t>
            </a:r>
            <a:endParaRPr lang="en-US" altLang="zh-CN" dirty="0"/>
          </a:p>
          <a:p>
            <a:pPr>
              <a:defRPr/>
            </a:pPr>
            <a:r>
              <a:rPr lang="zh-CN" altLang="en-US" dirty="0"/>
              <a:t>行动：与空格相邻的数字棋子可能发生的合法移动（上移，下移，左移，右移）</a:t>
            </a:r>
            <a:endParaRPr lang="en-US" altLang="zh-CN" dirty="0"/>
          </a:p>
          <a:p>
            <a:pPr>
              <a:defRPr/>
            </a:pPr>
            <a:r>
              <a:rPr lang="zh-CN" altLang="en-US" dirty="0"/>
              <a:t>转移模型：对应棋子移动后的合法状态</a:t>
            </a:r>
            <a:endParaRPr lang="en-US" altLang="zh-CN" dirty="0"/>
          </a:p>
          <a:p>
            <a:pPr>
              <a:defRPr/>
            </a:pPr>
            <a:r>
              <a:rPr lang="zh-CN" altLang="en-US" dirty="0"/>
              <a:t>目标测试：检测最终状态布局是否与图中右侧给定状态一致。</a:t>
            </a:r>
            <a:endParaRPr lang="en-US" altLang="zh-CN" dirty="0"/>
          </a:p>
          <a:p>
            <a:pPr>
              <a:defRPr/>
            </a:pPr>
            <a:r>
              <a:rPr lang="zh-CN" altLang="en-US" dirty="0"/>
              <a:t>路径耗散：</a:t>
            </a:r>
            <a:r>
              <a:rPr lang="zh-CN" altLang="en-US" sz="1100" dirty="0"/>
              <a:t>每一步耗散值为</a:t>
            </a:r>
            <a:r>
              <a:rPr lang="en-US" altLang="zh-CN" sz="1100" dirty="0"/>
              <a:t>1</a:t>
            </a:r>
            <a:r>
              <a:rPr lang="zh-CN" altLang="en-US" sz="1100" dirty="0"/>
              <a:t>，</a:t>
            </a:r>
            <a:r>
              <a:rPr lang="zh-CN" altLang="en-US" dirty="0"/>
              <a:t>总的路径耗散值为路径中的步数。</a:t>
            </a:r>
          </a:p>
        </p:txBody>
      </p:sp>
      <p:sp>
        <p:nvSpPr>
          <p:cNvPr id="4" name="灯片编号占位符 3"/>
          <p:cNvSpPr>
            <a:spLocks noGrp="1"/>
          </p:cNvSpPr>
          <p:nvPr>
            <p:ph type="sldNum" sz="quarter" idx="5"/>
          </p:nvPr>
        </p:nvSpPr>
        <p:spPr/>
        <p:txBody>
          <a:bodyPr/>
          <a:lstStyle/>
          <a:p>
            <a:pPr>
              <a:defRPr/>
            </a:pPr>
            <a:fld id="{A1193968-F1D1-44EB-9C58-96F6D6D47C88}" type="slidenum">
              <a:rPr lang="en-US" altLang="zh-CN" smtClean="0"/>
              <a:pPr>
                <a:defRPr/>
              </a:pPr>
              <a:t>16</a:t>
            </a:fld>
            <a:endParaRPr lang="en-US" altLang="zh-CN" dirty="0"/>
          </a:p>
        </p:txBody>
      </p:sp>
    </p:spTree>
    <p:extLst>
      <p:ext uri="{BB962C8B-B14F-4D97-AF65-F5344CB8AC3E}">
        <p14:creationId xmlns:p14="http://schemas.microsoft.com/office/powerpoint/2010/main" val="2394102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19</a:t>
            </a:fld>
            <a:endParaRPr lang="zh-CN" altLang="en-US"/>
          </a:p>
        </p:txBody>
      </p:sp>
    </p:spTree>
    <p:extLst>
      <p:ext uri="{BB962C8B-B14F-4D97-AF65-F5344CB8AC3E}">
        <p14:creationId xmlns:p14="http://schemas.microsoft.com/office/powerpoint/2010/main" val="2580323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20</a:t>
            </a:fld>
            <a:endParaRPr lang="zh-CN" altLang="en-US"/>
          </a:p>
        </p:txBody>
      </p:sp>
    </p:spTree>
    <p:extLst>
      <p:ext uri="{BB962C8B-B14F-4D97-AF65-F5344CB8AC3E}">
        <p14:creationId xmlns:p14="http://schemas.microsoft.com/office/powerpoint/2010/main" val="2289392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37904538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917CA-E119-4CA9-BEEE-872CB9B8AD24}" type="slidenum">
              <a:rPr lang="zh-CN" altLang="en-US" smtClean="0"/>
              <a:pPr/>
              <a:t>24</a:t>
            </a:fld>
            <a:endParaRPr lang="zh-CN" altLang="en-US"/>
          </a:p>
        </p:txBody>
      </p:sp>
    </p:spTree>
    <p:extLst>
      <p:ext uri="{BB962C8B-B14F-4D97-AF65-F5344CB8AC3E}">
        <p14:creationId xmlns:p14="http://schemas.microsoft.com/office/powerpoint/2010/main" val="2160285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917CA-E119-4CA9-BEEE-872CB9B8AD24}" type="slidenum">
              <a:rPr lang="zh-CN" altLang="en-US" smtClean="0"/>
              <a:pPr/>
              <a:t>25</a:t>
            </a:fld>
            <a:endParaRPr lang="zh-CN" altLang="en-US"/>
          </a:p>
        </p:txBody>
      </p:sp>
    </p:spTree>
    <p:extLst>
      <p:ext uri="{BB962C8B-B14F-4D97-AF65-F5344CB8AC3E}">
        <p14:creationId xmlns:p14="http://schemas.microsoft.com/office/powerpoint/2010/main" val="825398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917CA-E119-4CA9-BEEE-872CB9B8AD24}" type="slidenum">
              <a:rPr lang="zh-CN" altLang="en-US" smtClean="0"/>
              <a:pPr/>
              <a:t>31</a:t>
            </a:fld>
            <a:endParaRPr lang="zh-CN" altLang="en-US"/>
          </a:p>
        </p:txBody>
      </p:sp>
    </p:spTree>
    <p:extLst>
      <p:ext uri="{BB962C8B-B14F-4D97-AF65-F5344CB8AC3E}">
        <p14:creationId xmlns:p14="http://schemas.microsoft.com/office/powerpoint/2010/main" val="3788905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32</a:t>
            </a:fld>
            <a:endParaRPr lang="zh-CN" altLang="en-US"/>
          </a:p>
        </p:txBody>
      </p:sp>
    </p:spTree>
    <p:extLst>
      <p:ext uri="{BB962C8B-B14F-4D97-AF65-F5344CB8AC3E}">
        <p14:creationId xmlns:p14="http://schemas.microsoft.com/office/powerpoint/2010/main" val="1258563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b="1" dirty="0"/>
              <a:t>最佳优先搜索：</a:t>
            </a:r>
            <a:endParaRPr lang="en-US" altLang="zh-CN" b="1" dirty="0"/>
          </a:p>
          <a:p>
            <a:r>
              <a:rPr lang="zh-CN" altLang="en-US" dirty="0"/>
              <a:t>评估函数</a:t>
            </a:r>
            <a:r>
              <a:rPr lang="en-US" altLang="zh-CN" dirty="0"/>
              <a:t>:</a:t>
            </a:r>
            <a:r>
              <a:rPr lang="zh-CN" altLang="en-US" dirty="0"/>
              <a:t>评估节点期望扩展的程度</a:t>
            </a:r>
            <a:endParaRPr lang="en-US" altLang="zh-CN" dirty="0"/>
          </a:p>
          <a:p>
            <a:r>
              <a:rPr lang="zh-CN" altLang="en-US" b="1" dirty="0">
                <a:solidFill>
                  <a:schemeClr val="hlink"/>
                </a:solidFill>
                <a:latin typeface="Times New Roman" pitchFamily="18" charset="0"/>
              </a:rPr>
              <a:t>估价函数</a:t>
            </a:r>
            <a:r>
              <a:rPr lang="zh-CN" altLang="en-US" b="1" dirty="0">
                <a:latin typeface="Times New Roman" pitchFamily="18" charset="0"/>
              </a:rPr>
              <a:t>（</a:t>
            </a:r>
            <a:r>
              <a:rPr lang="en-US" altLang="zh-CN" b="1" dirty="0">
                <a:latin typeface="Times New Roman" pitchFamily="18" charset="0"/>
              </a:rPr>
              <a:t>evaluation function</a:t>
            </a:r>
            <a:r>
              <a:rPr lang="zh-CN" altLang="en-US" b="1" dirty="0">
                <a:latin typeface="Times New Roman" pitchFamily="18" charset="0"/>
              </a:rPr>
              <a:t>）：是用来估算节点希望程度的量度。它能提供一个评定候选扩展节点的方法，</a:t>
            </a:r>
            <a:endParaRPr lang="en-US" altLang="zh-CN" b="1" dirty="0">
              <a:latin typeface="Times New Roman" pitchFamily="18" charset="0"/>
            </a:endParaRPr>
          </a:p>
          <a:p>
            <a:r>
              <a:rPr lang="zh-CN" altLang="en-US" b="1" dirty="0">
                <a:latin typeface="Times New Roman" pitchFamily="18" charset="0"/>
              </a:rPr>
              <a:t>以便确定哪个节点最有可能在通向目标的最佳路径上。</a:t>
            </a:r>
          </a:p>
          <a:p>
            <a:endParaRPr lang="en-US" altLang="zh-CN" dirty="0"/>
          </a:p>
          <a:p>
            <a:r>
              <a:rPr lang="zh-CN" altLang="en-US" b="1" dirty="0"/>
              <a:t>总是选择</a:t>
            </a:r>
            <a:r>
              <a:rPr lang="zh-CN" altLang="en-US" b="1" dirty="0">
                <a:latin typeface="Times New Roman" pitchFamily="18" charset="0"/>
              </a:rPr>
              <a:t>“</a:t>
            </a:r>
            <a:r>
              <a:rPr lang="zh-CN" altLang="en-US" b="1" dirty="0"/>
              <a:t>最有希望</a:t>
            </a:r>
            <a:r>
              <a:rPr lang="zh-CN" altLang="en-US" b="1" dirty="0">
                <a:latin typeface="Times New Roman" pitchFamily="18" charset="0"/>
              </a:rPr>
              <a:t>”</a:t>
            </a:r>
            <a:r>
              <a:rPr lang="zh-CN" altLang="en-US" b="1" dirty="0"/>
              <a:t>的节点作为下一个被扩展的节点</a:t>
            </a:r>
            <a:endParaRPr lang="zh-CN" altLang="en-US" dirty="0"/>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33</a:t>
            </a:fld>
            <a:endParaRPr lang="zh-CN" altLang="en-US"/>
          </a:p>
        </p:txBody>
      </p:sp>
    </p:spTree>
    <p:extLst>
      <p:ext uri="{BB962C8B-B14F-4D97-AF65-F5344CB8AC3E}">
        <p14:creationId xmlns:p14="http://schemas.microsoft.com/office/powerpoint/2010/main" val="245863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13227063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35</a:t>
            </a:fld>
            <a:endParaRPr lang="zh-CN" altLang="en-US"/>
          </a:p>
        </p:txBody>
      </p:sp>
    </p:spTree>
    <p:extLst>
      <p:ext uri="{BB962C8B-B14F-4D97-AF65-F5344CB8AC3E}">
        <p14:creationId xmlns:p14="http://schemas.microsoft.com/office/powerpoint/2010/main" val="14974828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18863474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1930371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38</a:t>
            </a:fld>
            <a:endParaRPr lang="zh-CN" altLang="en-US"/>
          </a:p>
        </p:txBody>
      </p:sp>
    </p:spTree>
    <p:extLst>
      <p:ext uri="{BB962C8B-B14F-4D97-AF65-F5344CB8AC3E}">
        <p14:creationId xmlns:p14="http://schemas.microsoft.com/office/powerpoint/2010/main" val="3476918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39</a:t>
            </a:fld>
            <a:endParaRPr lang="zh-CN" altLang="en-US"/>
          </a:p>
        </p:txBody>
      </p:sp>
    </p:spTree>
    <p:extLst>
      <p:ext uri="{BB962C8B-B14F-4D97-AF65-F5344CB8AC3E}">
        <p14:creationId xmlns:p14="http://schemas.microsoft.com/office/powerpoint/2010/main" val="913491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dirty="0"/>
              <a:t>可能陷入死循环。考虑从</a:t>
            </a:r>
            <a:r>
              <a:rPr lang="en-US" altLang="zh-CN" dirty="0"/>
              <a:t>Iasi(</a:t>
            </a:r>
            <a:r>
              <a:rPr lang="zh-CN" altLang="en-US" dirty="0"/>
              <a:t>雅西</a:t>
            </a:r>
            <a:r>
              <a:rPr lang="en-US" altLang="zh-CN" dirty="0"/>
              <a:t>)</a:t>
            </a:r>
            <a:r>
              <a:rPr lang="zh-CN" altLang="en-US" dirty="0"/>
              <a:t>到</a:t>
            </a:r>
            <a:r>
              <a:rPr lang="en-US" altLang="zh-CN" dirty="0" err="1"/>
              <a:t>Fagaras</a:t>
            </a:r>
            <a:r>
              <a:rPr lang="en-US" altLang="zh-CN" dirty="0"/>
              <a:t>, </a:t>
            </a:r>
            <a:r>
              <a:rPr lang="zh-CN" altLang="en-US" dirty="0"/>
              <a:t>根据到目标的最近直线距离，启发式建议</a:t>
            </a:r>
            <a:endParaRPr lang="en-US" altLang="zh-CN" dirty="0"/>
          </a:p>
          <a:p>
            <a:r>
              <a:rPr lang="zh-CN" altLang="en-US" dirty="0"/>
              <a:t>先扩展</a:t>
            </a:r>
            <a:r>
              <a:rPr lang="en-US" altLang="zh-CN" dirty="0" err="1"/>
              <a:t>Neamt</a:t>
            </a:r>
            <a:r>
              <a:rPr lang="en-US" altLang="zh-CN" dirty="0"/>
              <a:t>, </a:t>
            </a:r>
            <a:r>
              <a:rPr lang="zh-CN" altLang="en-US" dirty="0"/>
              <a:t>扩展</a:t>
            </a:r>
            <a:r>
              <a:rPr lang="en-US" altLang="zh-CN" dirty="0" err="1"/>
              <a:t>Neamt</a:t>
            </a:r>
            <a:r>
              <a:rPr lang="zh-CN" altLang="en-US" dirty="0"/>
              <a:t>时，将</a:t>
            </a:r>
            <a:r>
              <a:rPr lang="en-US" altLang="zh-CN" dirty="0"/>
              <a:t>Iasi</a:t>
            </a:r>
            <a:r>
              <a:rPr lang="zh-CN" altLang="en-US" dirty="0"/>
              <a:t>到目标结点的直线距离最近，所以又去扩展</a:t>
            </a:r>
            <a:r>
              <a:rPr lang="en-US" altLang="zh-CN" dirty="0"/>
              <a:t>Iasi,</a:t>
            </a:r>
            <a:r>
              <a:rPr lang="zh-CN" altLang="en-US" dirty="0"/>
              <a:t>从而导致死循环。</a:t>
            </a:r>
            <a:endParaRPr lang="en-US" altLang="zh-CN" dirty="0"/>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40</a:t>
            </a:fld>
            <a:endParaRPr lang="zh-CN" altLang="en-US"/>
          </a:p>
        </p:txBody>
      </p:sp>
    </p:spTree>
    <p:extLst>
      <p:ext uri="{BB962C8B-B14F-4D97-AF65-F5344CB8AC3E}">
        <p14:creationId xmlns:p14="http://schemas.microsoft.com/office/powerpoint/2010/main" val="10938369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b="1" dirty="0"/>
              <a:t>贪婪</a:t>
            </a:r>
            <a:r>
              <a:rPr lang="zh-CN" altLang="en-US" dirty="0"/>
              <a:t>优先算法性能分析：</a:t>
            </a:r>
            <a:endParaRPr lang="en-US" altLang="zh-CN" dirty="0"/>
          </a:p>
          <a:p>
            <a:r>
              <a:rPr lang="zh-CN" altLang="en-US" b="1" dirty="0"/>
              <a:t>完备性：</a:t>
            </a:r>
            <a:r>
              <a:rPr lang="zh-CN" altLang="en-US" dirty="0"/>
              <a:t>是有限状态空间搜索，也是不完备的。可能陷入死循环。考虑从</a:t>
            </a:r>
            <a:r>
              <a:rPr lang="en-US" altLang="zh-CN" dirty="0"/>
              <a:t>Iasi(</a:t>
            </a:r>
            <a:r>
              <a:rPr lang="zh-CN" altLang="en-US" dirty="0"/>
              <a:t>雅西</a:t>
            </a:r>
            <a:r>
              <a:rPr lang="en-US" altLang="zh-CN" dirty="0"/>
              <a:t>)</a:t>
            </a:r>
            <a:r>
              <a:rPr lang="zh-CN" altLang="en-US" dirty="0"/>
              <a:t>到</a:t>
            </a:r>
            <a:r>
              <a:rPr lang="en-US" altLang="zh-CN" dirty="0" err="1"/>
              <a:t>Fagaras</a:t>
            </a:r>
            <a:r>
              <a:rPr lang="en-US" altLang="zh-CN" dirty="0"/>
              <a:t>, </a:t>
            </a:r>
            <a:r>
              <a:rPr lang="zh-CN" altLang="en-US" dirty="0"/>
              <a:t>根据到目标的最近直线距离，启发式建议</a:t>
            </a:r>
            <a:endParaRPr lang="en-US" altLang="zh-CN" dirty="0"/>
          </a:p>
          <a:p>
            <a:r>
              <a:rPr lang="zh-CN" altLang="en-US" dirty="0"/>
              <a:t>先扩展</a:t>
            </a:r>
            <a:r>
              <a:rPr lang="en-US" altLang="zh-CN" dirty="0" err="1"/>
              <a:t>Neamt</a:t>
            </a:r>
            <a:r>
              <a:rPr lang="en-US" altLang="zh-CN" dirty="0"/>
              <a:t>, </a:t>
            </a:r>
            <a:r>
              <a:rPr lang="zh-CN" altLang="en-US" dirty="0"/>
              <a:t>扩展</a:t>
            </a:r>
            <a:r>
              <a:rPr lang="en-US" altLang="zh-CN" dirty="0" err="1"/>
              <a:t>Neamt</a:t>
            </a:r>
            <a:r>
              <a:rPr lang="zh-CN" altLang="en-US" dirty="0"/>
              <a:t>时，将</a:t>
            </a:r>
            <a:r>
              <a:rPr lang="en-US" altLang="zh-CN" dirty="0"/>
              <a:t>Iasi</a:t>
            </a:r>
            <a:r>
              <a:rPr lang="zh-CN" altLang="en-US" dirty="0"/>
              <a:t>到目标结点的直线距离最近，所以又去扩展</a:t>
            </a:r>
            <a:r>
              <a:rPr lang="en-US" altLang="zh-CN" dirty="0"/>
              <a:t>Iasi,</a:t>
            </a:r>
            <a:r>
              <a:rPr lang="zh-CN" altLang="en-US" dirty="0"/>
              <a:t>从而导致死循环。</a:t>
            </a:r>
            <a:endParaRPr lang="en-US" altLang="zh-CN" dirty="0"/>
          </a:p>
          <a:p>
            <a:r>
              <a:rPr lang="zh-CN" altLang="en-US" b="1" dirty="0"/>
              <a:t>时间复杂度：</a:t>
            </a:r>
            <a:endParaRPr lang="en-US" altLang="zh-CN" b="1" dirty="0"/>
          </a:p>
          <a:p>
            <a:r>
              <a:rPr lang="zh-CN" altLang="en-US" b="1" dirty="0"/>
              <a:t>空间复杂度：</a:t>
            </a:r>
            <a:endParaRPr lang="en-US" altLang="zh-CN" b="1" dirty="0"/>
          </a:p>
          <a:p>
            <a:r>
              <a:rPr lang="en-US" altLang="zh-CN" b="1" dirty="0"/>
              <a:t>m: </a:t>
            </a:r>
            <a:r>
              <a:rPr lang="zh-CN" altLang="en-US" b="1" dirty="0"/>
              <a:t>搜索深度</a:t>
            </a:r>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41</a:t>
            </a:fld>
            <a:endParaRPr lang="zh-CN" altLang="en-US"/>
          </a:p>
        </p:txBody>
      </p:sp>
    </p:spTree>
    <p:extLst>
      <p:ext uri="{BB962C8B-B14F-4D97-AF65-F5344CB8AC3E}">
        <p14:creationId xmlns:p14="http://schemas.microsoft.com/office/powerpoint/2010/main" val="2679172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13921432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43</a:t>
            </a:fld>
            <a:endParaRPr lang="zh-CN" altLang="en-US"/>
          </a:p>
        </p:txBody>
      </p:sp>
    </p:spTree>
    <p:extLst>
      <p:ext uri="{BB962C8B-B14F-4D97-AF65-F5344CB8AC3E}">
        <p14:creationId xmlns:p14="http://schemas.microsoft.com/office/powerpoint/2010/main" val="11745007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defTabSz="844083" eaLnBrk="0" fontAlgn="base" hangingPunct="0">
              <a:spcBef>
                <a:spcPct val="30000"/>
              </a:spcBef>
              <a:spcAft>
                <a:spcPct val="0"/>
              </a:spcAft>
              <a:defRPr/>
            </a:pPr>
            <a:r>
              <a:rPr lang="zh-CN" altLang="en-US" dirty="0"/>
              <a:t>启发式函数如何设计？！！！</a:t>
            </a:r>
            <a:r>
              <a:rPr lang="en-US" altLang="zh-CN" dirty="0"/>
              <a:t>Admissible heuristics ? </a:t>
            </a:r>
          </a:p>
          <a:p>
            <a:endParaRPr lang="en-US" altLang="zh-CN" dirty="0"/>
          </a:p>
          <a:p>
            <a:r>
              <a:rPr lang="zh-CN" altLang="en-US" dirty="0"/>
              <a:t>如何保证基于该启发函数的搜索算法的最优性：</a:t>
            </a:r>
            <a:r>
              <a:rPr lang="zh-CN" altLang="en-US" b="1" dirty="0"/>
              <a:t>启发函数的可采纳性和一致性</a:t>
            </a:r>
            <a:endParaRPr lang="en-US" altLang="zh-CN" b="1" dirty="0"/>
          </a:p>
          <a:p>
            <a:r>
              <a:rPr lang="zh-CN" altLang="en-US" dirty="0"/>
              <a:t>可采纳的启发式算法；</a:t>
            </a:r>
            <a:r>
              <a:rPr lang="en-US" altLang="zh-CN" dirty="0"/>
              <a:t>H*(n)</a:t>
            </a:r>
            <a:r>
              <a:rPr lang="zh-CN" altLang="en-US" dirty="0"/>
              <a:t>是</a:t>
            </a:r>
            <a:r>
              <a:rPr lang="en-US" altLang="zh-CN" dirty="0"/>
              <a:t>n</a:t>
            </a:r>
            <a:r>
              <a:rPr lang="zh-CN" altLang="en-US" dirty="0"/>
              <a:t>到目标的最短路经的启发值</a:t>
            </a:r>
            <a:endParaRPr lang="en-US" altLang="zh-CN" dirty="0"/>
          </a:p>
          <a:p>
            <a:pPr>
              <a:lnSpc>
                <a:spcPct val="120000"/>
              </a:lnSpc>
            </a:pPr>
            <a:r>
              <a:rPr lang="zh-CN" altLang="en-US" b="1" dirty="0"/>
              <a:t>（</a:t>
            </a:r>
            <a:r>
              <a:rPr lang="en-US" altLang="zh-CN" b="1" dirty="0"/>
              <a:t>1</a:t>
            </a:r>
            <a:r>
              <a:rPr lang="zh-CN" altLang="en-US" b="1" dirty="0"/>
              <a:t>）对于结点</a:t>
            </a:r>
            <a:r>
              <a:rPr lang="en-US" altLang="zh-CN" b="1" dirty="0"/>
              <a:t>n</a:t>
            </a:r>
            <a:r>
              <a:rPr lang="zh-CN" altLang="en-US" b="1" dirty="0"/>
              <a:t>，总是有启发式函数</a:t>
            </a:r>
            <a:r>
              <a:rPr lang="en-US" altLang="zh-CN" b="1" dirty="0"/>
              <a:t>h(n)≤h*(n) </a:t>
            </a:r>
            <a:r>
              <a:rPr lang="zh-CN" altLang="en-US" b="1" dirty="0"/>
              <a:t>（</a:t>
            </a:r>
            <a:r>
              <a:rPr lang="en-US" altLang="zh-CN" b="1" dirty="0"/>
              <a:t>h*(n)</a:t>
            </a:r>
            <a:r>
              <a:rPr lang="zh-CN" altLang="en-US" b="1" dirty="0"/>
              <a:t>表示结点</a:t>
            </a:r>
            <a:r>
              <a:rPr lang="en-US" altLang="zh-CN" b="1" dirty="0"/>
              <a:t>n</a:t>
            </a:r>
            <a:r>
              <a:rPr lang="zh-CN" altLang="en-US" b="1" dirty="0"/>
              <a:t>到目标结点的真实代价），则启发式可采纳性启发式。</a:t>
            </a:r>
          </a:p>
          <a:p>
            <a:pPr>
              <a:buFont typeface="Wingdings" pitchFamily="2" charset="2"/>
              <a:buNone/>
            </a:pPr>
            <a:r>
              <a:rPr lang="zh-CN" altLang="en-US" b="1" dirty="0">
                <a:latin typeface="Times New Roman" pitchFamily="18" charset="0"/>
              </a:rPr>
              <a:t>基于该启发式设计的算法具有可采纳性则称该算法具有可采纳性。</a:t>
            </a:r>
            <a:endParaRPr lang="en-US" altLang="zh-CN" b="1" dirty="0">
              <a:latin typeface="Times New Roman" pitchFamily="18" charset="0"/>
            </a:endParaRPr>
          </a:p>
          <a:p>
            <a:pPr>
              <a:buFont typeface="Wingdings" pitchFamily="2" charset="2"/>
              <a:buNone/>
            </a:pPr>
            <a:r>
              <a:rPr lang="zh-CN" altLang="en-US" b="1" dirty="0">
                <a:latin typeface="Times New Roman" pitchFamily="18" charset="0"/>
              </a:rPr>
              <a:t>（即可采纳启发式：它从不过高的估计到达目标的代价）</a:t>
            </a:r>
          </a:p>
          <a:p>
            <a:endParaRPr lang="zh-CN" altLang="en-US" dirty="0"/>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45</a:t>
            </a:fld>
            <a:endParaRPr lang="zh-CN" altLang="en-US"/>
          </a:p>
        </p:txBody>
      </p:sp>
    </p:spTree>
    <p:extLst>
      <p:ext uri="{BB962C8B-B14F-4D97-AF65-F5344CB8AC3E}">
        <p14:creationId xmlns:p14="http://schemas.microsoft.com/office/powerpoint/2010/main" val="36101672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b="1" dirty="0"/>
              <a:t>一致性（单调性）</a:t>
            </a:r>
            <a:endParaRPr lang="en-US" altLang="zh-CN" b="1" dirty="0"/>
          </a:p>
          <a:p>
            <a:r>
              <a:rPr lang="zh-CN" altLang="en-US" dirty="0"/>
              <a:t>称启发式</a:t>
            </a:r>
            <a:r>
              <a:rPr lang="en-US" altLang="zh-CN" dirty="0"/>
              <a:t>h</a:t>
            </a:r>
            <a:r>
              <a:rPr lang="zh-CN" altLang="en-US" dirty="0"/>
              <a:t>（</a:t>
            </a:r>
            <a:r>
              <a:rPr lang="en-US" altLang="zh-CN" dirty="0"/>
              <a:t>n</a:t>
            </a:r>
            <a:r>
              <a:rPr lang="zh-CN" altLang="en-US" dirty="0"/>
              <a:t>）是一致的：如果对于</a:t>
            </a:r>
            <a:r>
              <a:rPr lang="zh-CN" altLang="en-US" b="1" dirty="0"/>
              <a:t>每个结点</a:t>
            </a:r>
            <a:r>
              <a:rPr lang="en-US" altLang="zh-CN" b="1" dirty="0"/>
              <a:t>n</a:t>
            </a:r>
            <a:r>
              <a:rPr lang="zh-CN" altLang="en-US" b="1" dirty="0"/>
              <a:t>和通过任一行动</a:t>
            </a:r>
            <a:r>
              <a:rPr lang="en-US" altLang="zh-CN" b="1" dirty="0"/>
              <a:t>a</a:t>
            </a:r>
            <a:r>
              <a:rPr lang="zh-CN" altLang="en-US" b="1" dirty="0"/>
              <a:t>生成每个后续结点</a:t>
            </a:r>
            <a:r>
              <a:rPr lang="en-US" altLang="zh-CN" b="1" i="1" dirty="0"/>
              <a:t>n’</a:t>
            </a:r>
            <a:r>
              <a:rPr lang="zh-CN" altLang="en-US" b="1" dirty="0"/>
              <a:t>，</a:t>
            </a:r>
            <a:r>
              <a:rPr lang="zh-CN" altLang="en-US" dirty="0"/>
              <a:t>从结点</a:t>
            </a:r>
            <a:r>
              <a:rPr lang="en-US" altLang="zh-CN" dirty="0"/>
              <a:t>n</a:t>
            </a:r>
            <a:r>
              <a:rPr lang="zh-CN" altLang="en-US" dirty="0"/>
              <a:t>到达目标的估计代价</a:t>
            </a:r>
            <a:endParaRPr lang="en-US" altLang="zh-CN" dirty="0"/>
          </a:p>
          <a:p>
            <a:r>
              <a:rPr lang="zh-CN" altLang="en-US" b="1" dirty="0"/>
              <a:t>不大于从</a:t>
            </a:r>
            <a:r>
              <a:rPr lang="en-US" altLang="zh-CN" dirty="0"/>
              <a:t>n</a:t>
            </a:r>
            <a:r>
              <a:rPr lang="zh-CN" altLang="en-US" dirty="0"/>
              <a:t>到</a:t>
            </a:r>
            <a:r>
              <a:rPr lang="en-US" altLang="zh-CN" dirty="0"/>
              <a:t>n’</a:t>
            </a:r>
            <a:r>
              <a:rPr lang="zh-CN" altLang="en-US" dirty="0"/>
              <a:t>的单步代价与从</a:t>
            </a:r>
            <a:r>
              <a:rPr lang="en-US" altLang="zh-CN" dirty="0"/>
              <a:t>n’</a:t>
            </a:r>
            <a:r>
              <a:rPr lang="zh-CN" altLang="en-US" dirty="0"/>
              <a:t>到达目标的估计代价之和：</a:t>
            </a:r>
            <a:endParaRPr lang="en-US" altLang="zh-CN" dirty="0"/>
          </a:p>
          <a:p>
            <a:r>
              <a:rPr lang="en-US" altLang="zh-CN" i="1" dirty="0"/>
              <a:t>h(n) </a:t>
            </a:r>
            <a:r>
              <a:rPr lang="en-US" altLang="zh-CN" i="1" dirty="0">
                <a:cs typeface="Arial" charset="0"/>
              </a:rPr>
              <a:t>≤</a:t>
            </a:r>
            <a:r>
              <a:rPr lang="en-US" altLang="zh-CN" i="1" dirty="0"/>
              <a:t> c(</a:t>
            </a:r>
            <a:r>
              <a:rPr lang="en-US" altLang="zh-CN" i="1" dirty="0" err="1"/>
              <a:t>n,a,n</a:t>
            </a:r>
            <a:r>
              <a:rPr lang="en-US" altLang="zh-CN" i="1" dirty="0"/>
              <a:t>') + h(n')</a:t>
            </a:r>
          </a:p>
          <a:p>
            <a:endParaRPr lang="en-US" altLang="zh-CN" i="1" dirty="0"/>
          </a:p>
          <a:p>
            <a:r>
              <a:rPr lang="en-US" altLang="zh-CN" dirty="0"/>
              <a:t>=&gt;</a:t>
            </a:r>
            <a:r>
              <a:rPr lang="zh-CN" altLang="en-US" dirty="0"/>
              <a:t>评价函数</a:t>
            </a:r>
            <a:r>
              <a:rPr lang="en-US" altLang="zh-CN" dirty="0"/>
              <a:t>f(n)</a:t>
            </a:r>
            <a:r>
              <a:rPr lang="zh-CN" altLang="en-US" dirty="0"/>
              <a:t>值是非递减的</a:t>
            </a:r>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46</a:t>
            </a:fld>
            <a:endParaRPr lang="zh-CN" altLang="en-US"/>
          </a:p>
        </p:txBody>
      </p:sp>
    </p:spTree>
    <p:extLst>
      <p:ext uri="{BB962C8B-B14F-4D97-AF65-F5344CB8AC3E}">
        <p14:creationId xmlns:p14="http://schemas.microsoft.com/office/powerpoint/2010/main" val="4290258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1616628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solidFill>
                  <a:prstClr val="black"/>
                </a:solidFill>
              </a:rPr>
              <a:pPr/>
              <a:t>48</a:t>
            </a:fld>
            <a:endParaRPr lang="zh-CN" altLang="en-US">
              <a:solidFill>
                <a:prstClr val="black"/>
              </a:solidFill>
            </a:endParaRPr>
          </a:p>
        </p:txBody>
      </p:sp>
    </p:spTree>
    <p:extLst>
      <p:ext uri="{BB962C8B-B14F-4D97-AF65-F5344CB8AC3E}">
        <p14:creationId xmlns:p14="http://schemas.microsoft.com/office/powerpoint/2010/main" val="1676586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49</a:t>
            </a:fld>
            <a:endParaRPr lang="zh-CN" altLang="en-US"/>
          </a:p>
        </p:txBody>
      </p:sp>
    </p:spTree>
    <p:extLst>
      <p:ext uri="{BB962C8B-B14F-4D97-AF65-F5344CB8AC3E}">
        <p14:creationId xmlns:p14="http://schemas.microsoft.com/office/powerpoint/2010/main" val="32474619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50</a:t>
            </a:fld>
            <a:endParaRPr lang="zh-CN" altLang="en-US"/>
          </a:p>
        </p:txBody>
      </p:sp>
    </p:spTree>
    <p:extLst>
      <p:ext uri="{BB962C8B-B14F-4D97-AF65-F5344CB8AC3E}">
        <p14:creationId xmlns:p14="http://schemas.microsoft.com/office/powerpoint/2010/main" val="37844380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73CECBE-1A7C-4FEA-A0E9-04585D558B95}" type="slidenum">
              <a:rPr lang="zh-CN" altLang="en-US" smtClean="0"/>
              <a:pPr>
                <a:defRPr/>
              </a:pPr>
              <a:t>51</a:t>
            </a:fld>
            <a:endParaRPr lang="zh-CN" altLang="en-US"/>
          </a:p>
        </p:txBody>
      </p:sp>
    </p:spTree>
    <p:extLst>
      <p:ext uri="{BB962C8B-B14F-4D97-AF65-F5344CB8AC3E}">
        <p14:creationId xmlns:p14="http://schemas.microsoft.com/office/powerpoint/2010/main" val="42581250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solidFill>
                  <a:prstClr val="black"/>
                </a:solidFill>
              </a:rPr>
              <a:pPr/>
              <a:t>53</a:t>
            </a:fld>
            <a:endParaRPr lang="zh-CN" altLang="en-US">
              <a:solidFill>
                <a:prstClr val="black"/>
              </a:solidFill>
            </a:endParaRPr>
          </a:p>
        </p:txBody>
      </p:sp>
    </p:spTree>
    <p:extLst>
      <p:ext uri="{BB962C8B-B14F-4D97-AF65-F5344CB8AC3E}">
        <p14:creationId xmlns:p14="http://schemas.microsoft.com/office/powerpoint/2010/main" val="21992118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solidFill>
                  <a:prstClr val="black"/>
                </a:solidFill>
              </a:rPr>
              <a:pPr/>
              <a:t>54</a:t>
            </a:fld>
            <a:endParaRPr lang="zh-CN" altLang="en-US">
              <a:solidFill>
                <a:prstClr val="black"/>
              </a:solidFill>
            </a:endParaRPr>
          </a:p>
        </p:txBody>
      </p:sp>
    </p:spTree>
    <p:extLst>
      <p:ext uri="{BB962C8B-B14F-4D97-AF65-F5344CB8AC3E}">
        <p14:creationId xmlns:p14="http://schemas.microsoft.com/office/powerpoint/2010/main" val="38608086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b="1" dirty="0">
                <a:latin typeface="Times New Roman" pitchFamily="18" charset="0"/>
              </a:rPr>
              <a:t>对于任意结点</a:t>
            </a:r>
            <a:r>
              <a:rPr lang="en-US" altLang="zh-CN" b="1" dirty="0">
                <a:latin typeface="Times New Roman" pitchFamily="18" charset="0"/>
              </a:rPr>
              <a:t>n</a:t>
            </a:r>
            <a:r>
              <a:rPr lang="zh-CN" altLang="en-US" b="1" dirty="0">
                <a:latin typeface="Times New Roman" pitchFamily="18" charset="0"/>
              </a:rPr>
              <a:t>，</a:t>
            </a:r>
            <a:r>
              <a:rPr lang="en-US" altLang="zh-CN" b="1" dirty="0">
                <a:latin typeface="Times New Roman" pitchFamily="18" charset="0"/>
              </a:rPr>
              <a:t>h2(n) ≥ h1(n),</a:t>
            </a:r>
            <a:r>
              <a:rPr lang="zh-CN" altLang="en-US" b="1" dirty="0">
                <a:latin typeface="Times New Roman" pitchFamily="18" charset="0"/>
              </a:rPr>
              <a:t>因此称</a:t>
            </a:r>
            <a:r>
              <a:rPr lang="en-US" altLang="zh-CN" b="1" dirty="0">
                <a:latin typeface="Times New Roman" pitchFamily="18" charset="0"/>
              </a:rPr>
              <a:t>h2</a:t>
            </a:r>
            <a:r>
              <a:rPr lang="zh-CN" altLang="en-US" b="1" dirty="0">
                <a:latin typeface="Times New Roman" pitchFamily="18" charset="0"/>
              </a:rPr>
              <a:t>比</a:t>
            </a:r>
            <a:r>
              <a:rPr lang="en-US" altLang="zh-CN" b="1" dirty="0">
                <a:latin typeface="Times New Roman" pitchFamily="18" charset="0"/>
              </a:rPr>
              <a:t>h1</a:t>
            </a:r>
            <a:r>
              <a:rPr lang="zh-CN" altLang="en-US" b="1" dirty="0">
                <a:latin typeface="Times New Roman" pitchFamily="18" charset="0"/>
              </a:rPr>
              <a:t>占优势</a:t>
            </a:r>
            <a:r>
              <a:rPr lang="en-US" altLang="zh-CN" b="1" dirty="0">
                <a:latin typeface="Times New Roman" pitchFamily="18" charset="0"/>
              </a:rPr>
              <a:t> </a:t>
            </a:r>
          </a:p>
          <a:p>
            <a:r>
              <a:rPr lang="zh-CN" altLang="en-US" b="1" dirty="0">
                <a:latin typeface="Times New Roman" pitchFamily="18" charset="0"/>
              </a:rPr>
              <a:t>设计接近、又总是小于等于</a:t>
            </a:r>
            <a:r>
              <a:rPr lang="en-US" altLang="zh-CN" b="1" dirty="0">
                <a:latin typeface="Times New Roman" pitchFamily="18" charset="0"/>
              </a:rPr>
              <a:t>h</a:t>
            </a:r>
            <a:r>
              <a:rPr lang="en-US" altLang="zh-CN" b="1" baseline="30000" dirty="0">
                <a:latin typeface="Times New Roman" pitchFamily="18" charset="0"/>
              </a:rPr>
              <a:t>*</a:t>
            </a:r>
            <a:r>
              <a:rPr lang="en-US" altLang="zh-CN" b="1" dirty="0">
                <a:latin typeface="Times New Roman" pitchFamily="18" charset="0"/>
              </a:rPr>
              <a:t>(n)</a:t>
            </a:r>
            <a:r>
              <a:rPr lang="zh-CN" altLang="en-US" b="1" dirty="0">
                <a:latin typeface="Times New Roman" pitchFamily="18" charset="0"/>
              </a:rPr>
              <a:t>的</a:t>
            </a:r>
            <a:r>
              <a:rPr lang="en-US" altLang="zh-CN" b="1" dirty="0">
                <a:latin typeface="Times New Roman" pitchFamily="18" charset="0"/>
              </a:rPr>
              <a:t>h(n)</a:t>
            </a:r>
            <a:r>
              <a:rPr lang="zh-CN" altLang="en-US" b="1" dirty="0">
                <a:latin typeface="Times New Roman" pitchFamily="18" charset="0"/>
              </a:rPr>
              <a:t>是应用</a:t>
            </a:r>
            <a:r>
              <a:rPr lang="en-US" altLang="zh-CN" b="1" dirty="0">
                <a:latin typeface="Times New Roman" pitchFamily="18" charset="0"/>
              </a:rPr>
              <a:t>A</a:t>
            </a:r>
            <a:r>
              <a:rPr lang="en-US" altLang="zh-CN" b="1" baseline="30000" dirty="0">
                <a:latin typeface="Times New Roman" pitchFamily="18" charset="0"/>
              </a:rPr>
              <a:t>*</a:t>
            </a:r>
            <a:r>
              <a:rPr lang="zh-CN" altLang="en-US" b="1" dirty="0">
                <a:latin typeface="Times New Roman" pitchFamily="18" charset="0"/>
              </a:rPr>
              <a:t>算法</a:t>
            </a:r>
            <a:r>
              <a:rPr lang="en-US" altLang="zh-CN" b="1" dirty="0">
                <a:latin typeface="Times New Roman" pitchFamily="18" charset="0"/>
              </a:rPr>
              <a:t>(h(n) </a:t>
            </a:r>
            <a:r>
              <a:rPr lang="en-US" altLang="en-US" b="1" dirty="0"/>
              <a:t>≤ </a:t>
            </a:r>
            <a:r>
              <a:rPr lang="en-US" altLang="zh-CN" b="1" dirty="0">
                <a:latin typeface="Times New Roman" pitchFamily="18" charset="0"/>
              </a:rPr>
              <a:t>h</a:t>
            </a:r>
            <a:r>
              <a:rPr lang="en-US" altLang="zh-CN" b="1" baseline="30000" dirty="0">
                <a:latin typeface="Times New Roman" pitchFamily="18" charset="0"/>
              </a:rPr>
              <a:t>*</a:t>
            </a:r>
            <a:r>
              <a:rPr lang="en-US" altLang="zh-CN" b="1" dirty="0">
                <a:latin typeface="Times New Roman" pitchFamily="18" charset="0"/>
              </a:rPr>
              <a:t>(n))</a:t>
            </a:r>
            <a:r>
              <a:rPr lang="zh-CN" altLang="en-US" b="1" dirty="0">
                <a:latin typeface="Times New Roman" pitchFamily="18" charset="0"/>
              </a:rPr>
              <a:t>搜索问题解答的关键。</a:t>
            </a:r>
            <a:r>
              <a:rPr lang="zh-CN" altLang="en-US" b="1" dirty="0"/>
              <a:t> </a:t>
            </a:r>
            <a:endParaRPr lang="zh-CN" altLang="en-US" dirty="0"/>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55</a:t>
            </a:fld>
            <a:endParaRPr lang="zh-CN" altLang="en-US"/>
          </a:p>
        </p:txBody>
      </p:sp>
    </p:spTree>
    <p:extLst>
      <p:ext uri="{BB962C8B-B14F-4D97-AF65-F5344CB8AC3E}">
        <p14:creationId xmlns:p14="http://schemas.microsoft.com/office/powerpoint/2010/main" val="31249956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dirty="0"/>
              <a:t>从松弛问题出发设计可采纳的启发式。</a:t>
            </a:r>
            <a:endParaRPr lang="en-US" altLang="zh-CN" dirty="0"/>
          </a:p>
          <a:p>
            <a:r>
              <a:rPr lang="zh-CN" altLang="en-US" dirty="0"/>
              <a:t>减少了行动限制的问题称为</a:t>
            </a:r>
            <a:r>
              <a:rPr lang="zh-CN" altLang="en-US" b="1" dirty="0"/>
              <a:t>松弛问题；</a:t>
            </a:r>
            <a:endParaRPr lang="en-US" altLang="zh-CN" b="1" dirty="0"/>
          </a:p>
          <a:p>
            <a:r>
              <a:rPr lang="zh-CN" altLang="en-US" b="1" dirty="0"/>
              <a:t>一个松弛问题的最优解是原有问题的可采纳的启发式：</a:t>
            </a:r>
            <a:endParaRPr lang="en-US" altLang="zh-CN" b="1" dirty="0"/>
          </a:p>
          <a:p>
            <a:r>
              <a:rPr lang="zh-CN" altLang="en-US" dirty="0"/>
              <a:t>原因：减少限制，松弛问题增加了状态空间的边，原有问题中的任一最优解同样是松弛问题的最优解；</a:t>
            </a:r>
            <a:endParaRPr lang="en-US" altLang="zh-CN" dirty="0"/>
          </a:p>
          <a:p>
            <a:r>
              <a:rPr lang="zh-CN" altLang="en-US" dirty="0"/>
              <a:t>但是松弛问题可能存在更好的解，增加的边可能导致捷径</a:t>
            </a:r>
            <a:endParaRPr lang="en-US" altLang="zh-CN" dirty="0"/>
          </a:p>
          <a:p>
            <a:endParaRPr lang="en-US" altLang="zh-CN" dirty="0"/>
          </a:p>
          <a:p>
            <a:r>
              <a:rPr lang="en-US" altLang="zh-CN" b="1" dirty="0"/>
              <a:t>H1(n)</a:t>
            </a:r>
            <a:r>
              <a:rPr lang="zh-CN" altLang="en-US" b="1" dirty="0"/>
              <a:t>给出最短解的确切步数？？</a:t>
            </a:r>
          </a:p>
          <a:p>
            <a:pPr eaLnBrk="1" hangingPunct="1"/>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525E412-DC64-4219-BA56-1D5AC51FF35E}" type="slidenum">
              <a:rPr lang="zh-CN" altLang="en-US" smtClean="0"/>
              <a:pPr/>
              <a:t>56</a:t>
            </a:fld>
            <a:endParaRPr lang="zh-CN" altLang="en-US"/>
          </a:p>
        </p:txBody>
      </p:sp>
    </p:spTree>
    <p:extLst>
      <p:ext uri="{BB962C8B-B14F-4D97-AF65-F5344CB8AC3E}">
        <p14:creationId xmlns:p14="http://schemas.microsoft.com/office/powerpoint/2010/main" val="31793767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10"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6"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5"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7"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9EC672-A802-4CF9-8EDD-265C5EC38688}" type="datetimeFigureOut">
              <a:rPr lang="zh-CN" altLang="en-US" smtClean="0"/>
              <a:t>2025/3/12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pic>
        <p:nvPicPr>
          <p:cNvPr id="4"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pic>
        <p:nvPicPr>
          <p:cNvPr id="11"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9EC672-A802-4CF9-8EDD-265C5EC38688}" type="datetimeFigureOut">
              <a:rPr lang="zh-CN" altLang="en-US" smtClean="0"/>
              <a:t>2025/3/12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86DAA-B213-4A1F-9178-18865ABDB11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9.png"/><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0.wmf"/><Relationship Id="rId3" Type="http://schemas.openxmlformats.org/officeDocument/2006/relationships/notesSlide" Target="../notesSlides/notesSlide22.xml"/><Relationship Id="rId7" Type="http://schemas.openxmlformats.org/officeDocument/2006/relationships/image" Target="../media/image17.wmf"/><Relationship Id="rId12"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8.wmf"/><Relationship Id="rId14" Type="http://schemas.openxmlformats.org/officeDocument/2006/relationships/oleObject" Target="../embeddings/oleObject8.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wmv"/><Relationship Id="rId1" Type="http://schemas.microsoft.com/office/2007/relationships/media" Target="../media/media1.wmv"/><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wmv"/><Relationship Id="rId1" Type="http://schemas.microsoft.com/office/2007/relationships/media" Target="../media/media2.wmv"/><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notesSlide" Target="../notesSlides/notesSlide4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774317" y="2417253"/>
            <a:ext cx="10268236" cy="2023493"/>
          </a:xfrm>
          <a:prstGeom prst="rect">
            <a:avLst/>
          </a:prstGeom>
        </p:spPr>
        <p:txBody>
          <a:bodyPr vert="horz" lIns="91440" tIns="45720" rIns="91440" bIns="45720" rtlCol="0" anchor="b">
            <a:normAutofit fontScale="95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smtClean="0">
                <a:ln w="22225">
                  <a:solidFill>
                    <a:schemeClr val="accent2"/>
                  </a:solidFill>
                  <a:prstDash val="solid"/>
                </a:ln>
                <a:solidFill>
                  <a:schemeClr val="accent2">
                    <a:lumMod val="40000"/>
                    <a:lumOff val="60000"/>
                  </a:schemeClr>
                </a:solidFill>
              </a:rPr>
              <a:t>第三章</a:t>
            </a:r>
            <a:r>
              <a:rPr lang="zh-CN" altLang="zh-CN" sz="6100" b="1" dirty="0">
                <a:ln w="22225">
                  <a:solidFill>
                    <a:schemeClr val="accent2"/>
                  </a:solidFill>
                  <a:prstDash val="solid"/>
                </a:ln>
                <a:solidFill>
                  <a:schemeClr val="accent2">
                    <a:lumMod val="40000"/>
                    <a:lumOff val="60000"/>
                  </a:schemeClr>
                </a:solidFill>
              </a:rPr>
              <a:t>搜索探寻与问题求解</a:t>
            </a:r>
          </a:p>
          <a:p>
            <a:endParaRPr lang="en-US" altLang="zh-CN" sz="3700" b="1" dirty="0">
              <a:ln w="22225">
                <a:solidFill>
                  <a:schemeClr val="accent2"/>
                </a:solidFill>
                <a:prstDash val="solid"/>
              </a:ln>
              <a:solidFill>
                <a:schemeClr val="accent2">
                  <a:lumMod val="40000"/>
                  <a:lumOff val="60000"/>
                </a:schemeClr>
              </a:solidFill>
            </a:endParaRPr>
          </a:p>
          <a:p>
            <a:r>
              <a:rPr lang="zh-CN" altLang="en-US" sz="3700" dirty="0" smtClean="0">
                <a:ln w="22225">
                  <a:solidFill>
                    <a:schemeClr val="accent2"/>
                  </a:solidFill>
                  <a:prstDash val="solid"/>
                </a:ln>
                <a:solidFill>
                  <a:schemeClr val="accent2">
                    <a:lumMod val="40000"/>
                    <a:lumOff val="60000"/>
                  </a:schemeClr>
                </a:solidFill>
              </a:rPr>
              <a:t>搜索树构建与启发式搜索</a:t>
            </a:r>
            <a:endParaRPr lang="zh-CN" altLang="en-US" sz="3700" dirty="0">
              <a:ln w="22225">
                <a:solidFill>
                  <a:schemeClr val="accent2"/>
                </a:solidFill>
                <a:prstDash val="solid"/>
              </a:ln>
              <a:solidFill>
                <a:schemeClr val="accent2">
                  <a:lumMod val="40000"/>
                  <a:lumOff val="60000"/>
                </a:schemeClr>
              </a:solidFill>
            </a:endParaRPr>
          </a:p>
        </p:txBody>
      </p:sp>
      <p:sp>
        <p:nvSpPr>
          <p:cNvPr id="8" name="Rectangle 4"/>
          <p:cNvSpPr>
            <a:spLocks noGrp="1" noChangeArrowheads="1"/>
          </p:cNvSpPr>
          <p:nvPr>
            <p:ph type="ctrTitle"/>
          </p:nvPr>
        </p:nvSpPr>
        <p:spPr>
          <a:xfrm>
            <a:off x="498235" y="791671"/>
            <a:ext cx="5410200" cy="589165"/>
          </a:xfrm>
        </p:spPr>
        <p:txBody>
          <a:bodyPr>
            <a:normAutofit/>
          </a:bodyPr>
          <a:lstStyle/>
          <a:p>
            <a:pPr algn="l"/>
            <a:r>
              <a:rPr lang="zh-CN" altLang="en-US" sz="3000" dirty="0">
                <a:ea typeface="宋体" panose="02010600030101010101" pitchFamily="2" charset="-122"/>
              </a:rPr>
              <a:t>课程</a:t>
            </a:r>
            <a:r>
              <a:rPr lang="en-US" altLang="zh-CN" sz="3000" dirty="0">
                <a:ea typeface="宋体" panose="02010600030101010101" pitchFamily="2" charset="-122"/>
              </a:rPr>
              <a:t>《</a:t>
            </a:r>
            <a:r>
              <a:rPr lang="zh-CN" altLang="en-US" sz="3200" dirty="0">
                <a:latin typeface="宋体" panose="02010600030101010101" pitchFamily="2" charset="-122"/>
                <a:ea typeface="宋体" panose="02010600030101010101" pitchFamily="2" charset="-122"/>
                <a:cs typeface="Times New Roman" panose="02020603050405020304" pitchFamily="18" charset="0"/>
              </a:rPr>
              <a:t>人工智能原理与技术</a:t>
            </a:r>
            <a:r>
              <a:rPr lang="en-US" altLang="zh-CN" sz="3000" i="0" dirty="0">
                <a:ea typeface="宋体" panose="02010600030101010101" pitchFamily="2" charset="-122"/>
              </a:rPr>
              <a:t>》</a:t>
            </a:r>
          </a:p>
        </p:txBody>
      </p:sp>
      <p:pic>
        <p:nvPicPr>
          <p:cNvPr id="10" name="图片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94367" y="2038049"/>
            <a:ext cx="2974362" cy="1052720"/>
            <a:chOff x="422953" y="1892526"/>
            <a:chExt cx="2974362" cy="1052720"/>
          </a:xfrm>
        </p:grpSpPr>
        <p:sp>
          <p:nvSpPr>
            <p:cNvPr id="24" name="文本框 23"/>
            <p:cNvSpPr txBox="1"/>
            <p:nvPr/>
          </p:nvSpPr>
          <p:spPr>
            <a:xfrm>
              <a:off x="750437" y="2114249"/>
              <a:ext cx="2646878" cy="830997"/>
            </a:xfrm>
            <a:prstGeom prst="rect">
              <a:avLst/>
            </a:prstGeom>
            <a:noFill/>
          </p:spPr>
          <p:txBody>
            <a:bodyPr wrap="none" rtlCol="0">
              <a:spAutoFit/>
            </a:bodyPr>
            <a:lstStyle/>
            <a:p>
              <a:pPr>
                <a:lnSpc>
                  <a:spcPct val="200000"/>
                </a:lnSpc>
              </a:pPr>
              <a:r>
                <a:rPr lang="zh-CN" altLang="en-US" sz="2400" b="1" dirty="0" smtClean="0">
                  <a:solidFill>
                    <a:srgbClr val="FF0000"/>
                  </a:solidFill>
                </a:rPr>
                <a:t>搜索的形式化描述</a:t>
              </a:r>
              <a:endParaRPr lang="en-US" altLang="zh-CN" sz="2400" b="1" dirty="0">
                <a:solidFill>
                  <a:srgbClr val="FF0000"/>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339102" cy="461665"/>
          </a:xfrm>
          <a:prstGeom prst="rect">
            <a:avLst/>
          </a:prstGeom>
          <a:noFill/>
        </p:spPr>
        <p:txBody>
          <a:bodyPr wrap="none" rtlCol="0">
            <a:spAutoFit/>
          </a:bodyPr>
          <a:lstStyle/>
          <a:p>
            <a:r>
              <a:rPr lang="zh-CN" altLang="en-US" sz="2400" b="1" dirty="0" smtClean="0">
                <a:solidFill>
                  <a:srgbClr val="24569D"/>
                </a:solidFill>
              </a:rPr>
              <a:t>性能分析和案例</a:t>
            </a:r>
            <a:endParaRPr lang="zh-CN" altLang="en-US" sz="2400" b="1" dirty="0">
              <a:solidFill>
                <a:srgbClr val="24569D"/>
              </a:solidFill>
            </a:endParaRP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441833" y="2411796"/>
            <a:ext cx="1723549" cy="461665"/>
          </a:xfrm>
          <a:prstGeom prst="rect">
            <a:avLst/>
          </a:prstGeom>
          <a:noFill/>
        </p:spPr>
        <p:txBody>
          <a:bodyPr wrap="none" rtlCol="0">
            <a:spAutoFit/>
          </a:bodyPr>
          <a:lstStyle/>
          <a:p>
            <a:r>
              <a:rPr lang="zh-CN" altLang="en-US" sz="2400" b="1" dirty="0" smtClean="0">
                <a:solidFill>
                  <a:srgbClr val="24569D"/>
                </a:solidFill>
              </a:rPr>
              <a:t>搜索树构建</a:t>
            </a:r>
            <a:endParaRPr lang="zh-CN" altLang="en-US" sz="2400" b="1" dirty="0">
              <a:solidFill>
                <a:srgbClr val="24569D"/>
              </a:solidFill>
            </a:endParaRPr>
          </a:p>
        </p:txBody>
      </p:sp>
      <p:sp>
        <p:nvSpPr>
          <p:cNvPr id="29" name="矩形 28"/>
          <p:cNvSpPr/>
          <p:nvPr/>
        </p:nvSpPr>
        <p:spPr>
          <a:xfrm>
            <a:off x="1648515" y="4869981"/>
            <a:ext cx="1723549" cy="461665"/>
          </a:xfrm>
          <a:prstGeom prst="rect">
            <a:avLst/>
          </a:prstGeom>
        </p:spPr>
        <p:txBody>
          <a:bodyPr wrap="none">
            <a:spAutoFit/>
          </a:bodyPr>
          <a:lstStyle/>
          <a:p>
            <a:pPr lvl="0"/>
            <a:r>
              <a:rPr lang="zh-CN" altLang="en-US" sz="2400" b="1" dirty="0" smtClean="0">
                <a:solidFill>
                  <a:srgbClr val="24569D"/>
                </a:solidFill>
              </a:rPr>
              <a:t>启发式搜索</a:t>
            </a:r>
            <a:endParaRPr lang="zh-CN" altLang="en-US" sz="2400" b="1" dirty="0">
              <a:solidFill>
                <a:srgbClr val="24569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75385" y="1457689"/>
            <a:ext cx="7639098" cy="1526572"/>
          </a:xfrm>
          <a:prstGeom prst="rect">
            <a:avLst/>
          </a:prstGeom>
          <a:gradFill>
            <a:gsLst>
              <a:gs pos="0">
                <a:srgbClr val="0093A2"/>
              </a:gs>
              <a:gs pos="100000">
                <a:srgbClr val="222222">
                  <a:alpha val="0"/>
                </a:srgbClr>
              </a:gs>
              <a:gs pos="96000">
                <a:srgbClr val="222222"/>
              </a:gs>
              <a:gs pos="36000">
                <a:srgbClr val="01717E"/>
              </a:gs>
            </a:gsLst>
            <a:lin ang="0" scaled="0"/>
          </a:gradFill>
        </p:spPr>
        <p:txBody>
          <a:bodyPr wrap="square">
            <a:spAutoFit/>
          </a:bodyPr>
          <a:lstStyle/>
          <a:p>
            <a:pPr indent="575945" algn="just">
              <a:lnSpc>
                <a:spcPct val="130000"/>
              </a:lnSpc>
              <a:spcBef>
                <a:spcPts val="600"/>
              </a:spcBef>
            </a:pPr>
            <a:r>
              <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故记诵者，学问之舟车也</a:t>
            </a:r>
            <a:r>
              <a:rPr lang="en-US"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endPar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575945" algn="r">
              <a:lnSpc>
                <a:spcPct val="130000"/>
              </a:lnSpc>
              <a:spcBef>
                <a:spcPts val="600"/>
              </a:spcBef>
            </a:pPr>
            <a:endPar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indent="575945" algn="r">
              <a:lnSpc>
                <a:spcPct val="130000"/>
              </a:lnSpc>
              <a:spcBef>
                <a:spcPts val="600"/>
              </a:spcBef>
            </a:pPr>
            <a:r>
              <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t>
            </a:r>
            <a:r>
              <a:rPr lang="zh-CN"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清·章学诚《文史通义》</a:t>
            </a:r>
            <a:r>
              <a:rPr lang="en-US"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endParaRPr lang="zh-CN" altLang="en-US"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11" name="矩形 10"/>
          <p:cNvSpPr/>
          <p:nvPr/>
        </p:nvSpPr>
        <p:spPr>
          <a:xfrm>
            <a:off x="1273974" y="4189300"/>
            <a:ext cx="9202479" cy="2346283"/>
          </a:xfrm>
          <a:prstGeom prst="rect">
            <a:avLst/>
          </a:prstGeom>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“学问之始，未能记诵；博涉既深，将趋记诵；故记诵者，学问之舟车也”。背诵是学问的基本功，犹如搜索算法从庞大</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解空间中搜索</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得到</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与问题相对应、满足一定约束条件的最佳答案，寻找一条从初始状态（问题所处状态）到目标状态（答案所处状态）的最佳路径</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zh-CN" altLang="en-US" sz="2000" dirty="0">
              <a:latin typeface="微软雅黑" panose="020B0503020204020204" pitchFamily="34" charset="-122"/>
              <a:ea typeface="微软雅黑" panose="020B0503020204020204" pitchFamily="34" charset="-122"/>
            </a:endParaRPr>
          </a:p>
        </p:txBody>
      </p:sp>
      <p:pic>
        <p:nvPicPr>
          <p:cNvPr id="12" name="Picture 2" descr="章学诚">
            <a:extLst>
              <a:ext uri="{FF2B5EF4-FFF2-40B4-BE49-F238E27FC236}">
                <a16:creationId xmlns:a16="http://schemas.microsoft.com/office/drawing/2014/main" id="{8850DF4F-61E5-400D-A41B-ED918EE600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4483" y="1411411"/>
            <a:ext cx="1528630" cy="2032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93861" y="1449782"/>
            <a:ext cx="2082621" cy="523220"/>
          </a:xfrm>
          <a:prstGeom prst="rect">
            <a:avLst/>
          </a:prstGeom>
        </p:spPr>
        <p:txBody>
          <a:bodyPr wrap="none">
            <a:spAutoFit/>
          </a:bodyPr>
          <a:lstStyle/>
          <a:p>
            <a:pPr marL="457200" indent="-457200">
              <a:buFont typeface="Wingdings" panose="05000000000000000000" pitchFamily="2" charset="2"/>
              <a:buChar char="Ø"/>
            </a:pPr>
            <a:r>
              <a:rPr lang="zh-CN" altLang="en-US" sz="2800" b="1" dirty="0">
                <a:solidFill>
                  <a:srgbClr val="0070C0"/>
                </a:solidFill>
                <a:latin typeface="微软雅黑" panose="020B0503020204020204" pitchFamily="34" charset="-122"/>
                <a:ea typeface="微软雅黑" panose="020B0503020204020204" pitchFamily="34" charset="-122"/>
              </a:rPr>
              <a:t>问题导入</a:t>
            </a:r>
            <a:endParaRPr lang="en-US" altLang="zh-CN" sz="2800" b="1" dirty="0">
              <a:solidFill>
                <a:srgbClr val="0070C0"/>
              </a:solidFill>
              <a:latin typeface="微软雅黑" panose="020B0503020204020204" pitchFamily="34" charset="-122"/>
              <a:ea typeface="微软雅黑" panose="020B0503020204020204" pitchFamily="34" charset="-122"/>
            </a:endParaRPr>
          </a:p>
        </p:txBody>
      </p:sp>
      <p:sp>
        <p:nvSpPr>
          <p:cNvPr id="11" name="Rectangle 3"/>
          <p:cNvSpPr txBox="1">
            <a:spLocks noChangeArrowheads="1"/>
          </p:cNvSpPr>
          <p:nvPr/>
        </p:nvSpPr>
        <p:spPr>
          <a:xfrm>
            <a:off x="2135561" y="3150276"/>
            <a:ext cx="8435975" cy="7096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b="1" smtClean="0"/>
              <a:t>问题</a:t>
            </a:r>
            <a:r>
              <a:rPr lang="en-US" altLang="zh-CN" b="1" smtClean="0"/>
              <a:t>:</a:t>
            </a:r>
            <a:r>
              <a:rPr lang="en-US" altLang="zh-CN" smtClean="0"/>
              <a:t> </a:t>
            </a:r>
            <a:r>
              <a:rPr lang="zh-CN" altLang="en-US" smtClean="0"/>
              <a:t>用</a:t>
            </a:r>
            <a:r>
              <a:rPr lang="en-US" altLang="zh-CN" smtClean="0"/>
              <a:t>3</a:t>
            </a:r>
            <a:r>
              <a:rPr lang="zh-CN" altLang="en-US" smtClean="0"/>
              <a:t>个杯子，测量出</a:t>
            </a:r>
            <a:r>
              <a:rPr lang="en-US" altLang="zh-CN" smtClean="0"/>
              <a:t>7</a:t>
            </a:r>
            <a:r>
              <a:rPr lang="zh-CN" altLang="en-US" smtClean="0"/>
              <a:t>升水</a:t>
            </a:r>
            <a:endParaRPr lang="en-US" altLang="zh-CN" dirty="0"/>
          </a:p>
        </p:txBody>
      </p:sp>
      <p:grpSp>
        <p:nvGrpSpPr>
          <p:cNvPr id="12" name="Group 4"/>
          <p:cNvGrpSpPr>
            <a:grpSpLocks/>
          </p:cNvGrpSpPr>
          <p:nvPr/>
        </p:nvGrpSpPr>
        <p:grpSpPr bwMode="auto">
          <a:xfrm>
            <a:off x="4367808" y="4583613"/>
            <a:ext cx="3048000" cy="1600200"/>
            <a:chOff x="1776" y="1248"/>
            <a:chExt cx="1920" cy="1008"/>
          </a:xfrm>
        </p:grpSpPr>
        <p:sp>
          <p:nvSpPr>
            <p:cNvPr id="13" name="AutoShape 5"/>
            <p:cNvSpPr>
              <a:spLocks noChangeArrowheads="1"/>
            </p:cNvSpPr>
            <p:nvPr/>
          </p:nvSpPr>
          <p:spPr bwMode="auto">
            <a:xfrm>
              <a:off x="1776" y="1824"/>
              <a:ext cx="480" cy="432"/>
            </a:xfrm>
            <a:prstGeom prst="can">
              <a:avLst>
                <a:gd name="adj" fmla="val 20602"/>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r>
                <a:rPr lang="en-US" altLang="zh-CN" sz="2400" i="1">
                  <a:latin typeface="Times New Roman" pitchFamily="18" charset="0"/>
                </a:rPr>
                <a:t>3 l</a:t>
              </a:r>
            </a:p>
          </p:txBody>
        </p:sp>
        <p:sp>
          <p:nvSpPr>
            <p:cNvPr id="14" name="AutoShape 6"/>
            <p:cNvSpPr>
              <a:spLocks noChangeArrowheads="1"/>
            </p:cNvSpPr>
            <p:nvPr/>
          </p:nvSpPr>
          <p:spPr bwMode="auto">
            <a:xfrm>
              <a:off x="2496" y="1680"/>
              <a:ext cx="480" cy="576"/>
            </a:xfrm>
            <a:prstGeom prst="can">
              <a:avLst>
                <a:gd name="adj" fmla="val 19378"/>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r>
                <a:rPr lang="en-US" altLang="zh-CN" sz="2400" i="1">
                  <a:latin typeface="Times New Roman" pitchFamily="18" charset="0"/>
                </a:rPr>
                <a:t>5 l</a:t>
              </a:r>
            </a:p>
          </p:txBody>
        </p:sp>
        <p:sp>
          <p:nvSpPr>
            <p:cNvPr id="15" name="AutoShape 7"/>
            <p:cNvSpPr>
              <a:spLocks noChangeArrowheads="1"/>
            </p:cNvSpPr>
            <p:nvPr/>
          </p:nvSpPr>
          <p:spPr bwMode="auto">
            <a:xfrm>
              <a:off x="3216" y="1248"/>
              <a:ext cx="480" cy="1008"/>
            </a:xfrm>
            <a:prstGeom prst="can">
              <a:avLst>
                <a:gd name="adj" fmla="val 20621"/>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r>
                <a:rPr lang="en-US" altLang="zh-CN" sz="2400" i="1" dirty="0">
                  <a:latin typeface="Times New Roman" pitchFamily="18" charset="0"/>
                </a:rPr>
                <a:t>9 l</a:t>
              </a:r>
            </a:p>
          </p:txBody>
        </p:sp>
      </p:grpSp>
      <p:sp>
        <p:nvSpPr>
          <p:cNvPr id="16" name="矩形 15"/>
          <p:cNvSpPr/>
          <p:nvPr/>
        </p:nvSpPr>
        <p:spPr>
          <a:xfrm>
            <a:off x="1991544" y="2358189"/>
            <a:ext cx="2573140" cy="584775"/>
          </a:xfrm>
          <a:prstGeom prst="rect">
            <a:avLst/>
          </a:prstGeom>
        </p:spPr>
        <p:txBody>
          <a:bodyPr wrap="none">
            <a:spAutoFit/>
          </a:bodyPr>
          <a:lstStyle/>
          <a:p>
            <a:pPr>
              <a:buClr>
                <a:srgbClr val="FF0000"/>
              </a:buClr>
              <a:buSzPct val="90000"/>
              <a:buFont typeface="Wingdings" panose="05000000000000000000" pitchFamily="2" charset="2"/>
              <a:buChar char="p"/>
            </a:pPr>
            <a:r>
              <a:rPr lang="zh-CN" altLang="en-US" sz="3200" b="1" dirty="0"/>
              <a:t>测量问题：</a:t>
            </a:r>
            <a:endParaRPr lang="en-US" altLang="zh-CN" sz="3200" b="1" dirty="0"/>
          </a:p>
        </p:txBody>
      </p:sp>
      <p:grpSp>
        <p:nvGrpSpPr>
          <p:cNvPr id="22" name="组合 21"/>
          <p:cNvGrpSpPr/>
          <p:nvPr/>
        </p:nvGrpSpPr>
        <p:grpSpPr>
          <a:xfrm>
            <a:off x="1392281" y="438023"/>
            <a:ext cx="7464387" cy="557165"/>
            <a:chOff x="4099943" y="2819853"/>
            <a:chExt cx="2570275" cy="557165"/>
          </a:xfrm>
        </p:grpSpPr>
        <p:sp>
          <p:nvSpPr>
            <p:cNvPr id="23" name="平行四边形 2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平行四边形 23"/>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5" name="矩形 24"/>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ChangeArrowheads="1"/>
          </p:cNvSpPr>
          <p:nvPr/>
        </p:nvSpPr>
        <p:spPr bwMode="auto">
          <a:xfrm>
            <a:off x="1981200" y="2362200"/>
            <a:ext cx="3124200" cy="381000"/>
          </a:xfrm>
          <a:prstGeom prst="rect">
            <a:avLst/>
          </a:prstGeom>
          <a:solidFill>
            <a:srgbClr val="33CC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endParaRPr lang="zh-CN" altLang="en-US"/>
          </a:p>
        </p:txBody>
      </p:sp>
      <p:sp>
        <p:nvSpPr>
          <p:cNvPr id="23556" name="Rectangle 4"/>
          <p:cNvSpPr>
            <a:spLocks noChangeArrowheads="1"/>
          </p:cNvSpPr>
          <p:nvPr/>
        </p:nvSpPr>
        <p:spPr bwMode="auto">
          <a:xfrm>
            <a:off x="1981200" y="5410200"/>
            <a:ext cx="3124200" cy="381000"/>
          </a:xfrm>
          <a:prstGeom prst="rect">
            <a:avLst/>
          </a:prstGeom>
          <a:solidFill>
            <a:srgbClr val="CC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endParaRPr lang="zh-CN" altLang="en-US"/>
          </a:p>
        </p:txBody>
      </p:sp>
      <p:sp>
        <p:nvSpPr>
          <p:cNvPr id="23557" name="Rectangle 5"/>
          <p:cNvSpPr>
            <a:spLocks noChangeArrowheads="1"/>
          </p:cNvSpPr>
          <p:nvPr/>
        </p:nvSpPr>
        <p:spPr bwMode="auto">
          <a:xfrm>
            <a:off x="1524000" y="1371600"/>
            <a:ext cx="4648200" cy="4724400"/>
          </a:xfrm>
          <a:prstGeom prst="rect">
            <a:avLst/>
          </a:prstGeom>
          <a:noFill/>
          <a:ln w="9525">
            <a:solidFill>
              <a:schemeClr val="tx2"/>
            </a:solidFill>
            <a:miter lim="800000"/>
            <a:headEnd/>
            <a:tailEnd/>
          </a:ln>
          <a:extLst>
            <a:ext uri="{909E8E84-426E-40DD-AFC4-6F175D3DCCD1}">
              <a14:hiddenFill xmlns:a14="http://schemas.microsoft.com/office/drawing/2010/main">
                <a:solidFill>
                  <a:schemeClr val="accent1"/>
                </a:solidFill>
              </a14:hiddenFill>
            </a:ext>
          </a:extLst>
        </p:spPr>
        <p:txBody>
          <a:bodyPr/>
          <a:lstStyle>
            <a:lvl1pPr marL="342900" indent="-342900">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nSpc>
                <a:spcPct val="90000"/>
              </a:lnSpc>
              <a:spcBef>
                <a:spcPct val="20000"/>
              </a:spcBef>
              <a:buClr>
                <a:schemeClr val="tx1"/>
              </a:buClr>
              <a:buFontTx/>
              <a:buChar char="•"/>
            </a:pPr>
            <a:r>
              <a:rPr kumimoji="1" lang="en-US" altLang="zh-CN" sz="2000" b="1" dirty="0"/>
              <a:t>Solution 1:</a:t>
            </a:r>
          </a:p>
          <a:p>
            <a:pPr>
              <a:lnSpc>
                <a:spcPct val="90000"/>
              </a:lnSpc>
              <a:spcBef>
                <a:spcPct val="20000"/>
              </a:spcBef>
              <a:buClr>
                <a:schemeClr val="tx1"/>
              </a:buClr>
            </a:pPr>
            <a:endParaRPr kumimoji="1" lang="en-US" altLang="zh-CN" sz="2000" dirty="0"/>
          </a:p>
          <a:p>
            <a:pPr>
              <a:lnSpc>
                <a:spcPct val="90000"/>
              </a:lnSpc>
              <a:spcBef>
                <a:spcPct val="20000"/>
              </a:spcBef>
              <a:buClr>
                <a:schemeClr val="tx1"/>
              </a:buClr>
            </a:pPr>
            <a:r>
              <a:rPr kumimoji="1" lang="en-US" altLang="zh-CN" sz="2000" dirty="0"/>
              <a:t>	</a:t>
            </a:r>
            <a:r>
              <a:rPr kumimoji="1" lang="en-US" altLang="zh-CN" sz="2000" u="sng" dirty="0"/>
              <a:t>	a	b	c	</a:t>
            </a:r>
          </a:p>
          <a:p>
            <a:pPr>
              <a:lnSpc>
                <a:spcPct val="90000"/>
              </a:lnSpc>
              <a:spcBef>
                <a:spcPct val="20000"/>
              </a:spcBef>
              <a:buClr>
                <a:schemeClr val="tx1"/>
              </a:buClr>
            </a:pPr>
            <a:r>
              <a:rPr kumimoji="1" lang="en-US" altLang="zh-CN" sz="2000" dirty="0"/>
              <a:t>		0	0	0	start</a:t>
            </a:r>
          </a:p>
          <a:p>
            <a:pPr>
              <a:lnSpc>
                <a:spcPct val="90000"/>
              </a:lnSpc>
              <a:spcBef>
                <a:spcPct val="20000"/>
              </a:spcBef>
              <a:buClr>
                <a:schemeClr val="tx1"/>
              </a:buClr>
            </a:pPr>
            <a:r>
              <a:rPr kumimoji="1" lang="en-US" altLang="zh-CN" sz="2000" dirty="0"/>
              <a:t>		3	0	0</a:t>
            </a:r>
          </a:p>
          <a:p>
            <a:pPr>
              <a:lnSpc>
                <a:spcPct val="90000"/>
              </a:lnSpc>
              <a:spcBef>
                <a:spcPct val="20000"/>
              </a:spcBef>
              <a:buClr>
                <a:schemeClr val="tx1"/>
              </a:buClr>
            </a:pPr>
            <a:r>
              <a:rPr kumimoji="1" lang="en-US" altLang="zh-CN" sz="2000" dirty="0"/>
              <a:t>		0	0	3</a:t>
            </a:r>
          </a:p>
          <a:p>
            <a:pPr>
              <a:lnSpc>
                <a:spcPct val="90000"/>
              </a:lnSpc>
              <a:spcBef>
                <a:spcPct val="20000"/>
              </a:spcBef>
              <a:buClr>
                <a:schemeClr val="tx1"/>
              </a:buClr>
            </a:pPr>
            <a:r>
              <a:rPr kumimoji="1" lang="en-US" altLang="zh-CN" sz="2000" dirty="0"/>
              <a:t>		3	0	3</a:t>
            </a:r>
          </a:p>
          <a:p>
            <a:pPr>
              <a:lnSpc>
                <a:spcPct val="90000"/>
              </a:lnSpc>
              <a:spcBef>
                <a:spcPct val="20000"/>
              </a:spcBef>
              <a:buClr>
                <a:schemeClr val="tx1"/>
              </a:buClr>
            </a:pPr>
            <a:r>
              <a:rPr kumimoji="1" lang="en-US" altLang="zh-CN" sz="2000" dirty="0"/>
              <a:t>		0	0	6</a:t>
            </a:r>
          </a:p>
          <a:p>
            <a:pPr>
              <a:lnSpc>
                <a:spcPct val="90000"/>
              </a:lnSpc>
              <a:spcBef>
                <a:spcPct val="20000"/>
              </a:spcBef>
              <a:buClr>
                <a:schemeClr val="tx1"/>
              </a:buClr>
            </a:pPr>
            <a:r>
              <a:rPr kumimoji="1" lang="en-US" altLang="zh-CN" sz="2000" dirty="0"/>
              <a:t>		3	0	6</a:t>
            </a:r>
          </a:p>
          <a:p>
            <a:pPr>
              <a:lnSpc>
                <a:spcPct val="90000"/>
              </a:lnSpc>
              <a:spcBef>
                <a:spcPct val="20000"/>
              </a:spcBef>
              <a:buClr>
                <a:schemeClr val="tx1"/>
              </a:buClr>
            </a:pPr>
            <a:r>
              <a:rPr kumimoji="1" lang="en-US" altLang="zh-CN" sz="2000" dirty="0"/>
              <a:t>		0	3	6</a:t>
            </a:r>
          </a:p>
          <a:p>
            <a:pPr>
              <a:lnSpc>
                <a:spcPct val="90000"/>
              </a:lnSpc>
              <a:spcBef>
                <a:spcPct val="20000"/>
              </a:spcBef>
              <a:buClr>
                <a:schemeClr val="tx1"/>
              </a:buClr>
            </a:pPr>
            <a:r>
              <a:rPr kumimoji="1" lang="en-US" altLang="zh-CN" sz="2000" dirty="0"/>
              <a:t>		3	3	6</a:t>
            </a:r>
          </a:p>
          <a:p>
            <a:pPr>
              <a:lnSpc>
                <a:spcPct val="90000"/>
              </a:lnSpc>
              <a:spcBef>
                <a:spcPct val="20000"/>
              </a:spcBef>
              <a:buClr>
                <a:schemeClr val="tx1"/>
              </a:buClr>
            </a:pPr>
            <a:r>
              <a:rPr kumimoji="1" lang="en-US" altLang="zh-CN" sz="2000" dirty="0"/>
              <a:t>		1	5	6</a:t>
            </a:r>
          </a:p>
          <a:p>
            <a:pPr>
              <a:lnSpc>
                <a:spcPct val="90000"/>
              </a:lnSpc>
              <a:spcBef>
                <a:spcPct val="20000"/>
              </a:spcBef>
              <a:buClr>
                <a:schemeClr val="tx1"/>
              </a:buClr>
            </a:pPr>
            <a:r>
              <a:rPr kumimoji="1" lang="en-US" altLang="zh-CN" sz="2000" dirty="0"/>
              <a:t>		0	5	</a:t>
            </a:r>
            <a:r>
              <a:rPr kumimoji="1" lang="en-US" altLang="zh-CN" sz="2000" b="1" dirty="0"/>
              <a:t>7	goal</a:t>
            </a:r>
            <a:r>
              <a:rPr kumimoji="1" lang="en-US" altLang="zh-CN" sz="2000" dirty="0"/>
              <a:t>	</a:t>
            </a:r>
          </a:p>
        </p:txBody>
      </p:sp>
      <p:sp>
        <p:nvSpPr>
          <p:cNvPr id="23558" name="Rectangle 6"/>
          <p:cNvSpPr>
            <a:spLocks noChangeArrowheads="1"/>
          </p:cNvSpPr>
          <p:nvPr/>
        </p:nvSpPr>
        <p:spPr bwMode="auto">
          <a:xfrm>
            <a:off x="6629400" y="4038600"/>
            <a:ext cx="3124200" cy="381000"/>
          </a:xfrm>
          <a:prstGeom prst="rect">
            <a:avLst/>
          </a:prstGeom>
          <a:solidFill>
            <a:srgbClr val="CC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endParaRPr lang="zh-CN" altLang="en-US"/>
          </a:p>
        </p:txBody>
      </p:sp>
      <p:sp>
        <p:nvSpPr>
          <p:cNvPr id="23559" name="Rectangle 7"/>
          <p:cNvSpPr>
            <a:spLocks noChangeArrowheads="1"/>
          </p:cNvSpPr>
          <p:nvPr/>
        </p:nvSpPr>
        <p:spPr bwMode="auto">
          <a:xfrm>
            <a:off x="6629400" y="2362200"/>
            <a:ext cx="3124200" cy="381000"/>
          </a:xfrm>
          <a:prstGeom prst="rect">
            <a:avLst/>
          </a:prstGeom>
          <a:solidFill>
            <a:srgbClr val="33CC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endParaRPr lang="zh-CN" altLang="en-US"/>
          </a:p>
        </p:txBody>
      </p:sp>
      <p:sp>
        <p:nvSpPr>
          <p:cNvPr id="23560" name="Rectangle 8"/>
          <p:cNvSpPr>
            <a:spLocks noChangeArrowheads="1"/>
          </p:cNvSpPr>
          <p:nvPr/>
        </p:nvSpPr>
        <p:spPr bwMode="auto">
          <a:xfrm>
            <a:off x="6069169" y="1406252"/>
            <a:ext cx="4495800" cy="3642266"/>
          </a:xfrm>
          <a:prstGeom prst="rect">
            <a:avLst/>
          </a:prstGeom>
          <a:noFill/>
          <a:ln w="9525">
            <a:solidFill>
              <a:schemeClr val="tx2"/>
            </a:solidFill>
            <a:miter lim="800000"/>
            <a:headEnd/>
            <a:tailEnd/>
          </a:ln>
          <a:extLst>
            <a:ext uri="{909E8E84-426E-40DD-AFC4-6F175D3DCCD1}">
              <a14:hiddenFill xmlns:a14="http://schemas.microsoft.com/office/drawing/2010/main">
                <a:solidFill>
                  <a:schemeClr val="accent1"/>
                </a:solidFill>
              </a14:hiddenFill>
            </a:ext>
          </a:extLst>
        </p:spPr>
        <p:txBody>
          <a:bodyPr/>
          <a:lstStyle>
            <a:lvl1pPr marL="342900" indent="-342900">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spcBef>
                <a:spcPct val="20000"/>
              </a:spcBef>
              <a:buClr>
                <a:schemeClr val="tx1"/>
              </a:buClr>
              <a:buFontTx/>
              <a:buChar char="•"/>
            </a:pPr>
            <a:r>
              <a:rPr kumimoji="1" lang="en-US" altLang="zh-CN" b="1" dirty="0"/>
              <a:t>Solution 2:</a:t>
            </a:r>
          </a:p>
          <a:p>
            <a:pPr>
              <a:spcBef>
                <a:spcPct val="20000"/>
              </a:spcBef>
              <a:buClr>
                <a:schemeClr val="tx1"/>
              </a:buClr>
            </a:pPr>
            <a:endParaRPr kumimoji="1" lang="en-US" altLang="zh-CN" dirty="0"/>
          </a:p>
          <a:p>
            <a:pPr>
              <a:spcBef>
                <a:spcPct val="20000"/>
              </a:spcBef>
              <a:buClr>
                <a:schemeClr val="tx1"/>
              </a:buClr>
            </a:pPr>
            <a:r>
              <a:rPr kumimoji="1" lang="en-US" altLang="zh-CN" dirty="0"/>
              <a:t>	</a:t>
            </a:r>
            <a:r>
              <a:rPr kumimoji="1" lang="en-US" altLang="zh-CN" u="sng" dirty="0"/>
              <a:t>	a	b	c	</a:t>
            </a:r>
          </a:p>
          <a:p>
            <a:pPr>
              <a:spcBef>
                <a:spcPct val="20000"/>
              </a:spcBef>
              <a:buClr>
                <a:schemeClr val="tx1"/>
              </a:buClr>
            </a:pPr>
            <a:r>
              <a:rPr kumimoji="1" lang="en-US" altLang="zh-CN" dirty="0"/>
              <a:t>		0	0	0	start</a:t>
            </a:r>
          </a:p>
          <a:p>
            <a:pPr>
              <a:spcBef>
                <a:spcPct val="20000"/>
              </a:spcBef>
              <a:buClr>
                <a:schemeClr val="tx1"/>
              </a:buClr>
            </a:pPr>
            <a:r>
              <a:rPr kumimoji="1" lang="en-US" altLang="zh-CN" dirty="0"/>
              <a:t>		0	5	0</a:t>
            </a:r>
          </a:p>
          <a:p>
            <a:pPr>
              <a:spcBef>
                <a:spcPct val="20000"/>
              </a:spcBef>
              <a:buClr>
                <a:schemeClr val="tx1"/>
              </a:buClr>
            </a:pPr>
            <a:r>
              <a:rPr kumimoji="1" lang="en-US" altLang="zh-CN" dirty="0"/>
              <a:t>		3	2	0</a:t>
            </a:r>
          </a:p>
          <a:p>
            <a:pPr>
              <a:spcBef>
                <a:spcPct val="20000"/>
              </a:spcBef>
              <a:buClr>
                <a:schemeClr val="tx1"/>
              </a:buClr>
            </a:pPr>
            <a:r>
              <a:rPr kumimoji="1" lang="en-US" altLang="zh-CN" dirty="0"/>
              <a:t>		3	0	2</a:t>
            </a:r>
          </a:p>
          <a:p>
            <a:pPr>
              <a:spcBef>
                <a:spcPct val="20000"/>
              </a:spcBef>
              <a:buClr>
                <a:schemeClr val="tx1"/>
              </a:buClr>
            </a:pPr>
            <a:r>
              <a:rPr kumimoji="1" lang="en-US" altLang="zh-CN" dirty="0"/>
              <a:t>		3	5	2</a:t>
            </a:r>
          </a:p>
          <a:p>
            <a:pPr>
              <a:spcBef>
                <a:spcPct val="20000"/>
              </a:spcBef>
              <a:buClr>
                <a:schemeClr val="tx1"/>
              </a:buClr>
            </a:pPr>
            <a:r>
              <a:rPr kumimoji="1" lang="en-US" altLang="zh-CN" dirty="0"/>
              <a:t>		</a:t>
            </a:r>
            <a:r>
              <a:rPr kumimoji="1" lang="en-US" altLang="zh-CN" b="1" dirty="0"/>
              <a:t>3	0	7</a:t>
            </a:r>
            <a:r>
              <a:rPr kumimoji="1" lang="en-US" altLang="zh-CN" dirty="0"/>
              <a:t>	</a:t>
            </a:r>
            <a:r>
              <a:rPr kumimoji="1" lang="en-US" altLang="zh-CN" b="1" dirty="0"/>
              <a:t>goal</a:t>
            </a:r>
          </a:p>
          <a:p>
            <a:pPr>
              <a:spcBef>
                <a:spcPct val="20000"/>
              </a:spcBef>
              <a:buClr>
                <a:schemeClr val="tx1"/>
              </a:buClr>
            </a:pPr>
            <a:r>
              <a:rPr kumimoji="1" lang="en-US" altLang="zh-CN" dirty="0"/>
              <a:t>	</a:t>
            </a:r>
          </a:p>
          <a:p>
            <a:pPr>
              <a:spcBef>
                <a:spcPct val="20000"/>
              </a:spcBef>
              <a:buClr>
                <a:schemeClr val="tx1"/>
              </a:buClr>
            </a:pPr>
            <a:endParaRPr kumimoji="1" lang="en-US" altLang="zh-CN" dirty="0"/>
          </a:p>
          <a:p>
            <a:pPr>
              <a:spcBef>
                <a:spcPct val="20000"/>
              </a:spcBef>
              <a:buClr>
                <a:schemeClr val="tx1"/>
              </a:buClr>
            </a:pPr>
            <a:endParaRPr kumimoji="1" lang="en-US" altLang="zh-CN" dirty="0"/>
          </a:p>
          <a:p>
            <a:pPr>
              <a:spcBef>
                <a:spcPct val="20000"/>
              </a:spcBef>
              <a:buClr>
                <a:schemeClr val="tx1"/>
              </a:buClr>
            </a:pPr>
            <a:endParaRPr kumimoji="1" lang="en-US" altLang="zh-CN" dirty="0"/>
          </a:p>
          <a:p>
            <a:pPr>
              <a:spcBef>
                <a:spcPct val="20000"/>
              </a:spcBef>
              <a:buClr>
                <a:schemeClr val="tx1"/>
              </a:buClr>
            </a:pPr>
            <a:endParaRPr kumimoji="1" lang="en-US" altLang="zh-CN" dirty="0"/>
          </a:p>
          <a:p>
            <a:pPr>
              <a:spcBef>
                <a:spcPct val="20000"/>
              </a:spcBef>
              <a:buClr>
                <a:schemeClr val="tx1"/>
              </a:buClr>
            </a:pPr>
            <a:r>
              <a:rPr kumimoji="1" lang="en-US" altLang="zh-CN" dirty="0"/>
              <a:t>		</a:t>
            </a:r>
          </a:p>
        </p:txBody>
      </p:sp>
      <p:sp>
        <p:nvSpPr>
          <p:cNvPr id="2" name="TextBox 1"/>
          <p:cNvSpPr txBox="1"/>
          <p:nvPr/>
        </p:nvSpPr>
        <p:spPr>
          <a:xfrm>
            <a:off x="1831876" y="6165304"/>
            <a:ext cx="4032448" cy="523220"/>
          </a:xfrm>
          <a:prstGeom prst="rect">
            <a:avLst/>
          </a:prstGeom>
          <a:noFill/>
        </p:spPr>
        <p:txBody>
          <a:bodyPr wrap="square" rtlCol="0">
            <a:spAutoFit/>
          </a:bodyPr>
          <a:lstStyle/>
          <a:p>
            <a:r>
              <a:rPr lang="zh-CN" altLang="en-US" sz="2800" b="1" dirty="0">
                <a:effectLst>
                  <a:outerShdw blurRad="38100" dist="38100" dir="2700000" algn="tl">
                    <a:srgbClr val="000000">
                      <a:alpha val="43137"/>
                    </a:srgbClr>
                  </a:outerShdw>
                </a:effectLst>
              </a:rPr>
              <a:t>哪一个更优？</a:t>
            </a:r>
          </a:p>
        </p:txBody>
      </p:sp>
      <p:grpSp>
        <p:nvGrpSpPr>
          <p:cNvPr id="10" name="Group 6"/>
          <p:cNvGrpSpPr>
            <a:grpSpLocks/>
          </p:cNvGrpSpPr>
          <p:nvPr/>
        </p:nvGrpSpPr>
        <p:grpSpPr bwMode="auto">
          <a:xfrm>
            <a:off x="8772435" y="5088324"/>
            <a:ext cx="3048000" cy="1600200"/>
            <a:chOff x="1776" y="1248"/>
            <a:chExt cx="1920" cy="1008"/>
          </a:xfrm>
        </p:grpSpPr>
        <p:sp>
          <p:nvSpPr>
            <p:cNvPr id="11" name="AutoShape 7"/>
            <p:cNvSpPr>
              <a:spLocks noChangeArrowheads="1"/>
            </p:cNvSpPr>
            <p:nvPr/>
          </p:nvSpPr>
          <p:spPr bwMode="auto">
            <a:xfrm>
              <a:off x="1776" y="1824"/>
              <a:ext cx="480" cy="432"/>
            </a:xfrm>
            <a:prstGeom prst="can">
              <a:avLst>
                <a:gd name="adj" fmla="val 20602"/>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r>
                <a:rPr lang="en-US" altLang="zh-CN" sz="2400" i="1">
                  <a:latin typeface="Times New Roman" pitchFamily="18" charset="0"/>
                </a:rPr>
                <a:t>3 l</a:t>
              </a:r>
            </a:p>
          </p:txBody>
        </p:sp>
        <p:sp>
          <p:nvSpPr>
            <p:cNvPr id="12" name="AutoShape 8"/>
            <p:cNvSpPr>
              <a:spLocks noChangeArrowheads="1"/>
            </p:cNvSpPr>
            <p:nvPr/>
          </p:nvSpPr>
          <p:spPr bwMode="auto">
            <a:xfrm>
              <a:off x="2496" y="1680"/>
              <a:ext cx="480" cy="576"/>
            </a:xfrm>
            <a:prstGeom prst="can">
              <a:avLst>
                <a:gd name="adj" fmla="val 19378"/>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r>
                <a:rPr lang="en-US" altLang="zh-CN" sz="2400" i="1">
                  <a:latin typeface="Times New Roman" pitchFamily="18" charset="0"/>
                </a:rPr>
                <a:t>5 l</a:t>
              </a:r>
            </a:p>
          </p:txBody>
        </p:sp>
        <p:sp>
          <p:nvSpPr>
            <p:cNvPr id="13" name="AutoShape 9"/>
            <p:cNvSpPr>
              <a:spLocks noChangeArrowheads="1"/>
            </p:cNvSpPr>
            <p:nvPr/>
          </p:nvSpPr>
          <p:spPr bwMode="auto">
            <a:xfrm>
              <a:off x="3216" y="1248"/>
              <a:ext cx="480" cy="1008"/>
            </a:xfrm>
            <a:prstGeom prst="can">
              <a:avLst>
                <a:gd name="adj" fmla="val 20621"/>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a:r>
                <a:rPr lang="en-US" altLang="zh-CN" sz="2400" i="1" dirty="0">
                  <a:latin typeface="Times New Roman" pitchFamily="18" charset="0"/>
                </a:rPr>
                <a:t>9 l</a:t>
              </a:r>
            </a:p>
          </p:txBody>
        </p:sp>
      </p:grpSp>
      <p:grpSp>
        <p:nvGrpSpPr>
          <p:cNvPr id="20" name="组合 19"/>
          <p:cNvGrpSpPr/>
          <p:nvPr/>
        </p:nvGrpSpPr>
        <p:grpSpPr>
          <a:xfrm>
            <a:off x="1392281" y="438023"/>
            <a:ext cx="7464387" cy="557165"/>
            <a:chOff x="4099943" y="2819853"/>
            <a:chExt cx="2570275" cy="557165"/>
          </a:xfrm>
        </p:grpSpPr>
        <p:sp>
          <p:nvSpPr>
            <p:cNvPr id="21" name="平行四边形 20"/>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2" name="平行四边形 21"/>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矩形 22"/>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7004241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92281" y="438023"/>
            <a:ext cx="7464387" cy="557165"/>
            <a:chOff x="4099943" y="2819853"/>
            <a:chExt cx="2570275" cy="557165"/>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 name="矩形: 圆角 6">
            <a:extLst>
              <a:ext uri="{FF2B5EF4-FFF2-40B4-BE49-F238E27FC236}">
                <a16:creationId xmlns:a16="http://schemas.microsoft.com/office/drawing/2014/main" id="{15B72201-1606-4C88-8F91-839FBCDACE0A}"/>
              </a:ext>
            </a:extLst>
          </p:cNvPr>
          <p:cNvSpPr/>
          <p:nvPr/>
        </p:nvSpPr>
        <p:spPr>
          <a:xfrm>
            <a:off x="418986" y="2209186"/>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449904" y="2355698"/>
            <a:ext cx="6111364" cy="3508653"/>
          </a:xfrm>
          <a:prstGeom prst="rect">
            <a:avLst/>
          </a:prstGeom>
        </p:spPr>
        <p:txBody>
          <a:bodyPr wrap="square">
            <a:spAutoFit/>
          </a:bodyPr>
          <a:lstStyle/>
          <a:p>
            <a:pPr algn="ctr">
              <a:lnSpc>
                <a:spcPct val="150000"/>
              </a:lnSpc>
              <a:buClr>
                <a:schemeClr val="bg1"/>
              </a:buClr>
              <a:buSzPct val="80000"/>
            </a:pP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a:t>
            </a:r>
            <a:r>
              <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state</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广义来说状态是对搜索算法和搜索环境当前所处情形的描述信息</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左</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图中，搜索算法要从城市</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出发找到一条到城市</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最短路线，</a:t>
            </a:r>
            <a:r>
              <a:rPr lang="zh-CN" altLang="zh-CN"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影响其下一步行动的信息只有算法当前所位于的城市，</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因此每个城市即为一个状态。搜索算法刚开始所在状态（即城市</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）被称为初始状态，完成任务时所在状态（即城市</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）被称为终止状态</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1D641442-5FF6-4D13-A7AD-B6E51C96CD1E}"/>
              </a:ext>
            </a:extLst>
          </p:cNvPr>
          <p:cNvSpPr/>
          <p:nvPr/>
        </p:nvSpPr>
        <p:spPr>
          <a:xfrm>
            <a:off x="1900918" y="1431687"/>
            <a:ext cx="6955750" cy="461665"/>
          </a:xfrm>
          <a:prstGeom prst="rect">
            <a:avLst/>
          </a:prstGeom>
        </p:spPr>
        <p:txBody>
          <a:bodyPr wrap="none">
            <a:spAutoFit/>
          </a:bodyPr>
          <a:lstStyle/>
          <a:p>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solidFill>
                <a:srgbClr val="C00000"/>
              </a:solidFill>
            </a:endParaRPr>
          </a:p>
        </p:txBody>
      </p:sp>
      <p:grpSp>
        <p:nvGrpSpPr>
          <p:cNvPr id="9" name="组合 8">
            <a:extLst>
              <a:ext uri="{FF2B5EF4-FFF2-40B4-BE49-F238E27FC236}">
                <a16:creationId xmlns:a16="http://schemas.microsoft.com/office/drawing/2014/main" id="{C53D965C-C537-4AF5-B5C4-BC977F223021}"/>
              </a:ext>
            </a:extLst>
          </p:cNvPr>
          <p:cNvGrpSpPr/>
          <p:nvPr/>
        </p:nvGrpSpPr>
        <p:grpSpPr>
          <a:xfrm>
            <a:off x="6866464" y="2265539"/>
            <a:ext cx="4975660" cy="4083746"/>
            <a:chOff x="6866464" y="2265539"/>
            <a:chExt cx="4574773" cy="3574757"/>
          </a:xfrm>
        </p:grpSpPr>
        <p:sp>
          <p:nvSpPr>
            <p:cNvPr id="7" name="矩形 6">
              <a:extLst>
                <a:ext uri="{FF2B5EF4-FFF2-40B4-BE49-F238E27FC236}">
                  <a16:creationId xmlns:a16="http://schemas.microsoft.com/office/drawing/2014/main" id="{1B81D337-A3DD-4A7A-A371-577FE0FC8718}"/>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8" name="图片 7">
              <a:extLst>
                <a:ext uri="{FF2B5EF4-FFF2-40B4-BE49-F238E27FC236}">
                  <a16:creationId xmlns:a16="http://schemas.microsoft.com/office/drawing/2014/main" id="{48FE870A-09E7-43FD-AF26-DD7DC6373860}"/>
                </a:ext>
              </a:extLst>
            </p:cNvPr>
            <p:cNvPicPr>
              <a:picLocks noChangeAspect="1"/>
            </p:cNvPicPr>
            <p:nvPr/>
          </p:nvPicPr>
          <p:blipFill>
            <a:blip r:embed="rId3"/>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148422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6">
            <a:extLst>
              <a:ext uri="{FF2B5EF4-FFF2-40B4-BE49-F238E27FC236}">
                <a16:creationId xmlns:a16="http://schemas.microsoft.com/office/drawing/2014/main" id="{15B72201-1606-4C88-8F91-839FBCDACE0A}"/>
              </a:ext>
            </a:extLst>
          </p:cNvPr>
          <p:cNvSpPr/>
          <p:nvPr/>
        </p:nvSpPr>
        <p:spPr>
          <a:xfrm>
            <a:off x="378624" y="2209186"/>
            <a:ext cx="6633922" cy="4152977"/>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449904" y="2355698"/>
            <a:ext cx="6416560" cy="3462486"/>
          </a:xfrm>
          <a:prstGeom prst="rect">
            <a:avLst/>
          </a:prstGeom>
        </p:spPr>
        <p:txBody>
          <a:bodyPr wrap="square">
            <a:spAutoFit/>
          </a:bodyPr>
          <a:lstStyle/>
          <a:p>
            <a:pPr algn="ctr">
              <a:lnSpc>
                <a:spcPct val="150000"/>
              </a:lnSpc>
              <a:buClr>
                <a:schemeClr val="bg1"/>
              </a:buClr>
              <a:buSzPct val="80000"/>
            </a:pPr>
            <a:r>
              <a:rPr lang="zh-CN" altLang="en-US"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动作</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action</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endParaRPr lang="en-US" altLang="zh-CN" sz="1600"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为了</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完成最短路径的探索，算法需要不断从一个状态转移到下一个状态。</a:t>
            </a:r>
            <a:r>
              <a:rPr lang="zh-CN" altLang="zh-CN"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算法从一个状态转移到另外一个状态所采取的行为被称为动作。</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在这个问题中，动作即为乘坐一趟列车从当前城市到下一城市。显然在这个问题中，任何状态下可选择的动作都是离散的、而非</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连续。</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1D641442-5FF6-4D13-A7AD-B6E51C96CD1E}"/>
              </a:ext>
            </a:extLst>
          </p:cNvPr>
          <p:cNvSpPr/>
          <p:nvPr/>
        </p:nvSpPr>
        <p:spPr>
          <a:xfrm>
            <a:off x="1550222" y="1307487"/>
            <a:ext cx="6955750" cy="461665"/>
          </a:xfrm>
          <a:prstGeom prst="rect">
            <a:avLst/>
          </a:prstGeom>
        </p:spPr>
        <p:txBody>
          <a:bodyPr wrap="none">
            <a:spAutoFit/>
          </a:bodyPr>
          <a:lstStyle/>
          <a:p>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solidFill>
                <a:srgbClr val="C00000"/>
              </a:solidFill>
            </a:endParaRPr>
          </a:p>
        </p:txBody>
      </p:sp>
      <p:grpSp>
        <p:nvGrpSpPr>
          <p:cNvPr id="12" name="组合 11">
            <a:extLst>
              <a:ext uri="{FF2B5EF4-FFF2-40B4-BE49-F238E27FC236}">
                <a16:creationId xmlns:a16="http://schemas.microsoft.com/office/drawing/2014/main" id="{CA21BEB4-C827-4BB4-86D7-747E99DAD911}"/>
              </a:ext>
            </a:extLst>
          </p:cNvPr>
          <p:cNvGrpSpPr/>
          <p:nvPr/>
        </p:nvGrpSpPr>
        <p:grpSpPr>
          <a:xfrm>
            <a:off x="7083826" y="2136750"/>
            <a:ext cx="4988093" cy="4405717"/>
            <a:chOff x="6866464" y="2265539"/>
            <a:chExt cx="4574773" cy="3574757"/>
          </a:xfrm>
        </p:grpSpPr>
        <p:sp>
          <p:nvSpPr>
            <p:cNvPr id="13" name="矩形 12">
              <a:extLst>
                <a:ext uri="{FF2B5EF4-FFF2-40B4-BE49-F238E27FC236}">
                  <a16:creationId xmlns:a16="http://schemas.microsoft.com/office/drawing/2014/main" id="{7CEA5ABA-570F-4CC1-B437-3626D466CDE6}"/>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4AAF4433-6162-4688-8014-8A1E61D05237}"/>
                </a:ext>
              </a:extLst>
            </p:cNvPr>
            <p:cNvPicPr>
              <a:picLocks noChangeAspect="1"/>
            </p:cNvPicPr>
            <p:nvPr/>
          </p:nvPicPr>
          <p:blipFill>
            <a:blip r:embed="rId3"/>
            <a:stretch>
              <a:fillRect/>
            </a:stretch>
          </p:blipFill>
          <p:spPr>
            <a:xfrm>
              <a:off x="7293430" y="2265539"/>
              <a:ext cx="3126477" cy="2787362"/>
            </a:xfrm>
            <a:prstGeom prst="rect">
              <a:avLst/>
            </a:prstGeom>
          </p:spPr>
        </p:pic>
      </p:grpSp>
      <p:grpSp>
        <p:nvGrpSpPr>
          <p:cNvPr id="15" name="组合 14"/>
          <p:cNvGrpSpPr/>
          <p:nvPr/>
        </p:nvGrpSpPr>
        <p:grpSpPr>
          <a:xfrm>
            <a:off x="1392281" y="438023"/>
            <a:ext cx="7464387" cy="557165"/>
            <a:chOff x="4099943" y="2819853"/>
            <a:chExt cx="2570275" cy="557165"/>
          </a:xfrm>
        </p:grpSpPr>
        <p:sp>
          <p:nvSpPr>
            <p:cNvPr id="16" name="平行四边形 1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7" name="平行四边形 1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8" name="矩形 17"/>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808253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6">
            <a:extLst>
              <a:ext uri="{FF2B5EF4-FFF2-40B4-BE49-F238E27FC236}">
                <a16:creationId xmlns:a16="http://schemas.microsoft.com/office/drawing/2014/main" id="{15B72201-1606-4C88-8F91-839FBCDACE0A}"/>
              </a:ext>
            </a:extLst>
          </p:cNvPr>
          <p:cNvSpPr/>
          <p:nvPr/>
        </p:nvSpPr>
        <p:spPr>
          <a:xfrm>
            <a:off x="418985" y="2124126"/>
            <a:ext cx="6561363" cy="4115688"/>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490266" y="2564079"/>
            <a:ext cx="6369758" cy="3000821"/>
          </a:xfrm>
          <a:prstGeom prst="rect">
            <a:avLst/>
          </a:prstGeom>
        </p:spPr>
        <p:txBody>
          <a:bodyPr wrap="square">
            <a:spAutoFit/>
          </a:bodyPr>
          <a:lstStyle/>
          <a:p>
            <a:pPr algn="ctr">
              <a:lnSpc>
                <a:spcPct val="150000"/>
              </a:lnSpc>
              <a:buClr>
                <a:schemeClr val="bg1"/>
              </a:buClr>
              <a:buSzPct val="80000"/>
            </a:pPr>
            <a:r>
              <a:rPr lang="zh-CN" altLang="en-US"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状态转移</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state transition</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endParaRPr lang="en-US" altLang="zh-CN" sz="1600"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dirty="0" smtClean="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zh-CN"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选择了一个动作之后，其所处状态也会发生相应变化，这个过程被称为状态转移</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。如算法在当前城市</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选择乘上开往邻接城市</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的列车，那么将发生从状态</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到状态</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的状态转移。</a:t>
            </a:r>
          </a:p>
          <a:p>
            <a:pPr algn="ct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1D641442-5FF6-4D13-A7AD-B6E51C96CD1E}"/>
              </a:ext>
            </a:extLst>
          </p:cNvPr>
          <p:cNvSpPr/>
          <p:nvPr/>
        </p:nvSpPr>
        <p:spPr>
          <a:xfrm>
            <a:off x="1840148" y="1335290"/>
            <a:ext cx="6955750" cy="461665"/>
          </a:xfrm>
          <a:prstGeom prst="rect">
            <a:avLst/>
          </a:prstGeom>
        </p:spPr>
        <p:txBody>
          <a:bodyPr wrap="none">
            <a:spAutoFit/>
          </a:bodyPr>
          <a:lstStyle/>
          <a:p>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solidFill>
                <a:srgbClr val="C00000"/>
              </a:solidFill>
            </a:endParaRPr>
          </a:p>
        </p:txBody>
      </p:sp>
      <p:grpSp>
        <p:nvGrpSpPr>
          <p:cNvPr id="12" name="组合 11">
            <a:extLst>
              <a:ext uri="{FF2B5EF4-FFF2-40B4-BE49-F238E27FC236}">
                <a16:creationId xmlns:a16="http://schemas.microsoft.com/office/drawing/2014/main" id="{69768FA5-6451-4977-B7D1-55900C569446}"/>
              </a:ext>
            </a:extLst>
          </p:cNvPr>
          <p:cNvGrpSpPr/>
          <p:nvPr/>
        </p:nvGrpSpPr>
        <p:grpSpPr>
          <a:xfrm>
            <a:off x="6860024" y="1957589"/>
            <a:ext cx="5136646" cy="4526923"/>
            <a:chOff x="6866464" y="2265539"/>
            <a:chExt cx="4574773" cy="3574757"/>
          </a:xfrm>
        </p:grpSpPr>
        <p:sp>
          <p:nvSpPr>
            <p:cNvPr id="13" name="矩形 12">
              <a:extLst>
                <a:ext uri="{FF2B5EF4-FFF2-40B4-BE49-F238E27FC236}">
                  <a16:creationId xmlns:a16="http://schemas.microsoft.com/office/drawing/2014/main" id="{05927B0B-9D57-4E21-853E-649463B77DE1}"/>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ED3A20D0-2907-4CB3-B84D-5AA9B1E8FE5D}"/>
                </a:ext>
              </a:extLst>
            </p:cNvPr>
            <p:cNvPicPr>
              <a:picLocks noChangeAspect="1"/>
            </p:cNvPicPr>
            <p:nvPr/>
          </p:nvPicPr>
          <p:blipFill>
            <a:blip r:embed="rId3"/>
            <a:stretch>
              <a:fillRect/>
            </a:stretch>
          </p:blipFill>
          <p:spPr>
            <a:xfrm>
              <a:off x="7293430" y="2265539"/>
              <a:ext cx="3126477" cy="2787362"/>
            </a:xfrm>
            <a:prstGeom prst="rect">
              <a:avLst/>
            </a:prstGeom>
          </p:spPr>
        </p:pic>
      </p:grpSp>
      <p:grpSp>
        <p:nvGrpSpPr>
          <p:cNvPr id="15" name="组合 14"/>
          <p:cNvGrpSpPr/>
          <p:nvPr/>
        </p:nvGrpSpPr>
        <p:grpSpPr>
          <a:xfrm>
            <a:off x="1392281" y="438023"/>
            <a:ext cx="7464387" cy="557165"/>
            <a:chOff x="4099943" y="2819853"/>
            <a:chExt cx="2570275" cy="557165"/>
          </a:xfrm>
        </p:grpSpPr>
        <p:sp>
          <p:nvSpPr>
            <p:cNvPr id="16" name="平行四边形 1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7" name="平行四边形 1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8" name="矩形 17"/>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81216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34130" y="73442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 name="矩形: 圆角 6">
            <a:extLst>
              <a:ext uri="{FF2B5EF4-FFF2-40B4-BE49-F238E27FC236}">
                <a16:creationId xmlns:a16="http://schemas.microsoft.com/office/drawing/2014/main" id="{15B72201-1606-4C88-8F91-839FBCDACE0A}"/>
              </a:ext>
            </a:extLst>
          </p:cNvPr>
          <p:cNvSpPr/>
          <p:nvPr/>
        </p:nvSpPr>
        <p:spPr>
          <a:xfrm>
            <a:off x="479931" y="2573259"/>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EABA8736-7A3C-423C-AE5A-BDA9E8807C56}"/>
                  </a:ext>
                </a:extLst>
              </p:cNvPr>
              <p:cNvSpPr/>
              <p:nvPr/>
            </p:nvSpPr>
            <p:spPr>
              <a:xfrm>
                <a:off x="537571" y="2815549"/>
                <a:ext cx="6138644" cy="3093154"/>
              </a:xfrm>
              <a:prstGeom prst="rect">
                <a:avLst/>
              </a:prstGeom>
            </p:spPr>
            <p:txBody>
              <a:bodyPr wrap="square">
                <a:spAutoFit/>
              </a:bodyPr>
              <a:lstStyle/>
              <a:p>
                <a:pPr algn="ctr">
                  <a:lnSpc>
                    <a:spcPct val="150000"/>
                  </a:lnSpc>
                  <a:buClr>
                    <a:schemeClr val="bg1"/>
                  </a:buClr>
                  <a:buSzPct val="80000"/>
                </a:pP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a:t>
                </a:r>
                <a:r>
                  <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path</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）和代价（</a:t>
                </a:r>
                <a:r>
                  <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cost</a:t>
                </a:r>
                <a:r>
                  <a:rPr lang="zh-CN" altLang="zh-CN" sz="2400" b="1" dirty="0" smtClean="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smtClean="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buClr>
                    <a:schemeClr val="bg1"/>
                  </a:buClr>
                  <a:buSzPct val="80000"/>
                </a:pPr>
                <a:endParaRPr lang="en-US" altLang="zh-CN" sz="1600"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buClr>
                    <a:schemeClr val="bg1"/>
                  </a:buClr>
                  <a:buSzPct val="80000"/>
                </a:pP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搜索过程中可以</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得到一个状态序列，这个状态序列被称为一条路径。如从状态</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出发，经过状态</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，最终到达状态</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，就形成了</a:t>
                </a:r>
                <a14:m>
                  <m:oMath xmlns:m="http://schemas.openxmlformats.org/officeDocument/2006/math">
                    <m:r>
                      <m:rPr>
                        <m:sty m:val="p"/>
                      </m:rP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G</m:t>
                    </m:r>
                    <m: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K</m:t>
                    </m:r>
                  </m:oMath>
                </a14:m>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这一路径。</a:t>
                </a:r>
                <a:r>
                  <a:rPr lang="zh-CN" altLang="zh-CN"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每条路径对应一个代价，图中路径的代价就是通过该路径的时间</a:t>
                </a:r>
                <a:r>
                  <a:rPr lang="zh-CN" altLang="zh-CN" b="1" dirty="0" smtClean="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开销</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图中每条边上的数值即为单步代价取值</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5" name="矩形 24">
                <a:extLst>
                  <a:ext uri="{FF2B5EF4-FFF2-40B4-BE49-F238E27FC236}">
                    <a16:creationId xmlns:a16="http://schemas.microsoft.com/office/drawing/2014/main" id="{EABA8736-7A3C-423C-AE5A-BDA9E8807C56}"/>
                  </a:ext>
                </a:extLst>
              </p:cNvPr>
              <p:cNvSpPr>
                <a:spLocks noRot="1" noChangeAspect="1" noMove="1" noResize="1" noEditPoints="1" noAdjustHandles="1" noChangeArrowheads="1" noChangeShapeType="1" noTextEdit="1"/>
              </p:cNvSpPr>
              <p:nvPr/>
            </p:nvSpPr>
            <p:spPr>
              <a:xfrm>
                <a:off x="537571" y="2815549"/>
                <a:ext cx="6138644" cy="3093154"/>
              </a:xfrm>
              <a:prstGeom prst="rect">
                <a:avLst/>
              </a:prstGeom>
              <a:blipFill>
                <a:blip r:embed="rId3"/>
                <a:stretch>
                  <a:fillRect l="-894" r="-4965" b="-1578"/>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1D641442-5FF6-4D13-A7AD-B6E51C96CD1E}"/>
              </a:ext>
            </a:extLst>
          </p:cNvPr>
          <p:cNvSpPr/>
          <p:nvPr/>
        </p:nvSpPr>
        <p:spPr>
          <a:xfrm>
            <a:off x="1777163" y="1503151"/>
            <a:ext cx="6955750" cy="461665"/>
          </a:xfrm>
          <a:prstGeom prst="rect">
            <a:avLst/>
          </a:prstGeom>
        </p:spPr>
        <p:txBody>
          <a:bodyPr wrap="none">
            <a:spAutoFit/>
          </a:bodyPr>
          <a:lstStyle/>
          <a:p>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solidFill>
                <a:srgbClr val="C00000"/>
              </a:solidFill>
            </a:endParaRPr>
          </a:p>
        </p:txBody>
      </p:sp>
      <p:grpSp>
        <p:nvGrpSpPr>
          <p:cNvPr id="12" name="组合 11">
            <a:extLst>
              <a:ext uri="{FF2B5EF4-FFF2-40B4-BE49-F238E27FC236}">
                <a16:creationId xmlns:a16="http://schemas.microsoft.com/office/drawing/2014/main" id="{2DF60A06-6099-4F03-AF36-844499FA97A7}"/>
              </a:ext>
            </a:extLst>
          </p:cNvPr>
          <p:cNvGrpSpPr/>
          <p:nvPr/>
        </p:nvGrpSpPr>
        <p:grpSpPr>
          <a:xfrm>
            <a:off x="6963056" y="2235605"/>
            <a:ext cx="5104449" cy="4296247"/>
            <a:chOff x="6866464" y="2265539"/>
            <a:chExt cx="4574773" cy="3574757"/>
          </a:xfrm>
        </p:grpSpPr>
        <p:sp>
          <p:nvSpPr>
            <p:cNvPr id="13" name="矩形 12">
              <a:extLst>
                <a:ext uri="{FF2B5EF4-FFF2-40B4-BE49-F238E27FC236}">
                  <a16:creationId xmlns:a16="http://schemas.microsoft.com/office/drawing/2014/main" id="{BF66BFE4-C569-4166-A752-8D61D67D06D9}"/>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2D3E1052-DE60-473A-AF94-4D8731D16A89}"/>
                </a:ext>
              </a:extLst>
            </p:cNvPr>
            <p:cNvPicPr>
              <a:picLocks noChangeAspect="1"/>
            </p:cNvPicPr>
            <p:nvPr/>
          </p:nvPicPr>
          <p:blipFill>
            <a:blip r:embed="rId4"/>
            <a:stretch>
              <a:fillRect/>
            </a:stretch>
          </p:blipFill>
          <p:spPr>
            <a:xfrm>
              <a:off x="7293430" y="2265539"/>
              <a:ext cx="3126477" cy="2787362"/>
            </a:xfrm>
            <a:prstGeom prst="rect">
              <a:avLst/>
            </a:prstGeom>
          </p:spPr>
        </p:pic>
      </p:grpSp>
    </p:spTree>
    <p:extLst>
      <p:ext uri="{BB962C8B-B14F-4D97-AF65-F5344CB8AC3E}">
        <p14:creationId xmlns:p14="http://schemas.microsoft.com/office/powerpoint/2010/main" val="614526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6">
            <a:extLst>
              <a:ext uri="{FF2B5EF4-FFF2-40B4-BE49-F238E27FC236}">
                <a16:creationId xmlns:a16="http://schemas.microsoft.com/office/drawing/2014/main" id="{15B72201-1606-4C88-8F91-839FBCDACE0A}"/>
              </a:ext>
            </a:extLst>
          </p:cNvPr>
          <p:cNvSpPr/>
          <p:nvPr/>
        </p:nvSpPr>
        <p:spPr>
          <a:xfrm>
            <a:off x="480123" y="2470228"/>
            <a:ext cx="6253924" cy="36650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EABA8736-7A3C-423C-AE5A-BDA9E8807C56}"/>
                  </a:ext>
                </a:extLst>
              </p:cNvPr>
              <p:cNvSpPr/>
              <p:nvPr/>
            </p:nvSpPr>
            <p:spPr>
              <a:xfrm>
                <a:off x="480123" y="2533919"/>
                <a:ext cx="6138644" cy="3877985"/>
              </a:xfrm>
              <a:prstGeom prst="rect">
                <a:avLst/>
              </a:prstGeom>
            </p:spPr>
            <p:txBody>
              <a:bodyPr wrap="square">
                <a:spAutoFit/>
              </a:bodyPr>
              <a:lstStyle/>
              <a:p>
                <a:pPr algn="ctr">
                  <a:lnSpc>
                    <a:spcPct val="150000"/>
                  </a:lnSpc>
                  <a:buClr>
                    <a:schemeClr val="bg1"/>
                  </a:buClr>
                  <a:buSzPct val="80000"/>
                </a:pP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目标测试（</a:t>
                </a:r>
                <a:r>
                  <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goal test</a:t>
                </a:r>
                <a:r>
                  <a:rPr lang="zh-CN"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1600"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b="1" dirty="0" smtClean="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目标</a:t>
                </a:r>
                <a:r>
                  <a:rPr lang="zh-CN" altLang="zh-CN"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测试函数</a:t>
                </a:r>
                <a14:m>
                  <m:oMath xmlns:m="http://schemas.openxmlformats.org/officeDocument/2006/math">
                    <m:r>
                      <a:rPr lang="en-US" altLang="zh-CN" b="1" i="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𝐠𝐨𝐚𝐥</m:t>
                    </m:r>
                    <m:r>
                      <a:rPr lang="en-US" altLang="zh-CN" b="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_</m:t>
                    </m:r>
                    <m:r>
                      <a:rPr lang="en-US" altLang="zh-CN" b="1" i="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𝐭𝐞𝐬𝐭</m:t>
                    </m:r>
                    <m:r>
                      <a:rPr lang="en-US" altLang="zh-CN" b="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i="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𝐬</m:t>
                    </m:r>
                    <m:r>
                      <a:rPr lang="en-US" altLang="zh-CN" b="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用于判断状态</a:t>
                </a:r>
                <a14:m>
                  <m:oMath xmlns:m="http://schemas.openxmlformats.org/officeDocument/2006/math">
                    <m:r>
                      <a:rPr lang="en-US" altLang="zh-CN" b="1" i="1">
                        <a:solidFill>
                          <a:srgbClr val="FFFF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𝐬</m:t>
                    </m:r>
                  </m:oMath>
                </a14:m>
                <a:r>
                  <a:rPr lang="zh-CN" altLang="zh-CN" b="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是否为目标状态</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。在图中，如果当前状态为</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，那么目标测试通过，否则不通过</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当然，寻找所得的路径（从初始状态到终止状态）是否满足</a:t>
                </a:r>
                <a:r>
                  <a:rPr lang="en-US"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路径最短</a:t>
                </a:r>
                <a:r>
                  <a:rPr lang="en-US"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smtClean="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这一约束条件，还需要另行判断。</a:t>
                </a:r>
              </a:p>
              <a:p>
                <a:pPr algn="ctr">
                  <a:lnSpc>
                    <a:spcPct val="150000"/>
                  </a:lnSpc>
                  <a:buClr>
                    <a:schemeClr val="bg1"/>
                  </a:buClr>
                  <a:buSzPct val="80000"/>
                </a:pPr>
                <a:endPar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5" name="矩形 24">
                <a:extLst>
                  <a:ext uri="{FF2B5EF4-FFF2-40B4-BE49-F238E27FC236}">
                    <a16:creationId xmlns:a16="http://schemas.microsoft.com/office/drawing/2014/main" id="{EABA8736-7A3C-423C-AE5A-BDA9E8807C56}"/>
                  </a:ext>
                </a:extLst>
              </p:cNvPr>
              <p:cNvSpPr>
                <a:spLocks noRot="1" noChangeAspect="1" noMove="1" noResize="1" noEditPoints="1" noAdjustHandles="1" noChangeArrowheads="1" noChangeShapeType="1" noTextEdit="1"/>
              </p:cNvSpPr>
              <p:nvPr/>
            </p:nvSpPr>
            <p:spPr>
              <a:xfrm>
                <a:off x="480123" y="2533919"/>
                <a:ext cx="6138644" cy="3877985"/>
              </a:xfrm>
              <a:prstGeom prst="rect">
                <a:avLst/>
              </a:prstGeom>
              <a:blipFill>
                <a:blip r:embed="rId3"/>
                <a:stretch>
                  <a:fillRect l="-894" r="-1291"/>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1D641442-5FF6-4D13-A7AD-B6E51C96CD1E}"/>
              </a:ext>
            </a:extLst>
          </p:cNvPr>
          <p:cNvSpPr/>
          <p:nvPr/>
        </p:nvSpPr>
        <p:spPr>
          <a:xfrm>
            <a:off x="2015544" y="1274211"/>
            <a:ext cx="6841124" cy="461665"/>
          </a:xfrm>
          <a:prstGeom prst="rect">
            <a:avLst/>
          </a:prstGeom>
        </p:spPr>
        <p:txBody>
          <a:bodyPr wrap="square">
            <a:spAutoFit/>
          </a:bodyPr>
          <a:lstStyle/>
          <a:p>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&lt;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4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solidFill>
                <a:srgbClr val="C00000"/>
              </a:solidFill>
            </a:endParaRPr>
          </a:p>
        </p:txBody>
      </p:sp>
      <p:grpSp>
        <p:nvGrpSpPr>
          <p:cNvPr id="12" name="组合 11">
            <a:extLst>
              <a:ext uri="{FF2B5EF4-FFF2-40B4-BE49-F238E27FC236}">
                <a16:creationId xmlns:a16="http://schemas.microsoft.com/office/drawing/2014/main" id="{BEA6555C-530D-44FB-B696-3B91E2BA9412}"/>
              </a:ext>
            </a:extLst>
          </p:cNvPr>
          <p:cNvGrpSpPr/>
          <p:nvPr/>
        </p:nvGrpSpPr>
        <p:grpSpPr>
          <a:xfrm>
            <a:off x="6866464" y="2265539"/>
            <a:ext cx="5046494" cy="4302686"/>
            <a:chOff x="6866464" y="2265539"/>
            <a:chExt cx="4574773" cy="3574757"/>
          </a:xfrm>
        </p:grpSpPr>
        <p:sp>
          <p:nvSpPr>
            <p:cNvPr id="13" name="矩形 12">
              <a:extLst>
                <a:ext uri="{FF2B5EF4-FFF2-40B4-BE49-F238E27FC236}">
                  <a16:creationId xmlns:a16="http://schemas.microsoft.com/office/drawing/2014/main" id="{17C17ABF-5223-430C-B871-ADB2C4E7853A}"/>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4" name="图片 13">
              <a:extLst>
                <a:ext uri="{FF2B5EF4-FFF2-40B4-BE49-F238E27FC236}">
                  <a16:creationId xmlns:a16="http://schemas.microsoft.com/office/drawing/2014/main" id="{2B1F8BFC-B6F7-4896-9638-FCCCED4488A4}"/>
                </a:ext>
              </a:extLst>
            </p:cNvPr>
            <p:cNvPicPr>
              <a:picLocks noChangeAspect="1"/>
            </p:cNvPicPr>
            <p:nvPr/>
          </p:nvPicPr>
          <p:blipFill>
            <a:blip r:embed="rId4"/>
            <a:stretch>
              <a:fillRect/>
            </a:stretch>
          </p:blipFill>
          <p:spPr>
            <a:xfrm>
              <a:off x="7293430" y="2265539"/>
              <a:ext cx="3126477" cy="2787362"/>
            </a:xfrm>
            <a:prstGeom prst="rect">
              <a:avLst/>
            </a:prstGeom>
          </p:spPr>
        </p:pic>
      </p:grpSp>
      <p:grpSp>
        <p:nvGrpSpPr>
          <p:cNvPr id="15" name="组合 14"/>
          <p:cNvGrpSpPr/>
          <p:nvPr/>
        </p:nvGrpSpPr>
        <p:grpSpPr>
          <a:xfrm>
            <a:off x="1392281" y="438023"/>
            <a:ext cx="7464387" cy="557165"/>
            <a:chOff x="4099943" y="2819853"/>
            <a:chExt cx="2570275" cy="557165"/>
          </a:xfrm>
        </p:grpSpPr>
        <p:sp>
          <p:nvSpPr>
            <p:cNvPr id="16" name="平行四边形 1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7" name="平行四边形 1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8" name="矩形 17"/>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48555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2057401" y="1600200"/>
            <a:ext cx="8153401" cy="4343400"/>
          </a:xfrm>
        </p:spPr>
        <p:txBody>
          <a:bodyPr/>
          <a:lstStyle/>
          <a:p>
            <a:pPr>
              <a:buClr>
                <a:srgbClr val="FF0000"/>
              </a:buClr>
              <a:buSzPct val="90000"/>
              <a:buFont typeface="Wingdings" panose="05000000000000000000" pitchFamily="2" charset="2"/>
              <a:buChar char="p"/>
            </a:pPr>
            <a:r>
              <a:rPr lang="zh-CN" altLang="en-US" b="1" dirty="0"/>
              <a:t>罗马尼亚问题：</a:t>
            </a:r>
            <a:endParaRPr lang="en-US" altLang="zh-CN" b="1" dirty="0"/>
          </a:p>
          <a:p>
            <a:pPr marL="0" indent="0">
              <a:buNone/>
            </a:pPr>
            <a:r>
              <a:rPr lang="zh-CN" altLang="en-US" sz="2000" b="1" dirty="0"/>
              <a:t>      一个</a:t>
            </a:r>
            <a:r>
              <a:rPr lang="en-US" altLang="zh-CN" sz="2000" b="1" dirty="0"/>
              <a:t>Agent</a:t>
            </a:r>
            <a:r>
              <a:rPr lang="zh-CN" altLang="en-US" sz="2000" b="1" dirty="0"/>
              <a:t>如何从罗马尼亚的</a:t>
            </a:r>
            <a:r>
              <a:rPr lang="en-US" altLang="zh-CN" sz="2000" b="1" dirty="0"/>
              <a:t>Arad</a:t>
            </a:r>
            <a:r>
              <a:rPr lang="zh-CN" altLang="en-US" sz="2000" b="1" dirty="0"/>
              <a:t>走到</a:t>
            </a:r>
            <a:r>
              <a:rPr lang="en-US" altLang="zh-CN" sz="2000" b="1" dirty="0"/>
              <a:t>Bucharest</a:t>
            </a:r>
            <a:r>
              <a:rPr lang="zh-CN" altLang="en-US" sz="2000" b="1" dirty="0"/>
              <a:t>？</a:t>
            </a:r>
            <a:endParaRPr lang="en-US" altLang="zh-CN" sz="2000" b="1" dirty="0"/>
          </a:p>
          <a:p>
            <a:pPr marL="0" indent="0">
              <a:buNone/>
            </a:pPr>
            <a:endParaRPr lang="en-US" altLang="zh-CN" sz="2000" b="1" dirty="0"/>
          </a:p>
        </p:txBody>
      </p:sp>
      <p:sp>
        <p:nvSpPr>
          <p:cNvPr id="8" name="Rectangle 6"/>
          <p:cNvSpPr>
            <a:spLocks noGrp="1" noChangeArrowheads="1"/>
          </p:cNvSpPr>
          <p:nvPr>
            <p:ph type="sldNum" sz="quarter" idx="12"/>
          </p:nvPr>
        </p:nvSpPr>
        <p:spPr>
          <a:xfrm>
            <a:off x="9372601" y="6413500"/>
            <a:ext cx="1008063" cy="215900"/>
          </a:xfrm>
        </p:spPr>
        <p:txBody>
          <a:bodyPr/>
          <a:lstStyle>
            <a:lvl1pPr>
              <a:defRPr/>
            </a:lvl1pPr>
          </a:lstStyle>
          <a:p>
            <a:fld id="{B123C990-35D7-E04F-8A7A-5C143C8CA616}" type="slidenum">
              <a:rPr lang="en-US" altLang="zh-CN" smtClean="0"/>
              <a:t>11</a:t>
            </a:fld>
            <a:endParaRPr lang="en-US" altLang="zh-CN" dirty="0"/>
          </a:p>
        </p:txBody>
      </p:sp>
      <p:pic>
        <p:nvPicPr>
          <p:cNvPr id="10" name="Picture 3">
            <a:extLst>
              <a:ext uri="{FF2B5EF4-FFF2-40B4-BE49-F238E27FC236}">
                <a16:creationId xmlns:a16="http://schemas.microsoft.com/office/drawing/2014/main" id="{AE0CA94F-ABE5-46D9-B309-A78E4FD50CAA}"/>
              </a:ext>
            </a:extLst>
          </p:cNvPr>
          <p:cNvPicPr>
            <a:picLocks noChangeAspect="1" noChangeArrowheads="1"/>
          </p:cNvPicPr>
          <p:nvPr/>
        </p:nvPicPr>
        <p:blipFill>
          <a:blip r:embed="rId3">
            <a:lum contrast="6000"/>
          </a:blip>
          <a:srcRect/>
          <a:stretch>
            <a:fillRect/>
          </a:stretch>
        </p:blipFill>
        <p:spPr bwMode="auto">
          <a:xfrm>
            <a:off x="2495601" y="2615269"/>
            <a:ext cx="6499483" cy="3933774"/>
          </a:xfrm>
          <a:prstGeom prst="rect">
            <a:avLst/>
          </a:prstGeom>
          <a:noFill/>
          <a:ln w="9525">
            <a:noFill/>
            <a:miter lim="800000"/>
            <a:headEnd/>
            <a:tailEnd/>
          </a:ln>
        </p:spPr>
      </p:pic>
      <p:grpSp>
        <p:nvGrpSpPr>
          <p:cNvPr id="13" name="组合 12"/>
          <p:cNvGrpSpPr/>
          <p:nvPr/>
        </p:nvGrpSpPr>
        <p:grpSpPr>
          <a:xfrm>
            <a:off x="1392281" y="438023"/>
            <a:ext cx="7464387" cy="557165"/>
            <a:chOff x="4099943" y="2819853"/>
            <a:chExt cx="2570275" cy="557165"/>
          </a:xfrm>
        </p:grpSpPr>
        <p:sp>
          <p:nvSpPr>
            <p:cNvPr id="14" name="平行四边形 1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5" name="平行四边形 1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6" name="矩形 15"/>
            <p:cNvSpPr/>
            <p:nvPr/>
          </p:nvSpPr>
          <p:spPr>
            <a:xfrm>
              <a:off x="4216534" y="2853798"/>
              <a:ext cx="2359684" cy="523220"/>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a:t>
              </a:r>
              <a:r>
                <a:rPr lang="zh-CN" altLang="en-US" sz="28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描述实例</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43912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200667" y="1781566"/>
            <a:ext cx="8458487" cy="4921708"/>
          </a:xfrm>
        </p:spPr>
        <p:txBody>
          <a:bodyPr>
            <a:noAutofit/>
          </a:bodyPr>
          <a:lstStyle/>
          <a:p>
            <a:pPr>
              <a:buClr>
                <a:srgbClr val="FF0000"/>
              </a:buClr>
              <a:buSzPct val="90000"/>
              <a:buFont typeface="Wingdings" panose="05000000000000000000" pitchFamily="2" charset="2"/>
              <a:buChar char="p"/>
            </a:pPr>
            <a:r>
              <a:rPr lang="zh-CN" altLang="en-US" sz="2400" b="1" dirty="0"/>
              <a:t>一个问题用</a:t>
            </a:r>
            <a:r>
              <a:rPr lang="en-US" altLang="zh-CN" sz="2400" b="1" dirty="0"/>
              <a:t>5</a:t>
            </a:r>
            <a:r>
              <a:rPr lang="zh-CN" altLang="en-US" sz="2400" b="1" dirty="0"/>
              <a:t>个部分进行形式化描述（以罗马尼亚问题为例）</a:t>
            </a:r>
            <a:endParaRPr lang="en-US" altLang="zh-CN" sz="2400" b="1" dirty="0"/>
          </a:p>
          <a:p>
            <a:pPr marL="400050" lvl="1" indent="0">
              <a:lnSpc>
                <a:spcPct val="125000"/>
              </a:lnSpc>
              <a:spcBef>
                <a:spcPts val="600"/>
              </a:spcBef>
              <a:buNone/>
            </a:pPr>
            <a:r>
              <a:rPr lang="en-US" altLang="zh-CN" b="1" dirty="0"/>
              <a:t>1</a:t>
            </a:r>
            <a:r>
              <a:rPr lang="zh-CN" altLang="en-US" b="1" dirty="0"/>
              <a:t>）</a:t>
            </a:r>
            <a:r>
              <a:rPr lang="zh-CN" altLang="en-US" b="1" dirty="0">
                <a:solidFill>
                  <a:srgbClr val="FF0000"/>
                </a:solidFill>
              </a:rPr>
              <a:t>初始状态</a:t>
            </a:r>
            <a:r>
              <a:rPr lang="zh-CN" altLang="en-US" b="1" dirty="0"/>
              <a:t> ：</a:t>
            </a:r>
            <a:r>
              <a:rPr lang="en-US" altLang="zh-CN" dirty="0"/>
              <a:t>In Arad</a:t>
            </a:r>
            <a:endParaRPr lang="zh-CN" altLang="en-US" dirty="0"/>
          </a:p>
          <a:p>
            <a:pPr marL="400050" lvl="1" indent="0">
              <a:lnSpc>
                <a:spcPct val="125000"/>
              </a:lnSpc>
              <a:spcBef>
                <a:spcPts val="600"/>
              </a:spcBef>
              <a:buNone/>
            </a:pPr>
            <a:r>
              <a:rPr lang="en-US" altLang="zh-CN" b="1" dirty="0"/>
              <a:t>2</a:t>
            </a:r>
            <a:r>
              <a:rPr lang="zh-CN" altLang="en-US" b="1" dirty="0"/>
              <a:t>）</a:t>
            </a:r>
            <a:r>
              <a:rPr lang="zh-CN" altLang="en-US" b="1" dirty="0">
                <a:solidFill>
                  <a:srgbClr val="FF0000"/>
                </a:solidFill>
              </a:rPr>
              <a:t>行动</a:t>
            </a:r>
            <a:r>
              <a:rPr lang="zh-CN" altLang="en-US" b="1" dirty="0"/>
              <a:t> ：</a:t>
            </a:r>
            <a:r>
              <a:rPr lang="en-US" altLang="zh-CN" b="1" dirty="0"/>
              <a:t> </a:t>
            </a:r>
            <a:r>
              <a:rPr lang="en-US" altLang="zh-CN" dirty="0"/>
              <a:t>ACTIONS(s) </a:t>
            </a:r>
            <a:r>
              <a:rPr lang="zh-CN" altLang="en-US" dirty="0"/>
              <a:t>，给定一个状态</a:t>
            </a:r>
            <a:r>
              <a:rPr lang="en-US" altLang="zh-CN" dirty="0"/>
              <a:t>s</a:t>
            </a:r>
            <a:r>
              <a:rPr lang="zh-CN" altLang="en-US" dirty="0"/>
              <a:t>，</a:t>
            </a:r>
            <a:r>
              <a:rPr lang="en-US" altLang="zh-CN" dirty="0"/>
              <a:t>ACTIONS(s)</a:t>
            </a:r>
            <a:r>
              <a:rPr lang="zh-CN" altLang="en-US" dirty="0"/>
              <a:t>返回状态</a:t>
            </a:r>
            <a:r>
              <a:rPr lang="en-US" altLang="zh-CN" dirty="0"/>
              <a:t>s</a:t>
            </a:r>
            <a:r>
              <a:rPr lang="zh-CN" altLang="en-US" dirty="0"/>
              <a:t>下可以执行的动作的集合，例如状态</a:t>
            </a:r>
            <a:r>
              <a:rPr lang="en-US" altLang="zh-CN" dirty="0"/>
              <a:t>s</a:t>
            </a:r>
            <a:r>
              <a:rPr lang="zh-CN" altLang="en-US" dirty="0"/>
              <a:t>为“</a:t>
            </a:r>
            <a:r>
              <a:rPr lang="en-US" altLang="zh-CN" dirty="0"/>
              <a:t>In Arad</a:t>
            </a:r>
            <a:r>
              <a:rPr lang="zh-CN" altLang="en-US" dirty="0"/>
              <a:t>” ，</a:t>
            </a:r>
            <a:r>
              <a:rPr lang="en-US" altLang="zh-CN" dirty="0"/>
              <a:t> ACTIONS(s) </a:t>
            </a:r>
            <a:r>
              <a:rPr lang="zh-CN" altLang="en-US" dirty="0"/>
              <a:t>返回的行动为</a:t>
            </a:r>
            <a:r>
              <a:rPr lang="en-US" altLang="zh-CN" dirty="0"/>
              <a:t>	{ Go (Sibiu), Go (Timisoara), Go (</a:t>
            </a:r>
            <a:r>
              <a:rPr lang="en-US" altLang="zh-CN" dirty="0" err="1"/>
              <a:t>Zerind</a:t>
            </a:r>
            <a:r>
              <a:rPr lang="en-US" altLang="zh-CN" dirty="0"/>
              <a:t>) }</a:t>
            </a:r>
            <a:endParaRPr lang="zh-CN" altLang="en-US" dirty="0"/>
          </a:p>
          <a:p>
            <a:pPr marL="400050" lvl="1" indent="0">
              <a:lnSpc>
                <a:spcPct val="125000"/>
              </a:lnSpc>
              <a:spcBef>
                <a:spcPts val="600"/>
              </a:spcBef>
              <a:buNone/>
            </a:pPr>
            <a:r>
              <a:rPr lang="en-US" altLang="zh-CN" b="1" dirty="0"/>
              <a:t>3</a:t>
            </a:r>
            <a:r>
              <a:rPr lang="zh-CN" altLang="en-US" b="1" dirty="0"/>
              <a:t>）</a:t>
            </a:r>
            <a:r>
              <a:rPr lang="zh-CN" altLang="en-US" b="1" dirty="0">
                <a:solidFill>
                  <a:srgbClr val="FF0000"/>
                </a:solidFill>
              </a:rPr>
              <a:t>转移模型 </a:t>
            </a:r>
            <a:r>
              <a:rPr lang="zh-CN" altLang="en-US" b="1" dirty="0"/>
              <a:t>：</a:t>
            </a:r>
            <a:r>
              <a:rPr lang="en-US" altLang="zh-CN" dirty="0"/>
              <a:t>RESULT(s</a:t>
            </a:r>
            <a:r>
              <a:rPr lang="zh-CN" altLang="en-US" dirty="0"/>
              <a:t>，</a:t>
            </a:r>
            <a:r>
              <a:rPr lang="en-US" altLang="zh-CN" dirty="0"/>
              <a:t>a)</a:t>
            </a:r>
            <a:r>
              <a:rPr lang="zh-CN" altLang="en-US" dirty="0"/>
              <a:t>，在状态</a:t>
            </a:r>
            <a:r>
              <a:rPr lang="en-US" altLang="zh-CN" dirty="0"/>
              <a:t>s</a:t>
            </a:r>
            <a:r>
              <a:rPr lang="zh-CN" altLang="en-US" dirty="0"/>
              <a:t>下，执行</a:t>
            </a:r>
            <a:r>
              <a:rPr lang="en-US" altLang="zh-CN" dirty="0"/>
              <a:t>a</a:t>
            </a:r>
            <a:r>
              <a:rPr lang="zh-CN" altLang="en-US" dirty="0"/>
              <a:t>动作后，达到的状态。</a:t>
            </a:r>
            <a:r>
              <a:rPr lang="en-US" altLang="zh-CN" dirty="0"/>
              <a:t> </a:t>
            </a:r>
          </a:p>
          <a:p>
            <a:pPr marL="400050" lvl="1" indent="0">
              <a:lnSpc>
                <a:spcPct val="125000"/>
              </a:lnSpc>
              <a:spcBef>
                <a:spcPts val="600"/>
              </a:spcBef>
              <a:buNone/>
            </a:pPr>
            <a:r>
              <a:rPr lang="en-US" altLang="zh-CN" dirty="0"/>
              <a:t>   RESULT( In (Arad)</a:t>
            </a:r>
            <a:r>
              <a:rPr lang="zh-CN" altLang="en-US" dirty="0"/>
              <a:t>，</a:t>
            </a:r>
            <a:r>
              <a:rPr lang="en-US" altLang="zh-CN" dirty="0"/>
              <a:t>Go (Sibiu) ) = In (Sibiu)</a:t>
            </a:r>
            <a:endParaRPr lang="zh-CN" altLang="en-US" dirty="0"/>
          </a:p>
        </p:txBody>
      </p:sp>
      <p:sp>
        <p:nvSpPr>
          <p:cNvPr id="8" name="Rectangle 6"/>
          <p:cNvSpPr>
            <a:spLocks noGrp="1" noChangeArrowheads="1"/>
          </p:cNvSpPr>
          <p:nvPr>
            <p:ph type="sldNum" sz="quarter" idx="12"/>
          </p:nvPr>
        </p:nvSpPr>
        <p:spPr>
          <a:xfrm>
            <a:off x="9372601" y="6413500"/>
            <a:ext cx="1008063" cy="215900"/>
          </a:xfrm>
        </p:spPr>
        <p:txBody>
          <a:bodyPr/>
          <a:lstStyle>
            <a:lvl1pPr>
              <a:defRPr/>
            </a:lvl1pPr>
          </a:lstStyle>
          <a:p>
            <a:fld id="{B123C990-35D7-E04F-8A7A-5C143C8CA616}" type="slidenum">
              <a:rPr lang="en-US" altLang="zh-CN" smtClean="0"/>
              <a:t>12</a:t>
            </a:fld>
            <a:endParaRPr lang="en-US" altLang="zh-CN" dirty="0"/>
          </a:p>
        </p:txBody>
      </p:sp>
      <p:grpSp>
        <p:nvGrpSpPr>
          <p:cNvPr id="11" name="组合 10"/>
          <p:cNvGrpSpPr/>
          <p:nvPr/>
        </p:nvGrpSpPr>
        <p:grpSpPr>
          <a:xfrm>
            <a:off x="1392281" y="438023"/>
            <a:ext cx="7464387" cy="1203496"/>
            <a:chOff x="4099943" y="2819853"/>
            <a:chExt cx="2570275" cy="1203496"/>
          </a:xfrm>
        </p:grpSpPr>
        <p:sp>
          <p:nvSpPr>
            <p:cNvPr id="12" name="平行四边形 11"/>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平行四边形 12"/>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矩形 13"/>
            <p:cNvSpPr/>
            <p:nvPr/>
          </p:nvSpPr>
          <p:spPr>
            <a:xfrm>
              <a:off x="4216534" y="2853798"/>
              <a:ext cx="2359684" cy="1169551"/>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搜索的形式化描述例子</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spcBef>
                  <a:spcPct val="50000"/>
                </a:spcBef>
              </a:pP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02574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200667" y="1655126"/>
            <a:ext cx="8502651" cy="4343400"/>
          </a:xfrm>
        </p:spPr>
        <p:txBody>
          <a:bodyPr>
            <a:noAutofit/>
          </a:bodyPr>
          <a:lstStyle/>
          <a:p>
            <a:pPr>
              <a:buClr>
                <a:srgbClr val="FF0000"/>
              </a:buClr>
              <a:buSzPct val="90000"/>
              <a:buFont typeface="Wingdings" panose="05000000000000000000" pitchFamily="2" charset="2"/>
              <a:buChar char="p"/>
            </a:pPr>
            <a:r>
              <a:rPr lang="zh-CN" altLang="en-US" sz="2400" b="1" dirty="0"/>
              <a:t>一个问题用</a:t>
            </a:r>
            <a:r>
              <a:rPr lang="en-US" altLang="zh-CN" sz="2400" b="1" dirty="0"/>
              <a:t>5</a:t>
            </a:r>
            <a:r>
              <a:rPr lang="zh-CN" altLang="en-US" sz="2400" b="1" dirty="0"/>
              <a:t>个部分进行形式化描述（以罗马尼亚问题为例）</a:t>
            </a:r>
            <a:endParaRPr lang="en-US" altLang="zh-CN" sz="2400" b="1" dirty="0"/>
          </a:p>
          <a:p>
            <a:pPr marL="400050" lvl="1" indent="0">
              <a:lnSpc>
                <a:spcPct val="125000"/>
              </a:lnSpc>
              <a:spcBef>
                <a:spcPts val="600"/>
              </a:spcBef>
              <a:buNone/>
            </a:pPr>
            <a:r>
              <a:rPr lang="en-US" altLang="zh-CN" b="1" dirty="0"/>
              <a:t>4</a:t>
            </a:r>
            <a:r>
              <a:rPr lang="zh-CN" altLang="en-US" b="1" dirty="0"/>
              <a:t>）</a:t>
            </a:r>
            <a:r>
              <a:rPr lang="zh-CN" altLang="en-US" b="1" dirty="0">
                <a:solidFill>
                  <a:srgbClr val="FF0000"/>
                </a:solidFill>
              </a:rPr>
              <a:t>目标测试 </a:t>
            </a:r>
            <a:r>
              <a:rPr lang="zh-CN" altLang="en-US" b="1" dirty="0"/>
              <a:t>：</a:t>
            </a:r>
            <a:r>
              <a:rPr lang="zh-CN" altLang="en-US" dirty="0"/>
              <a:t>确定给定的状态是不是目标状态。目标状态集为</a:t>
            </a:r>
            <a:r>
              <a:rPr lang="en-US" altLang="zh-CN" dirty="0"/>
              <a:t>{ In (Bucharest) }</a:t>
            </a:r>
            <a:endParaRPr lang="zh-CN" altLang="en-US" dirty="0"/>
          </a:p>
          <a:p>
            <a:pPr marL="400050" lvl="1" indent="0">
              <a:lnSpc>
                <a:spcPct val="125000"/>
              </a:lnSpc>
              <a:spcBef>
                <a:spcPts val="600"/>
              </a:spcBef>
              <a:buNone/>
            </a:pPr>
            <a:r>
              <a:rPr lang="en-US" altLang="zh-CN" b="1" dirty="0"/>
              <a:t>5</a:t>
            </a:r>
            <a:r>
              <a:rPr lang="zh-CN" altLang="en-US" b="1" dirty="0"/>
              <a:t>）</a:t>
            </a:r>
            <a:r>
              <a:rPr lang="zh-CN" altLang="en-US" b="1" dirty="0">
                <a:solidFill>
                  <a:srgbClr val="FF0000"/>
                </a:solidFill>
              </a:rPr>
              <a:t>路径耗散 </a:t>
            </a:r>
            <a:r>
              <a:rPr lang="zh-CN" altLang="en-US" b="1" dirty="0"/>
              <a:t>：</a:t>
            </a:r>
            <a:r>
              <a:rPr lang="zh-CN" altLang="en-US" dirty="0"/>
              <a:t>路径耗散函数为每条路径赋一个耗散值，即边加权。罗马尼亚案例中</a:t>
            </a:r>
            <a:r>
              <a:rPr lang="en-US" altLang="zh-CN" dirty="0"/>
              <a:t>,</a:t>
            </a:r>
            <a:r>
              <a:rPr lang="zh-CN" altLang="en-US" dirty="0"/>
              <a:t>路径耗散可用公里数表示的路径长度。采用行动</a:t>
            </a:r>
            <a:r>
              <a:rPr lang="en-US" altLang="zh-CN" dirty="0"/>
              <a:t>a</a:t>
            </a:r>
            <a:r>
              <a:rPr lang="zh-CN" altLang="en-US" dirty="0"/>
              <a:t>从状态</a:t>
            </a:r>
            <a:r>
              <a:rPr lang="en-US" altLang="zh-CN" dirty="0"/>
              <a:t>s</a:t>
            </a:r>
            <a:r>
              <a:rPr lang="zh-CN" altLang="en-US" dirty="0"/>
              <a:t>走到状态</a:t>
            </a:r>
            <a:r>
              <a:rPr lang="en-US" altLang="zh-CN" dirty="0"/>
              <a:t>s’</a:t>
            </a:r>
            <a:r>
              <a:rPr lang="zh-CN" altLang="en-US" dirty="0"/>
              <a:t>所需要的单步耗散用</a:t>
            </a:r>
            <a:r>
              <a:rPr lang="en-US" altLang="zh-CN" dirty="0"/>
              <a:t>c(s, a, s’)</a:t>
            </a:r>
            <a:r>
              <a:rPr lang="zh-CN" altLang="en-US" dirty="0"/>
              <a:t>。</a:t>
            </a:r>
            <a:endParaRPr lang="en-US" altLang="zh-CN" dirty="0"/>
          </a:p>
          <a:p>
            <a:pPr marL="400050" lvl="1" indent="0">
              <a:lnSpc>
                <a:spcPct val="125000"/>
              </a:lnSpc>
              <a:spcBef>
                <a:spcPts val="600"/>
              </a:spcBef>
              <a:buNone/>
            </a:pPr>
            <a:r>
              <a:rPr lang="zh-CN" altLang="en-US" dirty="0"/>
              <a:t>问题的</a:t>
            </a:r>
            <a:r>
              <a:rPr lang="zh-CN" altLang="en-US" b="1" dirty="0"/>
              <a:t>解</a:t>
            </a:r>
            <a:r>
              <a:rPr lang="zh-CN" altLang="en-US" dirty="0"/>
              <a:t>是从</a:t>
            </a:r>
            <a:r>
              <a:rPr lang="zh-CN" altLang="en-US" b="1" dirty="0"/>
              <a:t>初始状态</a:t>
            </a:r>
            <a:r>
              <a:rPr lang="zh-CN" altLang="en-US" dirty="0"/>
              <a:t>到</a:t>
            </a:r>
            <a:r>
              <a:rPr lang="zh-CN" altLang="en-US" b="1" dirty="0"/>
              <a:t>目标状态</a:t>
            </a:r>
            <a:r>
              <a:rPr lang="zh-CN" altLang="en-US" dirty="0"/>
              <a:t>的一组行动序列。解的质量由路径耗散函数衡量，路径耗散值最小的即为</a:t>
            </a:r>
            <a:r>
              <a:rPr lang="zh-CN" altLang="en-US" b="1" dirty="0"/>
              <a:t>最优解。</a:t>
            </a:r>
            <a:endParaRPr lang="zh-CN" altLang="en-US" dirty="0"/>
          </a:p>
          <a:p>
            <a:pPr marL="400050" lvl="1" indent="0">
              <a:lnSpc>
                <a:spcPct val="125000"/>
              </a:lnSpc>
              <a:spcBef>
                <a:spcPts val="600"/>
              </a:spcBef>
              <a:buNone/>
            </a:pPr>
            <a:endParaRPr lang="en-US" altLang="zh-CN" dirty="0" smtClean="0"/>
          </a:p>
          <a:p>
            <a:pPr marL="400050" lvl="1" indent="0">
              <a:lnSpc>
                <a:spcPct val="125000"/>
              </a:lnSpc>
              <a:spcBef>
                <a:spcPts val="600"/>
              </a:spcBef>
              <a:buNone/>
            </a:pPr>
            <a:endParaRPr lang="en-US" altLang="zh-CN" dirty="0"/>
          </a:p>
          <a:p>
            <a:pPr marL="400050" lvl="1" indent="0">
              <a:lnSpc>
                <a:spcPct val="125000"/>
              </a:lnSpc>
              <a:spcBef>
                <a:spcPts val="600"/>
              </a:spcBef>
              <a:buNone/>
            </a:pPr>
            <a:r>
              <a:rPr lang="zh-CN" altLang="en-US" dirty="0" smtClean="0"/>
              <a:t> </a:t>
            </a:r>
            <a:endParaRPr lang="en-US" altLang="zh-CN" dirty="0"/>
          </a:p>
        </p:txBody>
      </p:sp>
      <p:sp>
        <p:nvSpPr>
          <p:cNvPr id="8" name="Rectangle 6"/>
          <p:cNvSpPr>
            <a:spLocks noGrp="1" noChangeArrowheads="1"/>
          </p:cNvSpPr>
          <p:nvPr>
            <p:ph type="sldNum" sz="quarter" idx="12"/>
          </p:nvPr>
        </p:nvSpPr>
        <p:spPr>
          <a:xfrm>
            <a:off x="9372601" y="6413500"/>
            <a:ext cx="1008063" cy="215900"/>
          </a:xfrm>
        </p:spPr>
        <p:txBody>
          <a:bodyPr/>
          <a:lstStyle>
            <a:lvl1pPr>
              <a:defRPr/>
            </a:lvl1pPr>
          </a:lstStyle>
          <a:p>
            <a:fld id="{B123C990-35D7-E04F-8A7A-5C143C8CA616}" type="slidenum">
              <a:rPr lang="en-US" altLang="zh-CN" smtClean="0"/>
              <a:t>13</a:t>
            </a:fld>
            <a:endParaRPr lang="en-US" altLang="zh-CN" dirty="0"/>
          </a:p>
        </p:txBody>
      </p:sp>
      <p:grpSp>
        <p:nvGrpSpPr>
          <p:cNvPr id="11" name="组合 10"/>
          <p:cNvGrpSpPr/>
          <p:nvPr/>
        </p:nvGrpSpPr>
        <p:grpSpPr>
          <a:xfrm>
            <a:off x="1392281" y="438022"/>
            <a:ext cx="7464387" cy="1210231"/>
            <a:chOff x="4099943" y="2819853"/>
            <a:chExt cx="2570275" cy="1009857"/>
          </a:xfrm>
        </p:grpSpPr>
        <p:sp>
          <p:nvSpPr>
            <p:cNvPr id="12" name="平行四边形 11"/>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平行四边形 12"/>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矩形 13"/>
            <p:cNvSpPr/>
            <p:nvPr/>
          </p:nvSpPr>
          <p:spPr>
            <a:xfrm>
              <a:off x="4216534" y="2853798"/>
              <a:ext cx="2359684" cy="975912"/>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a:t>
              </a:r>
              <a:r>
                <a:rPr lang="zh-CN" altLang="en-US" sz="28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描述实例</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spcBef>
                  <a:spcPct val="50000"/>
                </a:spcBef>
              </a:pP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104250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878013" y="1676400"/>
            <a:ext cx="8502651" cy="4343400"/>
          </a:xfrm>
        </p:spPr>
        <p:txBody>
          <a:bodyPr/>
          <a:lstStyle/>
          <a:p>
            <a:pPr>
              <a:buClr>
                <a:srgbClr val="FF0000"/>
              </a:buClr>
              <a:buSzPct val="90000"/>
              <a:buFont typeface="Wingdings" panose="05000000000000000000" pitchFamily="2" charset="2"/>
              <a:buChar char="p"/>
            </a:pPr>
            <a:r>
              <a:rPr lang="zh-CN" altLang="en-US" b="1" dirty="0"/>
              <a:t>真空吸尘器世界问题</a:t>
            </a:r>
            <a:endParaRPr lang="en-US" altLang="zh-CN" b="1" dirty="0"/>
          </a:p>
          <a:p>
            <a:pPr marL="0" indent="0">
              <a:buNone/>
            </a:pPr>
            <a:endParaRPr lang="en-US" altLang="zh-CN" sz="2000" b="1" dirty="0"/>
          </a:p>
          <a:p>
            <a:endParaRPr lang="en-US" altLang="zh-CN" sz="2000" b="1" dirty="0"/>
          </a:p>
        </p:txBody>
      </p:sp>
      <p:sp>
        <p:nvSpPr>
          <p:cNvPr id="8" name="Rectangle 6"/>
          <p:cNvSpPr>
            <a:spLocks noGrp="1" noChangeArrowheads="1"/>
          </p:cNvSpPr>
          <p:nvPr>
            <p:ph type="sldNum" sz="quarter" idx="12"/>
          </p:nvPr>
        </p:nvSpPr>
        <p:spPr>
          <a:xfrm>
            <a:off x="9372601" y="6413500"/>
            <a:ext cx="1008063" cy="215900"/>
          </a:xfrm>
        </p:spPr>
        <p:txBody>
          <a:bodyPr/>
          <a:lstStyle>
            <a:lvl1pPr>
              <a:defRPr/>
            </a:lvl1pPr>
          </a:lstStyle>
          <a:p>
            <a:fld id="{B123C990-35D7-E04F-8A7A-5C143C8CA616}" type="slidenum">
              <a:rPr lang="en-US" altLang="zh-CN" smtClean="0"/>
              <a:t>14</a:t>
            </a:fld>
            <a:endParaRPr lang="en-US" altLang="zh-CN" dirty="0"/>
          </a:p>
        </p:txBody>
      </p:sp>
      <p:pic>
        <p:nvPicPr>
          <p:cNvPr id="3" name="图片 2">
            <a:extLst>
              <a:ext uri="{FF2B5EF4-FFF2-40B4-BE49-F238E27FC236}">
                <a16:creationId xmlns:a16="http://schemas.microsoft.com/office/drawing/2014/main" id="{97FB147F-8863-4DFC-A0A6-2501B6131D01}"/>
              </a:ext>
            </a:extLst>
          </p:cNvPr>
          <p:cNvPicPr>
            <a:picLocks noChangeAspect="1"/>
          </p:cNvPicPr>
          <p:nvPr/>
        </p:nvPicPr>
        <p:blipFill rotWithShape="1">
          <a:blip r:embed="rId3"/>
          <a:srcRect b="6381"/>
          <a:stretch/>
        </p:blipFill>
        <p:spPr>
          <a:xfrm>
            <a:off x="2266948" y="2348880"/>
            <a:ext cx="7724778" cy="3913018"/>
          </a:xfrm>
          <a:prstGeom prst="rect">
            <a:avLst/>
          </a:prstGeom>
        </p:spPr>
      </p:pic>
      <p:grpSp>
        <p:nvGrpSpPr>
          <p:cNvPr id="7" name="组合 6"/>
          <p:cNvGrpSpPr/>
          <p:nvPr/>
        </p:nvGrpSpPr>
        <p:grpSpPr>
          <a:xfrm>
            <a:off x="1392281" y="438022"/>
            <a:ext cx="7464387" cy="1210231"/>
            <a:chOff x="4099943" y="2819853"/>
            <a:chExt cx="2570275" cy="1009857"/>
          </a:xfrm>
        </p:grpSpPr>
        <p:sp>
          <p:nvSpPr>
            <p:cNvPr id="9" name="平行四边形 8"/>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4216534" y="2853798"/>
              <a:ext cx="2359684" cy="975912"/>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a:t>
              </a:r>
              <a:r>
                <a:rPr lang="zh-CN" altLang="en-US" sz="28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描述实例</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spcBef>
                  <a:spcPct val="50000"/>
                </a:spcBef>
              </a:pP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616852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847529" y="1412776"/>
            <a:ext cx="8502651" cy="4318992"/>
          </a:xfrm>
        </p:spPr>
        <p:txBody>
          <a:bodyPr>
            <a:noAutofit/>
          </a:bodyPr>
          <a:lstStyle/>
          <a:p>
            <a:pPr>
              <a:buClr>
                <a:srgbClr val="FF0000"/>
              </a:buClr>
              <a:buSzPct val="90000"/>
              <a:buFont typeface="Wingdings" panose="05000000000000000000" pitchFamily="2" charset="2"/>
              <a:buChar char="p"/>
              <a:defRPr/>
            </a:pPr>
            <a:r>
              <a:rPr lang="zh-CN" altLang="en-US" b="1" dirty="0"/>
              <a:t>真空吸尘器世界问题可形式化如下：</a:t>
            </a:r>
            <a:endParaRPr lang="en-US" altLang="zh-CN" b="1" dirty="0"/>
          </a:p>
          <a:p>
            <a:pPr marL="0" indent="0">
              <a:lnSpc>
                <a:spcPct val="125000"/>
              </a:lnSpc>
              <a:buNone/>
              <a:defRPr/>
            </a:pPr>
            <a:r>
              <a:rPr lang="zh-CN" altLang="en-US" sz="2000" b="1" dirty="0">
                <a:solidFill>
                  <a:srgbClr val="FF0000"/>
                </a:solidFill>
              </a:rPr>
              <a:t>状态：</a:t>
            </a:r>
            <a:r>
              <a:rPr lang="zh-CN" altLang="en-US" sz="2000" dirty="0"/>
              <a:t>状态由</a:t>
            </a:r>
            <a:r>
              <a:rPr lang="en-US" altLang="zh-CN" sz="2000" dirty="0"/>
              <a:t>Agent</a:t>
            </a:r>
            <a:r>
              <a:rPr lang="zh-CN" altLang="en-US" sz="2000" dirty="0"/>
              <a:t>位置和灰尘位置确定。</a:t>
            </a:r>
            <a:r>
              <a:rPr lang="en-US" altLang="zh-CN" sz="2000" dirty="0"/>
              <a:t>Agent</a:t>
            </a:r>
            <a:r>
              <a:rPr lang="zh-CN" altLang="en-US" sz="2000" dirty="0"/>
              <a:t>的位置有两个，每个位置都可能有灰尘，因此可能的世界状态有</a:t>
            </a:r>
            <a:r>
              <a:rPr lang="en-US" altLang="zh-CN" sz="2000" dirty="0"/>
              <a:t>2x2x2=8</a:t>
            </a:r>
            <a:r>
              <a:rPr lang="zh-CN" altLang="en-US" sz="2000" dirty="0"/>
              <a:t>个。对于具有</a:t>
            </a:r>
            <a:r>
              <a:rPr lang="en-US" altLang="zh-CN" sz="2000" dirty="0"/>
              <a:t>n</a:t>
            </a:r>
            <a:r>
              <a:rPr lang="zh-CN" altLang="en-US" sz="2000" dirty="0"/>
              <a:t>个位置的大型环境，可能的世界状态数为</a:t>
            </a:r>
            <a:r>
              <a:rPr lang="en-US" altLang="zh-CN" sz="2000" dirty="0"/>
              <a:t>nx2^n</a:t>
            </a:r>
            <a:r>
              <a:rPr lang="zh-CN" altLang="en-US" sz="2000" dirty="0"/>
              <a:t>个。</a:t>
            </a:r>
            <a:endParaRPr lang="en-US" altLang="zh-CN" sz="2000" dirty="0"/>
          </a:p>
          <a:p>
            <a:pPr marL="0" indent="0">
              <a:lnSpc>
                <a:spcPct val="125000"/>
              </a:lnSpc>
              <a:buNone/>
              <a:defRPr/>
            </a:pPr>
            <a:r>
              <a:rPr lang="zh-CN" altLang="en-US" sz="2000" b="1" dirty="0">
                <a:solidFill>
                  <a:srgbClr val="FF0000"/>
                </a:solidFill>
              </a:rPr>
              <a:t>初始状态：</a:t>
            </a:r>
            <a:r>
              <a:rPr lang="zh-CN" altLang="en-US" sz="2000" dirty="0"/>
              <a:t>任何一个状态都可能是初始状态。</a:t>
            </a:r>
            <a:endParaRPr lang="en-US" altLang="zh-CN" sz="2000" dirty="0"/>
          </a:p>
          <a:p>
            <a:pPr marL="0" indent="0">
              <a:lnSpc>
                <a:spcPct val="125000"/>
              </a:lnSpc>
              <a:buNone/>
              <a:defRPr/>
            </a:pPr>
            <a:r>
              <a:rPr lang="zh-CN" altLang="en-US" sz="2000" b="1" dirty="0">
                <a:solidFill>
                  <a:srgbClr val="FF0000"/>
                </a:solidFill>
              </a:rPr>
              <a:t>行动：</a:t>
            </a:r>
            <a:r>
              <a:rPr lang="zh-CN" altLang="en-US" sz="2000" dirty="0"/>
              <a:t>每个状态下可执行的行动只有三个</a:t>
            </a:r>
            <a:r>
              <a:rPr lang="en-US" altLang="zh-CN" sz="2000" dirty="0"/>
              <a:t>Left</a:t>
            </a:r>
            <a:r>
              <a:rPr lang="zh-CN" altLang="en-US" sz="2000" dirty="0"/>
              <a:t>（左移），</a:t>
            </a:r>
            <a:r>
              <a:rPr lang="en-US" altLang="zh-CN" sz="2000" dirty="0"/>
              <a:t>Right</a:t>
            </a:r>
            <a:r>
              <a:rPr lang="zh-CN" altLang="en-US" sz="2000" dirty="0"/>
              <a:t>（右移），</a:t>
            </a:r>
            <a:r>
              <a:rPr lang="en-US" altLang="zh-CN" sz="2000" dirty="0"/>
              <a:t>Suck</a:t>
            </a:r>
            <a:r>
              <a:rPr lang="zh-CN" altLang="en-US" sz="2000" dirty="0"/>
              <a:t>（吸尘）</a:t>
            </a:r>
            <a:endParaRPr lang="en-US" altLang="zh-CN" sz="2000" dirty="0"/>
          </a:p>
          <a:p>
            <a:pPr marL="0" indent="0">
              <a:lnSpc>
                <a:spcPct val="125000"/>
              </a:lnSpc>
              <a:buNone/>
              <a:defRPr/>
            </a:pPr>
            <a:r>
              <a:rPr lang="zh-CN" altLang="en-US" sz="2000" b="1" dirty="0">
                <a:solidFill>
                  <a:srgbClr val="FF0000"/>
                </a:solidFill>
              </a:rPr>
              <a:t>转移模型：</a:t>
            </a:r>
            <a:r>
              <a:rPr lang="zh-CN" altLang="en-US" sz="2000" dirty="0"/>
              <a:t>行动会产生对应的预期效果。除了在最左边位置不能再左移，最右边位置不能再右移，且干净的位置吸尘没有效果以外，其他所有可能的行动后的状态空间如图所示。</a:t>
            </a:r>
            <a:endParaRPr lang="en-US" altLang="zh-CN" sz="2000" dirty="0"/>
          </a:p>
          <a:p>
            <a:pPr marL="0" indent="0">
              <a:lnSpc>
                <a:spcPct val="125000"/>
              </a:lnSpc>
              <a:buNone/>
              <a:defRPr/>
            </a:pPr>
            <a:r>
              <a:rPr lang="zh-CN" altLang="en-US" sz="2000" b="1" dirty="0">
                <a:solidFill>
                  <a:srgbClr val="FF0000"/>
                </a:solidFill>
              </a:rPr>
              <a:t>目标测试：</a:t>
            </a:r>
            <a:r>
              <a:rPr lang="zh-CN" altLang="en-US" sz="2000" dirty="0"/>
              <a:t>检查所有位置是否干净</a:t>
            </a:r>
            <a:endParaRPr lang="en-US" altLang="zh-CN" sz="2000" dirty="0"/>
          </a:p>
          <a:p>
            <a:pPr marL="0" indent="0">
              <a:lnSpc>
                <a:spcPct val="125000"/>
              </a:lnSpc>
              <a:buNone/>
              <a:defRPr/>
            </a:pPr>
            <a:r>
              <a:rPr lang="zh-CN" altLang="en-US" sz="2000" b="1" dirty="0">
                <a:solidFill>
                  <a:srgbClr val="FF0000"/>
                </a:solidFill>
              </a:rPr>
              <a:t>路径消耗</a:t>
            </a:r>
            <a:r>
              <a:rPr lang="zh-CN" altLang="en-US" sz="2000" dirty="0">
                <a:solidFill>
                  <a:srgbClr val="FF0000"/>
                </a:solidFill>
              </a:rPr>
              <a:t>：</a:t>
            </a:r>
            <a:r>
              <a:rPr lang="zh-CN" altLang="en-US" sz="2000" dirty="0"/>
              <a:t>每一步耗散值为</a:t>
            </a:r>
            <a:r>
              <a:rPr lang="en-US" altLang="zh-CN" sz="2000" dirty="0"/>
              <a:t>1</a:t>
            </a:r>
            <a:r>
              <a:rPr lang="zh-CN" altLang="en-US" sz="2000" dirty="0"/>
              <a:t>，整个路劲耗散值为路径的总步数。</a:t>
            </a:r>
            <a:endParaRPr lang="en-US" altLang="zh-CN" sz="2000" b="1" dirty="0"/>
          </a:p>
        </p:txBody>
      </p:sp>
      <p:sp>
        <p:nvSpPr>
          <p:cNvPr id="8" name="Rectangle 6"/>
          <p:cNvSpPr>
            <a:spLocks noGrp="1" noChangeArrowheads="1"/>
          </p:cNvSpPr>
          <p:nvPr>
            <p:ph type="sldNum" sz="quarter" idx="12"/>
          </p:nvPr>
        </p:nvSpPr>
        <p:spPr>
          <a:xfrm>
            <a:off x="9372601" y="6413500"/>
            <a:ext cx="1008063" cy="215900"/>
          </a:xfrm>
        </p:spPr>
        <p:txBody>
          <a:bodyPr/>
          <a:lstStyle>
            <a:lvl1pPr>
              <a:defRPr/>
            </a:lvl1pPr>
          </a:lstStyle>
          <a:p>
            <a:fld id="{B123C990-35D7-E04F-8A7A-5C143C8CA616}" type="slidenum">
              <a:rPr lang="en-US" altLang="zh-CN" smtClean="0"/>
              <a:t>15</a:t>
            </a:fld>
            <a:endParaRPr lang="en-US" altLang="zh-CN" dirty="0"/>
          </a:p>
        </p:txBody>
      </p:sp>
      <p:grpSp>
        <p:nvGrpSpPr>
          <p:cNvPr id="11" name="组合 10"/>
          <p:cNvGrpSpPr/>
          <p:nvPr/>
        </p:nvGrpSpPr>
        <p:grpSpPr>
          <a:xfrm>
            <a:off x="1392281" y="438022"/>
            <a:ext cx="7464387" cy="1210231"/>
            <a:chOff x="4099943" y="2819853"/>
            <a:chExt cx="2570275" cy="1009857"/>
          </a:xfrm>
        </p:grpSpPr>
        <p:sp>
          <p:nvSpPr>
            <p:cNvPr id="12" name="平行四边形 11"/>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平行四边形 12"/>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矩形 13"/>
            <p:cNvSpPr/>
            <p:nvPr/>
          </p:nvSpPr>
          <p:spPr>
            <a:xfrm>
              <a:off x="4216534" y="2853798"/>
              <a:ext cx="2359684" cy="975912"/>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a:t>
              </a:r>
              <a:r>
                <a:rPr lang="zh-CN" altLang="en-US" sz="28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描述实例</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spcBef>
                  <a:spcPct val="50000"/>
                </a:spcBef>
              </a:pP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45942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878013" y="1651794"/>
            <a:ext cx="8502651" cy="4343400"/>
          </a:xfrm>
        </p:spPr>
        <p:txBody>
          <a:bodyPr/>
          <a:lstStyle/>
          <a:p>
            <a:pPr>
              <a:buClr>
                <a:srgbClr val="FF0000"/>
              </a:buClr>
              <a:buSzPct val="90000"/>
              <a:buFont typeface="Wingdings" panose="05000000000000000000" pitchFamily="2" charset="2"/>
              <a:buChar char="p"/>
            </a:pPr>
            <a:r>
              <a:rPr lang="zh-CN" altLang="en-US" b="1" dirty="0"/>
              <a:t>八数码问题游戏：</a:t>
            </a:r>
            <a:endParaRPr lang="en-US" altLang="zh-CN" b="1" dirty="0"/>
          </a:p>
          <a:p>
            <a:pPr marL="0" indent="0">
              <a:buNone/>
            </a:pPr>
            <a:r>
              <a:rPr lang="en-US" altLang="zh-CN" sz="2000" b="1" dirty="0"/>
              <a:t>      </a:t>
            </a:r>
            <a:r>
              <a:rPr lang="zh-CN" altLang="en-US" sz="2000" b="1" dirty="0"/>
              <a:t>一个</a:t>
            </a:r>
            <a:r>
              <a:rPr lang="en-US" altLang="zh-CN" sz="2000" b="1" dirty="0"/>
              <a:t>3x3</a:t>
            </a:r>
            <a:r>
              <a:rPr lang="zh-CN" altLang="en-US" sz="2000" b="1" dirty="0"/>
              <a:t>的棋盘中有</a:t>
            </a:r>
            <a:r>
              <a:rPr lang="en-US" altLang="zh-CN" sz="2000" b="1" dirty="0"/>
              <a:t>8</a:t>
            </a:r>
            <a:r>
              <a:rPr lang="zh-CN" altLang="en-US" sz="2000" b="1" dirty="0"/>
              <a:t>个数字棋子和一个空格，与空格相邻棋子可滑动到</a:t>
            </a:r>
            <a:r>
              <a:rPr lang="en-US" altLang="zh-CN" sz="2000" b="1" dirty="0"/>
              <a:t>     </a:t>
            </a:r>
            <a:r>
              <a:rPr lang="zh-CN" altLang="en-US" sz="2000" b="1" dirty="0"/>
              <a:t>空格中。游戏目标要达到右侧给出的指定状态。</a:t>
            </a:r>
            <a:endParaRPr lang="en-US" altLang="zh-CN" sz="2000" b="1" dirty="0"/>
          </a:p>
          <a:p>
            <a:endParaRPr lang="en-US" altLang="zh-CN" sz="2000" b="1" dirty="0"/>
          </a:p>
        </p:txBody>
      </p:sp>
      <p:sp>
        <p:nvSpPr>
          <p:cNvPr id="8" name="Rectangle 6"/>
          <p:cNvSpPr>
            <a:spLocks noGrp="1" noChangeArrowheads="1"/>
          </p:cNvSpPr>
          <p:nvPr>
            <p:ph type="sldNum" sz="quarter" idx="12"/>
          </p:nvPr>
        </p:nvSpPr>
        <p:spPr>
          <a:xfrm>
            <a:off x="9372601" y="6413500"/>
            <a:ext cx="1008063" cy="215900"/>
          </a:xfrm>
        </p:spPr>
        <p:txBody>
          <a:bodyPr/>
          <a:lstStyle>
            <a:lvl1pPr>
              <a:defRPr/>
            </a:lvl1pPr>
          </a:lstStyle>
          <a:p>
            <a:fld id="{B123C990-35D7-E04F-8A7A-5C143C8CA616}" type="slidenum">
              <a:rPr lang="en-US" altLang="zh-CN" smtClean="0"/>
              <a:t>16</a:t>
            </a:fld>
            <a:endParaRPr lang="en-US" altLang="zh-CN" dirty="0"/>
          </a:p>
        </p:txBody>
      </p:sp>
      <p:graphicFrame>
        <p:nvGraphicFramePr>
          <p:cNvPr id="3" name="对象 2"/>
          <p:cNvGraphicFramePr>
            <a:graphicFrameLocks noChangeAspect="1"/>
          </p:cNvGraphicFramePr>
          <p:nvPr>
            <p:extLst/>
          </p:nvPr>
        </p:nvGraphicFramePr>
        <p:xfrm>
          <a:off x="2783632" y="3356992"/>
          <a:ext cx="2514600" cy="2514600"/>
        </p:xfrm>
        <a:graphic>
          <a:graphicData uri="http://schemas.openxmlformats.org/presentationml/2006/ole">
            <mc:AlternateContent xmlns:mc="http://schemas.openxmlformats.org/markup-compatibility/2006">
              <mc:Choice xmlns:v="urn:schemas-microsoft-com:vml" Requires="v">
                <p:oleObj spid="_x0000_s1034" name="位图图像" r:id="rId4" imgW="1238423" imgH="1238423" progId="PBrush">
                  <p:embed/>
                </p:oleObj>
              </mc:Choice>
              <mc:Fallback>
                <p:oleObj name="位图图像" r:id="rId4" imgW="1238423" imgH="1238423" progId="PBrush">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3632" y="3356992"/>
                        <a:ext cx="25146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nvPr>
        </p:nvGraphicFramePr>
        <p:xfrm>
          <a:off x="6240016" y="3356992"/>
          <a:ext cx="2362200" cy="2324100"/>
        </p:xfrm>
        <a:graphic>
          <a:graphicData uri="http://schemas.openxmlformats.org/presentationml/2006/ole">
            <mc:AlternateContent xmlns:mc="http://schemas.openxmlformats.org/markup-compatibility/2006">
              <mc:Choice xmlns:v="urn:schemas-microsoft-com:vml" Requires="v">
                <p:oleObj spid="_x0000_s1035" name="位图图像" r:id="rId6" imgW="1181265" imgH="1162212" progId="PBrush">
                  <p:embed/>
                </p:oleObj>
              </mc:Choice>
              <mc:Fallback>
                <p:oleObj name="位图图像" r:id="rId6" imgW="1181265" imgH="1162212" progId="PBrush">
                  <p:embed/>
                  <p:pic>
                    <p:nvPicPr>
                      <p:cNvPr id="4"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0016" y="3356992"/>
                        <a:ext cx="2362200"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组合 12"/>
          <p:cNvGrpSpPr/>
          <p:nvPr/>
        </p:nvGrpSpPr>
        <p:grpSpPr>
          <a:xfrm>
            <a:off x="1392281" y="438022"/>
            <a:ext cx="7464387" cy="1210231"/>
            <a:chOff x="4099943" y="2819853"/>
            <a:chExt cx="2570275" cy="1009857"/>
          </a:xfrm>
        </p:grpSpPr>
        <p:sp>
          <p:nvSpPr>
            <p:cNvPr id="14" name="平行四边形 1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5" name="平行四边形 1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6" name="矩形 15"/>
            <p:cNvSpPr/>
            <p:nvPr/>
          </p:nvSpPr>
          <p:spPr>
            <a:xfrm>
              <a:off x="4216534" y="2853798"/>
              <a:ext cx="2359684" cy="975912"/>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a:t>
              </a:r>
              <a:r>
                <a:rPr lang="zh-CN" altLang="en-US" sz="28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描述实例</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spcBef>
                  <a:spcPct val="50000"/>
                </a:spcBef>
              </a:pP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82585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9536" y="1412776"/>
            <a:ext cx="8229600" cy="4968552"/>
          </a:xfrm>
        </p:spPr>
        <p:txBody>
          <a:bodyPr>
            <a:noAutofit/>
          </a:bodyPr>
          <a:lstStyle/>
          <a:p>
            <a:pPr>
              <a:buClr>
                <a:srgbClr val="FF0000"/>
              </a:buClr>
              <a:buSzPct val="90000"/>
              <a:buFont typeface="Wingdings" panose="05000000000000000000" pitchFamily="2" charset="2"/>
              <a:buChar char="p"/>
              <a:defRPr/>
            </a:pPr>
            <a:r>
              <a:rPr lang="zh-CN" altLang="en-US" b="1" dirty="0"/>
              <a:t>八数码的问题可形式化如下：</a:t>
            </a:r>
            <a:endParaRPr lang="en-US" altLang="zh-CN" b="1" dirty="0"/>
          </a:p>
          <a:p>
            <a:pPr marL="0" indent="0">
              <a:lnSpc>
                <a:spcPct val="125000"/>
              </a:lnSpc>
              <a:buNone/>
              <a:defRPr/>
            </a:pPr>
            <a:r>
              <a:rPr lang="zh-CN" altLang="en-US" sz="2400" b="1" dirty="0">
                <a:solidFill>
                  <a:srgbClr val="FF0000"/>
                </a:solidFill>
              </a:rPr>
              <a:t>可能状态</a:t>
            </a:r>
            <a:r>
              <a:rPr lang="zh-CN" altLang="en-US" sz="2400" dirty="0">
                <a:solidFill>
                  <a:srgbClr val="FF0000"/>
                </a:solidFill>
              </a:rPr>
              <a:t>：</a:t>
            </a:r>
            <a:r>
              <a:rPr lang="zh-CN" altLang="en-US" sz="2400" dirty="0"/>
              <a:t>所有</a:t>
            </a:r>
            <a:r>
              <a:rPr lang="en-US" altLang="zh-CN" sz="2400" dirty="0"/>
              <a:t>8</a:t>
            </a:r>
            <a:r>
              <a:rPr lang="zh-CN" altLang="en-US" sz="2400" dirty="0"/>
              <a:t>个棋子及空格在棋盘上的可能分布</a:t>
            </a:r>
            <a:endParaRPr lang="en-US" altLang="zh-CN" sz="2400" dirty="0"/>
          </a:p>
          <a:p>
            <a:pPr marL="0" indent="0">
              <a:lnSpc>
                <a:spcPct val="125000"/>
              </a:lnSpc>
              <a:buNone/>
              <a:defRPr/>
            </a:pPr>
            <a:r>
              <a:rPr lang="zh-CN" altLang="en-US" sz="2400" b="1" dirty="0">
                <a:solidFill>
                  <a:srgbClr val="FF0000"/>
                </a:solidFill>
              </a:rPr>
              <a:t>初始状态</a:t>
            </a:r>
            <a:r>
              <a:rPr lang="zh-CN" altLang="en-US" sz="2400" dirty="0">
                <a:solidFill>
                  <a:srgbClr val="FF0000"/>
                </a:solidFill>
              </a:rPr>
              <a:t>：</a:t>
            </a:r>
            <a:r>
              <a:rPr lang="zh-CN" altLang="en-US" sz="2400" dirty="0"/>
              <a:t>任何可能状态里的一种。</a:t>
            </a:r>
            <a:endParaRPr lang="en-US" altLang="zh-CN" sz="2400" dirty="0"/>
          </a:p>
          <a:p>
            <a:pPr marL="0" indent="0">
              <a:lnSpc>
                <a:spcPct val="125000"/>
              </a:lnSpc>
              <a:buNone/>
              <a:defRPr/>
            </a:pPr>
            <a:r>
              <a:rPr lang="zh-CN" altLang="en-US" sz="2400" b="1" dirty="0">
                <a:solidFill>
                  <a:srgbClr val="FF0000"/>
                </a:solidFill>
              </a:rPr>
              <a:t>行动</a:t>
            </a:r>
            <a:r>
              <a:rPr lang="zh-CN" altLang="en-US" sz="2400" dirty="0">
                <a:solidFill>
                  <a:srgbClr val="FF0000"/>
                </a:solidFill>
              </a:rPr>
              <a:t>：</a:t>
            </a:r>
            <a:r>
              <a:rPr lang="zh-CN" altLang="en-US" sz="2400" dirty="0"/>
              <a:t>与空格相邻的数字棋子可能发生的合法移动（上移，下移，左移，右移）</a:t>
            </a:r>
            <a:endParaRPr lang="en-US" altLang="zh-CN" sz="2400" dirty="0"/>
          </a:p>
          <a:p>
            <a:pPr marL="0" indent="0">
              <a:lnSpc>
                <a:spcPct val="125000"/>
              </a:lnSpc>
              <a:buNone/>
              <a:defRPr/>
            </a:pPr>
            <a:r>
              <a:rPr lang="zh-CN" altLang="en-US" sz="2400" b="1" dirty="0">
                <a:solidFill>
                  <a:srgbClr val="FF0000"/>
                </a:solidFill>
              </a:rPr>
              <a:t>转移模型</a:t>
            </a:r>
            <a:r>
              <a:rPr lang="zh-CN" altLang="en-US" sz="2400" dirty="0">
                <a:solidFill>
                  <a:srgbClr val="FF0000"/>
                </a:solidFill>
              </a:rPr>
              <a:t>：</a:t>
            </a:r>
            <a:r>
              <a:rPr lang="zh-CN" altLang="en-US" sz="2400" dirty="0"/>
              <a:t>对应棋子移动后的合法状态</a:t>
            </a:r>
            <a:endParaRPr lang="en-US" altLang="zh-CN" sz="2400" dirty="0"/>
          </a:p>
          <a:p>
            <a:pPr marL="0" indent="0">
              <a:lnSpc>
                <a:spcPct val="125000"/>
              </a:lnSpc>
              <a:buNone/>
              <a:defRPr/>
            </a:pPr>
            <a:r>
              <a:rPr lang="zh-CN" altLang="en-US" sz="2400" b="1" dirty="0">
                <a:solidFill>
                  <a:srgbClr val="FF0000"/>
                </a:solidFill>
              </a:rPr>
              <a:t>目标测试</a:t>
            </a:r>
            <a:r>
              <a:rPr lang="zh-CN" altLang="en-US" sz="2400" dirty="0">
                <a:solidFill>
                  <a:srgbClr val="FF0000"/>
                </a:solidFill>
              </a:rPr>
              <a:t>：</a:t>
            </a:r>
            <a:r>
              <a:rPr lang="zh-CN" altLang="en-US" sz="2400" dirty="0"/>
              <a:t>检测最终状态布局是否与图中右侧给定状态一致。</a:t>
            </a:r>
            <a:endParaRPr lang="en-US" altLang="zh-CN" sz="2400" dirty="0"/>
          </a:p>
          <a:p>
            <a:pPr marL="0" indent="0">
              <a:lnSpc>
                <a:spcPct val="125000"/>
              </a:lnSpc>
              <a:buNone/>
              <a:defRPr/>
            </a:pPr>
            <a:r>
              <a:rPr lang="zh-CN" altLang="en-US" sz="2400" b="1" dirty="0">
                <a:solidFill>
                  <a:srgbClr val="FF0000"/>
                </a:solidFill>
              </a:rPr>
              <a:t>路径耗散</a:t>
            </a:r>
            <a:r>
              <a:rPr lang="zh-CN" altLang="en-US" sz="2400" dirty="0">
                <a:solidFill>
                  <a:srgbClr val="FF0000"/>
                </a:solidFill>
              </a:rPr>
              <a:t>：</a:t>
            </a:r>
            <a:r>
              <a:rPr lang="zh-CN" altLang="en-US" sz="2400" dirty="0"/>
              <a:t>每一步耗散值为</a:t>
            </a:r>
            <a:r>
              <a:rPr lang="en-US" altLang="zh-CN" sz="2400" dirty="0"/>
              <a:t>1</a:t>
            </a:r>
            <a:r>
              <a:rPr lang="zh-CN" altLang="en-US" sz="2400" dirty="0"/>
              <a:t>，总的路径耗散值为路径中的步数。</a:t>
            </a:r>
          </a:p>
          <a:p>
            <a:endParaRPr lang="zh-CN" altLang="en-US" dirty="0"/>
          </a:p>
        </p:txBody>
      </p:sp>
      <p:grpSp>
        <p:nvGrpSpPr>
          <p:cNvPr id="5" name="组合 4"/>
          <p:cNvGrpSpPr/>
          <p:nvPr/>
        </p:nvGrpSpPr>
        <p:grpSpPr>
          <a:xfrm>
            <a:off x="1514630" y="360749"/>
            <a:ext cx="7464387" cy="1210231"/>
            <a:chOff x="4099943" y="2819853"/>
            <a:chExt cx="2570275" cy="1009857"/>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975912"/>
            </a:xfrm>
            <a:prstGeom prst="rect">
              <a:avLst/>
            </a:prstGeom>
          </p:spPr>
          <p:txBody>
            <a:bodyPr wrap="square">
              <a:spAutoFit/>
            </a:bodyPr>
            <a:lstStyle/>
            <a:p>
              <a:pPr algn="ctr">
                <a:spcBef>
                  <a:spcPct val="50000"/>
                </a:spcBef>
              </a:pPr>
              <a:r>
                <a:rPr lang="zh-CN" altLang="en-US" sz="2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搜索的形式化</a:t>
              </a:r>
              <a:r>
                <a:rPr lang="zh-CN" altLang="en-US" sz="28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描述实例</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spcBef>
                  <a:spcPct val="50000"/>
                </a:spcBef>
              </a:pP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687264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94367" y="2038049"/>
            <a:ext cx="2974362" cy="950256"/>
            <a:chOff x="422953" y="1892526"/>
            <a:chExt cx="2974362" cy="950256"/>
          </a:xfrm>
        </p:grpSpPr>
        <p:sp>
          <p:nvSpPr>
            <p:cNvPr id="24" name="文本框 23"/>
            <p:cNvSpPr txBox="1"/>
            <p:nvPr/>
          </p:nvSpPr>
          <p:spPr>
            <a:xfrm>
              <a:off x="750437" y="2114249"/>
              <a:ext cx="2646878" cy="728533"/>
            </a:xfrm>
            <a:prstGeom prst="rect">
              <a:avLst/>
            </a:prstGeom>
            <a:noFill/>
          </p:spPr>
          <p:txBody>
            <a:bodyPr wrap="none" rtlCol="0">
              <a:spAutoFit/>
            </a:bodyPr>
            <a:lstStyle/>
            <a:p>
              <a:pPr>
                <a:lnSpc>
                  <a:spcPct val="200000"/>
                </a:lnSpc>
              </a:pPr>
              <a:r>
                <a:rPr lang="zh-CN" altLang="en-US" sz="2400" b="1" dirty="0">
                  <a:solidFill>
                    <a:srgbClr val="24569D"/>
                  </a:solidFill>
                </a:rPr>
                <a:t>搜索的形式化描述</a:t>
              </a:r>
              <a:endParaRPr lang="en-US" altLang="zh-CN" sz="2400" b="1" dirty="0">
                <a:solidFill>
                  <a:srgbClr val="24569D"/>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339102" cy="461665"/>
          </a:xfrm>
          <a:prstGeom prst="rect">
            <a:avLst/>
          </a:prstGeom>
          <a:noFill/>
        </p:spPr>
        <p:txBody>
          <a:bodyPr wrap="none" rtlCol="0">
            <a:spAutoFit/>
          </a:bodyPr>
          <a:lstStyle/>
          <a:p>
            <a:r>
              <a:rPr lang="zh-CN" altLang="en-US" sz="2400" b="1" dirty="0" smtClean="0">
                <a:solidFill>
                  <a:srgbClr val="24569D"/>
                </a:solidFill>
              </a:rPr>
              <a:t>性能分析和案例</a:t>
            </a:r>
            <a:endParaRPr lang="zh-CN" altLang="en-US" sz="2400" b="1" dirty="0">
              <a:solidFill>
                <a:srgbClr val="24569D"/>
              </a:solidFill>
            </a:endParaRP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441833" y="2411796"/>
            <a:ext cx="1723549" cy="461665"/>
          </a:xfrm>
          <a:prstGeom prst="rect">
            <a:avLst/>
          </a:prstGeom>
          <a:noFill/>
        </p:spPr>
        <p:txBody>
          <a:bodyPr wrap="none" rtlCol="0">
            <a:spAutoFit/>
          </a:bodyPr>
          <a:lstStyle/>
          <a:p>
            <a:r>
              <a:rPr lang="zh-CN" altLang="en-US" sz="2400" b="1" dirty="0">
                <a:solidFill>
                  <a:srgbClr val="FF0000"/>
                </a:solidFill>
              </a:rPr>
              <a:t>搜索树</a:t>
            </a:r>
            <a:r>
              <a:rPr lang="zh-CN" altLang="en-US" sz="2400" b="1" dirty="0" smtClean="0">
                <a:solidFill>
                  <a:srgbClr val="FF0000"/>
                </a:solidFill>
              </a:rPr>
              <a:t>构建</a:t>
            </a:r>
            <a:endParaRPr lang="zh-CN" altLang="en-US" sz="2400" b="1" dirty="0">
              <a:solidFill>
                <a:srgbClr val="FF0000"/>
              </a:solidFill>
            </a:endParaRPr>
          </a:p>
        </p:txBody>
      </p:sp>
      <p:sp>
        <p:nvSpPr>
          <p:cNvPr id="29" name="矩形 28"/>
          <p:cNvSpPr/>
          <p:nvPr/>
        </p:nvSpPr>
        <p:spPr>
          <a:xfrm>
            <a:off x="1648515" y="4869981"/>
            <a:ext cx="1723549" cy="461665"/>
          </a:xfrm>
          <a:prstGeom prst="rect">
            <a:avLst/>
          </a:prstGeom>
        </p:spPr>
        <p:txBody>
          <a:bodyPr wrap="none">
            <a:spAutoFit/>
          </a:bodyPr>
          <a:lstStyle/>
          <a:p>
            <a:pPr lvl="0"/>
            <a:r>
              <a:rPr lang="zh-CN" altLang="en-US" sz="2400" b="1" dirty="0" smtClean="0">
                <a:solidFill>
                  <a:srgbClr val="24569D"/>
                </a:solidFill>
              </a:rPr>
              <a:t>启发式搜索</a:t>
            </a:r>
            <a:endParaRPr lang="zh-CN" altLang="en-US" sz="2400" b="1" dirty="0">
              <a:solidFill>
                <a:srgbClr val="24569D"/>
              </a:solidFill>
            </a:endParaRPr>
          </a:p>
        </p:txBody>
      </p:sp>
    </p:spTree>
    <p:extLst>
      <p:ext uri="{BB962C8B-B14F-4D97-AF65-F5344CB8AC3E}">
        <p14:creationId xmlns:p14="http://schemas.microsoft.com/office/powerpoint/2010/main" val="2623130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78" y="1347210"/>
            <a:ext cx="8784976" cy="576063"/>
          </a:xfrm>
        </p:spPr>
        <p:txBody>
          <a:bodyPr>
            <a:normAutofit/>
          </a:bodyPr>
          <a:lstStyle/>
          <a:p>
            <a:pPr>
              <a:buClr>
                <a:srgbClr val="FF0000"/>
              </a:buClr>
              <a:buFont typeface="Wingdings" panose="05000000000000000000" pitchFamily="2" charset="2"/>
              <a:buChar char="p"/>
            </a:pPr>
            <a:r>
              <a:rPr lang="zh-CN" altLang="en-US" sz="2400" dirty="0">
                <a:latin typeface="微软雅黑" panose="020B0503020204020204" pitchFamily="34" charset="-122"/>
                <a:ea typeface="微软雅黑" panose="020B0503020204020204" pitchFamily="34" charset="-122"/>
              </a:rPr>
              <a:t>通过图搜索在该罗马尼亚地图上生成一系列搜索路径</a:t>
            </a:r>
          </a:p>
        </p:txBody>
      </p:sp>
      <p:pic>
        <p:nvPicPr>
          <p:cNvPr id="1126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095" y="2332830"/>
            <a:ext cx="10788995" cy="3256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组合 6"/>
          <p:cNvGrpSpPr/>
          <p:nvPr/>
        </p:nvGrpSpPr>
        <p:grpSpPr>
          <a:xfrm>
            <a:off x="1095871" y="313657"/>
            <a:ext cx="7464387" cy="497934"/>
            <a:chOff x="4099943" y="2819853"/>
            <a:chExt cx="2570275"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461665"/>
            </a:xfrm>
            <a:prstGeom prst="rect">
              <a:avLst/>
            </a:prstGeom>
          </p:spPr>
          <p:txBody>
            <a:bodyPr wrap="square">
              <a:spAutoFit/>
            </a:bodyPr>
            <a:lstStyle/>
            <a:p>
              <a:pPr algn="ctr">
                <a:spcBef>
                  <a:spcPct val="50000"/>
                </a:spcBef>
              </a:pPr>
              <a:r>
                <a:rPr lang="zh-CN" altLang="en-US" sz="2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搜索过程可视为搜索树的构建</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657303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98643" y="1866257"/>
            <a:ext cx="8229600" cy="3556992"/>
          </a:xfrm>
        </p:spPr>
        <p:txBody>
          <a:bodyPr>
            <a:noAutofit/>
          </a:bodyPr>
          <a:lstStyle/>
          <a:p>
            <a:pPr>
              <a:lnSpc>
                <a:spcPct val="150000"/>
              </a:lnSpc>
              <a:buClr>
                <a:srgbClr val="FF0000"/>
              </a:buClr>
              <a:buSzPct val="90000"/>
              <a:buFont typeface="Wingdings" panose="05000000000000000000" pitchFamily="2" charset="2"/>
              <a:buChar char="p"/>
            </a:pPr>
            <a:r>
              <a:rPr lang="zh-CN" altLang="en-US" sz="2600" dirty="0"/>
              <a:t>树的根节点为初始状态</a:t>
            </a:r>
            <a:endParaRPr lang="en-US" altLang="zh-CN" sz="2600" dirty="0"/>
          </a:p>
          <a:p>
            <a:pPr>
              <a:lnSpc>
                <a:spcPct val="150000"/>
              </a:lnSpc>
              <a:buClr>
                <a:srgbClr val="FF0000"/>
              </a:buClr>
              <a:buSzPct val="90000"/>
              <a:buFont typeface="Wingdings" panose="05000000000000000000" pitchFamily="2" charset="2"/>
              <a:buChar char="p"/>
            </a:pPr>
            <a:r>
              <a:rPr lang="zh-CN" altLang="en-US" sz="2600" dirty="0"/>
              <a:t>从根节点出发，通过各种行为扩张当前状态，生成树的中间节点</a:t>
            </a:r>
            <a:endParaRPr lang="en-US" altLang="zh-CN" sz="2600" dirty="0"/>
          </a:p>
          <a:p>
            <a:pPr>
              <a:lnSpc>
                <a:spcPct val="150000"/>
              </a:lnSpc>
              <a:buClr>
                <a:srgbClr val="FF0000"/>
              </a:buClr>
              <a:buSzPct val="90000"/>
              <a:buFont typeface="Wingdings" panose="05000000000000000000" pitchFamily="2" charset="2"/>
              <a:buChar char="p"/>
            </a:pPr>
            <a:r>
              <a:rPr lang="zh-CN" altLang="en-US" sz="2600" dirty="0"/>
              <a:t>状态之间用边</a:t>
            </a:r>
            <a:r>
              <a:rPr lang="en-US" altLang="zh-CN" sz="2600" dirty="0"/>
              <a:t>S</a:t>
            </a:r>
            <a:r>
              <a:rPr lang="zh-CN" altLang="en-US" sz="2600" dirty="0"/>
              <a:t>表示</a:t>
            </a:r>
            <a:endParaRPr lang="en-US" altLang="zh-CN" sz="2600" dirty="0"/>
          </a:p>
          <a:p>
            <a:pPr>
              <a:lnSpc>
                <a:spcPct val="150000"/>
              </a:lnSpc>
              <a:buClr>
                <a:srgbClr val="FF0000"/>
              </a:buClr>
              <a:buSzPct val="90000"/>
              <a:buFont typeface="Wingdings" panose="05000000000000000000" pitchFamily="2" charset="2"/>
              <a:buChar char="p"/>
            </a:pPr>
            <a:r>
              <a:rPr lang="zh-CN" altLang="en-US" sz="2600" dirty="0"/>
              <a:t>树的叶子表示最终状态，边用行动和代价表示</a:t>
            </a:r>
            <a:endParaRPr lang="en-US" altLang="zh-CN" sz="2600" dirty="0"/>
          </a:p>
          <a:p>
            <a:pPr marL="0" indent="0">
              <a:buNone/>
            </a:pPr>
            <a:endParaRPr lang="zh-CN" altLang="en-US" dirty="0"/>
          </a:p>
        </p:txBody>
      </p:sp>
      <p:grpSp>
        <p:nvGrpSpPr>
          <p:cNvPr id="6" name="组合 5"/>
          <p:cNvGrpSpPr/>
          <p:nvPr/>
        </p:nvGrpSpPr>
        <p:grpSpPr>
          <a:xfrm>
            <a:off x="1179583" y="578841"/>
            <a:ext cx="7464387"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p:cNvSpPr/>
            <p:nvPr/>
          </p:nvSpPr>
          <p:spPr>
            <a:xfrm>
              <a:off x="4216534" y="2853798"/>
              <a:ext cx="2359684" cy="461665"/>
            </a:xfrm>
            <a:prstGeom prst="rect">
              <a:avLst/>
            </a:prstGeom>
          </p:spPr>
          <p:txBody>
            <a:bodyPr wrap="square">
              <a:spAutoFit/>
            </a:bodyPr>
            <a:lstStyle/>
            <a:p>
              <a:pPr algn="ctr">
                <a:spcBef>
                  <a:spcPct val="50000"/>
                </a:spcBef>
              </a:pPr>
              <a:r>
                <a:rPr lang="zh-CN" altLang="en-US" sz="24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en-US" sz="2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的构建</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771469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79583" y="578841"/>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的构建</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BEA6555C-530D-44FB-B696-3B91E2BA9412}"/>
              </a:ext>
            </a:extLst>
          </p:cNvPr>
          <p:cNvGrpSpPr/>
          <p:nvPr/>
        </p:nvGrpSpPr>
        <p:grpSpPr>
          <a:xfrm>
            <a:off x="922863" y="1505685"/>
            <a:ext cx="5548769" cy="4734129"/>
            <a:chOff x="6866464" y="2265539"/>
            <a:chExt cx="4574773" cy="3574757"/>
          </a:xfrm>
        </p:grpSpPr>
        <p:sp>
          <p:nvSpPr>
            <p:cNvPr id="11" name="矩形 10">
              <a:extLst>
                <a:ext uri="{FF2B5EF4-FFF2-40B4-BE49-F238E27FC236}">
                  <a16:creationId xmlns:a16="http://schemas.microsoft.com/office/drawing/2014/main" id="{17C17ABF-5223-430C-B871-ADB2C4E7853A}"/>
                </a:ext>
              </a:extLst>
            </p:cNvPr>
            <p:cNvSpPr/>
            <p:nvPr/>
          </p:nvSpPr>
          <p:spPr>
            <a:xfrm>
              <a:off x="6866464" y="5052901"/>
              <a:ext cx="4574773" cy="787395"/>
            </a:xfrm>
            <a:prstGeom prst="rect">
              <a:avLst/>
            </a:prstGeom>
          </p:spPr>
          <p:txBody>
            <a:bodyPr wrap="square">
              <a:spAutoFit/>
            </a:bodyPr>
            <a:lstStyle/>
            <a:p>
              <a:pPr algn="ctr">
                <a:lnSpc>
                  <a:spcPct val="150000"/>
                </a:lnSpc>
              </a:pP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为例</a:t>
              </a:r>
            </a:p>
          </p:txBody>
        </p:sp>
        <p:pic>
          <p:nvPicPr>
            <p:cNvPr id="12" name="图片 11">
              <a:extLst>
                <a:ext uri="{FF2B5EF4-FFF2-40B4-BE49-F238E27FC236}">
                  <a16:creationId xmlns:a16="http://schemas.microsoft.com/office/drawing/2014/main" id="{2B1F8BFC-B6F7-4896-9638-FCCCED4488A4}"/>
                </a:ext>
              </a:extLst>
            </p:cNvPr>
            <p:cNvPicPr>
              <a:picLocks noChangeAspect="1"/>
            </p:cNvPicPr>
            <p:nvPr/>
          </p:nvPicPr>
          <p:blipFill>
            <a:blip r:embed="rId3"/>
            <a:stretch>
              <a:fillRect/>
            </a:stretch>
          </p:blipFill>
          <p:spPr>
            <a:xfrm>
              <a:off x="7293430" y="2265539"/>
              <a:ext cx="3126477" cy="2787362"/>
            </a:xfrm>
            <a:prstGeom prst="rect">
              <a:avLst/>
            </a:prstGeom>
          </p:spPr>
        </p:pic>
      </p:grpSp>
      <p:pic>
        <p:nvPicPr>
          <p:cNvPr id="13" name="图片 12">
            <a:extLst>
              <a:ext uri="{FF2B5EF4-FFF2-40B4-BE49-F238E27FC236}">
                <a16:creationId xmlns:a16="http://schemas.microsoft.com/office/drawing/2014/main" id="{69B92F42-3B4D-47DA-88B3-7F4C0DF083D4}"/>
              </a:ext>
            </a:extLst>
          </p:cNvPr>
          <p:cNvPicPr>
            <a:picLocks noChangeAspect="1"/>
          </p:cNvPicPr>
          <p:nvPr/>
        </p:nvPicPr>
        <p:blipFill>
          <a:blip r:embed="rId4"/>
          <a:stretch>
            <a:fillRect/>
          </a:stretch>
        </p:blipFill>
        <p:spPr>
          <a:xfrm>
            <a:off x="6471632" y="1590746"/>
            <a:ext cx="4235354" cy="4379274"/>
          </a:xfrm>
          <a:prstGeom prst="rect">
            <a:avLst/>
          </a:prstGeom>
        </p:spPr>
      </p:pic>
    </p:spTree>
    <p:extLst>
      <p:ext uri="{BB962C8B-B14F-4D97-AF65-F5344CB8AC3E}">
        <p14:creationId xmlns:p14="http://schemas.microsoft.com/office/powerpoint/2010/main" val="2679576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7" name="Group 4"/>
          <p:cNvGrpSpPr>
            <a:grpSpLocks/>
          </p:cNvGrpSpPr>
          <p:nvPr/>
        </p:nvGrpSpPr>
        <p:grpSpPr bwMode="auto">
          <a:xfrm>
            <a:off x="4191001" y="1295400"/>
            <a:ext cx="4392613" cy="1352550"/>
            <a:chOff x="1480" y="1501"/>
            <a:chExt cx="2767" cy="852"/>
          </a:xfrm>
        </p:grpSpPr>
        <p:sp>
          <p:nvSpPr>
            <p:cNvPr id="108549" name="Rectangle 5"/>
            <p:cNvSpPr>
              <a:spLocks noChangeArrowheads="1"/>
            </p:cNvSpPr>
            <p:nvPr/>
          </p:nvSpPr>
          <p:spPr bwMode="auto">
            <a:xfrm>
              <a:off x="1480" y="1501"/>
              <a:ext cx="2767" cy="76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a:effectLst>
                  <a:outerShdw blurRad="38100" dist="38100" dir="2700000" algn="tl">
                    <a:srgbClr val="FFFFFF"/>
                  </a:outerShdw>
                </a:effectLst>
                <a:latin typeface="Comic Sans MS" pitchFamily="66" charset="0"/>
              </a:endParaRPr>
            </a:p>
          </p:txBody>
        </p:sp>
        <p:sp>
          <p:nvSpPr>
            <p:cNvPr id="108550" name="Oval 6"/>
            <p:cNvSpPr>
              <a:spLocks noChangeArrowheads="1"/>
            </p:cNvSpPr>
            <p:nvPr/>
          </p:nvSpPr>
          <p:spPr bwMode="auto">
            <a:xfrm>
              <a:off x="1989" y="1568"/>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a:effectLst>
                    <a:outerShdw blurRad="38100" dist="38100" dir="2700000" algn="tl">
                      <a:srgbClr val="C0C0C0"/>
                    </a:outerShdw>
                  </a:effectLst>
                  <a:latin typeface="Comic Sans MS" pitchFamily="66" charset="0"/>
                </a:rPr>
                <a:t>A</a:t>
              </a:r>
              <a:endParaRPr lang="en-US" altLang="zh-CN" sz="1600">
                <a:solidFill>
                  <a:srgbClr val="000099"/>
                </a:solidFill>
                <a:effectLst>
                  <a:outerShdw blurRad="38100" dist="38100" dir="2700000" algn="tl">
                    <a:srgbClr val="C0C0C0"/>
                  </a:outerShdw>
                </a:effectLst>
                <a:latin typeface="Comic Sans MS" pitchFamily="66" charset="0"/>
              </a:endParaRPr>
            </a:p>
          </p:txBody>
        </p:sp>
        <p:sp>
          <p:nvSpPr>
            <p:cNvPr id="108551" name="Oval 7"/>
            <p:cNvSpPr>
              <a:spLocks noChangeArrowheads="1"/>
            </p:cNvSpPr>
            <p:nvPr/>
          </p:nvSpPr>
          <p:spPr bwMode="auto">
            <a:xfrm>
              <a:off x="2171" y="2042"/>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a:effectLst>
                    <a:outerShdw blurRad="38100" dist="38100" dir="2700000" algn="tl">
                      <a:srgbClr val="C0C0C0"/>
                    </a:outerShdw>
                  </a:effectLst>
                  <a:latin typeface="Comic Sans MS" pitchFamily="66" charset="0"/>
                </a:rPr>
                <a:t>D</a:t>
              </a:r>
              <a:endParaRPr lang="en-US" altLang="zh-CN" sz="1600">
                <a:solidFill>
                  <a:srgbClr val="000099"/>
                </a:solidFill>
                <a:effectLst>
                  <a:outerShdw blurRad="38100" dist="38100" dir="2700000" algn="tl">
                    <a:srgbClr val="C0C0C0"/>
                  </a:outerShdw>
                </a:effectLst>
                <a:latin typeface="Comic Sans MS" pitchFamily="66" charset="0"/>
              </a:endParaRPr>
            </a:p>
          </p:txBody>
        </p:sp>
        <p:sp>
          <p:nvSpPr>
            <p:cNvPr id="108552" name="Oval 8"/>
            <p:cNvSpPr>
              <a:spLocks noChangeArrowheads="1"/>
            </p:cNvSpPr>
            <p:nvPr/>
          </p:nvSpPr>
          <p:spPr bwMode="auto">
            <a:xfrm>
              <a:off x="2863" y="1568"/>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a:effectLst>
                    <a:outerShdw blurRad="38100" dist="38100" dir="2700000" algn="tl">
                      <a:srgbClr val="C0C0C0"/>
                    </a:outerShdw>
                  </a:effectLst>
                  <a:latin typeface="Comic Sans MS" pitchFamily="66" charset="0"/>
                </a:rPr>
                <a:t>B</a:t>
              </a:r>
            </a:p>
          </p:txBody>
        </p:sp>
        <p:sp>
          <p:nvSpPr>
            <p:cNvPr id="108553" name="Oval 9"/>
            <p:cNvSpPr>
              <a:spLocks noChangeArrowheads="1"/>
            </p:cNvSpPr>
            <p:nvPr/>
          </p:nvSpPr>
          <p:spPr bwMode="auto">
            <a:xfrm>
              <a:off x="2608" y="2042"/>
              <a:ext cx="183" cy="1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a:effectLst>
                    <a:outerShdw blurRad="38100" dist="38100" dir="2700000" algn="tl">
                      <a:srgbClr val="C0C0C0"/>
                    </a:outerShdw>
                  </a:effectLst>
                  <a:latin typeface="Comic Sans MS" pitchFamily="66" charset="0"/>
                </a:rPr>
                <a:t>E</a:t>
              </a:r>
            </a:p>
          </p:txBody>
        </p:sp>
        <p:sp>
          <p:nvSpPr>
            <p:cNvPr id="108554" name="Oval 10"/>
            <p:cNvSpPr>
              <a:spLocks noChangeArrowheads="1"/>
            </p:cNvSpPr>
            <p:nvPr/>
          </p:nvSpPr>
          <p:spPr bwMode="auto">
            <a:xfrm>
              <a:off x="3628" y="1568"/>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a:effectLst>
                    <a:outerShdw blurRad="38100" dist="38100" dir="2700000" algn="tl">
                      <a:srgbClr val="C0C0C0"/>
                    </a:outerShdw>
                  </a:effectLst>
                  <a:latin typeface="Comic Sans MS" pitchFamily="66" charset="0"/>
                </a:rPr>
                <a:t>C</a:t>
              </a:r>
            </a:p>
          </p:txBody>
        </p:sp>
        <p:sp>
          <p:nvSpPr>
            <p:cNvPr id="108555" name="Oval 11"/>
            <p:cNvSpPr>
              <a:spLocks noChangeArrowheads="1"/>
            </p:cNvSpPr>
            <p:nvPr/>
          </p:nvSpPr>
          <p:spPr bwMode="auto">
            <a:xfrm>
              <a:off x="3337" y="2042"/>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a:effectLst>
                    <a:outerShdw blurRad="38100" dist="38100" dir="2700000" algn="tl">
                      <a:srgbClr val="C0C0C0"/>
                    </a:outerShdw>
                  </a:effectLst>
                  <a:latin typeface="Comic Sans MS" pitchFamily="66" charset="0"/>
                </a:rPr>
                <a:t>F</a:t>
              </a:r>
            </a:p>
          </p:txBody>
        </p:sp>
        <p:sp>
          <p:nvSpPr>
            <p:cNvPr id="108556" name="Oval 12"/>
            <p:cNvSpPr>
              <a:spLocks noChangeArrowheads="1"/>
            </p:cNvSpPr>
            <p:nvPr/>
          </p:nvSpPr>
          <p:spPr bwMode="auto">
            <a:xfrm>
              <a:off x="3883" y="1875"/>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1600">
                <a:solidFill>
                  <a:srgbClr val="000099"/>
                </a:solidFill>
                <a:effectLst>
                  <a:outerShdw blurRad="38100" dist="38100" dir="2700000" algn="tl">
                    <a:srgbClr val="C0C0C0"/>
                  </a:outerShdw>
                </a:effectLst>
                <a:latin typeface="Comic Sans MS" pitchFamily="66" charset="0"/>
              </a:endParaRPr>
            </a:p>
          </p:txBody>
        </p:sp>
        <p:sp>
          <p:nvSpPr>
            <p:cNvPr id="108557" name="Oval 13"/>
            <p:cNvSpPr>
              <a:spLocks noChangeArrowheads="1"/>
            </p:cNvSpPr>
            <p:nvPr/>
          </p:nvSpPr>
          <p:spPr bwMode="auto">
            <a:xfrm>
              <a:off x="1625" y="1791"/>
              <a:ext cx="182" cy="14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1600">
                <a:solidFill>
                  <a:srgbClr val="000099"/>
                </a:solidFill>
                <a:effectLst>
                  <a:outerShdw blurRad="38100" dist="38100" dir="2700000" algn="tl">
                    <a:srgbClr val="C0C0C0"/>
                  </a:outerShdw>
                </a:effectLst>
                <a:latin typeface="Comic Sans MS" pitchFamily="66" charset="0"/>
              </a:endParaRPr>
            </a:p>
          </p:txBody>
        </p:sp>
        <p:sp>
          <p:nvSpPr>
            <p:cNvPr id="108558" name="Text Box 14"/>
            <p:cNvSpPr txBox="1">
              <a:spLocks noChangeArrowheads="1"/>
            </p:cNvSpPr>
            <p:nvPr/>
          </p:nvSpPr>
          <p:spPr bwMode="auto">
            <a:xfrm>
              <a:off x="3874" y="1845"/>
              <a:ext cx="2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effectLst>
                    <a:outerShdw blurRad="38100" dist="38100" dir="2700000" algn="tl">
                      <a:srgbClr val="C0C0C0"/>
                    </a:outerShdw>
                  </a:effectLst>
                  <a:latin typeface="Comic Sans MS" pitchFamily="66" charset="0"/>
                </a:rPr>
                <a:t>G</a:t>
              </a:r>
            </a:p>
          </p:txBody>
        </p:sp>
        <p:sp>
          <p:nvSpPr>
            <p:cNvPr id="108559" name="Text Box 15"/>
            <p:cNvSpPr txBox="1">
              <a:spLocks noChangeArrowheads="1"/>
            </p:cNvSpPr>
            <p:nvPr/>
          </p:nvSpPr>
          <p:spPr bwMode="auto">
            <a:xfrm>
              <a:off x="1611" y="1749"/>
              <a:ext cx="2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effectLst>
                    <a:outerShdw blurRad="38100" dist="38100" dir="2700000" algn="tl">
                      <a:srgbClr val="C0C0C0"/>
                    </a:outerShdw>
                  </a:effectLst>
                  <a:latin typeface="Comic Sans MS" pitchFamily="66" charset="0"/>
                </a:rPr>
                <a:t>S</a:t>
              </a:r>
            </a:p>
          </p:txBody>
        </p:sp>
        <p:cxnSp>
          <p:nvCxnSpPr>
            <p:cNvPr id="52323" name="AutoShape 16"/>
            <p:cNvCxnSpPr>
              <a:cxnSpLocks noChangeShapeType="1"/>
              <a:stCxn id="108559" idx="0"/>
              <a:endCxn id="108550" idx="2"/>
            </p:cNvCxnSpPr>
            <p:nvPr/>
          </p:nvCxnSpPr>
          <p:spPr bwMode="auto">
            <a:xfrm flipV="1">
              <a:off x="1719" y="1638"/>
              <a:ext cx="270" cy="111"/>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24" name="AutoShape 17"/>
            <p:cNvCxnSpPr>
              <a:cxnSpLocks noChangeShapeType="1"/>
              <a:stCxn id="108557" idx="4"/>
              <a:endCxn id="108551" idx="2"/>
            </p:cNvCxnSpPr>
            <p:nvPr/>
          </p:nvCxnSpPr>
          <p:spPr bwMode="auto">
            <a:xfrm>
              <a:off x="1716" y="1931"/>
              <a:ext cx="455" cy="181"/>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25" name="AutoShape 18"/>
            <p:cNvCxnSpPr>
              <a:cxnSpLocks noChangeShapeType="1"/>
              <a:stCxn id="108550" idx="6"/>
              <a:endCxn id="108552" idx="2"/>
            </p:cNvCxnSpPr>
            <p:nvPr/>
          </p:nvCxnSpPr>
          <p:spPr bwMode="auto">
            <a:xfrm>
              <a:off x="2171" y="1638"/>
              <a:ext cx="692" cy="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26" name="AutoShape 19"/>
            <p:cNvCxnSpPr>
              <a:cxnSpLocks noChangeShapeType="1"/>
              <a:stCxn id="108551" idx="6"/>
              <a:endCxn id="108553" idx="2"/>
            </p:cNvCxnSpPr>
            <p:nvPr/>
          </p:nvCxnSpPr>
          <p:spPr bwMode="auto">
            <a:xfrm>
              <a:off x="2353" y="2112"/>
              <a:ext cx="255" cy="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27" name="AutoShape 20"/>
            <p:cNvCxnSpPr>
              <a:cxnSpLocks noChangeShapeType="1"/>
              <a:stCxn id="108552" idx="6"/>
              <a:endCxn id="108554" idx="2"/>
            </p:cNvCxnSpPr>
            <p:nvPr/>
          </p:nvCxnSpPr>
          <p:spPr bwMode="auto">
            <a:xfrm>
              <a:off x="3045" y="1638"/>
              <a:ext cx="583" cy="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28" name="AutoShape 21"/>
            <p:cNvCxnSpPr>
              <a:cxnSpLocks noChangeShapeType="1"/>
              <a:stCxn id="108553" idx="6"/>
              <a:endCxn id="108555" idx="2"/>
            </p:cNvCxnSpPr>
            <p:nvPr/>
          </p:nvCxnSpPr>
          <p:spPr bwMode="auto">
            <a:xfrm>
              <a:off x="2791" y="2112"/>
              <a:ext cx="546" cy="0"/>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29" name="AutoShape 22"/>
            <p:cNvCxnSpPr>
              <a:cxnSpLocks noChangeShapeType="1"/>
              <a:stCxn id="108555" idx="6"/>
              <a:endCxn id="108556" idx="3"/>
            </p:cNvCxnSpPr>
            <p:nvPr/>
          </p:nvCxnSpPr>
          <p:spPr bwMode="auto">
            <a:xfrm flipV="1">
              <a:off x="3519" y="1994"/>
              <a:ext cx="391" cy="118"/>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30" name="AutoShape 23"/>
            <p:cNvCxnSpPr>
              <a:cxnSpLocks noChangeShapeType="1"/>
              <a:stCxn id="108550" idx="4"/>
              <a:endCxn id="108551" idx="0"/>
            </p:cNvCxnSpPr>
            <p:nvPr/>
          </p:nvCxnSpPr>
          <p:spPr bwMode="auto">
            <a:xfrm>
              <a:off x="2080" y="1708"/>
              <a:ext cx="182" cy="334"/>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331" name="AutoShape 24"/>
            <p:cNvCxnSpPr>
              <a:cxnSpLocks noChangeShapeType="1"/>
              <a:stCxn id="108553" idx="0"/>
              <a:endCxn id="108552" idx="4"/>
            </p:cNvCxnSpPr>
            <p:nvPr/>
          </p:nvCxnSpPr>
          <p:spPr bwMode="auto">
            <a:xfrm flipV="1">
              <a:off x="2699" y="1708"/>
              <a:ext cx="255" cy="334"/>
            </a:xfrm>
            <a:prstGeom prst="straightConnector1">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569" name="Text Box 25"/>
            <p:cNvSpPr txBox="1">
              <a:spLocks noChangeArrowheads="1"/>
            </p:cNvSpPr>
            <p:nvPr/>
          </p:nvSpPr>
          <p:spPr bwMode="auto">
            <a:xfrm>
              <a:off x="1735" y="1536"/>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3</a:t>
              </a:r>
            </a:p>
          </p:txBody>
        </p:sp>
        <p:sp>
          <p:nvSpPr>
            <p:cNvPr id="108570" name="Text Box 26"/>
            <p:cNvSpPr txBox="1">
              <a:spLocks noChangeArrowheads="1"/>
            </p:cNvSpPr>
            <p:nvPr/>
          </p:nvSpPr>
          <p:spPr bwMode="auto">
            <a:xfrm>
              <a:off x="1800" y="2009"/>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4</a:t>
              </a:r>
            </a:p>
          </p:txBody>
        </p:sp>
        <p:sp>
          <p:nvSpPr>
            <p:cNvPr id="108571" name="Text Box 27"/>
            <p:cNvSpPr txBox="1">
              <a:spLocks noChangeArrowheads="1"/>
            </p:cNvSpPr>
            <p:nvPr/>
          </p:nvSpPr>
          <p:spPr bwMode="auto">
            <a:xfrm>
              <a:off x="2419" y="1535"/>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4</a:t>
              </a:r>
            </a:p>
          </p:txBody>
        </p:sp>
        <p:sp>
          <p:nvSpPr>
            <p:cNvPr id="108572" name="Text Box 28"/>
            <p:cNvSpPr txBox="1">
              <a:spLocks noChangeArrowheads="1"/>
            </p:cNvSpPr>
            <p:nvPr/>
          </p:nvSpPr>
          <p:spPr bwMode="auto">
            <a:xfrm>
              <a:off x="2965" y="2122"/>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4</a:t>
              </a:r>
            </a:p>
          </p:txBody>
        </p:sp>
        <p:sp>
          <p:nvSpPr>
            <p:cNvPr id="108573" name="Text Box 29"/>
            <p:cNvSpPr txBox="1">
              <a:spLocks noChangeArrowheads="1"/>
            </p:cNvSpPr>
            <p:nvPr/>
          </p:nvSpPr>
          <p:spPr bwMode="auto">
            <a:xfrm>
              <a:off x="2135" y="1786"/>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5</a:t>
              </a:r>
            </a:p>
          </p:txBody>
        </p:sp>
        <p:sp>
          <p:nvSpPr>
            <p:cNvPr id="108574" name="Text Box 30"/>
            <p:cNvSpPr txBox="1">
              <a:spLocks noChangeArrowheads="1"/>
            </p:cNvSpPr>
            <p:nvPr/>
          </p:nvSpPr>
          <p:spPr bwMode="auto">
            <a:xfrm>
              <a:off x="2856" y="1815"/>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5</a:t>
              </a:r>
            </a:p>
          </p:txBody>
        </p:sp>
        <p:sp>
          <p:nvSpPr>
            <p:cNvPr id="108575" name="Text Box 31"/>
            <p:cNvSpPr txBox="1">
              <a:spLocks noChangeArrowheads="1"/>
            </p:cNvSpPr>
            <p:nvPr/>
          </p:nvSpPr>
          <p:spPr bwMode="auto">
            <a:xfrm>
              <a:off x="3256" y="1535"/>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4</a:t>
              </a:r>
            </a:p>
          </p:txBody>
        </p:sp>
        <p:sp>
          <p:nvSpPr>
            <p:cNvPr id="108576" name="Text Box 32"/>
            <p:cNvSpPr txBox="1">
              <a:spLocks noChangeArrowheads="1"/>
            </p:cNvSpPr>
            <p:nvPr/>
          </p:nvSpPr>
          <p:spPr bwMode="auto">
            <a:xfrm>
              <a:off x="3657" y="2066"/>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3</a:t>
              </a:r>
            </a:p>
          </p:txBody>
        </p:sp>
        <p:sp>
          <p:nvSpPr>
            <p:cNvPr id="108577" name="Text Box 33"/>
            <p:cNvSpPr txBox="1">
              <a:spLocks noChangeArrowheads="1"/>
            </p:cNvSpPr>
            <p:nvPr/>
          </p:nvSpPr>
          <p:spPr bwMode="auto">
            <a:xfrm>
              <a:off x="2419" y="2104"/>
              <a:ext cx="2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rgbClr val="000099"/>
                  </a:solidFill>
                  <a:effectLst>
                    <a:outerShdw blurRad="38100" dist="38100" dir="2700000" algn="tl">
                      <a:srgbClr val="C0C0C0"/>
                    </a:outerShdw>
                  </a:effectLst>
                  <a:latin typeface="Comic Sans MS" pitchFamily="66" charset="0"/>
                </a:rPr>
                <a:t>2</a:t>
              </a:r>
              <a:endParaRPr lang="en-US" altLang="zh-CN">
                <a:effectLst>
                  <a:outerShdw blurRad="38100" dist="38100" dir="2700000" algn="tl">
                    <a:srgbClr val="C0C0C0"/>
                  </a:outerShdw>
                </a:effectLst>
                <a:latin typeface="Comic Sans MS" pitchFamily="66" charset="0"/>
              </a:endParaRPr>
            </a:p>
          </p:txBody>
        </p:sp>
      </p:grpSp>
      <p:grpSp>
        <p:nvGrpSpPr>
          <p:cNvPr id="108578" name="Group 34"/>
          <p:cNvGrpSpPr>
            <a:grpSpLocks/>
          </p:cNvGrpSpPr>
          <p:nvPr/>
        </p:nvGrpSpPr>
        <p:grpSpPr bwMode="auto">
          <a:xfrm>
            <a:off x="3657600" y="3124200"/>
            <a:ext cx="6553200" cy="3200400"/>
            <a:chOff x="96" y="1824"/>
            <a:chExt cx="5616" cy="2496"/>
          </a:xfrm>
        </p:grpSpPr>
        <p:sp>
          <p:nvSpPr>
            <p:cNvPr id="52231" name="Rectangle 35"/>
            <p:cNvSpPr>
              <a:spLocks noChangeArrowheads="1"/>
            </p:cNvSpPr>
            <p:nvPr/>
          </p:nvSpPr>
          <p:spPr bwMode="auto">
            <a:xfrm>
              <a:off x="96" y="1824"/>
              <a:ext cx="5616" cy="24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endParaRPr lang="zh-CN" altLang="en-US"/>
            </a:p>
          </p:txBody>
        </p:sp>
        <p:grpSp>
          <p:nvGrpSpPr>
            <p:cNvPr id="52232" name="Group 36"/>
            <p:cNvGrpSpPr>
              <a:grpSpLocks/>
            </p:cNvGrpSpPr>
            <p:nvPr/>
          </p:nvGrpSpPr>
          <p:grpSpPr bwMode="auto">
            <a:xfrm>
              <a:off x="143" y="1920"/>
              <a:ext cx="5504" cy="2304"/>
              <a:chOff x="143" y="1920"/>
              <a:chExt cx="5504" cy="2304"/>
            </a:xfrm>
          </p:grpSpPr>
          <p:sp>
            <p:nvSpPr>
              <p:cNvPr id="108581" name="Oval 37"/>
              <p:cNvSpPr>
                <a:spLocks noChangeArrowheads="1"/>
              </p:cNvSpPr>
              <p:nvPr/>
            </p:nvSpPr>
            <p:spPr bwMode="auto">
              <a:xfrm>
                <a:off x="2737" y="1921"/>
                <a:ext cx="239" cy="192"/>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FFFFFF"/>
                      </a:outerShdw>
                    </a:effectLst>
                    <a:latin typeface="Comic Sans MS" pitchFamily="66" charset="0"/>
                  </a:rPr>
                  <a:t>S</a:t>
                </a:r>
              </a:p>
            </p:txBody>
          </p:sp>
          <p:sp>
            <p:nvSpPr>
              <p:cNvPr id="108582" name="Oval 38"/>
              <p:cNvSpPr>
                <a:spLocks noChangeArrowheads="1"/>
              </p:cNvSpPr>
              <p:nvPr/>
            </p:nvSpPr>
            <p:spPr bwMode="auto">
              <a:xfrm>
                <a:off x="1296" y="2112"/>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A</a:t>
                </a:r>
              </a:p>
            </p:txBody>
          </p:sp>
          <p:sp>
            <p:nvSpPr>
              <p:cNvPr id="108583" name="Oval 39"/>
              <p:cNvSpPr>
                <a:spLocks noChangeArrowheads="1"/>
              </p:cNvSpPr>
              <p:nvPr/>
            </p:nvSpPr>
            <p:spPr bwMode="auto">
              <a:xfrm>
                <a:off x="4368" y="2112"/>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D</a:t>
                </a:r>
              </a:p>
            </p:txBody>
          </p:sp>
          <p:sp>
            <p:nvSpPr>
              <p:cNvPr id="108584" name="Oval 40"/>
              <p:cNvSpPr>
                <a:spLocks noChangeArrowheads="1"/>
              </p:cNvSpPr>
              <p:nvPr/>
            </p:nvSpPr>
            <p:spPr bwMode="auto">
              <a:xfrm>
                <a:off x="384" y="2496"/>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B</a:t>
                </a:r>
              </a:p>
            </p:txBody>
          </p:sp>
          <p:sp>
            <p:nvSpPr>
              <p:cNvPr id="108585" name="Oval 41"/>
              <p:cNvSpPr>
                <a:spLocks noChangeArrowheads="1"/>
              </p:cNvSpPr>
              <p:nvPr/>
            </p:nvSpPr>
            <p:spPr bwMode="auto">
              <a:xfrm>
                <a:off x="1873" y="2496"/>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D</a:t>
                </a:r>
              </a:p>
            </p:txBody>
          </p:sp>
          <p:sp>
            <p:nvSpPr>
              <p:cNvPr id="108586" name="Oval 42"/>
              <p:cNvSpPr>
                <a:spLocks noChangeArrowheads="1"/>
              </p:cNvSpPr>
              <p:nvPr/>
            </p:nvSpPr>
            <p:spPr bwMode="auto">
              <a:xfrm>
                <a:off x="5135" y="2496"/>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E</a:t>
                </a:r>
              </a:p>
            </p:txBody>
          </p:sp>
          <p:sp>
            <p:nvSpPr>
              <p:cNvPr id="108587" name="Oval 43"/>
              <p:cNvSpPr>
                <a:spLocks noChangeArrowheads="1"/>
              </p:cNvSpPr>
              <p:nvPr/>
            </p:nvSpPr>
            <p:spPr bwMode="auto">
              <a:xfrm>
                <a:off x="3648" y="2496"/>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A</a:t>
                </a:r>
              </a:p>
            </p:txBody>
          </p:sp>
          <p:sp>
            <p:nvSpPr>
              <p:cNvPr id="108588" name="Oval 44"/>
              <p:cNvSpPr>
                <a:spLocks noChangeArrowheads="1"/>
              </p:cNvSpPr>
              <p:nvPr/>
            </p:nvSpPr>
            <p:spPr bwMode="auto">
              <a:xfrm>
                <a:off x="193" y="2928"/>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C</a:t>
                </a:r>
              </a:p>
            </p:txBody>
          </p:sp>
          <p:sp>
            <p:nvSpPr>
              <p:cNvPr id="108589" name="Oval 45"/>
              <p:cNvSpPr>
                <a:spLocks noChangeArrowheads="1"/>
              </p:cNvSpPr>
              <p:nvPr/>
            </p:nvSpPr>
            <p:spPr bwMode="auto">
              <a:xfrm>
                <a:off x="865" y="2928"/>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E</a:t>
                </a:r>
              </a:p>
            </p:txBody>
          </p:sp>
          <p:sp>
            <p:nvSpPr>
              <p:cNvPr id="108590" name="Oval 46"/>
              <p:cNvSpPr>
                <a:spLocks noChangeArrowheads="1"/>
              </p:cNvSpPr>
              <p:nvPr/>
            </p:nvSpPr>
            <p:spPr bwMode="auto">
              <a:xfrm>
                <a:off x="2065" y="2928"/>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E</a:t>
                </a:r>
              </a:p>
            </p:txBody>
          </p:sp>
          <p:sp>
            <p:nvSpPr>
              <p:cNvPr id="108591" name="Oval 47"/>
              <p:cNvSpPr>
                <a:spLocks noChangeArrowheads="1"/>
              </p:cNvSpPr>
              <p:nvPr/>
            </p:nvSpPr>
            <p:spPr bwMode="auto">
              <a:xfrm>
                <a:off x="3456" y="2928"/>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B</a:t>
                </a:r>
              </a:p>
            </p:txBody>
          </p:sp>
          <p:sp>
            <p:nvSpPr>
              <p:cNvPr id="108592" name="Oval 48"/>
              <p:cNvSpPr>
                <a:spLocks noChangeArrowheads="1"/>
              </p:cNvSpPr>
              <p:nvPr/>
            </p:nvSpPr>
            <p:spPr bwMode="auto">
              <a:xfrm>
                <a:off x="4752" y="2928"/>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B</a:t>
                </a:r>
              </a:p>
            </p:txBody>
          </p:sp>
          <p:sp>
            <p:nvSpPr>
              <p:cNvPr id="108593" name="Oval 49"/>
              <p:cNvSpPr>
                <a:spLocks noChangeArrowheads="1"/>
              </p:cNvSpPr>
              <p:nvPr/>
            </p:nvSpPr>
            <p:spPr bwMode="auto">
              <a:xfrm>
                <a:off x="5232" y="2928"/>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F</a:t>
                </a:r>
              </a:p>
            </p:txBody>
          </p:sp>
          <p:sp>
            <p:nvSpPr>
              <p:cNvPr id="108594" name="Oval 50"/>
              <p:cNvSpPr>
                <a:spLocks noChangeArrowheads="1"/>
              </p:cNvSpPr>
              <p:nvPr/>
            </p:nvSpPr>
            <p:spPr bwMode="auto">
              <a:xfrm>
                <a:off x="576" y="3312"/>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D</a:t>
                </a:r>
              </a:p>
            </p:txBody>
          </p:sp>
          <p:sp>
            <p:nvSpPr>
              <p:cNvPr id="108595" name="Oval 51"/>
              <p:cNvSpPr>
                <a:spLocks noChangeArrowheads="1"/>
              </p:cNvSpPr>
              <p:nvPr/>
            </p:nvSpPr>
            <p:spPr bwMode="auto">
              <a:xfrm>
                <a:off x="1153" y="3312"/>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F</a:t>
                </a:r>
              </a:p>
            </p:txBody>
          </p:sp>
          <p:sp>
            <p:nvSpPr>
              <p:cNvPr id="108596" name="Oval 52"/>
              <p:cNvSpPr>
                <a:spLocks noChangeArrowheads="1"/>
              </p:cNvSpPr>
              <p:nvPr/>
            </p:nvSpPr>
            <p:spPr bwMode="auto">
              <a:xfrm>
                <a:off x="1776" y="3312"/>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B</a:t>
                </a:r>
              </a:p>
            </p:txBody>
          </p:sp>
          <p:sp>
            <p:nvSpPr>
              <p:cNvPr id="108597" name="Oval 53"/>
              <p:cNvSpPr>
                <a:spLocks noChangeArrowheads="1"/>
              </p:cNvSpPr>
              <p:nvPr/>
            </p:nvSpPr>
            <p:spPr bwMode="auto">
              <a:xfrm>
                <a:off x="2401" y="3312"/>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F</a:t>
                </a:r>
              </a:p>
            </p:txBody>
          </p:sp>
          <p:sp>
            <p:nvSpPr>
              <p:cNvPr id="108598" name="Oval 54"/>
              <p:cNvSpPr>
                <a:spLocks noChangeArrowheads="1"/>
              </p:cNvSpPr>
              <p:nvPr/>
            </p:nvSpPr>
            <p:spPr bwMode="auto">
              <a:xfrm>
                <a:off x="3216" y="3312"/>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C</a:t>
                </a:r>
              </a:p>
            </p:txBody>
          </p:sp>
          <p:sp>
            <p:nvSpPr>
              <p:cNvPr id="108599" name="Oval 55"/>
              <p:cNvSpPr>
                <a:spLocks noChangeArrowheads="1"/>
              </p:cNvSpPr>
              <p:nvPr/>
            </p:nvSpPr>
            <p:spPr bwMode="auto">
              <a:xfrm>
                <a:off x="3696" y="3312"/>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E</a:t>
                </a:r>
              </a:p>
            </p:txBody>
          </p:sp>
          <p:sp>
            <p:nvSpPr>
              <p:cNvPr id="108600" name="Oval 56"/>
              <p:cNvSpPr>
                <a:spLocks noChangeArrowheads="1"/>
              </p:cNvSpPr>
              <p:nvPr/>
            </p:nvSpPr>
            <p:spPr bwMode="auto">
              <a:xfrm>
                <a:off x="4368" y="3312"/>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A</a:t>
                </a:r>
              </a:p>
            </p:txBody>
          </p:sp>
          <p:sp>
            <p:nvSpPr>
              <p:cNvPr id="108601" name="Oval 57"/>
              <p:cNvSpPr>
                <a:spLocks noChangeArrowheads="1"/>
              </p:cNvSpPr>
              <p:nvPr/>
            </p:nvSpPr>
            <p:spPr bwMode="auto">
              <a:xfrm>
                <a:off x="4848" y="3312"/>
                <a:ext cx="239"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C</a:t>
                </a:r>
              </a:p>
            </p:txBody>
          </p:sp>
          <p:sp>
            <p:nvSpPr>
              <p:cNvPr id="108602" name="Oval 58"/>
              <p:cNvSpPr>
                <a:spLocks noChangeArrowheads="1"/>
              </p:cNvSpPr>
              <p:nvPr/>
            </p:nvSpPr>
            <p:spPr bwMode="auto">
              <a:xfrm>
                <a:off x="5279" y="3312"/>
                <a:ext cx="241" cy="192"/>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FFFFFF"/>
                      </a:outerShdw>
                    </a:effectLst>
                    <a:latin typeface="Comic Sans MS" pitchFamily="66" charset="0"/>
                  </a:rPr>
                  <a:t>G</a:t>
                </a:r>
              </a:p>
            </p:txBody>
          </p:sp>
          <p:sp>
            <p:nvSpPr>
              <p:cNvPr id="108603" name="Oval 59"/>
              <p:cNvSpPr>
                <a:spLocks noChangeArrowheads="1"/>
              </p:cNvSpPr>
              <p:nvPr/>
            </p:nvSpPr>
            <p:spPr bwMode="auto">
              <a:xfrm>
                <a:off x="1153" y="3696"/>
                <a:ext cx="239" cy="192"/>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FFFFFF"/>
                      </a:outerShdw>
                    </a:effectLst>
                    <a:latin typeface="Comic Sans MS" pitchFamily="66" charset="0"/>
                  </a:rPr>
                  <a:t>G</a:t>
                </a:r>
              </a:p>
            </p:txBody>
          </p:sp>
          <p:sp>
            <p:nvSpPr>
              <p:cNvPr id="108604" name="Oval 60"/>
              <p:cNvSpPr>
                <a:spLocks noChangeArrowheads="1"/>
              </p:cNvSpPr>
              <p:nvPr/>
            </p:nvSpPr>
            <p:spPr bwMode="auto">
              <a:xfrm>
                <a:off x="1776" y="3696"/>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C</a:t>
                </a:r>
              </a:p>
            </p:txBody>
          </p:sp>
          <p:sp>
            <p:nvSpPr>
              <p:cNvPr id="108605" name="Oval 61"/>
              <p:cNvSpPr>
                <a:spLocks noChangeArrowheads="1"/>
              </p:cNvSpPr>
              <p:nvPr/>
            </p:nvSpPr>
            <p:spPr bwMode="auto">
              <a:xfrm>
                <a:off x="2401" y="3696"/>
                <a:ext cx="239" cy="192"/>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FFFFFF"/>
                      </a:outerShdw>
                    </a:effectLst>
                    <a:latin typeface="Comic Sans MS" pitchFamily="66" charset="0"/>
                  </a:rPr>
                  <a:t>G</a:t>
                </a:r>
              </a:p>
            </p:txBody>
          </p:sp>
          <p:sp>
            <p:nvSpPr>
              <p:cNvPr id="108606" name="Oval 62"/>
              <p:cNvSpPr>
                <a:spLocks noChangeArrowheads="1"/>
              </p:cNvSpPr>
              <p:nvPr/>
            </p:nvSpPr>
            <p:spPr bwMode="auto">
              <a:xfrm>
                <a:off x="3696" y="3696"/>
                <a:ext cx="241"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C0C0C0"/>
                      </a:outerShdw>
                    </a:effectLst>
                    <a:latin typeface="Comic Sans MS" pitchFamily="66" charset="0"/>
                  </a:rPr>
                  <a:t>F</a:t>
                </a:r>
              </a:p>
            </p:txBody>
          </p:sp>
          <p:sp>
            <p:nvSpPr>
              <p:cNvPr id="108607" name="Oval 63"/>
              <p:cNvSpPr>
                <a:spLocks noChangeArrowheads="1"/>
              </p:cNvSpPr>
              <p:nvPr/>
            </p:nvSpPr>
            <p:spPr bwMode="auto">
              <a:xfrm>
                <a:off x="3696" y="4032"/>
                <a:ext cx="241" cy="192"/>
              </a:xfrm>
              <a:prstGeom prst="ellipse">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600">
                    <a:effectLst>
                      <a:outerShdw blurRad="38100" dist="38100" dir="2700000" algn="tl">
                        <a:srgbClr val="FFFFFF"/>
                      </a:outerShdw>
                    </a:effectLst>
                    <a:latin typeface="Comic Sans MS" pitchFamily="66" charset="0"/>
                  </a:rPr>
                  <a:t>G</a:t>
                </a:r>
              </a:p>
            </p:txBody>
          </p:sp>
          <p:cxnSp>
            <p:nvCxnSpPr>
              <p:cNvPr id="52260" name="AutoShape 64"/>
              <p:cNvCxnSpPr>
                <a:cxnSpLocks noChangeShapeType="1"/>
                <a:stCxn id="108581" idx="2"/>
                <a:endCxn id="108582" idx="6"/>
              </p:cNvCxnSpPr>
              <p:nvPr/>
            </p:nvCxnSpPr>
            <p:spPr bwMode="auto">
              <a:xfrm flipH="1">
                <a:off x="1536" y="2016"/>
                <a:ext cx="1200"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1" name="AutoShape 65"/>
              <p:cNvCxnSpPr>
                <a:cxnSpLocks noChangeShapeType="1"/>
                <a:stCxn id="108581" idx="6"/>
                <a:endCxn id="108583" idx="2"/>
              </p:cNvCxnSpPr>
              <p:nvPr/>
            </p:nvCxnSpPr>
            <p:spPr bwMode="auto">
              <a:xfrm>
                <a:off x="2976" y="2016"/>
                <a:ext cx="1392"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2" name="AutoShape 66"/>
              <p:cNvCxnSpPr>
                <a:cxnSpLocks noChangeShapeType="1"/>
                <a:stCxn id="108582" idx="2"/>
                <a:endCxn id="108584" idx="7"/>
              </p:cNvCxnSpPr>
              <p:nvPr/>
            </p:nvCxnSpPr>
            <p:spPr bwMode="auto">
              <a:xfrm flipH="1">
                <a:off x="589" y="2208"/>
                <a:ext cx="707" cy="31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3" name="AutoShape 67"/>
              <p:cNvCxnSpPr>
                <a:cxnSpLocks noChangeShapeType="1"/>
                <a:stCxn id="108582" idx="5"/>
                <a:endCxn id="108585" idx="1"/>
              </p:cNvCxnSpPr>
              <p:nvPr/>
            </p:nvCxnSpPr>
            <p:spPr bwMode="auto">
              <a:xfrm>
                <a:off x="1501" y="2276"/>
                <a:ext cx="406" cy="24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4" name="AutoShape 68"/>
              <p:cNvCxnSpPr>
                <a:cxnSpLocks noChangeShapeType="1"/>
                <a:stCxn id="108583" idx="3"/>
                <a:endCxn id="108587" idx="7"/>
              </p:cNvCxnSpPr>
              <p:nvPr/>
            </p:nvCxnSpPr>
            <p:spPr bwMode="auto">
              <a:xfrm flipH="1">
                <a:off x="3853" y="2276"/>
                <a:ext cx="550" cy="24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5" name="AutoShape 69"/>
              <p:cNvCxnSpPr>
                <a:cxnSpLocks noChangeShapeType="1"/>
                <a:stCxn id="108583" idx="5"/>
                <a:endCxn id="108586" idx="1"/>
              </p:cNvCxnSpPr>
              <p:nvPr/>
            </p:nvCxnSpPr>
            <p:spPr bwMode="auto">
              <a:xfrm>
                <a:off x="4573" y="2276"/>
                <a:ext cx="598" cy="24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6" name="AutoShape 70"/>
              <p:cNvCxnSpPr>
                <a:cxnSpLocks noChangeShapeType="1"/>
                <a:stCxn id="108584" idx="3"/>
                <a:endCxn id="108588" idx="0"/>
              </p:cNvCxnSpPr>
              <p:nvPr/>
            </p:nvCxnSpPr>
            <p:spPr bwMode="auto">
              <a:xfrm flipH="1">
                <a:off x="312" y="2660"/>
                <a:ext cx="107" cy="26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7" name="AutoShape 71"/>
              <p:cNvCxnSpPr>
                <a:cxnSpLocks noChangeShapeType="1"/>
                <a:stCxn id="108584" idx="5"/>
                <a:endCxn id="108589" idx="1"/>
              </p:cNvCxnSpPr>
              <p:nvPr/>
            </p:nvCxnSpPr>
            <p:spPr bwMode="auto">
              <a:xfrm>
                <a:off x="589" y="2660"/>
                <a:ext cx="310" cy="2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8" name="AutoShape 72"/>
              <p:cNvCxnSpPr>
                <a:cxnSpLocks noChangeShapeType="1"/>
                <a:stCxn id="108585" idx="5"/>
                <a:endCxn id="108590" idx="0"/>
              </p:cNvCxnSpPr>
              <p:nvPr/>
            </p:nvCxnSpPr>
            <p:spPr bwMode="auto">
              <a:xfrm>
                <a:off x="2077" y="2660"/>
                <a:ext cx="107" cy="26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69" name="AutoShape 73"/>
              <p:cNvCxnSpPr>
                <a:cxnSpLocks noChangeShapeType="1"/>
                <a:stCxn id="108587" idx="3"/>
                <a:endCxn id="108591" idx="0"/>
              </p:cNvCxnSpPr>
              <p:nvPr/>
            </p:nvCxnSpPr>
            <p:spPr bwMode="auto">
              <a:xfrm flipH="1">
                <a:off x="3576" y="2660"/>
                <a:ext cx="107" cy="26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0" name="AutoShape 74"/>
              <p:cNvCxnSpPr>
                <a:cxnSpLocks noChangeShapeType="1"/>
                <a:stCxn id="108586" idx="3"/>
                <a:endCxn id="108592" idx="7"/>
              </p:cNvCxnSpPr>
              <p:nvPr/>
            </p:nvCxnSpPr>
            <p:spPr bwMode="auto">
              <a:xfrm flipH="1">
                <a:off x="4957" y="2660"/>
                <a:ext cx="214" cy="2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1" name="AutoShape 75"/>
              <p:cNvCxnSpPr>
                <a:cxnSpLocks noChangeShapeType="1"/>
                <a:stCxn id="108586" idx="4"/>
                <a:endCxn id="108593" idx="0"/>
              </p:cNvCxnSpPr>
              <p:nvPr/>
            </p:nvCxnSpPr>
            <p:spPr bwMode="auto">
              <a:xfrm>
                <a:off x="5256" y="2688"/>
                <a:ext cx="96" cy="24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2" name="AutoShape 76"/>
              <p:cNvCxnSpPr>
                <a:cxnSpLocks noChangeShapeType="1"/>
                <a:stCxn id="108589" idx="3"/>
                <a:endCxn id="108594" idx="0"/>
              </p:cNvCxnSpPr>
              <p:nvPr/>
            </p:nvCxnSpPr>
            <p:spPr bwMode="auto">
              <a:xfrm flipH="1">
                <a:off x="696" y="3092"/>
                <a:ext cx="203" cy="22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3" name="AutoShape 77"/>
              <p:cNvCxnSpPr>
                <a:cxnSpLocks noChangeShapeType="1"/>
                <a:stCxn id="108589" idx="5"/>
                <a:endCxn id="108595" idx="0"/>
              </p:cNvCxnSpPr>
              <p:nvPr/>
            </p:nvCxnSpPr>
            <p:spPr bwMode="auto">
              <a:xfrm>
                <a:off x="1069" y="3092"/>
                <a:ext cx="203" cy="22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4" name="AutoShape 78"/>
              <p:cNvCxnSpPr>
                <a:cxnSpLocks noChangeShapeType="1"/>
                <a:stCxn id="108590" idx="3"/>
                <a:endCxn id="108596" idx="0"/>
              </p:cNvCxnSpPr>
              <p:nvPr/>
            </p:nvCxnSpPr>
            <p:spPr bwMode="auto">
              <a:xfrm flipH="1">
                <a:off x="1896" y="3092"/>
                <a:ext cx="203" cy="22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5" name="AutoShape 79"/>
              <p:cNvCxnSpPr>
                <a:cxnSpLocks noChangeShapeType="1"/>
                <a:stCxn id="108590" idx="5"/>
                <a:endCxn id="108597" idx="1"/>
              </p:cNvCxnSpPr>
              <p:nvPr/>
            </p:nvCxnSpPr>
            <p:spPr bwMode="auto">
              <a:xfrm>
                <a:off x="2269" y="3092"/>
                <a:ext cx="166" cy="24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6" name="AutoShape 80"/>
              <p:cNvCxnSpPr>
                <a:cxnSpLocks noChangeShapeType="1"/>
                <a:stCxn id="108591" idx="3"/>
                <a:endCxn id="108598" idx="0"/>
              </p:cNvCxnSpPr>
              <p:nvPr/>
            </p:nvCxnSpPr>
            <p:spPr bwMode="auto">
              <a:xfrm flipH="1">
                <a:off x="3336" y="3092"/>
                <a:ext cx="155" cy="22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7" name="AutoShape 81"/>
              <p:cNvCxnSpPr>
                <a:cxnSpLocks noChangeShapeType="1"/>
                <a:stCxn id="108591" idx="5"/>
                <a:endCxn id="108599" idx="0"/>
              </p:cNvCxnSpPr>
              <p:nvPr/>
            </p:nvCxnSpPr>
            <p:spPr bwMode="auto">
              <a:xfrm>
                <a:off x="3661" y="3092"/>
                <a:ext cx="155" cy="22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8" name="AutoShape 82"/>
              <p:cNvCxnSpPr>
                <a:cxnSpLocks noChangeShapeType="1"/>
                <a:stCxn id="108592" idx="3"/>
                <a:endCxn id="108600" idx="7"/>
              </p:cNvCxnSpPr>
              <p:nvPr/>
            </p:nvCxnSpPr>
            <p:spPr bwMode="auto">
              <a:xfrm flipH="1">
                <a:off x="4573" y="3092"/>
                <a:ext cx="214" cy="24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79" name="AutoShape 83"/>
              <p:cNvCxnSpPr>
                <a:cxnSpLocks noChangeShapeType="1"/>
                <a:stCxn id="108592" idx="4"/>
                <a:endCxn id="108601" idx="0"/>
              </p:cNvCxnSpPr>
              <p:nvPr/>
            </p:nvCxnSpPr>
            <p:spPr bwMode="auto">
              <a:xfrm>
                <a:off x="4872" y="3120"/>
                <a:ext cx="96"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80" name="AutoShape 84"/>
              <p:cNvCxnSpPr>
                <a:cxnSpLocks noChangeShapeType="1"/>
                <a:stCxn id="108593" idx="4"/>
                <a:endCxn id="108602" idx="0"/>
              </p:cNvCxnSpPr>
              <p:nvPr/>
            </p:nvCxnSpPr>
            <p:spPr bwMode="auto">
              <a:xfrm>
                <a:off x="5352" y="3120"/>
                <a:ext cx="48"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81" name="AutoShape 85"/>
              <p:cNvCxnSpPr>
                <a:cxnSpLocks noChangeShapeType="1"/>
                <a:stCxn id="108595" idx="4"/>
                <a:endCxn id="108603" idx="0"/>
              </p:cNvCxnSpPr>
              <p:nvPr/>
            </p:nvCxnSpPr>
            <p:spPr bwMode="auto">
              <a:xfrm>
                <a:off x="1272" y="3504"/>
                <a:ext cx="0"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82" name="AutoShape 86"/>
              <p:cNvCxnSpPr>
                <a:cxnSpLocks noChangeShapeType="1"/>
                <a:stCxn id="108596" idx="4"/>
                <a:endCxn id="108604" idx="0"/>
              </p:cNvCxnSpPr>
              <p:nvPr/>
            </p:nvCxnSpPr>
            <p:spPr bwMode="auto">
              <a:xfrm>
                <a:off x="1896" y="3504"/>
                <a:ext cx="0"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83" name="AutoShape 87"/>
              <p:cNvCxnSpPr>
                <a:cxnSpLocks noChangeShapeType="1"/>
                <a:stCxn id="108597" idx="4"/>
                <a:endCxn id="108605" idx="0"/>
              </p:cNvCxnSpPr>
              <p:nvPr/>
            </p:nvCxnSpPr>
            <p:spPr bwMode="auto">
              <a:xfrm>
                <a:off x="2520" y="3504"/>
                <a:ext cx="0"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84" name="AutoShape 88"/>
              <p:cNvCxnSpPr>
                <a:cxnSpLocks noChangeShapeType="1"/>
                <a:stCxn id="108599" idx="4"/>
                <a:endCxn id="108606" idx="0"/>
              </p:cNvCxnSpPr>
              <p:nvPr/>
            </p:nvCxnSpPr>
            <p:spPr bwMode="auto">
              <a:xfrm>
                <a:off x="3816" y="3504"/>
                <a:ext cx="0" cy="1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85" name="AutoShape 89"/>
              <p:cNvCxnSpPr>
                <a:cxnSpLocks noChangeShapeType="1"/>
                <a:stCxn id="108606" idx="4"/>
                <a:endCxn id="108607" idx="0"/>
              </p:cNvCxnSpPr>
              <p:nvPr/>
            </p:nvCxnSpPr>
            <p:spPr bwMode="auto">
              <a:xfrm>
                <a:off x="3816" y="3888"/>
                <a:ext cx="0" cy="14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634" name="Text Box 90"/>
              <p:cNvSpPr txBox="1">
                <a:spLocks noChangeArrowheads="1"/>
              </p:cNvSpPr>
              <p:nvPr/>
            </p:nvSpPr>
            <p:spPr bwMode="auto">
              <a:xfrm>
                <a:off x="1975" y="1995"/>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3</a:t>
                </a:r>
              </a:p>
            </p:txBody>
          </p:sp>
          <p:sp>
            <p:nvSpPr>
              <p:cNvPr id="108635" name="Text Box 91"/>
              <p:cNvSpPr txBox="1">
                <a:spLocks noChangeArrowheads="1"/>
              </p:cNvSpPr>
              <p:nvPr/>
            </p:nvSpPr>
            <p:spPr bwMode="auto">
              <a:xfrm>
                <a:off x="1248" y="3531"/>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3</a:t>
                </a:r>
              </a:p>
            </p:txBody>
          </p:sp>
          <p:sp>
            <p:nvSpPr>
              <p:cNvPr id="108636" name="Text Box 92"/>
              <p:cNvSpPr txBox="1">
                <a:spLocks noChangeArrowheads="1"/>
              </p:cNvSpPr>
              <p:nvPr/>
            </p:nvSpPr>
            <p:spPr bwMode="auto">
              <a:xfrm>
                <a:off x="2497" y="3531"/>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3</a:t>
                </a:r>
              </a:p>
            </p:txBody>
          </p:sp>
          <p:sp>
            <p:nvSpPr>
              <p:cNvPr id="108637" name="Text Box 93"/>
              <p:cNvSpPr txBox="1">
                <a:spLocks noChangeArrowheads="1"/>
              </p:cNvSpPr>
              <p:nvPr/>
            </p:nvSpPr>
            <p:spPr bwMode="auto">
              <a:xfrm>
                <a:off x="3848" y="3914"/>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3</a:t>
                </a:r>
              </a:p>
            </p:txBody>
          </p:sp>
          <p:sp>
            <p:nvSpPr>
              <p:cNvPr id="108638" name="Text Box 94"/>
              <p:cNvSpPr txBox="1">
                <a:spLocks noChangeArrowheads="1"/>
              </p:cNvSpPr>
              <p:nvPr/>
            </p:nvSpPr>
            <p:spPr bwMode="auto">
              <a:xfrm>
                <a:off x="5383" y="3148"/>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3</a:t>
                </a:r>
              </a:p>
            </p:txBody>
          </p:sp>
          <p:sp>
            <p:nvSpPr>
              <p:cNvPr id="108639" name="Text Box 95"/>
              <p:cNvSpPr txBox="1">
                <a:spLocks noChangeArrowheads="1"/>
              </p:cNvSpPr>
              <p:nvPr/>
            </p:nvSpPr>
            <p:spPr bwMode="auto">
              <a:xfrm>
                <a:off x="2114" y="2715"/>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2</a:t>
                </a:r>
                <a:endParaRPr lang="en-US" altLang="zh-CN" sz="1600">
                  <a:effectLst>
                    <a:outerShdw blurRad="38100" dist="38100" dir="2700000" algn="tl">
                      <a:srgbClr val="C0C0C0"/>
                    </a:outerShdw>
                  </a:effectLst>
                  <a:latin typeface="Comic Sans MS" pitchFamily="66" charset="0"/>
                </a:endParaRPr>
              </a:p>
            </p:txBody>
          </p:sp>
          <p:sp>
            <p:nvSpPr>
              <p:cNvPr id="108640" name="Text Box 96"/>
              <p:cNvSpPr txBox="1">
                <a:spLocks noChangeArrowheads="1"/>
              </p:cNvSpPr>
              <p:nvPr/>
            </p:nvSpPr>
            <p:spPr bwMode="auto">
              <a:xfrm>
                <a:off x="625" y="3052"/>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2</a:t>
                </a:r>
                <a:endParaRPr lang="en-US" altLang="zh-CN" sz="1600">
                  <a:effectLst>
                    <a:outerShdw blurRad="38100" dist="38100" dir="2700000" algn="tl">
                      <a:srgbClr val="C0C0C0"/>
                    </a:outerShdw>
                  </a:effectLst>
                  <a:latin typeface="Comic Sans MS" pitchFamily="66" charset="0"/>
                </a:endParaRPr>
              </a:p>
            </p:txBody>
          </p:sp>
          <p:sp>
            <p:nvSpPr>
              <p:cNvPr id="108641" name="Text Box 97"/>
              <p:cNvSpPr txBox="1">
                <a:spLocks noChangeArrowheads="1"/>
              </p:cNvSpPr>
              <p:nvPr/>
            </p:nvSpPr>
            <p:spPr bwMode="auto">
              <a:xfrm>
                <a:off x="4800" y="2235"/>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2</a:t>
                </a:r>
                <a:endParaRPr lang="en-US" altLang="zh-CN" sz="1600">
                  <a:effectLst>
                    <a:outerShdw blurRad="38100" dist="38100" dir="2700000" algn="tl">
                      <a:srgbClr val="C0C0C0"/>
                    </a:outerShdw>
                  </a:effectLst>
                  <a:latin typeface="Comic Sans MS" pitchFamily="66" charset="0"/>
                </a:endParaRPr>
              </a:p>
            </p:txBody>
          </p:sp>
          <p:sp>
            <p:nvSpPr>
              <p:cNvPr id="108642" name="Text Box 98"/>
              <p:cNvSpPr txBox="1">
                <a:spLocks noChangeArrowheads="1"/>
              </p:cNvSpPr>
              <p:nvPr/>
            </p:nvSpPr>
            <p:spPr bwMode="auto">
              <a:xfrm>
                <a:off x="818" y="2187"/>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3" name="Text Box 99"/>
              <p:cNvSpPr txBox="1">
                <a:spLocks noChangeArrowheads="1"/>
              </p:cNvSpPr>
              <p:nvPr/>
            </p:nvSpPr>
            <p:spPr bwMode="auto">
              <a:xfrm>
                <a:off x="3409" y="2715"/>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4" name="Text Box 100"/>
              <p:cNvSpPr txBox="1">
                <a:spLocks noChangeArrowheads="1"/>
              </p:cNvSpPr>
              <p:nvPr/>
            </p:nvSpPr>
            <p:spPr bwMode="auto">
              <a:xfrm>
                <a:off x="4464" y="3099"/>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5" name="Text Box 101"/>
              <p:cNvSpPr txBox="1">
                <a:spLocks noChangeArrowheads="1"/>
              </p:cNvSpPr>
              <p:nvPr/>
            </p:nvSpPr>
            <p:spPr bwMode="auto">
              <a:xfrm>
                <a:off x="3224" y="3099"/>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6" name="Text Box 102"/>
              <p:cNvSpPr txBox="1">
                <a:spLocks noChangeArrowheads="1"/>
              </p:cNvSpPr>
              <p:nvPr/>
            </p:nvSpPr>
            <p:spPr bwMode="auto">
              <a:xfrm>
                <a:off x="1832" y="3531"/>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7" name="Text Box 103"/>
              <p:cNvSpPr txBox="1">
                <a:spLocks noChangeArrowheads="1"/>
              </p:cNvSpPr>
              <p:nvPr/>
            </p:nvSpPr>
            <p:spPr bwMode="auto">
              <a:xfrm>
                <a:off x="4896" y="3099"/>
                <a:ext cx="26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8" name="Text Box 104"/>
              <p:cNvSpPr txBox="1">
                <a:spLocks noChangeArrowheads="1"/>
              </p:cNvSpPr>
              <p:nvPr/>
            </p:nvSpPr>
            <p:spPr bwMode="auto">
              <a:xfrm>
                <a:off x="1107" y="3052"/>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49" name="Text Box 105"/>
              <p:cNvSpPr txBox="1">
                <a:spLocks noChangeArrowheads="1"/>
              </p:cNvSpPr>
              <p:nvPr/>
            </p:nvSpPr>
            <p:spPr bwMode="auto">
              <a:xfrm>
                <a:off x="3792" y="3531"/>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50" name="Text Box 106"/>
              <p:cNvSpPr txBox="1">
                <a:spLocks noChangeArrowheads="1"/>
              </p:cNvSpPr>
              <p:nvPr/>
            </p:nvSpPr>
            <p:spPr bwMode="auto">
              <a:xfrm>
                <a:off x="5286" y="2715"/>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51" name="Text Box 107"/>
              <p:cNvSpPr txBox="1">
                <a:spLocks noChangeArrowheads="1"/>
              </p:cNvSpPr>
              <p:nvPr/>
            </p:nvSpPr>
            <p:spPr bwMode="auto">
              <a:xfrm>
                <a:off x="3601" y="1948"/>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52" name="Text Box 108"/>
              <p:cNvSpPr txBox="1">
                <a:spLocks noChangeArrowheads="1"/>
              </p:cNvSpPr>
              <p:nvPr/>
            </p:nvSpPr>
            <p:spPr bwMode="auto">
              <a:xfrm>
                <a:off x="144" y="2666"/>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53" name="Text Box 109"/>
              <p:cNvSpPr txBox="1">
                <a:spLocks noChangeArrowheads="1"/>
              </p:cNvSpPr>
              <p:nvPr/>
            </p:nvSpPr>
            <p:spPr bwMode="auto">
              <a:xfrm>
                <a:off x="2304" y="3099"/>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4</a:t>
                </a:r>
              </a:p>
            </p:txBody>
          </p:sp>
          <p:sp>
            <p:nvSpPr>
              <p:cNvPr id="108654" name="Text Box 110"/>
              <p:cNvSpPr txBox="1">
                <a:spLocks noChangeArrowheads="1"/>
              </p:cNvSpPr>
              <p:nvPr/>
            </p:nvSpPr>
            <p:spPr bwMode="auto">
              <a:xfrm>
                <a:off x="3894" y="2283"/>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5</a:t>
                </a:r>
              </a:p>
            </p:txBody>
          </p:sp>
          <p:sp>
            <p:nvSpPr>
              <p:cNvPr id="108655" name="Text Box 111"/>
              <p:cNvSpPr txBox="1">
                <a:spLocks noChangeArrowheads="1"/>
              </p:cNvSpPr>
              <p:nvPr/>
            </p:nvSpPr>
            <p:spPr bwMode="auto">
              <a:xfrm>
                <a:off x="1681" y="2283"/>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5</a:t>
                </a:r>
              </a:p>
            </p:txBody>
          </p:sp>
          <p:sp>
            <p:nvSpPr>
              <p:cNvPr id="108656" name="Text Box 112"/>
              <p:cNvSpPr txBox="1">
                <a:spLocks noChangeArrowheads="1"/>
              </p:cNvSpPr>
              <p:nvPr/>
            </p:nvSpPr>
            <p:spPr bwMode="auto">
              <a:xfrm>
                <a:off x="720" y="2696"/>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5</a:t>
                </a:r>
              </a:p>
            </p:txBody>
          </p:sp>
          <p:sp>
            <p:nvSpPr>
              <p:cNvPr id="108657" name="Text Box 113"/>
              <p:cNvSpPr txBox="1">
                <a:spLocks noChangeArrowheads="1"/>
              </p:cNvSpPr>
              <p:nvPr/>
            </p:nvSpPr>
            <p:spPr bwMode="auto">
              <a:xfrm>
                <a:off x="4852" y="2696"/>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5</a:t>
                </a:r>
              </a:p>
            </p:txBody>
          </p:sp>
          <p:sp>
            <p:nvSpPr>
              <p:cNvPr id="108658" name="Text Box 114"/>
              <p:cNvSpPr txBox="1">
                <a:spLocks noChangeArrowheads="1"/>
              </p:cNvSpPr>
              <p:nvPr/>
            </p:nvSpPr>
            <p:spPr bwMode="auto">
              <a:xfrm>
                <a:off x="3704" y="3099"/>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5</a:t>
                </a:r>
              </a:p>
            </p:txBody>
          </p:sp>
          <p:sp>
            <p:nvSpPr>
              <p:cNvPr id="108659" name="Text Box 115"/>
              <p:cNvSpPr txBox="1">
                <a:spLocks noChangeArrowheads="1"/>
              </p:cNvSpPr>
              <p:nvPr/>
            </p:nvSpPr>
            <p:spPr bwMode="auto">
              <a:xfrm>
                <a:off x="1822" y="3052"/>
                <a:ext cx="26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a:solidFill>
                      <a:srgbClr val="000099"/>
                    </a:solidFill>
                    <a:effectLst>
                      <a:outerShdw blurRad="38100" dist="38100" dir="2700000" algn="tl">
                        <a:srgbClr val="C0C0C0"/>
                      </a:outerShdw>
                    </a:effectLst>
                    <a:latin typeface="Comic Sans MS" pitchFamily="66" charset="0"/>
                  </a:rPr>
                  <a:t>5</a:t>
                </a:r>
              </a:p>
            </p:txBody>
          </p:sp>
        </p:grpSp>
      </p:grpSp>
      <p:sp>
        <p:nvSpPr>
          <p:cNvPr id="52229" name="Text Box 116"/>
          <p:cNvSpPr txBox="1">
            <a:spLocks noChangeArrowheads="1"/>
          </p:cNvSpPr>
          <p:nvPr/>
        </p:nvSpPr>
        <p:spPr bwMode="auto">
          <a:xfrm>
            <a:off x="1559496" y="1600995"/>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r>
              <a:rPr lang="zh-CN" altLang="en-US" sz="2400" b="1" dirty="0">
                <a:solidFill>
                  <a:srgbClr val="0066FF"/>
                </a:solidFill>
              </a:rPr>
              <a:t>问题空间</a:t>
            </a:r>
            <a:endParaRPr lang="en-US" altLang="zh-CN" sz="2400" b="1" dirty="0">
              <a:solidFill>
                <a:srgbClr val="0066FF"/>
              </a:solidFill>
            </a:endParaRPr>
          </a:p>
        </p:txBody>
      </p:sp>
      <p:sp>
        <p:nvSpPr>
          <p:cNvPr id="52230" name="Text Box 117"/>
          <p:cNvSpPr txBox="1">
            <a:spLocks noChangeArrowheads="1"/>
          </p:cNvSpPr>
          <p:nvPr/>
        </p:nvSpPr>
        <p:spPr bwMode="auto">
          <a:xfrm>
            <a:off x="1524001" y="4078097"/>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itchFamily="34" charset="0"/>
                <a:ea typeface="宋体" pitchFamily="2" charset="-122"/>
              </a:defRPr>
            </a:lvl1pPr>
            <a:lvl2pPr marL="742950" indent="-285750">
              <a:defRPr>
                <a:solidFill>
                  <a:schemeClr val="tx1"/>
                </a:solidFill>
                <a:latin typeface="Tahoma" pitchFamily="34" charset="0"/>
                <a:ea typeface="宋体" pitchFamily="2" charset="-122"/>
              </a:defRPr>
            </a:lvl2pPr>
            <a:lvl3pPr marL="1143000" indent="-228600">
              <a:defRPr>
                <a:solidFill>
                  <a:schemeClr val="tx1"/>
                </a:solidFill>
                <a:latin typeface="Tahoma" pitchFamily="34" charset="0"/>
                <a:ea typeface="宋体" pitchFamily="2" charset="-122"/>
              </a:defRPr>
            </a:lvl3pPr>
            <a:lvl4pPr marL="1600200" indent="-228600">
              <a:defRPr>
                <a:solidFill>
                  <a:schemeClr val="tx1"/>
                </a:solidFill>
                <a:latin typeface="Tahoma" pitchFamily="34" charset="0"/>
                <a:ea typeface="宋体" pitchFamily="2" charset="-122"/>
              </a:defRPr>
            </a:lvl4pPr>
            <a:lvl5pPr marL="2057400" indent="-22860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r>
              <a:rPr lang="zh-CN" altLang="en-US" sz="2400" b="1" dirty="0">
                <a:solidFill>
                  <a:srgbClr val="0066FF"/>
                </a:solidFill>
              </a:rPr>
              <a:t>对应的搜索树</a:t>
            </a:r>
            <a:endParaRPr lang="en-US" altLang="zh-CN" sz="2400" b="1" dirty="0">
              <a:solidFill>
                <a:srgbClr val="0066FF"/>
              </a:solidFill>
            </a:endParaRPr>
          </a:p>
        </p:txBody>
      </p:sp>
      <p:grpSp>
        <p:nvGrpSpPr>
          <p:cNvPr id="118" name="组合 117"/>
          <p:cNvGrpSpPr/>
          <p:nvPr/>
        </p:nvGrpSpPr>
        <p:grpSpPr>
          <a:xfrm>
            <a:off x="1101621" y="346616"/>
            <a:ext cx="7464387" cy="497934"/>
            <a:chOff x="4099943" y="2819853"/>
            <a:chExt cx="2570275" cy="497934"/>
          </a:xfrm>
        </p:grpSpPr>
        <p:sp>
          <p:nvSpPr>
            <p:cNvPr id="119" name="平行四边形 118"/>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0" name="平行四边形 119"/>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1" name="矩形 120"/>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的构建</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7413388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8578"/>
                                        </p:tgtEl>
                                        <p:attrNameLst>
                                          <p:attrName>style.visibility</p:attrName>
                                        </p:attrNameLst>
                                      </p:cBhvr>
                                      <p:to>
                                        <p:strVal val="visible"/>
                                      </p:to>
                                    </p:set>
                                    <p:animEffect transition="in" filter="wipe(up)">
                                      <p:cBhvr>
                                        <p:cTn id="7" dur="500"/>
                                        <p:tgtEl>
                                          <p:spTgt spid="108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4" name="Picture 10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080" y="-134529"/>
            <a:ext cx="8864599" cy="6829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6565" name="Group 48"/>
          <p:cNvGrpSpPr>
            <a:grpSpLocks/>
          </p:cNvGrpSpPr>
          <p:nvPr/>
        </p:nvGrpSpPr>
        <p:grpSpPr bwMode="auto">
          <a:xfrm>
            <a:off x="85859" y="822103"/>
            <a:ext cx="5562600" cy="1647825"/>
            <a:chOff x="1008" y="1650"/>
            <a:chExt cx="3440" cy="1038"/>
          </a:xfrm>
        </p:grpSpPr>
        <p:sp>
          <p:nvSpPr>
            <p:cNvPr id="7" name="Rectangle 13"/>
            <p:cNvSpPr>
              <a:spLocks noChangeArrowheads="1"/>
            </p:cNvSpPr>
            <p:nvPr/>
          </p:nvSpPr>
          <p:spPr bwMode="auto">
            <a:xfrm>
              <a:off x="1808" y="2322"/>
              <a:ext cx="40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5</a:t>
              </a:r>
            </a:p>
          </p:txBody>
        </p:sp>
        <p:sp>
          <p:nvSpPr>
            <p:cNvPr id="8" name="Rectangle 12"/>
            <p:cNvSpPr>
              <a:spLocks noChangeArrowheads="1"/>
            </p:cNvSpPr>
            <p:nvPr/>
          </p:nvSpPr>
          <p:spPr bwMode="auto">
            <a:xfrm>
              <a:off x="1408" y="2322"/>
              <a:ext cx="403"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endParaRPr kumimoji="1" lang="en-US" sz="2400" b="1">
                <a:ea typeface="Gulim" pitchFamily="34" charset="-127"/>
              </a:endParaRPr>
            </a:p>
          </p:txBody>
        </p:sp>
        <p:sp>
          <p:nvSpPr>
            <p:cNvPr id="9" name="Rectangle 11"/>
            <p:cNvSpPr>
              <a:spLocks noChangeArrowheads="1"/>
            </p:cNvSpPr>
            <p:nvPr/>
          </p:nvSpPr>
          <p:spPr bwMode="auto">
            <a:xfrm>
              <a:off x="1008" y="2322"/>
              <a:ext cx="40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7</a:t>
              </a:r>
            </a:p>
          </p:txBody>
        </p:sp>
        <p:sp>
          <p:nvSpPr>
            <p:cNvPr id="10" name="Rectangle 10"/>
            <p:cNvSpPr>
              <a:spLocks noChangeArrowheads="1"/>
            </p:cNvSpPr>
            <p:nvPr/>
          </p:nvSpPr>
          <p:spPr bwMode="auto">
            <a:xfrm>
              <a:off x="1808" y="1975"/>
              <a:ext cx="400"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4</a:t>
              </a:r>
            </a:p>
          </p:txBody>
        </p:sp>
        <p:sp>
          <p:nvSpPr>
            <p:cNvPr id="11" name="Rectangle 9"/>
            <p:cNvSpPr>
              <a:spLocks noChangeArrowheads="1"/>
            </p:cNvSpPr>
            <p:nvPr/>
          </p:nvSpPr>
          <p:spPr bwMode="auto">
            <a:xfrm>
              <a:off x="1408" y="1975"/>
              <a:ext cx="403"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6</a:t>
              </a:r>
            </a:p>
          </p:txBody>
        </p:sp>
        <p:sp>
          <p:nvSpPr>
            <p:cNvPr id="12" name="Rectangle 8"/>
            <p:cNvSpPr>
              <a:spLocks noChangeArrowheads="1"/>
            </p:cNvSpPr>
            <p:nvPr/>
          </p:nvSpPr>
          <p:spPr bwMode="auto">
            <a:xfrm>
              <a:off x="1008" y="1975"/>
              <a:ext cx="400"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1</a:t>
              </a:r>
            </a:p>
          </p:txBody>
        </p:sp>
        <p:sp>
          <p:nvSpPr>
            <p:cNvPr id="13" name="Rectangle 7"/>
            <p:cNvSpPr>
              <a:spLocks noChangeArrowheads="1"/>
            </p:cNvSpPr>
            <p:nvPr/>
          </p:nvSpPr>
          <p:spPr bwMode="auto">
            <a:xfrm>
              <a:off x="1808" y="1650"/>
              <a:ext cx="400"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3</a:t>
              </a:r>
            </a:p>
          </p:txBody>
        </p:sp>
        <p:sp>
          <p:nvSpPr>
            <p:cNvPr id="14" name="Rectangle 6"/>
            <p:cNvSpPr>
              <a:spLocks noChangeArrowheads="1"/>
            </p:cNvSpPr>
            <p:nvPr/>
          </p:nvSpPr>
          <p:spPr bwMode="auto">
            <a:xfrm>
              <a:off x="1408" y="1650"/>
              <a:ext cx="403"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8</a:t>
              </a:r>
            </a:p>
          </p:txBody>
        </p:sp>
        <p:sp>
          <p:nvSpPr>
            <p:cNvPr id="15" name="Rectangle 5"/>
            <p:cNvSpPr>
              <a:spLocks noChangeArrowheads="1"/>
            </p:cNvSpPr>
            <p:nvPr/>
          </p:nvSpPr>
          <p:spPr bwMode="auto">
            <a:xfrm>
              <a:off x="1008" y="1650"/>
              <a:ext cx="400"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r>
                <a:rPr kumimoji="1" lang="en-US" altLang="ko-KR" sz="2400" b="1">
                  <a:ea typeface="Gulim" pitchFamily="34" charset="-127"/>
                </a:rPr>
                <a:t>2</a:t>
              </a:r>
            </a:p>
          </p:txBody>
        </p:sp>
        <p:sp>
          <p:nvSpPr>
            <p:cNvPr id="16" name="Line 14"/>
            <p:cNvSpPr>
              <a:spLocks noChangeShapeType="1"/>
            </p:cNvSpPr>
            <p:nvPr/>
          </p:nvSpPr>
          <p:spPr bwMode="auto">
            <a:xfrm>
              <a:off x="1008" y="1650"/>
              <a:ext cx="12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17" name="Line 15"/>
            <p:cNvSpPr>
              <a:spLocks noChangeShapeType="1"/>
            </p:cNvSpPr>
            <p:nvPr/>
          </p:nvSpPr>
          <p:spPr bwMode="auto">
            <a:xfrm>
              <a:off x="1008" y="1975"/>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18" name="Line 16"/>
            <p:cNvSpPr>
              <a:spLocks noChangeShapeType="1"/>
            </p:cNvSpPr>
            <p:nvPr/>
          </p:nvSpPr>
          <p:spPr bwMode="auto">
            <a:xfrm>
              <a:off x="1008" y="2322"/>
              <a:ext cx="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19" name="Line 17"/>
            <p:cNvSpPr>
              <a:spLocks noChangeShapeType="1"/>
            </p:cNvSpPr>
            <p:nvPr/>
          </p:nvSpPr>
          <p:spPr bwMode="auto">
            <a:xfrm>
              <a:off x="1008" y="2688"/>
              <a:ext cx="12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20" name="Line 18"/>
            <p:cNvSpPr>
              <a:spLocks noChangeShapeType="1"/>
            </p:cNvSpPr>
            <p:nvPr/>
          </p:nvSpPr>
          <p:spPr bwMode="auto">
            <a:xfrm>
              <a:off x="1008" y="1650"/>
              <a:ext cx="0" cy="1038"/>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21" name="Line 19"/>
            <p:cNvSpPr>
              <a:spLocks noChangeShapeType="1"/>
            </p:cNvSpPr>
            <p:nvPr/>
          </p:nvSpPr>
          <p:spPr bwMode="auto">
            <a:xfrm>
              <a:off x="1408" y="1650"/>
              <a:ext cx="0" cy="10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22" name="Line 20"/>
            <p:cNvSpPr>
              <a:spLocks noChangeShapeType="1"/>
            </p:cNvSpPr>
            <p:nvPr/>
          </p:nvSpPr>
          <p:spPr bwMode="auto">
            <a:xfrm>
              <a:off x="1808" y="1650"/>
              <a:ext cx="0" cy="10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23" name="Line 21"/>
            <p:cNvSpPr>
              <a:spLocks noChangeShapeType="1"/>
            </p:cNvSpPr>
            <p:nvPr/>
          </p:nvSpPr>
          <p:spPr bwMode="auto">
            <a:xfrm>
              <a:off x="2208" y="1650"/>
              <a:ext cx="0" cy="1038"/>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p>
          </p:txBody>
        </p:sp>
        <p:sp>
          <p:nvSpPr>
            <p:cNvPr id="28" name="Rectangle 33"/>
            <p:cNvSpPr>
              <a:spLocks noChangeArrowheads="1"/>
            </p:cNvSpPr>
            <p:nvPr/>
          </p:nvSpPr>
          <p:spPr bwMode="auto">
            <a:xfrm>
              <a:off x="4048" y="1957"/>
              <a:ext cx="40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latinLnBrk="1">
                <a:defRPr/>
              </a:pPr>
              <a:endParaRPr kumimoji="1" lang="en-US" sz="2400" b="1">
                <a:ea typeface="Gulim" pitchFamily="34" charset="-127"/>
              </a:endParaRPr>
            </a:p>
          </p:txBody>
        </p:sp>
      </p:grpSp>
      <p:sp>
        <p:nvSpPr>
          <p:cNvPr id="24" name="TextBox 3"/>
          <p:cNvSpPr txBox="1"/>
          <p:nvPr/>
        </p:nvSpPr>
        <p:spPr>
          <a:xfrm>
            <a:off x="0" y="101370"/>
            <a:ext cx="5256584" cy="584775"/>
          </a:xfrm>
          <a:prstGeom prst="rect">
            <a:avLst/>
          </a:prstGeom>
          <a:noFill/>
        </p:spPr>
        <p:txBody>
          <a:bodyPr wrap="square" rtlCol="0">
            <a:spAutoFit/>
          </a:bodyPr>
          <a:lstStyle/>
          <a:p>
            <a:r>
              <a:rPr lang="en-US" altLang="zh-CN" sz="3200" dirty="0" smtClean="0">
                <a:effectLst>
                  <a:outerShdw blurRad="38100" dist="38100" dir="2700000" algn="tl">
                    <a:srgbClr val="000000">
                      <a:alpha val="43137"/>
                    </a:srgbClr>
                  </a:outerShdw>
                </a:effectLst>
              </a:rPr>
              <a:t>8</a:t>
            </a:r>
            <a:r>
              <a:rPr lang="zh-CN" altLang="en-US" sz="3200" dirty="0" smtClean="0">
                <a:effectLst>
                  <a:outerShdw blurRad="38100" dist="38100" dir="2700000" algn="tl">
                    <a:srgbClr val="000000">
                      <a:alpha val="43137"/>
                    </a:srgbClr>
                  </a:outerShdw>
                </a:effectLst>
              </a:rPr>
              <a:t>数码搜索树</a:t>
            </a:r>
            <a:endParaRPr lang="zh-CN" alt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040185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63553" y="1772816"/>
            <a:ext cx="3255715"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519936" y="1484784"/>
            <a:ext cx="4176464" cy="4801314"/>
          </a:xfrm>
          <a:prstGeom prst="rect">
            <a:avLst/>
          </a:prstGeom>
          <a:noFill/>
        </p:spPr>
        <p:txBody>
          <a:bodyPr wrap="square" rtlCol="0">
            <a:spAutoFit/>
          </a:bodyPr>
          <a:lstStyle/>
          <a:p>
            <a:pPr marL="342900" indent="-342900">
              <a:buClr>
                <a:srgbClr val="FF0000"/>
              </a:buClr>
              <a:buFont typeface="Wingdings" panose="05000000000000000000" pitchFamily="2" charset="2"/>
              <a:buChar char="Ø"/>
            </a:pPr>
            <a:r>
              <a:rPr lang="zh-CN" altLang="en-US" sz="2400" b="1" dirty="0"/>
              <a:t>农夫、白菜、羊和狼过河问题。现在农夫、白菜、羊和狼都在左岸，农夫有一条船，过河时，除农夫外，每次只能带一样东西，农夫不在，狼要吃羊，羊要吃白菜。现在要把他们全部安全送到右岸去。</a:t>
            </a:r>
            <a:endParaRPr lang="en-US" altLang="zh-CN" sz="2400" b="1" dirty="0"/>
          </a:p>
          <a:p>
            <a:endParaRPr lang="en-US" altLang="zh-CN" sz="2400" b="1" dirty="0"/>
          </a:p>
          <a:p>
            <a:endParaRPr lang="en-US" altLang="zh-CN" sz="2400" b="1" dirty="0"/>
          </a:p>
          <a:p>
            <a:pPr marL="342900" indent="-342900">
              <a:buAutoNum type="arabicPeriod"/>
            </a:pPr>
            <a:r>
              <a:rPr lang="zh-CN" altLang="en-US" sz="2400" b="1" dirty="0"/>
              <a:t>写出问题的形式化描述</a:t>
            </a:r>
            <a:r>
              <a:rPr lang="en-US" altLang="zh-CN" sz="2400" b="1" dirty="0"/>
              <a:t>.</a:t>
            </a:r>
            <a:r>
              <a:rPr lang="zh-CN" altLang="en-US" sz="2400" b="1" dirty="0"/>
              <a:t>画出状态空间图（树）。</a:t>
            </a:r>
            <a:endParaRPr lang="en-US" altLang="zh-CN" sz="2400" b="1" dirty="0"/>
          </a:p>
          <a:p>
            <a:pPr marL="342900" indent="-342900">
              <a:buAutoNum type="arabicPeriod"/>
            </a:pPr>
            <a:endParaRPr lang="zh-CN" altLang="en-US" dirty="0"/>
          </a:p>
        </p:txBody>
      </p:sp>
      <p:grpSp>
        <p:nvGrpSpPr>
          <p:cNvPr id="6" name="组合 5"/>
          <p:cNvGrpSpPr/>
          <p:nvPr/>
        </p:nvGrpSpPr>
        <p:grpSpPr>
          <a:xfrm>
            <a:off x="1101621" y="346616"/>
            <a:ext cx="7464387"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构建思考题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9090466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67225" y="1437361"/>
            <a:ext cx="8229600" cy="4525963"/>
          </a:xfrm>
        </p:spPr>
        <p:txBody>
          <a:bodyPr>
            <a:normAutofit/>
          </a:bodyPr>
          <a:lstStyle/>
          <a:p>
            <a:r>
              <a:rPr lang="zh-CN" altLang="en-US" dirty="0">
                <a:latin typeface="Times New Roman" panose="02020603050405020304" pitchFamily="18" charset="0"/>
                <a:cs typeface="Times New Roman" panose="02020603050405020304" pitchFamily="18" charset="0"/>
              </a:rPr>
              <a:t>用四元组表示（</a:t>
            </a:r>
            <a:r>
              <a:rPr lang="en-US" altLang="zh-CN" dirty="0" err="1">
                <a:latin typeface="Times New Roman" panose="02020603050405020304" pitchFamily="18" charset="0"/>
                <a:cs typeface="Times New Roman" panose="02020603050405020304" pitchFamily="18" charset="0"/>
              </a:rPr>
              <a:t>f,c,g,w</a:t>
            </a:r>
            <a:r>
              <a:rPr lang="zh-CN" altLang="en-US" dirty="0">
                <a:latin typeface="Times New Roman" panose="02020603050405020304" pitchFamily="18" charset="0"/>
                <a:cs typeface="Times New Roman" panose="02020603050405020304" pitchFamily="18" charset="0"/>
              </a:rPr>
              <a:t>）农夫、白菜、羊和狼是否在左岸，</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表示在左岸，</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表示不在左岸。</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初始状态（</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），目标状态（</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zh-CN" altLang="en-US" b="1" dirty="0">
                <a:solidFill>
                  <a:srgbClr val="FF0000"/>
                </a:solidFill>
              </a:rPr>
              <a:t>行动</a:t>
            </a:r>
            <a:r>
              <a:rPr lang="zh-CN" altLang="en-US" dirty="0"/>
              <a:t>：</a:t>
            </a:r>
            <a:r>
              <a:rPr lang="en-US" altLang="zh-CN" dirty="0"/>
              <a:t>L(f</a:t>
            </a:r>
            <a:r>
              <a:rPr lang="zh-CN" altLang="en-US" dirty="0"/>
              <a:t>，</a:t>
            </a:r>
            <a:r>
              <a:rPr lang="en-US" altLang="zh-CN" dirty="0"/>
              <a:t>j)</a:t>
            </a:r>
            <a:r>
              <a:rPr lang="zh-CN" altLang="en-US" dirty="0"/>
              <a:t>表示从左岸把</a:t>
            </a:r>
            <a:r>
              <a:rPr lang="en-US" altLang="zh-CN" dirty="0"/>
              <a:t>j</a:t>
            </a:r>
            <a:r>
              <a:rPr lang="zh-CN" altLang="en-US" dirty="0"/>
              <a:t>样东西送到右岸</a:t>
            </a:r>
            <a:r>
              <a:rPr lang="en-US" altLang="zh-CN" dirty="0"/>
              <a:t>(j=1</a:t>
            </a:r>
            <a:r>
              <a:rPr lang="zh-CN" altLang="en-US" dirty="0"/>
              <a:t>表示</a:t>
            </a:r>
            <a:r>
              <a:rPr lang="zh-CN" altLang="en-US" dirty="0">
                <a:latin typeface="Times New Roman" panose="02020603050405020304" pitchFamily="18" charset="0"/>
                <a:cs typeface="Times New Roman" panose="02020603050405020304" pitchFamily="18" charset="0"/>
              </a:rPr>
              <a:t>白菜，</a:t>
            </a:r>
            <a:r>
              <a:rPr lang="en-US" altLang="zh-CN" dirty="0"/>
              <a:t> j=2</a:t>
            </a:r>
            <a:r>
              <a:rPr lang="zh-CN" altLang="en-US" dirty="0"/>
              <a:t>表示</a:t>
            </a:r>
            <a:r>
              <a:rPr lang="zh-CN" altLang="en-US" dirty="0">
                <a:latin typeface="Times New Roman" panose="02020603050405020304" pitchFamily="18" charset="0"/>
                <a:cs typeface="Times New Roman" panose="02020603050405020304" pitchFamily="18" charset="0"/>
              </a:rPr>
              <a:t>羊，</a:t>
            </a:r>
            <a:r>
              <a:rPr lang="en-US" altLang="zh-CN" dirty="0"/>
              <a:t> j=3</a:t>
            </a:r>
            <a:r>
              <a:rPr lang="zh-CN" altLang="en-US" dirty="0"/>
              <a:t>表示</a:t>
            </a:r>
            <a:r>
              <a:rPr lang="zh-CN" altLang="en-US" dirty="0">
                <a:latin typeface="Times New Roman" panose="02020603050405020304" pitchFamily="18" charset="0"/>
                <a:cs typeface="Times New Roman" panose="02020603050405020304" pitchFamily="18" charset="0"/>
              </a:rPr>
              <a:t>狼，</a:t>
            </a:r>
            <a:r>
              <a:rPr lang="en-US" altLang="zh-CN" dirty="0">
                <a:latin typeface="Times New Roman" panose="02020603050405020304" pitchFamily="18" charset="0"/>
                <a:cs typeface="Times New Roman" panose="02020603050405020304" pitchFamily="18" charset="0"/>
              </a:rPr>
              <a:t>j=0</a:t>
            </a:r>
            <a:r>
              <a:rPr lang="zh-CN" altLang="en-US" dirty="0"/>
              <a:t>表示农夫</a:t>
            </a:r>
            <a:r>
              <a:rPr lang="zh-CN" altLang="en-US" dirty="0">
                <a:latin typeface="Times New Roman" panose="02020603050405020304" pitchFamily="18" charset="0"/>
                <a:cs typeface="Times New Roman" panose="02020603050405020304" pitchFamily="18" charset="0"/>
              </a:rPr>
              <a:t>什么都不载）；</a:t>
            </a:r>
            <a:r>
              <a:rPr lang="en-US" altLang="zh-CN" dirty="0"/>
              <a:t> R(f</a:t>
            </a:r>
            <a:r>
              <a:rPr lang="zh-CN" altLang="en-US" dirty="0"/>
              <a:t>，</a:t>
            </a:r>
            <a:r>
              <a:rPr lang="en-US" altLang="zh-CN" dirty="0"/>
              <a:t>j)</a:t>
            </a:r>
            <a:r>
              <a:rPr lang="zh-CN" altLang="en-US" dirty="0"/>
              <a:t>表示从右岸把</a:t>
            </a:r>
            <a:r>
              <a:rPr lang="en-US" altLang="zh-CN" dirty="0"/>
              <a:t>j</a:t>
            </a:r>
            <a:r>
              <a:rPr lang="zh-CN" altLang="en-US" dirty="0"/>
              <a:t>样东西送到左岸</a:t>
            </a:r>
            <a:endParaRPr lang="en-US" altLang="zh-CN" dirty="0">
              <a:latin typeface="Times New Roman" panose="02020603050405020304" pitchFamily="18" charset="0"/>
              <a:cs typeface="Times New Roman" panose="02020603050405020304" pitchFamily="18" charset="0"/>
            </a:endParaRPr>
          </a:p>
          <a:p>
            <a:r>
              <a:rPr lang="en-US" altLang="zh-CN" dirty="0"/>
              <a:t>L(f</a:t>
            </a:r>
            <a:r>
              <a:rPr lang="zh-CN" altLang="en-US" dirty="0"/>
              <a:t>，</a:t>
            </a:r>
            <a:r>
              <a:rPr lang="en-US" altLang="zh-CN" dirty="0"/>
              <a:t>1) </a:t>
            </a:r>
            <a:r>
              <a:rPr lang="zh-CN" altLang="en-US" dirty="0"/>
              <a:t>则</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p>
        </p:txBody>
      </p:sp>
      <p:sp>
        <p:nvSpPr>
          <p:cNvPr id="6" name="右箭头 5"/>
          <p:cNvSpPr/>
          <p:nvPr/>
        </p:nvSpPr>
        <p:spPr>
          <a:xfrm>
            <a:off x="5349300" y="5069711"/>
            <a:ext cx="716574" cy="108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1101621" y="346616"/>
            <a:ext cx="7464387" cy="497934"/>
            <a:chOff x="4099943" y="2819853"/>
            <a:chExt cx="2570275"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构建思考题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385870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5601" y="1772817"/>
            <a:ext cx="6743763" cy="48549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847528" y="1268760"/>
            <a:ext cx="3168352" cy="523220"/>
          </a:xfrm>
          <a:prstGeom prst="rect">
            <a:avLst/>
          </a:prstGeom>
          <a:noFill/>
        </p:spPr>
        <p:txBody>
          <a:bodyPr wrap="square" rtlCol="0">
            <a:spAutoFit/>
          </a:bodyPr>
          <a:lstStyle/>
          <a:p>
            <a:pPr marL="457200" indent="-457200">
              <a:buClr>
                <a:srgbClr val="FF0000"/>
              </a:buClr>
              <a:buSzPct val="90000"/>
              <a:buFont typeface="Wingdings" panose="05000000000000000000" pitchFamily="2" charset="2"/>
              <a:buChar char="p"/>
            </a:pPr>
            <a:r>
              <a:rPr lang="zh-CN" altLang="en-US" sz="2800" dirty="0">
                <a:effectLst>
                  <a:outerShdw blurRad="38100" dist="38100" dir="2700000" algn="tl">
                    <a:srgbClr val="000000">
                      <a:alpha val="43137"/>
                    </a:srgbClr>
                  </a:outerShdw>
                </a:effectLst>
              </a:rPr>
              <a:t>搜索树</a:t>
            </a:r>
          </a:p>
        </p:txBody>
      </p:sp>
      <p:grpSp>
        <p:nvGrpSpPr>
          <p:cNvPr id="6" name="组合 5"/>
          <p:cNvGrpSpPr/>
          <p:nvPr/>
        </p:nvGrpSpPr>
        <p:grpSpPr>
          <a:xfrm>
            <a:off x="1101621" y="346616"/>
            <a:ext cx="7464387"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矩形 8"/>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搜索树</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构建思考题</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804574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94367" y="2038049"/>
            <a:ext cx="2974362" cy="950256"/>
            <a:chOff x="422953" y="1892526"/>
            <a:chExt cx="2974362" cy="950256"/>
          </a:xfrm>
        </p:grpSpPr>
        <p:sp>
          <p:nvSpPr>
            <p:cNvPr id="24" name="文本框 23"/>
            <p:cNvSpPr txBox="1"/>
            <p:nvPr/>
          </p:nvSpPr>
          <p:spPr>
            <a:xfrm>
              <a:off x="750437" y="2114249"/>
              <a:ext cx="2646878" cy="728533"/>
            </a:xfrm>
            <a:prstGeom prst="rect">
              <a:avLst/>
            </a:prstGeom>
            <a:noFill/>
          </p:spPr>
          <p:txBody>
            <a:bodyPr wrap="none" rtlCol="0">
              <a:spAutoFit/>
            </a:bodyPr>
            <a:lstStyle/>
            <a:p>
              <a:pPr>
                <a:lnSpc>
                  <a:spcPct val="200000"/>
                </a:lnSpc>
              </a:pPr>
              <a:r>
                <a:rPr lang="zh-CN" altLang="en-US" sz="2400" b="1" dirty="0">
                  <a:solidFill>
                    <a:srgbClr val="24569D"/>
                  </a:solidFill>
                </a:rPr>
                <a:t>搜索的形式化描述</a:t>
              </a:r>
              <a:endParaRPr lang="en-US" altLang="zh-CN" sz="2400" b="1" dirty="0">
                <a:solidFill>
                  <a:srgbClr val="24569D"/>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339102" cy="461665"/>
          </a:xfrm>
          <a:prstGeom prst="rect">
            <a:avLst/>
          </a:prstGeom>
          <a:noFill/>
        </p:spPr>
        <p:txBody>
          <a:bodyPr wrap="none" rtlCol="0">
            <a:spAutoFit/>
          </a:bodyPr>
          <a:lstStyle/>
          <a:p>
            <a:r>
              <a:rPr lang="zh-CN" altLang="en-US" sz="2400" b="1" dirty="0" smtClean="0">
                <a:solidFill>
                  <a:srgbClr val="24569D"/>
                </a:solidFill>
              </a:rPr>
              <a:t>性能分析和案例</a:t>
            </a:r>
            <a:endParaRPr lang="zh-CN" altLang="en-US" sz="2400" b="1" dirty="0">
              <a:solidFill>
                <a:srgbClr val="24569D"/>
              </a:solidFill>
            </a:endParaRP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441833" y="2411796"/>
            <a:ext cx="1723549" cy="461665"/>
          </a:xfrm>
          <a:prstGeom prst="rect">
            <a:avLst/>
          </a:prstGeom>
          <a:noFill/>
        </p:spPr>
        <p:txBody>
          <a:bodyPr wrap="none" rtlCol="0">
            <a:spAutoFit/>
          </a:bodyPr>
          <a:lstStyle/>
          <a:p>
            <a:r>
              <a:rPr lang="zh-CN" altLang="en-US" sz="2400" b="1" dirty="0">
                <a:solidFill>
                  <a:srgbClr val="24569D"/>
                </a:solidFill>
              </a:rPr>
              <a:t>搜索树构建</a:t>
            </a:r>
          </a:p>
        </p:txBody>
      </p:sp>
      <p:sp>
        <p:nvSpPr>
          <p:cNvPr id="29" name="矩形 28"/>
          <p:cNvSpPr/>
          <p:nvPr/>
        </p:nvSpPr>
        <p:spPr>
          <a:xfrm>
            <a:off x="1648515" y="4869981"/>
            <a:ext cx="1723549" cy="461665"/>
          </a:xfrm>
          <a:prstGeom prst="rect">
            <a:avLst/>
          </a:prstGeom>
        </p:spPr>
        <p:txBody>
          <a:bodyPr wrap="none">
            <a:spAutoFit/>
          </a:bodyPr>
          <a:lstStyle/>
          <a:p>
            <a:pPr lvl="0"/>
            <a:r>
              <a:rPr lang="zh-CN" altLang="en-US" sz="2400" b="1" dirty="0" smtClean="0">
                <a:solidFill>
                  <a:srgbClr val="FF0000"/>
                </a:solidFill>
              </a:rPr>
              <a:t>启发式搜索</a:t>
            </a:r>
            <a:endParaRPr lang="zh-CN" altLang="en-US" sz="2400" b="1" dirty="0">
              <a:solidFill>
                <a:srgbClr val="FF0000"/>
              </a:solidFill>
            </a:endParaRPr>
          </a:p>
        </p:txBody>
      </p:sp>
    </p:spTree>
    <p:extLst>
      <p:ext uri="{BB962C8B-B14F-4D97-AF65-F5344CB8AC3E}">
        <p14:creationId xmlns:p14="http://schemas.microsoft.com/office/powerpoint/2010/main" val="2574787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3155" name="Rectangle 3"/>
          <p:cNvSpPr>
            <a:spLocks noGrp="1" noChangeArrowheads="1"/>
          </p:cNvSpPr>
          <p:nvPr>
            <p:ph idx="1"/>
          </p:nvPr>
        </p:nvSpPr>
        <p:spPr>
          <a:xfrm>
            <a:off x="458273" y="1709715"/>
            <a:ext cx="10515600" cy="4351338"/>
          </a:xfrm>
        </p:spPr>
        <p:txBody>
          <a:bodyPr>
            <a:noAutofit/>
          </a:bodyPr>
          <a:lstStyle/>
          <a:p>
            <a:pPr>
              <a:buClr>
                <a:srgbClr val="FF0000"/>
              </a:buClr>
              <a:buSzPct val="90000"/>
              <a:buFont typeface="Wingdings" panose="05000000000000000000" pitchFamily="2" charset="2"/>
              <a:buChar char="p"/>
            </a:pPr>
            <a:r>
              <a:rPr lang="zh-CN" altLang="en-US" b="1" dirty="0" smtClean="0">
                <a:latin typeface="Times New Roman" pitchFamily="18" charset="0"/>
              </a:rPr>
              <a:t>搜索中需要解决的基本问题</a:t>
            </a:r>
            <a:r>
              <a:rPr lang="zh-CN" altLang="en-US" dirty="0" smtClean="0">
                <a:latin typeface="Times New Roman" pitchFamily="18" charset="0"/>
              </a:rPr>
              <a:t>：</a:t>
            </a:r>
          </a:p>
          <a:p>
            <a:pPr marL="990600" lvl="1" indent="-519113">
              <a:lnSpc>
                <a:spcPct val="120000"/>
              </a:lnSpc>
              <a:spcBef>
                <a:spcPts val="1800"/>
              </a:spcBef>
              <a:buClr>
                <a:schemeClr val="tx1"/>
              </a:buClr>
              <a:buNone/>
            </a:pPr>
            <a:r>
              <a:rPr lang="zh-CN" altLang="en-US" dirty="0">
                <a:latin typeface="Times New Roman" pitchFamily="18" charset="0"/>
              </a:rPr>
              <a:t>（</a:t>
            </a:r>
            <a:r>
              <a:rPr lang="en-US" altLang="zh-CN" dirty="0">
                <a:latin typeface="Times New Roman" pitchFamily="18" charset="0"/>
              </a:rPr>
              <a:t>1</a:t>
            </a:r>
            <a:r>
              <a:rPr lang="zh-CN" altLang="en-US" dirty="0">
                <a:latin typeface="Times New Roman" pitchFamily="18" charset="0"/>
              </a:rPr>
              <a:t>）是否一定能找到一个解</a:t>
            </a:r>
            <a:r>
              <a:rPr lang="zh-CN" altLang="en-US" dirty="0">
                <a:solidFill>
                  <a:srgbClr val="FF0000"/>
                </a:solidFill>
                <a:latin typeface="Times New Roman" pitchFamily="18" charset="0"/>
              </a:rPr>
              <a:t>（</a:t>
            </a:r>
            <a:r>
              <a:rPr lang="zh-CN" altLang="en-US" b="1" dirty="0">
                <a:solidFill>
                  <a:srgbClr val="FF0000"/>
                </a:solidFill>
              </a:rPr>
              <a:t>完备性）</a:t>
            </a:r>
            <a:r>
              <a:rPr lang="zh-CN" altLang="en-US" dirty="0">
                <a:latin typeface="Times New Roman" pitchFamily="18" charset="0"/>
              </a:rPr>
              <a:t>。</a:t>
            </a:r>
          </a:p>
          <a:p>
            <a:pPr marL="990600" lvl="1" indent="-519113">
              <a:lnSpc>
                <a:spcPct val="120000"/>
              </a:lnSpc>
              <a:spcBef>
                <a:spcPts val="1800"/>
              </a:spcBef>
              <a:buClr>
                <a:schemeClr val="tx1"/>
              </a:buClr>
              <a:buNone/>
            </a:pPr>
            <a:r>
              <a:rPr lang="zh-CN" altLang="en-US" dirty="0">
                <a:latin typeface="Times New Roman" pitchFamily="18" charset="0"/>
              </a:rPr>
              <a:t>（</a:t>
            </a:r>
            <a:r>
              <a:rPr lang="en-US" altLang="zh-CN" dirty="0">
                <a:latin typeface="Times New Roman" pitchFamily="18" charset="0"/>
              </a:rPr>
              <a:t>2</a:t>
            </a:r>
            <a:r>
              <a:rPr lang="zh-CN" altLang="en-US" dirty="0">
                <a:latin typeface="Times New Roman" pitchFamily="18" charset="0"/>
              </a:rPr>
              <a:t>）找到的解是否是最佳解。</a:t>
            </a:r>
            <a:r>
              <a:rPr lang="zh-CN" altLang="en-US" dirty="0">
                <a:solidFill>
                  <a:srgbClr val="FF0000"/>
                </a:solidFill>
                <a:latin typeface="Times New Roman" pitchFamily="18" charset="0"/>
              </a:rPr>
              <a:t>（</a:t>
            </a:r>
            <a:r>
              <a:rPr lang="zh-CN" altLang="en-US" b="1" dirty="0">
                <a:solidFill>
                  <a:srgbClr val="FF0000"/>
                </a:solidFill>
              </a:rPr>
              <a:t>最优性）</a:t>
            </a:r>
            <a:endParaRPr lang="zh-CN" altLang="en-US" dirty="0">
              <a:latin typeface="Times New Roman" pitchFamily="18" charset="0"/>
            </a:endParaRPr>
          </a:p>
          <a:p>
            <a:pPr marL="990600" lvl="1" indent="-519113">
              <a:lnSpc>
                <a:spcPct val="120000"/>
              </a:lnSpc>
              <a:spcBef>
                <a:spcPts val="1800"/>
              </a:spcBef>
              <a:buClr>
                <a:schemeClr val="tx1"/>
              </a:buClr>
              <a:buNone/>
            </a:pPr>
            <a:r>
              <a:rPr lang="zh-CN" altLang="en-US" dirty="0">
                <a:latin typeface="Times New Roman" pitchFamily="18" charset="0"/>
              </a:rPr>
              <a:t>（</a:t>
            </a:r>
            <a:r>
              <a:rPr lang="en-US" altLang="zh-CN" dirty="0">
                <a:latin typeface="Times New Roman" pitchFamily="18" charset="0"/>
              </a:rPr>
              <a:t>3</a:t>
            </a:r>
            <a:r>
              <a:rPr lang="zh-CN" altLang="en-US" dirty="0">
                <a:latin typeface="Times New Roman" pitchFamily="18" charset="0"/>
              </a:rPr>
              <a:t>）</a:t>
            </a:r>
            <a:r>
              <a:rPr lang="zh-CN" altLang="en-US" dirty="0"/>
              <a:t>找到解需要花费多长时间？</a:t>
            </a:r>
            <a:r>
              <a:rPr lang="zh-CN" altLang="en-US" dirty="0">
                <a:solidFill>
                  <a:srgbClr val="FF0000"/>
                </a:solidFill>
                <a:latin typeface="Times New Roman" pitchFamily="18" charset="0"/>
              </a:rPr>
              <a:t>（</a:t>
            </a:r>
            <a:r>
              <a:rPr lang="zh-CN" altLang="en-US" b="1" dirty="0">
                <a:solidFill>
                  <a:srgbClr val="FF0000"/>
                </a:solidFill>
              </a:rPr>
              <a:t>时间复杂度）</a:t>
            </a:r>
            <a:endParaRPr lang="en-US" altLang="zh-CN" b="1" dirty="0">
              <a:solidFill>
                <a:srgbClr val="FF0000"/>
              </a:solidFill>
            </a:endParaRPr>
          </a:p>
          <a:p>
            <a:pPr marL="990600" lvl="1" indent="-519113">
              <a:lnSpc>
                <a:spcPct val="120000"/>
              </a:lnSpc>
              <a:spcBef>
                <a:spcPts val="1800"/>
              </a:spcBef>
              <a:buClr>
                <a:schemeClr val="tx1"/>
              </a:buClr>
              <a:buNone/>
            </a:pPr>
            <a:r>
              <a:rPr lang="zh-CN" altLang="en-US" dirty="0"/>
              <a:t>（</a:t>
            </a:r>
            <a:r>
              <a:rPr lang="en-US" altLang="zh-CN" dirty="0"/>
              <a:t>4</a:t>
            </a:r>
            <a:r>
              <a:rPr lang="zh-CN" altLang="en-US" dirty="0"/>
              <a:t>）在执行搜索的过程中需要多少内存？</a:t>
            </a:r>
            <a:r>
              <a:rPr lang="zh-CN" altLang="en-US" b="1" dirty="0">
                <a:solidFill>
                  <a:srgbClr val="FF0000"/>
                </a:solidFill>
                <a:latin typeface="Times New Roman" pitchFamily="18" charset="0"/>
              </a:rPr>
              <a:t>（空间</a:t>
            </a:r>
            <a:r>
              <a:rPr lang="zh-CN" altLang="en-US" b="1" dirty="0">
                <a:solidFill>
                  <a:srgbClr val="FF0000"/>
                </a:solidFill>
              </a:rPr>
              <a:t>复杂度）</a:t>
            </a:r>
            <a:endParaRPr lang="en-US" altLang="zh-CN" b="1" dirty="0">
              <a:solidFill>
                <a:srgbClr val="FF0000"/>
              </a:solidFill>
            </a:endParaRPr>
          </a:p>
          <a:p>
            <a:pPr marL="990600" lvl="1" indent="-519113">
              <a:lnSpc>
                <a:spcPct val="120000"/>
              </a:lnSpc>
              <a:spcBef>
                <a:spcPts val="1800"/>
              </a:spcBef>
              <a:buClr>
                <a:schemeClr val="tx1"/>
              </a:buClr>
              <a:buNone/>
            </a:pPr>
            <a:r>
              <a:rPr lang="zh-CN" altLang="en-US" dirty="0">
                <a:latin typeface="Times New Roman" pitchFamily="18" charset="0"/>
              </a:rPr>
              <a:t>（</a:t>
            </a:r>
            <a:r>
              <a:rPr lang="en-US" altLang="zh-CN" dirty="0">
                <a:latin typeface="Times New Roman" pitchFamily="18" charset="0"/>
              </a:rPr>
              <a:t>5</a:t>
            </a:r>
            <a:r>
              <a:rPr lang="zh-CN" altLang="en-US" dirty="0">
                <a:latin typeface="Times New Roman" pitchFamily="18" charset="0"/>
              </a:rPr>
              <a:t>）是否终止运行或是否会陷入一个死循环。</a:t>
            </a:r>
          </a:p>
        </p:txBody>
      </p:sp>
      <p:sp>
        <p:nvSpPr>
          <p:cNvPr id="4" name="灯片编号占位符 3"/>
          <p:cNvSpPr>
            <a:spLocks noGrp="1"/>
          </p:cNvSpPr>
          <p:nvPr>
            <p:ph type="sldNum" sz="quarter" idx="12"/>
          </p:nvPr>
        </p:nvSpPr>
        <p:spPr/>
        <p:txBody>
          <a:bodyPr/>
          <a:lstStyle/>
          <a:p>
            <a:fld id="{1D4264D3-398D-4A3D-93E8-6B3491B5819B}" type="slidenum">
              <a:rPr lang="ja-JP" altLang="en-US" smtClean="0"/>
              <a:pPr/>
              <a:t>28</a:t>
            </a:fld>
            <a:endParaRPr lang="en-US" altLang="ja-JP"/>
          </a:p>
        </p:txBody>
      </p:sp>
      <p:grpSp>
        <p:nvGrpSpPr>
          <p:cNvPr id="5" name="组合 4"/>
          <p:cNvGrpSpPr/>
          <p:nvPr/>
        </p:nvGrpSpPr>
        <p:grpSpPr>
          <a:xfrm>
            <a:off x="1101621" y="346616"/>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spcBef>
                  <a:spcPct val="50000"/>
                </a:spcBef>
              </a:pP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搜索的基本问题与主要过程 </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615575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3155">
                                            <p:txEl>
                                              <p:pRg st="0" end="0"/>
                                            </p:txEl>
                                          </p:spTgt>
                                        </p:tgtEl>
                                        <p:attrNameLst>
                                          <p:attrName>style.visibility</p:attrName>
                                        </p:attrNameLst>
                                      </p:cBhvr>
                                      <p:to>
                                        <p:strVal val="visible"/>
                                      </p:to>
                                    </p:set>
                                    <p:animEffect transition="in" filter="blinds(horizontal)">
                                      <p:cBhvr>
                                        <p:cTn id="7" dur="500"/>
                                        <p:tgtEl>
                                          <p:spTgt spid="43315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33155">
                                            <p:txEl>
                                              <p:pRg st="1" end="1"/>
                                            </p:txEl>
                                          </p:spTgt>
                                        </p:tgtEl>
                                        <p:attrNameLst>
                                          <p:attrName>style.visibility</p:attrName>
                                        </p:attrNameLst>
                                      </p:cBhvr>
                                      <p:to>
                                        <p:strVal val="visible"/>
                                      </p:to>
                                    </p:set>
                                    <p:animEffect transition="in" filter="blinds(horizontal)">
                                      <p:cBhvr>
                                        <p:cTn id="10" dur="500"/>
                                        <p:tgtEl>
                                          <p:spTgt spid="43315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33155">
                                            <p:txEl>
                                              <p:pRg st="2" end="2"/>
                                            </p:txEl>
                                          </p:spTgt>
                                        </p:tgtEl>
                                        <p:attrNameLst>
                                          <p:attrName>style.visibility</p:attrName>
                                        </p:attrNameLst>
                                      </p:cBhvr>
                                      <p:to>
                                        <p:strVal val="visible"/>
                                      </p:to>
                                    </p:set>
                                    <p:animEffect transition="in" filter="blinds(horizontal)">
                                      <p:cBhvr>
                                        <p:cTn id="13" dur="500"/>
                                        <p:tgtEl>
                                          <p:spTgt spid="43315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33155">
                                            <p:txEl>
                                              <p:pRg st="3" end="3"/>
                                            </p:txEl>
                                          </p:spTgt>
                                        </p:tgtEl>
                                        <p:attrNameLst>
                                          <p:attrName>style.visibility</p:attrName>
                                        </p:attrNameLst>
                                      </p:cBhvr>
                                      <p:to>
                                        <p:strVal val="visible"/>
                                      </p:to>
                                    </p:set>
                                    <p:animEffect transition="in" filter="blinds(horizontal)">
                                      <p:cBhvr>
                                        <p:cTn id="16" dur="500"/>
                                        <p:tgtEl>
                                          <p:spTgt spid="43315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33155">
                                            <p:txEl>
                                              <p:pRg st="4" end="4"/>
                                            </p:txEl>
                                          </p:spTgt>
                                        </p:tgtEl>
                                        <p:attrNameLst>
                                          <p:attrName>style.visibility</p:attrName>
                                        </p:attrNameLst>
                                      </p:cBhvr>
                                      <p:to>
                                        <p:strVal val="visible"/>
                                      </p:to>
                                    </p:set>
                                    <p:animEffect transition="in" filter="blinds(horizontal)">
                                      <p:cBhvr>
                                        <p:cTn id="19" dur="500"/>
                                        <p:tgtEl>
                                          <p:spTgt spid="433155">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33155">
                                            <p:txEl>
                                              <p:pRg st="5" end="5"/>
                                            </p:txEl>
                                          </p:spTgt>
                                        </p:tgtEl>
                                        <p:attrNameLst>
                                          <p:attrName>style.visibility</p:attrName>
                                        </p:attrNameLst>
                                      </p:cBhvr>
                                      <p:to>
                                        <p:strVal val="visible"/>
                                      </p:to>
                                    </p:set>
                                    <p:animEffect transition="in" filter="blinds(horizontal)">
                                      <p:cBhvr>
                                        <p:cTn id="22" dur="500"/>
                                        <p:tgtEl>
                                          <p:spTgt spid="4331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5203" name="Rectangle 3"/>
          <p:cNvSpPr>
            <a:spLocks noGrp="1" noChangeArrowheads="1"/>
          </p:cNvSpPr>
          <p:nvPr>
            <p:ph idx="1"/>
          </p:nvPr>
        </p:nvSpPr>
        <p:spPr>
          <a:xfrm>
            <a:off x="686212" y="1149678"/>
            <a:ext cx="8229600" cy="4525963"/>
          </a:xfrm>
        </p:spPr>
        <p:txBody>
          <a:bodyPr/>
          <a:lstStyle/>
          <a:p>
            <a:pPr>
              <a:spcBef>
                <a:spcPct val="10000"/>
              </a:spcBef>
              <a:buClr>
                <a:srgbClr val="FF0000"/>
              </a:buClr>
              <a:buSzPct val="90000"/>
              <a:buFont typeface="Wingdings" panose="05000000000000000000" pitchFamily="2" charset="2"/>
              <a:buChar char="p"/>
            </a:pPr>
            <a:r>
              <a:rPr lang="en-US" altLang="zh-CN" b="1" dirty="0">
                <a:latin typeface="Times New Roman" pitchFamily="18" charset="0"/>
              </a:rPr>
              <a:t>1.  </a:t>
            </a:r>
            <a:r>
              <a:rPr lang="zh-CN" altLang="en-US" b="1" dirty="0">
                <a:latin typeface="Times New Roman" pitchFamily="18" charset="0"/>
              </a:rPr>
              <a:t>搜索方向</a:t>
            </a:r>
            <a:r>
              <a:rPr lang="zh-CN" altLang="en-US" dirty="0">
                <a:latin typeface="Times New Roman" pitchFamily="18" charset="0"/>
              </a:rPr>
              <a:t>：</a:t>
            </a:r>
          </a:p>
          <a:p>
            <a:pPr marL="566738" indent="-566738">
              <a:spcBef>
                <a:spcPct val="10000"/>
              </a:spcBef>
              <a:buNone/>
            </a:pPr>
            <a:r>
              <a:rPr lang="zh-CN" altLang="en-US" dirty="0">
                <a:latin typeface="Times New Roman" pitchFamily="18" charset="0"/>
              </a:rPr>
              <a:t>    </a:t>
            </a:r>
            <a:r>
              <a:rPr lang="en-US" altLang="zh-CN" sz="2400" dirty="0">
                <a:latin typeface="Times New Roman" pitchFamily="18" charset="0"/>
              </a:rPr>
              <a:t>(1) </a:t>
            </a:r>
            <a:r>
              <a:rPr lang="zh-CN" altLang="en-US" sz="2400" b="1" dirty="0">
                <a:solidFill>
                  <a:schemeClr val="accent2"/>
                </a:solidFill>
                <a:latin typeface="Times New Roman" pitchFamily="18" charset="0"/>
              </a:rPr>
              <a:t>数据驱动</a:t>
            </a:r>
            <a:r>
              <a:rPr lang="zh-CN" altLang="en-US" sz="2400" dirty="0">
                <a:latin typeface="Times New Roman" pitchFamily="18" charset="0"/>
              </a:rPr>
              <a:t>：从初始状态出发的正向搜索</a:t>
            </a:r>
            <a:r>
              <a:rPr lang="zh-CN" altLang="en-US" dirty="0">
                <a:latin typeface="Times New Roman" pitchFamily="18" charset="0"/>
              </a:rPr>
              <a:t>。      </a:t>
            </a:r>
          </a:p>
        </p:txBody>
      </p:sp>
      <p:sp>
        <p:nvSpPr>
          <p:cNvPr id="9" name="灯片编号占位符 3"/>
          <p:cNvSpPr>
            <a:spLocks noGrp="1"/>
          </p:cNvSpPr>
          <p:nvPr>
            <p:ph type="sldNum" sz="quarter" idx="10"/>
          </p:nvPr>
        </p:nvSpPr>
        <p:spPr/>
        <p:txBody>
          <a:bodyPr/>
          <a:lstStyle/>
          <a:p>
            <a:fld id="{CE7AA442-7739-4107-ABC2-4449D2748AA7}" type="slidenum">
              <a:rPr lang="ja-JP" altLang="en-US"/>
              <a:pPr/>
              <a:t>29</a:t>
            </a:fld>
            <a:endParaRPr lang="en-US" altLang="ja-JP"/>
          </a:p>
        </p:txBody>
      </p:sp>
      <p:sp>
        <p:nvSpPr>
          <p:cNvPr id="435204" name="Text Box 4"/>
          <p:cNvSpPr txBox="1">
            <a:spLocks noChangeArrowheads="1"/>
          </p:cNvSpPr>
          <p:nvPr/>
        </p:nvSpPr>
        <p:spPr bwMode="auto">
          <a:xfrm>
            <a:off x="1847851" y="2210470"/>
            <a:ext cx="8569325" cy="535531"/>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40000"/>
              </a:spcBef>
              <a:buClr>
                <a:schemeClr val="accent2"/>
              </a:buClr>
              <a:buFont typeface="Wingdings" pitchFamily="2" charset="2"/>
              <a:buNone/>
            </a:pPr>
            <a:r>
              <a:rPr lang="zh-CN" altLang="en-US" sz="2400" b="1" dirty="0">
                <a:solidFill>
                  <a:schemeClr val="folHlink"/>
                </a:solidFill>
                <a:latin typeface="Arial" pitchFamily="34" charset="0"/>
              </a:rPr>
              <a:t>正向搜索</a:t>
            </a:r>
            <a:r>
              <a:rPr lang="en-US" altLang="zh-CN" sz="2400" dirty="0">
                <a:latin typeface="Arial" pitchFamily="34" charset="0"/>
              </a:rPr>
              <a:t>——</a:t>
            </a:r>
            <a:r>
              <a:rPr lang="zh-CN" altLang="en-US" sz="2400" dirty="0">
                <a:latin typeface="Arial" pitchFamily="34" charset="0"/>
              </a:rPr>
              <a:t>从问题给出的条件出发。</a:t>
            </a:r>
          </a:p>
        </p:txBody>
      </p:sp>
      <p:sp>
        <p:nvSpPr>
          <p:cNvPr id="435205" name="Text Box 5"/>
          <p:cNvSpPr txBox="1">
            <a:spLocks noChangeArrowheads="1"/>
          </p:cNvSpPr>
          <p:nvPr/>
        </p:nvSpPr>
        <p:spPr bwMode="auto">
          <a:xfrm>
            <a:off x="1774825" y="3357564"/>
            <a:ext cx="8642350" cy="978729"/>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40000"/>
              </a:spcBef>
              <a:buClr>
                <a:schemeClr val="accent2"/>
              </a:buClr>
              <a:buFont typeface="Wingdings" pitchFamily="2" charset="2"/>
              <a:buNone/>
            </a:pPr>
            <a:r>
              <a:rPr lang="zh-CN" altLang="en-US" sz="2400" b="1" dirty="0">
                <a:solidFill>
                  <a:schemeClr val="folHlink"/>
                </a:solidFill>
                <a:latin typeface="Arial" pitchFamily="34" charset="0"/>
              </a:rPr>
              <a:t>逆向搜索</a:t>
            </a:r>
            <a:r>
              <a:rPr lang="zh-CN" altLang="en-US" sz="2400" dirty="0">
                <a:latin typeface="Arial" pitchFamily="34" charset="0"/>
              </a:rPr>
              <a:t>：从想达到的目的入手，看哪些操作算子能产生该目的以及应用这些操作算子产生目的时需要哪些条件。</a:t>
            </a:r>
          </a:p>
        </p:txBody>
      </p:sp>
      <p:sp>
        <p:nvSpPr>
          <p:cNvPr id="435206" name="Text Box 6"/>
          <p:cNvSpPr txBox="1">
            <a:spLocks noChangeArrowheads="1"/>
          </p:cNvSpPr>
          <p:nvPr/>
        </p:nvSpPr>
        <p:spPr bwMode="auto">
          <a:xfrm>
            <a:off x="1847528" y="2701951"/>
            <a:ext cx="83058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40000"/>
              </a:spcBef>
              <a:buClr>
                <a:schemeClr val="accent2"/>
              </a:buClr>
              <a:buFont typeface="Wingdings" pitchFamily="2" charset="2"/>
              <a:buNone/>
            </a:pPr>
            <a:r>
              <a:rPr lang="en-US" altLang="zh-CN" sz="2400" dirty="0">
                <a:latin typeface="Times New Roman" pitchFamily="18" charset="0"/>
              </a:rPr>
              <a:t>       (2) </a:t>
            </a:r>
            <a:r>
              <a:rPr lang="zh-CN" altLang="en-US" sz="2400" b="1" dirty="0">
                <a:solidFill>
                  <a:schemeClr val="accent2"/>
                </a:solidFill>
                <a:latin typeface="Times New Roman" pitchFamily="18" charset="0"/>
              </a:rPr>
              <a:t>目的驱动</a:t>
            </a:r>
            <a:r>
              <a:rPr lang="zh-CN" altLang="en-US" sz="2400" dirty="0">
                <a:latin typeface="Times New Roman" pitchFamily="18" charset="0"/>
              </a:rPr>
              <a:t>：从目的</a:t>
            </a:r>
            <a:r>
              <a:rPr lang="zh-CN" altLang="en-US" sz="2400" dirty="0">
                <a:latin typeface="Arial" pitchFamily="34" charset="0"/>
              </a:rPr>
              <a:t>状态出发的逆向搜索。</a:t>
            </a:r>
          </a:p>
        </p:txBody>
      </p:sp>
      <p:sp>
        <p:nvSpPr>
          <p:cNvPr id="435207" name="Text Box 7"/>
          <p:cNvSpPr txBox="1">
            <a:spLocks noChangeArrowheads="1"/>
          </p:cNvSpPr>
          <p:nvPr/>
        </p:nvSpPr>
        <p:spPr bwMode="auto">
          <a:xfrm>
            <a:off x="1811338" y="5013177"/>
            <a:ext cx="8569325" cy="978729"/>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40000"/>
              </a:spcBef>
              <a:buClr>
                <a:schemeClr val="accent2"/>
              </a:buClr>
              <a:buFont typeface="Wingdings" pitchFamily="2" charset="2"/>
              <a:buNone/>
            </a:pPr>
            <a:r>
              <a:rPr lang="zh-CN" altLang="en-US" sz="2400" b="1" dirty="0">
                <a:solidFill>
                  <a:schemeClr val="folHlink"/>
                </a:solidFill>
                <a:latin typeface="Arial" pitchFamily="34" charset="0"/>
              </a:rPr>
              <a:t>双向搜索</a:t>
            </a:r>
            <a:r>
              <a:rPr lang="zh-CN" altLang="en-US" sz="2400" dirty="0">
                <a:latin typeface="Arial" pitchFamily="34" charset="0"/>
              </a:rPr>
              <a:t>：从开始状态出发作正向搜索，同时又从目的状态出发作逆向搜索，直到两条路径在中间的某处汇合为止。</a:t>
            </a:r>
          </a:p>
        </p:txBody>
      </p:sp>
      <p:sp>
        <p:nvSpPr>
          <p:cNvPr id="435208" name="Text Box 8"/>
          <p:cNvSpPr txBox="1">
            <a:spLocks noChangeArrowheads="1"/>
          </p:cNvSpPr>
          <p:nvPr/>
        </p:nvSpPr>
        <p:spPr bwMode="auto">
          <a:xfrm>
            <a:off x="2423593" y="4437113"/>
            <a:ext cx="1877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Arial" pitchFamily="34" charset="0"/>
              </a:rPr>
              <a:t>(3) </a:t>
            </a:r>
            <a:r>
              <a:rPr lang="zh-CN" altLang="en-US" sz="2400" b="1" dirty="0">
                <a:solidFill>
                  <a:schemeClr val="accent2"/>
                </a:solidFill>
                <a:latin typeface="Times New Roman" pitchFamily="18" charset="0"/>
              </a:rPr>
              <a:t>双向搜索</a:t>
            </a:r>
          </a:p>
        </p:txBody>
      </p:sp>
      <p:sp>
        <p:nvSpPr>
          <p:cNvPr id="2" name="矩形 1"/>
          <p:cNvSpPr/>
          <p:nvPr/>
        </p:nvSpPr>
        <p:spPr>
          <a:xfrm>
            <a:off x="686212" y="6040314"/>
            <a:ext cx="4830168" cy="997196"/>
          </a:xfrm>
          <a:prstGeom prst="rect">
            <a:avLst/>
          </a:prstGeom>
        </p:spPr>
        <p:txBody>
          <a:bodyPr wrap="none">
            <a:spAutoFit/>
          </a:bodyPr>
          <a:lstStyle/>
          <a:p>
            <a:pPr>
              <a:spcBef>
                <a:spcPct val="10000"/>
              </a:spcBef>
              <a:buClr>
                <a:srgbClr val="FF0000"/>
              </a:buClr>
              <a:buSzPct val="90000"/>
              <a:buFont typeface="Wingdings" panose="05000000000000000000" pitchFamily="2" charset="2"/>
              <a:buChar char="p"/>
            </a:pPr>
            <a:r>
              <a:rPr lang="en-US" altLang="zh-CN" sz="2800" b="1" dirty="0">
                <a:latin typeface="Times New Roman" pitchFamily="18" charset="0"/>
              </a:rPr>
              <a:t>2.</a:t>
            </a:r>
            <a:r>
              <a:rPr lang="zh-CN" altLang="en-US" sz="2800" b="1" dirty="0">
                <a:latin typeface="Times New Roman" pitchFamily="18" charset="0"/>
              </a:rPr>
              <a:t>无信息搜索与启发式搜索</a:t>
            </a:r>
            <a:r>
              <a:rPr lang="en-US" altLang="zh-CN" sz="2800" b="1" dirty="0">
                <a:latin typeface="Times New Roman" pitchFamily="18" charset="0"/>
              </a:rPr>
              <a:t>:</a:t>
            </a:r>
          </a:p>
          <a:p>
            <a:pPr>
              <a:spcBef>
                <a:spcPct val="10000"/>
              </a:spcBef>
              <a:buClr>
                <a:srgbClr val="FF0000"/>
              </a:buClr>
              <a:buSzPct val="90000"/>
            </a:pPr>
            <a:endParaRPr lang="zh-CN" altLang="en-US" sz="2800" b="1" dirty="0">
              <a:latin typeface="Times New Roman" pitchFamily="18" charset="0"/>
            </a:endParaRPr>
          </a:p>
        </p:txBody>
      </p:sp>
      <p:grpSp>
        <p:nvGrpSpPr>
          <p:cNvPr id="12" name="组合 11"/>
          <p:cNvGrpSpPr/>
          <p:nvPr/>
        </p:nvGrpSpPr>
        <p:grpSpPr>
          <a:xfrm>
            <a:off x="1101621" y="346616"/>
            <a:ext cx="7464387" cy="497934"/>
            <a:chOff x="4099943" y="2819853"/>
            <a:chExt cx="2570275" cy="497934"/>
          </a:xfrm>
        </p:grpSpPr>
        <p:sp>
          <p:nvSpPr>
            <p:cNvPr id="13" name="平行四边形 1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平行四边形 13"/>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5" name="矩形 14"/>
            <p:cNvSpPr/>
            <p:nvPr/>
          </p:nvSpPr>
          <p:spPr>
            <a:xfrm>
              <a:off x="4216534" y="2853798"/>
              <a:ext cx="2359684" cy="461665"/>
            </a:xfrm>
            <a:prstGeom prst="rect">
              <a:avLst/>
            </a:prstGeom>
          </p:spPr>
          <p:txBody>
            <a:bodyPr wrap="square">
              <a:spAutoFit/>
            </a:bodyPr>
            <a:lstStyle/>
            <a:p>
              <a:pPr algn="ctr">
                <a:spcBef>
                  <a:spcPct val="50000"/>
                </a:spcBef>
              </a:pP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搜索策略</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20509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5203">
                                            <p:txEl>
                                              <p:pRg st="0" end="0"/>
                                            </p:txEl>
                                          </p:spTgt>
                                        </p:tgtEl>
                                        <p:attrNameLst>
                                          <p:attrName>style.visibility</p:attrName>
                                        </p:attrNameLst>
                                      </p:cBhvr>
                                      <p:to>
                                        <p:strVal val="visible"/>
                                      </p:to>
                                    </p:set>
                                    <p:animEffect transition="in" filter="blinds(horizontal)">
                                      <p:cBhvr>
                                        <p:cTn id="7" dur="500"/>
                                        <p:tgtEl>
                                          <p:spTgt spid="4352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5203">
                                            <p:txEl>
                                              <p:pRg st="1" end="1"/>
                                            </p:txEl>
                                          </p:spTgt>
                                        </p:tgtEl>
                                        <p:attrNameLst>
                                          <p:attrName>style.visibility</p:attrName>
                                        </p:attrNameLst>
                                      </p:cBhvr>
                                      <p:to>
                                        <p:strVal val="visible"/>
                                      </p:to>
                                    </p:set>
                                    <p:animEffect transition="in" filter="blinds(horizontal)">
                                      <p:cBhvr>
                                        <p:cTn id="12" dur="500"/>
                                        <p:tgtEl>
                                          <p:spTgt spid="4352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35204"/>
                                        </p:tgtEl>
                                        <p:attrNameLst>
                                          <p:attrName>style.visibility</p:attrName>
                                        </p:attrNameLst>
                                      </p:cBhvr>
                                      <p:to>
                                        <p:strVal val="visible"/>
                                      </p:to>
                                    </p:set>
                                    <p:animEffect transition="in" filter="slide(fromBottom)">
                                      <p:cBhvr>
                                        <p:cTn id="17" dur="500"/>
                                        <p:tgtEl>
                                          <p:spTgt spid="4352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5206"/>
                                        </p:tgtEl>
                                        <p:attrNameLst>
                                          <p:attrName>style.visibility</p:attrName>
                                        </p:attrNameLst>
                                      </p:cBhvr>
                                      <p:to>
                                        <p:strVal val="visible"/>
                                      </p:to>
                                    </p:set>
                                    <p:animEffect transition="in" filter="blinds(horizontal)">
                                      <p:cBhvr>
                                        <p:cTn id="22" dur="500"/>
                                        <p:tgtEl>
                                          <p:spTgt spid="4352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35205"/>
                                        </p:tgtEl>
                                        <p:attrNameLst>
                                          <p:attrName>style.visibility</p:attrName>
                                        </p:attrNameLst>
                                      </p:cBhvr>
                                      <p:to>
                                        <p:strVal val="visible"/>
                                      </p:to>
                                    </p:set>
                                    <p:animEffect transition="in" filter="slide(fromBottom)">
                                      <p:cBhvr>
                                        <p:cTn id="27" dur="500"/>
                                        <p:tgtEl>
                                          <p:spTgt spid="4352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435207"/>
                                        </p:tgtEl>
                                        <p:attrNameLst>
                                          <p:attrName>style.visibility</p:attrName>
                                        </p:attrNameLst>
                                      </p:cBhvr>
                                      <p:to>
                                        <p:strVal val="visible"/>
                                      </p:to>
                                    </p:set>
                                    <p:animEffect transition="in" filter="slide(fromBottom)">
                                      <p:cBhvr>
                                        <p:cTn id="32" dur="500"/>
                                        <p:tgtEl>
                                          <p:spTgt spid="435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build="p" autoUpdateAnimBg="0"/>
      <p:bldP spid="435204" grpId="0" animBg="1" autoUpdateAnimBg="0"/>
      <p:bldP spid="435205" grpId="0" animBg="1" autoUpdateAnimBg="0"/>
      <p:bldP spid="435206" grpId="0" autoUpdateAnimBg="0"/>
      <p:bldP spid="435207"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6227" name="Rectangle 3"/>
          <p:cNvSpPr>
            <a:spLocks noGrp="1" noChangeArrowheads="1"/>
          </p:cNvSpPr>
          <p:nvPr>
            <p:ph idx="1"/>
          </p:nvPr>
        </p:nvSpPr>
        <p:spPr>
          <a:xfrm>
            <a:off x="561917" y="1205541"/>
            <a:ext cx="10694217" cy="5400675"/>
          </a:xfrm>
        </p:spPr>
        <p:txBody>
          <a:bodyPr>
            <a:normAutofit/>
          </a:bodyPr>
          <a:lstStyle/>
          <a:p>
            <a:pPr algn="just">
              <a:buClr>
                <a:srgbClr val="FF0000"/>
              </a:buClr>
              <a:buFont typeface="Wingdings" panose="05000000000000000000" pitchFamily="2" charset="2"/>
              <a:buChar char="p"/>
            </a:pPr>
            <a:r>
              <a:rPr lang="zh-CN" altLang="en-US" b="1" dirty="0">
                <a:latin typeface="Times New Roman" pitchFamily="18" charset="0"/>
              </a:rPr>
              <a:t>什么是无信息搜索？</a:t>
            </a:r>
            <a:endParaRPr lang="en-US" altLang="zh-CN" b="1" dirty="0">
              <a:latin typeface="Times New Roman" pitchFamily="18" charset="0"/>
            </a:endParaRPr>
          </a:p>
          <a:p>
            <a:pPr algn="just">
              <a:lnSpc>
                <a:spcPct val="150000"/>
              </a:lnSpc>
              <a:buClr>
                <a:srgbClr val="FF000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无信息搜索也被称为盲目搜索。 </a:t>
            </a:r>
            <a:endParaRPr lang="en-US" altLang="zh-CN" sz="2400" dirty="0">
              <a:latin typeface="微软雅黑" panose="020B0503020204020204" pitchFamily="34" charset="-122"/>
              <a:ea typeface="微软雅黑" panose="020B0503020204020204" pitchFamily="34" charset="-122"/>
            </a:endParaRPr>
          </a:p>
          <a:p>
            <a:pPr algn="just">
              <a:lnSpc>
                <a:spcPct val="150000"/>
              </a:lnSpc>
              <a:buClr>
                <a:srgbClr val="FF000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该术语（无信息、盲目的）意味着该搜索策略没有超出问题定义提供的状态之外的附加信息。</a:t>
            </a:r>
            <a:endParaRPr lang="en-US" altLang="zh-CN" sz="2400" dirty="0">
              <a:latin typeface="微软雅黑" panose="020B0503020204020204" pitchFamily="34" charset="-122"/>
              <a:ea typeface="微软雅黑" panose="020B0503020204020204" pitchFamily="34" charset="-122"/>
            </a:endParaRPr>
          </a:p>
          <a:p>
            <a:pPr algn="just">
              <a:lnSpc>
                <a:spcPct val="150000"/>
              </a:lnSpc>
              <a:buClr>
                <a:srgbClr val="FF000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所有能做的就是生成后继结点，并且从区分一个目标状态或一个非目标状态。</a:t>
            </a:r>
            <a:endParaRPr lang="en-US" altLang="zh-CN" sz="2400" dirty="0">
              <a:latin typeface="微软雅黑" panose="020B0503020204020204" pitchFamily="34" charset="-122"/>
              <a:ea typeface="微软雅黑" panose="020B0503020204020204" pitchFamily="34" charset="-122"/>
            </a:endParaRPr>
          </a:p>
          <a:p>
            <a:pPr algn="just">
              <a:lnSpc>
                <a:spcPct val="150000"/>
              </a:lnSpc>
              <a:buClr>
                <a:srgbClr val="FF000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所有的搜索策略是由节点扩展的顺序加以区分。</a:t>
            </a:r>
            <a:endParaRPr lang="en-US" altLang="zh-CN" sz="2400" dirty="0">
              <a:latin typeface="微软雅黑" panose="020B0503020204020204" pitchFamily="34" charset="-122"/>
              <a:ea typeface="微软雅黑" panose="020B0503020204020204" pitchFamily="34" charset="-122"/>
            </a:endParaRPr>
          </a:p>
          <a:p>
            <a:pPr algn="just">
              <a:lnSpc>
                <a:spcPct val="150000"/>
              </a:lnSpc>
              <a:buClr>
                <a:srgbClr val="FF000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这些搜索策略是：宽度优先、深度优先、以及一致代价</a:t>
            </a:r>
            <a:r>
              <a:rPr lang="zh-CN" altLang="en-US" sz="2400" dirty="0" smtClean="0">
                <a:latin typeface="微软雅黑" panose="020B0503020204020204" pitchFamily="34" charset="-122"/>
                <a:ea typeface="微软雅黑" panose="020B0503020204020204" pitchFamily="34" charset="-122"/>
              </a:rPr>
              <a:t>搜索</a:t>
            </a:r>
            <a:r>
              <a:rPr lang="zh-CN" altLang="en-US" sz="1600" dirty="0" smtClean="0">
                <a:solidFill>
                  <a:srgbClr val="FF0000"/>
                </a:solidFill>
                <a:latin typeface="微软雅黑" panose="020B0503020204020204" pitchFamily="34" charset="-122"/>
                <a:ea typeface="微软雅黑" panose="020B0503020204020204" pitchFamily="34" charset="-122"/>
              </a:rPr>
              <a:t>（数据结构中已经学过）。</a:t>
            </a:r>
            <a:endParaRPr lang="en-US" altLang="zh-CN" sz="1600" b="1" dirty="0">
              <a:solidFill>
                <a:srgbClr val="FF0000"/>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74B32F4D-1FF4-427B-ABC2-041C48ECD02E}" type="slidenum">
              <a:rPr lang="ja-JP" altLang="en-US"/>
              <a:pPr/>
              <a:t>30</a:t>
            </a:fld>
            <a:endParaRPr lang="en-US" altLang="ja-JP"/>
          </a:p>
        </p:txBody>
      </p:sp>
      <p:grpSp>
        <p:nvGrpSpPr>
          <p:cNvPr id="5" name="组合 4"/>
          <p:cNvGrpSpPr/>
          <p:nvPr/>
        </p:nvGrpSpPr>
        <p:grpSpPr>
          <a:xfrm>
            <a:off x="914877" y="307979"/>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spcBef>
                  <a:spcPct val="50000"/>
                </a:spcBef>
              </a:pP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无信息搜索（盲目搜索</a:t>
              </a:r>
              <a:r>
                <a:rPr lang="zh-CN" altLang="en-US" sz="2400" dirty="0">
                  <a:effectLst>
                    <a:outerShdw blurRad="38100" dist="38100" dir="2700000" algn="tl">
                      <a:srgbClr val="000000">
                        <a:alpha val="43137"/>
                      </a:srgbClr>
                    </a:outerShdw>
                  </a:effectLst>
                  <a:latin typeface="Times New Roman" pitchFamily="18" charset="0"/>
                </a:rPr>
                <a:t>） </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1303452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6227">
                                            <p:txEl>
                                              <p:pRg st="0" end="0"/>
                                            </p:txEl>
                                          </p:spTgt>
                                        </p:tgtEl>
                                        <p:attrNameLst>
                                          <p:attrName>style.visibility</p:attrName>
                                        </p:attrNameLst>
                                      </p:cBhvr>
                                      <p:to>
                                        <p:strVal val="visible"/>
                                      </p:to>
                                    </p:set>
                                    <p:anim calcmode="lin" valueType="num">
                                      <p:cBhvr additive="base">
                                        <p:cTn id="7" dur="500" fill="hold"/>
                                        <p:tgtEl>
                                          <p:spTgt spid="4362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62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6227">
                                            <p:txEl>
                                              <p:pRg st="1" end="1"/>
                                            </p:txEl>
                                          </p:spTgt>
                                        </p:tgtEl>
                                        <p:attrNameLst>
                                          <p:attrName>style.visibility</p:attrName>
                                        </p:attrNameLst>
                                      </p:cBhvr>
                                      <p:to>
                                        <p:strVal val="visible"/>
                                      </p:to>
                                    </p:set>
                                    <p:anim calcmode="lin" valueType="num">
                                      <p:cBhvr additive="base">
                                        <p:cTn id="13" dur="500" fill="hold"/>
                                        <p:tgtEl>
                                          <p:spTgt spid="4362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62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6227">
                                            <p:txEl>
                                              <p:pRg st="2" end="2"/>
                                            </p:txEl>
                                          </p:spTgt>
                                        </p:tgtEl>
                                        <p:attrNameLst>
                                          <p:attrName>style.visibility</p:attrName>
                                        </p:attrNameLst>
                                      </p:cBhvr>
                                      <p:to>
                                        <p:strVal val="visible"/>
                                      </p:to>
                                    </p:set>
                                    <p:anim calcmode="lin" valueType="num">
                                      <p:cBhvr additive="base">
                                        <p:cTn id="19" dur="500" fill="hold"/>
                                        <p:tgtEl>
                                          <p:spTgt spid="4362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62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36227">
                                            <p:txEl>
                                              <p:pRg st="3" end="3"/>
                                            </p:txEl>
                                          </p:spTgt>
                                        </p:tgtEl>
                                        <p:attrNameLst>
                                          <p:attrName>style.visibility</p:attrName>
                                        </p:attrNameLst>
                                      </p:cBhvr>
                                      <p:to>
                                        <p:strVal val="visible"/>
                                      </p:to>
                                    </p:set>
                                    <p:anim calcmode="lin" valueType="num">
                                      <p:cBhvr additive="base">
                                        <p:cTn id="25" dur="500" fill="hold"/>
                                        <p:tgtEl>
                                          <p:spTgt spid="4362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362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36227">
                                            <p:txEl>
                                              <p:pRg st="4" end="4"/>
                                            </p:txEl>
                                          </p:spTgt>
                                        </p:tgtEl>
                                        <p:attrNameLst>
                                          <p:attrName>style.visibility</p:attrName>
                                        </p:attrNameLst>
                                      </p:cBhvr>
                                      <p:to>
                                        <p:strVal val="visible"/>
                                      </p:to>
                                    </p:set>
                                    <p:anim calcmode="lin" valueType="num">
                                      <p:cBhvr additive="base">
                                        <p:cTn id="31" dur="500" fill="hold"/>
                                        <p:tgtEl>
                                          <p:spTgt spid="4362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362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36227">
                                            <p:txEl>
                                              <p:pRg st="5" end="5"/>
                                            </p:txEl>
                                          </p:spTgt>
                                        </p:tgtEl>
                                        <p:attrNameLst>
                                          <p:attrName>style.visibility</p:attrName>
                                        </p:attrNameLst>
                                      </p:cBhvr>
                                      <p:to>
                                        <p:strVal val="visible"/>
                                      </p:to>
                                    </p:set>
                                    <p:anim calcmode="lin" valueType="num">
                                      <p:cBhvr additive="base">
                                        <p:cTn id="37" dur="500" fill="hold"/>
                                        <p:tgtEl>
                                          <p:spTgt spid="4362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362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3" name="Rectangle 3"/>
          <p:cNvSpPr>
            <a:spLocks noGrp="1" noChangeArrowheads="1"/>
          </p:cNvSpPr>
          <p:nvPr>
            <p:ph idx="1"/>
          </p:nvPr>
        </p:nvSpPr>
        <p:spPr>
          <a:xfrm>
            <a:off x="838200" y="1722074"/>
            <a:ext cx="8496300" cy="4917959"/>
          </a:xfrm>
        </p:spPr>
        <p:txBody>
          <a:bodyPr>
            <a:noAutofit/>
          </a:bodyPr>
          <a:lstStyle/>
          <a:p>
            <a:pPr>
              <a:lnSpc>
                <a:spcPct val="135000"/>
              </a:lnSpc>
              <a:buClr>
                <a:srgbClr val="FF0000"/>
              </a:buClr>
              <a:buSzPct val="91000"/>
              <a:buFont typeface="Wingdings" panose="05000000000000000000" pitchFamily="2" charset="2"/>
              <a:buChar char="p"/>
            </a:pPr>
            <a:r>
              <a:rPr lang="en-US" altLang="zh-CN" sz="2400" dirty="0">
                <a:latin typeface="Times New Roman" pitchFamily="18" charset="0"/>
              </a:rPr>
              <a:t>“</a:t>
            </a:r>
            <a:r>
              <a:rPr lang="zh-CN" altLang="en-US" sz="2400" b="1" dirty="0">
                <a:latin typeface="Times New Roman" pitchFamily="18" charset="0"/>
              </a:rPr>
              <a:t>启发</a:t>
            </a:r>
            <a:r>
              <a:rPr lang="zh-CN" altLang="en-US" sz="2400" dirty="0">
                <a:latin typeface="Times New Roman" pitchFamily="18" charset="0"/>
              </a:rPr>
              <a:t>”（</a:t>
            </a:r>
            <a:r>
              <a:rPr lang="en-US" altLang="zh-CN" sz="2400" dirty="0">
                <a:latin typeface="Times New Roman" pitchFamily="18" charset="0"/>
              </a:rPr>
              <a:t>heuristic</a:t>
            </a:r>
            <a:r>
              <a:rPr lang="zh-CN" altLang="en-US" sz="2400" dirty="0">
                <a:latin typeface="Times New Roman" pitchFamily="18" charset="0"/>
              </a:rPr>
              <a:t>）：关于发现和发明操作算子及搜索方法的研究。</a:t>
            </a:r>
          </a:p>
          <a:p>
            <a:pPr>
              <a:lnSpc>
                <a:spcPct val="135000"/>
              </a:lnSpc>
              <a:buClr>
                <a:srgbClr val="FF0000"/>
              </a:buClr>
              <a:buSzPct val="91000"/>
              <a:buFont typeface="Wingdings" panose="05000000000000000000" pitchFamily="2" charset="2"/>
              <a:buChar char="p"/>
            </a:pPr>
            <a:r>
              <a:rPr lang="zh-CN" altLang="en-US" sz="2400" dirty="0">
                <a:latin typeface="Times New Roman" pitchFamily="18" charset="0"/>
              </a:rPr>
              <a:t>在状态空间搜索中，</a:t>
            </a:r>
            <a:r>
              <a:rPr lang="zh-CN" altLang="en-US" sz="2400" b="1" dirty="0">
                <a:latin typeface="Times New Roman" pitchFamily="18" charset="0"/>
              </a:rPr>
              <a:t>启发式</a:t>
            </a:r>
            <a:r>
              <a:rPr lang="zh-CN" altLang="en-US" sz="2400" dirty="0">
                <a:latin typeface="Times New Roman" pitchFamily="18" charset="0"/>
              </a:rPr>
              <a:t>被定义成一系列操作算子，并能从状态空间中选择最有希望到达问题解的路径。</a:t>
            </a:r>
          </a:p>
          <a:p>
            <a:pPr>
              <a:lnSpc>
                <a:spcPct val="135000"/>
              </a:lnSpc>
              <a:buClr>
                <a:srgbClr val="FF0000"/>
              </a:buClr>
              <a:buSzPct val="91000"/>
              <a:buFont typeface="Wingdings" panose="05000000000000000000" pitchFamily="2" charset="2"/>
              <a:buChar char="p"/>
            </a:pPr>
            <a:r>
              <a:rPr lang="zh-CN" altLang="en-US" sz="2400" b="1" dirty="0">
                <a:latin typeface="Times New Roman" pitchFamily="18" charset="0"/>
              </a:rPr>
              <a:t>启发式策略</a:t>
            </a:r>
            <a:r>
              <a:rPr lang="zh-CN" altLang="en-US" sz="2400" dirty="0">
                <a:latin typeface="Times New Roman" pitchFamily="18" charset="0"/>
              </a:rPr>
              <a:t>：利用与问题有关的启发信息进行搜索。</a:t>
            </a:r>
            <a:endParaRPr lang="en-US" altLang="zh-CN" sz="2400" dirty="0">
              <a:latin typeface="Times New Roman" pitchFamily="18" charset="0"/>
            </a:endParaRPr>
          </a:p>
          <a:p>
            <a:pPr>
              <a:lnSpc>
                <a:spcPct val="135000"/>
              </a:lnSpc>
              <a:buClr>
                <a:srgbClr val="FF0000"/>
              </a:buClr>
              <a:buSzPct val="91000"/>
              <a:buFont typeface="Wingdings" panose="05000000000000000000" pitchFamily="2" charset="2"/>
              <a:buChar char="p"/>
            </a:pPr>
            <a:r>
              <a:rPr lang="zh-CN" altLang="en-US" sz="2400" dirty="0"/>
              <a:t>在具体求解中，能够利用与该问题有关的信息来简化搜索过程，称此类信息为</a:t>
            </a:r>
            <a:r>
              <a:rPr lang="zh-CN" altLang="en-US" sz="2400" b="1" dirty="0"/>
              <a:t>启发信息</a:t>
            </a:r>
            <a:r>
              <a:rPr lang="zh-CN" altLang="en-US" sz="2400" dirty="0"/>
              <a:t>。</a:t>
            </a:r>
          </a:p>
          <a:p>
            <a:pPr>
              <a:lnSpc>
                <a:spcPct val="135000"/>
              </a:lnSpc>
              <a:buClr>
                <a:srgbClr val="FF0000"/>
              </a:buClr>
              <a:buSzPct val="91000"/>
              <a:buFont typeface="Wingdings" panose="05000000000000000000" pitchFamily="2" charset="2"/>
              <a:buChar char="p"/>
            </a:pPr>
            <a:r>
              <a:rPr lang="zh-CN" altLang="en-US" sz="2400" b="1" dirty="0"/>
              <a:t>启发式搜索</a:t>
            </a:r>
            <a:r>
              <a:rPr lang="zh-CN" altLang="en-US" sz="2400" dirty="0"/>
              <a:t>：利用启发信息的搜索</a:t>
            </a:r>
            <a:r>
              <a:rPr lang="zh-CN" altLang="en-US" sz="2400" dirty="0" smtClean="0"/>
              <a:t>过程</a:t>
            </a:r>
            <a:r>
              <a:rPr lang="zh-CN" altLang="en-US" dirty="0" smtClean="0"/>
              <a:t>。</a:t>
            </a:r>
          </a:p>
        </p:txBody>
      </p:sp>
      <p:sp>
        <p:nvSpPr>
          <p:cNvPr id="4" name="灯片编号占位符 3"/>
          <p:cNvSpPr>
            <a:spLocks noGrp="1"/>
          </p:cNvSpPr>
          <p:nvPr>
            <p:ph type="sldNum" sz="quarter" idx="10"/>
          </p:nvPr>
        </p:nvSpPr>
        <p:spPr/>
        <p:txBody>
          <a:bodyPr/>
          <a:lstStyle/>
          <a:p>
            <a:fld id="{1DEEB1C0-ADD1-4C01-BCDB-932C5DD5860F}" type="slidenum">
              <a:rPr lang="ja-JP" altLang="en-US"/>
              <a:pPr/>
              <a:t>31</a:t>
            </a:fld>
            <a:endParaRPr lang="en-US" altLang="ja-JP"/>
          </a:p>
        </p:txBody>
      </p:sp>
      <p:grpSp>
        <p:nvGrpSpPr>
          <p:cNvPr id="5" name="组合 4"/>
          <p:cNvGrpSpPr/>
          <p:nvPr/>
        </p:nvGrpSpPr>
        <p:grpSpPr>
          <a:xfrm>
            <a:off x="914877" y="307979"/>
            <a:ext cx="7464387"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461665"/>
            </a:xfrm>
            <a:prstGeom prst="rect">
              <a:avLst/>
            </a:prstGeom>
          </p:spPr>
          <p:txBody>
            <a:bodyPr wrap="square">
              <a:spAutoFit/>
            </a:bodyPr>
            <a:lstStyle/>
            <a:p>
              <a:pPr algn="ctr">
                <a:spcBef>
                  <a:spcPct val="50000"/>
                </a:spcBef>
              </a:pP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启发式搜索</a:t>
              </a:r>
              <a:r>
                <a:rPr lang="zh-CN" altLang="en-US" sz="2400" dirty="0" smtClean="0">
                  <a:effectLst>
                    <a:outerShdw blurRad="38100" dist="38100" dir="2700000" algn="tl">
                      <a:srgbClr val="000000">
                        <a:alpha val="43137"/>
                      </a:srgbClr>
                    </a:outerShdw>
                  </a:effectLst>
                  <a:latin typeface="Times New Roman" pitchFamily="18" charset="0"/>
                </a:rPr>
                <a:t> </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 name="矩形 1"/>
          <p:cNvSpPr/>
          <p:nvPr/>
        </p:nvSpPr>
        <p:spPr>
          <a:xfrm>
            <a:off x="311635" y="1136134"/>
            <a:ext cx="2646878" cy="461665"/>
          </a:xfrm>
          <a:prstGeom prst="rect">
            <a:avLst/>
          </a:prstGeom>
        </p:spPr>
        <p:txBody>
          <a:bodyPr wrap="none">
            <a:spAutoFit/>
          </a:bodyPr>
          <a:lstStyle/>
          <a:p>
            <a:r>
              <a:rPr lang="zh-CN" altLang="en-US" sz="2400" dirty="0">
                <a:solidFill>
                  <a:srgbClr val="FF0000"/>
                </a:solidFill>
                <a:effectLst>
                  <a:outerShdw blurRad="38100" dist="38100" dir="2700000" algn="tl">
                    <a:srgbClr val="000000">
                      <a:alpha val="43137"/>
                    </a:srgbClr>
                  </a:outerShdw>
                </a:effectLst>
                <a:latin typeface="Times New Roman" pitchFamily="18" charset="0"/>
                <a:ea typeface="黑体" pitchFamily="49" charset="-122"/>
              </a:rPr>
              <a:t>启发式策略和信息</a:t>
            </a:r>
            <a:endParaRPr lang="zh-CN" altLang="en-US" sz="2400" dirty="0">
              <a:solidFill>
                <a:srgbClr val="FF0000"/>
              </a:solidFill>
            </a:endParaRPr>
          </a:p>
        </p:txBody>
      </p:sp>
    </p:spTree>
    <p:extLst>
      <p:ext uri="{BB962C8B-B14F-4D97-AF65-F5344CB8AC3E}">
        <p14:creationId xmlns:p14="http://schemas.microsoft.com/office/powerpoint/2010/main" val="1693767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71043">
                                            <p:txEl>
                                              <p:pRg st="0" end="0"/>
                                            </p:txEl>
                                          </p:spTgt>
                                        </p:tgtEl>
                                        <p:attrNameLst>
                                          <p:attrName>style.visibility</p:attrName>
                                        </p:attrNameLst>
                                      </p:cBhvr>
                                      <p:to>
                                        <p:strVal val="visible"/>
                                      </p:to>
                                    </p:set>
                                    <p:animEffect transition="in" filter="blinds(horizontal)">
                                      <p:cBhvr>
                                        <p:cTn id="7" dur="500"/>
                                        <p:tgtEl>
                                          <p:spTgt spid="4710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43">
                                            <p:txEl>
                                              <p:pRg st="1" end="1"/>
                                            </p:txEl>
                                          </p:spTgt>
                                        </p:tgtEl>
                                        <p:attrNameLst>
                                          <p:attrName>style.visibility</p:attrName>
                                        </p:attrNameLst>
                                      </p:cBhvr>
                                      <p:to>
                                        <p:strVal val="visible"/>
                                      </p:to>
                                    </p:set>
                                    <p:animEffect transition="in" filter="blinds(horizontal)">
                                      <p:cBhvr>
                                        <p:cTn id="12" dur="500"/>
                                        <p:tgtEl>
                                          <p:spTgt spid="4710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043">
                                            <p:txEl>
                                              <p:pRg st="2" end="2"/>
                                            </p:txEl>
                                          </p:spTgt>
                                        </p:tgtEl>
                                        <p:attrNameLst>
                                          <p:attrName>style.visibility</p:attrName>
                                        </p:attrNameLst>
                                      </p:cBhvr>
                                      <p:to>
                                        <p:strVal val="visible"/>
                                      </p:to>
                                    </p:set>
                                    <p:animEffect transition="in" filter="blinds(horizontal)">
                                      <p:cBhvr>
                                        <p:cTn id="17" dur="500"/>
                                        <p:tgtEl>
                                          <p:spTgt spid="4710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1043">
                                            <p:txEl>
                                              <p:pRg st="3" end="3"/>
                                            </p:txEl>
                                          </p:spTgt>
                                        </p:tgtEl>
                                        <p:attrNameLst>
                                          <p:attrName>style.visibility</p:attrName>
                                        </p:attrNameLst>
                                      </p:cBhvr>
                                      <p:to>
                                        <p:strVal val="visible"/>
                                      </p:to>
                                    </p:set>
                                    <p:animEffect transition="in" filter="blinds(horizontal)">
                                      <p:cBhvr>
                                        <p:cTn id="22" dur="500"/>
                                        <p:tgtEl>
                                          <p:spTgt spid="4710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1043">
                                            <p:txEl>
                                              <p:pRg st="4" end="4"/>
                                            </p:txEl>
                                          </p:spTgt>
                                        </p:tgtEl>
                                        <p:attrNameLst>
                                          <p:attrName>style.visibility</p:attrName>
                                        </p:attrNameLst>
                                      </p:cBhvr>
                                      <p:to>
                                        <p:strVal val="visible"/>
                                      </p:to>
                                    </p:set>
                                    <p:animEffect transition="in" filter="blinds(horizontal)">
                                      <p:cBhvr>
                                        <p:cTn id="27" dur="500"/>
                                        <p:tgtEl>
                                          <p:spTgt spid="4710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5" name="Rectangle 3"/>
          <p:cNvSpPr>
            <a:spLocks noGrp="1" noChangeArrowheads="1"/>
          </p:cNvSpPr>
          <p:nvPr>
            <p:ph idx="1"/>
          </p:nvPr>
        </p:nvSpPr>
        <p:spPr>
          <a:xfrm>
            <a:off x="956476" y="1618309"/>
            <a:ext cx="8507288" cy="4525963"/>
          </a:xfrm>
        </p:spPr>
        <p:txBody>
          <a:bodyPr/>
          <a:lstStyle/>
          <a:p>
            <a:pPr>
              <a:buClr>
                <a:srgbClr val="FF0000"/>
              </a:buClr>
              <a:buSzPct val="90000"/>
              <a:buFont typeface="Wingdings" panose="05000000000000000000" pitchFamily="2" charset="2"/>
              <a:buChar char="p"/>
            </a:pPr>
            <a:r>
              <a:rPr lang="en-US" altLang="zh-CN" dirty="0"/>
              <a:t>  </a:t>
            </a:r>
            <a:r>
              <a:rPr lang="zh-CN" altLang="en-US" sz="2400" dirty="0">
                <a:latin typeface="Times New Roman" pitchFamily="18" charset="0"/>
              </a:rPr>
              <a:t>评价函数的任务就是估计待搜索结点的“有希望”程度，并依次给它们排定次序（在</a:t>
            </a:r>
            <a:r>
              <a:rPr lang="en-US" altLang="zh-CN" sz="2400" dirty="0">
                <a:latin typeface="Times New Roman" pitchFamily="18" charset="0"/>
              </a:rPr>
              <a:t>open</a:t>
            </a:r>
            <a:r>
              <a:rPr lang="zh-CN" altLang="en-US" sz="2400" dirty="0">
                <a:latin typeface="Times New Roman" pitchFamily="18" charset="0"/>
              </a:rPr>
              <a:t>表中）</a:t>
            </a:r>
            <a:r>
              <a:rPr lang="zh-CN" altLang="en-US" dirty="0">
                <a:latin typeface="Times New Roman" pitchFamily="18" charset="0"/>
              </a:rPr>
              <a:t>。</a:t>
            </a:r>
          </a:p>
          <a:p>
            <a:pPr marL="0" indent="0"/>
            <a:endParaRPr lang="en-US" altLang="zh-CN" dirty="0">
              <a:latin typeface="Times New Roman" pitchFamily="18" charset="0"/>
            </a:endParaRPr>
          </a:p>
        </p:txBody>
      </p:sp>
      <p:sp>
        <p:nvSpPr>
          <p:cNvPr id="21" name="灯片编号占位符 3"/>
          <p:cNvSpPr>
            <a:spLocks noGrp="1"/>
          </p:cNvSpPr>
          <p:nvPr>
            <p:ph type="sldNum" sz="quarter" idx="10"/>
          </p:nvPr>
        </p:nvSpPr>
        <p:spPr/>
        <p:txBody>
          <a:bodyPr/>
          <a:lstStyle/>
          <a:p>
            <a:fld id="{F984A303-4CD1-431A-B1D2-F16753859D83}" type="slidenum">
              <a:rPr lang="ja-JP" altLang="en-US"/>
              <a:pPr/>
              <a:t>32</a:t>
            </a:fld>
            <a:endParaRPr lang="en-US" altLang="ja-JP"/>
          </a:p>
        </p:txBody>
      </p:sp>
      <p:sp>
        <p:nvSpPr>
          <p:cNvPr id="479236"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9237" name="Rectangle 5"/>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9238" name="Rectangle 6"/>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479239" name="Group 7"/>
          <p:cNvGrpSpPr>
            <a:grpSpLocks/>
          </p:cNvGrpSpPr>
          <p:nvPr/>
        </p:nvGrpSpPr>
        <p:grpSpPr bwMode="auto">
          <a:xfrm>
            <a:off x="981020" y="2707610"/>
            <a:ext cx="8458200" cy="1758951"/>
            <a:chOff x="-345" y="980"/>
            <a:chExt cx="5328" cy="1108"/>
          </a:xfrm>
        </p:grpSpPr>
        <p:sp>
          <p:nvSpPr>
            <p:cNvPr id="479240" name="Text Box 8"/>
            <p:cNvSpPr txBox="1">
              <a:spLocks noChangeArrowheads="1"/>
            </p:cNvSpPr>
            <p:nvPr/>
          </p:nvSpPr>
          <p:spPr bwMode="auto">
            <a:xfrm>
              <a:off x="-345" y="980"/>
              <a:ext cx="5328" cy="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itchFamily="34" charset="0"/>
                  <a:ea typeface="宋体" pitchFamily="2" charset="-122"/>
                </a:defRPr>
              </a:lvl1pPr>
              <a:lvl2pPr marL="5651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marL="457200" indent="-457200">
                <a:lnSpc>
                  <a:spcPct val="120000"/>
                </a:lnSpc>
                <a:spcBef>
                  <a:spcPct val="40000"/>
                </a:spcBef>
                <a:buClr>
                  <a:srgbClr val="FF0000"/>
                </a:buClr>
                <a:buSzPct val="90000"/>
                <a:buFont typeface="Wingdings" panose="05000000000000000000" pitchFamily="2" charset="2"/>
                <a:buChar char="p"/>
              </a:pPr>
              <a:r>
                <a:rPr lang="en-US" altLang="zh-CN" sz="2800" dirty="0"/>
                <a:t>  </a:t>
              </a:r>
              <a:r>
                <a:rPr lang="zh-CN" altLang="en-US" sz="2400" dirty="0"/>
                <a:t>评价函数         ：从初始结点经过    结点到达目的 结点的路径的最小代价估计值，其一般形式是</a:t>
              </a:r>
            </a:p>
          </p:txBody>
        </p:sp>
        <p:graphicFrame>
          <p:nvGraphicFramePr>
            <p:cNvPr id="479241" name="Object 9"/>
            <p:cNvGraphicFramePr>
              <a:graphicFrameLocks noChangeAspect="1"/>
            </p:cNvGraphicFramePr>
            <p:nvPr>
              <p:extLst>
                <p:ext uri="{D42A27DB-BD31-4B8C-83A1-F6EECF244321}">
                  <p14:modId xmlns:p14="http://schemas.microsoft.com/office/powerpoint/2010/main" val="1390939108"/>
                </p:ext>
              </p:extLst>
            </p:nvPr>
          </p:nvGraphicFramePr>
          <p:xfrm>
            <a:off x="891" y="1047"/>
            <a:ext cx="499" cy="291"/>
          </p:xfrm>
          <a:graphic>
            <a:graphicData uri="http://schemas.openxmlformats.org/presentationml/2006/ole">
              <mc:AlternateContent xmlns:mc="http://schemas.openxmlformats.org/markup-compatibility/2006">
                <mc:Choice xmlns:v="urn:schemas-microsoft-com:vml" Requires="v">
                  <p:oleObj spid="_x0000_s2074" name="公式" r:id="rId4" imgW="342751" imgH="203112" progId="Equation.3">
                    <p:embed/>
                  </p:oleObj>
                </mc:Choice>
                <mc:Fallback>
                  <p:oleObj name="公式" r:id="rId4" imgW="342751" imgH="203112" progId="Equation.3">
                    <p:embed/>
                    <p:pic>
                      <p:nvPicPr>
                        <p:cNvPr id="479241"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 y="1047"/>
                          <a:ext cx="499"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9242" name="Object 10"/>
            <p:cNvGraphicFramePr>
              <a:graphicFrameLocks noChangeAspect="1"/>
            </p:cNvGraphicFramePr>
            <p:nvPr>
              <p:extLst>
                <p:ext uri="{D42A27DB-BD31-4B8C-83A1-F6EECF244321}">
                  <p14:modId xmlns:p14="http://schemas.microsoft.com/office/powerpoint/2010/main" val="1381659317"/>
                </p:ext>
              </p:extLst>
            </p:nvPr>
          </p:nvGraphicFramePr>
          <p:xfrm>
            <a:off x="2891" y="1079"/>
            <a:ext cx="197" cy="227"/>
          </p:xfrm>
          <a:graphic>
            <a:graphicData uri="http://schemas.openxmlformats.org/presentationml/2006/ole">
              <mc:AlternateContent xmlns:mc="http://schemas.openxmlformats.org/markup-compatibility/2006">
                <mc:Choice xmlns:v="urn:schemas-microsoft-com:vml" Requires="v">
                  <p:oleObj spid="_x0000_s2075" name="公式" r:id="rId6" imgW="126835" imgH="139518" progId="Equation.3">
                    <p:embed/>
                  </p:oleObj>
                </mc:Choice>
                <mc:Fallback>
                  <p:oleObj name="公式" r:id="rId6" imgW="126835" imgH="139518" progId="Equation.3">
                    <p:embed/>
                    <p:pic>
                      <p:nvPicPr>
                        <p:cNvPr id="479242"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1" y="1079"/>
                          <a:ext cx="197"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9243" name="Object 11"/>
            <p:cNvGraphicFramePr>
              <a:graphicFrameLocks noChangeAspect="1"/>
            </p:cNvGraphicFramePr>
            <p:nvPr>
              <p:extLst>
                <p:ext uri="{D42A27DB-BD31-4B8C-83A1-F6EECF244321}">
                  <p14:modId xmlns:p14="http://schemas.microsoft.com/office/powerpoint/2010/main" val="3980466365"/>
                </p:ext>
              </p:extLst>
            </p:nvPr>
          </p:nvGraphicFramePr>
          <p:xfrm>
            <a:off x="936" y="1749"/>
            <a:ext cx="2016" cy="339"/>
          </p:xfrm>
          <a:graphic>
            <a:graphicData uri="http://schemas.openxmlformats.org/presentationml/2006/ole">
              <mc:AlternateContent xmlns:mc="http://schemas.openxmlformats.org/markup-compatibility/2006">
                <mc:Choice xmlns:v="urn:schemas-microsoft-com:vml" Requires="v">
                  <p:oleObj spid="_x0000_s2076" name="公式" r:id="rId8" imgW="1193800" imgH="203200" progId="Equation.3">
                    <p:embed/>
                  </p:oleObj>
                </mc:Choice>
                <mc:Fallback>
                  <p:oleObj name="公式" r:id="rId8" imgW="1193800" imgH="203200" progId="Equation.3">
                    <p:embed/>
                    <p:pic>
                      <p:nvPicPr>
                        <p:cNvPr id="479243"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6" y="1749"/>
                          <a:ext cx="2016" cy="3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79244" name="Rectangle 1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9245" name="Rectangle 13"/>
          <p:cNvSpPr>
            <a:spLocks noChangeArrowheads="1"/>
          </p:cNvSpPr>
          <p:nvPr/>
        </p:nvSpPr>
        <p:spPr bwMode="auto">
          <a:xfrm>
            <a:off x="1524001" y="3172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9246" name="Rectangle 14"/>
          <p:cNvSpPr>
            <a:spLocks noChangeArrowheads="1"/>
          </p:cNvSpPr>
          <p:nvPr/>
        </p:nvSpPr>
        <p:spPr bwMode="auto">
          <a:xfrm>
            <a:off x="1524001" y="3172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9247" name="Rectangle 15"/>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9248" name="Text Box 16"/>
          <p:cNvSpPr txBox="1">
            <a:spLocks noChangeArrowheads="1"/>
          </p:cNvSpPr>
          <p:nvPr/>
        </p:nvSpPr>
        <p:spPr bwMode="auto">
          <a:xfrm>
            <a:off x="980481" y="4869707"/>
            <a:ext cx="861060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itchFamily="34" charset="0"/>
                <a:ea typeface="宋体" pitchFamily="2" charset="-122"/>
              </a:defRPr>
            </a:lvl1pPr>
            <a:lvl2pPr marL="56515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marL="457200" indent="-457200" algn="just">
              <a:spcBef>
                <a:spcPct val="50000"/>
              </a:spcBef>
              <a:buClr>
                <a:srgbClr val="FF0000"/>
              </a:buClr>
              <a:buSzPct val="90000"/>
              <a:buFont typeface="Wingdings" panose="05000000000000000000" pitchFamily="2" charset="2"/>
              <a:buChar char="p"/>
            </a:pPr>
            <a:r>
              <a:rPr lang="en-US" altLang="zh-CN" sz="2400" dirty="0">
                <a:latin typeface="宋体" pitchFamily="2" charset="-122"/>
              </a:rPr>
              <a:t> </a:t>
            </a:r>
            <a:r>
              <a:rPr lang="zh-CN" altLang="en-US" sz="2400" dirty="0">
                <a:latin typeface="宋体" pitchFamily="2" charset="-122"/>
              </a:rPr>
              <a:t>一般地，在    中，   的比重越大，越倾向于宽度优先搜索方式，而    为启发式函数，比重越大，表示启发性能越强。</a:t>
            </a:r>
            <a:endParaRPr lang="zh-CN" altLang="en-US" sz="2400" dirty="0">
              <a:latin typeface="Times New Roman" pitchFamily="18" charset="0"/>
              <a:cs typeface="Times New Roman" pitchFamily="18" charset="0"/>
            </a:endParaRPr>
          </a:p>
          <a:p>
            <a:pPr marL="457200" indent="-457200">
              <a:spcBef>
                <a:spcPct val="50000"/>
              </a:spcBef>
              <a:buClr>
                <a:srgbClr val="FF0000"/>
              </a:buClr>
              <a:buSzPct val="90000"/>
              <a:buFont typeface="Wingdings" panose="05000000000000000000" pitchFamily="2" charset="2"/>
              <a:buChar char="p"/>
            </a:pPr>
            <a:endParaRPr lang="en-US" altLang="zh-CN" sz="2800" dirty="0"/>
          </a:p>
        </p:txBody>
      </p:sp>
      <p:grpSp>
        <p:nvGrpSpPr>
          <p:cNvPr id="479249" name="Group 17"/>
          <p:cNvGrpSpPr>
            <a:grpSpLocks/>
          </p:cNvGrpSpPr>
          <p:nvPr/>
        </p:nvGrpSpPr>
        <p:grpSpPr bwMode="auto">
          <a:xfrm>
            <a:off x="3014609" y="4831877"/>
            <a:ext cx="1922463" cy="919164"/>
            <a:chOff x="1655" y="2784"/>
            <a:chExt cx="1211" cy="579"/>
          </a:xfrm>
        </p:grpSpPr>
        <p:graphicFrame>
          <p:nvGraphicFramePr>
            <p:cNvPr id="479250" name="Object 18"/>
            <p:cNvGraphicFramePr>
              <a:graphicFrameLocks noChangeAspect="1"/>
            </p:cNvGraphicFramePr>
            <p:nvPr>
              <p:extLst>
                <p:ext uri="{D42A27DB-BD31-4B8C-83A1-F6EECF244321}">
                  <p14:modId xmlns:p14="http://schemas.microsoft.com/office/powerpoint/2010/main" val="797211278"/>
                </p:ext>
              </p:extLst>
            </p:nvPr>
          </p:nvGraphicFramePr>
          <p:xfrm>
            <a:off x="1719" y="2822"/>
            <a:ext cx="480" cy="297"/>
          </p:xfrm>
          <a:graphic>
            <a:graphicData uri="http://schemas.openxmlformats.org/presentationml/2006/ole">
              <mc:AlternateContent xmlns:mc="http://schemas.openxmlformats.org/markup-compatibility/2006">
                <mc:Choice xmlns:v="urn:schemas-microsoft-com:vml" Requires="v">
                  <p:oleObj spid="_x0000_s2077" name="Equation" r:id="rId10" imgW="266400" imgH="164880" progId="Equation.DSMT4">
                    <p:embed/>
                  </p:oleObj>
                </mc:Choice>
                <mc:Fallback>
                  <p:oleObj name="Equation" r:id="rId10" imgW="266400" imgH="164880" progId="Equation.DSMT4">
                    <p:embed/>
                    <p:pic>
                      <p:nvPicPr>
                        <p:cNvPr id="47925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19" y="2822"/>
                          <a:ext cx="480"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9251" name="Object 19"/>
            <p:cNvGraphicFramePr>
              <a:graphicFrameLocks noChangeAspect="1"/>
            </p:cNvGraphicFramePr>
            <p:nvPr>
              <p:extLst>
                <p:ext uri="{D42A27DB-BD31-4B8C-83A1-F6EECF244321}">
                  <p14:modId xmlns:p14="http://schemas.microsoft.com/office/powerpoint/2010/main" val="1446028070"/>
                </p:ext>
              </p:extLst>
            </p:nvPr>
          </p:nvGraphicFramePr>
          <p:xfrm>
            <a:off x="2386" y="2784"/>
            <a:ext cx="480" cy="297"/>
          </p:xfrm>
          <a:graphic>
            <a:graphicData uri="http://schemas.openxmlformats.org/presentationml/2006/ole">
              <mc:AlternateContent xmlns:mc="http://schemas.openxmlformats.org/markup-compatibility/2006">
                <mc:Choice xmlns:v="urn:schemas-microsoft-com:vml" Requires="v">
                  <p:oleObj spid="_x0000_s2078" name="Equation" r:id="rId12" imgW="266400" imgH="164880" progId="Equation.DSMT4">
                    <p:embed/>
                  </p:oleObj>
                </mc:Choice>
                <mc:Fallback>
                  <p:oleObj name="Equation" r:id="rId12" imgW="266400" imgH="164880" progId="Equation.DSMT4">
                    <p:embed/>
                    <p:pic>
                      <p:nvPicPr>
                        <p:cNvPr id="479251"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86" y="2784"/>
                          <a:ext cx="480"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9252" name="Object 20"/>
            <p:cNvGraphicFramePr>
              <a:graphicFrameLocks noChangeAspect="1"/>
            </p:cNvGraphicFramePr>
            <p:nvPr>
              <p:extLst>
                <p:ext uri="{D42A27DB-BD31-4B8C-83A1-F6EECF244321}">
                  <p14:modId xmlns:p14="http://schemas.microsoft.com/office/powerpoint/2010/main" val="3356062581"/>
                </p:ext>
              </p:extLst>
            </p:nvPr>
          </p:nvGraphicFramePr>
          <p:xfrm>
            <a:off x="1655" y="3066"/>
            <a:ext cx="457" cy="297"/>
          </p:xfrm>
          <a:graphic>
            <a:graphicData uri="http://schemas.openxmlformats.org/presentationml/2006/ole">
              <mc:AlternateContent xmlns:mc="http://schemas.openxmlformats.org/markup-compatibility/2006">
                <mc:Choice xmlns:v="urn:schemas-microsoft-com:vml" Requires="v">
                  <p:oleObj spid="_x0000_s2079" name="Equation" r:id="rId14" imgW="253800" imgH="164880" progId="Equation.DSMT4">
                    <p:embed/>
                  </p:oleObj>
                </mc:Choice>
                <mc:Fallback>
                  <p:oleObj name="Equation" r:id="rId14" imgW="253800" imgH="164880" progId="Equation.DSMT4">
                    <p:embed/>
                    <p:pic>
                      <p:nvPicPr>
                        <p:cNvPr id="479252"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55" y="3066"/>
                          <a:ext cx="457"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 name="组合 22"/>
          <p:cNvGrpSpPr/>
          <p:nvPr/>
        </p:nvGrpSpPr>
        <p:grpSpPr>
          <a:xfrm>
            <a:off x="914877" y="307979"/>
            <a:ext cx="7464387" cy="497934"/>
            <a:chOff x="4099943" y="2819853"/>
            <a:chExt cx="2570275" cy="497934"/>
          </a:xfrm>
        </p:grpSpPr>
        <p:sp>
          <p:nvSpPr>
            <p:cNvPr id="24" name="平行四边形 2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5" name="平行四边形 2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6" name="矩形 25"/>
            <p:cNvSpPr/>
            <p:nvPr/>
          </p:nvSpPr>
          <p:spPr>
            <a:xfrm>
              <a:off x="4216534" y="2853798"/>
              <a:ext cx="2359684" cy="461665"/>
            </a:xfrm>
            <a:prstGeom prst="rect">
              <a:avLst/>
            </a:prstGeom>
          </p:spPr>
          <p:txBody>
            <a:bodyPr wrap="square">
              <a:spAutoFit/>
            </a:bodyPr>
            <a:lstStyle/>
            <a:p>
              <a:pPr algn="ctr">
                <a:spcBef>
                  <a:spcPct val="50000"/>
                </a:spcBef>
              </a:pP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启发式搜索</a:t>
              </a:r>
              <a:r>
                <a:rPr lang="zh-CN" altLang="en-US" sz="2400" dirty="0" smtClean="0">
                  <a:effectLst>
                    <a:outerShdw blurRad="38100" dist="38100" dir="2700000" algn="tl">
                      <a:srgbClr val="000000">
                        <a:alpha val="43137"/>
                      </a:srgbClr>
                    </a:outerShdw>
                  </a:effectLst>
                  <a:latin typeface="Times New Roman" pitchFamily="18" charset="0"/>
                </a:rPr>
                <a:t> </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3" name="文本框 2"/>
          <p:cNvSpPr txBox="1"/>
          <p:nvPr/>
        </p:nvSpPr>
        <p:spPr>
          <a:xfrm>
            <a:off x="361507" y="972764"/>
            <a:ext cx="2009553" cy="523220"/>
          </a:xfrm>
          <a:prstGeom prst="rect">
            <a:avLst/>
          </a:prstGeom>
          <a:noFill/>
        </p:spPr>
        <p:txBody>
          <a:bodyPr wrap="square" rtlCol="0">
            <a:spAutoFit/>
          </a:bodyPr>
          <a:lstStyle/>
          <a:p>
            <a:r>
              <a:rPr lang="zh-CN" altLang="en-US" sz="2800" dirty="0">
                <a:solidFill>
                  <a:srgbClr val="FF0000"/>
                </a:solidFill>
                <a:effectLst>
                  <a:outerShdw blurRad="38100" dist="38100" dir="2700000" algn="tl">
                    <a:srgbClr val="000000">
                      <a:alpha val="43137"/>
                    </a:srgbClr>
                  </a:outerShdw>
                </a:effectLst>
                <a:latin typeface="Times New Roman" pitchFamily="18" charset="0"/>
                <a:ea typeface="黑体" pitchFamily="49" charset="-122"/>
              </a:rPr>
              <a:t>评价函数</a:t>
            </a:r>
          </a:p>
        </p:txBody>
      </p:sp>
    </p:spTree>
    <p:extLst>
      <p:ext uri="{BB962C8B-B14F-4D97-AF65-F5344CB8AC3E}">
        <p14:creationId xmlns:p14="http://schemas.microsoft.com/office/powerpoint/2010/main" val="2829276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33</a:t>
            </a:fld>
            <a:endParaRPr lang="en-US" altLang="zh-CN" dirty="0"/>
          </a:p>
        </p:txBody>
      </p:sp>
      <p:sp>
        <p:nvSpPr>
          <p:cNvPr id="7" name="内容占位符 6"/>
          <p:cNvSpPr>
            <a:spLocks noGrp="1"/>
          </p:cNvSpPr>
          <p:nvPr>
            <p:ph idx="1"/>
          </p:nvPr>
        </p:nvSpPr>
        <p:spPr>
          <a:xfrm>
            <a:off x="1253471" y="2044700"/>
            <a:ext cx="8229600" cy="4813300"/>
          </a:xfrm>
        </p:spPr>
        <p:txBody>
          <a:bodyPr/>
          <a:lstStyle/>
          <a:p>
            <a:pPr eaLnBrk="1" hangingPunct="1">
              <a:lnSpc>
                <a:spcPct val="150000"/>
              </a:lnSpc>
              <a:buClr>
                <a:srgbClr val="FF0000"/>
              </a:buClr>
              <a:buSzPct val="90000"/>
              <a:buFont typeface="Wingdings" panose="05000000000000000000" pitchFamily="2" charset="2"/>
              <a:buChar char="p"/>
              <a:defRPr/>
            </a:pPr>
            <a:r>
              <a:rPr lang="zh-CN" altLang="en-US" sz="2400" dirty="0">
                <a:ea typeface=""/>
              </a:rPr>
              <a:t>想法</a:t>
            </a:r>
            <a:r>
              <a:rPr lang="en-US" altLang="zh-CN" sz="2400" dirty="0">
                <a:ea typeface=""/>
              </a:rPr>
              <a:t>:</a:t>
            </a:r>
            <a:r>
              <a:rPr lang="zh-CN" altLang="en-US" sz="2400" dirty="0">
                <a:ea typeface=""/>
              </a:rPr>
              <a:t>创建一个</a:t>
            </a:r>
            <a:r>
              <a:rPr lang="zh-CN" altLang="en-US" sz="2400" dirty="0" smtClean="0">
                <a:ea typeface=""/>
              </a:rPr>
              <a:t>评价函数</a:t>
            </a:r>
            <a:r>
              <a:rPr lang="en-US" altLang="zh-CN" sz="2400" dirty="0">
                <a:ea typeface=""/>
              </a:rPr>
              <a:t>f(n) </a:t>
            </a:r>
            <a:r>
              <a:rPr lang="zh-CN" altLang="en-US" sz="2400" dirty="0">
                <a:ea typeface=""/>
              </a:rPr>
              <a:t>用于每个结点</a:t>
            </a:r>
            <a:endParaRPr lang="en-US" altLang="zh-CN" sz="2400" dirty="0">
              <a:ea typeface=""/>
            </a:endParaRPr>
          </a:p>
          <a:p>
            <a:pPr lvl="1" eaLnBrk="1" hangingPunct="1"/>
            <a:r>
              <a:rPr lang="zh-CN" altLang="en-US" dirty="0">
                <a:latin typeface="Times New Roman" panose="02020603050405020304" pitchFamily="18" charset="0"/>
                <a:cs typeface="Times New Roman" panose="02020603050405020304" pitchFamily="18" charset="0"/>
              </a:rPr>
              <a:t>评估</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可取性</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扩展最可取的结</a:t>
            </a:r>
            <a:r>
              <a:rPr lang="zh-CN" altLang="en-US" dirty="0" smtClean="0">
                <a:latin typeface="Times New Roman" panose="02020603050405020304" pitchFamily="18" charset="0"/>
                <a:cs typeface="Times New Roman" panose="02020603050405020304" pitchFamily="18" charset="0"/>
              </a:rPr>
              <a:t>点</a:t>
            </a:r>
            <a:endParaRPr lang="en-US" altLang="zh-CN" sz="2800" u="sng" dirty="0">
              <a:latin typeface="Times New Roman" panose="02020603050405020304" pitchFamily="18" charset="0"/>
              <a:cs typeface="Times New Roman" panose="02020603050405020304" pitchFamily="18" charset="0"/>
            </a:endParaRPr>
          </a:p>
          <a:p>
            <a:pPr eaLnBrk="1" hangingPunct="1">
              <a:lnSpc>
                <a:spcPct val="150000"/>
              </a:lnSpc>
              <a:buClr>
                <a:srgbClr val="FF0000"/>
              </a:buClr>
              <a:buSzPct val="90000"/>
              <a:buFont typeface="Wingdings" panose="05000000000000000000" pitchFamily="2" charset="2"/>
              <a:buChar char="p"/>
              <a:defRPr/>
            </a:pPr>
            <a:r>
              <a:rPr lang="zh-CN" altLang="en-US" sz="2400" dirty="0">
                <a:ea typeface=""/>
              </a:rPr>
              <a:t>实现</a:t>
            </a:r>
            <a:r>
              <a:rPr lang="en-US" altLang="zh-CN" sz="2400" dirty="0">
                <a:ea typeface=""/>
              </a:rPr>
              <a:t>:</a:t>
            </a:r>
          </a:p>
          <a:p>
            <a:pPr lvl="1" eaLnBrk="1" hangingPunct="1">
              <a:lnSpc>
                <a:spcPct val="90000"/>
              </a:lnSpc>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按可取性递减的顺序排列未扩展结点</a:t>
            </a:r>
            <a:endParaRPr lang="en-US" altLang="zh-CN" dirty="0">
              <a:latin typeface="Times New Roman" panose="02020603050405020304" pitchFamily="18" charset="0"/>
              <a:cs typeface="Times New Roman" panose="02020603050405020304" pitchFamily="18" charset="0"/>
            </a:endParaRPr>
          </a:p>
          <a:p>
            <a:pPr eaLnBrk="1" hangingPunct="1">
              <a:lnSpc>
                <a:spcPct val="150000"/>
              </a:lnSpc>
              <a:buClr>
                <a:srgbClr val="FF0000"/>
              </a:buClr>
              <a:buSzPct val="90000"/>
              <a:buFont typeface="Wingdings" panose="05000000000000000000" pitchFamily="2" charset="2"/>
              <a:buChar char="p"/>
              <a:defRPr/>
            </a:pPr>
            <a:r>
              <a:rPr lang="zh-CN" altLang="en-US" sz="2400" dirty="0">
                <a:ea typeface=""/>
              </a:rPr>
              <a:t>特殊情况</a:t>
            </a:r>
            <a:r>
              <a:rPr lang="en-US" altLang="zh-CN" sz="2400" dirty="0">
                <a:ea typeface=""/>
              </a:rPr>
              <a:t>:</a:t>
            </a:r>
          </a:p>
          <a:p>
            <a:pPr lvl="1" eaLnBrk="1" hangingPunct="1"/>
            <a:r>
              <a:rPr lang="zh-CN" altLang="en-US" dirty="0">
                <a:latin typeface="Times New Roman" panose="02020603050405020304" pitchFamily="18" charset="0"/>
                <a:cs typeface="Times New Roman" panose="02020603050405020304" pitchFamily="18" charset="0"/>
              </a:rPr>
              <a:t>贪婪最佳优先搜索</a:t>
            </a:r>
            <a:endParaRPr lang="en-US" altLang="zh-CN" dirty="0">
              <a:latin typeface="Times New Roman" panose="02020603050405020304" pitchFamily="18" charset="0"/>
              <a:cs typeface="Times New Roman" panose="02020603050405020304" pitchFamily="18" charset="0"/>
            </a:endParaRPr>
          </a:p>
          <a:p>
            <a:pPr lvl="1" eaLnBrk="1" hangingPunct="1"/>
            <a:r>
              <a:rPr lang="en-US" altLang="zh-CN" dirty="0">
                <a:latin typeface="Times New Roman" panose="02020603050405020304" pitchFamily="18" charset="0"/>
                <a:cs typeface="Times New Roman" panose="02020603050405020304" pitchFamily="18" charset="0"/>
              </a:rPr>
              <a:t>A</a:t>
            </a:r>
            <a:r>
              <a:rPr lang="en-US" altLang="zh-CN"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搜索</a:t>
            </a:r>
            <a:endParaRPr lang="en-US" altLang="zh-CN" dirty="0">
              <a:latin typeface="Times New Roman" panose="02020603050405020304" pitchFamily="18" charset="0"/>
              <a:cs typeface="Times New Roman" panose="02020603050405020304" pitchFamily="18" charset="0"/>
            </a:endParaRPr>
          </a:p>
        </p:txBody>
      </p:sp>
      <p:grpSp>
        <p:nvGrpSpPr>
          <p:cNvPr id="6" name="组合 5"/>
          <p:cNvGrpSpPr/>
          <p:nvPr/>
        </p:nvGrpSpPr>
        <p:grpSpPr>
          <a:xfrm>
            <a:off x="914877" y="307979"/>
            <a:ext cx="7464387" cy="497934"/>
            <a:chOff x="4099943" y="2819853"/>
            <a:chExt cx="2570275"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4216534" y="2853798"/>
              <a:ext cx="2359684" cy="461665"/>
            </a:xfrm>
            <a:prstGeom prst="rect">
              <a:avLst/>
            </a:prstGeom>
          </p:spPr>
          <p:txBody>
            <a:bodyPr wrap="square">
              <a:spAutoFit/>
            </a:bodyPr>
            <a:lstStyle/>
            <a:p>
              <a:pPr algn="ctr">
                <a:spcBef>
                  <a:spcPct val="50000"/>
                </a:spcBef>
              </a:pPr>
              <a:r>
                <a:rPr lang="zh-CN" altLang="en-US" sz="24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启发式搜索</a:t>
              </a:r>
              <a:r>
                <a:rPr lang="zh-CN" altLang="en-US" sz="2400" dirty="0" smtClean="0">
                  <a:effectLst>
                    <a:outerShdw blurRad="38100" dist="38100" dir="2700000" algn="tl">
                      <a:srgbClr val="000000">
                        <a:alpha val="43137"/>
                      </a:srgbClr>
                    </a:outerShdw>
                  </a:effectLst>
                  <a:latin typeface="Times New Roman" pitchFamily="18" charset="0"/>
                </a:rPr>
                <a:t> </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 name="矩形 1"/>
          <p:cNvSpPr/>
          <p:nvPr/>
        </p:nvSpPr>
        <p:spPr>
          <a:xfrm>
            <a:off x="149079" y="1133762"/>
            <a:ext cx="2339102" cy="523220"/>
          </a:xfrm>
          <a:prstGeom prst="rect">
            <a:avLst/>
          </a:prstGeom>
        </p:spPr>
        <p:txBody>
          <a:bodyPr wrap="none">
            <a:spAutoFit/>
          </a:bodyPr>
          <a:lstStyle/>
          <a:p>
            <a:pPr marL="0" lvl="1"/>
            <a:r>
              <a:rPr lang="zh-CN" altLang="en-US" sz="2800" dirty="0">
                <a:solidFill>
                  <a:srgbClr val="FF0000"/>
                </a:solidFill>
                <a:effectLst>
                  <a:outerShdw blurRad="38100" dist="38100" dir="2700000" algn="tl">
                    <a:srgbClr val="000000">
                      <a:alpha val="43137"/>
                    </a:srgbClr>
                  </a:outerShdw>
                </a:effectLst>
                <a:latin typeface="Times New Roman" pitchFamily="18" charset="0"/>
                <a:ea typeface="黑体" pitchFamily="49" charset="-122"/>
              </a:rPr>
              <a:t>最佳优先搜索</a:t>
            </a:r>
            <a:endParaRPr lang="en-US" altLang="zh-CN" sz="2800" dirty="0">
              <a:solidFill>
                <a:srgbClr val="FF0000"/>
              </a:solidFill>
              <a:effectLst>
                <a:outerShdw blurRad="38100" dist="38100" dir="2700000" algn="tl">
                  <a:srgbClr val="000000">
                    <a:alpha val="43137"/>
                  </a:srgbClr>
                </a:outerShdw>
              </a:effectLst>
              <a:latin typeface="Times New Roman" pitchFamily="18" charset="0"/>
              <a:ea typeface="黑体" pitchFamily="49" charset="-122"/>
            </a:endParaRPr>
          </a:p>
        </p:txBody>
      </p:sp>
    </p:spTree>
    <p:extLst>
      <p:ext uri="{BB962C8B-B14F-4D97-AF65-F5344CB8AC3E}">
        <p14:creationId xmlns:p14="http://schemas.microsoft.com/office/powerpoint/2010/main" val="295220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75133" y="439329"/>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有信息（</a:t>
              </a:r>
              <a:r>
                <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informed</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）搜索或启发式（</a:t>
              </a:r>
              <a:r>
                <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heuristic</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793809098"/>
                  </p:ext>
                </p:extLst>
              </p:nvPr>
            </p:nvGraphicFramePr>
            <p:xfrm>
              <a:off x="1398970" y="2710456"/>
              <a:ext cx="8692309" cy="1981200"/>
            </p:xfrm>
            <a:graphic>
              <a:graphicData uri="http://schemas.openxmlformats.org/drawingml/2006/table">
                <a:tbl>
                  <a:tblPr firstRow="1" bandRow="1">
                    <a:tableStyleId>{5C22544A-7EE6-4342-B048-85BDC9FD1C3A}</a:tableStyleId>
                  </a:tblPr>
                  <a:tblGrid>
                    <a:gridCol w="3065694">
                      <a:extLst>
                        <a:ext uri="{9D8B030D-6E8A-4147-A177-3AD203B41FA5}">
                          <a16:colId xmlns:a16="http://schemas.microsoft.com/office/drawing/2014/main" val="20000"/>
                        </a:ext>
                      </a:extLst>
                    </a:gridCol>
                    <a:gridCol w="3348680">
                      <a:extLst>
                        <a:ext uri="{9D8B030D-6E8A-4147-A177-3AD203B41FA5}">
                          <a16:colId xmlns:a16="http://schemas.microsoft.com/office/drawing/2014/main" val="20001"/>
                        </a:ext>
                      </a:extLst>
                    </a:gridCol>
                    <a:gridCol w="2277935">
                      <a:extLst>
                        <a:ext uri="{9D8B030D-6E8A-4147-A177-3AD203B41FA5}">
                          <a16:colId xmlns:a16="http://schemas.microsoft.com/office/drawing/2014/main" val="20002"/>
                        </a:ext>
                      </a:extLst>
                    </a:gridCol>
                  </a:tblGrid>
                  <a:tr h="507884">
                    <a:tc>
                      <a:txBody>
                        <a:bodyPr/>
                        <a:lstStyle/>
                        <a:p>
                          <a:pPr algn="ctr"/>
                          <a:r>
                            <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辅助信息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所求解问题之外、与所求解</a:t>
                          </a:r>
                          <a:endParaRPr lang="en-US" altLang="zh-CN"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问题相关的特定信息或知识。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92257">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600" b="1" dirty="0">
                              <a:latin typeface="华文楷体" panose="02010600040101010101" pitchFamily="2" charset="-122"/>
                              <a:ea typeface="华文楷体" panose="02010600040101010101" pitchFamily="2" charset="-122"/>
                              <a:cs typeface="Times New Roman" panose="02020603050405020304" pitchFamily="18" charset="0"/>
                            </a:rPr>
                            <a:t>evaluation function</a:t>
                          </a: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endParaRPr lang="zh-CN" altLang="en-US"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从当前节点</a:t>
                          </a:r>
                          <a14:m>
                            <m:oMath xmlns:m="http://schemas.openxmlformats.org/officeDocument/2006/math">
                              <m:r>
                                <a:rPr lang="en-US" altLang="zh-CN" sz="1600" b="1" i="1" smtClean="0">
                                  <a:latin typeface="Cambria Math"/>
                                  <a:ea typeface="黑体" panose="02010609060101010101" pitchFamily="49" charset="-122"/>
                                </a:rPr>
                                <m:t>𝒏</m:t>
                              </m:r>
                            </m:oMath>
                          </a14:m>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出发，根据评价函数来选择后续结点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下一个结点是谁？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03224">
                    <a:tc>
                      <a:txBody>
                        <a:bodyPr/>
                        <a:lstStyle/>
                        <a:p>
                          <a:pPr marL="0" algn="ctr" defTabSz="685800" rtl="0" eaLnBrk="1" latinLnBrk="0" hangingPunct="1"/>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600" b="1" dirty="0">
                              <a:latin typeface="华文楷体" panose="02010600040101010101" pitchFamily="2" charset="-122"/>
                              <a:ea typeface="华文楷体" panose="02010600040101010101" pitchFamily="2" charset="-122"/>
                              <a:cs typeface="Times New Roman" panose="02020603050405020304" pitchFamily="18" charset="0"/>
                            </a:rPr>
                            <a:t>heuristic</a:t>
                          </a:r>
                          <a:r>
                            <a:rPr lang="en-US" altLang="zh-CN" sz="1600" b="1" baseline="0" dirty="0">
                              <a:latin typeface="华文楷体" panose="02010600040101010101" pitchFamily="2" charset="-122"/>
                              <a:ea typeface="华文楷体" panose="02010600040101010101" pitchFamily="2" charset="-122"/>
                              <a:cs typeface="Times New Roman" panose="02020603050405020304" pitchFamily="18" charset="0"/>
                            </a:rPr>
                            <a:t> function</a:t>
                          </a: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6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计算从结点</a:t>
                          </a:r>
                          <a14:m>
                            <m:oMath xmlns:m="http://schemas.openxmlformats.org/officeDocument/2006/math">
                              <m:r>
                                <a:rPr lang="en-US" altLang="zh-CN" sz="1600" b="1" i="1" smtClean="0">
                                  <a:latin typeface="Cambria Math"/>
                                  <a:ea typeface="黑体" panose="02010609060101010101" pitchFamily="49" charset="-122"/>
                                </a:rPr>
                                <m:t>𝒏</m:t>
                              </m:r>
                            </m:oMath>
                          </a14:m>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到目标结点之间所形成路径的最小代价值，这里将两点之间的直线距离作为启发函数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完成任务还需要多少代价？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p:graphicFrame>
            <p:nvGraphicFramePr>
              <p:cNvPr id="10" name="表格 9">
                <a:extLst>
                  <a:ext uri="{FF2B5EF4-FFF2-40B4-BE49-F238E27FC236}">
                    <a16:creationId xmlns:a16="http://schemas.microsoft.com/office/drawing/2014/main" id="{D7B043C8-65B6-4BC6-836A-A87E8CA228B3}"/>
                  </a:ext>
                </a:extLst>
              </p:cNvPr>
              <p:cNvGraphicFramePr>
                <a:graphicFrameLocks noGrp="1"/>
              </p:cNvGraphicFramePr>
              <p:nvPr>
                <p:extLst>
                  <p:ext uri="{D42A27DB-BD31-4B8C-83A1-F6EECF244321}">
                    <p14:modId xmlns:p14="http://schemas.microsoft.com/office/powerpoint/2010/main" val="793809098"/>
                  </p:ext>
                </p:extLst>
              </p:nvPr>
            </p:nvGraphicFramePr>
            <p:xfrm>
              <a:off x="1398970" y="2710456"/>
              <a:ext cx="8692309" cy="1981200"/>
            </p:xfrm>
            <a:graphic>
              <a:graphicData uri="http://schemas.openxmlformats.org/drawingml/2006/table">
                <a:tbl>
                  <a:tblPr firstRow="1" bandRow="1">
                    <a:tableStyleId>{5C22544A-7EE6-4342-B048-85BDC9FD1C3A}</a:tableStyleId>
                  </a:tblPr>
                  <a:tblGrid>
                    <a:gridCol w="3065694">
                      <a:extLst>
                        <a:ext uri="{9D8B030D-6E8A-4147-A177-3AD203B41FA5}">
                          <a16:colId xmlns:a16="http://schemas.microsoft.com/office/drawing/2014/main" val="20000"/>
                        </a:ext>
                      </a:extLst>
                    </a:gridCol>
                    <a:gridCol w="3348680">
                      <a:extLst>
                        <a:ext uri="{9D8B030D-6E8A-4147-A177-3AD203B41FA5}">
                          <a16:colId xmlns:a16="http://schemas.microsoft.com/office/drawing/2014/main" val="20001"/>
                        </a:ext>
                      </a:extLst>
                    </a:gridCol>
                    <a:gridCol w="2277935">
                      <a:extLst>
                        <a:ext uri="{9D8B030D-6E8A-4147-A177-3AD203B41FA5}">
                          <a16:colId xmlns:a16="http://schemas.microsoft.com/office/drawing/2014/main" val="20002"/>
                        </a:ext>
                      </a:extLst>
                    </a:gridCol>
                  </a:tblGrid>
                  <a:tr h="579120">
                    <a:tc>
                      <a:txBody>
                        <a:bodyPr/>
                        <a:lstStyle/>
                        <a:p>
                          <a:pPr algn="ctr"/>
                          <a:r>
                            <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辅助信息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所求解问题之外、与所求解</a:t>
                          </a:r>
                          <a:endParaRPr lang="en-US" altLang="zh-CN"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p>
                          <a:pPr algn="ctr"/>
                          <a:r>
                            <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问题相关的特定信息或知识。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b="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79120">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1600" b="1" dirty="0">
                              <a:latin typeface="华文楷体" panose="02010600040101010101" pitchFamily="2" charset="-122"/>
                              <a:ea typeface="华文楷体" panose="02010600040101010101" pitchFamily="2" charset="-122"/>
                              <a:cs typeface="Times New Roman" panose="02020603050405020304" pitchFamily="18" charset="0"/>
                            </a:rPr>
                            <a:t>evaluation function</a:t>
                          </a: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endParaRPr lang="zh-CN" altLang="en-US" sz="16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636" t="-100000" r="-68364" b="-155208"/>
                          </a:stretch>
                        </a:blipFill>
                      </a:tcPr>
                    </a:tc>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下一个结点是谁？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22960">
                    <a:tc>
                      <a:txBody>
                        <a:bodyPr/>
                        <a:lstStyle/>
                        <a:p>
                          <a:pPr marL="0" algn="ctr" defTabSz="685800" rtl="0" eaLnBrk="1" latinLnBrk="0" hangingPunct="1"/>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1600" b="1" dirty="0">
                              <a:latin typeface="华文楷体" panose="02010600040101010101" pitchFamily="2" charset="-122"/>
                              <a:ea typeface="华文楷体" panose="02010600040101010101" pitchFamily="2" charset="-122"/>
                              <a:cs typeface="Times New Roman" panose="02020603050405020304" pitchFamily="18" charset="0"/>
                            </a:rPr>
                            <a:t>heuristic</a:t>
                          </a:r>
                          <a:r>
                            <a:rPr lang="en-US" altLang="zh-CN" sz="1600" b="1" baseline="0" dirty="0">
                              <a:latin typeface="华文楷体" panose="02010600040101010101" pitchFamily="2" charset="-122"/>
                              <a:ea typeface="华文楷体" panose="02010600040101010101" pitchFamily="2" charset="-122"/>
                              <a:cs typeface="Times New Roman" panose="02020603050405020304" pitchFamily="18" charset="0"/>
                            </a:rPr>
                            <a:t> function</a:t>
                          </a: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1600" b="1" kern="1200"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636" t="-142222" r="-68364" b="-10370"/>
                          </a:stretch>
                        </a:blipFill>
                      </a:tcPr>
                    </a:tc>
                    <a:tc>
                      <a:txBody>
                        <a:bodyPr/>
                        <a:lstStyle/>
                        <a:p>
                          <a:pPr algn="ctr"/>
                          <a:r>
                            <a:rPr lang="zh-CN" altLang="en-US" sz="1600" b="1" dirty="0">
                              <a:latin typeface="华文楷体" panose="02010600040101010101" pitchFamily="2" charset="-122"/>
                              <a:ea typeface="华文楷体" panose="02010600040101010101" pitchFamily="2" charset="-122"/>
                              <a:cs typeface="Times New Roman" panose="02020603050405020304" pitchFamily="18" charset="0"/>
                            </a:rPr>
                            <a:t>完成任务还需要多少代价？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Fallback>
      </mc:AlternateContent>
      <p:sp>
        <p:nvSpPr>
          <p:cNvPr id="19" name="矩形 18">
            <a:extLst>
              <a:ext uri="{FF2B5EF4-FFF2-40B4-BE49-F238E27FC236}">
                <a16:creationId xmlns:a16="http://schemas.microsoft.com/office/drawing/2014/main" id="{67BF62E0-E747-42F1-952E-79C2378C67BC}"/>
              </a:ext>
            </a:extLst>
          </p:cNvPr>
          <p:cNvSpPr/>
          <p:nvPr/>
        </p:nvSpPr>
        <p:spPr>
          <a:xfrm>
            <a:off x="1618125" y="5030819"/>
            <a:ext cx="7938543" cy="400110"/>
          </a:xfrm>
          <a:prstGeom prst="rect">
            <a:avLst/>
          </a:prstGeom>
        </p:spPr>
        <p:txBody>
          <a:bodyPr wrap="square">
            <a:spAutoFit/>
          </a:bodyPr>
          <a:lstStyle/>
          <a:p>
            <a:pPr algn="ct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贪婪最佳优先搜索</a:t>
            </a:r>
            <a:r>
              <a:rPr lang="en-US" altLang="zh-CN" sz="2000" b="1" dirty="0">
                <a:latin typeface="华文楷体" panose="02010600040101010101" pitchFamily="2" charset="-122"/>
                <a:ea typeface="华文楷体" panose="02010600040101010101" pitchFamily="2" charset="-122"/>
                <a:cs typeface="Times New Roman" panose="02020603050405020304" pitchFamily="18" charset="0"/>
              </a:rPr>
              <a:t>(Greedy best-first search)</a:t>
            </a: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：评价函数</a:t>
            </a:r>
            <a:r>
              <a:rPr lang="en-US" altLang="zh-CN" sz="20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f(n)</a:t>
            </a:r>
            <a:r>
              <a:rPr lang="en-US" altLang="zh-CN" sz="2000" b="1"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2000" b="1" dirty="0">
                <a:latin typeface="华文楷体" panose="02010600040101010101" pitchFamily="2" charset="-122"/>
                <a:ea typeface="华文楷体" panose="02010600040101010101" pitchFamily="2" charset="-122"/>
                <a:cs typeface="Times New Roman" panose="02020603050405020304" pitchFamily="18" charset="0"/>
              </a:rPr>
              <a:t>启发函数</a:t>
            </a:r>
            <a:r>
              <a:rPr lang="en-US" altLang="zh-CN" sz="20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h(n)</a:t>
            </a:r>
            <a:endParaRPr lang="zh-CN" altLang="en-US" sz="2000" b="1" dirty="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22" name="矩形: 圆角 6">
            <a:extLst>
              <a:ext uri="{FF2B5EF4-FFF2-40B4-BE49-F238E27FC236}">
                <a16:creationId xmlns:a16="http://schemas.microsoft.com/office/drawing/2014/main" id="{7CD9D1DD-A65A-4A75-9673-4D31693AC207}"/>
              </a:ext>
            </a:extLst>
          </p:cNvPr>
          <p:cNvSpPr/>
          <p:nvPr/>
        </p:nvSpPr>
        <p:spPr>
          <a:xfrm>
            <a:off x="3646948" y="1800554"/>
            <a:ext cx="3423683" cy="48382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530084CD-18F6-48BC-9F6E-FC5025989A1F}"/>
              </a:ext>
            </a:extLst>
          </p:cNvPr>
          <p:cNvSpPr/>
          <p:nvPr/>
        </p:nvSpPr>
        <p:spPr>
          <a:xfrm>
            <a:off x="2303939" y="1647170"/>
            <a:ext cx="6109702" cy="602857"/>
          </a:xfrm>
          <a:prstGeom prst="rect">
            <a:avLst/>
          </a:prstGeom>
        </p:spPr>
        <p:txBody>
          <a:bodyPr wrap="square">
            <a:spAutoFit/>
          </a:bodyPr>
          <a:lstStyle/>
          <a:p>
            <a:pPr algn="ctr">
              <a:lnSpc>
                <a:spcPct val="250000"/>
              </a:lnSpc>
              <a:buClr>
                <a:schemeClr val="bg1"/>
              </a:buClr>
              <a:buSzPct val="80000"/>
            </a:pP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两个重要函数：评价函数与启发函数</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461328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35</a:t>
            </a:fld>
            <a:endParaRPr lang="en-US" altLang="zh-CN" dirty="0"/>
          </a:p>
        </p:txBody>
      </p:sp>
      <p:sp>
        <p:nvSpPr>
          <p:cNvPr id="6" name="矩形 5">
            <a:extLst>
              <a:ext uri="{FF2B5EF4-FFF2-40B4-BE49-F238E27FC236}">
                <a16:creationId xmlns:a16="http://schemas.microsoft.com/office/drawing/2014/main" id="{6D31E2B0-E6EC-46D4-BC44-1BA90476C0DE}"/>
              </a:ext>
            </a:extLst>
          </p:cNvPr>
          <p:cNvSpPr/>
          <p:nvPr/>
        </p:nvSpPr>
        <p:spPr>
          <a:xfrm>
            <a:off x="4972523" y="3529273"/>
            <a:ext cx="6154249" cy="418063"/>
          </a:xfrm>
          <a:prstGeom prst="rect">
            <a:avLst/>
          </a:prstGeom>
        </p:spPr>
        <p:txBody>
          <a:bodyPr wrap="none">
            <a:spAutoFit/>
          </a:bodyPr>
          <a:lstStyle/>
          <a:p>
            <a:pPr indent="266700" algn="ctr">
              <a:lnSpc>
                <a:spcPct val="150000"/>
              </a:lnSpc>
              <a:spcBef>
                <a:spcPts val="600"/>
              </a:spcBef>
              <a:spcAft>
                <a:spcPts val="0"/>
              </a:spcAft>
            </a:pP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每个城市到目标城市（即城市</a:t>
            </a:r>
            <a:r>
              <a:rPr lang="en-US"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）的直线距离（启发函数取值）</a:t>
            </a:r>
          </a:p>
        </p:txBody>
      </p:sp>
      <p:pic>
        <p:nvPicPr>
          <p:cNvPr id="8" name="图片 7">
            <a:extLst>
              <a:ext uri="{FF2B5EF4-FFF2-40B4-BE49-F238E27FC236}">
                <a16:creationId xmlns:a16="http://schemas.microsoft.com/office/drawing/2014/main" id="{BCA2DE2F-15FC-4DA9-A37B-5BA5B1271EE8}"/>
              </a:ext>
            </a:extLst>
          </p:cNvPr>
          <p:cNvPicPr>
            <a:picLocks noChangeAspect="1"/>
          </p:cNvPicPr>
          <p:nvPr/>
        </p:nvPicPr>
        <p:blipFill>
          <a:blip r:embed="rId3"/>
          <a:stretch>
            <a:fillRect/>
          </a:stretch>
        </p:blipFill>
        <p:spPr>
          <a:xfrm>
            <a:off x="393405" y="1473094"/>
            <a:ext cx="4303543" cy="3401933"/>
          </a:xfrm>
          <a:prstGeom prst="rect">
            <a:avLst/>
          </a:prstGeom>
        </p:spPr>
      </p:pic>
      <p:sp>
        <p:nvSpPr>
          <p:cNvPr id="10" name="矩形 9">
            <a:extLst>
              <a:ext uri="{FF2B5EF4-FFF2-40B4-BE49-F238E27FC236}">
                <a16:creationId xmlns:a16="http://schemas.microsoft.com/office/drawing/2014/main" id="{B1E6DAB2-AE1D-4DA1-9D5F-D117DE38DD10}"/>
              </a:ext>
            </a:extLst>
          </p:cNvPr>
          <p:cNvSpPr/>
          <p:nvPr/>
        </p:nvSpPr>
        <p:spPr>
          <a:xfrm>
            <a:off x="-143539" y="5187079"/>
            <a:ext cx="4315956" cy="523220"/>
          </a:xfrm>
          <a:prstGeom prst="rect">
            <a:avLst/>
          </a:prstGeom>
        </p:spPr>
        <p:txBody>
          <a:bodyPr wrap="square">
            <a:spAutoFit/>
          </a:bodyPr>
          <a:lstStyle/>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求取从城市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到城市</a:t>
            </a:r>
            <a:r>
              <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之间</a:t>
            </a:r>
            <a:endParaRPr lang="en-US"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一条行驶时间最短路线</a:t>
            </a:r>
            <a:endParaRPr lang="zh-CN" altLang="en-US" sz="1400" dirty="0"/>
          </a:p>
        </p:txBody>
      </p:sp>
      <p:pic>
        <p:nvPicPr>
          <p:cNvPr id="11" name="图片 10">
            <a:extLst>
              <a:ext uri="{FF2B5EF4-FFF2-40B4-BE49-F238E27FC236}">
                <a16:creationId xmlns:a16="http://schemas.microsoft.com/office/drawing/2014/main" id="{52E6070E-411E-4309-8845-0E1787C04368}"/>
              </a:ext>
            </a:extLst>
          </p:cNvPr>
          <p:cNvPicPr>
            <a:picLocks noChangeAspect="1"/>
          </p:cNvPicPr>
          <p:nvPr/>
        </p:nvPicPr>
        <p:blipFill>
          <a:blip r:embed="rId4"/>
          <a:stretch>
            <a:fillRect/>
          </a:stretch>
        </p:blipFill>
        <p:spPr>
          <a:xfrm>
            <a:off x="4510198" y="1380977"/>
            <a:ext cx="6892150" cy="1638669"/>
          </a:xfrm>
          <a:prstGeom prst="rect">
            <a:avLst/>
          </a:prstGeom>
        </p:spPr>
      </p:pic>
      <p:grpSp>
        <p:nvGrpSpPr>
          <p:cNvPr id="12" name="组合 11"/>
          <p:cNvGrpSpPr/>
          <p:nvPr/>
        </p:nvGrpSpPr>
        <p:grpSpPr>
          <a:xfrm>
            <a:off x="1002122" y="421262"/>
            <a:ext cx="7538508" cy="497934"/>
            <a:chOff x="2591319" y="2819853"/>
            <a:chExt cx="4078899" cy="497934"/>
          </a:xfrm>
        </p:grpSpPr>
        <p:sp>
          <p:nvSpPr>
            <p:cNvPr id="13" name="平行四边形 1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平行四边形 1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5" name="矩形 1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有信息（</a:t>
              </a:r>
              <a:r>
                <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informed</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）搜索或启发式（</a:t>
              </a:r>
              <a:r>
                <a:rPr lang="en-US"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heuristic</a:t>
              </a:r>
              <a:r>
                <a:rPr lang="zh-CN" altLang="zh-CN"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）搜索</a:t>
              </a:r>
              <a:endPar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7860237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09359" y="49132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369332"/>
            </a:xfrm>
            <a:prstGeom prst="rect">
              <a:avLst/>
            </a:prstGeom>
          </p:spPr>
          <p:txBody>
            <a:bodyPr wrap="square">
              <a:spAutoFit/>
            </a:bodyPr>
            <a:lstStyle/>
            <a:p>
              <a:pPr algn="ctr">
                <a:spcBef>
                  <a:spcPct val="500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将启发函数作为评价函数的搜索过程</a:t>
              </a:r>
            </a:p>
          </p:txBody>
        </p:sp>
      </p:grpSp>
      <p:sp>
        <p:nvSpPr>
          <p:cNvPr id="6" name="矩形 5">
            <a:extLst>
              <a:ext uri="{FF2B5EF4-FFF2-40B4-BE49-F238E27FC236}">
                <a16:creationId xmlns:a16="http://schemas.microsoft.com/office/drawing/2014/main" id="{8D9CFA6D-17D5-4DA9-A27A-A0C7A9D3BDC7}"/>
              </a:ext>
            </a:extLst>
          </p:cNvPr>
          <p:cNvSpPr/>
          <p:nvPr/>
        </p:nvSpPr>
        <p:spPr>
          <a:xfrm>
            <a:off x="1767193" y="6040555"/>
            <a:ext cx="6305107" cy="584775"/>
          </a:xfrm>
          <a:prstGeom prst="rect">
            <a:avLst/>
          </a:prstGeom>
        </p:spPr>
        <p:txBody>
          <a:bodyPr wrap="square">
            <a:spAutoFit/>
          </a:bodyPr>
          <a:lstStyle/>
          <a:p>
            <a:pPr algn="ctr"/>
            <a:r>
              <a:rPr lang="zh-CN" altLang="zh-CN" sz="1600" b="1" dirty="0">
                <a:latin typeface="Times New Roman" panose="02020603050405020304" pitchFamily="18" charset="0"/>
                <a:ea typeface="楷体_GB2312"/>
                <a:cs typeface="Times New Roman" panose="02020603050405020304" pitchFamily="18" charset="0"/>
              </a:rPr>
              <a:t>贪婪最佳优先搜索的过程。</a:t>
            </a:r>
            <a:endParaRPr lang="en-US" altLang="zh-CN" sz="1600" b="1" dirty="0">
              <a:latin typeface="Times New Roman" panose="02020603050405020304" pitchFamily="18" charset="0"/>
              <a:ea typeface="楷体_GB2312"/>
              <a:cs typeface="Times New Roman" panose="02020603050405020304" pitchFamily="18" charset="0"/>
            </a:endParaRPr>
          </a:p>
          <a:p>
            <a:pPr algn="ctr"/>
            <a:r>
              <a:rPr lang="zh-CN" altLang="zh-CN" sz="1600" b="1" dirty="0">
                <a:latin typeface="Times New Roman" panose="02020603050405020304" pitchFamily="18" charset="0"/>
                <a:ea typeface="楷体_GB2312"/>
                <a:cs typeface="Times New Roman" panose="02020603050405020304" pitchFamily="18" charset="0"/>
              </a:rPr>
              <a:t>图中边缘结点下数字表示其评价函数取值</a:t>
            </a:r>
            <a:endParaRPr lang="zh-CN" altLang="en-US" sz="1600" dirty="0"/>
          </a:p>
        </p:txBody>
      </p:sp>
      <p:pic>
        <p:nvPicPr>
          <p:cNvPr id="8" name="图片 7">
            <a:extLst>
              <a:ext uri="{FF2B5EF4-FFF2-40B4-BE49-F238E27FC236}">
                <a16:creationId xmlns:a16="http://schemas.microsoft.com/office/drawing/2014/main" id="{DC2BD41E-9242-43E6-B960-5958F680919F}"/>
              </a:ext>
            </a:extLst>
          </p:cNvPr>
          <p:cNvPicPr>
            <a:picLocks noChangeAspect="1"/>
          </p:cNvPicPr>
          <p:nvPr/>
        </p:nvPicPr>
        <p:blipFill>
          <a:blip r:embed="rId3"/>
          <a:stretch>
            <a:fillRect/>
          </a:stretch>
        </p:blipFill>
        <p:spPr>
          <a:xfrm>
            <a:off x="561774" y="1375253"/>
            <a:ext cx="7071564" cy="4541765"/>
          </a:xfrm>
          <a:prstGeom prst="rect">
            <a:avLst/>
          </a:prstGeom>
        </p:spPr>
      </p:pic>
      <mc:AlternateContent xmlns:mc="http://schemas.openxmlformats.org/markup-compatibility/2006">
        <mc:Choice xmlns:a14="http://schemas.microsoft.com/office/drawing/2010/main" Requires="a14">
          <p:sp>
            <p:nvSpPr>
              <p:cNvPr id="14" name="矩形: 圆角 6">
                <a:extLst>
                  <a:ext uri="{FF2B5EF4-FFF2-40B4-BE49-F238E27FC236}">
                    <a16:creationId xmlns:a16="http://schemas.microsoft.com/office/drawing/2014/main" id="{22F676B9-B172-47FC-ACE6-8EE0B94D8684}"/>
                  </a:ext>
                </a:extLst>
              </p:cNvPr>
              <p:cNvSpPr/>
              <p:nvPr/>
            </p:nvSpPr>
            <p:spPr>
              <a:xfrm>
                <a:off x="8192911" y="2045736"/>
                <a:ext cx="3550749" cy="2078231"/>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算法找到了一条从起始结点到目标结点的路径</a:t>
                </a:r>
                <a14:m>
                  <m:oMath xmlns:m="http://schemas.openxmlformats.org/officeDocument/2006/math">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H</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J</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K</m:t>
                    </m:r>
                  </m:oMath>
                </a14:m>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但这条路径并不是最短路径，实际上最短路径为</a:t>
                </a:r>
                <a14:m>
                  <m:oMath xmlns:m="http://schemas.openxmlformats.org/officeDocument/2006/math">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A</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G</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K</m:t>
                    </m:r>
                  </m:oMath>
                </a14:m>
                <a:endPar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p:sp>
            <p:nvSpPr>
              <p:cNvPr id="14" name="矩形: 圆角 6">
                <a:extLst>
                  <a:ext uri="{FF2B5EF4-FFF2-40B4-BE49-F238E27FC236}">
                    <a16:creationId xmlns:a16="http://schemas.microsoft.com/office/drawing/2014/main" id="{22F676B9-B172-47FC-ACE6-8EE0B94D8684}"/>
                  </a:ext>
                </a:extLst>
              </p:cNvPr>
              <p:cNvSpPr>
                <a:spLocks noRot="1" noChangeAspect="1" noMove="1" noResize="1" noEditPoints="1" noAdjustHandles="1" noChangeArrowheads="1" noChangeShapeType="1" noTextEdit="1"/>
              </p:cNvSpPr>
              <p:nvPr/>
            </p:nvSpPr>
            <p:spPr>
              <a:xfrm>
                <a:off x="8192911" y="2045736"/>
                <a:ext cx="3550749" cy="2078231"/>
              </a:xfrm>
              <a:prstGeom prst="roundRect">
                <a:avLst>
                  <a:gd name="adj" fmla="val 0"/>
                </a:avLst>
              </a:prstGeom>
              <a:blipFill>
                <a:blip r:embed="rId4"/>
                <a:stretch>
                  <a:fillRect l="-1546"/>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5813300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26746" y="884732"/>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369332"/>
            </a:xfrm>
            <a:prstGeom prst="rect">
              <a:avLst/>
            </a:prstGeom>
          </p:spPr>
          <p:txBody>
            <a:bodyPr wrap="square">
              <a:spAutoFit/>
            </a:bodyPr>
            <a:lstStyle/>
            <a:p>
              <a:pPr algn="ctr">
                <a:spcBef>
                  <a:spcPct val="500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贪婪最佳优先搜索</a:t>
              </a:r>
              <a:r>
                <a:rPr lang="zh-CN" altLang="en-US" sz="16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为什么会失败</a:t>
              </a:r>
            </a:p>
          </p:txBody>
        </p:sp>
      </p:grpSp>
      <p:grpSp>
        <p:nvGrpSpPr>
          <p:cNvPr id="17" name="组合 16">
            <a:extLst>
              <a:ext uri="{FF2B5EF4-FFF2-40B4-BE49-F238E27FC236}">
                <a16:creationId xmlns:a16="http://schemas.microsoft.com/office/drawing/2014/main" id="{7034ED62-C418-4586-9B5A-28C934339FE9}"/>
              </a:ext>
            </a:extLst>
          </p:cNvPr>
          <p:cNvGrpSpPr/>
          <p:nvPr/>
        </p:nvGrpSpPr>
        <p:grpSpPr>
          <a:xfrm>
            <a:off x="1809492" y="781723"/>
            <a:ext cx="818922" cy="818922"/>
            <a:chOff x="4082479" y="2760704"/>
            <a:chExt cx="1485324" cy="1485324"/>
          </a:xfrm>
        </p:grpSpPr>
        <p:sp>
          <p:nvSpPr>
            <p:cNvPr id="18" name="立方体 17">
              <a:extLst>
                <a:ext uri="{FF2B5EF4-FFF2-40B4-BE49-F238E27FC236}">
                  <a16:creationId xmlns:a16="http://schemas.microsoft.com/office/drawing/2014/main" id="{EFBAE2D9-A561-48E7-BF6C-DE8BCA261ABA}"/>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E9170F1F-D7C0-4D8E-AECE-765479728150}"/>
                </a:ext>
              </a:extLst>
            </p:cNvPr>
            <p:cNvGrpSpPr/>
            <p:nvPr/>
          </p:nvGrpSpPr>
          <p:grpSpPr>
            <a:xfrm>
              <a:off x="4494284" y="2979307"/>
              <a:ext cx="607190" cy="1121821"/>
              <a:chOff x="9632752" y="7542709"/>
              <a:chExt cx="890113" cy="1644542"/>
            </a:xfrm>
          </p:grpSpPr>
          <p:sp>
            <p:nvSpPr>
              <p:cNvPr id="22" name="任意多边形 30">
                <a:extLst>
                  <a:ext uri="{FF2B5EF4-FFF2-40B4-BE49-F238E27FC236}">
                    <a16:creationId xmlns:a16="http://schemas.microsoft.com/office/drawing/2014/main" id="{20416DE1-D910-4080-BBDE-9ADCA6A98992}"/>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3" name="任意多边形 28">
                <a:extLst>
                  <a:ext uri="{FF2B5EF4-FFF2-40B4-BE49-F238E27FC236}">
                    <a16:creationId xmlns:a16="http://schemas.microsoft.com/office/drawing/2014/main" id="{3C441208-D5C6-4372-B0A6-C42A43857112}"/>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D9DD6681-64A9-4EB7-B39E-DECC6FBF8A6D}"/>
                  </a:ext>
                </a:extLst>
              </p:cNvPr>
              <p:cNvSpPr/>
              <p:nvPr/>
            </p:nvSpPr>
            <p:spPr>
              <a:xfrm>
                <a:off x="1758351" y="2840375"/>
                <a:ext cx="8501569" cy="2862322"/>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2400" dirty="0" smtClean="0">
                    <a:solidFill>
                      <a:srgbClr val="000000"/>
                    </a:solidFill>
                    <a:latin typeface="Times New Roman" panose="02020603050405020304" pitchFamily="18" charset="0"/>
                    <a:ea typeface="楷体_GB2312"/>
                    <a:cs typeface="Times New Roman" panose="02020603050405020304" pitchFamily="18" charset="0"/>
                  </a:rPr>
                  <a:t>在</a:t>
                </a:r>
                <a:r>
                  <a:rPr lang="zh-CN" altLang="en-US" sz="2400" dirty="0">
                    <a:solidFill>
                      <a:srgbClr val="000000"/>
                    </a:solidFill>
                    <a:latin typeface="Times New Roman" panose="02020603050405020304" pitchFamily="18" charset="0"/>
                    <a:ea typeface="楷体_GB2312"/>
                    <a:cs typeface="Times New Roman" panose="02020603050405020304" pitchFamily="18" charset="0"/>
                  </a:rPr>
                  <a:t>上述搜索步骤</a:t>
                </a:r>
                <a:r>
                  <a:rPr lang="zh-CN" altLang="zh-CN" sz="2400" dirty="0">
                    <a:solidFill>
                      <a:srgbClr val="000000"/>
                    </a:solidFill>
                    <a:latin typeface="Times New Roman" panose="02020603050405020304" pitchFamily="18" charset="0"/>
                    <a:ea typeface="楷体_GB2312"/>
                    <a:cs typeface="Times New Roman" panose="02020603050405020304" pitchFamily="18" charset="0"/>
                  </a:rPr>
                  <a:t>中，虽然第四步扩展的</a:t>
                </a:r>
                <a:r>
                  <a:rPr lang="en-US" altLang="zh-CN" sz="2400" dirty="0">
                    <a:solidFill>
                      <a:srgbClr val="000000"/>
                    </a:solidFill>
                    <a:latin typeface="Times New Roman" panose="02020603050405020304" pitchFamily="18" charset="0"/>
                    <a:ea typeface="楷体_GB2312"/>
                    <a:cs typeface="Times New Roman" panose="02020603050405020304" pitchFamily="18" charset="0"/>
                  </a:rPr>
                  <a:t>J</a:t>
                </a:r>
                <a:r>
                  <a:rPr lang="zh-CN" altLang="zh-CN" sz="2400" dirty="0">
                    <a:solidFill>
                      <a:srgbClr val="000000"/>
                    </a:solidFill>
                    <a:latin typeface="Times New Roman" panose="02020603050405020304" pitchFamily="18" charset="0"/>
                    <a:ea typeface="楷体_GB2312"/>
                    <a:cs typeface="Times New Roman" panose="02020603050405020304" pitchFamily="18" charset="0"/>
                  </a:rPr>
                  <a:t>结点距离目标结点的估计代价很小（取值为</a:t>
                </a:r>
                <a:r>
                  <a:rPr lang="en-US" altLang="zh-CN" sz="2400" dirty="0">
                    <a:solidFill>
                      <a:srgbClr val="000000"/>
                    </a:solidFill>
                    <a:latin typeface="Times New Roman" panose="02020603050405020304" pitchFamily="18" charset="0"/>
                    <a:ea typeface="楷体_GB2312"/>
                    <a:cs typeface="Times New Roman" panose="02020603050405020304" pitchFamily="18" charset="0"/>
                  </a:rPr>
                  <a:t>3</a:t>
                </a:r>
                <a:r>
                  <a:rPr lang="zh-CN" altLang="zh-CN" sz="2400" dirty="0">
                    <a:solidFill>
                      <a:srgbClr val="000000"/>
                    </a:solidFill>
                    <a:latin typeface="Times New Roman" panose="02020603050405020304" pitchFamily="18" charset="0"/>
                    <a:ea typeface="楷体_GB2312"/>
                    <a:cs typeface="Times New Roman" panose="02020603050405020304" pitchFamily="18" charset="0"/>
                  </a:rPr>
                  <a:t>），但从起始结点到达该结点的路径</a:t>
                </a:r>
                <a14:m>
                  <m:oMath xmlns:m="http://schemas.openxmlformats.org/officeDocument/2006/math">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A</m:t>
                    </m:r>
                    <m:r>
                      <a:rPr lang="en-US" altLang="zh-CN" sz="24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E</m:t>
                    </m:r>
                    <m:r>
                      <a:rPr lang="en-US" altLang="zh-CN" sz="24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H</m:t>
                    </m:r>
                    <m:r>
                      <a:rPr lang="en-US" altLang="zh-CN" sz="24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J</m:t>
                    </m:r>
                  </m:oMath>
                </a14:m>
                <a:r>
                  <a:rPr lang="zh-CN" altLang="zh-CN" sz="2400" dirty="0">
                    <a:solidFill>
                      <a:srgbClr val="000000"/>
                    </a:solidFill>
                    <a:latin typeface="Times New Roman" panose="02020603050405020304" pitchFamily="18" charset="0"/>
                    <a:ea typeface="楷体_GB2312"/>
                    <a:cs typeface="Times New Roman" panose="02020603050405020304" pitchFamily="18" charset="0"/>
                  </a:rPr>
                  <a:t>代价为</a:t>
                </a:r>
                <a:r>
                  <a:rPr lang="en-US" altLang="zh-CN" sz="2400" dirty="0">
                    <a:solidFill>
                      <a:srgbClr val="000000"/>
                    </a:solidFill>
                    <a:latin typeface="Times New Roman" panose="02020603050405020304" pitchFamily="18" charset="0"/>
                    <a:ea typeface="楷体_GB2312"/>
                    <a:cs typeface="Times New Roman" panose="02020603050405020304" pitchFamily="18" charset="0"/>
                  </a:rPr>
                  <a:t>17</a:t>
                </a:r>
                <a:r>
                  <a:rPr lang="zh-CN" altLang="zh-CN" sz="2400" dirty="0">
                    <a:solidFill>
                      <a:srgbClr val="000000"/>
                    </a:solidFill>
                    <a:latin typeface="Times New Roman" panose="02020603050405020304" pitchFamily="18" charset="0"/>
                    <a:ea typeface="楷体_GB2312"/>
                    <a:cs typeface="Times New Roman" panose="02020603050405020304" pitchFamily="18" charset="0"/>
                  </a:rPr>
                  <a:t>，已经超过了实际上最短路径的代价（值为</a:t>
                </a:r>
                <a:r>
                  <a:rPr lang="en-US" altLang="zh-CN" sz="2400" dirty="0">
                    <a:solidFill>
                      <a:srgbClr val="000000"/>
                    </a:solidFill>
                    <a:latin typeface="Times New Roman" panose="02020603050405020304" pitchFamily="18" charset="0"/>
                    <a:ea typeface="楷体_GB2312"/>
                    <a:cs typeface="Times New Roman" panose="02020603050405020304" pitchFamily="18" charset="0"/>
                  </a:rPr>
                  <a:t>14</a:t>
                </a:r>
                <a:r>
                  <a:rPr lang="zh-CN" altLang="zh-CN" sz="2400" dirty="0">
                    <a:solidFill>
                      <a:srgbClr val="000000"/>
                    </a:solidFill>
                    <a:latin typeface="Times New Roman" panose="02020603050405020304" pitchFamily="18" charset="0"/>
                    <a:ea typeface="楷体_GB2312"/>
                    <a:cs typeface="Times New Roman" panose="02020603050405020304" pitchFamily="18" charset="0"/>
                  </a:rPr>
                  <a:t>），因此路径</a:t>
                </a:r>
                <a14:m>
                  <m:oMath xmlns:m="http://schemas.openxmlformats.org/officeDocument/2006/math">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A</m:t>
                    </m:r>
                    <m:r>
                      <a:rPr lang="en-US" altLang="zh-CN" sz="24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E</m:t>
                    </m:r>
                    <m:r>
                      <a:rPr lang="en-US" altLang="zh-CN" sz="24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H</m:t>
                    </m:r>
                    <m:r>
                      <a:rPr lang="en-US" altLang="zh-CN" sz="2400">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2400">
                        <a:solidFill>
                          <a:srgbClr val="000000"/>
                        </a:solidFill>
                        <a:latin typeface="Cambria Math" panose="02040503050406030204" pitchFamily="18" charset="0"/>
                        <a:ea typeface="楷体_GB2312"/>
                        <a:cs typeface="Times New Roman" panose="02020603050405020304" pitchFamily="18" charset="0"/>
                      </a:rPr>
                      <m:t>J</m:t>
                    </m:r>
                  </m:oMath>
                </a14:m>
                <a:r>
                  <a:rPr lang="zh-CN" altLang="zh-CN" sz="2400" dirty="0">
                    <a:solidFill>
                      <a:srgbClr val="000000"/>
                    </a:solidFill>
                    <a:latin typeface="Times New Roman" panose="02020603050405020304" pitchFamily="18" charset="0"/>
                    <a:ea typeface="楷体_GB2312"/>
                    <a:cs typeface="Times New Roman" panose="02020603050405020304" pitchFamily="18" charset="0"/>
                  </a:rPr>
                  <a:t>并不是一个好的探索方向。</a:t>
                </a:r>
              </a:p>
            </p:txBody>
          </p:sp>
        </mc:Choice>
        <mc:Fallback>
          <p:sp>
            <p:nvSpPr>
              <p:cNvPr id="7" name="矩形 6">
                <a:extLst>
                  <a:ext uri="{FF2B5EF4-FFF2-40B4-BE49-F238E27FC236}">
                    <a16:creationId xmlns:a16="http://schemas.microsoft.com/office/drawing/2014/main" id="{D9DD6681-64A9-4EB7-B39E-DECC6FBF8A6D}"/>
                  </a:ext>
                </a:extLst>
              </p:cNvPr>
              <p:cNvSpPr>
                <a:spLocks noRot="1" noChangeAspect="1" noMove="1" noResize="1" noEditPoints="1" noAdjustHandles="1" noChangeArrowheads="1" noChangeShapeType="1" noTextEdit="1"/>
              </p:cNvSpPr>
              <p:nvPr/>
            </p:nvSpPr>
            <p:spPr>
              <a:xfrm>
                <a:off x="1758351" y="2840375"/>
                <a:ext cx="8501569" cy="2862322"/>
              </a:xfrm>
              <a:prstGeom prst="rect">
                <a:avLst/>
              </a:prstGeom>
              <a:blipFill>
                <a:blip r:embed="rId3"/>
                <a:stretch>
                  <a:fillRect l="-932" r="-1147" b="-106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6C68705D-CB9A-40CD-98CA-68F9D9439406}"/>
              </a:ext>
            </a:extLst>
          </p:cNvPr>
          <p:cNvPicPr>
            <a:picLocks noChangeAspect="1"/>
          </p:cNvPicPr>
          <p:nvPr/>
        </p:nvPicPr>
        <p:blipFill>
          <a:blip r:embed="rId4"/>
          <a:stretch>
            <a:fillRect/>
          </a:stretch>
        </p:blipFill>
        <p:spPr>
          <a:xfrm rot="18793260">
            <a:off x="7746695" y="953025"/>
            <a:ext cx="2113750" cy="541881"/>
          </a:xfrm>
          <a:prstGeom prst="rect">
            <a:avLst/>
          </a:prstGeom>
        </p:spPr>
      </p:pic>
    </p:spTree>
    <p:extLst>
      <p:ext uri="{BB962C8B-B14F-4D97-AF65-F5344CB8AC3E}">
        <p14:creationId xmlns:p14="http://schemas.microsoft.com/office/powerpoint/2010/main" val="1967964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38</a:t>
            </a:fld>
            <a:endParaRPr lang="en-US" altLang="zh-CN" dirty="0"/>
          </a:p>
        </p:txBody>
      </p:sp>
      <p:pic>
        <p:nvPicPr>
          <p:cNvPr id="11" name="Picture 5"/>
          <p:cNvPicPr>
            <a:picLocks noChangeAspect="1" noChangeArrowheads="1"/>
          </p:cNvPicPr>
          <p:nvPr/>
        </p:nvPicPr>
        <p:blipFill>
          <a:blip r:embed="rId3"/>
          <a:srcRect/>
          <a:stretch>
            <a:fillRect/>
          </a:stretch>
        </p:blipFill>
        <p:spPr bwMode="auto">
          <a:xfrm>
            <a:off x="1905000" y="1385888"/>
            <a:ext cx="8675688" cy="4405313"/>
          </a:xfrm>
          <a:prstGeom prst="rect">
            <a:avLst/>
          </a:prstGeom>
          <a:noFill/>
          <a:ln w="9525" algn="ctr">
            <a:noFill/>
            <a:miter lim="800000"/>
            <a:headEnd/>
            <a:tailEnd/>
          </a:ln>
        </p:spPr>
      </p:pic>
      <p:sp>
        <p:nvSpPr>
          <p:cNvPr id="7" name="Rounded Rectangle 6"/>
          <p:cNvSpPr/>
          <p:nvPr/>
        </p:nvSpPr>
        <p:spPr>
          <a:xfrm>
            <a:off x="8725359" y="1567943"/>
            <a:ext cx="1905000" cy="42672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6"/>
          <p:cNvSpPr txBox="1">
            <a:spLocks noChangeArrowheads="1"/>
          </p:cNvSpPr>
          <p:nvPr/>
        </p:nvSpPr>
        <p:spPr bwMode="auto">
          <a:xfrm>
            <a:off x="9350566" y="5791200"/>
            <a:ext cx="1143000" cy="523218"/>
          </a:xfrm>
          <a:prstGeom prst="rect">
            <a:avLst/>
          </a:prstGeom>
          <a:noFill/>
          <a:ln w="9525">
            <a:noFill/>
            <a:miter lim="800000"/>
            <a:headEnd/>
            <a:tailEnd/>
          </a:ln>
        </p:spPr>
        <p:txBody>
          <a:bodyPr lIns="91438" tIns="45719" rIns="91438" bIns="45719">
            <a:spAutoFit/>
          </a:bodyPr>
          <a:lstStyle/>
          <a:p>
            <a:pPr>
              <a:spcBef>
                <a:spcPct val="50000"/>
              </a:spcBef>
            </a:pPr>
            <a:r>
              <a:rPr lang="en-US" sz="2800" dirty="0">
                <a:solidFill>
                  <a:srgbClr val="C00000"/>
                </a:solidFill>
              </a:rPr>
              <a:t>h(x)</a:t>
            </a:r>
          </a:p>
        </p:txBody>
      </p:sp>
      <p:grpSp>
        <p:nvGrpSpPr>
          <p:cNvPr id="9" name="组合 8"/>
          <p:cNvGrpSpPr/>
          <p:nvPr/>
        </p:nvGrpSpPr>
        <p:grpSpPr>
          <a:xfrm>
            <a:off x="831906" y="329182"/>
            <a:ext cx="7538508" cy="497934"/>
            <a:chOff x="2591319" y="2819853"/>
            <a:chExt cx="4078899" cy="497934"/>
          </a:xfrm>
        </p:grpSpPr>
        <p:sp>
          <p:nvSpPr>
            <p:cNvPr id="12" name="平行四边形 11"/>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平行四边形 12"/>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4" name="矩形 13"/>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最佳优先搜索另一个例子</a:t>
              </a:r>
              <a:endPar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771633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39</a:t>
            </a:fld>
            <a:endParaRPr lang="en-US" altLang="zh-CN" dirty="0"/>
          </a:p>
        </p:txBody>
      </p:sp>
      <p:pic>
        <p:nvPicPr>
          <p:cNvPr id="7" name="Picture 2" descr="greedy-progress04c"/>
          <p:cNvPicPr>
            <a:picLocks noChangeAspect="1" noChangeArrowheads="1"/>
          </p:cNvPicPr>
          <p:nvPr/>
        </p:nvPicPr>
        <p:blipFill>
          <a:blip r:embed="rId3"/>
          <a:srcRect/>
          <a:stretch>
            <a:fillRect/>
          </a:stretch>
        </p:blipFill>
        <p:spPr bwMode="auto">
          <a:xfrm>
            <a:off x="1677988" y="1844676"/>
            <a:ext cx="8888412" cy="3235325"/>
          </a:xfrm>
          <a:prstGeom prst="rect">
            <a:avLst/>
          </a:prstGeom>
          <a:noFill/>
          <a:ln w="9525">
            <a:noFill/>
            <a:miter lim="800000"/>
            <a:headEnd/>
            <a:tailEnd/>
          </a:ln>
        </p:spPr>
      </p:pic>
      <p:grpSp>
        <p:nvGrpSpPr>
          <p:cNvPr id="6" name="组合 5"/>
          <p:cNvGrpSpPr/>
          <p:nvPr/>
        </p:nvGrpSpPr>
        <p:grpSpPr>
          <a:xfrm>
            <a:off x="831906" y="329182"/>
            <a:ext cx="7538508" cy="497934"/>
            <a:chOff x="2591319" y="2819853"/>
            <a:chExt cx="4078899"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最佳优先搜索另一个例子</a:t>
              </a:r>
              <a:endPar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5459274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40</a:t>
            </a:fld>
            <a:endParaRPr lang="en-US" altLang="zh-CN" dirty="0"/>
          </a:p>
        </p:txBody>
      </p:sp>
      <p:grpSp>
        <p:nvGrpSpPr>
          <p:cNvPr id="8" name="组合 9"/>
          <p:cNvGrpSpPr>
            <a:grpSpLocks/>
          </p:cNvGrpSpPr>
          <p:nvPr/>
        </p:nvGrpSpPr>
        <p:grpSpPr bwMode="auto">
          <a:xfrm>
            <a:off x="2667000" y="1371601"/>
            <a:ext cx="7620000" cy="4872037"/>
            <a:chOff x="1066800" y="1352536"/>
            <a:chExt cx="7620000" cy="4872038"/>
          </a:xfrm>
        </p:grpSpPr>
        <p:pic>
          <p:nvPicPr>
            <p:cNvPr id="9" name="Picture 5"/>
            <p:cNvPicPr>
              <a:picLocks noChangeAspect="1" noChangeArrowheads="1"/>
            </p:cNvPicPr>
            <p:nvPr/>
          </p:nvPicPr>
          <p:blipFill>
            <a:blip r:embed="rId3"/>
            <a:srcRect/>
            <a:stretch>
              <a:fillRect/>
            </a:stretch>
          </p:blipFill>
          <p:spPr bwMode="auto">
            <a:xfrm>
              <a:off x="1066800" y="1352536"/>
              <a:ext cx="7620000" cy="4872038"/>
            </a:xfrm>
            <a:prstGeom prst="rect">
              <a:avLst/>
            </a:prstGeom>
            <a:noFill/>
            <a:ln w="9525" algn="ctr">
              <a:noFill/>
              <a:miter lim="800000"/>
              <a:headEnd/>
              <a:tailEnd/>
            </a:ln>
          </p:spPr>
        </p:pic>
        <p:grpSp>
          <p:nvGrpSpPr>
            <p:cNvPr id="10" name="Group 6"/>
            <p:cNvGrpSpPr>
              <a:grpSpLocks/>
            </p:cNvGrpSpPr>
            <p:nvPr/>
          </p:nvGrpSpPr>
          <p:grpSpPr bwMode="auto">
            <a:xfrm>
              <a:off x="3429000" y="3328974"/>
              <a:ext cx="838200" cy="889000"/>
              <a:chOff x="96" y="1968"/>
              <a:chExt cx="528" cy="560"/>
            </a:xfrm>
          </p:grpSpPr>
          <p:sp>
            <p:nvSpPr>
              <p:cNvPr id="14" name="Oval 7"/>
              <p:cNvSpPr>
                <a:spLocks noChangeArrowheads="1"/>
              </p:cNvSpPr>
              <p:nvPr/>
            </p:nvSpPr>
            <p:spPr bwMode="auto">
              <a:xfrm>
                <a:off x="240" y="1968"/>
                <a:ext cx="384" cy="192"/>
              </a:xfrm>
              <a:prstGeom prst="ellipse">
                <a:avLst/>
              </a:prstGeom>
              <a:noFill/>
              <a:ln w="9525">
                <a:solidFill>
                  <a:srgbClr val="F6332E"/>
                </a:solidFill>
                <a:round/>
                <a:headEnd/>
                <a:tailEnd/>
              </a:ln>
            </p:spPr>
            <p:txBody>
              <a:bodyPr wrap="none" anchor="ctr"/>
              <a:lstStyle/>
              <a:p>
                <a:pPr algn="ctr"/>
                <a:endParaRPr lang="zh-CN" altLang="zh-CN">
                  <a:solidFill>
                    <a:srgbClr val="F6332E"/>
                  </a:solidFill>
                </a:endParaRPr>
              </a:p>
            </p:txBody>
          </p:sp>
          <p:sp>
            <p:nvSpPr>
              <p:cNvPr id="15" name="Line 8"/>
              <p:cNvSpPr>
                <a:spLocks noChangeShapeType="1"/>
              </p:cNvSpPr>
              <p:nvPr/>
            </p:nvSpPr>
            <p:spPr bwMode="auto">
              <a:xfrm flipV="1">
                <a:off x="96" y="2112"/>
                <a:ext cx="240" cy="416"/>
              </a:xfrm>
              <a:prstGeom prst="line">
                <a:avLst/>
              </a:prstGeom>
              <a:noFill/>
              <a:ln w="9525">
                <a:solidFill>
                  <a:srgbClr val="F6332E"/>
                </a:solidFill>
                <a:round/>
                <a:headEnd/>
                <a:tailEnd type="triangle" w="med" len="med"/>
              </a:ln>
            </p:spPr>
            <p:txBody>
              <a:bodyPr/>
              <a:lstStyle/>
              <a:p>
                <a:endParaRPr lang="zh-CN" altLang="en-US"/>
              </a:p>
            </p:txBody>
          </p:sp>
        </p:grpSp>
        <p:grpSp>
          <p:nvGrpSpPr>
            <p:cNvPr id="11" name="Group 9"/>
            <p:cNvGrpSpPr>
              <a:grpSpLocks/>
            </p:cNvGrpSpPr>
            <p:nvPr/>
          </p:nvGrpSpPr>
          <p:grpSpPr bwMode="auto">
            <a:xfrm>
              <a:off x="5181600" y="2566974"/>
              <a:ext cx="838200" cy="876300"/>
              <a:chOff x="2496" y="3216"/>
              <a:chExt cx="528" cy="552"/>
            </a:xfrm>
          </p:grpSpPr>
          <p:sp>
            <p:nvSpPr>
              <p:cNvPr id="12" name="Oval 10"/>
              <p:cNvSpPr>
                <a:spLocks noChangeArrowheads="1"/>
              </p:cNvSpPr>
              <p:nvPr/>
            </p:nvSpPr>
            <p:spPr bwMode="auto">
              <a:xfrm>
                <a:off x="2640" y="3216"/>
                <a:ext cx="384" cy="192"/>
              </a:xfrm>
              <a:prstGeom prst="ellipse">
                <a:avLst/>
              </a:prstGeom>
              <a:noFill/>
              <a:ln w="9525">
                <a:solidFill>
                  <a:srgbClr val="F6332E"/>
                </a:solidFill>
                <a:round/>
                <a:headEnd/>
                <a:tailEnd/>
              </a:ln>
            </p:spPr>
            <p:txBody>
              <a:bodyPr wrap="none" anchor="ctr"/>
              <a:lstStyle/>
              <a:p>
                <a:pPr algn="ctr"/>
                <a:endParaRPr lang="zh-CN" altLang="zh-CN">
                  <a:solidFill>
                    <a:srgbClr val="F6332E"/>
                  </a:solidFill>
                </a:endParaRPr>
              </a:p>
            </p:txBody>
          </p:sp>
          <p:sp>
            <p:nvSpPr>
              <p:cNvPr id="13" name="Line 11"/>
              <p:cNvSpPr>
                <a:spLocks noChangeShapeType="1"/>
              </p:cNvSpPr>
              <p:nvPr/>
            </p:nvSpPr>
            <p:spPr bwMode="auto">
              <a:xfrm flipV="1">
                <a:off x="2496" y="3384"/>
                <a:ext cx="240" cy="384"/>
              </a:xfrm>
              <a:prstGeom prst="line">
                <a:avLst/>
              </a:prstGeom>
              <a:noFill/>
              <a:ln w="9525">
                <a:solidFill>
                  <a:srgbClr val="F6332E"/>
                </a:solidFill>
                <a:round/>
                <a:headEnd/>
                <a:tailEnd type="triangle" w="med" len="med"/>
              </a:ln>
            </p:spPr>
            <p:txBody>
              <a:bodyPr/>
              <a:lstStyle/>
              <a:p>
                <a:endParaRPr lang="zh-CN" altLang="en-US"/>
              </a:p>
            </p:txBody>
          </p:sp>
        </p:grpSp>
      </p:grpSp>
      <p:grpSp>
        <p:nvGrpSpPr>
          <p:cNvPr id="17" name="组合 16"/>
          <p:cNvGrpSpPr/>
          <p:nvPr/>
        </p:nvGrpSpPr>
        <p:grpSpPr>
          <a:xfrm>
            <a:off x="831906" y="329182"/>
            <a:ext cx="7538508" cy="497934"/>
            <a:chOff x="2591319" y="2819853"/>
            <a:chExt cx="4078899" cy="497934"/>
          </a:xfrm>
        </p:grpSpPr>
        <p:sp>
          <p:nvSpPr>
            <p:cNvPr id="18" name="平行四边形 1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9" name="平行四边形 18"/>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0" name="矩形 19"/>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最佳优先搜索另一个例子</a:t>
              </a:r>
              <a:endPar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505475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41</a:t>
            </a:fld>
            <a:endParaRPr lang="en-US" altLang="zh-CN" dirty="0"/>
          </a:p>
        </p:txBody>
      </p:sp>
      <p:sp>
        <p:nvSpPr>
          <p:cNvPr id="7" name="内容占位符 6"/>
          <p:cNvSpPr>
            <a:spLocks noGrp="1"/>
          </p:cNvSpPr>
          <p:nvPr>
            <p:ph idx="1"/>
          </p:nvPr>
        </p:nvSpPr>
        <p:spPr>
          <a:xfrm>
            <a:off x="870098" y="1618290"/>
            <a:ext cx="10515600" cy="4351338"/>
          </a:xfrm>
        </p:spPr>
        <p:txBody>
          <a:bodyPr>
            <a:normAutofit/>
          </a:bodyPr>
          <a:lstStyle/>
          <a:p>
            <a:pPr>
              <a:lnSpc>
                <a:spcPct val="150000"/>
              </a:lnSpc>
              <a:spcBef>
                <a:spcPct val="35000"/>
              </a:spcBef>
              <a:buClr>
                <a:srgbClr val="FF0000"/>
              </a:buClr>
              <a:buSzPct val="90000"/>
              <a:buFont typeface="Wingdings" panose="05000000000000000000" pitchFamily="2" charset="2"/>
              <a:buChar char="p"/>
            </a:pPr>
            <a:r>
              <a:rPr lang="zh-CN" altLang="en-US" u="sng" dirty="0">
                <a:solidFill>
                  <a:srgbClr val="CC0099"/>
                </a:solidFill>
              </a:rPr>
              <a:t>完备性</a:t>
            </a:r>
            <a:r>
              <a:rPr lang="en-US" altLang="zh-CN" u="sng" dirty="0">
                <a:solidFill>
                  <a:srgbClr val="CC0099"/>
                </a:solidFill>
              </a:rPr>
              <a:t>?</a:t>
            </a:r>
            <a:r>
              <a:rPr lang="en-US" altLang="zh-CN" dirty="0">
                <a:solidFill>
                  <a:srgbClr val="CC0099"/>
                </a:solidFill>
              </a:rPr>
              <a:t>   </a:t>
            </a:r>
            <a:r>
              <a:rPr lang="zh-CN" altLang="en-US" sz="2400" dirty="0">
                <a:latin typeface="+mn-ea"/>
              </a:rPr>
              <a:t>否</a:t>
            </a:r>
            <a:r>
              <a:rPr lang="en-US" altLang="zh-CN" sz="2400" dirty="0">
                <a:latin typeface="+mn-ea"/>
              </a:rPr>
              <a:t>–</a:t>
            </a:r>
            <a:r>
              <a:rPr lang="zh-CN" altLang="en-US" sz="2400" dirty="0">
                <a:latin typeface="+mn-ea"/>
              </a:rPr>
              <a:t>会陷入死</a:t>
            </a:r>
            <a:r>
              <a:rPr lang="zh-CN" altLang="en-US" sz="2400" dirty="0" smtClean="0">
                <a:latin typeface="+mn-ea"/>
              </a:rPr>
              <a:t>循环，除非</a:t>
            </a:r>
            <a:r>
              <a:rPr lang="zh-CN" altLang="zh-CN" sz="2400" dirty="0" smtClean="0">
                <a:solidFill>
                  <a:srgbClr val="000000"/>
                </a:solidFill>
                <a:latin typeface="Times New Roman" panose="02020603050405020304" pitchFamily="18" charset="0"/>
                <a:ea typeface="楷体_GB2312"/>
                <a:cs typeface="Times New Roman" panose="02020603050405020304" pitchFamily="18" charset="0"/>
              </a:rPr>
              <a:t>采用</a:t>
            </a:r>
            <a:r>
              <a:rPr lang="zh-CN" altLang="zh-CN" sz="2400" dirty="0">
                <a:solidFill>
                  <a:srgbClr val="000000"/>
                </a:solidFill>
                <a:latin typeface="Times New Roman" panose="02020603050405020304" pitchFamily="18" charset="0"/>
                <a:ea typeface="楷体_GB2312"/>
                <a:cs typeface="Times New Roman" panose="02020603050405020304" pitchFamily="18" charset="0"/>
              </a:rPr>
              <a:t>了排除环路的剪枝方法</a:t>
            </a:r>
            <a:endParaRPr lang="en-US" altLang="zh-CN" sz="2400" dirty="0">
              <a:latin typeface="+mn-ea"/>
            </a:endParaRPr>
          </a:p>
          <a:p>
            <a:pPr eaLnBrk="1" hangingPunct="1">
              <a:lnSpc>
                <a:spcPct val="150000"/>
              </a:lnSpc>
              <a:spcBef>
                <a:spcPct val="35000"/>
              </a:spcBef>
              <a:buClr>
                <a:srgbClr val="FF0000"/>
              </a:buClr>
              <a:buSzPct val="90000"/>
              <a:buFont typeface="Wingdings" panose="05000000000000000000" pitchFamily="2" charset="2"/>
              <a:buChar char="p"/>
            </a:pPr>
            <a:r>
              <a:rPr lang="zh-CN" altLang="en-US" u="sng" dirty="0">
                <a:solidFill>
                  <a:srgbClr val="CC0099"/>
                </a:solidFill>
              </a:rPr>
              <a:t>最优性</a:t>
            </a:r>
            <a:r>
              <a:rPr lang="en-US" altLang="zh-CN" u="sng" dirty="0">
                <a:solidFill>
                  <a:srgbClr val="CC0099"/>
                </a:solidFill>
              </a:rPr>
              <a:t>?</a:t>
            </a:r>
            <a:r>
              <a:rPr lang="en-US" altLang="zh-CN" dirty="0">
                <a:solidFill>
                  <a:srgbClr val="CC0099"/>
                </a:solidFill>
              </a:rPr>
              <a:t>   </a:t>
            </a:r>
            <a:r>
              <a:rPr lang="zh-CN" altLang="en-US" sz="2400" dirty="0">
                <a:latin typeface="+mn-ea"/>
              </a:rPr>
              <a:t>否</a:t>
            </a:r>
            <a:endParaRPr lang="en-US" altLang="zh-CN" sz="2400" dirty="0">
              <a:latin typeface="+mn-ea"/>
            </a:endParaRPr>
          </a:p>
          <a:p>
            <a:pPr eaLnBrk="1" hangingPunct="1">
              <a:lnSpc>
                <a:spcPct val="150000"/>
              </a:lnSpc>
              <a:spcBef>
                <a:spcPct val="35000"/>
              </a:spcBef>
              <a:buClr>
                <a:srgbClr val="FF0000"/>
              </a:buClr>
              <a:buSzPct val="90000"/>
              <a:buFont typeface="Wingdings" panose="05000000000000000000" pitchFamily="2" charset="2"/>
              <a:buChar char="p"/>
            </a:pPr>
            <a:r>
              <a:rPr lang="zh-CN" altLang="en-US" u="sng" dirty="0">
                <a:solidFill>
                  <a:srgbClr val="CC0099"/>
                </a:solidFill>
              </a:rPr>
              <a:t>时间复杂度</a:t>
            </a:r>
            <a:r>
              <a:rPr lang="en-US" altLang="zh-CN" u="sng" dirty="0">
                <a:solidFill>
                  <a:srgbClr val="CC0099"/>
                </a:solidFill>
              </a:rPr>
              <a:t>?</a:t>
            </a:r>
            <a:r>
              <a:rPr lang="en-US" altLang="zh-CN" dirty="0">
                <a:solidFill>
                  <a:srgbClr val="CC0099"/>
                </a:solidFill>
              </a:rPr>
              <a:t>   </a:t>
            </a:r>
            <a:r>
              <a:rPr lang="en-US" altLang="zh-CN" i="1" dirty="0" smtClean="0"/>
              <a:t>O(b</a:t>
            </a:r>
            <a:r>
              <a:rPr lang="en-US" altLang="zh-CN" i="1" baseline="30000" dirty="0" smtClean="0"/>
              <a:t>m</a:t>
            </a:r>
            <a:r>
              <a:rPr lang="en-US" altLang="zh-CN" i="1" dirty="0"/>
              <a:t>)</a:t>
            </a:r>
            <a:r>
              <a:rPr lang="en-US" altLang="zh-CN" dirty="0"/>
              <a:t>, </a:t>
            </a:r>
            <a:r>
              <a:rPr lang="zh-CN" altLang="en-US" sz="2400" dirty="0">
                <a:latin typeface="+mn-ea"/>
              </a:rPr>
              <a:t>一个好的启发式函数可以有效降低复杂度。</a:t>
            </a:r>
            <a:endParaRPr lang="en-US" altLang="zh-CN" sz="2400" dirty="0">
              <a:latin typeface="+mn-ea"/>
            </a:endParaRPr>
          </a:p>
          <a:p>
            <a:pPr eaLnBrk="1" hangingPunct="1">
              <a:lnSpc>
                <a:spcPct val="150000"/>
              </a:lnSpc>
              <a:spcBef>
                <a:spcPct val="35000"/>
              </a:spcBef>
              <a:buClr>
                <a:srgbClr val="FF0000"/>
              </a:buClr>
              <a:buSzPct val="90000"/>
              <a:buFont typeface="Wingdings" panose="05000000000000000000" pitchFamily="2" charset="2"/>
              <a:buChar char="p"/>
            </a:pPr>
            <a:r>
              <a:rPr lang="zh-CN" altLang="en-US" u="sng" dirty="0">
                <a:solidFill>
                  <a:srgbClr val="CC0099"/>
                </a:solidFill>
              </a:rPr>
              <a:t>空间复杂度</a:t>
            </a:r>
            <a:r>
              <a:rPr lang="en-US" altLang="zh-CN" u="sng" dirty="0">
                <a:solidFill>
                  <a:srgbClr val="CC0099"/>
                </a:solidFill>
              </a:rPr>
              <a:t>? </a:t>
            </a:r>
            <a:r>
              <a:rPr lang="en-US" altLang="zh-CN" i="1" dirty="0"/>
              <a:t>O(b</a:t>
            </a:r>
            <a:r>
              <a:rPr lang="en-US" altLang="zh-CN" i="1" baseline="30000" dirty="0"/>
              <a:t>m</a:t>
            </a:r>
            <a:r>
              <a:rPr lang="en-US" altLang="zh-CN" i="1" dirty="0"/>
              <a:t>) </a:t>
            </a:r>
            <a:endParaRPr lang="en-US" altLang="zh-CN" i="1" dirty="0" smtClean="0"/>
          </a:p>
          <a:p>
            <a:pPr marL="0" indent="0">
              <a:lnSpc>
                <a:spcPct val="150000"/>
              </a:lnSpc>
              <a:spcBef>
                <a:spcPct val="35000"/>
              </a:spcBef>
              <a:buClr>
                <a:srgbClr val="FF0000"/>
              </a:buClr>
              <a:buSzPct val="90000"/>
              <a:buNone/>
            </a:pPr>
            <a:r>
              <a:rPr lang="en-US" altLang="zh-CN" sz="1800" b="1" dirty="0">
                <a:solidFill>
                  <a:srgbClr val="191CA7"/>
                </a:solidFill>
              </a:rPr>
              <a:t>b---</a:t>
            </a:r>
            <a:r>
              <a:rPr lang="zh-CN" altLang="en-US" sz="1800" dirty="0">
                <a:solidFill>
                  <a:srgbClr val="191CA7"/>
                </a:solidFill>
              </a:rPr>
              <a:t>分支因子 </a:t>
            </a:r>
            <a:r>
              <a:rPr lang="en-US" altLang="zh-CN" sz="1800" b="1" dirty="0">
                <a:solidFill>
                  <a:srgbClr val="191CA7"/>
                </a:solidFill>
              </a:rPr>
              <a:t>    m--</a:t>
            </a:r>
            <a:r>
              <a:rPr lang="zh-CN" altLang="en-US" sz="1800" dirty="0">
                <a:solidFill>
                  <a:srgbClr val="191CA7"/>
                </a:solidFill>
              </a:rPr>
              <a:t>搜索空间的最大深度</a:t>
            </a:r>
            <a:endParaRPr lang="en-US" altLang="zh-CN" sz="1800" i="1" dirty="0">
              <a:solidFill>
                <a:srgbClr val="191CA7"/>
              </a:solidFill>
            </a:endParaRPr>
          </a:p>
          <a:p>
            <a:endParaRPr kumimoji="1" lang="zh-CN" altLang="en-US" sz="1800" dirty="0">
              <a:solidFill>
                <a:srgbClr val="191CA7"/>
              </a:solidFill>
            </a:endParaRPr>
          </a:p>
        </p:txBody>
      </p:sp>
      <p:grpSp>
        <p:nvGrpSpPr>
          <p:cNvPr id="6" name="组合 5"/>
          <p:cNvGrpSpPr/>
          <p:nvPr/>
        </p:nvGrpSpPr>
        <p:grpSpPr>
          <a:xfrm>
            <a:off x="831906" y="329182"/>
            <a:ext cx="7538508" cy="497934"/>
            <a:chOff x="2591319" y="2819853"/>
            <a:chExt cx="4078899"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贪婪</a:t>
              </a:r>
              <a:r>
                <a:rPr lang="zh-CN" altLang="en-US" sz="20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最佳优先搜索的性能</a:t>
              </a:r>
              <a:endPar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82940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98726" y="381205"/>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en-US" altLang="zh-CN" sz="2000" b="1" dirty="0">
                  <a:solidFill>
                    <a:srgbClr val="000000"/>
                  </a:solidFill>
                  <a:latin typeface="Times New Roman" panose="02020603050405020304" pitchFamily="18" charset="0"/>
                  <a:ea typeface="楷体_GB2312"/>
                </a:rPr>
                <a:t>A*</a:t>
              </a:r>
              <a:r>
                <a:rPr lang="zh-CN" altLang="en-US" sz="2000" b="1" dirty="0">
                  <a:solidFill>
                    <a:srgbClr val="000000"/>
                  </a:solidFill>
                  <a:latin typeface="Times New Roman" panose="02020603050405020304" pitchFamily="18" charset="0"/>
                  <a:ea typeface="楷体_GB2312"/>
                </a:rPr>
                <a:t>搜索算法</a:t>
              </a:r>
              <a:r>
                <a:rPr lang="zh-CN" altLang="en-US" sz="2000"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耗散值</a:t>
              </a:r>
              <a:r>
                <a:rPr lang="zh-CN" altLang="en-US" sz="2000"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启发函数各司其职</a:t>
              </a:r>
            </a:p>
          </p:txBody>
        </p:sp>
      </p:grpSp>
      <p:sp>
        <p:nvSpPr>
          <p:cNvPr id="22" name="矩形: 圆角 6">
            <a:extLst>
              <a:ext uri="{FF2B5EF4-FFF2-40B4-BE49-F238E27FC236}">
                <a16:creationId xmlns:a16="http://schemas.microsoft.com/office/drawing/2014/main" id="{7CD9D1DD-A65A-4A75-9673-4D31693AC207}"/>
              </a:ext>
            </a:extLst>
          </p:cNvPr>
          <p:cNvSpPr/>
          <p:nvPr/>
        </p:nvSpPr>
        <p:spPr>
          <a:xfrm>
            <a:off x="1298726" y="1304578"/>
            <a:ext cx="9187668" cy="48382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530084CD-18F6-48BC-9F6E-FC5025989A1F}"/>
              </a:ext>
            </a:extLst>
          </p:cNvPr>
          <p:cNvSpPr/>
          <p:nvPr/>
        </p:nvSpPr>
        <p:spPr>
          <a:xfrm>
            <a:off x="1685260" y="1100759"/>
            <a:ext cx="8990907" cy="602857"/>
          </a:xfrm>
          <a:prstGeom prst="rect">
            <a:avLst/>
          </a:prstGeom>
        </p:spPr>
        <p:txBody>
          <a:bodyPr wrap="square">
            <a:spAutoFit/>
          </a:bodyPr>
          <a:lstStyle/>
          <a:p>
            <a:pPr algn="ctr">
              <a:lnSpc>
                <a:spcPct val="250000"/>
              </a:lnSpc>
              <a:buClr>
                <a:schemeClr val="bg1"/>
              </a:buClr>
              <a:buSzPct val="80000"/>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在评价函数中考虑从起始结点到当前结点的路径代价</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4C5D89EB-40EE-49E1-A914-0FE85A8787FB}"/>
                  </a:ext>
                </a:extLst>
              </p:cNvPr>
              <p:cNvSpPr/>
              <p:nvPr/>
            </p:nvSpPr>
            <p:spPr>
              <a:xfrm>
                <a:off x="1577702" y="2456870"/>
                <a:ext cx="8376684" cy="1015984"/>
              </a:xfrm>
              <a:prstGeom prst="rect">
                <a:avLst/>
              </a:prstGeom>
              <a:solidFill>
                <a:srgbClr val="01717E"/>
              </a:solidFill>
            </p:spPr>
            <p:txBody>
              <a:bodyPr wrap="square">
                <a:spAutoFit/>
              </a:bodyPr>
              <a:lstStyle/>
              <a:p>
                <a:pPr/>
                <a14:m>
                  <m:oMathPara xmlns:m="http://schemas.openxmlformats.org/officeDocument/2006/math">
                    <m:oMathParaPr>
                      <m:jc m:val="center"/>
                    </m:oMathParaPr>
                    <m:oMath xmlns:m="http://schemas.openxmlformats.org/officeDocument/2006/math">
                      <m:limLow>
                        <m:limLowPr>
                          <m:ctrlPr>
                            <a:rPr lang="zh-CN" altLang="en-US" i="1" smtClean="0">
                              <a:solidFill>
                                <a:schemeClr val="bg1"/>
                              </a:solidFill>
                              <a:latin typeface="Cambria Math" panose="02040503050406030204" pitchFamily="18" charset="0"/>
                            </a:rPr>
                          </m:ctrlPr>
                        </m:limLowPr>
                        <m:e>
                          <m:groupChr>
                            <m:groupChrPr>
                              <m:chr m:val="⏟"/>
                              <m:ctrlPr>
                                <a:rPr lang="zh-CN" altLang="en-US" i="1">
                                  <a:solidFill>
                                    <a:schemeClr val="bg1"/>
                                  </a:solidFill>
                                  <a:latin typeface="Cambria Math" panose="02040503050406030204" pitchFamily="18" charset="0"/>
                                </a:rPr>
                              </m:ctrlPr>
                            </m:groupChrPr>
                            <m:e>
                              <m:r>
                                <a:rPr lang="zh-CN" altLang="en-US" i="1">
                                  <a:solidFill>
                                    <a:schemeClr val="bg1"/>
                                  </a:solidFill>
                                  <a:latin typeface="Cambria Math" panose="02040503050406030204" pitchFamily="18" charset="0"/>
                                </a:rPr>
                                <m:t>𝑓</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e>
                          </m:groupChr>
                        </m:e>
                        <m:lim>
                          <m:eqArr>
                            <m:eqArrPr>
                              <m:ctrlPr>
                                <a:rPr lang="zh-CN" altLang="en-US" i="1">
                                  <a:solidFill>
                                    <a:schemeClr val="bg1"/>
                                  </a:solidFill>
                                  <a:latin typeface="Cambria Math" panose="02040503050406030204" pitchFamily="18" charset="0"/>
                                </a:rPr>
                              </m:ctrlPr>
                            </m:eqArrPr>
                            <m:e>
                              <m:r>
                                <a:rPr lang="zh-CN" altLang="en-US" i="0">
                                  <a:solidFill>
                                    <a:schemeClr val="bg1"/>
                                  </a:solidFill>
                                  <a:latin typeface="Cambria Math" panose="02040503050406030204" pitchFamily="18" charset="0"/>
                                </a:rPr>
                                <m:t>&amp;</m:t>
                              </m:r>
                              <m:r>
                                <a:rPr lang="zh-CN" altLang="en-US" i="0">
                                  <a:solidFill>
                                    <a:schemeClr val="bg1"/>
                                  </a:solidFill>
                                  <a:latin typeface="Cambria Math" panose="02040503050406030204" pitchFamily="18" charset="0"/>
                                </a:rPr>
                                <m:t>评价函数</m:t>
                              </m:r>
                            </m:e>
                            <m:e>
                              <m:r>
                                <a:rPr lang="zh-CN" altLang="en-US" i="0">
                                  <a:solidFill>
                                    <a:schemeClr val="bg1"/>
                                  </a:solidFill>
                                  <a:latin typeface="Cambria Math" panose="02040503050406030204" pitchFamily="18" charset="0"/>
                                </a:rPr>
                                <m:t>&amp;</m:t>
                              </m:r>
                              <m:d>
                                <m:dPr>
                                  <m:begChr m:val=""/>
                                  <m:ctrlPr>
                                    <a:rPr lang="zh-CN" altLang="en-US" i="1">
                                      <a:solidFill>
                                        <a:schemeClr val="bg1"/>
                                      </a:solidFill>
                                      <a:latin typeface="Cambria Math" panose="02040503050406030204" pitchFamily="18" charset="0"/>
                                    </a:rPr>
                                  </m:ctrlPr>
                                </m:dPr>
                                <m:e>
                                  <m:r>
                                    <a:rPr lang="zh-CN" altLang="en-US" i="0">
                                      <a:solidFill>
                                        <a:schemeClr val="bg1"/>
                                      </a:solidFill>
                                      <a:latin typeface="Cambria Math" panose="02040503050406030204" pitchFamily="18" charset="0"/>
                                    </a:rPr>
                                    <m:t>(</m:t>
                                  </m:r>
                                  <m:r>
                                    <a:rPr lang="zh-CN" altLang="en-US" i="0">
                                      <a:solidFill>
                                        <a:schemeClr val="bg1"/>
                                      </a:solidFill>
                                      <a:latin typeface="Cambria Math" panose="02040503050406030204" pitchFamily="18" charset="0"/>
                                    </a:rPr>
                                    <m:t>选择后续结点</m:t>
                                  </m:r>
                                </m:e>
                              </m:d>
                            </m:e>
                          </m:eqArr>
                        </m:lim>
                      </m:limLow>
                      <m:r>
                        <a:rPr lang="zh-CN" altLang="en-US" i="0">
                          <a:solidFill>
                            <a:schemeClr val="bg1"/>
                          </a:solidFill>
                          <a:latin typeface="Cambria Math" panose="02040503050406030204" pitchFamily="18" charset="0"/>
                        </a:rPr>
                        <m:t>=</m:t>
                      </m:r>
                      <m:limLow>
                        <m:limLowPr>
                          <m:ctrlPr>
                            <a:rPr lang="zh-CN" altLang="en-US" i="1">
                              <a:solidFill>
                                <a:schemeClr val="bg1"/>
                              </a:solidFill>
                              <a:latin typeface="Cambria Math" panose="02040503050406030204" pitchFamily="18" charset="0"/>
                            </a:rPr>
                          </m:ctrlPr>
                        </m:limLowPr>
                        <m:e>
                          <m:groupChr>
                            <m:groupChrPr>
                              <m:chr m:val="⏟"/>
                              <m:ctrlPr>
                                <a:rPr lang="zh-CN" altLang="en-US" i="1">
                                  <a:solidFill>
                                    <a:schemeClr val="bg1"/>
                                  </a:solidFill>
                                  <a:latin typeface="Cambria Math" panose="02040503050406030204" pitchFamily="18" charset="0"/>
                                </a:rPr>
                              </m:ctrlPr>
                            </m:groupChrPr>
                            <m:e>
                              <m:r>
                                <a:rPr lang="zh-CN" altLang="en-US" i="1">
                                  <a:solidFill>
                                    <a:schemeClr val="bg1"/>
                                  </a:solidFill>
                                  <a:latin typeface="Cambria Math" panose="02040503050406030204" pitchFamily="18" charset="0"/>
                                </a:rPr>
                                <m:t>𝑔</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e>
                          </m:groupChr>
                        </m:e>
                        <m:lim>
                          <m:eqArr>
                            <m:eqArrPr>
                              <m:ctrlPr>
                                <a:rPr lang="zh-CN" altLang="en-US" i="1">
                                  <a:solidFill>
                                    <a:schemeClr val="bg1"/>
                                  </a:solidFill>
                                  <a:latin typeface="Cambria Math" panose="02040503050406030204" pitchFamily="18" charset="0"/>
                                </a:rPr>
                              </m:ctrlPr>
                            </m:eqArrPr>
                            <m:e>
                              <m:r>
                                <a:rPr lang="zh-CN" altLang="en-US" i="0">
                                  <a:solidFill>
                                    <a:schemeClr val="bg1"/>
                                  </a:solidFill>
                                  <a:latin typeface="Cambria Math" panose="02040503050406030204" pitchFamily="18" charset="0"/>
                                </a:rPr>
                                <m:t>&amp;</m:t>
                              </m:r>
                              <m:r>
                                <a:rPr lang="zh-CN" altLang="en-US" i="0">
                                  <a:solidFill>
                                    <a:schemeClr val="bg1"/>
                                  </a:solidFill>
                                  <a:latin typeface="Cambria Math" panose="02040503050406030204" pitchFamily="18" charset="0"/>
                                </a:rPr>
                                <m:t>起始结点到结点</m:t>
                              </m:r>
                              <m:r>
                                <a:rPr lang="zh-CN" altLang="en-US" i="1">
                                  <a:solidFill>
                                    <a:schemeClr val="bg1"/>
                                  </a:solidFill>
                                  <a:latin typeface="Cambria Math" panose="02040503050406030204" pitchFamily="18" charset="0"/>
                                </a:rPr>
                                <m:t>𝑛</m:t>
                              </m:r>
                              <m:r>
                                <a:rPr lang="zh-CN" altLang="en-US" i="0">
                                  <a:solidFill>
                                    <a:schemeClr val="bg1"/>
                                  </a:solidFill>
                                  <a:latin typeface="Cambria Math" panose="02040503050406030204" pitchFamily="18" charset="0"/>
                                </a:rPr>
                                <m:t>代价</m:t>
                              </m:r>
                            </m:e>
                            <m:e>
                              <m:r>
                                <a:rPr lang="zh-CN" altLang="en-US" i="0">
                                  <a:solidFill>
                                    <a:schemeClr val="bg1"/>
                                  </a:solidFill>
                                  <a:latin typeface="Cambria Math" panose="02040503050406030204" pitchFamily="18" charset="0"/>
                                </a:rPr>
                                <m:t>&amp;</m:t>
                              </m:r>
                              <m:d>
                                <m:dPr>
                                  <m:begChr m:val=""/>
                                  <m:ctrlPr>
                                    <a:rPr lang="zh-CN" altLang="en-US" i="1">
                                      <a:solidFill>
                                        <a:schemeClr val="bg1"/>
                                      </a:solidFill>
                                      <a:latin typeface="Cambria Math" panose="02040503050406030204" pitchFamily="18" charset="0"/>
                                    </a:rPr>
                                  </m:ctrlPr>
                                </m:dPr>
                                <m:e>
                                  <m:r>
                                    <a:rPr lang="en-US" altLang="zh-CN" b="0" i="0" smtClean="0">
                                      <a:solidFill>
                                        <a:schemeClr val="bg1"/>
                                      </a:solidFill>
                                      <a:latin typeface="Cambria Math" panose="02040503050406030204" pitchFamily="18" charset="0"/>
                                    </a:rPr>
                                    <m:t>       </m:t>
                                  </m:r>
                                  <m:r>
                                    <a:rPr lang="zh-CN" altLang="en-US" i="0">
                                      <a:solidFill>
                                        <a:schemeClr val="bg1"/>
                                      </a:solidFill>
                                      <a:latin typeface="Cambria Math" panose="02040503050406030204" pitchFamily="18" charset="0"/>
                                    </a:rPr>
                                    <m:t>(</m:t>
                                  </m:r>
                                  <m:r>
                                    <a:rPr lang="zh-CN" altLang="en-US" i="0">
                                      <a:solidFill>
                                        <a:schemeClr val="bg1"/>
                                      </a:solidFill>
                                      <a:latin typeface="Cambria Math" panose="02040503050406030204" pitchFamily="18" charset="0"/>
                                    </a:rPr>
                                    <m:t>当前最小代价</m:t>
                                  </m:r>
                                </m:e>
                              </m:d>
                            </m:e>
                          </m:eqArr>
                        </m:lim>
                      </m:limLow>
                      <m:r>
                        <a:rPr lang="zh-CN" altLang="en-US" i="0">
                          <a:solidFill>
                            <a:schemeClr val="bg1"/>
                          </a:solidFill>
                          <a:latin typeface="Cambria Math" panose="02040503050406030204" pitchFamily="18" charset="0"/>
                        </a:rPr>
                        <m:t>+    </m:t>
                      </m:r>
                      <m:limLow>
                        <m:limLowPr>
                          <m:ctrlPr>
                            <a:rPr lang="zh-CN" altLang="en-US" i="1">
                              <a:solidFill>
                                <a:schemeClr val="bg1"/>
                              </a:solidFill>
                              <a:latin typeface="Cambria Math" panose="02040503050406030204" pitchFamily="18" charset="0"/>
                            </a:rPr>
                          </m:ctrlPr>
                        </m:limLowPr>
                        <m:e>
                          <m:groupChr>
                            <m:groupChrPr>
                              <m:chr m:val="⏟"/>
                              <m:ctrlPr>
                                <a:rPr lang="zh-CN" altLang="en-US" i="1">
                                  <a:solidFill>
                                    <a:schemeClr val="bg1"/>
                                  </a:solidFill>
                                  <a:latin typeface="Cambria Math" panose="02040503050406030204" pitchFamily="18" charset="0"/>
                                </a:rPr>
                              </m:ctrlPr>
                            </m:groupChrPr>
                            <m:e>
                              <m:d>
                                <m:dPr>
                                  <m:begChr m:val=""/>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h</m:t>
                                  </m:r>
                                  <m:r>
                                    <a:rPr lang="zh-CN" altLang="en-US" i="0">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𝑛</m:t>
                                  </m:r>
                                </m:e>
                              </m:d>
                            </m:e>
                          </m:groupChr>
                        </m:e>
                        <m:lim>
                          <m:eqArr>
                            <m:eqArrPr>
                              <m:ctrlPr>
                                <a:rPr lang="zh-CN" altLang="en-US" i="1">
                                  <a:solidFill>
                                    <a:schemeClr val="bg1"/>
                                  </a:solidFill>
                                  <a:latin typeface="Cambria Math" panose="02040503050406030204" pitchFamily="18" charset="0"/>
                                </a:rPr>
                              </m:ctrlPr>
                            </m:eqArrPr>
                            <m:e>
                              <m:r>
                                <a:rPr lang="zh-CN" altLang="en-US" i="0">
                                  <a:solidFill>
                                    <a:schemeClr val="bg1"/>
                                  </a:solidFill>
                                  <a:latin typeface="Cambria Math" panose="02040503050406030204" pitchFamily="18" charset="0"/>
                                </a:rPr>
                                <m:t>&amp;</m:t>
                              </m:r>
                              <m:r>
                                <a:rPr lang="zh-CN" altLang="en-US" i="0">
                                  <a:solidFill>
                                    <a:schemeClr val="bg1"/>
                                  </a:solidFill>
                                  <a:latin typeface="Cambria Math" panose="02040503050406030204" pitchFamily="18" charset="0"/>
                                </a:rPr>
                                <m:t>结点</m:t>
                              </m:r>
                              <m:r>
                                <a:rPr lang="zh-CN" altLang="en-US" i="1">
                                  <a:solidFill>
                                    <a:schemeClr val="bg1"/>
                                  </a:solidFill>
                                  <a:latin typeface="Cambria Math" panose="02040503050406030204" pitchFamily="18" charset="0"/>
                                </a:rPr>
                                <m:t>𝑛</m:t>
                              </m:r>
                              <m:r>
                                <a:rPr lang="zh-CN" altLang="en-US" i="0">
                                  <a:solidFill>
                                    <a:schemeClr val="bg1"/>
                                  </a:solidFill>
                                  <a:latin typeface="Cambria Math" panose="02040503050406030204" pitchFamily="18" charset="0"/>
                                </a:rPr>
                                <m:t>到目标结点代价</m:t>
                              </m:r>
                            </m:e>
                            <m:e>
                              <m:r>
                                <a:rPr lang="zh-CN" altLang="en-US" i="0">
                                  <a:solidFill>
                                    <a:schemeClr val="bg1"/>
                                  </a:solidFill>
                                  <a:latin typeface="Cambria Math" panose="02040503050406030204" pitchFamily="18" charset="0"/>
                                </a:rPr>
                                <m:t>&amp;</m:t>
                              </m:r>
                              <m:d>
                                <m:dPr>
                                  <m:begChr m:val=""/>
                                  <m:ctrlPr>
                                    <a:rPr lang="zh-CN" altLang="en-US" i="1">
                                      <a:solidFill>
                                        <a:schemeClr val="bg1"/>
                                      </a:solidFill>
                                      <a:latin typeface="Cambria Math" panose="02040503050406030204" pitchFamily="18" charset="0"/>
                                    </a:rPr>
                                  </m:ctrlPr>
                                </m:dPr>
                                <m:e>
                                  <m:r>
                                    <a:rPr lang="zh-CN" altLang="en-US" i="0">
                                      <a:solidFill>
                                        <a:schemeClr val="bg1"/>
                                      </a:solidFill>
                                      <a:latin typeface="Cambria Math" panose="02040503050406030204" pitchFamily="18" charset="0"/>
                                    </a:rPr>
                                    <m:t>(</m:t>
                                  </m:r>
                                  <m:r>
                                    <a:rPr lang="zh-CN" altLang="en-US" i="0">
                                      <a:solidFill>
                                        <a:schemeClr val="bg1"/>
                                      </a:solidFill>
                                      <a:latin typeface="Cambria Math" panose="02040503050406030204" pitchFamily="18" charset="0"/>
                                    </a:rPr>
                                    <m:t>后续估计最小代价</m:t>
                                  </m:r>
                                </m:e>
                              </m:d>
                            </m:e>
                          </m:eqArr>
                        </m:lim>
                      </m:limLow>
                    </m:oMath>
                  </m:oMathPara>
                </a14:m>
                <a:endParaRPr lang="zh-CN" altLang="en-US" dirty="0">
                  <a:solidFill>
                    <a:schemeClr val="bg1"/>
                  </a:solidFill>
                </a:endParaRPr>
              </a:p>
            </p:txBody>
          </p:sp>
        </mc:Choice>
        <mc:Fallback>
          <p:sp>
            <p:nvSpPr>
              <p:cNvPr id="6" name="矩形 5">
                <a:extLst>
                  <a:ext uri="{FF2B5EF4-FFF2-40B4-BE49-F238E27FC236}">
                    <a16:creationId xmlns:a16="http://schemas.microsoft.com/office/drawing/2014/main" id="{4C5D89EB-40EE-49E1-A914-0FE85A8787FB}"/>
                  </a:ext>
                </a:extLst>
              </p:cNvPr>
              <p:cNvSpPr>
                <a:spLocks noRot="1" noChangeAspect="1" noMove="1" noResize="1" noEditPoints="1" noAdjustHandles="1" noChangeArrowheads="1" noChangeShapeType="1" noTextEdit="1"/>
              </p:cNvSpPr>
              <p:nvPr/>
            </p:nvSpPr>
            <p:spPr>
              <a:xfrm>
                <a:off x="1577702" y="2456870"/>
                <a:ext cx="8376684" cy="1015984"/>
              </a:xfrm>
              <a:prstGeom prst="rect">
                <a:avLst/>
              </a:prstGeom>
              <a:blipFill>
                <a:blip r:embed="rId3"/>
                <a:stretch>
                  <a:fillRect t="-43114" b="-946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B359B2DE-4B83-4F65-9ACD-2E88A459C0FE}"/>
                  </a:ext>
                </a:extLst>
              </p:cNvPr>
              <p:cNvSpPr/>
              <p:nvPr/>
            </p:nvSpPr>
            <p:spPr>
              <a:xfrm>
                <a:off x="1382232" y="3989009"/>
                <a:ext cx="9500192" cy="1938992"/>
              </a:xfrm>
              <a:prstGeom prst="rect">
                <a:avLst/>
              </a:prstGeom>
            </p:spPr>
            <p:txBody>
              <a:bodyPr wrap="square">
                <a:spAutoFit/>
              </a:bodyPr>
              <a:lstStyle/>
              <a:p>
                <a:pPr>
                  <a:lnSpc>
                    <a:spcPct val="15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定义从起始结点到结点</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的路径代价函数</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𝑔</m:t>
                    </m:r>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，在此基础上评价函数</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e>
                    </m:d>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被修改为：</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e>
                    </m:d>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r>
                      <a:rPr lang="en-US" altLang="zh-CN" sz="2000" i="1">
                        <a:latin typeface="Cambria Math" panose="02040503050406030204" pitchFamily="18" charset="0"/>
                        <a:ea typeface="等线" panose="02010600030101010101" pitchFamily="2" charset="-122"/>
                        <a:cs typeface="Times New Roman" panose="02020603050405020304" pitchFamily="18" charset="0"/>
                      </a:rPr>
                      <m:t>𝑔</m:t>
                    </m:r>
                    <m:d>
                      <m:dPr>
                        <m:ctrlPr>
                          <a:rPr lang="zh-CN" altLang="zh-CN" sz="20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e>
                    </m:d>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r>
                      <a:rPr lang="en-US" altLang="zh-CN" sz="2000" i="1">
                        <a:latin typeface="Cambria Math" panose="02040503050406030204" pitchFamily="18" charset="0"/>
                        <a:ea typeface="等线" panose="02010600030101010101" pitchFamily="2" charset="-122"/>
                        <a:cs typeface="Times New Roman" panose="02020603050405020304" pitchFamily="18" charset="0"/>
                      </a:rPr>
                      <m:t>h</m:t>
                    </m:r>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，即评价函数等于从起始结点到达结点</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的的实际代价取值与结点</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到目标结点估计代价取值之和。根据每个结点的评价函数之值不断选择后续结点的搜索算法被称为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算法</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7" name="矩形 6">
                <a:extLst>
                  <a:ext uri="{FF2B5EF4-FFF2-40B4-BE49-F238E27FC236}">
                    <a16:creationId xmlns:a16="http://schemas.microsoft.com/office/drawing/2014/main" id="{B359B2DE-4B83-4F65-9ACD-2E88A459C0FE}"/>
                  </a:ext>
                </a:extLst>
              </p:cNvPr>
              <p:cNvSpPr>
                <a:spLocks noRot="1" noChangeAspect="1" noMove="1" noResize="1" noEditPoints="1" noAdjustHandles="1" noChangeArrowheads="1" noChangeShapeType="1" noTextEdit="1"/>
              </p:cNvSpPr>
              <p:nvPr/>
            </p:nvSpPr>
            <p:spPr>
              <a:xfrm>
                <a:off x="1382232" y="3989009"/>
                <a:ext cx="9500192" cy="1938992"/>
              </a:xfrm>
              <a:prstGeom prst="rect">
                <a:avLst/>
              </a:prstGeom>
              <a:blipFill>
                <a:blip r:embed="rId4"/>
                <a:stretch>
                  <a:fillRect l="-706" r="-642" b="-18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90595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43</a:t>
            </a:fld>
            <a:endParaRPr lang="en-US" altLang="zh-CN" dirty="0"/>
          </a:p>
        </p:txBody>
      </p:sp>
      <p:pic>
        <p:nvPicPr>
          <p:cNvPr id="7" name="Picture 3" descr="astar-progress06c"/>
          <p:cNvPicPr>
            <a:picLocks noChangeAspect="1" noChangeArrowheads="1"/>
          </p:cNvPicPr>
          <p:nvPr/>
        </p:nvPicPr>
        <p:blipFill>
          <a:blip r:embed="rId3"/>
          <a:srcRect/>
          <a:stretch>
            <a:fillRect/>
          </a:stretch>
        </p:blipFill>
        <p:spPr bwMode="auto">
          <a:xfrm>
            <a:off x="2019301" y="1524001"/>
            <a:ext cx="8361362" cy="3430587"/>
          </a:xfrm>
          <a:prstGeom prst="rect">
            <a:avLst/>
          </a:prstGeom>
          <a:noFill/>
          <a:ln w="9525">
            <a:noFill/>
            <a:miter lim="800000"/>
            <a:headEnd/>
            <a:tailEnd/>
          </a:ln>
        </p:spPr>
      </p:pic>
      <p:grpSp>
        <p:nvGrpSpPr>
          <p:cNvPr id="6" name="组合 5"/>
          <p:cNvGrpSpPr/>
          <p:nvPr/>
        </p:nvGrpSpPr>
        <p:grpSpPr>
          <a:xfrm>
            <a:off x="1298726" y="415150"/>
            <a:ext cx="7876156" cy="531414"/>
            <a:chOff x="2591319" y="2853798"/>
            <a:chExt cx="4261592" cy="531414"/>
          </a:xfrm>
        </p:grpSpPr>
        <p:sp>
          <p:nvSpPr>
            <p:cNvPr id="8" name="平行四边形 7"/>
            <p:cNvSpPr/>
            <p:nvPr/>
          </p:nvSpPr>
          <p:spPr bwMode="auto">
            <a:xfrm>
              <a:off x="2730726" y="2917212"/>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2774012" y="2917212"/>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2591319" y="2853798"/>
              <a:ext cx="398489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en-US" altLang="zh-CN" sz="2000" b="1" dirty="0">
                  <a:solidFill>
                    <a:srgbClr val="000000"/>
                  </a:solidFill>
                  <a:latin typeface="Times New Roman" panose="02020603050405020304" pitchFamily="18" charset="0"/>
                  <a:ea typeface="楷体_GB2312"/>
                </a:rPr>
                <a:t>A*</a:t>
              </a:r>
              <a:r>
                <a:rPr lang="zh-CN" altLang="en-US" sz="2000" b="1" dirty="0">
                  <a:solidFill>
                    <a:srgbClr val="000000"/>
                  </a:solidFill>
                  <a:latin typeface="Times New Roman" panose="02020603050405020304" pitchFamily="18" charset="0"/>
                  <a:ea typeface="楷体_GB2312"/>
                </a:rPr>
                <a:t>搜索</a:t>
              </a:r>
              <a:r>
                <a:rPr lang="zh-CN" altLang="en-US" sz="2000" b="1" dirty="0" smtClean="0">
                  <a:solidFill>
                    <a:srgbClr val="000000"/>
                  </a:solidFill>
                  <a:latin typeface="Times New Roman" panose="02020603050405020304" pitchFamily="18" charset="0"/>
                  <a:ea typeface="楷体_GB2312"/>
                </a:rPr>
                <a:t>算法实例</a:t>
              </a:r>
              <a:endParaRPr lang="zh-CN" altLang="en-US" sz="2000"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4217022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394367" y="2038049"/>
            <a:ext cx="2974362" cy="950256"/>
            <a:chOff x="422953" y="1892526"/>
            <a:chExt cx="2974362" cy="950256"/>
          </a:xfrm>
        </p:grpSpPr>
        <p:sp>
          <p:nvSpPr>
            <p:cNvPr id="24" name="文本框 23"/>
            <p:cNvSpPr txBox="1"/>
            <p:nvPr/>
          </p:nvSpPr>
          <p:spPr>
            <a:xfrm>
              <a:off x="750437" y="2114249"/>
              <a:ext cx="2646878" cy="728533"/>
            </a:xfrm>
            <a:prstGeom prst="rect">
              <a:avLst/>
            </a:prstGeom>
            <a:noFill/>
          </p:spPr>
          <p:txBody>
            <a:bodyPr wrap="none" rtlCol="0">
              <a:spAutoFit/>
            </a:bodyPr>
            <a:lstStyle/>
            <a:p>
              <a:pPr>
                <a:lnSpc>
                  <a:spcPct val="200000"/>
                </a:lnSpc>
              </a:pPr>
              <a:r>
                <a:rPr lang="zh-CN" altLang="en-US" sz="2400" b="1" dirty="0">
                  <a:solidFill>
                    <a:srgbClr val="24569D"/>
                  </a:solidFill>
                </a:rPr>
                <a:t>搜索的形式化描述</a:t>
              </a:r>
              <a:endParaRPr lang="en-US" altLang="zh-CN" sz="2400" b="1" dirty="0">
                <a:solidFill>
                  <a:srgbClr val="24569D"/>
                </a:solidFill>
              </a:endParaRPr>
            </a:p>
          </p:txBody>
        </p:sp>
        <p:sp>
          <p:nvSpPr>
            <p:cNvPr id="25" name="文本框 24"/>
            <p:cNvSpPr txBox="1"/>
            <p:nvPr/>
          </p:nvSpPr>
          <p:spPr>
            <a:xfrm>
              <a:off x="422953" y="1892526"/>
              <a:ext cx="2855980" cy="461665"/>
            </a:xfrm>
            <a:prstGeom prst="rect">
              <a:avLst/>
            </a:prstGeom>
            <a:noFill/>
          </p:spPr>
          <p:txBody>
            <a:bodyPr wrap="square" rtlCol="0">
              <a:spAutoFit/>
            </a:bodyPr>
            <a:lstStyle/>
            <a:p>
              <a:endParaRPr lang="en-US" altLang="zh-CN" sz="2400" dirty="0">
                <a:solidFill>
                  <a:srgbClr val="FF0000"/>
                </a:solidFill>
                <a:latin typeface="微软雅黑" panose="020B0503020204020204" pitchFamily="34" charset="-122"/>
              </a:endParaRPr>
            </a:p>
          </p:txBody>
        </p:sp>
      </p:grpSp>
      <p:sp>
        <p:nvSpPr>
          <p:cNvPr id="28" name="文本框 27"/>
          <p:cNvSpPr txBox="1"/>
          <p:nvPr/>
        </p:nvSpPr>
        <p:spPr>
          <a:xfrm>
            <a:off x="8502923" y="4920321"/>
            <a:ext cx="2339102" cy="461665"/>
          </a:xfrm>
          <a:prstGeom prst="rect">
            <a:avLst/>
          </a:prstGeom>
          <a:noFill/>
        </p:spPr>
        <p:txBody>
          <a:bodyPr wrap="none" rtlCol="0">
            <a:spAutoFit/>
          </a:bodyPr>
          <a:lstStyle/>
          <a:p>
            <a:r>
              <a:rPr lang="zh-CN" altLang="en-US" sz="2400" b="1" dirty="0" smtClean="0">
                <a:solidFill>
                  <a:srgbClr val="FF0000"/>
                </a:solidFill>
              </a:rPr>
              <a:t>性能分析和案例</a:t>
            </a:r>
            <a:endParaRPr lang="zh-CN" altLang="en-US" sz="2400" b="1" dirty="0">
              <a:solidFill>
                <a:srgbClr val="FF0000"/>
              </a:solidFill>
            </a:endParaRP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441833" y="2411796"/>
            <a:ext cx="1723549" cy="461665"/>
          </a:xfrm>
          <a:prstGeom prst="rect">
            <a:avLst/>
          </a:prstGeom>
          <a:noFill/>
        </p:spPr>
        <p:txBody>
          <a:bodyPr wrap="none" rtlCol="0">
            <a:spAutoFit/>
          </a:bodyPr>
          <a:lstStyle/>
          <a:p>
            <a:r>
              <a:rPr lang="zh-CN" altLang="en-US" sz="2400" b="1" dirty="0">
                <a:solidFill>
                  <a:srgbClr val="24569D"/>
                </a:solidFill>
              </a:rPr>
              <a:t>搜索树构建</a:t>
            </a:r>
          </a:p>
        </p:txBody>
      </p:sp>
      <p:sp>
        <p:nvSpPr>
          <p:cNvPr id="29" name="矩形 28"/>
          <p:cNvSpPr/>
          <p:nvPr/>
        </p:nvSpPr>
        <p:spPr>
          <a:xfrm>
            <a:off x="1648515" y="4869981"/>
            <a:ext cx="1723549" cy="461665"/>
          </a:xfrm>
          <a:prstGeom prst="rect">
            <a:avLst/>
          </a:prstGeom>
        </p:spPr>
        <p:txBody>
          <a:bodyPr wrap="none">
            <a:spAutoFit/>
          </a:bodyPr>
          <a:lstStyle/>
          <a:p>
            <a:pPr lvl="0"/>
            <a:r>
              <a:rPr lang="zh-CN" altLang="en-US" sz="2400" b="1" dirty="0">
                <a:solidFill>
                  <a:srgbClr val="24569D"/>
                </a:solidFill>
              </a:rPr>
              <a:t>启发式搜索</a:t>
            </a:r>
            <a:endParaRPr lang="zh-CN" altLang="en-US" sz="2400" b="1" dirty="0">
              <a:solidFill>
                <a:srgbClr val="24569D"/>
              </a:solidFill>
            </a:endParaRPr>
          </a:p>
        </p:txBody>
      </p:sp>
    </p:spTree>
    <p:extLst>
      <p:ext uri="{BB962C8B-B14F-4D97-AF65-F5344CB8AC3E}">
        <p14:creationId xmlns:p14="http://schemas.microsoft.com/office/powerpoint/2010/main" val="33954571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45</a:t>
            </a:fld>
            <a:endParaRPr lang="en-US" altLang="zh-CN" dirty="0"/>
          </a:p>
        </p:txBody>
      </p:sp>
      <p:sp>
        <p:nvSpPr>
          <p:cNvPr id="7" name="内容占位符 6"/>
          <p:cNvSpPr>
            <a:spLocks noGrp="1"/>
          </p:cNvSpPr>
          <p:nvPr>
            <p:ph idx="1"/>
          </p:nvPr>
        </p:nvSpPr>
        <p:spPr>
          <a:xfrm>
            <a:off x="1323753" y="1676807"/>
            <a:ext cx="8229600" cy="4525963"/>
          </a:xfrm>
        </p:spPr>
        <p:txBody>
          <a:bodyPr/>
          <a:lstStyle/>
          <a:p>
            <a:pPr eaLnBrk="1" hangingPunct="1">
              <a:lnSpc>
                <a:spcPct val="200000"/>
              </a:lnSpc>
              <a:buClr>
                <a:srgbClr val="FF0000"/>
              </a:buClr>
              <a:buSzPct val="90000"/>
              <a:buFont typeface="Wingdings" panose="05000000000000000000" pitchFamily="2" charset="2"/>
              <a:buChar char="p"/>
              <a:defRPr/>
            </a:pPr>
            <a:r>
              <a:rPr lang="zh-CN" altLang="en-US" sz="2400" dirty="0">
                <a:ea typeface=""/>
              </a:rPr>
              <a:t>若对每个结点</a:t>
            </a:r>
            <a:r>
              <a:rPr lang="en-US" altLang="zh-CN" sz="2400" dirty="0">
                <a:ea typeface=""/>
              </a:rPr>
              <a:t>n</a:t>
            </a:r>
            <a:r>
              <a:rPr lang="zh-CN" altLang="en-US" sz="2400" dirty="0">
                <a:ea typeface=""/>
              </a:rPr>
              <a:t>，满足</a:t>
            </a:r>
            <a:r>
              <a:rPr lang="en-US" altLang="zh-CN" sz="2400" i="1" dirty="0"/>
              <a:t>h(n) </a:t>
            </a:r>
            <a:r>
              <a:rPr lang="en-US" altLang="zh-CN" sz="2400" i="1" dirty="0">
                <a:cs typeface="Arial" charset="0"/>
              </a:rPr>
              <a:t>≤</a:t>
            </a:r>
            <a:r>
              <a:rPr lang="en-US" altLang="zh-CN" sz="2400" i="1" dirty="0"/>
              <a:t> h</a:t>
            </a:r>
            <a:r>
              <a:rPr lang="en-US" altLang="zh-CN" sz="2400" i="1" baseline="30000" dirty="0"/>
              <a:t>*</a:t>
            </a:r>
            <a:r>
              <a:rPr lang="en-US" altLang="zh-CN" sz="2400" i="1" dirty="0"/>
              <a:t>(n),</a:t>
            </a:r>
            <a:r>
              <a:rPr lang="zh-CN" altLang="en-US" sz="2400" dirty="0">
                <a:ea typeface=""/>
              </a:rPr>
              <a:t>则 </a:t>
            </a:r>
            <a:r>
              <a:rPr lang="en-US" altLang="zh-CN" sz="2400" i="1" dirty="0"/>
              <a:t>h(n)</a:t>
            </a:r>
            <a:r>
              <a:rPr lang="zh-CN" altLang="en-US" sz="2400" dirty="0">
                <a:ea typeface=""/>
              </a:rPr>
              <a:t>是</a:t>
            </a:r>
            <a:r>
              <a:rPr lang="zh-CN" altLang="en-US" sz="2400" b="1" dirty="0">
                <a:ea typeface=""/>
              </a:rPr>
              <a:t>可采纳的</a:t>
            </a:r>
            <a:r>
              <a:rPr lang="zh-CN" altLang="en-US" sz="2400" dirty="0">
                <a:ea typeface=""/>
              </a:rPr>
              <a:t>。</a:t>
            </a:r>
            <a:endParaRPr lang="en-US" altLang="zh-CN" sz="2400" dirty="0"/>
          </a:p>
          <a:p>
            <a:pPr lvl="1" eaLnBrk="1" hangingPunct="1">
              <a:defRPr/>
            </a:pPr>
            <a:r>
              <a:rPr lang="en-US" altLang="zh-CN" i="1" dirty="0"/>
              <a:t>	 </a:t>
            </a:r>
            <a:r>
              <a:rPr lang="zh-CN" altLang="en-US" dirty="0">
                <a:latin typeface="Times New Roman" panose="02020603050405020304" pitchFamily="18" charset="0"/>
                <a:cs typeface="Times New Roman" panose="02020603050405020304" pitchFamily="18" charset="0"/>
              </a:rPr>
              <a:t>其中</a:t>
            </a:r>
            <a:r>
              <a:rPr lang="en-US" altLang="zh-CN" dirty="0">
                <a:latin typeface="Times New Roman" panose="02020603050405020304" pitchFamily="18" charset="0"/>
                <a:cs typeface="Times New Roman" panose="02020603050405020304" pitchFamily="18" charset="0"/>
              </a:rPr>
              <a:t> h*(n) </a:t>
            </a:r>
            <a:r>
              <a:rPr lang="zh-CN" altLang="en-US" dirty="0">
                <a:latin typeface="Times New Roman" panose="02020603050405020304" pitchFamily="18" charset="0"/>
                <a:cs typeface="Times New Roman" panose="02020603050405020304" pitchFamily="18" charset="0"/>
              </a:rPr>
              <a:t>是从结点</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到达目标结点的真实代</a:t>
            </a:r>
            <a:r>
              <a:rPr lang="zh-CN" altLang="en-US" dirty="0" smtClean="0">
                <a:latin typeface="Times New Roman" panose="02020603050405020304" pitchFamily="18" charset="0"/>
                <a:cs typeface="Times New Roman" panose="02020603050405020304" pitchFamily="18" charset="0"/>
              </a:rPr>
              <a:t>价</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eaLnBrk="1" hangingPunct="1">
              <a:lnSpc>
                <a:spcPct val="200000"/>
              </a:lnSpc>
              <a:buClr>
                <a:srgbClr val="FF0000"/>
              </a:buClr>
              <a:buSzPct val="90000"/>
              <a:buFont typeface="Wingdings" panose="05000000000000000000" pitchFamily="2" charset="2"/>
              <a:buChar char="p"/>
              <a:defRPr/>
            </a:pPr>
            <a:r>
              <a:rPr lang="zh-CN" altLang="en-US" sz="2400" dirty="0">
                <a:ea typeface=""/>
              </a:rPr>
              <a:t>可采纳启发式不会过高估计到达目标的代价。</a:t>
            </a:r>
            <a:endParaRPr lang="en-US" altLang="zh-CN" sz="2400" dirty="0"/>
          </a:p>
          <a:p>
            <a:pPr lvl="1" eaLnBrk="1" hangingPunct="1">
              <a:defRPr/>
            </a:pPr>
            <a:r>
              <a:rPr lang="zh-CN" altLang="en-US" dirty="0">
                <a:latin typeface="Times New Roman" panose="02020603050405020304" pitchFamily="18" charset="0"/>
                <a:cs typeface="Times New Roman" panose="02020603050405020304" pitchFamily="18" charset="0"/>
              </a:rPr>
              <a:t>例如</a:t>
            </a:r>
            <a:r>
              <a:rPr lang="en-US" altLang="zh-CN" dirty="0">
                <a:latin typeface="Times New Roman" panose="02020603050405020304" pitchFamily="18" charset="0"/>
                <a:cs typeface="Times New Roman" panose="02020603050405020304" pitchFamily="18" charset="0"/>
              </a:rPr>
              <a:t>: h</a:t>
            </a:r>
            <a:r>
              <a:rPr lang="en-US" altLang="zh-CN" sz="1200" dirty="0">
                <a:latin typeface="Times New Roman" panose="02020603050405020304" pitchFamily="18" charset="0"/>
                <a:cs typeface="Times New Roman" panose="02020603050405020304" pitchFamily="18" charset="0"/>
              </a:rPr>
              <a:t>SLD</a:t>
            </a:r>
            <a:r>
              <a:rPr lang="en-US" altLang="zh-CN" dirty="0">
                <a:latin typeface="Times New Roman" panose="02020603050405020304" pitchFamily="18" charset="0"/>
                <a:cs typeface="Times New Roman" panose="02020603050405020304" pitchFamily="18" charset="0"/>
              </a:rPr>
              <a:t>(n) (</a:t>
            </a:r>
            <a:r>
              <a:rPr lang="zh-CN" altLang="en-US" dirty="0">
                <a:latin typeface="Times New Roman" panose="02020603050405020304" pitchFamily="18" charset="0"/>
                <a:cs typeface="Times New Roman" panose="02020603050405020304" pitchFamily="18" charset="0"/>
              </a:rPr>
              <a:t>不会高估真实距离</a:t>
            </a:r>
            <a:r>
              <a:rPr lang="en-US" altLang="zh-CN" dirty="0">
                <a:latin typeface="Times New Roman" panose="02020603050405020304" pitchFamily="18" charset="0"/>
                <a:cs typeface="Times New Roman" panose="02020603050405020304" pitchFamily="18" charset="0"/>
              </a:rPr>
              <a:t>)</a:t>
            </a:r>
          </a:p>
          <a:p>
            <a:pPr>
              <a:lnSpc>
                <a:spcPct val="200000"/>
              </a:lnSpc>
              <a:buClr>
                <a:srgbClr val="FF0000"/>
              </a:buClr>
              <a:buSzPct val="90000"/>
              <a:buFont typeface="Wingdings" panose="05000000000000000000" pitchFamily="2" charset="2"/>
              <a:buChar char="p"/>
              <a:defRPr/>
            </a:pPr>
            <a:r>
              <a:rPr lang="zh-CN" altLang="en-US" sz="2400" b="1" dirty="0">
                <a:ea typeface=""/>
              </a:rPr>
              <a:t>定理</a:t>
            </a:r>
            <a:r>
              <a:rPr lang="en-US" altLang="zh-CN" sz="2400" dirty="0">
                <a:ea typeface=""/>
              </a:rPr>
              <a:t>: </a:t>
            </a:r>
            <a:r>
              <a:rPr lang="zh-CN" altLang="en-US" sz="2400" dirty="0">
                <a:ea typeface=""/>
              </a:rPr>
              <a:t>如果</a:t>
            </a:r>
            <a:r>
              <a:rPr lang="en-US" altLang="zh-CN" sz="2400" i="1" dirty="0"/>
              <a:t>h(n)</a:t>
            </a:r>
            <a:r>
              <a:rPr lang="zh-CN" altLang="en-US" sz="2400" dirty="0">
                <a:ea typeface=""/>
              </a:rPr>
              <a:t>是可采纳的</a:t>
            </a:r>
            <a:r>
              <a:rPr lang="en-US" altLang="zh-CN" sz="2400" dirty="0">
                <a:ea typeface=""/>
              </a:rPr>
              <a:t>, </a:t>
            </a:r>
            <a:r>
              <a:rPr lang="en-US" altLang="zh-CN" sz="2400" dirty="0" smtClean="0">
                <a:ea typeface=""/>
              </a:rPr>
              <a:t>A</a:t>
            </a:r>
            <a:r>
              <a:rPr lang="en-US" altLang="zh-CN" sz="2400" dirty="0">
                <a:latin typeface="Times New Roman" panose="02020603050405020304" pitchFamily="18" charset="0"/>
                <a:cs typeface="Times New Roman" panose="02020603050405020304" pitchFamily="18" charset="0"/>
              </a:rPr>
              <a:t>*</a:t>
            </a:r>
            <a:r>
              <a:rPr lang="zh-CN" altLang="en-US" sz="2400" dirty="0" smtClean="0">
                <a:ea typeface=""/>
              </a:rPr>
              <a:t>搜索</a:t>
            </a:r>
            <a:r>
              <a:rPr lang="zh-CN" altLang="en-US" sz="2400" dirty="0">
                <a:ea typeface=""/>
              </a:rPr>
              <a:t>树搜索版本是最优的。</a:t>
            </a:r>
            <a:endParaRPr lang="en-US" altLang="zh-CN" sz="2400" dirty="0">
              <a:ea typeface=""/>
            </a:endParaRPr>
          </a:p>
        </p:txBody>
      </p:sp>
      <p:grpSp>
        <p:nvGrpSpPr>
          <p:cNvPr id="6" name="组合 5"/>
          <p:cNvGrpSpPr/>
          <p:nvPr/>
        </p:nvGrpSpPr>
        <p:grpSpPr>
          <a:xfrm>
            <a:off x="1026040" y="423407"/>
            <a:ext cx="7836197" cy="506942"/>
            <a:chOff x="2228892" y="2819853"/>
            <a:chExt cx="4786506"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：可容性</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5936623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46</a:t>
            </a:fld>
            <a:endParaRPr lang="en-US" altLang="zh-CN" dirty="0"/>
          </a:p>
        </p:txBody>
      </p:sp>
      <p:sp>
        <p:nvSpPr>
          <p:cNvPr id="7" name="内容占位符 6"/>
          <p:cNvSpPr>
            <a:spLocks noGrp="1"/>
          </p:cNvSpPr>
          <p:nvPr>
            <p:ph idx="1"/>
          </p:nvPr>
        </p:nvSpPr>
        <p:spPr>
          <a:xfrm>
            <a:off x="2119165" y="1434307"/>
            <a:ext cx="8229600" cy="4525963"/>
          </a:xfrm>
        </p:spPr>
        <p:txBody>
          <a:bodyPr>
            <a:normAutofit fontScale="92500" lnSpcReduction="20000"/>
          </a:bodyPr>
          <a:lstStyle/>
          <a:p>
            <a:pPr eaLnBrk="1" hangingPunct="1">
              <a:lnSpc>
                <a:spcPct val="150000"/>
              </a:lnSpc>
              <a:buClr>
                <a:srgbClr val="FF0000"/>
              </a:buClr>
              <a:buSzPct val="90000"/>
              <a:buFont typeface="Wingdings" panose="05000000000000000000" pitchFamily="2" charset="2"/>
              <a:buChar char="p"/>
            </a:pPr>
            <a:r>
              <a:rPr lang="zh-CN" altLang="en-US" sz="2400" dirty="0">
                <a:ea typeface=""/>
              </a:rPr>
              <a:t>如果对于每个结点</a:t>
            </a:r>
            <a:r>
              <a:rPr lang="en-US" altLang="zh-CN" sz="2400" dirty="0">
                <a:ea typeface=""/>
              </a:rPr>
              <a:t>n</a:t>
            </a:r>
            <a:r>
              <a:rPr lang="zh-CN" altLang="en-US" sz="2400" dirty="0">
                <a:ea typeface=""/>
              </a:rPr>
              <a:t>和通过任一行动</a:t>
            </a:r>
            <a:r>
              <a:rPr lang="en-US" altLang="zh-CN" sz="2400" dirty="0">
                <a:ea typeface=""/>
              </a:rPr>
              <a:t>a</a:t>
            </a:r>
            <a:r>
              <a:rPr lang="zh-CN" altLang="en-US" sz="2400" dirty="0">
                <a:ea typeface=""/>
              </a:rPr>
              <a:t>生成的</a:t>
            </a:r>
            <a:r>
              <a:rPr lang="en-US" altLang="zh-CN" sz="2400" dirty="0">
                <a:ea typeface=""/>
              </a:rPr>
              <a:t>n'</a:t>
            </a:r>
            <a:r>
              <a:rPr lang="zh-CN" altLang="en-US" sz="2400" dirty="0">
                <a:ea typeface=""/>
              </a:rPr>
              <a:t>的每个后继结点满足</a:t>
            </a:r>
            <a:r>
              <a:rPr lang="en-US" altLang="zh-CN" sz="2000" i="1" dirty="0"/>
              <a:t>h(n) </a:t>
            </a:r>
            <a:r>
              <a:rPr lang="en-US" altLang="zh-CN" sz="2000" i="1" dirty="0">
                <a:cs typeface="Arial" charset="0"/>
              </a:rPr>
              <a:t>≤</a:t>
            </a:r>
            <a:r>
              <a:rPr lang="en-US" altLang="zh-CN" sz="2000" i="1" dirty="0"/>
              <a:t> c(n,a,n') + h(n')</a:t>
            </a:r>
            <a:r>
              <a:rPr lang="zh-CN" altLang="en-US" sz="2000" i="1" dirty="0"/>
              <a:t>，</a:t>
            </a:r>
            <a:r>
              <a:rPr lang="zh-CN" altLang="en-US" sz="2400" dirty="0">
                <a:ea typeface=""/>
              </a:rPr>
              <a:t>则称启发式</a:t>
            </a:r>
            <a:r>
              <a:rPr lang="en-US" altLang="zh-CN" sz="2400" i="1" dirty="0">
                <a:ea typeface=""/>
              </a:rPr>
              <a:t>h(n)</a:t>
            </a:r>
            <a:r>
              <a:rPr lang="en-US" altLang="zh-CN" sz="2400" dirty="0">
                <a:ea typeface=""/>
              </a:rPr>
              <a:t> </a:t>
            </a:r>
            <a:r>
              <a:rPr lang="zh-CN" altLang="en-US" sz="2400" dirty="0">
                <a:ea typeface=""/>
              </a:rPr>
              <a:t>是</a:t>
            </a:r>
            <a:r>
              <a:rPr lang="zh-CN" altLang="en-US" sz="2400" b="1" dirty="0">
                <a:ea typeface=""/>
              </a:rPr>
              <a:t>一致的。</a:t>
            </a:r>
            <a:endParaRPr lang="en-US" altLang="zh-CN" sz="2400" b="1" dirty="0">
              <a:ea typeface=""/>
            </a:endParaRPr>
          </a:p>
          <a:p>
            <a:pPr eaLnBrk="1" hangingPunct="1">
              <a:lnSpc>
                <a:spcPct val="80000"/>
              </a:lnSpc>
            </a:pPr>
            <a:endParaRPr lang="en-US" altLang="zh-CN" sz="2000" dirty="0"/>
          </a:p>
          <a:p>
            <a:pPr eaLnBrk="1" hangingPunct="1">
              <a:lnSpc>
                <a:spcPct val="80000"/>
              </a:lnSpc>
              <a:buClr>
                <a:srgbClr val="FF0000"/>
              </a:buClr>
              <a:buSzPct val="90000"/>
              <a:buFont typeface="Wingdings" panose="05000000000000000000" pitchFamily="2" charset="2"/>
              <a:buChar char="p"/>
            </a:pPr>
            <a:r>
              <a:rPr lang="zh-CN" altLang="en-US" sz="2400" dirty="0">
                <a:ea typeface=""/>
              </a:rPr>
              <a:t>若</a:t>
            </a:r>
            <a:r>
              <a:rPr lang="en-US" altLang="zh-CN" sz="2400" dirty="0">
                <a:ea typeface=""/>
              </a:rPr>
              <a:t> </a:t>
            </a:r>
            <a:r>
              <a:rPr lang="en-US" altLang="zh-CN" sz="2400" i="1" dirty="0">
                <a:ea typeface=""/>
              </a:rPr>
              <a:t>h</a:t>
            </a:r>
            <a:r>
              <a:rPr lang="en-US" altLang="zh-CN" sz="2400" dirty="0">
                <a:ea typeface=""/>
              </a:rPr>
              <a:t> </a:t>
            </a:r>
            <a:r>
              <a:rPr lang="zh-CN" altLang="en-US" sz="2400" dirty="0">
                <a:ea typeface=""/>
              </a:rPr>
              <a:t>是一致的</a:t>
            </a:r>
            <a:r>
              <a:rPr lang="en-US" altLang="zh-CN" sz="2400" dirty="0">
                <a:ea typeface=""/>
              </a:rPr>
              <a:t>, </a:t>
            </a:r>
            <a:r>
              <a:rPr lang="zh-CN" altLang="en-US" sz="2400" dirty="0">
                <a:ea typeface=""/>
              </a:rPr>
              <a:t>则</a:t>
            </a:r>
            <a:endParaRPr lang="en-US" altLang="zh-CN" sz="2400" dirty="0">
              <a:ea typeface=""/>
            </a:endParaRPr>
          </a:p>
          <a:p>
            <a:pPr eaLnBrk="1" hangingPunct="1">
              <a:lnSpc>
                <a:spcPct val="80000"/>
              </a:lnSpc>
            </a:pPr>
            <a:endParaRPr lang="en-US" altLang="zh-CN" sz="2000" dirty="0"/>
          </a:p>
          <a:p>
            <a:pPr eaLnBrk="1" hangingPunct="1">
              <a:lnSpc>
                <a:spcPct val="80000"/>
              </a:lnSpc>
              <a:buFontTx/>
              <a:buNone/>
            </a:pPr>
            <a:r>
              <a:rPr lang="en-US" altLang="zh-CN" sz="2000" i="1" dirty="0"/>
              <a:t>	    f(n')   = g(n') + h(n') </a:t>
            </a:r>
          </a:p>
          <a:p>
            <a:pPr eaLnBrk="1" hangingPunct="1">
              <a:lnSpc>
                <a:spcPct val="80000"/>
              </a:lnSpc>
              <a:buFontTx/>
              <a:buNone/>
            </a:pPr>
            <a:r>
              <a:rPr lang="en-US" altLang="zh-CN" sz="2000" i="1" dirty="0"/>
              <a:t>      	     = g(n) + c(</a:t>
            </a:r>
            <a:r>
              <a:rPr lang="en-US" altLang="zh-CN" sz="2000" i="1" dirty="0" err="1"/>
              <a:t>n,a,n</a:t>
            </a:r>
            <a:r>
              <a:rPr lang="en-US" altLang="zh-CN" sz="2000" i="1" dirty="0"/>
              <a:t>') + h(n') </a:t>
            </a:r>
          </a:p>
          <a:p>
            <a:pPr eaLnBrk="1" hangingPunct="1">
              <a:lnSpc>
                <a:spcPct val="80000"/>
              </a:lnSpc>
              <a:buFontTx/>
              <a:buNone/>
            </a:pPr>
            <a:r>
              <a:rPr lang="en-US" altLang="zh-CN" sz="2000" i="1" dirty="0"/>
              <a:t>      	     ≥ g(n) + h(n) </a:t>
            </a:r>
          </a:p>
          <a:p>
            <a:pPr eaLnBrk="1" hangingPunct="1">
              <a:lnSpc>
                <a:spcPct val="80000"/>
              </a:lnSpc>
              <a:buFontTx/>
              <a:buNone/>
            </a:pPr>
            <a:r>
              <a:rPr lang="en-US" altLang="zh-CN" sz="2000" i="1" dirty="0"/>
              <a:t>      	     = f(n)</a:t>
            </a:r>
            <a:r>
              <a:rPr lang="en-US" altLang="zh-CN" sz="2000" dirty="0"/>
              <a:t>
	</a:t>
            </a:r>
          </a:p>
          <a:p>
            <a:pPr eaLnBrk="1" hangingPunct="1">
              <a:lnSpc>
                <a:spcPct val="80000"/>
              </a:lnSpc>
              <a:buFontTx/>
              <a:buNone/>
            </a:pPr>
            <a:r>
              <a:rPr lang="en-US" altLang="zh-CN" sz="2000" dirty="0"/>
              <a:t>          i.e., </a:t>
            </a:r>
            <a:r>
              <a:rPr lang="en-US" altLang="zh-CN" sz="2000" i="1" dirty="0"/>
              <a:t>f(n)</a:t>
            </a:r>
            <a:r>
              <a:rPr lang="en-US" altLang="zh-CN" sz="2000" dirty="0"/>
              <a:t> </a:t>
            </a:r>
            <a:r>
              <a:rPr lang="zh-CN" altLang="en-US" sz="2000" dirty="0"/>
              <a:t>在任何路径上都是非递减的。</a:t>
            </a:r>
            <a:endParaRPr lang="en-US" altLang="zh-CN" sz="2000" dirty="0"/>
          </a:p>
          <a:p>
            <a:pPr eaLnBrk="1" hangingPunct="1">
              <a:lnSpc>
                <a:spcPct val="200000"/>
              </a:lnSpc>
              <a:buClr>
                <a:srgbClr val="FF0000"/>
              </a:buClr>
              <a:buSzPct val="90000"/>
              <a:buFont typeface="Wingdings" panose="05000000000000000000" pitchFamily="2" charset="2"/>
              <a:buChar char="p"/>
              <a:defRPr/>
            </a:pPr>
            <a:r>
              <a:rPr lang="zh-CN" altLang="en-US" sz="2400" b="1" dirty="0">
                <a:latin typeface="+mn-ea"/>
              </a:rPr>
              <a:t>定理</a:t>
            </a:r>
            <a:r>
              <a:rPr lang="en-US" altLang="zh-CN" sz="2400" b="1" dirty="0">
                <a:latin typeface="+mn-ea"/>
              </a:rPr>
              <a:t>: </a:t>
            </a:r>
            <a:r>
              <a:rPr lang="zh-CN" altLang="en-US" sz="2400" dirty="0">
                <a:latin typeface="+mn-ea"/>
              </a:rPr>
              <a:t>如果</a:t>
            </a:r>
            <a:r>
              <a:rPr lang="en-US" altLang="zh-CN" sz="2400" i="1" dirty="0"/>
              <a:t>h(n)</a:t>
            </a:r>
            <a:r>
              <a:rPr lang="zh-CN" altLang="en-US" sz="2400" dirty="0">
                <a:latin typeface="+mn-ea"/>
              </a:rPr>
              <a:t>是一致的</a:t>
            </a:r>
            <a:r>
              <a:rPr lang="en-US" altLang="zh-CN" sz="2400" dirty="0">
                <a:ea typeface=""/>
              </a:rPr>
              <a:t>, A*</a:t>
            </a:r>
            <a:r>
              <a:rPr lang="zh-CN" altLang="en-US" sz="2400" dirty="0">
                <a:latin typeface="+mn-ea"/>
              </a:rPr>
              <a:t>搜索图搜索版本是最优的</a:t>
            </a:r>
            <a:r>
              <a:rPr lang="zh-CN" altLang="en-US" sz="2400" b="1" dirty="0">
                <a:latin typeface="+mn-ea"/>
              </a:rPr>
              <a:t>。</a:t>
            </a:r>
            <a:endParaRPr lang="en-US" altLang="zh-CN" sz="2400" b="1" dirty="0">
              <a:latin typeface="+mn-ea"/>
            </a:endParaRPr>
          </a:p>
        </p:txBody>
      </p:sp>
      <p:pic>
        <p:nvPicPr>
          <p:cNvPr id="10" name="Picture 4" descr="consistency"/>
          <p:cNvPicPr>
            <a:picLocks noChangeAspect="1" noChangeArrowheads="1"/>
          </p:cNvPicPr>
          <p:nvPr/>
        </p:nvPicPr>
        <p:blipFill>
          <a:blip r:embed="rId3"/>
          <a:srcRect/>
          <a:stretch>
            <a:fillRect/>
          </a:stretch>
        </p:blipFill>
        <p:spPr bwMode="auto">
          <a:xfrm>
            <a:off x="7588102" y="2971801"/>
            <a:ext cx="1962150" cy="2085975"/>
          </a:xfrm>
          <a:prstGeom prst="rect">
            <a:avLst/>
          </a:prstGeom>
          <a:noFill/>
          <a:ln w="9525">
            <a:noFill/>
            <a:miter lim="800000"/>
            <a:headEnd/>
            <a:tailEnd/>
          </a:ln>
        </p:spPr>
      </p:pic>
      <p:grpSp>
        <p:nvGrpSpPr>
          <p:cNvPr id="6" name="组合 5"/>
          <p:cNvGrpSpPr/>
          <p:nvPr/>
        </p:nvGrpSpPr>
        <p:grpSpPr>
          <a:xfrm>
            <a:off x="1026040" y="423407"/>
            <a:ext cx="7836197" cy="506942"/>
            <a:chOff x="2228892" y="2819853"/>
            <a:chExt cx="4786506"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平行四边形 10"/>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：一致性</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123930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2119" y="375561"/>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搜索性能分析：一致性必然导致可容性</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7" name="矩形 6">
            <a:extLst>
              <a:ext uri="{FF2B5EF4-FFF2-40B4-BE49-F238E27FC236}">
                <a16:creationId xmlns:a16="http://schemas.microsoft.com/office/drawing/2014/main" id="{31462E6B-1189-403E-82E1-93B9DFF5FDEE}"/>
              </a:ext>
            </a:extLst>
          </p:cNvPr>
          <p:cNvSpPr/>
          <p:nvPr/>
        </p:nvSpPr>
        <p:spPr>
          <a:xfrm>
            <a:off x="252119" y="2234975"/>
            <a:ext cx="3232298" cy="1569660"/>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一致性是一个比可容性更严格的性质，即一个启发函数如果满足一致性条件，那么该启发函数必然满足可容性条件。</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B351EF6D-8D5F-4849-A20B-CCE4B7A27DB6}"/>
                  </a:ext>
                </a:extLst>
              </p:cNvPr>
              <p:cNvSpPr/>
              <p:nvPr/>
            </p:nvSpPr>
            <p:spPr>
              <a:xfrm>
                <a:off x="7049506" y="1740561"/>
                <a:ext cx="4515954" cy="3877985"/>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如图中以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为根结点的子树，假设从该结点到达终止结点代价最小的路径为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K</m:t>
                    </m:r>
                  </m:oMath>
                </a14:m>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。由于</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h</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K</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且启发函数满足一致性条件，因此存在：</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e>
                      </m:d>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 xmlns:m="http://schemas.openxmlformats.org/officeDocument/2006/math">
                      <m:r>
                        <m:rPr>
                          <m:aln/>
                        </m:rP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2</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3</m:t>
                              </m:r>
                            </m:sub>
                          </m:sSub>
                        </m:e>
                      </m:d>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𝑐</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𝑎</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K</m:t>
                          </m:r>
                        </m:e>
                      </m:d>
                    </m:oMath>
                    <m:oMath xmlns:m="http://schemas.openxmlformats.org/officeDocument/2006/math">
                      <m:r>
                        <m:rPr>
                          <m:aln/>
                        </m:rPr>
                        <a:rPr lang="en-US" altLang="zh-CN" sz="1600"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h</m:t>
                          </m:r>
                        </m:e>
                        <m: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𝑛</m:t>
                          </m:r>
                        </m:e>
                        <m: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1600" i="1" kern="100">
                          <a:solidFill>
                            <a:srgbClr val="000000"/>
                          </a:solidFill>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266700" algn="just">
                  <a:spcAft>
                    <a:spcPts val="0"/>
                  </a:spcAft>
                </a:pPr>
                <a:endParaRPr lang="en-US" altLang="zh-CN" sz="16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66700" algn="ctr">
                  <a:spcAft>
                    <a:spcPts val="0"/>
                  </a:spcAft>
                </a:pPr>
                <a:r>
                  <a:rPr lang="zh-CN" altLang="zh-CN" sz="1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即满足一致性条件的启发函数一定满足可容性条件。</a:t>
                </a:r>
              </a:p>
            </p:txBody>
          </p:sp>
        </mc:Choice>
        <mc:Fallback>
          <p:sp>
            <p:nvSpPr>
              <p:cNvPr id="8" name="矩形 7">
                <a:extLst>
                  <a:ext uri="{FF2B5EF4-FFF2-40B4-BE49-F238E27FC236}">
                    <a16:creationId xmlns:a16="http://schemas.microsoft.com/office/drawing/2014/main" id="{B351EF6D-8D5F-4849-A20B-CCE4B7A27DB6}"/>
                  </a:ext>
                </a:extLst>
              </p:cNvPr>
              <p:cNvSpPr>
                <a:spLocks noRot="1" noChangeAspect="1" noMove="1" noResize="1" noEditPoints="1" noAdjustHandles="1" noChangeArrowheads="1" noChangeShapeType="1" noTextEdit="1"/>
              </p:cNvSpPr>
              <p:nvPr/>
            </p:nvSpPr>
            <p:spPr>
              <a:xfrm>
                <a:off x="7049506" y="1740561"/>
                <a:ext cx="4515954" cy="3877985"/>
              </a:xfrm>
              <a:prstGeom prst="rect">
                <a:avLst/>
              </a:prstGeom>
              <a:blipFill>
                <a:blip r:embed="rId3"/>
                <a:stretch>
                  <a:fillRect l="-675" r="-945" b="-629"/>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C786DC5C-FE1A-4E9E-AF67-C0139B147BCD}"/>
              </a:ext>
            </a:extLst>
          </p:cNvPr>
          <p:cNvPicPr>
            <a:picLocks noChangeAspect="1"/>
          </p:cNvPicPr>
          <p:nvPr/>
        </p:nvPicPr>
        <p:blipFill>
          <a:blip r:embed="rId4"/>
          <a:stretch>
            <a:fillRect/>
          </a:stretch>
        </p:blipFill>
        <p:spPr>
          <a:xfrm>
            <a:off x="3484417" y="1692714"/>
            <a:ext cx="3319007" cy="4362527"/>
          </a:xfrm>
          <a:prstGeom prst="rect">
            <a:avLst/>
          </a:prstGeom>
        </p:spPr>
      </p:pic>
    </p:spTree>
    <p:extLst>
      <p:ext uri="{BB962C8B-B14F-4D97-AF65-F5344CB8AC3E}">
        <p14:creationId xmlns:p14="http://schemas.microsoft.com/office/powerpoint/2010/main" val="743053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solidFill>
                  <a:srgbClr val="000000"/>
                </a:solidFill>
              </a:rPr>
              <a:pPr/>
              <a:t>48</a:t>
            </a:fld>
            <a:endParaRPr lang="en-US" altLang="zh-CN" dirty="0">
              <a:solidFill>
                <a:srgbClr val="000000"/>
              </a:solidFill>
            </a:endParaRPr>
          </a:p>
        </p:txBody>
      </p:sp>
      <p:sp>
        <p:nvSpPr>
          <p:cNvPr id="2" name="文本框 1"/>
          <p:cNvSpPr txBox="1"/>
          <p:nvPr/>
        </p:nvSpPr>
        <p:spPr>
          <a:xfrm>
            <a:off x="1650523" y="1282289"/>
            <a:ext cx="7924800" cy="5201424"/>
          </a:xfrm>
          <a:prstGeom prst="rect">
            <a:avLst/>
          </a:prstGeom>
          <a:noFill/>
        </p:spPr>
        <p:txBody>
          <a:bodyPr wrap="square" rtlCol="0">
            <a:spAutoFit/>
          </a:bodyPr>
          <a:lstStyle/>
          <a:p>
            <a:pPr>
              <a:lnSpc>
                <a:spcPct val="150000"/>
              </a:lnSpc>
              <a:spcBef>
                <a:spcPct val="20000"/>
              </a:spcBef>
              <a:buClr>
                <a:srgbClr val="FF0000"/>
              </a:buClr>
              <a:defRPr/>
            </a:pPr>
            <a:r>
              <a:rPr lang="en-US" altLang="zh-CN" sz="2000" dirty="0">
                <a:latin typeface="+mj-ea"/>
                <a:ea typeface="+mj-ea"/>
              </a:rPr>
              <a:t>    </a:t>
            </a:r>
            <a:r>
              <a:rPr lang="zh-CN" altLang="en-US" sz="2000" dirty="0">
                <a:latin typeface="Times New Roman" panose="02020603050405020304" pitchFamily="18" charset="0"/>
                <a:ea typeface=""/>
                <a:cs typeface="Times New Roman" panose="02020603050405020304" pitchFamily="18" charset="0"/>
              </a:rPr>
              <a:t>保证找到最短路径（最优解）的条件，关键在于估价函数</a:t>
            </a:r>
            <a:r>
              <a:rPr lang="en-US" altLang="zh-CN" sz="2000" dirty="0">
                <a:latin typeface="Times New Roman" panose="02020603050405020304" pitchFamily="18" charset="0"/>
                <a:ea typeface=""/>
                <a:cs typeface="Times New Roman" panose="02020603050405020304" pitchFamily="18" charset="0"/>
              </a:rPr>
              <a:t>f(n)</a:t>
            </a:r>
            <a:r>
              <a:rPr lang="zh-CN" altLang="en-US" sz="2000" dirty="0">
                <a:latin typeface="Times New Roman" panose="02020603050405020304" pitchFamily="18" charset="0"/>
                <a:ea typeface=""/>
                <a:cs typeface="Times New Roman" panose="02020603050405020304" pitchFamily="18" charset="0"/>
              </a:rPr>
              <a:t>的选取（或者说</a:t>
            </a:r>
            <a:r>
              <a:rPr lang="en-US" altLang="zh-CN" sz="2000" dirty="0">
                <a:latin typeface="Times New Roman" panose="02020603050405020304" pitchFamily="18" charset="0"/>
                <a:ea typeface=""/>
                <a:cs typeface="Times New Roman" panose="02020603050405020304" pitchFamily="18" charset="0"/>
              </a:rPr>
              <a:t>h(n)</a:t>
            </a:r>
            <a:r>
              <a:rPr lang="zh-CN" altLang="en-US" sz="2000" dirty="0">
                <a:latin typeface="Times New Roman" panose="02020603050405020304" pitchFamily="18" charset="0"/>
                <a:ea typeface=""/>
                <a:cs typeface="Times New Roman" panose="02020603050405020304" pitchFamily="18" charset="0"/>
              </a:rPr>
              <a:t>的选取）。</a:t>
            </a:r>
            <a:endParaRPr lang="en-US" altLang="zh-CN" sz="2000" dirty="0">
              <a:latin typeface="Times New Roman" panose="02020603050405020304" pitchFamily="18" charset="0"/>
              <a:ea typeface=""/>
              <a:cs typeface="Times New Roman" panose="02020603050405020304" pitchFamily="18" charset="0"/>
            </a:endParaRPr>
          </a:p>
          <a:p>
            <a:pPr>
              <a:lnSpc>
                <a:spcPct val="150000"/>
              </a:lnSpc>
              <a:spcBef>
                <a:spcPct val="20000"/>
              </a:spcBef>
              <a:buClr>
                <a:srgbClr val="FF0000"/>
              </a:buClr>
              <a:defRPr/>
            </a:pPr>
            <a:r>
              <a:rPr lang="en-US" altLang="zh-CN" sz="2000" dirty="0">
                <a:latin typeface="Times New Roman" panose="02020603050405020304" pitchFamily="18" charset="0"/>
                <a:ea typeface=""/>
                <a:cs typeface="Times New Roman" panose="02020603050405020304" pitchFamily="18" charset="0"/>
              </a:rPr>
              <a:t>        </a:t>
            </a:r>
            <a:r>
              <a:rPr lang="zh-CN" altLang="en-US" sz="2000" dirty="0">
                <a:latin typeface="Times New Roman" panose="02020603050405020304" pitchFamily="18" charset="0"/>
                <a:ea typeface=""/>
                <a:cs typeface="Times New Roman" panose="02020603050405020304" pitchFamily="18" charset="0"/>
              </a:rPr>
              <a:t>我们以</a:t>
            </a:r>
            <a:r>
              <a:rPr lang="en-US" altLang="zh-CN" sz="2000" dirty="0">
                <a:latin typeface="Times New Roman" panose="02020603050405020304" pitchFamily="18" charset="0"/>
                <a:ea typeface=""/>
                <a:cs typeface="Times New Roman" panose="02020603050405020304" pitchFamily="18" charset="0"/>
              </a:rPr>
              <a:t>h*(n)</a:t>
            </a:r>
            <a:r>
              <a:rPr lang="zh-CN" altLang="en-US" sz="2000" dirty="0">
                <a:latin typeface="Times New Roman" panose="02020603050405020304" pitchFamily="18" charset="0"/>
                <a:ea typeface=""/>
                <a:cs typeface="Times New Roman" panose="02020603050405020304" pitchFamily="18" charset="0"/>
              </a:rPr>
              <a:t>表达状态</a:t>
            </a:r>
            <a:r>
              <a:rPr lang="en-US" altLang="zh-CN" sz="2000" dirty="0">
                <a:latin typeface="Times New Roman" panose="02020603050405020304" pitchFamily="18" charset="0"/>
                <a:ea typeface=""/>
                <a:cs typeface="Times New Roman" panose="02020603050405020304" pitchFamily="18" charset="0"/>
              </a:rPr>
              <a:t>n</a:t>
            </a:r>
            <a:r>
              <a:rPr lang="zh-CN" altLang="en-US" sz="2000" dirty="0">
                <a:latin typeface="Times New Roman" panose="02020603050405020304" pitchFamily="18" charset="0"/>
                <a:ea typeface=""/>
                <a:cs typeface="Times New Roman" panose="02020603050405020304" pitchFamily="18" charset="0"/>
              </a:rPr>
              <a:t>到目标状态的距离，那么</a:t>
            </a:r>
            <a:r>
              <a:rPr lang="en-US" altLang="zh-CN" sz="2000" dirty="0">
                <a:latin typeface="Times New Roman" panose="02020603050405020304" pitchFamily="18" charset="0"/>
                <a:ea typeface=""/>
                <a:cs typeface="Times New Roman" panose="02020603050405020304" pitchFamily="18" charset="0"/>
              </a:rPr>
              <a:t>h(n)</a:t>
            </a:r>
            <a:r>
              <a:rPr lang="zh-CN" altLang="en-US" sz="2000" dirty="0">
                <a:latin typeface="Times New Roman" panose="02020603050405020304" pitchFamily="18" charset="0"/>
                <a:ea typeface=""/>
                <a:cs typeface="Times New Roman" panose="02020603050405020304" pitchFamily="18" charset="0"/>
              </a:rPr>
              <a:t>的选取大致有如下三种情况：</a:t>
            </a:r>
          </a:p>
          <a:p>
            <a:pPr marL="342900" indent="-342900">
              <a:lnSpc>
                <a:spcPct val="150000"/>
              </a:lnSpc>
              <a:spcBef>
                <a:spcPct val="20000"/>
              </a:spcBef>
              <a:buClr>
                <a:srgbClr val="FF0000"/>
              </a:buClr>
              <a:buFont typeface="Wingdings" panose="05000000000000000000" pitchFamily="2" charset="2"/>
              <a:buChar char="Ø"/>
              <a:defRPr/>
            </a:pP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如果</a:t>
            </a:r>
            <a:r>
              <a:rPr lang="en-US" altLang="zh-CN" sz="2000" dirty="0">
                <a:latin typeface="Times New Roman" panose="02020603050405020304" pitchFamily="18" charset="0"/>
                <a:cs typeface="Times New Roman" panose="02020603050405020304" pitchFamily="18" charset="0"/>
              </a:rPr>
              <a:t>h(n)&lt; h*(n) </a:t>
            </a:r>
            <a:r>
              <a:rPr lang="zh-CN" altLang="en-US" sz="2000" dirty="0">
                <a:latin typeface="Times New Roman" panose="02020603050405020304" pitchFamily="18" charset="0"/>
                <a:cs typeface="Times New Roman" panose="02020603050405020304" pitchFamily="18" charset="0"/>
              </a:rPr>
              <a:t>，这种情况下，搜索的点数多，搜索范围大，效率低。但能得到最优解。</a:t>
            </a:r>
          </a:p>
          <a:p>
            <a:pPr marL="342900" indent="-342900">
              <a:lnSpc>
                <a:spcPct val="150000"/>
              </a:lnSpc>
              <a:spcBef>
                <a:spcPct val="20000"/>
              </a:spcBef>
              <a:buClr>
                <a:srgbClr val="FF0000"/>
              </a:buClr>
              <a:buFont typeface="Wingdings" panose="05000000000000000000" pitchFamily="2" charset="2"/>
              <a:buChar char="Ø"/>
              <a:defRPr/>
            </a:pP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如果</a:t>
            </a:r>
            <a:r>
              <a:rPr lang="en-US" altLang="zh-CN" sz="2000" dirty="0">
                <a:latin typeface="Times New Roman" panose="02020603050405020304" pitchFamily="18" charset="0"/>
                <a:cs typeface="Times New Roman" panose="02020603050405020304" pitchFamily="18" charset="0"/>
              </a:rPr>
              <a:t>h(n)= h*(n) </a:t>
            </a:r>
            <a:r>
              <a:rPr lang="zh-CN" altLang="en-US" sz="2000" dirty="0">
                <a:latin typeface="Times New Roman" panose="02020603050405020304" pitchFamily="18" charset="0"/>
                <a:cs typeface="Times New Roman" panose="02020603050405020304" pitchFamily="18" charset="0"/>
              </a:rPr>
              <a:t>，即距离估计</a:t>
            </a:r>
            <a:r>
              <a:rPr lang="en-US" altLang="zh-CN" sz="2000" dirty="0">
                <a:latin typeface="Times New Roman" panose="02020603050405020304" pitchFamily="18" charset="0"/>
                <a:cs typeface="Times New Roman" panose="02020603050405020304" pitchFamily="18" charset="0"/>
              </a:rPr>
              <a:t>h(n)</a:t>
            </a:r>
            <a:r>
              <a:rPr lang="zh-CN" altLang="en-US" sz="2000" dirty="0">
                <a:latin typeface="Times New Roman" panose="02020603050405020304" pitchFamily="18" charset="0"/>
                <a:cs typeface="Times New Roman" panose="02020603050405020304" pitchFamily="18" charset="0"/>
              </a:rPr>
              <a:t>等于最短距离，那么搜索将严格沿着最短路径进行， 此时的搜索效率是最高的。</a:t>
            </a:r>
          </a:p>
          <a:p>
            <a:pPr marL="342900" indent="-342900">
              <a:lnSpc>
                <a:spcPct val="150000"/>
              </a:lnSpc>
              <a:spcBef>
                <a:spcPct val="20000"/>
              </a:spcBef>
              <a:buClr>
                <a:srgbClr val="FF0000"/>
              </a:buClr>
              <a:buFont typeface="Wingdings" panose="05000000000000000000" pitchFamily="2" charset="2"/>
              <a:buChar char="Ø"/>
              <a:defRPr/>
            </a:pP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如果 </a:t>
            </a:r>
            <a:r>
              <a:rPr lang="en-US" altLang="zh-CN" sz="2000" dirty="0">
                <a:latin typeface="Times New Roman" panose="02020603050405020304" pitchFamily="18" charset="0"/>
                <a:cs typeface="Times New Roman" panose="02020603050405020304" pitchFamily="18" charset="0"/>
              </a:rPr>
              <a:t>h(n)&gt; h*(n) </a:t>
            </a:r>
            <a:r>
              <a:rPr lang="zh-CN" altLang="en-US" sz="2000" dirty="0">
                <a:latin typeface="Times New Roman" panose="02020603050405020304" pitchFamily="18" charset="0"/>
                <a:cs typeface="Times New Roman" panose="02020603050405020304" pitchFamily="18" charset="0"/>
              </a:rPr>
              <a:t>，搜索的点数少，搜索范围小，效率高，但不能保证得到最优解。</a:t>
            </a:r>
          </a:p>
          <a:p>
            <a:endParaRPr lang="zh-CN" altLang="en-US" sz="1600" dirty="0"/>
          </a:p>
        </p:txBody>
      </p:sp>
      <p:grpSp>
        <p:nvGrpSpPr>
          <p:cNvPr id="6" name="组合 5"/>
          <p:cNvGrpSpPr/>
          <p:nvPr/>
        </p:nvGrpSpPr>
        <p:grpSpPr>
          <a:xfrm>
            <a:off x="1812851" y="375561"/>
            <a:ext cx="6608135" cy="497934"/>
            <a:chOff x="2228892" y="2819853"/>
            <a:chExt cx="4786506" cy="497934"/>
          </a:xfrm>
        </p:grpSpPr>
        <p:sp>
          <p:nvSpPr>
            <p:cNvPr id="7" name="平行四边形 6"/>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平行四边形 7"/>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084399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49</a:t>
            </a:fld>
            <a:endParaRPr lang="en-US" altLang="zh-CN" dirty="0"/>
          </a:p>
        </p:txBody>
      </p:sp>
      <p:sp>
        <p:nvSpPr>
          <p:cNvPr id="7" name="内容占位符 6"/>
          <p:cNvSpPr>
            <a:spLocks noGrp="1"/>
          </p:cNvSpPr>
          <p:nvPr>
            <p:ph idx="1"/>
          </p:nvPr>
        </p:nvSpPr>
        <p:spPr/>
        <p:txBody>
          <a:bodyPr/>
          <a:lstStyle/>
          <a:p>
            <a:pPr eaLnBrk="1" hangingPunct="1">
              <a:lnSpc>
                <a:spcPct val="150000"/>
              </a:lnSpc>
              <a:buClr>
                <a:srgbClr val="FF0000"/>
              </a:buClr>
              <a:buSzPct val="90000"/>
              <a:buFont typeface="Wingdings" panose="05000000000000000000" pitchFamily="2" charset="2"/>
              <a:buChar char="p"/>
            </a:pPr>
            <a:r>
              <a:rPr lang="zh-CN" altLang="en-US" u="sng" dirty="0">
                <a:solidFill>
                  <a:srgbClr val="CC0099"/>
                </a:solidFill>
              </a:rPr>
              <a:t>完备性</a:t>
            </a:r>
            <a:r>
              <a:rPr lang="en-US" altLang="zh-CN" u="sng" dirty="0">
                <a:solidFill>
                  <a:srgbClr val="CC0099"/>
                </a:solidFill>
              </a:rPr>
              <a:t>?</a:t>
            </a:r>
            <a:r>
              <a:rPr lang="en-US" altLang="zh-CN" dirty="0"/>
              <a:t> </a:t>
            </a:r>
            <a:r>
              <a:rPr lang="zh-CN" altLang="en-US" dirty="0"/>
              <a:t>是</a:t>
            </a:r>
            <a:r>
              <a:rPr lang="en-US" altLang="zh-CN" dirty="0"/>
              <a:t> (unless there are infinitely many nodes with f </a:t>
            </a:r>
            <a:r>
              <a:rPr lang="en-US" altLang="zh-CN" i="1" dirty="0">
                <a:cs typeface="Arial" charset="0"/>
              </a:rPr>
              <a:t>≤</a:t>
            </a:r>
            <a:r>
              <a:rPr lang="en-US" altLang="zh-CN" i="1" dirty="0"/>
              <a:t> f(G) </a:t>
            </a:r>
            <a:r>
              <a:rPr lang="en-US" altLang="zh-CN" dirty="0"/>
              <a:t>)</a:t>
            </a:r>
          </a:p>
          <a:p>
            <a:pPr eaLnBrk="1" hangingPunct="1">
              <a:lnSpc>
                <a:spcPct val="150000"/>
              </a:lnSpc>
              <a:buClr>
                <a:srgbClr val="FF0000"/>
              </a:buClr>
              <a:buSzPct val="90000"/>
              <a:buFont typeface="Wingdings" panose="05000000000000000000" pitchFamily="2" charset="2"/>
              <a:buChar char="p"/>
            </a:pPr>
            <a:r>
              <a:rPr lang="zh-CN" altLang="en-US" u="sng" dirty="0">
                <a:solidFill>
                  <a:srgbClr val="CC0099"/>
                </a:solidFill>
              </a:rPr>
              <a:t>最佳性</a:t>
            </a:r>
            <a:r>
              <a:rPr lang="en-US" altLang="zh-CN" u="sng" dirty="0">
                <a:solidFill>
                  <a:srgbClr val="CC0099"/>
                </a:solidFill>
              </a:rPr>
              <a:t>?</a:t>
            </a:r>
            <a:r>
              <a:rPr lang="en-US" altLang="zh-CN" dirty="0"/>
              <a:t> </a:t>
            </a:r>
            <a:r>
              <a:rPr lang="zh-CN" altLang="en-US" dirty="0"/>
              <a:t>是</a:t>
            </a:r>
            <a:endParaRPr lang="en-US" altLang="zh-CN" dirty="0"/>
          </a:p>
          <a:p>
            <a:pPr eaLnBrk="1" hangingPunct="1">
              <a:lnSpc>
                <a:spcPct val="150000"/>
              </a:lnSpc>
              <a:buClr>
                <a:srgbClr val="FF0000"/>
              </a:buClr>
              <a:buSzPct val="90000"/>
              <a:buFont typeface="Wingdings" panose="05000000000000000000" pitchFamily="2" charset="2"/>
              <a:buChar char="p"/>
            </a:pPr>
            <a:r>
              <a:rPr lang="zh-CN" altLang="en-US" u="sng" dirty="0">
                <a:solidFill>
                  <a:srgbClr val="CC0099"/>
                </a:solidFill>
              </a:rPr>
              <a:t>时间复杂度</a:t>
            </a:r>
            <a:r>
              <a:rPr lang="en-US" altLang="zh-CN" u="sng" dirty="0">
                <a:solidFill>
                  <a:srgbClr val="CC0099"/>
                </a:solidFill>
              </a:rPr>
              <a:t>?</a:t>
            </a:r>
            <a:r>
              <a:rPr lang="en-US" altLang="zh-CN" dirty="0"/>
              <a:t> </a:t>
            </a:r>
            <a:r>
              <a:rPr lang="zh-CN" altLang="en-US" dirty="0"/>
              <a:t>指数级</a:t>
            </a:r>
            <a:endParaRPr lang="en-US" altLang="zh-CN" dirty="0"/>
          </a:p>
          <a:p>
            <a:pPr eaLnBrk="1" hangingPunct="1">
              <a:lnSpc>
                <a:spcPct val="150000"/>
              </a:lnSpc>
              <a:buClr>
                <a:srgbClr val="FF0000"/>
              </a:buClr>
              <a:buSzPct val="90000"/>
              <a:buFont typeface="Wingdings" panose="05000000000000000000" pitchFamily="2" charset="2"/>
              <a:buChar char="p"/>
            </a:pPr>
            <a:r>
              <a:rPr lang="zh-CN" altLang="en-US" u="sng" dirty="0">
                <a:solidFill>
                  <a:srgbClr val="CC0099"/>
                </a:solidFill>
              </a:rPr>
              <a:t>空间复杂度</a:t>
            </a:r>
            <a:r>
              <a:rPr lang="en-US" altLang="zh-CN" u="sng" dirty="0">
                <a:solidFill>
                  <a:srgbClr val="CC0099"/>
                </a:solidFill>
              </a:rPr>
              <a:t>?</a:t>
            </a:r>
            <a:r>
              <a:rPr lang="en-US" altLang="zh-CN" dirty="0"/>
              <a:t> Keeps all nodes in memory</a:t>
            </a:r>
          </a:p>
          <a:p>
            <a:pPr eaLnBrk="1" hangingPunct="1"/>
            <a:endParaRPr lang="en-US" altLang="zh-CN" dirty="0"/>
          </a:p>
        </p:txBody>
      </p:sp>
      <p:grpSp>
        <p:nvGrpSpPr>
          <p:cNvPr id="6" name="组合 5"/>
          <p:cNvGrpSpPr/>
          <p:nvPr/>
        </p:nvGrpSpPr>
        <p:grpSpPr>
          <a:xfrm>
            <a:off x="1212112" y="471253"/>
            <a:ext cx="7006856" cy="618583"/>
            <a:chOff x="2228892" y="2819853"/>
            <a:chExt cx="4786506"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2591332" y="2826188"/>
              <a:ext cx="4133539"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搜索性能分析</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6667165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50</a:t>
            </a:fld>
            <a:endParaRPr lang="en-US" altLang="zh-CN" dirty="0"/>
          </a:p>
        </p:txBody>
      </p:sp>
      <p:sp>
        <p:nvSpPr>
          <p:cNvPr id="7" name="内容占位符 6"/>
          <p:cNvSpPr>
            <a:spLocks noGrp="1"/>
          </p:cNvSpPr>
          <p:nvPr>
            <p:ph idx="1"/>
          </p:nvPr>
        </p:nvSpPr>
        <p:spPr>
          <a:xfrm>
            <a:off x="370367" y="1274818"/>
            <a:ext cx="8229600" cy="4525963"/>
          </a:xfrm>
        </p:spPr>
        <p:txBody>
          <a:bodyPr>
            <a:normAutofit fontScale="92500" lnSpcReduction="20000"/>
          </a:bodyPr>
          <a:lstStyle/>
          <a:p>
            <a:pPr eaLnBrk="1" hangingPunct="1">
              <a:lnSpc>
                <a:spcPct val="90000"/>
              </a:lnSpc>
              <a:buFontTx/>
              <a:buNone/>
            </a:pPr>
            <a:r>
              <a:rPr lang="en-US" altLang="zh-CN" sz="2200" dirty="0">
                <a:latin typeface="微软雅黑" panose="020B0503020204020204" pitchFamily="34" charset="-122"/>
                <a:ea typeface="微软雅黑" panose="020B0503020204020204" pitchFamily="34" charset="-122"/>
              </a:rPr>
              <a:t>E.g., </a:t>
            </a:r>
            <a:r>
              <a:rPr lang="zh-CN" altLang="en-US" sz="2200" dirty="0">
                <a:latin typeface="微软雅黑" panose="020B0503020204020204" pitchFamily="34" charset="-122"/>
                <a:ea typeface="微软雅黑" panose="020B0503020204020204" pitchFamily="34" charset="-122"/>
              </a:rPr>
              <a:t>针对八数码问题</a:t>
            </a:r>
            <a:r>
              <a:rPr lang="en-US" altLang="zh-CN" sz="2200" dirty="0">
                <a:latin typeface="微软雅黑" panose="020B0503020204020204" pitchFamily="34" charset="-122"/>
                <a:ea typeface="微软雅黑" panose="020B0503020204020204" pitchFamily="34" charset="-122"/>
              </a:rPr>
              <a:t>:
</a:t>
            </a:r>
          </a:p>
          <a:p>
            <a:pPr eaLnBrk="1" hangingPunct="1">
              <a:lnSpc>
                <a:spcPct val="90000"/>
              </a:lnSpc>
            </a:pPr>
            <a:r>
              <a:rPr lang="en-US" altLang="zh-CN" sz="2200" i="1" dirty="0">
                <a:latin typeface="微软雅黑" panose="020B0503020204020204" pitchFamily="34" charset="-122"/>
                <a:ea typeface="微软雅黑" panose="020B0503020204020204" pitchFamily="34" charset="-122"/>
              </a:rPr>
              <a:t>h</a:t>
            </a:r>
            <a:r>
              <a:rPr lang="en-US" altLang="zh-CN" sz="2200" i="1" baseline="-25000" dirty="0">
                <a:latin typeface="微软雅黑" panose="020B0503020204020204" pitchFamily="34" charset="-122"/>
                <a:ea typeface="微软雅黑" panose="020B0503020204020204" pitchFamily="34" charset="-122"/>
              </a:rPr>
              <a:t>1</a:t>
            </a:r>
            <a:r>
              <a:rPr lang="en-US" altLang="zh-CN" sz="2200" i="1" dirty="0">
                <a:latin typeface="微软雅黑" panose="020B0503020204020204" pitchFamily="34" charset="-122"/>
                <a:ea typeface="微软雅黑" panose="020B0503020204020204" pitchFamily="34" charset="-122"/>
              </a:rPr>
              <a:t>(n) </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不在位的棋子数</a:t>
            </a: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pPr>
            <a:r>
              <a:rPr lang="en-US" altLang="zh-CN" sz="2200" i="1" dirty="0">
                <a:latin typeface="微软雅黑" panose="020B0503020204020204" pitchFamily="34" charset="-122"/>
                <a:ea typeface="微软雅黑" panose="020B0503020204020204" pitchFamily="34" charset="-122"/>
              </a:rPr>
              <a:t>h</a:t>
            </a:r>
            <a:r>
              <a:rPr lang="en-US" altLang="zh-CN" sz="2200" i="1" baseline="-25000" dirty="0">
                <a:latin typeface="微软雅黑" panose="020B0503020204020204" pitchFamily="34" charset="-122"/>
                <a:ea typeface="微软雅黑" panose="020B0503020204020204" pitchFamily="34" charset="-122"/>
              </a:rPr>
              <a:t>2</a:t>
            </a:r>
            <a:r>
              <a:rPr lang="en-US" altLang="zh-CN" sz="2200" i="1" dirty="0">
                <a:latin typeface="微软雅黑" panose="020B0503020204020204" pitchFamily="34" charset="-122"/>
                <a:ea typeface="微软雅黑" panose="020B0503020204020204" pitchFamily="34" charset="-122"/>
              </a:rPr>
              <a:t>(n) </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所有棋子到其目标位置的距离和</a:t>
            </a:r>
            <a:endParaRPr lang="en-US" altLang="zh-CN" sz="2200" dirty="0">
              <a:latin typeface="微软雅黑" panose="020B0503020204020204" pitchFamily="34" charset="-122"/>
              <a:ea typeface="微软雅黑" panose="020B0503020204020204" pitchFamily="34" charset="-122"/>
            </a:endParaRPr>
          </a:p>
          <a:p>
            <a:pPr eaLnBrk="1" hangingPunct="1">
              <a:lnSpc>
                <a:spcPct val="90000"/>
              </a:lnSpc>
              <a:buFontTx/>
              <a:buNone/>
            </a:pPr>
            <a:r>
              <a:rPr lang="en-US" altLang="zh-CN" sz="2200" dirty="0">
                <a:latin typeface="微软雅黑" panose="020B0503020204020204" pitchFamily="34" charset="-122"/>
                <a:ea typeface="微软雅黑" panose="020B0503020204020204" pitchFamily="34" charset="-122"/>
              </a:rPr>
              <a:t>
</a:t>
            </a:r>
          </a:p>
          <a:p>
            <a:pPr eaLnBrk="1" hangingPunct="1">
              <a:lnSpc>
                <a:spcPct val="90000"/>
              </a:lnSpc>
              <a:buFontTx/>
              <a:buNone/>
            </a:pPr>
            <a:endParaRPr lang="en-US" altLang="zh-CN" sz="2000" dirty="0"/>
          </a:p>
          <a:p>
            <a:pPr eaLnBrk="1" hangingPunct="1">
              <a:lnSpc>
                <a:spcPct val="90000"/>
              </a:lnSpc>
              <a:buFontTx/>
              <a:buNone/>
            </a:pPr>
            <a:endParaRPr lang="en-US" altLang="zh-CN" sz="2400" dirty="0"/>
          </a:p>
          <a:p>
            <a:pPr eaLnBrk="1" hangingPunct="1">
              <a:lnSpc>
                <a:spcPct val="90000"/>
              </a:lnSpc>
              <a:buFontTx/>
              <a:buNone/>
            </a:pPr>
            <a:endParaRPr lang="en-US" altLang="zh-CN" sz="2400" dirty="0"/>
          </a:p>
          <a:p>
            <a:pPr eaLnBrk="1" hangingPunct="1">
              <a:lnSpc>
                <a:spcPct val="90000"/>
              </a:lnSpc>
              <a:buFontTx/>
              <a:buNone/>
            </a:pPr>
            <a:endParaRPr lang="en-US" altLang="zh-CN" sz="2400" dirty="0"/>
          </a:p>
          <a:p>
            <a:pPr eaLnBrk="1" hangingPunct="1">
              <a:lnSpc>
                <a:spcPct val="90000"/>
              </a:lnSpc>
            </a:pPr>
            <a:r>
              <a:rPr lang="en-US" altLang="zh-CN" u="sng" dirty="0">
                <a:solidFill>
                  <a:srgbClr val="CC0099"/>
                </a:solidFill>
                <a:latin typeface="微软雅黑" panose="020B0503020204020204" pitchFamily="34" charset="-122"/>
                <a:ea typeface="微软雅黑" panose="020B0503020204020204" pitchFamily="34" charset="-122"/>
              </a:rPr>
              <a:t>h</a:t>
            </a:r>
            <a:r>
              <a:rPr lang="en-US" altLang="zh-CN" u="sng" baseline="-25000" dirty="0">
                <a:solidFill>
                  <a:srgbClr val="CC0099"/>
                </a:solidFill>
                <a:latin typeface="微软雅黑" panose="020B0503020204020204" pitchFamily="34" charset="-122"/>
                <a:ea typeface="微软雅黑" panose="020B0503020204020204" pitchFamily="34" charset="-122"/>
              </a:rPr>
              <a:t>1</a:t>
            </a:r>
            <a:r>
              <a:rPr lang="en-US" altLang="zh-CN" u="sng" dirty="0">
                <a:solidFill>
                  <a:srgbClr val="CC0099"/>
                </a:solidFill>
                <a:latin typeface="微软雅黑" panose="020B0503020204020204" pitchFamily="34" charset="-122"/>
                <a:ea typeface="微软雅黑" panose="020B0503020204020204" pitchFamily="34" charset="-122"/>
              </a:rPr>
              <a:t>(S) = ?</a:t>
            </a:r>
            <a:r>
              <a:rPr lang="en-US" altLang="zh-CN" dirty="0">
                <a:latin typeface="微软雅黑" panose="020B0503020204020204" pitchFamily="34" charset="-122"/>
                <a:ea typeface="微软雅黑" panose="020B0503020204020204" pitchFamily="34" charset="-122"/>
              </a:rPr>
              <a:t> 8</a:t>
            </a:r>
            <a:endParaRPr lang="en-US" altLang="zh-CN" u="sng" dirty="0">
              <a:solidFill>
                <a:srgbClr val="CC0099"/>
              </a:solidFill>
              <a:latin typeface="微软雅黑" panose="020B0503020204020204" pitchFamily="34" charset="-122"/>
              <a:ea typeface="微软雅黑" panose="020B0503020204020204" pitchFamily="34" charset="-122"/>
            </a:endParaRPr>
          </a:p>
          <a:p>
            <a:pPr eaLnBrk="1" hangingPunct="1">
              <a:lnSpc>
                <a:spcPct val="90000"/>
              </a:lnSpc>
            </a:pPr>
            <a:r>
              <a:rPr lang="en-US" altLang="zh-CN" u="sng" dirty="0">
                <a:solidFill>
                  <a:srgbClr val="CC0099"/>
                </a:solidFill>
                <a:latin typeface="微软雅黑" panose="020B0503020204020204" pitchFamily="34" charset="-122"/>
                <a:ea typeface="微软雅黑" panose="020B0503020204020204" pitchFamily="34" charset="-122"/>
              </a:rPr>
              <a:t>h</a:t>
            </a:r>
            <a:r>
              <a:rPr lang="en-US" altLang="zh-CN" u="sng" baseline="-25000" dirty="0">
                <a:solidFill>
                  <a:srgbClr val="CC0099"/>
                </a:solidFill>
                <a:latin typeface="微软雅黑" panose="020B0503020204020204" pitchFamily="34" charset="-122"/>
                <a:ea typeface="微软雅黑" panose="020B0503020204020204" pitchFamily="34" charset="-122"/>
              </a:rPr>
              <a:t>2</a:t>
            </a:r>
            <a:r>
              <a:rPr lang="en-US" altLang="zh-CN" u="sng" dirty="0">
                <a:solidFill>
                  <a:srgbClr val="CC0099"/>
                </a:solidFill>
                <a:latin typeface="微软雅黑" panose="020B0503020204020204" pitchFamily="34" charset="-122"/>
                <a:ea typeface="微软雅黑" panose="020B0503020204020204" pitchFamily="34" charset="-122"/>
              </a:rPr>
              <a:t>(S) = ?</a:t>
            </a:r>
            <a:r>
              <a:rPr lang="en-US" altLang="zh-CN" dirty="0">
                <a:latin typeface="微软雅黑" panose="020B0503020204020204" pitchFamily="34" charset="-122"/>
                <a:ea typeface="微软雅黑" panose="020B0503020204020204" pitchFamily="34" charset="-122"/>
              </a:rPr>
              <a:t> 3+1+2+2+2+3+3+2 = 18</a:t>
            </a:r>
            <a:r>
              <a:rPr lang="en-US" altLang="zh-CN" sz="2400" dirty="0">
                <a:latin typeface="微软雅黑" panose="020B0503020204020204" pitchFamily="34" charset="-122"/>
                <a:ea typeface="微软雅黑" panose="020B0503020204020204" pitchFamily="34" charset="-122"/>
              </a:rPr>
              <a:t> </a:t>
            </a:r>
          </a:p>
          <a:p>
            <a:endParaRPr kumimoji="1" lang="zh-CN" altLang="en-US" sz="2400" dirty="0"/>
          </a:p>
        </p:txBody>
      </p:sp>
      <p:pic>
        <p:nvPicPr>
          <p:cNvPr id="10" name="Picture 4" descr="8puzzle"/>
          <p:cNvPicPr>
            <a:picLocks noChangeAspect="1" noChangeArrowheads="1"/>
          </p:cNvPicPr>
          <p:nvPr/>
        </p:nvPicPr>
        <p:blipFill>
          <a:blip r:embed="rId3"/>
          <a:srcRect/>
          <a:stretch>
            <a:fillRect/>
          </a:stretch>
        </p:blipFill>
        <p:spPr bwMode="auto">
          <a:xfrm>
            <a:off x="6096653" y="2604756"/>
            <a:ext cx="4638033" cy="2355332"/>
          </a:xfrm>
          <a:prstGeom prst="rect">
            <a:avLst/>
          </a:prstGeom>
          <a:noFill/>
          <a:ln w="9525">
            <a:noFill/>
            <a:miter lim="800000"/>
            <a:headEnd/>
            <a:tailEnd/>
          </a:ln>
        </p:spPr>
      </p:pic>
      <p:grpSp>
        <p:nvGrpSpPr>
          <p:cNvPr id="6" name="组合 5"/>
          <p:cNvGrpSpPr/>
          <p:nvPr/>
        </p:nvGrpSpPr>
        <p:grpSpPr>
          <a:xfrm>
            <a:off x="1408814" y="362494"/>
            <a:ext cx="7006856" cy="618583"/>
            <a:chOff x="2228892" y="2819853"/>
            <a:chExt cx="4786506" cy="497934"/>
          </a:xfrm>
        </p:grpSpPr>
        <p:sp>
          <p:nvSpPr>
            <p:cNvPr id="9" name="平行四边形 8"/>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平行四边形 10"/>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a:xfrm>
              <a:off x="2591332" y="2826188"/>
              <a:ext cx="4133539" cy="322072"/>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搜索的应用</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339725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txBox="1">
            <a:spLocks/>
          </p:cNvSpPr>
          <p:nvPr/>
        </p:nvSpPr>
        <p:spPr bwMode="auto">
          <a:xfrm>
            <a:off x="9372601" y="6413500"/>
            <a:ext cx="1008063" cy="215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20000"/>
              </a:spcBef>
              <a:spcAft>
                <a:spcPct val="0"/>
              </a:spcAft>
              <a:buClrTx/>
              <a:buFontTx/>
              <a:buNone/>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r>
              <a:rPr lang="en-US" altLang="zh-CN" dirty="0">
                <a:solidFill>
                  <a:srgbClr val="000000"/>
                </a:solidFill>
                <a:cs typeface=""/>
              </a:rPr>
              <a:t>29</a:t>
            </a:r>
          </a:p>
        </p:txBody>
      </p:sp>
      <p:sp>
        <p:nvSpPr>
          <p:cNvPr id="8" name="Text Box 2"/>
          <p:cNvSpPr txBox="1">
            <a:spLocks noChangeArrowheads="1"/>
          </p:cNvSpPr>
          <p:nvPr/>
        </p:nvSpPr>
        <p:spPr bwMode="auto">
          <a:xfrm>
            <a:off x="1524000" y="2457450"/>
            <a:ext cx="3024188"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D60093"/>
                </a:solidFill>
                <a:latin typeface="宋体" pitchFamily="2" charset="-122"/>
              </a:rPr>
              <a:t>例</a:t>
            </a:r>
            <a:r>
              <a:rPr kumimoji="1" lang="zh-CN" altLang="en-US" sz="2400" b="1">
                <a:solidFill>
                  <a:srgbClr val="0000CC"/>
                </a:solidFill>
                <a:latin typeface="宋体" pitchFamily="2" charset="-122"/>
              </a:rPr>
              <a:t>八数码难题。</a:t>
            </a:r>
            <a:r>
              <a:rPr kumimoji="1" lang="zh-CN" altLang="en-US" sz="2400">
                <a:latin typeface="Times New Roman" pitchFamily="18" charset="0"/>
              </a:rPr>
              <a:t> </a:t>
            </a:r>
          </a:p>
        </p:txBody>
      </p:sp>
      <p:grpSp>
        <p:nvGrpSpPr>
          <p:cNvPr id="9" name="组合 37"/>
          <p:cNvGrpSpPr>
            <a:grpSpLocks/>
          </p:cNvGrpSpPr>
          <p:nvPr/>
        </p:nvGrpSpPr>
        <p:grpSpPr bwMode="auto">
          <a:xfrm>
            <a:off x="5181600" y="2133600"/>
            <a:ext cx="3505200" cy="1295400"/>
            <a:chOff x="3657600" y="2133600"/>
            <a:chExt cx="3505200" cy="1295400"/>
          </a:xfrm>
        </p:grpSpPr>
        <p:sp>
          <p:nvSpPr>
            <p:cNvPr id="10" name="Rectangle 8"/>
            <p:cNvSpPr>
              <a:spLocks noChangeArrowheads="1"/>
            </p:cNvSpPr>
            <p:nvPr/>
          </p:nvSpPr>
          <p:spPr bwMode="auto">
            <a:xfrm>
              <a:off x="3962400" y="26670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     2   3</a:t>
              </a:r>
            </a:p>
            <a:p>
              <a:pPr marL="457200" indent="-457200" algn="ctr"/>
              <a:r>
                <a:rPr kumimoji="1" lang="en-US" altLang="zh-CN">
                  <a:solidFill>
                    <a:srgbClr val="D60093"/>
                  </a:solidFill>
                  <a:latin typeface="Times New Roman" pitchFamily="18" charset="0"/>
                </a:rPr>
                <a:t>1   8</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11" name="Rectangle 9"/>
            <p:cNvSpPr>
              <a:spLocks noChangeArrowheads="1"/>
            </p:cNvSpPr>
            <p:nvPr/>
          </p:nvSpPr>
          <p:spPr bwMode="auto">
            <a:xfrm>
              <a:off x="5638800" y="2667000"/>
              <a:ext cx="795338" cy="762000"/>
            </a:xfrm>
            <a:prstGeom prst="rect">
              <a:avLst/>
            </a:prstGeom>
            <a:noFill/>
            <a:ln w="9525">
              <a:solidFill>
                <a:srgbClr val="0000CC"/>
              </a:solidFill>
              <a:miter lim="800000"/>
              <a:headEnd/>
              <a:tailEnd/>
            </a:ln>
          </p:spPr>
          <p:txBody>
            <a:bodyPr wrap="none" anchor="ctr"/>
            <a:lstStyle/>
            <a:p>
              <a:pPr marL="457200" indent="-457200"/>
              <a:r>
                <a:rPr kumimoji="1" lang="en-US" altLang="zh-CN">
                  <a:solidFill>
                    <a:srgbClr val="0000CC"/>
                  </a:solidFill>
                  <a:latin typeface="Times New Roman" pitchFamily="18" charset="0"/>
                </a:rPr>
                <a:t>2   3</a:t>
              </a:r>
            </a:p>
            <a:p>
              <a:pPr marL="457200" indent="-457200"/>
              <a:r>
                <a:rPr kumimoji="1" lang="en-US" altLang="zh-CN">
                  <a:solidFill>
                    <a:srgbClr val="0000CC"/>
                  </a:solidFill>
                  <a:latin typeface="Times New Roman" pitchFamily="18" charset="0"/>
                </a:rPr>
                <a:t>1   8   4</a:t>
              </a:r>
            </a:p>
            <a:p>
              <a:pPr marL="457200" indent="-457200"/>
              <a:r>
                <a:rPr kumimoji="1" lang="en-US" altLang="zh-CN">
                  <a:solidFill>
                    <a:srgbClr val="0000CC"/>
                  </a:solidFill>
                  <a:latin typeface="Times New Roman" pitchFamily="18" charset="0"/>
                </a:rPr>
                <a:t>7   6   5</a:t>
              </a:r>
            </a:p>
          </p:txBody>
        </p:sp>
        <p:sp>
          <p:nvSpPr>
            <p:cNvPr id="12" name="Line 17"/>
            <p:cNvSpPr>
              <a:spLocks noChangeShapeType="1"/>
            </p:cNvSpPr>
            <p:nvPr/>
          </p:nvSpPr>
          <p:spPr bwMode="auto">
            <a:xfrm>
              <a:off x="4343400" y="2133600"/>
              <a:ext cx="0" cy="533400"/>
            </a:xfrm>
            <a:prstGeom prst="line">
              <a:avLst/>
            </a:prstGeom>
            <a:noFill/>
            <a:ln w="9525">
              <a:solidFill>
                <a:schemeClr val="tx1"/>
              </a:solidFill>
              <a:round/>
              <a:headEnd/>
              <a:tailEnd type="triangle" w="med" len="med"/>
            </a:ln>
          </p:spPr>
          <p:txBody>
            <a:bodyPr/>
            <a:lstStyle/>
            <a:p>
              <a:endParaRPr lang="zh-CN" altLang="en-US"/>
            </a:p>
          </p:txBody>
        </p:sp>
        <p:sp>
          <p:nvSpPr>
            <p:cNvPr id="13" name="Line 18"/>
            <p:cNvSpPr>
              <a:spLocks noChangeShapeType="1"/>
            </p:cNvSpPr>
            <p:nvPr/>
          </p:nvSpPr>
          <p:spPr bwMode="auto">
            <a:xfrm>
              <a:off x="4343400" y="2133600"/>
              <a:ext cx="1752600" cy="533400"/>
            </a:xfrm>
            <a:prstGeom prst="line">
              <a:avLst/>
            </a:prstGeom>
            <a:noFill/>
            <a:ln w="9525">
              <a:solidFill>
                <a:schemeClr val="tx1"/>
              </a:solidFill>
              <a:round/>
              <a:headEnd/>
              <a:tailEnd type="triangle" w="med" len="med"/>
            </a:ln>
          </p:spPr>
          <p:txBody>
            <a:bodyPr/>
            <a:lstStyle/>
            <a:p>
              <a:endParaRPr lang="zh-CN" altLang="en-US"/>
            </a:p>
          </p:txBody>
        </p:sp>
        <p:sp>
          <p:nvSpPr>
            <p:cNvPr id="14" name="Text Box 24"/>
            <p:cNvSpPr txBox="1">
              <a:spLocks noChangeArrowheads="1"/>
            </p:cNvSpPr>
            <p:nvPr/>
          </p:nvSpPr>
          <p:spPr bwMode="auto">
            <a:xfrm>
              <a:off x="3657600" y="2209800"/>
              <a:ext cx="3505200" cy="8540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 g*=2 h*=2           f=6</a:t>
              </a:r>
            </a:p>
            <a:p>
              <a:pPr>
                <a:spcBef>
                  <a:spcPct val="50000"/>
                </a:spcBef>
              </a:pPr>
              <a:r>
                <a:rPr kumimoji="1" lang="en-US" altLang="zh-CN" sz="2000">
                  <a:solidFill>
                    <a:srgbClr val="0000CC"/>
                  </a:solidFill>
                  <a:latin typeface="Times New Roman" pitchFamily="18" charset="0"/>
                </a:rPr>
                <a:t>                f=4</a:t>
              </a:r>
            </a:p>
          </p:txBody>
        </p:sp>
      </p:grpSp>
      <p:grpSp>
        <p:nvGrpSpPr>
          <p:cNvPr id="15" name="组合 41"/>
          <p:cNvGrpSpPr>
            <a:grpSpLocks/>
          </p:cNvGrpSpPr>
          <p:nvPr/>
        </p:nvGrpSpPr>
        <p:grpSpPr bwMode="auto">
          <a:xfrm>
            <a:off x="5505450" y="3429000"/>
            <a:ext cx="1733550" cy="1258888"/>
            <a:chOff x="3962400" y="3429000"/>
            <a:chExt cx="1733550" cy="1258888"/>
          </a:xfrm>
        </p:grpSpPr>
        <p:sp>
          <p:nvSpPr>
            <p:cNvPr id="16" name="Line 19"/>
            <p:cNvSpPr>
              <a:spLocks noChangeShapeType="1"/>
            </p:cNvSpPr>
            <p:nvPr/>
          </p:nvSpPr>
          <p:spPr bwMode="auto">
            <a:xfrm>
              <a:off x="4343400" y="3429000"/>
              <a:ext cx="0" cy="533400"/>
            </a:xfrm>
            <a:prstGeom prst="line">
              <a:avLst/>
            </a:prstGeom>
            <a:noFill/>
            <a:ln w="9525">
              <a:solidFill>
                <a:schemeClr val="tx1"/>
              </a:solidFill>
              <a:round/>
              <a:headEnd/>
              <a:tailEnd type="triangle" w="med" len="med"/>
            </a:ln>
          </p:spPr>
          <p:txBody>
            <a:bodyPr/>
            <a:lstStyle/>
            <a:p>
              <a:endParaRPr lang="zh-CN" altLang="en-US"/>
            </a:p>
          </p:txBody>
        </p:sp>
        <p:sp>
          <p:nvSpPr>
            <p:cNvPr id="17" name="Rectangle 12"/>
            <p:cNvSpPr>
              <a:spLocks noChangeArrowheads="1"/>
            </p:cNvSpPr>
            <p:nvPr/>
          </p:nvSpPr>
          <p:spPr bwMode="auto">
            <a:xfrm>
              <a:off x="3962400" y="3925888"/>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1   2    3</a:t>
              </a:r>
            </a:p>
            <a:p>
              <a:pPr marL="457200" indent="-457200" algn="ctr"/>
              <a:r>
                <a:rPr kumimoji="1" lang="en-US" altLang="zh-CN">
                  <a:solidFill>
                    <a:srgbClr val="D60093"/>
                  </a:solidFill>
                  <a:latin typeface="Times New Roman" pitchFamily="18" charset="0"/>
                </a:rPr>
                <a:t>     8</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18" name="Text Box 25"/>
            <p:cNvSpPr txBox="1">
              <a:spLocks noChangeArrowheads="1"/>
            </p:cNvSpPr>
            <p:nvPr/>
          </p:nvSpPr>
          <p:spPr bwMode="auto">
            <a:xfrm>
              <a:off x="4356100" y="3571876"/>
              <a:ext cx="1339850" cy="549275"/>
            </a:xfrm>
            <a:prstGeom prst="rect">
              <a:avLst/>
            </a:prstGeom>
            <a:noFill/>
            <a:ln w="9525">
              <a:noFill/>
              <a:miter lim="800000"/>
              <a:headEnd/>
              <a:tailEnd/>
            </a:ln>
          </p:spPr>
          <p:txBody>
            <a:bodyPr>
              <a:spAutoFit/>
            </a:bodyPr>
            <a:lstStyle/>
            <a:p>
              <a:pPr>
                <a:lnSpc>
                  <a:spcPct val="50000"/>
                </a:lnSpc>
                <a:spcBef>
                  <a:spcPct val="50000"/>
                </a:spcBef>
              </a:pPr>
              <a:r>
                <a:rPr kumimoji="1" lang="en-US" altLang="zh-CN" sz="2000">
                  <a:solidFill>
                    <a:srgbClr val="0000CC"/>
                  </a:solidFill>
                  <a:latin typeface="Times New Roman" pitchFamily="18" charset="0"/>
                </a:rPr>
                <a:t>g*=3 h*=1</a:t>
              </a:r>
            </a:p>
            <a:p>
              <a:pPr>
                <a:lnSpc>
                  <a:spcPct val="50000"/>
                </a:lnSpc>
                <a:spcBef>
                  <a:spcPct val="50000"/>
                </a:spcBef>
              </a:pPr>
              <a:r>
                <a:rPr kumimoji="1" lang="en-US" altLang="zh-CN" sz="2000">
                  <a:solidFill>
                    <a:srgbClr val="0000CC"/>
                  </a:solidFill>
                  <a:latin typeface="Times New Roman" pitchFamily="18" charset="0"/>
                </a:rPr>
                <a:t>      f=4</a:t>
              </a:r>
            </a:p>
          </p:txBody>
        </p:sp>
      </p:grpSp>
      <p:grpSp>
        <p:nvGrpSpPr>
          <p:cNvPr id="19" name="组合 39"/>
          <p:cNvGrpSpPr>
            <a:grpSpLocks/>
          </p:cNvGrpSpPr>
          <p:nvPr/>
        </p:nvGrpSpPr>
        <p:grpSpPr bwMode="auto">
          <a:xfrm>
            <a:off x="3971925" y="4648200"/>
            <a:ext cx="4211638" cy="1219200"/>
            <a:chOff x="2447925" y="4648200"/>
            <a:chExt cx="4211638" cy="1219200"/>
          </a:xfrm>
        </p:grpSpPr>
        <p:sp>
          <p:nvSpPr>
            <p:cNvPr id="20" name="Rectangle 10"/>
            <p:cNvSpPr>
              <a:spLocks noChangeArrowheads="1"/>
            </p:cNvSpPr>
            <p:nvPr/>
          </p:nvSpPr>
          <p:spPr bwMode="auto">
            <a:xfrm>
              <a:off x="2590800" y="5105400"/>
              <a:ext cx="795338" cy="762000"/>
            </a:xfrm>
            <a:prstGeom prst="rect">
              <a:avLst/>
            </a:prstGeom>
            <a:noFill/>
            <a:ln w="9525">
              <a:solidFill>
                <a:srgbClr val="FF0000"/>
              </a:solidFill>
              <a:miter lim="800000"/>
              <a:headEnd/>
              <a:tailEnd/>
            </a:ln>
            <a:effectLst/>
          </p:spPr>
          <p:txBody>
            <a:bodyPr wrap="none" anchor="ctr"/>
            <a:lstStyle/>
            <a:p>
              <a:pPr marL="457200" indent="-457200" algn="ctr">
                <a:defRPr/>
              </a:pPr>
              <a:r>
                <a:rPr kumimoji="1" lang="en-US" altLang="zh-CN" dirty="0">
                  <a:solidFill>
                    <a:schemeClr val="accent2">
                      <a:lumMod val="75000"/>
                    </a:schemeClr>
                  </a:solidFill>
                  <a:latin typeface="Times New Roman" pitchFamily="18" charset="0"/>
                </a:rPr>
                <a:t>1   2    3</a:t>
              </a:r>
            </a:p>
            <a:p>
              <a:pPr marL="457200" indent="-457200" algn="ctr">
                <a:defRPr/>
              </a:pPr>
              <a:r>
                <a:rPr kumimoji="1" lang="en-US" altLang="zh-CN" dirty="0">
                  <a:solidFill>
                    <a:schemeClr val="accent2">
                      <a:lumMod val="75000"/>
                    </a:schemeClr>
                  </a:solidFill>
                  <a:latin typeface="Times New Roman" pitchFamily="18" charset="0"/>
                </a:rPr>
                <a:t>8         4</a:t>
              </a:r>
            </a:p>
            <a:p>
              <a:pPr marL="457200" indent="-457200" algn="ctr">
                <a:defRPr/>
              </a:pPr>
              <a:r>
                <a:rPr kumimoji="1" lang="en-US" altLang="zh-CN" dirty="0">
                  <a:solidFill>
                    <a:schemeClr val="accent2">
                      <a:lumMod val="75000"/>
                    </a:schemeClr>
                  </a:solidFill>
                  <a:latin typeface="Times New Roman" pitchFamily="18" charset="0"/>
                </a:rPr>
                <a:t>7   6   5</a:t>
              </a:r>
            </a:p>
          </p:txBody>
        </p:sp>
        <p:sp>
          <p:nvSpPr>
            <p:cNvPr id="21" name="Rectangle 11"/>
            <p:cNvSpPr>
              <a:spLocks noChangeArrowheads="1"/>
            </p:cNvSpPr>
            <p:nvPr/>
          </p:nvSpPr>
          <p:spPr bwMode="auto">
            <a:xfrm>
              <a:off x="5638800" y="50292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1   2    3</a:t>
              </a:r>
            </a:p>
            <a:p>
              <a:pPr marL="457200" indent="-457200" algn="ctr"/>
              <a:r>
                <a:rPr kumimoji="1" lang="en-US" altLang="zh-CN">
                  <a:solidFill>
                    <a:srgbClr val="0000CC"/>
                  </a:solidFill>
                  <a:latin typeface="Times New Roman" pitchFamily="18" charset="0"/>
                </a:rPr>
                <a:t>7   8    4</a:t>
              </a:r>
            </a:p>
            <a:p>
              <a:pPr marL="457200" indent="-457200" algn="ctr"/>
              <a:r>
                <a:rPr kumimoji="1" lang="en-US" altLang="zh-CN">
                  <a:solidFill>
                    <a:srgbClr val="0000CC"/>
                  </a:solidFill>
                  <a:latin typeface="Times New Roman" pitchFamily="18" charset="0"/>
                </a:rPr>
                <a:t>     6    5</a:t>
              </a:r>
            </a:p>
          </p:txBody>
        </p:sp>
        <p:sp>
          <p:nvSpPr>
            <p:cNvPr id="22" name="Line 20"/>
            <p:cNvSpPr>
              <a:spLocks noChangeShapeType="1"/>
            </p:cNvSpPr>
            <p:nvPr/>
          </p:nvSpPr>
          <p:spPr bwMode="auto">
            <a:xfrm flipH="1">
              <a:off x="3048000" y="4724400"/>
              <a:ext cx="1295400" cy="381000"/>
            </a:xfrm>
            <a:prstGeom prst="line">
              <a:avLst/>
            </a:prstGeom>
            <a:noFill/>
            <a:ln w="9525">
              <a:solidFill>
                <a:schemeClr val="tx1"/>
              </a:solidFill>
              <a:round/>
              <a:headEnd/>
              <a:tailEnd type="triangle" w="med" len="med"/>
            </a:ln>
          </p:spPr>
          <p:txBody>
            <a:bodyPr/>
            <a:lstStyle/>
            <a:p>
              <a:endParaRPr lang="zh-CN" altLang="en-US"/>
            </a:p>
          </p:txBody>
        </p:sp>
        <p:sp>
          <p:nvSpPr>
            <p:cNvPr id="23" name="Line 21"/>
            <p:cNvSpPr>
              <a:spLocks noChangeShapeType="1"/>
            </p:cNvSpPr>
            <p:nvPr/>
          </p:nvSpPr>
          <p:spPr bwMode="auto">
            <a:xfrm>
              <a:off x="4343400" y="4724400"/>
              <a:ext cx="1600200" cy="304800"/>
            </a:xfrm>
            <a:prstGeom prst="line">
              <a:avLst/>
            </a:prstGeom>
            <a:noFill/>
            <a:ln w="9525">
              <a:solidFill>
                <a:schemeClr val="tx1"/>
              </a:solidFill>
              <a:round/>
              <a:headEnd/>
              <a:tailEnd type="triangle" w="med" len="med"/>
            </a:ln>
          </p:spPr>
          <p:txBody>
            <a:bodyPr/>
            <a:lstStyle/>
            <a:p>
              <a:endParaRPr lang="zh-CN" altLang="en-US"/>
            </a:p>
          </p:txBody>
        </p:sp>
        <p:sp>
          <p:nvSpPr>
            <p:cNvPr id="24" name="Text Box 26"/>
            <p:cNvSpPr txBox="1">
              <a:spLocks noChangeArrowheads="1"/>
            </p:cNvSpPr>
            <p:nvPr/>
          </p:nvSpPr>
          <p:spPr bwMode="auto">
            <a:xfrm>
              <a:off x="3429000" y="4800600"/>
              <a:ext cx="1682750" cy="8540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g*=4 h*=0             </a:t>
              </a:r>
            </a:p>
            <a:p>
              <a:pPr>
                <a:spcBef>
                  <a:spcPct val="50000"/>
                </a:spcBef>
              </a:pPr>
              <a:r>
                <a:rPr kumimoji="1" lang="en-US" altLang="zh-CN" sz="2000">
                  <a:solidFill>
                    <a:srgbClr val="0000CC"/>
                  </a:solidFill>
                  <a:latin typeface="Times New Roman" pitchFamily="18" charset="0"/>
                </a:rPr>
                <a:t>f=4</a:t>
              </a:r>
            </a:p>
          </p:txBody>
        </p:sp>
        <p:sp>
          <p:nvSpPr>
            <p:cNvPr id="25" name="Text Box 27"/>
            <p:cNvSpPr txBox="1">
              <a:spLocks noChangeArrowheads="1"/>
            </p:cNvSpPr>
            <p:nvPr/>
          </p:nvSpPr>
          <p:spPr bwMode="auto">
            <a:xfrm>
              <a:off x="6019800" y="4648200"/>
              <a:ext cx="639763" cy="3968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f=6</a:t>
              </a:r>
            </a:p>
          </p:txBody>
        </p:sp>
        <p:sp>
          <p:nvSpPr>
            <p:cNvPr id="26" name="Text Box 28"/>
            <p:cNvSpPr txBox="1">
              <a:spLocks noChangeArrowheads="1"/>
            </p:cNvSpPr>
            <p:nvPr/>
          </p:nvSpPr>
          <p:spPr bwMode="auto">
            <a:xfrm>
              <a:off x="2447925" y="4760913"/>
              <a:ext cx="385763" cy="327025"/>
            </a:xfrm>
            <a:prstGeom prst="rect">
              <a:avLst/>
            </a:prstGeom>
            <a:noFill/>
            <a:ln w="9525">
              <a:noFill/>
              <a:miter lim="800000"/>
              <a:headEnd/>
              <a:tailEnd/>
            </a:ln>
          </p:spPr>
          <p:txBody>
            <a:bodyPr lIns="18000" tIns="10800" rIns="18000" bIns="10800">
              <a:spAutoFit/>
            </a:bodyPr>
            <a:lstStyle/>
            <a:p>
              <a:pPr>
                <a:spcBef>
                  <a:spcPct val="50000"/>
                </a:spcBef>
              </a:pPr>
              <a:r>
                <a:rPr kumimoji="1" lang="en-US" altLang="zh-CN" sz="2000">
                  <a:solidFill>
                    <a:srgbClr val="0000CC"/>
                  </a:solidFill>
                  <a:latin typeface="Times New Roman" pitchFamily="18" charset="0"/>
                </a:rPr>
                <a:t>Sg</a:t>
              </a:r>
            </a:p>
          </p:txBody>
        </p:sp>
      </p:grpSp>
      <p:sp>
        <p:nvSpPr>
          <p:cNvPr id="27" name="Text Box 29"/>
          <p:cNvSpPr txBox="1">
            <a:spLocks noChangeArrowheads="1"/>
          </p:cNvSpPr>
          <p:nvPr/>
        </p:nvSpPr>
        <p:spPr bwMode="auto">
          <a:xfrm>
            <a:off x="4403726" y="6021389"/>
            <a:ext cx="3560763" cy="396875"/>
          </a:xfrm>
          <a:prstGeom prst="rect">
            <a:avLst/>
          </a:prstGeom>
          <a:noFill/>
          <a:ln w="9525">
            <a:noFill/>
            <a:miter lim="800000"/>
            <a:headEnd/>
            <a:tailEnd/>
          </a:ln>
        </p:spPr>
        <p:txBody>
          <a:bodyPr>
            <a:spAutoFit/>
          </a:bodyPr>
          <a:lstStyle/>
          <a:p>
            <a:pPr>
              <a:spcBef>
                <a:spcPct val="50000"/>
              </a:spcBef>
            </a:pPr>
            <a:r>
              <a:rPr kumimoji="1" lang="zh-CN" altLang="en-US" sz="2000">
                <a:solidFill>
                  <a:srgbClr val="0000CC"/>
                </a:solidFill>
                <a:latin typeface="Times New Roman" pitchFamily="18" charset="0"/>
              </a:rPr>
              <a:t>八数码难题</a:t>
            </a:r>
            <a:r>
              <a:rPr kumimoji="1" lang="en-US" altLang="zh-CN" sz="2000">
                <a:solidFill>
                  <a:srgbClr val="0000CC"/>
                </a:solidFill>
                <a:latin typeface="Times New Roman" pitchFamily="18" charset="0"/>
              </a:rPr>
              <a:t>h(n)=P(n)</a:t>
            </a:r>
            <a:r>
              <a:rPr kumimoji="1" lang="zh-CN" altLang="en-US" sz="2000">
                <a:solidFill>
                  <a:srgbClr val="0000CC"/>
                </a:solidFill>
                <a:latin typeface="Times New Roman" pitchFamily="18" charset="0"/>
              </a:rPr>
              <a:t>的搜索树</a:t>
            </a:r>
          </a:p>
        </p:txBody>
      </p:sp>
      <p:sp>
        <p:nvSpPr>
          <p:cNvPr id="28" name="Text Box 30"/>
          <p:cNvSpPr txBox="1">
            <a:spLocks noChangeArrowheads="1"/>
          </p:cNvSpPr>
          <p:nvPr/>
        </p:nvSpPr>
        <p:spPr bwMode="auto">
          <a:xfrm>
            <a:off x="1703389" y="3213100"/>
            <a:ext cx="2311399" cy="2708434"/>
          </a:xfrm>
          <a:prstGeom prst="rect">
            <a:avLst/>
          </a:prstGeom>
          <a:noFill/>
          <a:ln w="9525">
            <a:noFill/>
            <a:miter lim="800000"/>
            <a:headEnd/>
            <a:tailEnd/>
          </a:ln>
        </p:spPr>
        <p:txBody>
          <a:bodyPr wrap="square">
            <a:spAutoFit/>
          </a:bodyPr>
          <a:lstStyle/>
          <a:p>
            <a:pPr>
              <a:spcBef>
                <a:spcPct val="50000"/>
              </a:spcBef>
            </a:pPr>
            <a:r>
              <a:rPr lang="en-US" altLang="zh-CN" sz="2000" b="1" dirty="0">
                <a:solidFill>
                  <a:srgbClr val="0000CC"/>
                </a:solidFill>
                <a:latin typeface="Times New Roman" pitchFamily="18" charset="0"/>
              </a:rPr>
              <a:t>f(n)=d(n)+P(n)</a:t>
            </a:r>
          </a:p>
          <a:p>
            <a:pPr>
              <a:spcBef>
                <a:spcPct val="50000"/>
              </a:spcBef>
            </a:pPr>
            <a:r>
              <a:rPr lang="en-US" altLang="zh-CN" sz="2000" b="1" dirty="0">
                <a:solidFill>
                  <a:srgbClr val="0000CC"/>
                </a:solidFill>
                <a:latin typeface="Times New Roman" pitchFamily="18" charset="0"/>
              </a:rPr>
              <a:t>d(n) </a:t>
            </a:r>
            <a:r>
              <a:rPr lang="zh-CN" altLang="en-US" sz="2000" b="1" dirty="0">
                <a:solidFill>
                  <a:srgbClr val="0000CC"/>
                </a:solidFill>
                <a:latin typeface="Times New Roman" pitchFamily="18" charset="0"/>
              </a:rPr>
              <a:t>深度</a:t>
            </a:r>
          </a:p>
          <a:p>
            <a:pPr>
              <a:spcBef>
                <a:spcPct val="50000"/>
              </a:spcBef>
            </a:pPr>
            <a:r>
              <a:rPr lang="en-US" altLang="zh-CN" sz="2000" b="1" dirty="0">
                <a:solidFill>
                  <a:srgbClr val="FF0000"/>
                </a:solidFill>
                <a:latin typeface="Times New Roman" pitchFamily="18" charset="0"/>
              </a:rPr>
              <a:t>P(n):</a:t>
            </a:r>
            <a:r>
              <a:rPr lang="zh-CN" altLang="en-US" sz="2000" b="1" dirty="0">
                <a:solidFill>
                  <a:srgbClr val="FF0000"/>
                </a:solidFill>
                <a:latin typeface="Times New Roman" pitchFamily="18" charset="0"/>
              </a:rPr>
              <a:t>与目标距离和</a:t>
            </a:r>
          </a:p>
          <a:p>
            <a:pPr>
              <a:spcBef>
                <a:spcPct val="50000"/>
              </a:spcBef>
            </a:pPr>
            <a:r>
              <a:rPr lang="zh-CN" altLang="en-US" sz="2000" b="1" dirty="0">
                <a:solidFill>
                  <a:srgbClr val="0000CC"/>
                </a:solidFill>
                <a:latin typeface="Times New Roman" pitchFamily="18" charset="0"/>
              </a:rPr>
              <a:t>显然满足</a:t>
            </a:r>
          </a:p>
          <a:p>
            <a:pPr>
              <a:spcBef>
                <a:spcPct val="50000"/>
              </a:spcBef>
            </a:pPr>
            <a:r>
              <a:rPr lang="en-US" altLang="zh-CN" sz="2000" b="1" dirty="0">
                <a:solidFill>
                  <a:srgbClr val="0000CC"/>
                </a:solidFill>
                <a:latin typeface="Times New Roman" pitchFamily="18" charset="0"/>
              </a:rPr>
              <a:t>P(n)</a:t>
            </a:r>
            <a:r>
              <a:rPr lang="en-US" altLang="zh-CN" sz="2000" b="1" dirty="0">
                <a:solidFill>
                  <a:srgbClr val="0000CC"/>
                </a:solidFill>
                <a:latin typeface="Times New Roman" pitchFamily="18" charset="0"/>
                <a:cs typeface="Times New Roman" pitchFamily="18" charset="0"/>
              </a:rPr>
              <a:t>≤ </a:t>
            </a:r>
            <a:r>
              <a:rPr lang="en-US" altLang="zh-CN" sz="2000" b="1" dirty="0">
                <a:solidFill>
                  <a:srgbClr val="0000CC"/>
                </a:solidFill>
                <a:latin typeface="Times New Roman" pitchFamily="18" charset="0"/>
              </a:rPr>
              <a:t>h*(n)</a:t>
            </a:r>
            <a:endParaRPr lang="en-US" altLang="en-US" sz="2000" b="1" dirty="0">
              <a:solidFill>
                <a:srgbClr val="0000CC"/>
              </a:solidFill>
              <a:latin typeface="Times New Roman" pitchFamily="18" charset="0"/>
              <a:cs typeface="Times New Roman" pitchFamily="18" charset="0"/>
            </a:endParaRPr>
          </a:p>
          <a:p>
            <a:pPr>
              <a:spcBef>
                <a:spcPct val="50000"/>
              </a:spcBef>
            </a:pPr>
            <a:r>
              <a:rPr lang="zh-CN" altLang="en-US" sz="2000" b="1" dirty="0">
                <a:solidFill>
                  <a:srgbClr val="0000CC"/>
                </a:solidFill>
                <a:latin typeface="Times New Roman" pitchFamily="18" charset="0"/>
              </a:rPr>
              <a:t>即</a:t>
            </a:r>
            <a:r>
              <a:rPr lang="en-US" altLang="zh-CN" sz="2000" b="1" dirty="0">
                <a:solidFill>
                  <a:srgbClr val="0000CC"/>
                </a:solidFill>
                <a:latin typeface="Times New Roman" pitchFamily="18" charset="0"/>
              </a:rPr>
              <a:t>f*=g*+h*</a:t>
            </a:r>
          </a:p>
        </p:txBody>
      </p:sp>
      <p:grpSp>
        <p:nvGrpSpPr>
          <p:cNvPr id="29" name="组合 34"/>
          <p:cNvGrpSpPr>
            <a:grpSpLocks/>
          </p:cNvGrpSpPr>
          <p:nvPr/>
        </p:nvGrpSpPr>
        <p:grpSpPr bwMode="auto">
          <a:xfrm>
            <a:off x="3863976" y="981076"/>
            <a:ext cx="5661025" cy="1152525"/>
            <a:chOff x="2339975" y="981075"/>
            <a:chExt cx="5661025" cy="1152525"/>
          </a:xfrm>
        </p:grpSpPr>
        <p:sp>
          <p:nvSpPr>
            <p:cNvPr id="30" name="Rectangle 4"/>
            <p:cNvSpPr>
              <a:spLocks noChangeArrowheads="1"/>
            </p:cNvSpPr>
            <p:nvPr/>
          </p:nvSpPr>
          <p:spPr bwMode="auto">
            <a:xfrm>
              <a:off x="2590800" y="13716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2   8   3</a:t>
              </a:r>
            </a:p>
            <a:p>
              <a:pPr marL="457200" indent="-457200" algn="ctr"/>
              <a:r>
                <a:rPr kumimoji="1" lang="en-US" altLang="zh-CN">
                  <a:solidFill>
                    <a:srgbClr val="0000CC"/>
                  </a:solidFill>
                  <a:latin typeface="Times New Roman" pitchFamily="18" charset="0"/>
                </a:rPr>
                <a:t>     1   4</a:t>
              </a:r>
            </a:p>
            <a:p>
              <a:pPr marL="457200" indent="-457200" algn="ctr"/>
              <a:r>
                <a:rPr kumimoji="1" lang="en-US" altLang="zh-CN">
                  <a:solidFill>
                    <a:srgbClr val="0000CC"/>
                  </a:solidFill>
                  <a:latin typeface="Times New Roman" pitchFamily="18" charset="0"/>
                </a:rPr>
                <a:t>7   6   5</a:t>
              </a:r>
            </a:p>
          </p:txBody>
        </p:sp>
        <p:sp>
          <p:nvSpPr>
            <p:cNvPr id="31" name="Rectangle 5"/>
            <p:cNvSpPr>
              <a:spLocks noChangeArrowheads="1"/>
            </p:cNvSpPr>
            <p:nvPr/>
          </p:nvSpPr>
          <p:spPr bwMode="auto">
            <a:xfrm>
              <a:off x="3962400" y="13716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D60093"/>
                  </a:solidFill>
                  <a:latin typeface="Times New Roman" pitchFamily="18" charset="0"/>
                </a:rPr>
                <a:t>2 </a:t>
              </a:r>
              <a:r>
                <a:rPr kumimoji="1" lang="en-US" altLang="zh-CN">
                  <a:solidFill>
                    <a:srgbClr val="0000CC"/>
                  </a:solidFill>
                  <a:latin typeface="Times New Roman" pitchFamily="18" charset="0"/>
                </a:rPr>
                <a:t>       3</a:t>
              </a:r>
            </a:p>
            <a:p>
              <a:pPr marL="457200" indent="-457200" algn="ctr"/>
              <a:r>
                <a:rPr kumimoji="1" lang="en-US" altLang="zh-CN">
                  <a:solidFill>
                    <a:srgbClr val="D60093"/>
                  </a:solidFill>
                  <a:latin typeface="Times New Roman" pitchFamily="18" charset="0"/>
                </a:rPr>
                <a:t>1    8</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32" name="Rectangle 6"/>
            <p:cNvSpPr>
              <a:spLocks noChangeArrowheads="1"/>
            </p:cNvSpPr>
            <p:nvPr/>
          </p:nvSpPr>
          <p:spPr bwMode="auto">
            <a:xfrm>
              <a:off x="5605463" y="1371600"/>
              <a:ext cx="795337" cy="762000"/>
            </a:xfrm>
            <a:prstGeom prst="rect">
              <a:avLst/>
            </a:prstGeom>
            <a:noFill/>
            <a:ln w="9525">
              <a:solidFill>
                <a:srgbClr val="0000CC"/>
              </a:solidFill>
              <a:miter lim="800000"/>
              <a:headEnd/>
              <a:tailEnd/>
            </a:ln>
          </p:spPr>
          <p:txBody>
            <a:bodyPr wrap="none" anchor="ctr"/>
            <a:lstStyle/>
            <a:p>
              <a:pPr marL="457200" indent="-457200"/>
              <a:r>
                <a:rPr kumimoji="1" lang="en-US" altLang="zh-CN">
                  <a:solidFill>
                    <a:srgbClr val="0000CC"/>
                  </a:solidFill>
                  <a:latin typeface="Times New Roman" pitchFamily="18" charset="0"/>
                </a:rPr>
                <a:t>2   8   3</a:t>
              </a:r>
            </a:p>
            <a:p>
              <a:pPr marL="457200" indent="-457200"/>
              <a:r>
                <a:rPr kumimoji="1" lang="en-US" altLang="zh-CN">
                  <a:solidFill>
                    <a:srgbClr val="0000CC"/>
                  </a:solidFill>
                  <a:latin typeface="Times New Roman" pitchFamily="18" charset="0"/>
                </a:rPr>
                <a:t>1   4</a:t>
              </a:r>
            </a:p>
            <a:p>
              <a:pPr marL="457200" indent="-457200"/>
              <a:r>
                <a:rPr kumimoji="1" lang="en-US" altLang="zh-CN">
                  <a:solidFill>
                    <a:srgbClr val="0000CC"/>
                  </a:solidFill>
                  <a:latin typeface="Times New Roman" pitchFamily="18" charset="0"/>
                </a:rPr>
                <a:t>7   6   5</a:t>
              </a:r>
            </a:p>
          </p:txBody>
        </p:sp>
        <p:sp>
          <p:nvSpPr>
            <p:cNvPr id="33" name="Rectangle 7"/>
            <p:cNvSpPr>
              <a:spLocks noChangeArrowheads="1"/>
            </p:cNvSpPr>
            <p:nvPr/>
          </p:nvSpPr>
          <p:spPr bwMode="auto">
            <a:xfrm>
              <a:off x="7205663" y="1371600"/>
              <a:ext cx="795337"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2   8   3</a:t>
              </a:r>
            </a:p>
            <a:p>
              <a:pPr marL="457200" indent="-457200" algn="ctr"/>
              <a:r>
                <a:rPr kumimoji="1" lang="en-US" altLang="zh-CN">
                  <a:solidFill>
                    <a:srgbClr val="0000CC"/>
                  </a:solidFill>
                  <a:latin typeface="Times New Roman" pitchFamily="18" charset="0"/>
                </a:rPr>
                <a:t>1    6   4</a:t>
              </a:r>
            </a:p>
            <a:p>
              <a:pPr marL="457200" indent="-457200" algn="ctr"/>
              <a:r>
                <a:rPr kumimoji="1" lang="en-US" altLang="zh-CN">
                  <a:solidFill>
                    <a:srgbClr val="0000CC"/>
                  </a:solidFill>
                  <a:latin typeface="Times New Roman" pitchFamily="18" charset="0"/>
                </a:rPr>
                <a:t>7        5</a:t>
              </a:r>
            </a:p>
          </p:txBody>
        </p:sp>
        <p:sp>
          <p:nvSpPr>
            <p:cNvPr id="34" name="Line 13"/>
            <p:cNvSpPr>
              <a:spLocks noChangeShapeType="1"/>
            </p:cNvSpPr>
            <p:nvPr/>
          </p:nvSpPr>
          <p:spPr bwMode="auto">
            <a:xfrm flipH="1">
              <a:off x="2895600" y="990600"/>
              <a:ext cx="2209800" cy="381000"/>
            </a:xfrm>
            <a:prstGeom prst="line">
              <a:avLst/>
            </a:prstGeom>
            <a:noFill/>
            <a:ln w="9525">
              <a:solidFill>
                <a:schemeClr val="tx1"/>
              </a:solidFill>
              <a:round/>
              <a:headEnd/>
              <a:tailEnd type="triangle" w="med" len="med"/>
            </a:ln>
          </p:spPr>
          <p:txBody>
            <a:bodyPr/>
            <a:lstStyle/>
            <a:p>
              <a:endParaRPr lang="zh-CN" altLang="en-US"/>
            </a:p>
          </p:txBody>
        </p:sp>
        <p:sp>
          <p:nvSpPr>
            <p:cNvPr id="35" name="Line 14"/>
            <p:cNvSpPr>
              <a:spLocks noChangeShapeType="1"/>
            </p:cNvSpPr>
            <p:nvPr/>
          </p:nvSpPr>
          <p:spPr bwMode="auto">
            <a:xfrm flipH="1">
              <a:off x="4343400" y="990600"/>
              <a:ext cx="762000" cy="381000"/>
            </a:xfrm>
            <a:prstGeom prst="line">
              <a:avLst/>
            </a:prstGeom>
            <a:noFill/>
            <a:ln w="9525">
              <a:solidFill>
                <a:schemeClr val="tx1"/>
              </a:solidFill>
              <a:round/>
              <a:headEnd/>
              <a:tailEnd type="triangle" w="med" len="med"/>
            </a:ln>
          </p:spPr>
          <p:txBody>
            <a:bodyPr/>
            <a:lstStyle/>
            <a:p>
              <a:endParaRPr lang="zh-CN" altLang="en-US"/>
            </a:p>
          </p:txBody>
        </p:sp>
        <p:sp>
          <p:nvSpPr>
            <p:cNvPr id="36" name="Line 15"/>
            <p:cNvSpPr>
              <a:spLocks noChangeShapeType="1"/>
            </p:cNvSpPr>
            <p:nvPr/>
          </p:nvSpPr>
          <p:spPr bwMode="auto">
            <a:xfrm>
              <a:off x="5105400" y="990600"/>
              <a:ext cx="914400" cy="381000"/>
            </a:xfrm>
            <a:prstGeom prst="line">
              <a:avLst/>
            </a:prstGeom>
            <a:noFill/>
            <a:ln w="9525">
              <a:solidFill>
                <a:schemeClr val="tx1"/>
              </a:solidFill>
              <a:round/>
              <a:headEnd/>
              <a:tailEnd type="triangle" w="med" len="med"/>
            </a:ln>
          </p:spPr>
          <p:txBody>
            <a:bodyPr/>
            <a:lstStyle/>
            <a:p>
              <a:endParaRPr lang="zh-CN" altLang="en-US"/>
            </a:p>
          </p:txBody>
        </p:sp>
        <p:sp>
          <p:nvSpPr>
            <p:cNvPr id="37" name="Line 16"/>
            <p:cNvSpPr>
              <a:spLocks noChangeShapeType="1"/>
            </p:cNvSpPr>
            <p:nvPr/>
          </p:nvSpPr>
          <p:spPr bwMode="auto">
            <a:xfrm>
              <a:off x="5105400" y="990600"/>
              <a:ext cx="2514600" cy="381000"/>
            </a:xfrm>
            <a:prstGeom prst="line">
              <a:avLst/>
            </a:prstGeom>
            <a:noFill/>
            <a:ln w="9525">
              <a:solidFill>
                <a:schemeClr val="tx1"/>
              </a:solidFill>
              <a:round/>
              <a:headEnd/>
              <a:tailEnd type="triangle" w="med" len="med"/>
            </a:ln>
          </p:spPr>
          <p:txBody>
            <a:bodyPr/>
            <a:lstStyle/>
            <a:p>
              <a:endParaRPr lang="zh-CN" altLang="en-US"/>
            </a:p>
          </p:txBody>
        </p:sp>
        <p:sp>
          <p:nvSpPr>
            <p:cNvPr id="38" name="Text Box 23"/>
            <p:cNvSpPr txBox="1">
              <a:spLocks noChangeArrowheads="1"/>
            </p:cNvSpPr>
            <p:nvPr/>
          </p:nvSpPr>
          <p:spPr bwMode="auto">
            <a:xfrm>
              <a:off x="2339975" y="981075"/>
              <a:ext cx="5545138" cy="3968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f=6                       g*=1h*=3      f=6                 f=6</a:t>
              </a:r>
            </a:p>
          </p:txBody>
        </p:sp>
        <p:sp>
          <p:nvSpPr>
            <p:cNvPr id="39" name="Text Box 31"/>
            <p:cNvSpPr txBox="1">
              <a:spLocks noChangeArrowheads="1"/>
            </p:cNvSpPr>
            <p:nvPr/>
          </p:nvSpPr>
          <p:spPr bwMode="auto">
            <a:xfrm>
              <a:off x="4787900" y="1412875"/>
              <a:ext cx="576263" cy="366713"/>
            </a:xfrm>
            <a:prstGeom prst="rect">
              <a:avLst/>
            </a:prstGeom>
            <a:noFill/>
            <a:ln w="9525">
              <a:noFill/>
              <a:miter lim="800000"/>
              <a:headEnd/>
              <a:tailEnd/>
            </a:ln>
          </p:spPr>
          <p:txBody>
            <a:bodyPr>
              <a:spAutoFit/>
            </a:bodyPr>
            <a:lstStyle/>
            <a:p>
              <a:pPr>
                <a:spcBef>
                  <a:spcPct val="50000"/>
                </a:spcBef>
              </a:pPr>
              <a:r>
                <a:rPr lang="en-US" altLang="zh-CN">
                  <a:solidFill>
                    <a:srgbClr val="0000CC"/>
                  </a:solidFill>
                </a:rPr>
                <a:t>f=4</a:t>
              </a:r>
            </a:p>
          </p:txBody>
        </p:sp>
      </p:grpSp>
      <p:sp>
        <p:nvSpPr>
          <p:cNvPr id="40" name="Rectangle 32"/>
          <p:cNvSpPr>
            <a:spLocks noChangeArrowheads="1"/>
          </p:cNvSpPr>
          <p:nvPr/>
        </p:nvSpPr>
        <p:spPr bwMode="auto">
          <a:xfrm>
            <a:off x="1703388" y="188913"/>
            <a:ext cx="3744912" cy="519112"/>
          </a:xfrm>
          <a:prstGeom prst="rect">
            <a:avLst/>
          </a:prstGeom>
          <a:solidFill>
            <a:srgbClr val="00B0F0"/>
          </a:solidFill>
          <a:ln w="9525">
            <a:noFill/>
            <a:miter lim="800000"/>
            <a:headEnd/>
            <a:tailEnd/>
          </a:ln>
        </p:spPr>
        <p:txBody>
          <a:bodyPr>
            <a:spAutoFit/>
          </a:bodyPr>
          <a:lstStyle/>
          <a:p>
            <a:pPr algn="ctr"/>
            <a:r>
              <a:rPr lang="en-US" altLang="zh-CN" sz="2800" b="1" dirty="0">
                <a:solidFill>
                  <a:srgbClr val="FF3300"/>
                </a:solidFill>
              </a:rPr>
              <a:t>A*</a:t>
            </a:r>
            <a:r>
              <a:rPr lang="zh-CN" altLang="en-US" sz="2800" b="1" dirty="0">
                <a:solidFill>
                  <a:srgbClr val="FF3300"/>
                </a:solidFill>
              </a:rPr>
              <a:t>算法应用举例</a:t>
            </a:r>
          </a:p>
        </p:txBody>
      </p:sp>
      <p:grpSp>
        <p:nvGrpSpPr>
          <p:cNvPr id="41" name="组合 36"/>
          <p:cNvGrpSpPr>
            <a:grpSpLocks/>
          </p:cNvGrpSpPr>
          <p:nvPr/>
        </p:nvGrpSpPr>
        <p:grpSpPr bwMode="auto">
          <a:xfrm>
            <a:off x="5808664" y="152400"/>
            <a:ext cx="2808287" cy="838200"/>
            <a:chOff x="4284663" y="152400"/>
            <a:chExt cx="2808287" cy="838200"/>
          </a:xfrm>
        </p:grpSpPr>
        <p:sp>
          <p:nvSpPr>
            <p:cNvPr id="42" name="Rectangle 3"/>
            <p:cNvSpPr>
              <a:spLocks noChangeArrowheads="1"/>
            </p:cNvSpPr>
            <p:nvPr/>
          </p:nvSpPr>
          <p:spPr bwMode="auto">
            <a:xfrm>
              <a:off x="4724400" y="2286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D60093"/>
                  </a:solidFill>
                  <a:latin typeface="Times New Roman" pitchFamily="18" charset="0"/>
                </a:rPr>
                <a:t>2   8</a:t>
              </a:r>
              <a:r>
                <a:rPr kumimoji="1" lang="en-US" altLang="zh-CN">
                  <a:solidFill>
                    <a:srgbClr val="0000CC"/>
                  </a:solidFill>
                  <a:latin typeface="Times New Roman" pitchFamily="18" charset="0"/>
                </a:rPr>
                <a:t>   3</a:t>
              </a:r>
            </a:p>
            <a:p>
              <a:pPr marL="457200" indent="-457200" algn="ctr"/>
              <a:r>
                <a:rPr kumimoji="1" lang="en-US" altLang="zh-CN">
                  <a:solidFill>
                    <a:srgbClr val="D60093"/>
                  </a:solidFill>
                  <a:latin typeface="Times New Roman" pitchFamily="18" charset="0"/>
                </a:rPr>
                <a:t>1  </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43" name="Text Box 22"/>
            <p:cNvSpPr txBox="1">
              <a:spLocks noChangeArrowheads="1"/>
            </p:cNvSpPr>
            <p:nvPr/>
          </p:nvSpPr>
          <p:spPr bwMode="auto">
            <a:xfrm>
              <a:off x="4284663" y="152400"/>
              <a:ext cx="431800" cy="3968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S</a:t>
              </a:r>
              <a:r>
                <a:rPr kumimoji="1" lang="en-US" altLang="zh-CN" sz="2000" baseline="-25000">
                  <a:solidFill>
                    <a:srgbClr val="0000CC"/>
                  </a:solidFill>
                  <a:latin typeface="Times New Roman" pitchFamily="18" charset="0"/>
                </a:rPr>
                <a:t>0</a:t>
              </a:r>
              <a:endParaRPr kumimoji="1" lang="en-US" altLang="zh-CN" sz="2000">
                <a:solidFill>
                  <a:srgbClr val="0000CC"/>
                </a:solidFill>
                <a:latin typeface="Times New Roman" pitchFamily="18" charset="0"/>
              </a:endParaRPr>
            </a:p>
          </p:txBody>
        </p:sp>
        <p:sp>
          <p:nvSpPr>
            <p:cNvPr id="44" name="Text Box 33"/>
            <p:cNvSpPr txBox="1">
              <a:spLocks noChangeArrowheads="1"/>
            </p:cNvSpPr>
            <p:nvPr/>
          </p:nvSpPr>
          <p:spPr bwMode="auto">
            <a:xfrm>
              <a:off x="5616575" y="152400"/>
              <a:ext cx="1476375" cy="366713"/>
            </a:xfrm>
            <a:prstGeom prst="rect">
              <a:avLst/>
            </a:prstGeom>
            <a:noFill/>
            <a:ln w="9525">
              <a:noFill/>
              <a:miter lim="800000"/>
              <a:headEnd/>
              <a:tailEnd/>
            </a:ln>
          </p:spPr>
          <p:txBody>
            <a:bodyPr>
              <a:spAutoFit/>
            </a:bodyPr>
            <a:lstStyle/>
            <a:p>
              <a:pPr>
                <a:spcBef>
                  <a:spcPct val="50000"/>
                </a:spcBef>
              </a:pPr>
              <a:r>
                <a:rPr kumimoji="1" lang="en-US" altLang="zh-CN">
                  <a:solidFill>
                    <a:srgbClr val="0000CC"/>
                  </a:solidFill>
                  <a:latin typeface="Times New Roman" pitchFamily="18" charset="0"/>
                </a:rPr>
                <a:t>h*=4 f=4</a:t>
              </a:r>
            </a:p>
          </p:txBody>
        </p:sp>
      </p:grpSp>
      <p:sp>
        <p:nvSpPr>
          <p:cNvPr id="45" name="Rectangle 10">
            <a:extLst>
              <a:ext uri="{FF2B5EF4-FFF2-40B4-BE49-F238E27FC236}">
                <a16:creationId xmlns:a16="http://schemas.microsoft.com/office/drawing/2014/main" id="{950AC9EF-15E7-4D6F-9628-DFD4B16786B0}"/>
              </a:ext>
            </a:extLst>
          </p:cNvPr>
          <p:cNvSpPr>
            <a:spLocks noChangeArrowheads="1"/>
          </p:cNvSpPr>
          <p:nvPr/>
        </p:nvSpPr>
        <p:spPr bwMode="auto">
          <a:xfrm>
            <a:off x="1955016" y="1181100"/>
            <a:ext cx="795337" cy="762000"/>
          </a:xfrm>
          <a:prstGeom prst="rect">
            <a:avLst/>
          </a:prstGeom>
          <a:noFill/>
          <a:ln w="9525">
            <a:solidFill>
              <a:srgbClr val="FF0000"/>
            </a:solidFill>
            <a:miter lim="800000"/>
            <a:headEnd/>
            <a:tailEnd/>
          </a:ln>
          <a:effectLst/>
        </p:spPr>
        <p:txBody>
          <a:bodyPr wrap="none" anchor="ctr"/>
          <a:lstStyle/>
          <a:p>
            <a:pPr marL="457200" indent="-457200" algn="ctr">
              <a:defRPr/>
            </a:pPr>
            <a:r>
              <a:rPr kumimoji="1" lang="en-US" altLang="zh-CN" dirty="0">
                <a:solidFill>
                  <a:schemeClr val="accent2">
                    <a:lumMod val="75000"/>
                  </a:schemeClr>
                </a:solidFill>
                <a:latin typeface="Times New Roman" pitchFamily="18" charset="0"/>
              </a:rPr>
              <a:t>1   2    3</a:t>
            </a:r>
          </a:p>
          <a:p>
            <a:pPr marL="457200" indent="-457200" algn="ctr">
              <a:defRPr/>
            </a:pPr>
            <a:r>
              <a:rPr kumimoji="1" lang="en-US" altLang="zh-CN" dirty="0">
                <a:solidFill>
                  <a:schemeClr val="accent2">
                    <a:lumMod val="75000"/>
                  </a:schemeClr>
                </a:solidFill>
                <a:latin typeface="Times New Roman" pitchFamily="18" charset="0"/>
              </a:rPr>
              <a:t>8         4</a:t>
            </a:r>
          </a:p>
          <a:p>
            <a:pPr marL="457200" indent="-457200" algn="ctr">
              <a:defRPr/>
            </a:pPr>
            <a:r>
              <a:rPr kumimoji="1" lang="en-US" altLang="zh-CN" dirty="0">
                <a:solidFill>
                  <a:schemeClr val="accent2">
                    <a:lumMod val="75000"/>
                  </a:schemeClr>
                </a:solidFill>
                <a:latin typeface="Times New Roman" pitchFamily="18" charset="0"/>
              </a:rPr>
              <a:t>7   6   5</a:t>
            </a:r>
          </a:p>
        </p:txBody>
      </p:sp>
      <p:sp>
        <p:nvSpPr>
          <p:cNvPr id="46" name="Text Box 28">
            <a:extLst>
              <a:ext uri="{FF2B5EF4-FFF2-40B4-BE49-F238E27FC236}">
                <a16:creationId xmlns:a16="http://schemas.microsoft.com/office/drawing/2014/main" id="{BE1ABB03-12BB-4222-BA7D-99BB2B2A2DEE}"/>
              </a:ext>
            </a:extLst>
          </p:cNvPr>
          <p:cNvSpPr txBox="1">
            <a:spLocks noChangeArrowheads="1"/>
          </p:cNvSpPr>
          <p:nvPr/>
        </p:nvSpPr>
        <p:spPr bwMode="auto">
          <a:xfrm>
            <a:off x="1703389" y="773113"/>
            <a:ext cx="385763" cy="327025"/>
          </a:xfrm>
          <a:prstGeom prst="rect">
            <a:avLst/>
          </a:prstGeom>
          <a:noFill/>
          <a:ln w="9525">
            <a:noFill/>
            <a:miter lim="800000"/>
            <a:headEnd/>
            <a:tailEnd/>
          </a:ln>
        </p:spPr>
        <p:txBody>
          <a:bodyPr lIns="18000" tIns="10800" rIns="18000" bIns="10800">
            <a:spAutoFit/>
          </a:bodyPr>
          <a:lstStyle/>
          <a:p>
            <a:pPr>
              <a:spcBef>
                <a:spcPct val="50000"/>
              </a:spcBef>
            </a:pPr>
            <a:r>
              <a:rPr kumimoji="1" lang="en-US" altLang="zh-CN" sz="2000" dirty="0">
                <a:solidFill>
                  <a:srgbClr val="0000CC"/>
                </a:solidFill>
                <a:latin typeface="Times New Roman" pitchFamily="18" charset="0"/>
              </a:rPr>
              <a:t>Sg</a:t>
            </a:r>
          </a:p>
        </p:txBody>
      </p:sp>
    </p:spTree>
    <p:extLst>
      <p:ext uri="{BB962C8B-B14F-4D97-AF65-F5344CB8AC3E}">
        <p14:creationId xmlns:p14="http://schemas.microsoft.com/office/powerpoint/2010/main" val="2775421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灯片编号占位符 4"/>
          <p:cNvSpPr txBox="1">
            <a:spLocks/>
          </p:cNvSpPr>
          <p:nvPr/>
        </p:nvSpPr>
        <p:spPr bwMode="auto">
          <a:xfrm>
            <a:off x="9372601" y="6413500"/>
            <a:ext cx="1008063" cy="215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20000"/>
              </a:spcBef>
              <a:spcAft>
                <a:spcPct val="0"/>
              </a:spcAft>
              <a:buClrTx/>
              <a:buFontTx/>
              <a:buNone/>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r>
              <a:rPr lang="en-US" altLang="zh-CN" dirty="0">
                <a:solidFill>
                  <a:srgbClr val="000000"/>
                </a:solidFill>
                <a:cs typeface=""/>
              </a:rPr>
              <a:t>30</a:t>
            </a:r>
          </a:p>
        </p:txBody>
      </p:sp>
      <p:sp>
        <p:nvSpPr>
          <p:cNvPr id="48" name="Text Box 2"/>
          <p:cNvSpPr txBox="1">
            <a:spLocks noChangeArrowheads="1"/>
          </p:cNvSpPr>
          <p:nvPr/>
        </p:nvSpPr>
        <p:spPr bwMode="auto">
          <a:xfrm>
            <a:off x="1524000" y="2457450"/>
            <a:ext cx="3024188" cy="457200"/>
          </a:xfrm>
          <a:prstGeom prst="rect">
            <a:avLst/>
          </a:prstGeom>
          <a:noFill/>
          <a:ln w="9525">
            <a:noFill/>
            <a:miter lim="800000"/>
            <a:headEnd/>
            <a:tailEnd/>
          </a:ln>
        </p:spPr>
        <p:txBody>
          <a:bodyPr>
            <a:spAutoFit/>
          </a:bodyPr>
          <a:lstStyle/>
          <a:p>
            <a:pPr>
              <a:spcBef>
                <a:spcPct val="50000"/>
              </a:spcBef>
            </a:pPr>
            <a:r>
              <a:rPr kumimoji="1" lang="zh-CN" altLang="en-US" sz="2400" b="1">
                <a:solidFill>
                  <a:srgbClr val="D60093"/>
                </a:solidFill>
                <a:latin typeface="宋体" pitchFamily="2" charset="-122"/>
              </a:rPr>
              <a:t>例</a:t>
            </a:r>
            <a:r>
              <a:rPr kumimoji="1" lang="zh-CN" altLang="en-US" sz="2400" b="1">
                <a:solidFill>
                  <a:srgbClr val="0000CC"/>
                </a:solidFill>
                <a:latin typeface="宋体" pitchFamily="2" charset="-122"/>
              </a:rPr>
              <a:t>八数码难题。</a:t>
            </a:r>
            <a:r>
              <a:rPr kumimoji="1" lang="zh-CN" altLang="en-US" sz="2400">
                <a:latin typeface="Times New Roman" pitchFamily="18" charset="0"/>
              </a:rPr>
              <a:t> </a:t>
            </a:r>
          </a:p>
        </p:txBody>
      </p:sp>
      <p:grpSp>
        <p:nvGrpSpPr>
          <p:cNvPr id="49" name="组合 37"/>
          <p:cNvGrpSpPr>
            <a:grpSpLocks/>
          </p:cNvGrpSpPr>
          <p:nvPr/>
        </p:nvGrpSpPr>
        <p:grpSpPr bwMode="auto">
          <a:xfrm>
            <a:off x="6110288" y="2133600"/>
            <a:ext cx="3505200" cy="1295400"/>
            <a:chOff x="3657600" y="2133600"/>
            <a:chExt cx="3505200" cy="1295400"/>
          </a:xfrm>
        </p:grpSpPr>
        <p:sp>
          <p:nvSpPr>
            <p:cNvPr id="50" name="Rectangle 8"/>
            <p:cNvSpPr>
              <a:spLocks noChangeArrowheads="1"/>
            </p:cNvSpPr>
            <p:nvPr/>
          </p:nvSpPr>
          <p:spPr bwMode="auto">
            <a:xfrm>
              <a:off x="3962400" y="26670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     2   3</a:t>
              </a:r>
            </a:p>
            <a:p>
              <a:pPr marL="457200" indent="-457200" algn="ctr"/>
              <a:r>
                <a:rPr kumimoji="1" lang="en-US" altLang="zh-CN">
                  <a:solidFill>
                    <a:srgbClr val="D60093"/>
                  </a:solidFill>
                  <a:latin typeface="Times New Roman" pitchFamily="18" charset="0"/>
                </a:rPr>
                <a:t>1   8</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51" name="Rectangle 9"/>
            <p:cNvSpPr>
              <a:spLocks noChangeArrowheads="1"/>
            </p:cNvSpPr>
            <p:nvPr/>
          </p:nvSpPr>
          <p:spPr bwMode="auto">
            <a:xfrm>
              <a:off x="5638800" y="2667000"/>
              <a:ext cx="795338" cy="762000"/>
            </a:xfrm>
            <a:prstGeom prst="rect">
              <a:avLst/>
            </a:prstGeom>
            <a:noFill/>
            <a:ln w="9525">
              <a:solidFill>
                <a:srgbClr val="0000CC"/>
              </a:solidFill>
              <a:miter lim="800000"/>
              <a:headEnd/>
              <a:tailEnd/>
            </a:ln>
          </p:spPr>
          <p:txBody>
            <a:bodyPr wrap="none" anchor="ctr"/>
            <a:lstStyle/>
            <a:p>
              <a:pPr marL="457200" indent="-457200"/>
              <a:r>
                <a:rPr kumimoji="1" lang="en-US" altLang="zh-CN">
                  <a:solidFill>
                    <a:srgbClr val="0000CC"/>
                  </a:solidFill>
                  <a:latin typeface="Times New Roman" pitchFamily="18" charset="0"/>
                </a:rPr>
                <a:t>2   3</a:t>
              </a:r>
            </a:p>
            <a:p>
              <a:pPr marL="457200" indent="-457200"/>
              <a:r>
                <a:rPr kumimoji="1" lang="en-US" altLang="zh-CN">
                  <a:solidFill>
                    <a:srgbClr val="0000CC"/>
                  </a:solidFill>
                  <a:latin typeface="Times New Roman" pitchFamily="18" charset="0"/>
                </a:rPr>
                <a:t>1   8   4</a:t>
              </a:r>
            </a:p>
            <a:p>
              <a:pPr marL="457200" indent="-457200"/>
              <a:r>
                <a:rPr kumimoji="1" lang="en-US" altLang="zh-CN">
                  <a:solidFill>
                    <a:srgbClr val="0000CC"/>
                  </a:solidFill>
                  <a:latin typeface="Times New Roman" pitchFamily="18" charset="0"/>
                </a:rPr>
                <a:t>7   6   5</a:t>
              </a:r>
            </a:p>
          </p:txBody>
        </p:sp>
        <p:sp>
          <p:nvSpPr>
            <p:cNvPr id="52" name="Line 17"/>
            <p:cNvSpPr>
              <a:spLocks noChangeShapeType="1"/>
            </p:cNvSpPr>
            <p:nvPr/>
          </p:nvSpPr>
          <p:spPr bwMode="auto">
            <a:xfrm>
              <a:off x="4343400" y="2133600"/>
              <a:ext cx="0" cy="533400"/>
            </a:xfrm>
            <a:prstGeom prst="line">
              <a:avLst/>
            </a:prstGeom>
            <a:noFill/>
            <a:ln w="9525">
              <a:solidFill>
                <a:schemeClr val="tx1"/>
              </a:solidFill>
              <a:round/>
              <a:headEnd/>
              <a:tailEnd type="triangle" w="med" len="med"/>
            </a:ln>
          </p:spPr>
          <p:txBody>
            <a:bodyPr/>
            <a:lstStyle/>
            <a:p>
              <a:endParaRPr lang="zh-CN" altLang="en-US"/>
            </a:p>
          </p:txBody>
        </p:sp>
        <p:sp>
          <p:nvSpPr>
            <p:cNvPr id="53" name="Line 18"/>
            <p:cNvSpPr>
              <a:spLocks noChangeShapeType="1"/>
            </p:cNvSpPr>
            <p:nvPr/>
          </p:nvSpPr>
          <p:spPr bwMode="auto">
            <a:xfrm>
              <a:off x="4343400" y="2133600"/>
              <a:ext cx="1752600" cy="533400"/>
            </a:xfrm>
            <a:prstGeom prst="line">
              <a:avLst/>
            </a:prstGeom>
            <a:noFill/>
            <a:ln w="9525">
              <a:solidFill>
                <a:schemeClr val="tx1"/>
              </a:solidFill>
              <a:round/>
              <a:headEnd/>
              <a:tailEnd type="triangle" w="med" len="med"/>
            </a:ln>
          </p:spPr>
          <p:txBody>
            <a:bodyPr/>
            <a:lstStyle/>
            <a:p>
              <a:endParaRPr lang="zh-CN" altLang="en-US"/>
            </a:p>
          </p:txBody>
        </p:sp>
        <p:sp>
          <p:nvSpPr>
            <p:cNvPr id="54" name="Text Box 24"/>
            <p:cNvSpPr txBox="1">
              <a:spLocks noChangeArrowheads="1"/>
            </p:cNvSpPr>
            <p:nvPr/>
          </p:nvSpPr>
          <p:spPr bwMode="auto">
            <a:xfrm>
              <a:off x="3657600" y="2217735"/>
              <a:ext cx="3505200" cy="8540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 g*=2 h*=2           f=6</a:t>
              </a:r>
            </a:p>
            <a:p>
              <a:pPr>
                <a:spcBef>
                  <a:spcPct val="50000"/>
                </a:spcBef>
              </a:pPr>
              <a:r>
                <a:rPr kumimoji="1" lang="en-US" altLang="zh-CN" sz="2000">
                  <a:solidFill>
                    <a:srgbClr val="0000CC"/>
                  </a:solidFill>
                  <a:latin typeface="Times New Roman" pitchFamily="18" charset="0"/>
                </a:rPr>
                <a:t>                f=4</a:t>
              </a:r>
            </a:p>
          </p:txBody>
        </p:sp>
      </p:grpSp>
      <p:grpSp>
        <p:nvGrpSpPr>
          <p:cNvPr id="55" name="组合 41"/>
          <p:cNvGrpSpPr>
            <a:grpSpLocks/>
          </p:cNvGrpSpPr>
          <p:nvPr/>
        </p:nvGrpSpPr>
        <p:grpSpPr bwMode="auto">
          <a:xfrm>
            <a:off x="6434138" y="3429000"/>
            <a:ext cx="1733550" cy="1258888"/>
            <a:chOff x="3962400" y="3429000"/>
            <a:chExt cx="1733550" cy="1258888"/>
          </a:xfrm>
        </p:grpSpPr>
        <p:sp>
          <p:nvSpPr>
            <p:cNvPr id="56" name="Line 19"/>
            <p:cNvSpPr>
              <a:spLocks noChangeShapeType="1"/>
            </p:cNvSpPr>
            <p:nvPr/>
          </p:nvSpPr>
          <p:spPr bwMode="auto">
            <a:xfrm>
              <a:off x="4343400" y="3429000"/>
              <a:ext cx="0" cy="533400"/>
            </a:xfrm>
            <a:prstGeom prst="line">
              <a:avLst/>
            </a:prstGeom>
            <a:noFill/>
            <a:ln w="9525">
              <a:solidFill>
                <a:schemeClr val="tx1"/>
              </a:solidFill>
              <a:round/>
              <a:headEnd/>
              <a:tailEnd type="triangle" w="med" len="med"/>
            </a:ln>
          </p:spPr>
          <p:txBody>
            <a:bodyPr/>
            <a:lstStyle/>
            <a:p>
              <a:endParaRPr lang="zh-CN" altLang="en-US"/>
            </a:p>
          </p:txBody>
        </p:sp>
        <p:sp>
          <p:nvSpPr>
            <p:cNvPr id="57" name="Rectangle 12"/>
            <p:cNvSpPr>
              <a:spLocks noChangeArrowheads="1"/>
            </p:cNvSpPr>
            <p:nvPr/>
          </p:nvSpPr>
          <p:spPr bwMode="auto">
            <a:xfrm>
              <a:off x="3962400" y="3925888"/>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1   2    3</a:t>
              </a:r>
            </a:p>
            <a:p>
              <a:pPr marL="457200" indent="-457200" algn="ctr"/>
              <a:r>
                <a:rPr kumimoji="1" lang="en-US" altLang="zh-CN">
                  <a:solidFill>
                    <a:srgbClr val="D60093"/>
                  </a:solidFill>
                  <a:latin typeface="Times New Roman" pitchFamily="18" charset="0"/>
                </a:rPr>
                <a:t>     8</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58" name="Text Box 25"/>
            <p:cNvSpPr txBox="1">
              <a:spLocks noChangeArrowheads="1"/>
            </p:cNvSpPr>
            <p:nvPr/>
          </p:nvSpPr>
          <p:spPr bwMode="auto">
            <a:xfrm>
              <a:off x="4356100" y="3571876"/>
              <a:ext cx="1339850" cy="549275"/>
            </a:xfrm>
            <a:prstGeom prst="rect">
              <a:avLst/>
            </a:prstGeom>
            <a:noFill/>
            <a:ln w="9525">
              <a:noFill/>
              <a:miter lim="800000"/>
              <a:headEnd/>
              <a:tailEnd/>
            </a:ln>
          </p:spPr>
          <p:txBody>
            <a:bodyPr>
              <a:spAutoFit/>
            </a:bodyPr>
            <a:lstStyle/>
            <a:p>
              <a:pPr>
                <a:lnSpc>
                  <a:spcPct val="50000"/>
                </a:lnSpc>
                <a:spcBef>
                  <a:spcPct val="50000"/>
                </a:spcBef>
              </a:pPr>
              <a:r>
                <a:rPr kumimoji="1" lang="en-US" altLang="zh-CN" sz="2000">
                  <a:solidFill>
                    <a:srgbClr val="0000CC"/>
                  </a:solidFill>
                  <a:latin typeface="Times New Roman" pitchFamily="18" charset="0"/>
                </a:rPr>
                <a:t>g*=3 h*=1</a:t>
              </a:r>
            </a:p>
            <a:p>
              <a:pPr>
                <a:lnSpc>
                  <a:spcPct val="50000"/>
                </a:lnSpc>
                <a:spcBef>
                  <a:spcPct val="50000"/>
                </a:spcBef>
              </a:pPr>
              <a:r>
                <a:rPr kumimoji="1" lang="en-US" altLang="zh-CN" sz="2000">
                  <a:solidFill>
                    <a:srgbClr val="0000CC"/>
                  </a:solidFill>
                  <a:latin typeface="Times New Roman" pitchFamily="18" charset="0"/>
                </a:rPr>
                <a:t>      f=4</a:t>
              </a:r>
            </a:p>
          </p:txBody>
        </p:sp>
      </p:grpSp>
      <p:grpSp>
        <p:nvGrpSpPr>
          <p:cNvPr id="59" name="组合 39"/>
          <p:cNvGrpSpPr>
            <a:grpSpLocks/>
          </p:cNvGrpSpPr>
          <p:nvPr/>
        </p:nvGrpSpPr>
        <p:grpSpPr bwMode="auto">
          <a:xfrm>
            <a:off x="4900614" y="4648200"/>
            <a:ext cx="4211637" cy="1219200"/>
            <a:chOff x="2447925" y="4648200"/>
            <a:chExt cx="4211638" cy="1219200"/>
          </a:xfrm>
        </p:grpSpPr>
        <p:sp>
          <p:nvSpPr>
            <p:cNvPr id="60" name="Rectangle 10"/>
            <p:cNvSpPr>
              <a:spLocks noChangeArrowheads="1"/>
            </p:cNvSpPr>
            <p:nvPr/>
          </p:nvSpPr>
          <p:spPr bwMode="auto">
            <a:xfrm>
              <a:off x="2590800" y="5105400"/>
              <a:ext cx="795337" cy="762000"/>
            </a:xfrm>
            <a:prstGeom prst="rect">
              <a:avLst/>
            </a:prstGeom>
            <a:noFill/>
            <a:ln w="9525">
              <a:solidFill>
                <a:srgbClr val="FF0000"/>
              </a:solidFill>
              <a:miter lim="800000"/>
              <a:headEnd/>
              <a:tailEnd/>
            </a:ln>
            <a:effectLst/>
          </p:spPr>
          <p:txBody>
            <a:bodyPr wrap="none" anchor="ctr"/>
            <a:lstStyle/>
            <a:p>
              <a:pPr marL="457200" indent="-457200" algn="ctr">
                <a:defRPr/>
              </a:pPr>
              <a:r>
                <a:rPr kumimoji="1" lang="en-US" altLang="zh-CN" dirty="0">
                  <a:solidFill>
                    <a:schemeClr val="accent2">
                      <a:lumMod val="75000"/>
                    </a:schemeClr>
                  </a:solidFill>
                  <a:latin typeface="Times New Roman" pitchFamily="18" charset="0"/>
                </a:rPr>
                <a:t>1   2    3</a:t>
              </a:r>
            </a:p>
            <a:p>
              <a:pPr marL="457200" indent="-457200" algn="ctr">
                <a:defRPr/>
              </a:pPr>
              <a:r>
                <a:rPr kumimoji="1" lang="en-US" altLang="zh-CN" dirty="0">
                  <a:solidFill>
                    <a:schemeClr val="accent2">
                      <a:lumMod val="75000"/>
                    </a:schemeClr>
                  </a:solidFill>
                  <a:latin typeface="Times New Roman" pitchFamily="18" charset="0"/>
                </a:rPr>
                <a:t>8         4</a:t>
              </a:r>
            </a:p>
            <a:p>
              <a:pPr marL="457200" indent="-457200" algn="ctr">
                <a:defRPr/>
              </a:pPr>
              <a:r>
                <a:rPr kumimoji="1" lang="en-US" altLang="zh-CN" dirty="0">
                  <a:solidFill>
                    <a:schemeClr val="accent2">
                      <a:lumMod val="75000"/>
                    </a:schemeClr>
                  </a:solidFill>
                  <a:latin typeface="Times New Roman" pitchFamily="18" charset="0"/>
                </a:rPr>
                <a:t>7   6   5</a:t>
              </a:r>
            </a:p>
          </p:txBody>
        </p:sp>
        <p:sp>
          <p:nvSpPr>
            <p:cNvPr id="61" name="Rectangle 11"/>
            <p:cNvSpPr>
              <a:spLocks noChangeArrowheads="1"/>
            </p:cNvSpPr>
            <p:nvPr/>
          </p:nvSpPr>
          <p:spPr bwMode="auto">
            <a:xfrm>
              <a:off x="5638800" y="50292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1   2    3</a:t>
              </a:r>
            </a:p>
            <a:p>
              <a:pPr marL="457200" indent="-457200" algn="ctr"/>
              <a:r>
                <a:rPr kumimoji="1" lang="en-US" altLang="zh-CN">
                  <a:solidFill>
                    <a:srgbClr val="0000CC"/>
                  </a:solidFill>
                  <a:latin typeface="Times New Roman" pitchFamily="18" charset="0"/>
                </a:rPr>
                <a:t>7   8    4</a:t>
              </a:r>
            </a:p>
            <a:p>
              <a:pPr marL="457200" indent="-457200" algn="ctr"/>
              <a:r>
                <a:rPr kumimoji="1" lang="en-US" altLang="zh-CN">
                  <a:solidFill>
                    <a:srgbClr val="0000CC"/>
                  </a:solidFill>
                  <a:latin typeface="Times New Roman" pitchFamily="18" charset="0"/>
                </a:rPr>
                <a:t>     6    5</a:t>
              </a:r>
            </a:p>
          </p:txBody>
        </p:sp>
        <p:sp>
          <p:nvSpPr>
            <p:cNvPr id="62" name="Line 20"/>
            <p:cNvSpPr>
              <a:spLocks noChangeShapeType="1"/>
            </p:cNvSpPr>
            <p:nvPr/>
          </p:nvSpPr>
          <p:spPr bwMode="auto">
            <a:xfrm flipH="1">
              <a:off x="3048000" y="4724400"/>
              <a:ext cx="1295400" cy="381000"/>
            </a:xfrm>
            <a:prstGeom prst="line">
              <a:avLst/>
            </a:prstGeom>
            <a:noFill/>
            <a:ln w="9525">
              <a:solidFill>
                <a:schemeClr val="tx1"/>
              </a:solidFill>
              <a:round/>
              <a:headEnd/>
              <a:tailEnd type="triangle" w="med" len="med"/>
            </a:ln>
          </p:spPr>
          <p:txBody>
            <a:bodyPr/>
            <a:lstStyle/>
            <a:p>
              <a:endParaRPr lang="zh-CN" altLang="en-US"/>
            </a:p>
          </p:txBody>
        </p:sp>
        <p:sp>
          <p:nvSpPr>
            <p:cNvPr id="63" name="Line 21"/>
            <p:cNvSpPr>
              <a:spLocks noChangeShapeType="1"/>
            </p:cNvSpPr>
            <p:nvPr/>
          </p:nvSpPr>
          <p:spPr bwMode="auto">
            <a:xfrm>
              <a:off x="4343400" y="4724400"/>
              <a:ext cx="1600200" cy="304800"/>
            </a:xfrm>
            <a:prstGeom prst="line">
              <a:avLst/>
            </a:prstGeom>
            <a:noFill/>
            <a:ln w="9525">
              <a:solidFill>
                <a:schemeClr val="tx1"/>
              </a:solidFill>
              <a:round/>
              <a:headEnd/>
              <a:tailEnd type="triangle" w="med" len="med"/>
            </a:ln>
          </p:spPr>
          <p:txBody>
            <a:bodyPr/>
            <a:lstStyle/>
            <a:p>
              <a:endParaRPr lang="zh-CN" altLang="en-US"/>
            </a:p>
          </p:txBody>
        </p:sp>
        <p:sp>
          <p:nvSpPr>
            <p:cNvPr id="64" name="Text Box 26"/>
            <p:cNvSpPr txBox="1">
              <a:spLocks noChangeArrowheads="1"/>
            </p:cNvSpPr>
            <p:nvPr/>
          </p:nvSpPr>
          <p:spPr bwMode="auto">
            <a:xfrm>
              <a:off x="3429000" y="4800600"/>
              <a:ext cx="1682750" cy="8540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g*=4 h*=0             </a:t>
              </a:r>
            </a:p>
            <a:p>
              <a:pPr>
                <a:spcBef>
                  <a:spcPct val="50000"/>
                </a:spcBef>
              </a:pPr>
              <a:r>
                <a:rPr kumimoji="1" lang="en-US" altLang="zh-CN" sz="2000">
                  <a:solidFill>
                    <a:srgbClr val="0000CC"/>
                  </a:solidFill>
                  <a:latin typeface="Times New Roman" pitchFamily="18" charset="0"/>
                </a:rPr>
                <a:t>f=4</a:t>
              </a:r>
            </a:p>
          </p:txBody>
        </p:sp>
        <p:sp>
          <p:nvSpPr>
            <p:cNvPr id="65" name="Text Box 27"/>
            <p:cNvSpPr txBox="1">
              <a:spLocks noChangeArrowheads="1"/>
            </p:cNvSpPr>
            <p:nvPr/>
          </p:nvSpPr>
          <p:spPr bwMode="auto">
            <a:xfrm>
              <a:off x="6019800" y="4648200"/>
              <a:ext cx="639763" cy="3968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f=6</a:t>
              </a:r>
            </a:p>
          </p:txBody>
        </p:sp>
        <p:sp>
          <p:nvSpPr>
            <p:cNvPr id="66" name="Text Box 28"/>
            <p:cNvSpPr txBox="1">
              <a:spLocks noChangeArrowheads="1"/>
            </p:cNvSpPr>
            <p:nvPr/>
          </p:nvSpPr>
          <p:spPr bwMode="auto">
            <a:xfrm>
              <a:off x="2447925" y="4760913"/>
              <a:ext cx="385763" cy="327025"/>
            </a:xfrm>
            <a:prstGeom prst="rect">
              <a:avLst/>
            </a:prstGeom>
            <a:noFill/>
            <a:ln w="9525">
              <a:noFill/>
              <a:miter lim="800000"/>
              <a:headEnd/>
              <a:tailEnd/>
            </a:ln>
          </p:spPr>
          <p:txBody>
            <a:bodyPr lIns="18000" tIns="10800" rIns="18000" bIns="10800">
              <a:spAutoFit/>
            </a:bodyPr>
            <a:lstStyle/>
            <a:p>
              <a:pPr>
                <a:spcBef>
                  <a:spcPct val="50000"/>
                </a:spcBef>
              </a:pPr>
              <a:r>
                <a:rPr kumimoji="1" lang="en-US" altLang="zh-CN" sz="2000" dirty="0">
                  <a:solidFill>
                    <a:srgbClr val="0000CC"/>
                  </a:solidFill>
                  <a:latin typeface="Times New Roman" pitchFamily="18" charset="0"/>
                </a:rPr>
                <a:t>Sg</a:t>
              </a:r>
            </a:p>
          </p:txBody>
        </p:sp>
      </p:grpSp>
      <p:sp>
        <p:nvSpPr>
          <p:cNvPr id="67" name="Text Box 29"/>
          <p:cNvSpPr txBox="1">
            <a:spLocks noChangeArrowheads="1"/>
          </p:cNvSpPr>
          <p:nvPr/>
        </p:nvSpPr>
        <p:spPr bwMode="auto">
          <a:xfrm>
            <a:off x="4403726" y="6021389"/>
            <a:ext cx="3560763" cy="396875"/>
          </a:xfrm>
          <a:prstGeom prst="rect">
            <a:avLst/>
          </a:prstGeom>
          <a:noFill/>
          <a:ln w="9525">
            <a:noFill/>
            <a:miter lim="800000"/>
            <a:headEnd/>
            <a:tailEnd/>
          </a:ln>
        </p:spPr>
        <p:txBody>
          <a:bodyPr>
            <a:spAutoFit/>
          </a:bodyPr>
          <a:lstStyle/>
          <a:p>
            <a:pPr>
              <a:spcBef>
                <a:spcPct val="50000"/>
              </a:spcBef>
            </a:pPr>
            <a:r>
              <a:rPr kumimoji="1" lang="zh-CN" altLang="en-US" sz="2000">
                <a:solidFill>
                  <a:srgbClr val="0000CC"/>
                </a:solidFill>
                <a:latin typeface="Times New Roman" pitchFamily="18" charset="0"/>
              </a:rPr>
              <a:t>八数码难题</a:t>
            </a:r>
            <a:r>
              <a:rPr kumimoji="1" lang="en-US" altLang="zh-CN" sz="2000">
                <a:solidFill>
                  <a:srgbClr val="0000CC"/>
                </a:solidFill>
                <a:latin typeface="Times New Roman" pitchFamily="18" charset="0"/>
              </a:rPr>
              <a:t>h(n)=P(n)</a:t>
            </a:r>
            <a:r>
              <a:rPr kumimoji="1" lang="zh-CN" altLang="en-US" sz="2000">
                <a:solidFill>
                  <a:srgbClr val="0000CC"/>
                </a:solidFill>
                <a:latin typeface="Times New Roman" pitchFamily="18" charset="0"/>
              </a:rPr>
              <a:t>的搜索树</a:t>
            </a:r>
          </a:p>
        </p:txBody>
      </p:sp>
      <p:sp>
        <p:nvSpPr>
          <p:cNvPr id="68" name="Text Box 30"/>
          <p:cNvSpPr txBox="1">
            <a:spLocks noChangeArrowheads="1"/>
          </p:cNvSpPr>
          <p:nvPr/>
        </p:nvSpPr>
        <p:spPr bwMode="auto">
          <a:xfrm>
            <a:off x="1703389" y="3213100"/>
            <a:ext cx="2624137" cy="2708434"/>
          </a:xfrm>
          <a:prstGeom prst="rect">
            <a:avLst/>
          </a:prstGeom>
          <a:noFill/>
          <a:ln w="9525">
            <a:noFill/>
            <a:miter lim="800000"/>
            <a:headEnd/>
            <a:tailEnd/>
          </a:ln>
        </p:spPr>
        <p:txBody>
          <a:bodyPr wrap="square">
            <a:spAutoFit/>
          </a:bodyPr>
          <a:lstStyle/>
          <a:p>
            <a:pPr>
              <a:spcBef>
                <a:spcPct val="50000"/>
              </a:spcBef>
            </a:pPr>
            <a:r>
              <a:rPr lang="en-US" altLang="zh-CN" sz="2000" b="1" dirty="0">
                <a:solidFill>
                  <a:srgbClr val="0000CC"/>
                </a:solidFill>
                <a:latin typeface="Times New Roman" pitchFamily="18" charset="0"/>
              </a:rPr>
              <a:t>f(n)=d(n)+P(n)</a:t>
            </a:r>
          </a:p>
          <a:p>
            <a:pPr>
              <a:spcBef>
                <a:spcPct val="50000"/>
              </a:spcBef>
            </a:pPr>
            <a:r>
              <a:rPr lang="en-US" altLang="zh-CN" sz="2000" b="1" dirty="0">
                <a:solidFill>
                  <a:srgbClr val="0000CC"/>
                </a:solidFill>
                <a:latin typeface="Times New Roman" pitchFamily="18" charset="0"/>
              </a:rPr>
              <a:t>d(n) </a:t>
            </a:r>
            <a:r>
              <a:rPr lang="zh-CN" altLang="en-US" sz="2000" b="1" dirty="0">
                <a:solidFill>
                  <a:srgbClr val="0000CC"/>
                </a:solidFill>
                <a:latin typeface="Times New Roman" pitchFamily="18" charset="0"/>
              </a:rPr>
              <a:t>深度</a:t>
            </a:r>
          </a:p>
          <a:p>
            <a:pPr>
              <a:spcBef>
                <a:spcPct val="50000"/>
              </a:spcBef>
            </a:pPr>
            <a:r>
              <a:rPr lang="en-US" altLang="zh-CN" sz="2000" b="1" dirty="0">
                <a:solidFill>
                  <a:srgbClr val="FF0000"/>
                </a:solidFill>
                <a:latin typeface="Times New Roman" pitchFamily="18" charset="0"/>
              </a:rPr>
              <a:t>P(n):</a:t>
            </a:r>
            <a:r>
              <a:rPr lang="zh-CN" altLang="en-US" sz="2000" b="1" dirty="0">
                <a:solidFill>
                  <a:srgbClr val="FF0000"/>
                </a:solidFill>
                <a:latin typeface="Times New Roman" pitchFamily="18" charset="0"/>
              </a:rPr>
              <a:t>不在位棋子数</a:t>
            </a:r>
          </a:p>
          <a:p>
            <a:pPr>
              <a:spcBef>
                <a:spcPct val="50000"/>
              </a:spcBef>
            </a:pPr>
            <a:r>
              <a:rPr lang="zh-CN" altLang="en-US" sz="2000" b="1" dirty="0">
                <a:solidFill>
                  <a:srgbClr val="0000CC"/>
                </a:solidFill>
                <a:latin typeface="Times New Roman" pitchFamily="18" charset="0"/>
              </a:rPr>
              <a:t>显然满足</a:t>
            </a:r>
          </a:p>
          <a:p>
            <a:pPr>
              <a:spcBef>
                <a:spcPct val="50000"/>
              </a:spcBef>
            </a:pPr>
            <a:r>
              <a:rPr lang="en-US" altLang="zh-CN" sz="2000" b="1" dirty="0">
                <a:solidFill>
                  <a:srgbClr val="0000CC"/>
                </a:solidFill>
                <a:latin typeface="Times New Roman" pitchFamily="18" charset="0"/>
              </a:rPr>
              <a:t>P(n)</a:t>
            </a:r>
            <a:r>
              <a:rPr lang="en-US" altLang="zh-CN" sz="2000" b="1" dirty="0">
                <a:solidFill>
                  <a:srgbClr val="0000CC"/>
                </a:solidFill>
                <a:latin typeface="Times New Roman" pitchFamily="18" charset="0"/>
                <a:cs typeface="Times New Roman" pitchFamily="18" charset="0"/>
              </a:rPr>
              <a:t>≤ </a:t>
            </a:r>
            <a:r>
              <a:rPr lang="en-US" altLang="zh-CN" sz="2000" b="1" dirty="0">
                <a:solidFill>
                  <a:srgbClr val="0000CC"/>
                </a:solidFill>
                <a:latin typeface="Times New Roman" pitchFamily="18" charset="0"/>
              </a:rPr>
              <a:t>h*(n)</a:t>
            </a:r>
            <a:endParaRPr lang="en-US" altLang="en-US" sz="2000" b="1" dirty="0">
              <a:solidFill>
                <a:srgbClr val="0000CC"/>
              </a:solidFill>
              <a:latin typeface="Times New Roman" pitchFamily="18" charset="0"/>
              <a:cs typeface="Times New Roman" pitchFamily="18" charset="0"/>
            </a:endParaRPr>
          </a:p>
          <a:p>
            <a:pPr>
              <a:spcBef>
                <a:spcPct val="50000"/>
              </a:spcBef>
            </a:pPr>
            <a:r>
              <a:rPr lang="zh-CN" altLang="en-US" sz="2000" b="1" dirty="0">
                <a:solidFill>
                  <a:srgbClr val="0000CC"/>
                </a:solidFill>
                <a:latin typeface="Times New Roman" pitchFamily="18" charset="0"/>
              </a:rPr>
              <a:t>即</a:t>
            </a:r>
            <a:r>
              <a:rPr lang="en-US" altLang="zh-CN" sz="2000" b="1" dirty="0">
                <a:solidFill>
                  <a:srgbClr val="0000CC"/>
                </a:solidFill>
                <a:latin typeface="Times New Roman" pitchFamily="18" charset="0"/>
              </a:rPr>
              <a:t>f*=g*+h*</a:t>
            </a:r>
          </a:p>
        </p:txBody>
      </p:sp>
      <p:grpSp>
        <p:nvGrpSpPr>
          <p:cNvPr id="69" name="组合 44"/>
          <p:cNvGrpSpPr>
            <a:grpSpLocks/>
          </p:cNvGrpSpPr>
          <p:nvPr/>
        </p:nvGrpSpPr>
        <p:grpSpPr bwMode="auto">
          <a:xfrm>
            <a:off x="3952875" y="990600"/>
            <a:ext cx="6510338" cy="1143000"/>
            <a:chOff x="2419340" y="990600"/>
            <a:chExt cx="6510378" cy="1143000"/>
          </a:xfrm>
        </p:grpSpPr>
        <p:sp>
          <p:nvSpPr>
            <p:cNvPr id="70" name="Rectangle 4"/>
            <p:cNvSpPr>
              <a:spLocks noChangeArrowheads="1"/>
            </p:cNvSpPr>
            <p:nvPr/>
          </p:nvSpPr>
          <p:spPr bwMode="auto">
            <a:xfrm>
              <a:off x="2419340" y="13716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FF0066"/>
                  </a:solidFill>
                  <a:latin typeface="Times New Roman" pitchFamily="18" charset="0"/>
                </a:rPr>
                <a:t>2 </a:t>
              </a:r>
              <a:r>
                <a:rPr kumimoji="1" lang="en-US" altLang="zh-CN">
                  <a:solidFill>
                    <a:srgbClr val="0000CC"/>
                  </a:solidFill>
                  <a:latin typeface="Times New Roman" pitchFamily="18" charset="0"/>
                </a:rPr>
                <a:t>  </a:t>
              </a:r>
              <a:r>
                <a:rPr kumimoji="1" lang="en-US" altLang="zh-CN">
                  <a:solidFill>
                    <a:srgbClr val="FF0000"/>
                  </a:solidFill>
                  <a:latin typeface="Times New Roman" pitchFamily="18" charset="0"/>
                </a:rPr>
                <a:t>8  </a:t>
              </a:r>
              <a:r>
                <a:rPr kumimoji="1" lang="en-US" altLang="zh-CN">
                  <a:solidFill>
                    <a:srgbClr val="0000CC"/>
                  </a:solidFill>
                  <a:latin typeface="Times New Roman" pitchFamily="18" charset="0"/>
                </a:rPr>
                <a:t> 3</a:t>
              </a:r>
            </a:p>
            <a:p>
              <a:pPr marL="457200" indent="-457200" algn="ctr"/>
              <a:r>
                <a:rPr kumimoji="1" lang="en-US" altLang="zh-CN">
                  <a:solidFill>
                    <a:srgbClr val="0000CC"/>
                  </a:solidFill>
                  <a:latin typeface="Times New Roman" pitchFamily="18" charset="0"/>
                </a:rPr>
                <a:t>     </a:t>
              </a:r>
              <a:r>
                <a:rPr kumimoji="1" lang="en-US" altLang="zh-CN">
                  <a:solidFill>
                    <a:srgbClr val="FF0000"/>
                  </a:solidFill>
                  <a:latin typeface="Times New Roman" pitchFamily="18" charset="0"/>
                </a:rPr>
                <a:t>1</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71" name="Rectangle 5"/>
            <p:cNvSpPr>
              <a:spLocks noChangeArrowheads="1"/>
            </p:cNvSpPr>
            <p:nvPr/>
          </p:nvSpPr>
          <p:spPr bwMode="auto">
            <a:xfrm>
              <a:off x="4891118" y="13716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D60093"/>
                  </a:solidFill>
                  <a:latin typeface="Times New Roman" pitchFamily="18" charset="0"/>
                </a:rPr>
                <a:t>2 </a:t>
              </a:r>
              <a:r>
                <a:rPr kumimoji="1" lang="en-US" altLang="zh-CN">
                  <a:solidFill>
                    <a:srgbClr val="0000CC"/>
                  </a:solidFill>
                  <a:latin typeface="Times New Roman" pitchFamily="18" charset="0"/>
                </a:rPr>
                <a:t>       3</a:t>
              </a:r>
            </a:p>
            <a:p>
              <a:pPr marL="457200" indent="-457200" algn="ctr"/>
              <a:r>
                <a:rPr kumimoji="1" lang="en-US" altLang="zh-CN">
                  <a:solidFill>
                    <a:srgbClr val="D60093"/>
                  </a:solidFill>
                  <a:latin typeface="Times New Roman" pitchFamily="18" charset="0"/>
                </a:rPr>
                <a:t>1    8</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72" name="Rectangle 6"/>
            <p:cNvSpPr>
              <a:spLocks noChangeArrowheads="1"/>
            </p:cNvSpPr>
            <p:nvPr/>
          </p:nvSpPr>
          <p:spPr bwMode="auto">
            <a:xfrm>
              <a:off x="6534181" y="1371600"/>
              <a:ext cx="795337" cy="762000"/>
            </a:xfrm>
            <a:prstGeom prst="rect">
              <a:avLst/>
            </a:prstGeom>
            <a:noFill/>
            <a:ln w="9525">
              <a:solidFill>
                <a:srgbClr val="0000CC"/>
              </a:solidFill>
              <a:miter lim="800000"/>
              <a:headEnd/>
              <a:tailEnd/>
            </a:ln>
          </p:spPr>
          <p:txBody>
            <a:bodyPr wrap="none" anchor="ctr"/>
            <a:lstStyle/>
            <a:p>
              <a:pPr marL="457200" indent="-457200"/>
              <a:r>
                <a:rPr kumimoji="1" lang="en-US" altLang="zh-CN">
                  <a:solidFill>
                    <a:srgbClr val="0000CC"/>
                  </a:solidFill>
                  <a:latin typeface="Times New Roman" pitchFamily="18" charset="0"/>
                </a:rPr>
                <a:t>2   8   3</a:t>
              </a:r>
            </a:p>
            <a:p>
              <a:pPr marL="457200" indent="-457200"/>
              <a:r>
                <a:rPr kumimoji="1" lang="en-US" altLang="zh-CN">
                  <a:solidFill>
                    <a:srgbClr val="0000CC"/>
                  </a:solidFill>
                  <a:latin typeface="Times New Roman" pitchFamily="18" charset="0"/>
                </a:rPr>
                <a:t>1   4</a:t>
              </a:r>
            </a:p>
            <a:p>
              <a:pPr marL="457200" indent="-457200"/>
              <a:r>
                <a:rPr kumimoji="1" lang="en-US" altLang="zh-CN">
                  <a:solidFill>
                    <a:srgbClr val="0000CC"/>
                  </a:solidFill>
                  <a:latin typeface="Times New Roman" pitchFamily="18" charset="0"/>
                </a:rPr>
                <a:t>7   6   5</a:t>
              </a:r>
            </a:p>
          </p:txBody>
        </p:sp>
        <p:sp>
          <p:nvSpPr>
            <p:cNvPr id="73" name="Rectangle 7"/>
            <p:cNvSpPr>
              <a:spLocks noChangeArrowheads="1"/>
            </p:cNvSpPr>
            <p:nvPr/>
          </p:nvSpPr>
          <p:spPr bwMode="auto">
            <a:xfrm>
              <a:off x="8134381" y="1371600"/>
              <a:ext cx="795337"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2   8   3</a:t>
              </a:r>
            </a:p>
            <a:p>
              <a:pPr marL="457200" indent="-457200" algn="ctr"/>
              <a:r>
                <a:rPr kumimoji="1" lang="en-US" altLang="zh-CN">
                  <a:solidFill>
                    <a:srgbClr val="0000CC"/>
                  </a:solidFill>
                  <a:latin typeface="Times New Roman" pitchFamily="18" charset="0"/>
                </a:rPr>
                <a:t>1    6   4</a:t>
              </a:r>
            </a:p>
            <a:p>
              <a:pPr marL="457200" indent="-457200" algn="ctr"/>
              <a:r>
                <a:rPr kumimoji="1" lang="en-US" altLang="zh-CN">
                  <a:solidFill>
                    <a:srgbClr val="0000CC"/>
                  </a:solidFill>
                  <a:latin typeface="Times New Roman" pitchFamily="18" charset="0"/>
                </a:rPr>
                <a:t>7        5</a:t>
              </a:r>
            </a:p>
          </p:txBody>
        </p:sp>
        <p:sp>
          <p:nvSpPr>
            <p:cNvPr id="74" name="Line 13"/>
            <p:cNvSpPr>
              <a:spLocks noChangeShapeType="1"/>
            </p:cNvSpPr>
            <p:nvPr/>
          </p:nvSpPr>
          <p:spPr bwMode="auto">
            <a:xfrm flipH="1">
              <a:off x="2643174" y="990600"/>
              <a:ext cx="3390944" cy="366698"/>
            </a:xfrm>
            <a:prstGeom prst="line">
              <a:avLst/>
            </a:prstGeom>
            <a:noFill/>
            <a:ln w="9525">
              <a:solidFill>
                <a:schemeClr val="tx1"/>
              </a:solidFill>
              <a:round/>
              <a:headEnd/>
              <a:tailEnd type="triangle" w="med" len="med"/>
            </a:ln>
          </p:spPr>
          <p:txBody>
            <a:bodyPr/>
            <a:lstStyle/>
            <a:p>
              <a:endParaRPr lang="zh-CN" altLang="en-US"/>
            </a:p>
          </p:txBody>
        </p:sp>
        <p:sp>
          <p:nvSpPr>
            <p:cNvPr id="75" name="Line 14"/>
            <p:cNvSpPr>
              <a:spLocks noChangeShapeType="1"/>
            </p:cNvSpPr>
            <p:nvPr/>
          </p:nvSpPr>
          <p:spPr bwMode="auto">
            <a:xfrm flipH="1">
              <a:off x="5272118" y="990600"/>
              <a:ext cx="762000" cy="381000"/>
            </a:xfrm>
            <a:prstGeom prst="line">
              <a:avLst/>
            </a:prstGeom>
            <a:noFill/>
            <a:ln w="9525">
              <a:solidFill>
                <a:schemeClr val="tx1"/>
              </a:solidFill>
              <a:round/>
              <a:headEnd/>
              <a:tailEnd type="triangle" w="med" len="med"/>
            </a:ln>
          </p:spPr>
          <p:txBody>
            <a:bodyPr/>
            <a:lstStyle/>
            <a:p>
              <a:endParaRPr lang="zh-CN" altLang="en-US"/>
            </a:p>
          </p:txBody>
        </p:sp>
        <p:sp>
          <p:nvSpPr>
            <p:cNvPr id="76" name="Line 15"/>
            <p:cNvSpPr>
              <a:spLocks noChangeShapeType="1"/>
            </p:cNvSpPr>
            <p:nvPr/>
          </p:nvSpPr>
          <p:spPr bwMode="auto">
            <a:xfrm>
              <a:off x="6034118" y="990600"/>
              <a:ext cx="914400" cy="381000"/>
            </a:xfrm>
            <a:prstGeom prst="line">
              <a:avLst/>
            </a:prstGeom>
            <a:noFill/>
            <a:ln w="9525">
              <a:solidFill>
                <a:schemeClr val="tx1"/>
              </a:solidFill>
              <a:round/>
              <a:headEnd/>
              <a:tailEnd type="triangle" w="med" len="med"/>
            </a:ln>
          </p:spPr>
          <p:txBody>
            <a:bodyPr/>
            <a:lstStyle/>
            <a:p>
              <a:endParaRPr lang="zh-CN" altLang="en-US"/>
            </a:p>
          </p:txBody>
        </p:sp>
        <p:sp>
          <p:nvSpPr>
            <p:cNvPr id="77" name="Line 16"/>
            <p:cNvSpPr>
              <a:spLocks noChangeShapeType="1"/>
            </p:cNvSpPr>
            <p:nvPr/>
          </p:nvSpPr>
          <p:spPr bwMode="auto">
            <a:xfrm>
              <a:off x="6034118" y="990600"/>
              <a:ext cx="2514600" cy="381000"/>
            </a:xfrm>
            <a:prstGeom prst="line">
              <a:avLst/>
            </a:prstGeom>
            <a:noFill/>
            <a:ln w="9525">
              <a:solidFill>
                <a:schemeClr val="tx1"/>
              </a:solidFill>
              <a:round/>
              <a:headEnd/>
              <a:tailEnd type="triangle" w="med" len="med"/>
            </a:ln>
          </p:spPr>
          <p:txBody>
            <a:bodyPr/>
            <a:lstStyle/>
            <a:p>
              <a:endParaRPr lang="zh-CN" altLang="en-US"/>
            </a:p>
          </p:txBody>
        </p:sp>
        <p:sp>
          <p:nvSpPr>
            <p:cNvPr id="78" name="Text Box 23"/>
            <p:cNvSpPr txBox="1">
              <a:spLocks noChangeArrowheads="1"/>
            </p:cNvSpPr>
            <p:nvPr/>
          </p:nvSpPr>
          <p:spPr bwMode="auto">
            <a:xfrm>
              <a:off x="3313142" y="1000108"/>
              <a:ext cx="5545138" cy="3968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f=4                       g*=1h*=3      f=5               f=5</a:t>
              </a:r>
            </a:p>
          </p:txBody>
        </p:sp>
        <p:sp>
          <p:nvSpPr>
            <p:cNvPr id="79" name="Text Box 31"/>
            <p:cNvSpPr txBox="1">
              <a:spLocks noChangeArrowheads="1"/>
            </p:cNvSpPr>
            <p:nvPr/>
          </p:nvSpPr>
          <p:spPr bwMode="auto">
            <a:xfrm>
              <a:off x="5716618" y="1412875"/>
              <a:ext cx="576263" cy="366713"/>
            </a:xfrm>
            <a:prstGeom prst="rect">
              <a:avLst/>
            </a:prstGeom>
            <a:noFill/>
            <a:ln w="9525">
              <a:noFill/>
              <a:miter lim="800000"/>
              <a:headEnd/>
              <a:tailEnd/>
            </a:ln>
          </p:spPr>
          <p:txBody>
            <a:bodyPr>
              <a:spAutoFit/>
            </a:bodyPr>
            <a:lstStyle/>
            <a:p>
              <a:pPr>
                <a:spcBef>
                  <a:spcPct val="50000"/>
                </a:spcBef>
              </a:pPr>
              <a:r>
                <a:rPr lang="en-US" altLang="zh-CN">
                  <a:solidFill>
                    <a:srgbClr val="0000CC"/>
                  </a:solidFill>
                </a:rPr>
                <a:t>f=4</a:t>
              </a:r>
            </a:p>
          </p:txBody>
        </p:sp>
      </p:grpSp>
      <p:sp>
        <p:nvSpPr>
          <p:cNvPr id="80" name="Rectangle 32"/>
          <p:cNvSpPr>
            <a:spLocks noChangeArrowheads="1"/>
          </p:cNvSpPr>
          <p:nvPr/>
        </p:nvSpPr>
        <p:spPr bwMode="auto">
          <a:xfrm>
            <a:off x="1703388" y="188913"/>
            <a:ext cx="3744912" cy="519112"/>
          </a:xfrm>
          <a:prstGeom prst="rect">
            <a:avLst/>
          </a:prstGeom>
          <a:solidFill>
            <a:srgbClr val="00B0F0"/>
          </a:solidFill>
          <a:ln w="9525">
            <a:noFill/>
            <a:miter lim="800000"/>
            <a:headEnd/>
            <a:tailEnd/>
          </a:ln>
        </p:spPr>
        <p:txBody>
          <a:bodyPr>
            <a:spAutoFit/>
          </a:bodyPr>
          <a:lstStyle/>
          <a:p>
            <a:pPr algn="ctr"/>
            <a:r>
              <a:rPr lang="en-US" altLang="zh-CN" sz="2800" b="1" dirty="0">
                <a:solidFill>
                  <a:srgbClr val="FF3300"/>
                </a:solidFill>
              </a:rPr>
              <a:t>A*</a:t>
            </a:r>
            <a:r>
              <a:rPr lang="zh-CN" altLang="en-US" sz="2800" b="1" dirty="0">
                <a:solidFill>
                  <a:srgbClr val="FF3300"/>
                </a:solidFill>
              </a:rPr>
              <a:t>算法应用举例</a:t>
            </a:r>
          </a:p>
        </p:txBody>
      </p:sp>
      <p:grpSp>
        <p:nvGrpSpPr>
          <p:cNvPr id="81" name="组合 36"/>
          <p:cNvGrpSpPr>
            <a:grpSpLocks/>
          </p:cNvGrpSpPr>
          <p:nvPr/>
        </p:nvGrpSpPr>
        <p:grpSpPr bwMode="auto">
          <a:xfrm>
            <a:off x="6737350" y="152400"/>
            <a:ext cx="2808288" cy="838200"/>
            <a:chOff x="4284663" y="152400"/>
            <a:chExt cx="2808287" cy="838200"/>
          </a:xfrm>
        </p:grpSpPr>
        <p:sp>
          <p:nvSpPr>
            <p:cNvPr id="82" name="Rectangle 3"/>
            <p:cNvSpPr>
              <a:spLocks noChangeArrowheads="1"/>
            </p:cNvSpPr>
            <p:nvPr/>
          </p:nvSpPr>
          <p:spPr bwMode="auto">
            <a:xfrm>
              <a:off x="4724400" y="2286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D60093"/>
                  </a:solidFill>
                  <a:latin typeface="Times New Roman" pitchFamily="18" charset="0"/>
                </a:rPr>
                <a:t>2   8</a:t>
              </a:r>
              <a:r>
                <a:rPr kumimoji="1" lang="en-US" altLang="zh-CN">
                  <a:solidFill>
                    <a:srgbClr val="0000CC"/>
                  </a:solidFill>
                  <a:latin typeface="Times New Roman" pitchFamily="18" charset="0"/>
                </a:rPr>
                <a:t>   3</a:t>
              </a:r>
            </a:p>
            <a:p>
              <a:pPr marL="457200" indent="-457200" algn="ctr"/>
              <a:r>
                <a:rPr kumimoji="1" lang="en-US" altLang="zh-CN">
                  <a:solidFill>
                    <a:srgbClr val="D60093"/>
                  </a:solidFill>
                  <a:latin typeface="Times New Roman" pitchFamily="18" charset="0"/>
                </a:rPr>
                <a:t>1  </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83" name="Text Box 22"/>
            <p:cNvSpPr txBox="1">
              <a:spLocks noChangeArrowheads="1"/>
            </p:cNvSpPr>
            <p:nvPr/>
          </p:nvSpPr>
          <p:spPr bwMode="auto">
            <a:xfrm>
              <a:off x="4284663" y="152400"/>
              <a:ext cx="431800" cy="396875"/>
            </a:xfrm>
            <a:prstGeom prst="rect">
              <a:avLst/>
            </a:prstGeom>
            <a:noFill/>
            <a:ln w="9525">
              <a:noFill/>
              <a:miter lim="800000"/>
              <a:headEnd/>
              <a:tailEnd/>
            </a:ln>
          </p:spPr>
          <p:txBody>
            <a:bodyPr>
              <a:spAutoFit/>
            </a:bodyPr>
            <a:lstStyle/>
            <a:p>
              <a:pPr>
                <a:spcBef>
                  <a:spcPct val="50000"/>
                </a:spcBef>
              </a:pPr>
              <a:r>
                <a:rPr kumimoji="1" lang="en-US" altLang="zh-CN" sz="2000" dirty="0">
                  <a:solidFill>
                    <a:srgbClr val="0000CC"/>
                  </a:solidFill>
                  <a:latin typeface="Times New Roman" pitchFamily="18" charset="0"/>
                </a:rPr>
                <a:t>S</a:t>
              </a:r>
              <a:r>
                <a:rPr kumimoji="1" lang="en-US" altLang="zh-CN" sz="2000" baseline="-25000" dirty="0">
                  <a:solidFill>
                    <a:srgbClr val="0000CC"/>
                  </a:solidFill>
                  <a:latin typeface="Times New Roman" pitchFamily="18" charset="0"/>
                </a:rPr>
                <a:t>0</a:t>
              </a:r>
              <a:endParaRPr kumimoji="1" lang="en-US" altLang="zh-CN" sz="2000" dirty="0">
                <a:solidFill>
                  <a:srgbClr val="0000CC"/>
                </a:solidFill>
                <a:latin typeface="Times New Roman" pitchFamily="18" charset="0"/>
              </a:endParaRPr>
            </a:p>
          </p:txBody>
        </p:sp>
        <p:sp>
          <p:nvSpPr>
            <p:cNvPr id="84" name="Text Box 33"/>
            <p:cNvSpPr txBox="1">
              <a:spLocks noChangeArrowheads="1"/>
            </p:cNvSpPr>
            <p:nvPr/>
          </p:nvSpPr>
          <p:spPr bwMode="auto">
            <a:xfrm>
              <a:off x="5616575" y="152400"/>
              <a:ext cx="1476375" cy="366713"/>
            </a:xfrm>
            <a:prstGeom prst="rect">
              <a:avLst/>
            </a:prstGeom>
            <a:noFill/>
            <a:ln w="9525">
              <a:noFill/>
              <a:miter lim="800000"/>
              <a:headEnd/>
              <a:tailEnd/>
            </a:ln>
          </p:spPr>
          <p:txBody>
            <a:bodyPr>
              <a:spAutoFit/>
            </a:bodyPr>
            <a:lstStyle/>
            <a:p>
              <a:pPr>
                <a:spcBef>
                  <a:spcPct val="50000"/>
                </a:spcBef>
              </a:pPr>
              <a:r>
                <a:rPr kumimoji="1" lang="en-US" altLang="zh-CN">
                  <a:solidFill>
                    <a:srgbClr val="0000CC"/>
                  </a:solidFill>
                  <a:latin typeface="Times New Roman" pitchFamily="18" charset="0"/>
                </a:rPr>
                <a:t>h*=3 f=3</a:t>
              </a:r>
            </a:p>
          </p:txBody>
        </p:sp>
      </p:grpSp>
      <p:grpSp>
        <p:nvGrpSpPr>
          <p:cNvPr id="85" name="组合 37"/>
          <p:cNvGrpSpPr>
            <a:grpSpLocks/>
          </p:cNvGrpSpPr>
          <p:nvPr/>
        </p:nvGrpSpPr>
        <p:grpSpPr bwMode="auto">
          <a:xfrm>
            <a:off x="3595688" y="2143125"/>
            <a:ext cx="3505200" cy="1295400"/>
            <a:chOff x="3800476" y="2133600"/>
            <a:chExt cx="3505200" cy="1295400"/>
          </a:xfrm>
        </p:grpSpPr>
        <p:sp>
          <p:nvSpPr>
            <p:cNvPr id="86" name="Rectangle 8"/>
            <p:cNvSpPr>
              <a:spLocks noChangeArrowheads="1"/>
            </p:cNvSpPr>
            <p:nvPr/>
          </p:nvSpPr>
          <p:spPr bwMode="auto">
            <a:xfrm>
              <a:off x="3962400" y="2667000"/>
              <a:ext cx="795338" cy="762000"/>
            </a:xfrm>
            <a:prstGeom prst="rect">
              <a:avLst/>
            </a:prstGeom>
            <a:noFill/>
            <a:ln w="9525">
              <a:solidFill>
                <a:srgbClr val="0000CC"/>
              </a:solidFill>
              <a:miter lim="800000"/>
              <a:headEnd/>
              <a:tailEnd/>
            </a:ln>
          </p:spPr>
          <p:txBody>
            <a:bodyPr wrap="none" anchor="ctr"/>
            <a:lstStyle/>
            <a:p>
              <a:pPr marL="457200" indent="-457200" algn="ctr"/>
              <a:r>
                <a:rPr kumimoji="1" lang="en-US" altLang="zh-CN">
                  <a:solidFill>
                    <a:srgbClr val="0000CC"/>
                  </a:solidFill>
                  <a:latin typeface="Times New Roman" pitchFamily="18" charset="0"/>
                </a:rPr>
                <a:t>     </a:t>
              </a:r>
              <a:r>
                <a:rPr kumimoji="1" lang="en-US" altLang="zh-CN">
                  <a:solidFill>
                    <a:srgbClr val="FF0000"/>
                  </a:solidFill>
                  <a:latin typeface="Times New Roman" pitchFamily="18" charset="0"/>
                </a:rPr>
                <a:t>8</a:t>
              </a:r>
              <a:r>
                <a:rPr kumimoji="1" lang="en-US" altLang="zh-CN">
                  <a:solidFill>
                    <a:srgbClr val="0000CC"/>
                  </a:solidFill>
                  <a:latin typeface="Times New Roman" pitchFamily="18" charset="0"/>
                </a:rPr>
                <a:t>   3</a:t>
              </a:r>
            </a:p>
            <a:p>
              <a:pPr marL="457200" indent="-457200" algn="ctr"/>
              <a:r>
                <a:rPr kumimoji="1" lang="en-US" altLang="zh-CN">
                  <a:solidFill>
                    <a:srgbClr val="D60093"/>
                  </a:solidFill>
                  <a:latin typeface="Times New Roman" pitchFamily="18" charset="0"/>
                </a:rPr>
                <a:t>2    1</a:t>
              </a:r>
              <a:r>
                <a:rPr kumimoji="1" lang="en-US" altLang="zh-CN">
                  <a:solidFill>
                    <a:srgbClr val="0000CC"/>
                  </a:solidFill>
                  <a:latin typeface="Times New Roman" pitchFamily="18" charset="0"/>
                </a:rPr>
                <a:t>   4</a:t>
              </a:r>
            </a:p>
            <a:p>
              <a:pPr marL="457200" indent="-457200" algn="ctr"/>
              <a:r>
                <a:rPr kumimoji="1" lang="en-US" altLang="zh-CN">
                  <a:solidFill>
                    <a:srgbClr val="0000CC"/>
                  </a:solidFill>
                  <a:latin typeface="Times New Roman" pitchFamily="18" charset="0"/>
                </a:rPr>
                <a:t>7   6   5</a:t>
              </a:r>
            </a:p>
          </p:txBody>
        </p:sp>
        <p:sp>
          <p:nvSpPr>
            <p:cNvPr id="87" name="Rectangle 9"/>
            <p:cNvSpPr>
              <a:spLocks noChangeArrowheads="1"/>
            </p:cNvSpPr>
            <p:nvPr/>
          </p:nvSpPr>
          <p:spPr bwMode="auto">
            <a:xfrm>
              <a:off x="5638800" y="2667000"/>
              <a:ext cx="795338" cy="762000"/>
            </a:xfrm>
            <a:prstGeom prst="rect">
              <a:avLst/>
            </a:prstGeom>
            <a:noFill/>
            <a:ln w="9525">
              <a:solidFill>
                <a:srgbClr val="0000CC"/>
              </a:solidFill>
              <a:miter lim="800000"/>
              <a:headEnd/>
              <a:tailEnd/>
            </a:ln>
          </p:spPr>
          <p:txBody>
            <a:bodyPr wrap="none" anchor="ctr"/>
            <a:lstStyle/>
            <a:p>
              <a:pPr marL="457200" indent="-457200"/>
              <a:r>
                <a:rPr kumimoji="1" lang="en-US" altLang="zh-CN" dirty="0">
                  <a:solidFill>
                    <a:srgbClr val="FF0000"/>
                  </a:solidFill>
                  <a:latin typeface="Times New Roman" pitchFamily="18" charset="0"/>
                </a:rPr>
                <a:t>2   8   </a:t>
              </a:r>
              <a:r>
                <a:rPr kumimoji="1" lang="en-US" altLang="zh-CN" dirty="0">
                  <a:solidFill>
                    <a:srgbClr val="0000CC"/>
                  </a:solidFill>
                  <a:latin typeface="Times New Roman" pitchFamily="18" charset="0"/>
                </a:rPr>
                <a:t>3</a:t>
              </a:r>
            </a:p>
            <a:p>
              <a:pPr marL="457200" indent="-457200"/>
              <a:r>
                <a:rPr kumimoji="1" lang="en-US" altLang="zh-CN" dirty="0">
                  <a:solidFill>
                    <a:srgbClr val="FF0000"/>
                  </a:solidFill>
                  <a:latin typeface="Times New Roman" pitchFamily="18" charset="0"/>
                </a:rPr>
                <a:t>7   1</a:t>
              </a:r>
              <a:r>
                <a:rPr kumimoji="1" lang="en-US" altLang="zh-CN" dirty="0">
                  <a:solidFill>
                    <a:srgbClr val="0000CC"/>
                  </a:solidFill>
                  <a:latin typeface="Times New Roman" pitchFamily="18" charset="0"/>
                </a:rPr>
                <a:t>   4</a:t>
              </a:r>
            </a:p>
            <a:p>
              <a:pPr marL="457200" indent="-457200"/>
              <a:r>
                <a:rPr kumimoji="1" lang="en-US" altLang="zh-CN" dirty="0">
                  <a:solidFill>
                    <a:srgbClr val="0000CC"/>
                  </a:solidFill>
                  <a:latin typeface="Times New Roman" pitchFamily="18" charset="0"/>
                </a:rPr>
                <a:t>     6   5</a:t>
              </a:r>
            </a:p>
          </p:txBody>
        </p:sp>
        <p:sp>
          <p:nvSpPr>
            <p:cNvPr id="88" name="Line 17"/>
            <p:cNvSpPr>
              <a:spLocks noChangeShapeType="1"/>
            </p:cNvSpPr>
            <p:nvPr/>
          </p:nvSpPr>
          <p:spPr bwMode="auto">
            <a:xfrm>
              <a:off x="4343400" y="2133600"/>
              <a:ext cx="0" cy="533400"/>
            </a:xfrm>
            <a:prstGeom prst="line">
              <a:avLst/>
            </a:prstGeom>
            <a:noFill/>
            <a:ln w="9525">
              <a:solidFill>
                <a:schemeClr val="tx1"/>
              </a:solidFill>
              <a:round/>
              <a:headEnd/>
              <a:tailEnd type="triangle" w="med" len="med"/>
            </a:ln>
          </p:spPr>
          <p:txBody>
            <a:bodyPr/>
            <a:lstStyle/>
            <a:p>
              <a:endParaRPr lang="zh-CN" altLang="en-US"/>
            </a:p>
          </p:txBody>
        </p:sp>
        <p:sp>
          <p:nvSpPr>
            <p:cNvPr id="89" name="Line 18"/>
            <p:cNvSpPr>
              <a:spLocks noChangeShapeType="1"/>
            </p:cNvSpPr>
            <p:nvPr/>
          </p:nvSpPr>
          <p:spPr bwMode="auto">
            <a:xfrm>
              <a:off x="4343400" y="2133600"/>
              <a:ext cx="1752600" cy="533400"/>
            </a:xfrm>
            <a:prstGeom prst="line">
              <a:avLst/>
            </a:prstGeom>
            <a:noFill/>
            <a:ln w="9525">
              <a:solidFill>
                <a:schemeClr val="tx1"/>
              </a:solidFill>
              <a:round/>
              <a:headEnd/>
              <a:tailEnd type="triangle" w="med" len="med"/>
            </a:ln>
          </p:spPr>
          <p:txBody>
            <a:bodyPr/>
            <a:lstStyle/>
            <a:p>
              <a:endParaRPr lang="zh-CN" altLang="en-US"/>
            </a:p>
          </p:txBody>
        </p:sp>
        <p:sp>
          <p:nvSpPr>
            <p:cNvPr id="90" name="Text Box 24"/>
            <p:cNvSpPr txBox="1">
              <a:spLocks noChangeArrowheads="1"/>
            </p:cNvSpPr>
            <p:nvPr/>
          </p:nvSpPr>
          <p:spPr bwMode="auto">
            <a:xfrm>
              <a:off x="3800476" y="2209800"/>
              <a:ext cx="3505200" cy="854075"/>
            </a:xfrm>
            <a:prstGeom prst="rect">
              <a:avLst/>
            </a:prstGeom>
            <a:noFill/>
            <a:ln w="9525">
              <a:noFill/>
              <a:miter lim="800000"/>
              <a:headEnd/>
              <a:tailEnd/>
            </a:ln>
          </p:spPr>
          <p:txBody>
            <a:bodyPr>
              <a:spAutoFit/>
            </a:bodyPr>
            <a:lstStyle/>
            <a:p>
              <a:pPr>
                <a:spcBef>
                  <a:spcPct val="50000"/>
                </a:spcBef>
              </a:pPr>
              <a:r>
                <a:rPr kumimoji="1" lang="en-US" altLang="zh-CN" sz="2000">
                  <a:solidFill>
                    <a:srgbClr val="0000CC"/>
                  </a:solidFill>
                  <a:latin typeface="Times New Roman" pitchFamily="18" charset="0"/>
                </a:rPr>
                <a:t> f=5                       f=6</a:t>
              </a:r>
            </a:p>
            <a:p>
              <a:pPr>
                <a:spcBef>
                  <a:spcPct val="50000"/>
                </a:spcBef>
              </a:pPr>
              <a:r>
                <a:rPr kumimoji="1" lang="en-US" altLang="zh-CN" sz="2000">
                  <a:solidFill>
                    <a:srgbClr val="0000CC"/>
                  </a:solidFill>
                  <a:latin typeface="Times New Roman" pitchFamily="18" charset="0"/>
                </a:rPr>
                <a:t>                </a:t>
              </a:r>
            </a:p>
          </p:txBody>
        </p:sp>
      </p:grpSp>
      <p:sp>
        <p:nvSpPr>
          <p:cNvPr id="91" name="Rectangle 10">
            <a:extLst>
              <a:ext uri="{FF2B5EF4-FFF2-40B4-BE49-F238E27FC236}">
                <a16:creationId xmlns:a16="http://schemas.microsoft.com/office/drawing/2014/main" id="{BD0F4273-13CF-49CB-921D-A18A3DA3FD1A}"/>
              </a:ext>
            </a:extLst>
          </p:cNvPr>
          <p:cNvSpPr>
            <a:spLocks noChangeArrowheads="1"/>
          </p:cNvSpPr>
          <p:nvPr/>
        </p:nvSpPr>
        <p:spPr bwMode="auto">
          <a:xfrm>
            <a:off x="1955016" y="1181100"/>
            <a:ext cx="795337" cy="762000"/>
          </a:xfrm>
          <a:prstGeom prst="rect">
            <a:avLst/>
          </a:prstGeom>
          <a:noFill/>
          <a:ln w="9525">
            <a:solidFill>
              <a:srgbClr val="FF0000"/>
            </a:solidFill>
            <a:miter lim="800000"/>
            <a:headEnd/>
            <a:tailEnd/>
          </a:ln>
          <a:effectLst/>
        </p:spPr>
        <p:txBody>
          <a:bodyPr wrap="none" anchor="ctr"/>
          <a:lstStyle/>
          <a:p>
            <a:pPr marL="457200" indent="-457200" algn="ctr">
              <a:defRPr/>
            </a:pPr>
            <a:r>
              <a:rPr kumimoji="1" lang="en-US" altLang="zh-CN" dirty="0">
                <a:solidFill>
                  <a:schemeClr val="accent2">
                    <a:lumMod val="75000"/>
                  </a:schemeClr>
                </a:solidFill>
                <a:latin typeface="Times New Roman" pitchFamily="18" charset="0"/>
              </a:rPr>
              <a:t>1   2    3</a:t>
            </a:r>
          </a:p>
          <a:p>
            <a:pPr marL="457200" indent="-457200" algn="ctr">
              <a:defRPr/>
            </a:pPr>
            <a:r>
              <a:rPr kumimoji="1" lang="en-US" altLang="zh-CN" dirty="0">
                <a:solidFill>
                  <a:schemeClr val="accent2">
                    <a:lumMod val="75000"/>
                  </a:schemeClr>
                </a:solidFill>
                <a:latin typeface="Times New Roman" pitchFamily="18" charset="0"/>
              </a:rPr>
              <a:t>8         4</a:t>
            </a:r>
          </a:p>
          <a:p>
            <a:pPr marL="457200" indent="-457200" algn="ctr">
              <a:defRPr/>
            </a:pPr>
            <a:r>
              <a:rPr kumimoji="1" lang="en-US" altLang="zh-CN" dirty="0">
                <a:solidFill>
                  <a:schemeClr val="accent2">
                    <a:lumMod val="75000"/>
                  </a:schemeClr>
                </a:solidFill>
                <a:latin typeface="Times New Roman" pitchFamily="18" charset="0"/>
              </a:rPr>
              <a:t>7   6   5</a:t>
            </a:r>
          </a:p>
        </p:txBody>
      </p:sp>
      <p:sp>
        <p:nvSpPr>
          <p:cNvPr id="92" name="Text Box 28">
            <a:extLst>
              <a:ext uri="{FF2B5EF4-FFF2-40B4-BE49-F238E27FC236}">
                <a16:creationId xmlns:a16="http://schemas.microsoft.com/office/drawing/2014/main" id="{4EFCD01B-E5EC-48E0-8E46-85F8882D1FB4}"/>
              </a:ext>
            </a:extLst>
          </p:cNvPr>
          <p:cNvSpPr txBox="1">
            <a:spLocks noChangeArrowheads="1"/>
          </p:cNvSpPr>
          <p:nvPr/>
        </p:nvSpPr>
        <p:spPr bwMode="auto">
          <a:xfrm>
            <a:off x="1703389" y="773113"/>
            <a:ext cx="385763" cy="327025"/>
          </a:xfrm>
          <a:prstGeom prst="rect">
            <a:avLst/>
          </a:prstGeom>
          <a:noFill/>
          <a:ln w="9525">
            <a:noFill/>
            <a:miter lim="800000"/>
            <a:headEnd/>
            <a:tailEnd/>
          </a:ln>
        </p:spPr>
        <p:txBody>
          <a:bodyPr lIns="18000" tIns="10800" rIns="18000" bIns="10800">
            <a:spAutoFit/>
          </a:bodyPr>
          <a:lstStyle/>
          <a:p>
            <a:pPr>
              <a:spcBef>
                <a:spcPct val="50000"/>
              </a:spcBef>
            </a:pPr>
            <a:r>
              <a:rPr kumimoji="1" lang="en-US" altLang="zh-CN" sz="2000" dirty="0">
                <a:solidFill>
                  <a:srgbClr val="0000CC"/>
                </a:solidFill>
                <a:latin typeface="Times New Roman" pitchFamily="18" charset="0"/>
              </a:rPr>
              <a:t>Sg</a:t>
            </a:r>
          </a:p>
        </p:txBody>
      </p:sp>
    </p:spTree>
    <p:extLst>
      <p:ext uri="{BB962C8B-B14F-4D97-AF65-F5344CB8AC3E}">
        <p14:creationId xmlns:p14="http://schemas.microsoft.com/office/powerpoint/2010/main" val="3630568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solidFill>
                  <a:srgbClr val="000000"/>
                </a:solidFill>
              </a:rPr>
              <a:pPr/>
              <a:t>53</a:t>
            </a:fld>
            <a:endParaRPr lang="en-US" altLang="zh-CN" dirty="0">
              <a:solidFill>
                <a:srgbClr val="000000"/>
              </a:solidFill>
            </a:endParaRPr>
          </a:p>
        </p:txBody>
      </p:sp>
      <p:pic>
        <p:nvPicPr>
          <p:cNvPr id="3" name="图片 2"/>
          <p:cNvPicPr>
            <a:picLocks noChangeAspect="1"/>
          </p:cNvPicPr>
          <p:nvPr/>
        </p:nvPicPr>
        <p:blipFill>
          <a:blip r:embed="rId5"/>
          <a:stretch>
            <a:fillRect/>
          </a:stretch>
        </p:blipFill>
        <p:spPr>
          <a:xfrm>
            <a:off x="8123239" y="2743200"/>
            <a:ext cx="2257425" cy="2419350"/>
          </a:xfrm>
          <a:prstGeom prst="rect">
            <a:avLst/>
          </a:prstGeom>
        </p:spPr>
      </p:pic>
      <p:pic>
        <p:nvPicPr>
          <p:cNvPr id="7" name="A star-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981200" y="2743200"/>
            <a:ext cx="5816600" cy="2311400"/>
          </a:xfrm>
          <a:prstGeom prst="rect">
            <a:avLst/>
          </a:prstGeom>
        </p:spPr>
      </p:pic>
      <p:sp>
        <p:nvSpPr>
          <p:cNvPr id="2" name="矩形 1">
            <a:extLst>
              <a:ext uri="{FF2B5EF4-FFF2-40B4-BE49-F238E27FC236}">
                <a16:creationId xmlns:a16="http://schemas.microsoft.com/office/drawing/2014/main" id="{364CA5E2-ED0B-46D0-A6AB-6D18D751F4BB}"/>
              </a:ext>
            </a:extLst>
          </p:cNvPr>
          <p:cNvSpPr/>
          <p:nvPr/>
        </p:nvSpPr>
        <p:spPr>
          <a:xfrm>
            <a:off x="2209800" y="1828800"/>
            <a:ext cx="7486600" cy="387798"/>
          </a:xfrm>
          <a:prstGeom prst="rect">
            <a:avLst/>
          </a:prstGeom>
        </p:spPr>
        <p:txBody>
          <a:bodyPr wrap="square">
            <a:spAutoFit/>
          </a:bodyPr>
          <a:lstStyle/>
          <a:p>
            <a:pPr eaLnBrk="1" hangingPunct="1">
              <a:lnSpc>
                <a:spcPct val="80000"/>
              </a:lnSpc>
            </a:pPr>
            <a:r>
              <a:rPr lang="zh-CN" altLang="en-US" sz="2400" dirty="0"/>
              <a:t>启发函数：</a:t>
            </a:r>
            <a:r>
              <a:rPr lang="zh-CN" altLang="zh-CN" sz="2400" dirty="0"/>
              <a:t>表示所有</a:t>
            </a:r>
            <a:r>
              <a:rPr lang="zh-CN" altLang="en-US" sz="2400" dirty="0"/>
              <a:t>图片</a:t>
            </a:r>
            <a:r>
              <a:rPr lang="zh-CN" altLang="zh-CN" sz="2400" dirty="0"/>
              <a:t>到其目标位置的距离和</a:t>
            </a:r>
            <a:endParaRPr lang="en-US" altLang="zh-CN" sz="2400" dirty="0"/>
          </a:p>
        </p:txBody>
      </p:sp>
      <p:grpSp>
        <p:nvGrpSpPr>
          <p:cNvPr id="8" name="组合 7"/>
          <p:cNvGrpSpPr/>
          <p:nvPr/>
        </p:nvGrpSpPr>
        <p:grpSpPr>
          <a:xfrm>
            <a:off x="1408814" y="362494"/>
            <a:ext cx="7006856" cy="618583"/>
            <a:chOff x="2228892" y="2819853"/>
            <a:chExt cx="4786506" cy="497934"/>
          </a:xfrm>
        </p:grpSpPr>
        <p:sp>
          <p:nvSpPr>
            <p:cNvPr id="10" name="平行四边形 9"/>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平行四边形 10"/>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a:xfrm>
              <a:off x="2591332" y="2826188"/>
              <a:ext cx="4133539" cy="322072"/>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搜索的应用</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323567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solidFill>
                  <a:srgbClr val="000000"/>
                </a:solidFill>
              </a:rPr>
              <a:pPr/>
              <a:t>54</a:t>
            </a:fld>
            <a:endParaRPr lang="en-US" altLang="zh-CN" dirty="0">
              <a:solidFill>
                <a:srgbClr val="000000"/>
              </a:solidFill>
            </a:endParaRPr>
          </a:p>
        </p:txBody>
      </p:sp>
      <p:pic>
        <p:nvPicPr>
          <p:cNvPr id="4" name="A-star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905000" y="2541587"/>
            <a:ext cx="5791200" cy="2311400"/>
          </a:xfrm>
          <a:prstGeom prst="rect">
            <a:avLst/>
          </a:prstGeom>
        </p:spPr>
      </p:pic>
      <p:pic>
        <p:nvPicPr>
          <p:cNvPr id="6" name="图片 5"/>
          <p:cNvPicPr>
            <a:picLocks noChangeAspect="1"/>
          </p:cNvPicPr>
          <p:nvPr/>
        </p:nvPicPr>
        <p:blipFill>
          <a:blip r:embed="rId6"/>
          <a:stretch>
            <a:fillRect/>
          </a:stretch>
        </p:blipFill>
        <p:spPr>
          <a:xfrm>
            <a:off x="8071028" y="2486378"/>
            <a:ext cx="2295525" cy="2428875"/>
          </a:xfrm>
          <a:prstGeom prst="rect">
            <a:avLst/>
          </a:prstGeom>
        </p:spPr>
      </p:pic>
      <p:sp>
        <p:nvSpPr>
          <p:cNvPr id="7" name="矩形 6">
            <a:extLst>
              <a:ext uri="{FF2B5EF4-FFF2-40B4-BE49-F238E27FC236}">
                <a16:creationId xmlns:a16="http://schemas.microsoft.com/office/drawing/2014/main" id="{EB7D78E4-944F-4339-ABBD-1B5429D16862}"/>
              </a:ext>
            </a:extLst>
          </p:cNvPr>
          <p:cNvSpPr/>
          <p:nvPr/>
        </p:nvSpPr>
        <p:spPr>
          <a:xfrm>
            <a:off x="2209800" y="1828801"/>
            <a:ext cx="5913438" cy="389209"/>
          </a:xfrm>
          <a:prstGeom prst="rect">
            <a:avLst/>
          </a:prstGeom>
        </p:spPr>
        <p:txBody>
          <a:bodyPr wrap="square">
            <a:spAutoFit/>
          </a:bodyPr>
          <a:lstStyle/>
          <a:p>
            <a:pPr eaLnBrk="1" hangingPunct="1">
              <a:lnSpc>
                <a:spcPct val="80000"/>
              </a:lnSpc>
            </a:pPr>
            <a:r>
              <a:rPr lang="zh-CN" altLang="en-US" sz="2400" dirty="0"/>
              <a:t>启发函数：</a:t>
            </a:r>
            <a:r>
              <a:rPr lang="zh-CN" altLang="zh-CN" sz="2400" dirty="0"/>
              <a:t>表示</a:t>
            </a:r>
            <a:r>
              <a:rPr lang="zh-CN" altLang="en-US" sz="2400" dirty="0"/>
              <a:t>不在位的图片数</a:t>
            </a:r>
            <a:endParaRPr lang="en-US" altLang="zh-CN" sz="2400" dirty="0"/>
          </a:p>
        </p:txBody>
      </p:sp>
      <p:grpSp>
        <p:nvGrpSpPr>
          <p:cNvPr id="8" name="组合 7"/>
          <p:cNvGrpSpPr/>
          <p:nvPr/>
        </p:nvGrpSpPr>
        <p:grpSpPr>
          <a:xfrm>
            <a:off x="1408814" y="362494"/>
            <a:ext cx="7006856" cy="618583"/>
            <a:chOff x="2228892" y="2819853"/>
            <a:chExt cx="4786506" cy="497934"/>
          </a:xfrm>
        </p:grpSpPr>
        <p:sp>
          <p:nvSpPr>
            <p:cNvPr id="10" name="平行四边形 9"/>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平行四边形 10"/>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a:xfrm>
              <a:off x="2591332" y="2826188"/>
              <a:ext cx="4133539" cy="322072"/>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搜索的应用</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959812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55</a:t>
            </a:fld>
            <a:endParaRPr lang="en-US" altLang="zh-CN" dirty="0"/>
          </a:p>
        </p:txBody>
      </p:sp>
      <p:sp>
        <p:nvSpPr>
          <p:cNvPr id="7" name="内容占位符 6"/>
          <p:cNvSpPr>
            <a:spLocks noGrp="1"/>
          </p:cNvSpPr>
          <p:nvPr>
            <p:ph idx="1"/>
          </p:nvPr>
        </p:nvSpPr>
        <p:spPr/>
        <p:txBody>
          <a:bodyPr/>
          <a:lstStyle/>
          <a:p>
            <a:pPr eaLnBrk="1" hangingPunct="1">
              <a:lnSpc>
                <a:spcPct val="200000"/>
              </a:lnSpc>
              <a:defRPr/>
            </a:pPr>
            <a:r>
              <a:rPr lang="zh-CN" altLang="en-US" sz="2400" dirty="0">
                <a:ea typeface=""/>
              </a:rPr>
              <a:t>对于任意结点</a:t>
            </a:r>
            <a:r>
              <a:rPr lang="en-US" altLang="zh-CN" sz="2400" i="1" dirty="0">
                <a:ea typeface=""/>
              </a:rPr>
              <a:t>n</a:t>
            </a:r>
            <a:r>
              <a:rPr lang="zh-CN" altLang="en-US" sz="2400" dirty="0">
                <a:ea typeface=""/>
              </a:rPr>
              <a:t>，</a:t>
            </a:r>
            <a:r>
              <a:rPr lang="en-US" altLang="zh-CN" sz="2400" dirty="0">
                <a:ea typeface=""/>
              </a:rPr>
              <a:t> </a:t>
            </a:r>
            <a:r>
              <a:rPr lang="zh-CN" altLang="en-US" sz="2400" dirty="0">
                <a:ea typeface=""/>
              </a:rPr>
              <a:t>若</a:t>
            </a:r>
            <a:r>
              <a:rPr lang="en-US" altLang="zh-CN" sz="2000" b="1" i="1" dirty="0"/>
              <a:t>h</a:t>
            </a:r>
            <a:r>
              <a:rPr lang="en-US" altLang="zh-CN" sz="2000" b="1" i="1" baseline="-25000" dirty="0"/>
              <a:t>2</a:t>
            </a:r>
            <a:r>
              <a:rPr lang="en-US" altLang="zh-CN" sz="2000" b="1" i="1" dirty="0"/>
              <a:t>(n) </a:t>
            </a:r>
            <a:r>
              <a:rPr lang="en-US" altLang="zh-CN" sz="2000" b="1" i="1" dirty="0">
                <a:cs typeface="Arial" pitchFamily="34" charset="0"/>
              </a:rPr>
              <a:t>≥</a:t>
            </a:r>
            <a:r>
              <a:rPr lang="en-US" altLang="zh-CN" sz="2000" b="1" i="1" dirty="0"/>
              <a:t> h</a:t>
            </a:r>
            <a:r>
              <a:rPr lang="en-US" altLang="zh-CN" sz="2000" b="1" i="1" baseline="-25000" dirty="0"/>
              <a:t>1</a:t>
            </a:r>
            <a:r>
              <a:rPr lang="en-US" altLang="zh-CN" sz="2000" b="1" i="1" dirty="0"/>
              <a:t>(n)</a:t>
            </a:r>
            <a:r>
              <a:rPr lang="zh-CN" altLang="en-US" sz="2000" i="1" dirty="0"/>
              <a:t>，</a:t>
            </a:r>
            <a:r>
              <a:rPr lang="zh-CN" altLang="en-US" sz="2400" dirty="0">
                <a:ea typeface=""/>
              </a:rPr>
              <a:t>称</a:t>
            </a:r>
            <a:r>
              <a:rPr lang="en-US" altLang="zh-CN" sz="2400" b="1" i="1" dirty="0"/>
              <a:t>h</a:t>
            </a:r>
            <a:r>
              <a:rPr lang="en-US" altLang="zh-CN" sz="2400" b="1" i="1" baseline="-25000" dirty="0"/>
              <a:t>2</a:t>
            </a:r>
            <a:r>
              <a:rPr lang="zh-CN" altLang="en-US" sz="2400" dirty="0">
                <a:ea typeface=""/>
              </a:rPr>
              <a:t>比</a:t>
            </a:r>
            <a:r>
              <a:rPr lang="en-US" altLang="zh-CN" sz="2400" b="1" i="1" dirty="0"/>
              <a:t>h</a:t>
            </a:r>
            <a:r>
              <a:rPr lang="en-US" altLang="zh-CN" sz="2400" b="1" i="1" baseline="-25000" dirty="0"/>
              <a:t>1</a:t>
            </a:r>
            <a:r>
              <a:rPr lang="zh-CN" altLang="en-US" sz="2400" dirty="0">
                <a:ea typeface=""/>
              </a:rPr>
              <a:t>占优势，</a:t>
            </a:r>
            <a:r>
              <a:rPr lang="en-US" altLang="zh-CN" sz="2400" b="1" i="1" dirty="0"/>
              <a:t>h</a:t>
            </a:r>
            <a:r>
              <a:rPr lang="en-US" altLang="zh-CN" sz="2400" b="1" i="1" baseline="-25000" dirty="0"/>
              <a:t>2</a:t>
            </a:r>
            <a:r>
              <a:rPr lang="en-US" altLang="zh-CN" sz="2400" dirty="0">
                <a:ea typeface=""/>
              </a:rPr>
              <a:t> </a:t>
            </a:r>
            <a:r>
              <a:rPr lang="zh-CN" altLang="en-US" sz="2400" dirty="0">
                <a:ea typeface=""/>
              </a:rPr>
              <a:t>更利于搜索。</a:t>
            </a:r>
            <a:endParaRPr lang="en-US" altLang="zh-CN" sz="2400" dirty="0">
              <a:ea typeface=""/>
            </a:endParaRPr>
          </a:p>
          <a:p>
            <a:pPr eaLnBrk="1" hangingPunct="1">
              <a:lnSpc>
                <a:spcPct val="200000"/>
              </a:lnSpc>
              <a:defRPr/>
            </a:pPr>
            <a:r>
              <a:rPr lang="zh-CN" altLang="en-US" sz="2400" dirty="0">
                <a:ea typeface=""/>
              </a:rPr>
              <a:t>搜索代价</a:t>
            </a:r>
            <a:r>
              <a:rPr lang="en-US" altLang="zh-CN" sz="2400" dirty="0">
                <a:ea typeface=""/>
              </a:rPr>
              <a:t>(</a:t>
            </a:r>
            <a:r>
              <a:rPr lang="zh-CN" altLang="en-US" sz="2400" dirty="0">
                <a:ea typeface=""/>
              </a:rPr>
              <a:t>扩展的平均结点数</a:t>
            </a:r>
            <a:r>
              <a:rPr lang="en-US" altLang="zh-CN" sz="2400" dirty="0">
                <a:ea typeface=""/>
              </a:rPr>
              <a:t>):</a:t>
            </a:r>
            <a:endParaRPr lang="en-US" altLang="zh-CN" i="1" dirty="0"/>
          </a:p>
          <a:p>
            <a:pPr lvl="1" eaLnBrk="1" hangingPunct="1">
              <a:lnSpc>
                <a:spcPct val="100000"/>
              </a:lnSpc>
              <a:defRPr/>
            </a:pPr>
            <a:r>
              <a:rPr lang="en-US" altLang="zh-CN" sz="2000" i="1" dirty="0">
                <a:latin typeface="Times New Roman" panose="02020603050405020304" pitchFamily="18" charset="0"/>
                <a:cs typeface="Times New Roman" panose="02020603050405020304" pitchFamily="18" charset="0"/>
              </a:rPr>
              <a:t>d=12  </a:t>
            </a:r>
            <a:r>
              <a:rPr lang="en-US" altLang="zh-CN" sz="2000" dirty="0">
                <a:latin typeface="Times New Roman" panose="02020603050405020304" pitchFamily="18" charset="0"/>
                <a:cs typeface="Times New Roman" panose="02020603050405020304" pitchFamily="18" charset="0"/>
              </a:rPr>
              <a:t>IDS = 3,644,035 nodes (</a:t>
            </a:r>
            <a:r>
              <a:rPr lang="zh-CN" altLang="en-US" sz="2000" dirty="0">
                <a:latin typeface="Times New Roman" panose="02020603050405020304" pitchFamily="18" charset="0"/>
                <a:cs typeface="Times New Roman" panose="02020603050405020304" pitchFamily="18" charset="0"/>
              </a:rPr>
              <a:t>迭代加深搜索</a:t>
            </a:r>
            <a:r>
              <a:rPr lang="en-US" altLang="zh-CN" sz="2000" dirty="0">
                <a:latin typeface="Times New Roman" panose="02020603050405020304" pitchFamily="18" charset="0"/>
                <a:cs typeface="Times New Roman" panose="02020603050405020304" pitchFamily="18" charset="0"/>
              </a:rPr>
              <a:t>)</a:t>
            </a:r>
            <a:br>
              <a:rPr lang="en-US" altLang="zh-CN" sz="2000" dirty="0">
                <a:latin typeface="Times New Roman" panose="02020603050405020304" pitchFamily="18" charset="0"/>
                <a:cs typeface="Times New Roman" panose="02020603050405020304" pitchFamily="18" charset="0"/>
              </a:rPr>
            </a:br>
            <a:r>
              <a:rPr lang="en-US" altLang="zh-CN" sz="2000" dirty="0">
                <a:latin typeface="Times New Roman" panose="02020603050405020304" pitchFamily="18" charset="0"/>
                <a:cs typeface="Times New Roman" panose="02020603050405020304" pitchFamily="18" charset="0"/>
              </a:rPr>
              <a:t>	  A</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(h</a:t>
            </a:r>
            <a:r>
              <a:rPr lang="en-US" altLang="zh-CN" sz="2000" baseline="-25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 227 nodes </a:t>
            </a:r>
            <a:br>
              <a:rPr lang="en-US" altLang="zh-CN" sz="2000" dirty="0">
                <a:latin typeface="Times New Roman" panose="02020603050405020304" pitchFamily="18" charset="0"/>
                <a:cs typeface="Times New Roman" panose="02020603050405020304" pitchFamily="18" charset="0"/>
              </a:rPr>
            </a:br>
            <a:r>
              <a:rPr lang="en-US" altLang="zh-CN" sz="2000" dirty="0">
                <a:latin typeface="Times New Roman" panose="02020603050405020304" pitchFamily="18" charset="0"/>
                <a:cs typeface="Times New Roman" panose="02020603050405020304" pitchFamily="18" charset="0"/>
              </a:rPr>
              <a:t>	  A</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(h</a:t>
            </a:r>
            <a:r>
              <a:rPr lang="en-US" altLang="zh-CN" sz="2000" baseline="-25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 = 73 nodes </a:t>
            </a:r>
            <a:endParaRPr lang="en-US" altLang="zh-CN" sz="2800" dirty="0">
              <a:latin typeface="Times New Roman" panose="02020603050405020304" pitchFamily="18" charset="0"/>
              <a:cs typeface="Times New Roman" panose="02020603050405020304" pitchFamily="18" charset="0"/>
            </a:endParaRPr>
          </a:p>
          <a:p>
            <a:pPr lvl="1" eaLnBrk="1" hangingPunct="1">
              <a:lnSpc>
                <a:spcPct val="100000"/>
              </a:lnSpc>
              <a:defRPr/>
            </a:pPr>
            <a:r>
              <a:rPr lang="en-US" altLang="zh-CN" sz="2000" i="1" dirty="0">
                <a:latin typeface="Times New Roman" panose="02020603050405020304" pitchFamily="18" charset="0"/>
                <a:cs typeface="Times New Roman" panose="02020603050405020304" pitchFamily="18" charset="0"/>
              </a:rPr>
              <a:t>d=24  </a:t>
            </a:r>
            <a:r>
              <a:rPr lang="en-US" altLang="zh-CN" sz="2000" dirty="0">
                <a:latin typeface="Times New Roman" panose="02020603050405020304" pitchFamily="18" charset="0"/>
                <a:cs typeface="Times New Roman" panose="02020603050405020304" pitchFamily="18" charset="0"/>
              </a:rPr>
              <a:t>IDS = too many nodes</a:t>
            </a:r>
            <a:br>
              <a:rPr lang="en-US" altLang="zh-CN" sz="2000" dirty="0">
                <a:latin typeface="Times New Roman" panose="02020603050405020304" pitchFamily="18" charset="0"/>
                <a:cs typeface="Times New Roman" panose="02020603050405020304" pitchFamily="18" charset="0"/>
              </a:rPr>
            </a:br>
            <a:r>
              <a:rPr lang="en-US" altLang="zh-CN" sz="2000" dirty="0">
                <a:latin typeface="Times New Roman" panose="02020603050405020304" pitchFamily="18" charset="0"/>
                <a:cs typeface="Times New Roman" panose="02020603050405020304" pitchFamily="18" charset="0"/>
              </a:rPr>
              <a:t>	 A</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(h</a:t>
            </a:r>
            <a:r>
              <a:rPr lang="en-US" altLang="zh-CN" sz="2000" baseline="-25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 39,135 nodes </a:t>
            </a:r>
            <a:br>
              <a:rPr lang="en-US" altLang="zh-CN" sz="2000" dirty="0">
                <a:latin typeface="Times New Roman" panose="02020603050405020304" pitchFamily="18" charset="0"/>
                <a:cs typeface="Times New Roman" panose="02020603050405020304" pitchFamily="18" charset="0"/>
              </a:rPr>
            </a:br>
            <a:r>
              <a:rPr lang="en-US" altLang="zh-CN" sz="2000" dirty="0">
                <a:latin typeface="Times New Roman" panose="02020603050405020304" pitchFamily="18" charset="0"/>
                <a:cs typeface="Times New Roman" panose="02020603050405020304" pitchFamily="18" charset="0"/>
              </a:rPr>
              <a:t>	 A</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(h</a:t>
            </a:r>
            <a:r>
              <a:rPr lang="en-US" altLang="zh-CN" sz="2000" baseline="-25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 = 1,641 nodes </a:t>
            </a:r>
          </a:p>
          <a:p>
            <a:endParaRPr kumimoji="1" lang="zh-CN" altLang="en-US" sz="2000" dirty="0"/>
          </a:p>
        </p:txBody>
      </p:sp>
      <p:grpSp>
        <p:nvGrpSpPr>
          <p:cNvPr id="6" name="组合 5"/>
          <p:cNvGrpSpPr/>
          <p:nvPr/>
        </p:nvGrpSpPr>
        <p:grpSpPr>
          <a:xfrm>
            <a:off x="1408814" y="362494"/>
            <a:ext cx="7006856" cy="618583"/>
            <a:chOff x="2228892" y="2819853"/>
            <a:chExt cx="4786506"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2591332" y="2826188"/>
              <a:ext cx="4133539" cy="322072"/>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搜索的应用</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1451307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72601" y="6413500"/>
            <a:ext cx="1008063" cy="215900"/>
          </a:xfrm>
        </p:spPr>
        <p:txBody>
          <a:bodyPr/>
          <a:lstStyle/>
          <a:p>
            <a:fld id="{26714DBF-E897-473F-B4DA-AAD750B6E787}" type="slidenum">
              <a:rPr lang="en-US" altLang="zh-CN" smtClean="0"/>
              <a:pPr/>
              <a:t>56</a:t>
            </a:fld>
            <a:endParaRPr lang="en-US" altLang="zh-CN" dirty="0"/>
          </a:p>
        </p:txBody>
      </p:sp>
      <p:sp>
        <p:nvSpPr>
          <p:cNvPr id="7" name="内容占位符 6"/>
          <p:cNvSpPr>
            <a:spLocks noGrp="1"/>
          </p:cNvSpPr>
          <p:nvPr>
            <p:ph idx="1"/>
          </p:nvPr>
        </p:nvSpPr>
        <p:spPr>
          <a:xfrm>
            <a:off x="1477765" y="2183181"/>
            <a:ext cx="8229600" cy="4525963"/>
          </a:xfrm>
        </p:spPr>
        <p:txBody>
          <a:bodyPr/>
          <a:lstStyle/>
          <a:p>
            <a:pPr eaLnBrk="1" hangingPunct="1">
              <a:lnSpc>
                <a:spcPct val="200000"/>
              </a:lnSpc>
              <a:buClr>
                <a:srgbClr val="FF0000"/>
              </a:buClr>
              <a:buSzPct val="90000"/>
              <a:buFont typeface="Wingdings" panose="05000000000000000000" pitchFamily="2" charset="2"/>
              <a:buChar char="p"/>
            </a:pPr>
            <a:r>
              <a:rPr lang="zh-CN" altLang="en-US" sz="2400" dirty="0">
                <a:ea typeface=""/>
              </a:rPr>
              <a:t>减少了行动限制的问题称为</a:t>
            </a:r>
            <a:r>
              <a:rPr lang="zh-CN" altLang="en-US" sz="2400" b="1" dirty="0">
                <a:ea typeface=""/>
              </a:rPr>
              <a:t>松弛问题。</a:t>
            </a:r>
            <a:endParaRPr lang="en-US" altLang="zh-CN" dirty="0"/>
          </a:p>
          <a:p>
            <a:pPr eaLnBrk="1" hangingPunct="1">
              <a:lnSpc>
                <a:spcPct val="200000"/>
              </a:lnSpc>
              <a:buClr>
                <a:srgbClr val="FF0000"/>
              </a:buClr>
              <a:buSzPct val="90000"/>
              <a:buFont typeface="Wingdings" panose="05000000000000000000" pitchFamily="2" charset="2"/>
              <a:buChar char="p"/>
            </a:pPr>
            <a:r>
              <a:rPr lang="zh-CN" altLang="en-US" sz="2400" dirty="0">
                <a:ea typeface=""/>
              </a:rPr>
              <a:t>一个松弛问题的最优解是原有问题的</a:t>
            </a:r>
            <a:r>
              <a:rPr lang="zh-CN" altLang="en-US" sz="2400" b="1" dirty="0">
                <a:ea typeface=""/>
              </a:rPr>
              <a:t>可采纳的启发式。</a:t>
            </a:r>
            <a:endParaRPr lang="en-US" altLang="zh-CN" b="1" dirty="0"/>
          </a:p>
          <a:p>
            <a:pPr eaLnBrk="1" hangingPunct="1">
              <a:lnSpc>
                <a:spcPct val="200000"/>
              </a:lnSpc>
              <a:buClr>
                <a:srgbClr val="FF0000"/>
              </a:buClr>
              <a:buSzPct val="90000"/>
              <a:buFont typeface="Wingdings" panose="05000000000000000000" pitchFamily="2" charset="2"/>
              <a:buChar char="p"/>
            </a:pPr>
            <a:r>
              <a:rPr lang="zh-CN" altLang="en-US" sz="2400" b="1" dirty="0">
                <a:ea typeface=""/>
              </a:rPr>
              <a:t>八数码问题松弛问题</a:t>
            </a:r>
            <a:endParaRPr lang="en-US" altLang="zh-CN" sz="2400" b="1" dirty="0">
              <a:ea typeface=""/>
            </a:endParaRPr>
          </a:p>
          <a:p>
            <a:pPr lvl="1" eaLnBrk="1" hangingPunct="1"/>
            <a:r>
              <a:rPr lang="zh-CN" altLang="en-US" sz="2000" dirty="0">
                <a:ea typeface=""/>
              </a:rPr>
              <a:t>棋子可以移动到任一位置</a:t>
            </a:r>
            <a:r>
              <a:rPr lang="en-US" altLang="zh-CN" sz="2000" dirty="0">
                <a:ea typeface=""/>
              </a:rPr>
              <a:t>, </a:t>
            </a:r>
            <a:r>
              <a:rPr lang="zh-CN" altLang="en-US" sz="2000" dirty="0">
                <a:ea typeface=""/>
              </a:rPr>
              <a:t>则</a:t>
            </a:r>
            <a:r>
              <a:rPr lang="en-US" altLang="zh-CN" sz="2800" i="1" dirty="0">
                <a:latin typeface="Times New Roman" panose="02020603050405020304" pitchFamily="18" charset="0"/>
                <a:cs typeface="Times New Roman" panose="02020603050405020304" pitchFamily="18" charset="0"/>
              </a:rPr>
              <a:t>h</a:t>
            </a:r>
            <a:r>
              <a:rPr lang="en-US" altLang="zh-CN" sz="2800" i="1"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(n) </a:t>
            </a:r>
            <a:r>
              <a:rPr lang="zh-CN" altLang="en-US" sz="2000" dirty="0">
                <a:latin typeface="Times New Roman" panose="02020603050405020304" pitchFamily="18" charset="0"/>
                <a:ea typeface=""/>
                <a:cs typeface="Times New Roman" panose="02020603050405020304" pitchFamily="18" charset="0"/>
              </a:rPr>
              <a:t>能够给出最短路径解。</a:t>
            </a:r>
            <a:endParaRPr lang="en-US" altLang="zh-CN" sz="3600" dirty="0">
              <a:latin typeface="Times New Roman" panose="02020603050405020304" pitchFamily="18" charset="0"/>
              <a:cs typeface="Times New Roman" panose="02020603050405020304" pitchFamily="18" charset="0"/>
            </a:endParaRPr>
          </a:p>
          <a:p>
            <a:pPr lvl="1" eaLnBrk="1" hangingPunct="1"/>
            <a:r>
              <a:rPr lang="zh-CN" altLang="en-US" sz="2000" dirty="0">
                <a:latin typeface="Times New Roman" panose="02020603050405020304" pitchFamily="18" charset="0"/>
                <a:ea typeface=""/>
                <a:cs typeface="Times New Roman" panose="02020603050405020304" pitchFamily="18" charset="0"/>
              </a:rPr>
              <a:t>棋子可以移动到相邻位置，则</a:t>
            </a:r>
            <a:r>
              <a:rPr lang="en-US" altLang="zh-CN" sz="2800" i="1" dirty="0">
                <a:latin typeface="Times New Roman" panose="02020603050405020304" pitchFamily="18" charset="0"/>
                <a:cs typeface="Times New Roman" panose="02020603050405020304" pitchFamily="18" charset="0"/>
              </a:rPr>
              <a:t>h</a:t>
            </a:r>
            <a:r>
              <a:rPr lang="en-US" altLang="zh-CN" sz="2800" i="1" baseline="-25000" dirty="0">
                <a:latin typeface="Times New Roman" panose="02020603050405020304" pitchFamily="18" charset="0"/>
                <a:cs typeface="Times New Roman" panose="02020603050405020304" pitchFamily="18" charset="0"/>
              </a:rPr>
              <a:t>2</a:t>
            </a:r>
            <a:r>
              <a:rPr lang="en-US" altLang="zh-CN" sz="2800" i="1" dirty="0">
                <a:latin typeface="Times New Roman" panose="02020603050405020304" pitchFamily="18" charset="0"/>
                <a:cs typeface="Times New Roman" panose="02020603050405020304" pitchFamily="18" charset="0"/>
              </a:rPr>
              <a:t>(n) </a:t>
            </a:r>
            <a:r>
              <a:rPr lang="zh-CN" altLang="en-US" sz="2000" dirty="0">
                <a:ea typeface=""/>
              </a:rPr>
              <a:t>能够给出最短路径解。</a:t>
            </a:r>
            <a:endParaRPr lang="en-US" altLang="zh-CN" sz="2000" dirty="0">
              <a:ea typeface=""/>
            </a:endParaRPr>
          </a:p>
          <a:p>
            <a:pPr eaLnBrk="1" hangingPunct="1">
              <a:lnSpc>
                <a:spcPct val="80000"/>
              </a:lnSpc>
            </a:pPr>
            <a:endParaRPr kumimoji="1" lang="zh-CN" altLang="en-US" dirty="0"/>
          </a:p>
        </p:txBody>
      </p:sp>
      <p:grpSp>
        <p:nvGrpSpPr>
          <p:cNvPr id="6" name="组合 5"/>
          <p:cNvGrpSpPr/>
          <p:nvPr/>
        </p:nvGrpSpPr>
        <p:grpSpPr>
          <a:xfrm>
            <a:off x="1212112" y="471253"/>
            <a:ext cx="7006856" cy="618583"/>
            <a:chOff x="2228892" y="2819853"/>
            <a:chExt cx="4786506" cy="497934"/>
          </a:xfrm>
        </p:grpSpPr>
        <p:sp>
          <p:nvSpPr>
            <p:cNvPr id="8" name="平行四边形 7"/>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平行四边形 9"/>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矩形 10"/>
            <p:cNvSpPr/>
            <p:nvPr/>
          </p:nvSpPr>
          <p:spPr>
            <a:xfrm>
              <a:off x="2591332" y="2826188"/>
              <a:ext cx="4133539" cy="322072"/>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A*</a:t>
              </a:r>
              <a:r>
                <a:rPr lang="zh-CN" altLang="en-US" sz="2000" b="1" dirty="0" smtClean="0">
                  <a:solidFill>
                    <a:schemeClr val="tx1">
                      <a:lumMod val="95000"/>
                      <a:lumOff val="5000"/>
                    </a:schemeClr>
                  </a:solidFill>
                  <a:latin typeface="微软雅黑" panose="020B0503020204020204" pitchFamily="34" charset="-122"/>
                  <a:ea typeface="微软雅黑" panose="020B0503020204020204" pitchFamily="34" charset="-122"/>
                </a:rPr>
                <a:t>搜索的应用</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 name="矩形 1"/>
          <p:cNvSpPr/>
          <p:nvPr/>
        </p:nvSpPr>
        <p:spPr>
          <a:xfrm>
            <a:off x="286756" y="1293259"/>
            <a:ext cx="5109091" cy="461665"/>
          </a:xfrm>
          <a:prstGeom prst="rect">
            <a:avLst/>
          </a:prstGeom>
        </p:spPr>
        <p:txBody>
          <a:bodyPr wrap="none">
            <a:spAutoFit/>
          </a:bodyPr>
          <a:lstStyle/>
          <a:p>
            <a:pPr lvl="0">
              <a:defRPr/>
            </a:pPr>
            <a:r>
              <a:rPr lang="zh-CN" altLang="en-US" sz="24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从松弛问题出发设计可采纳的启发式</a:t>
            </a:r>
            <a:endParaRPr lang="en-US" altLang="zh-CN" sz="2400" kern="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6643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MzNTE1NmViZGY2MDg3ZTQ2NTk3NjgxNGIzZDAxZDAifQ=="/>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ags/tag5.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9525">
          <a:solidFill>
            <a:schemeClr val="tx1"/>
          </a:solidFill>
          <a:round/>
        </a:ln>
      </a:spPr>
      <a:bodyPr wrap="none" anchor="ctr"/>
      <a:lstStyle>
        <a:defPPr algn="l">
          <a:defRPr dirty="0" smtClean="0">
            <a:solidFill>
              <a:srgbClr val="FF3300"/>
            </a:solid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5164</Words>
  <Application>Microsoft Office PowerPoint</Application>
  <PresentationFormat>宽屏</PresentationFormat>
  <Paragraphs>652</Paragraphs>
  <Slides>56</Slides>
  <Notes>44</Notes>
  <HiddenSlides>0</HiddenSlides>
  <MMClips>2</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56</vt:i4>
      </vt:variant>
    </vt:vector>
  </HeadingPairs>
  <TitlesOfParts>
    <vt:vector size="78" baseType="lpstr">
      <vt:lpstr>Gulim</vt:lpstr>
      <vt:lpstr>游ゴシック</vt:lpstr>
      <vt:lpstr>等线</vt:lpstr>
      <vt:lpstr>等线 Light</vt:lpstr>
      <vt:lpstr>黑体</vt:lpstr>
      <vt:lpstr>华文楷体</vt:lpstr>
      <vt:lpstr>华文中宋</vt:lpstr>
      <vt:lpstr>楷体_GB2312</vt:lpstr>
      <vt:lpstr>宋体</vt:lpstr>
      <vt:lpstr>微软雅黑</vt:lpstr>
      <vt:lpstr>Arial</vt:lpstr>
      <vt:lpstr>Calibri</vt:lpstr>
      <vt:lpstr>Cambria</vt:lpstr>
      <vt:lpstr>Cambria Math</vt:lpstr>
      <vt:lpstr>Comic Sans MS</vt:lpstr>
      <vt:lpstr>Tahoma</vt:lpstr>
      <vt:lpstr>Times New Roman</vt:lpstr>
      <vt:lpstr>Wingdings</vt:lpstr>
      <vt:lpstr>Office 主题​​</vt:lpstr>
      <vt:lpstr>位图图像</vt:lpstr>
      <vt:lpstr>公式</vt:lpstr>
      <vt:lpstr>Equation</vt:lpstr>
      <vt:lpstr>课程《人工智能原理与技术》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WJL</dc:creator>
  <cp:lastModifiedBy>hongyun zhang</cp:lastModifiedBy>
  <cp:revision>173</cp:revision>
  <dcterms:created xsi:type="dcterms:W3CDTF">2025-03-07T08:38:00Z</dcterms:created>
  <dcterms:modified xsi:type="dcterms:W3CDTF">2025-03-12T06:23:20Z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32C2DC4AA9374ADBBB72F10C47D3FC6A_12</vt:lpwstr>
  </property>
  <property fmtid="{D5CDD505-2E9C-101B-9397-08002B2CF9AE}" pid="3" name="KSOProductBuildVer">
    <vt:lpwstr>2052-12.1.0.15374</vt:lpwstr>
  </property>
</Properties>
</file>