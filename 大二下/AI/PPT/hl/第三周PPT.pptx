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1" r:id="rId3"/>
    <p:sldId id="294" r:id="rId5"/>
    <p:sldId id="564" r:id="rId6"/>
    <p:sldId id="389" r:id="rId7"/>
    <p:sldId id="565" r:id="rId8"/>
    <p:sldId id="566" r:id="rId9"/>
    <p:sldId id="567" r:id="rId10"/>
    <p:sldId id="568" r:id="rId11"/>
    <p:sldId id="569" r:id="rId12"/>
    <p:sldId id="570" r:id="rId13"/>
    <p:sldId id="571" r:id="rId14"/>
    <p:sldId id="572" r:id="rId15"/>
    <p:sldId id="574" r:id="rId16"/>
    <p:sldId id="575" r:id="rId17"/>
    <p:sldId id="576" r:id="rId18"/>
    <p:sldId id="577" r:id="rId19"/>
    <p:sldId id="578" r:id="rId20"/>
    <p:sldId id="579" r:id="rId21"/>
    <p:sldId id="619" r:id="rId22"/>
    <p:sldId id="583" r:id="rId23"/>
    <p:sldId id="584" r:id="rId24"/>
    <p:sldId id="585" r:id="rId25"/>
    <p:sldId id="586" r:id="rId26"/>
    <p:sldId id="587" r:id="rId27"/>
    <p:sldId id="588" r:id="rId28"/>
    <p:sldId id="620" r:id="rId29"/>
    <p:sldId id="589" r:id="rId30"/>
    <p:sldId id="590" r:id="rId31"/>
    <p:sldId id="591" r:id="rId32"/>
    <p:sldId id="592" r:id="rId33"/>
    <p:sldId id="593" r:id="rId34"/>
    <p:sldId id="595" r:id="rId35"/>
    <p:sldId id="596" r:id="rId36"/>
    <p:sldId id="597" r:id="rId37"/>
    <p:sldId id="598" r:id="rId38"/>
    <p:sldId id="599" r:id="rId39"/>
    <p:sldId id="600" r:id="rId40"/>
    <p:sldId id="601" r:id="rId41"/>
    <p:sldId id="602" r:id="rId42"/>
    <p:sldId id="603" r:id="rId43"/>
    <p:sldId id="608" r:id="rId44"/>
    <p:sldId id="609" r:id="rId45"/>
    <p:sldId id="610" r:id="rId46"/>
    <p:sldId id="611" r:id="rId47"/>
    <p:sldId id="612" r:id="rId48"/>
    <p:sldId id="613" r:id="rId49"/>
    <p:sldId id="614" r:id="rId50"/>
    <p:sldId id="615" r:id="rId51"/>
    <p:sldId id="616" r:id="rId52"/>
    <p:sldId id="617" r:id="rId53"/>
    <p:sldId id="621" r:id="rId54"/>
    <p:sldId id="623" r:id="rId55"/>
    <p:sldId id="628" r:id="rId56"/>
    <p:sldId id="629" r:id="rId57"/>
    <p:sldId id="630" r:id="rId58"/>
    <p:sldId id="631" r:id="rId59"/>
  </p:sldIdLst>
  <p:sldSz cx="12192000" cy="68580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67" autoAdjust="0"/>
    <p:restoredTop sz="82948" autoAdjust="0"/>
  </p:normalViewPr>
  <p:slideViewPr>
    <p:cSldViewPr snapToGrid="0">
      <p:cViewPr varScale="1">
        <p:scale>
          <a:sx n="132" d="100"/>
          <a:sy n="132" d="100"/>
        </p:scale>
        <p:origin x="94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13.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84203F-7AEF-4A7F-94F0-3925A564E5D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97FE7-9E44-4705-9F7F-2B1202D9D66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97FE7-9E44-4705-9F7F-2B1202D9D66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xfrm>
            <a:off x="138113" y="768350"/>
            <a:ext cx="6823075" cy="3838575"/>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dirty="0"/>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028402E-6160-4EE7-B7A0-027405DF9D34}" type="slidenum">
              <a:rPr lang="en-US" altLang="zh-CN">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xfrm>
            <a:off x="138113" y="768350"/>
            <a:ext cx="6823075" cy="3838575"/>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dirty="0"/>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028402E-6160-4EE7-B7A0-027405DF9D34}" type="slidenum">
              <a:rPr lang="en-US" altLang="zh-CN">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613" y="719138"/>
            <a:ext cx="6391275" cy="3595687"/>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dirty="0"/>
          </a:p>
        </p:txBody>
      </p:sp>
      <p:sp>
        <p:nvSpPr>
          <p:cNvPr id="4" name="Slide Number Placeholder 3"/>
          <p:cNvSpPr>
            <a:spLocks noGrp="1"/>
          </p:cNvSpPr>
          <p:nvPr>
            <p:ph type="sldNum" sz="quarter" idx="10"/>
          </p:nvPr>
        </p:nvSpPr>
        <p:spPr/>
        <p:txBody>
          <a:bodyPr/>
          <a:lstStyle/>
          <a:p>
            <a:fld id="{CD7DE18D-B477-5540-A418-45080CBABEBE}"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613" y="719138"/>
            <a:ext cx="6391275" cy="3595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7DE18D-B477-5540-A418-45080CBABEBE}"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2F97FE7-9E44-4705-9F7F-2B1202D9D669}"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B81D889-D7E9-4039-B45C-464273848925}" type="slidenum">
              <a:rPr lang="en-US" smtClean="0"/>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2F97FE7-9E44-4705-9F7F-2B1202D9D669}"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2F97FE7-9E44-4705-9F7F-2B1202D9D669}"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2F97FE7-9E44-4705-9F7F-2B1202D9D669}"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2F97FE7-9E44-4705-9F7F-2B1202D9D669}"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2F97FE7-9E44-4705-9F7F-2B1202D9D66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7"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7"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7"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8"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10"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6"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5"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8"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8"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fld>
            <a:endParaRPr lang="zh-CN" altLang="en-US"/>
          </a:p>
        </p:txBody>
      </p:sp>
      <p:pic>
        <p:nvPicPr>
          <p:cNvPr id="7"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49EC672-A802-4CF9-8EDD-265C5EC386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竖排文字">
    <p:bg>
      <p:bgPr>
        <a:solidFill>
          <a:schemeClr val="bg1"/>
        </a:solidFill>
        <a:effectLst/>
      </p:bgPr>
    </p:bg>
    <p:spTree>
      <p:nvGrpSpPr>
        <p:cNvPr id="1" name=""/>
        <p:cNvGrpSpPr/>
        <p:nvPr/>
      </p:nvGrpSpPr>
      <p:grpSpPr>
        <a:xfrm>
          <a:off x="0" y="0"/>
          <a:ext cx="0" cy="0"/>
          <a:chOff x="0" y="0"/>
          <a:chExt cx="0" cy="0"/>
        </a:xfrm>
      </p:grpSpPr>
      <p:pic>
        <p:nvPicPr>
          <p:cNvPr id="4" name="Picture 4" descr="同济大学logo矢量图(第1页) - 一起扣扣网"/>
          <p:cNvPicPr>
            <a:picLocks noChangeAspect="1" noChangeArrowheads="1"/>
          </p:cNvPicPr>
          <p:nvPr userDrawn="1"/>
        </p:nvPicPr>
        <p:blipFill>
          <a:blip r:embed="rId2">
            <a:clrChange>
              <a:clrFrom>
                <a:srgbClr val="FFFFFF"/>
              </a:clrFrom>
              <a:clrTo>
                <a:srgbClr val="FFFFFF">
                  <a:alpha val="0"/>
                </a:srgbClr>
              </a:clrTo>
            </a:clrChange>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a:stretch>
            <a:fillRect/>
          </a:stretch>
        </p:blipFill>
        <p:spPr bwMode="auto">
          <a:xfrm>
            <a:off x="8991617" y="158401"/>
            <a:ext cx="3088014" cy="8034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一">
    <p:bg>
      <p:bgPr>
        <a:solidFill>
          <a:schemeClr val="bg1"/>
        </a:solidFill>
        <a:effectLst/>
      </p:bgPr>
    </p:bg>
    <p:spTree>
      <p:nvGrpSpPr>
        <p:cNvPr id="1" name=""/>
        <p:cNvGrpSpPr/>
        <p:nvPr/>
      </p:nvGrpSpPr>
      <p:grpSpPr>
        <a:xfrm>
          <a:off x="0" y="0"/>
          <a:ext cx="0" cy="0"/>
          <a:chOff x="0" y="0"/>
          <a:chExt cx="0" cy="0"/>
        </a:xfrm>
      </p:grpSpPr>
      <p:pic>
        <p:nvPicPr>
          <p:cNvPr id="11"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9EC672-A802-4CF9-8EDD-265C5EC3868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F86DAA-B213-4A1F-9178-18865ABDB11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image" Target="../media/image4.png"/><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hyperlink" Target="http://en.wikipedia.org/wiki/Image:Thomasbayes.jpg"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tags" Target="../tags/tag6.xml"/><Relationship Id="rId2" Type="http://schemas.openxmlformats.org/officeDocument/2006/relationships/image" Target="../media/image15.png"/><Relationship Id="rId1" Type="http://schemas.openxmlformats.org/officeDocument/2006/relationships/tags" Target="../tags/tag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image" Target="../media/image29.png"/><Relationship Id="rId7" Type="http://schemas.openxmlformats.org/officeDocument/2006/relationships/tags" Target="../tags/tag10.xml"/><Relationship Id="rId6" Type="http://schemas.openxmlformats.org/officeDocument/2006/relationships/image" Target="../media/image28.png"/><Relationship Id="rId5" Type="http://schemas.openxmlformats.org/officeDocument/2006/relationships/tags" Target="../tags/tag9.xml"/><Relationship Id="rId4" Type="http://schemas.openxmlformats.org/officeDocument/2006/relationships/image" Target="../media/image27.png"/><Relationship Id="rId3" Type="http://schemas.openxmlformats.org/officeDocument/2006/relationships/tags" Target="../tags/tag8.xml"/><Relationship Id="rId2" Type="http://schemas.openxmlformats.org/officeDocument/2006/relationships/image" Target="../media/image26.png"/><Relationship Id="rId14" Type="http://schemas.openxmlformats.org/officeDocument/2006/relationships/notesSlide" Target="../notesSlides/notesSlide38.xml"/><Relationship Id="rId13" Type="http://schemas.openxmlformats.org/officeDocument/2006/relationships/slideLayout" Target="../slideLayouts/slideLayout2.xml"/><Relationship Id="rId12" Type="http://schemas.openxmlformats.org/officeDocument/2006/relationships/image" Target="../media/image19.png"/><Relationship Id="rId11" Type="http://schemas.openxmlformats.org/officeDocument/2006/relationships/image" Target="../media/image31.png"/><Relationship Id="rId10" Type="http://schemas.openxmlformats.org/officeDocument/2006/relationships/image" Target="../media/image30.png"/><Relationship Id="rId1" Type="http://schemas.openxmlformats.org/officeDocument/2006/relationships/tags" Target="../tags/tag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4.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1" Type="http://schemas.openxmlformats.org/officeDocument/2006/relationships/notesSlide" Target="../notesSlides/notesSlide41.xml"/><Relationship Id="rId10" Type="http://schemas.openxmlformats.org/officeDocument/2006/relationships/slideLayout" Target="../slideLayouts/slideLayout2.xml"/><Relationship Id="rId1" Type="http://schemas.openxmlformats.org/officeDocument/2006/relationships/image" Target="../media/image3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707454" y="2843475"/>
            <a:ext cx="8553364" cy="1282576"/>
          </a:xfrm>
          <a:prstGeom prst="rect">
            <a:avLst/>
          </a:prstGeom>
        </p:spPr>
        <p:txBody>
          <a:bodyPr vert="horz" lIns="91440" tIns="45720" rIns="91440" bIns="45720" rtlCol="0" anchor="b">
            <a:normAutofit fontScale="8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a:ln w="22225">
                  <a:solidFill>
                    <a:schemeClr val="accent2"/>
                  </a:solidFill>
                  <a:prstDash val="solid"/>
                </a:ln>
                <a:solidFill>
                  <a:schemeClr val="accent2">
                    <a:lumMod val="40000"/>
                    <a:lumOff val="60000"/>
                  </a:schemeClr>
                </a:solidFill>
              </a:rPr>
              <a:t>第三章  概率推理与贝叶斯网络</a:t>
            </a:r>
            <a:endParaRPr lang="zh-CN" altLang="en-US" sz="5300" b="1" dirty="0">
              <a:ln w="22225">
                <a:solidFill>
                  <a:schemeClr val="accent2"/>
                </a:solidFill>
                <a:prstDash val="solid"/>
              </a:ln>
              <a:solidFill>
                <a:schemeClr val="accent2">
                  <a:lumMod val="40000"/>
                  <a:lumOff val="60000"/>
                </a:schemeClr>
              </a:solidFill>
            </a:endParaRPr>
          </a:p>
        </p:txBody>
      </p:sp>
      <p:sp>
        <p:nvSpPr>
          <p:cNvPr id="8" name="Rectangle 4"/>
          <p:cNvSpPr>
            <a:spLocks noGrp="1" noChangeArrowheads="1"/>
          </p:cNvSpPr>
          <p:nvPr>
            <p:ph type="ctrTitle"/>
          </p:nvPr>
        </p:nvSpPr>
        <p:spPr>
          <a:xfrm>
            <a:off x="498235" y="791671"/>
            <a:ext cx="5410200" cy="589165"/>
          </a:xfrm>
        </p:spPr>
        <p:txBody>
          <a:bodyPr>
            <a:normAutofit/>
          </a:bodyPr>
          <a:lstStyle/>
          <a:p>
            <a:pPr algn="l"/>
            <a:r>
              <a:rPr lang="zh-CN" altLang="en-US" sz="3000" dirty="0">
                <a:ea typeface="宋体" panose="02010600030101010101" pitchFamily="2" charset="-122"/>
              </a:rPr>
              <a:t>课程</a:t>
            </a:r>
            <a:r>
              <a:rPr lang="en-US" altLang="zh-CN" sz="3000" dirty="0">
                <a:ea typeface="宋体" panose="02010600030101010101" pitchFamily="2" charset="-122"/>
              </a:rPr>
              <a:t>《</a:t>
            </a:r>
            <a:r>
              <a:rPr lang="zh-CN" altLang="en-US" sz="3200" dirty="0">
                <a:latin typeface="宋体" panose="02010600030101010101" pitchFamily="2" charset="-122"/>
                <a:ea typeface="宋体" panose="02010600030101010101" pitchFamily="2" charset="-122"/>
                <a:cs typeface="Times New Roman" panose="02020603050405020304" pitchFamily="18" charset="0"/>
              </a:rPr>
              <a:t>人工智能原理与技术</a:t>
            </a:r>
            <a:r>
              <a:rPr lang="en-US" altLang="zh-CN" sz="3000" i="0" dirty="0">
                <a:ea typeface="宋体" panose="02010600030101010101" pitchFamily="2" charset="-122"/>
              </a:rPr>
              <a:t>》</a:t>
            </a:r>
            <a:endParaRPr lang="en-US" altLang="zh-CN" sz="3000" i="0" dirty="0">
              <a:ea typeface="宋体" panose="02010600030101010101" pitchFamily="2" charset="-122"/>
            </a:endParaRPr>
          </a:p>
        </p:txBody>
      </p:sp>
      <p:pic>
        <p:nvPicPr>
          <p:cNvPr id="10" name="图片 2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394367" y="2038049"/>
            <a:ext cx="2855980" cy="1052720"/>
            <a:chOff x="422953" y="1892526"/>
            <a:chExt cx="2855980" cy="1052720"/>
          </a:xfrm>
        </p:grpSpPr>
        <p:sp>
          <p:nvSpPr>
            <p:cNvPr id="24" name="文本框 23"/>
            <p:cNvSpPr txBox="1"/>
            <p:nvPr/>
          </p:nvSpPr>
          <p:spPr>
            <a:xfrm>
              <a:off x="750437" y="2114249"/>
              <a:ext cx="2339102" cy="830997"/>
            </a:xfrm>
            <a:prstGeom prst="rect">
              <a:avLst/>
            </a:prstGeom>
            <a:noFill/>
          </p:spPr>
          <p:txBody>
            <a:bodyPr wrap="none" rtlCol="0">
              <a:spAutoFit/>
            </a:bodyPr>
            <a:lstStyle/>
            <a:p>
              <a:pPr>
                <a:lnSpc>
                  <a:spcPct val="200000"/>
                </a:lnSpc>
              </a:pPr>
              <a:r>
                <a:rPr lang="zh-CN" altLang="en-US" sz="2400" b="1" dirty="0">
                  <a:solidFill>
                    <a:srgbClr val="FF0000"/>
                  </a:solidFill>
                </a:rPr>
                <a:t>概率推理知识点</a:t>
              </a:r>
              <a:endParaRPr lang="en-US" altLang="zh-CN" sz="2400" b="1" dirty="0">
                <a:solidFill>
                  <a:srgbClr val="FF0000"/>
                </a:solidFill>
              </a:endParaRPr>
            </a:p>
          </p:txBody>
        </p:sp>
        <p:sp>
          <p:nvSpPr>
            <p:cNvPr id="25" name="文本框 24"/>
            <p:cNvSpPr txBox="1"/>
            <p:nvPr/>
          </p:nvSpPr>
          <p:spPr>
            <a:xfrm>
              <a:off x="422953" y="1892526"/>
              <a:ext cx="2855980" cy="461665"/>
            </a:xfrm>
            <a:prstGeom prst="rect">
              <a:avLst/>
            </a:prstGeom>
            <a:noFill/>
          </p:spPr>
          <p:txBody>
            <a:bodyPr wrap="square" rtlCol="0">
              <a:spAutoFit/>
            </a:bodyPr>
            <a:lstStyle/>
            <a:p>
              <a:endParaRPr lang="en-US" altLang="zh-CN" sz="2400" dirty="0">
                <a:solidFill>
                  <a:srgbClr val="FF0000"/>
                </a:solidFill>
                <a:latin typeface="微软雅黑" panose="020B0503020204020204" pitchFamily="34" charset="-122"/>
              </a:endParaRPr>
            </a:p>
          </p:txBody>
        </p:sp>
      </p:grpSp>
      <p:sp>
        <p:nvSpPr>
          <p:cNvPr id="28" name="文本框 27"/>
          <p:cNvSpPr txBox="1"/>
          <p:nvPr/>
        </p:nvSpPr>
        <p:spPr>
          <a:xfrm>
            <a:off x="8502923" y="4920321"/>
            <a:ext cx="2954655" cy="461665"/>
          </a:xfrm>
          <a:prstGeom prst="rect">
            <a:avLst/>
          </a:prstGeom>
          <a:noFill/>
        </p:spPr>
        <p:txBody>
          <a:bodyPr wrap="none" rtlCol="0">
            <a:spAutoFit/>
          </a:bodyPr>
          <a:lstStyle/>
          <a:p>
            <a:r>
              <a:rPr lang="zh-CN" altLang="en-US" sz="2400" b="1" dirty="0">
                <a:solidFill>
                  <a:srgbClr val="24569D"/>
                </a:solidFill>
              </a:rPr>
              <a:t>贝叶斯网络推理案例</a:t>
            </a:r>
            <a:endParaRPr lang="zh-CN" altLang="en-US" sz="2400" b="1" dirty="0">
              <a:solidFill>
                <a:srgbClr val="24569D"/>
              </a:solidFill>
            </a:endParaRPr>
          </a:p>
        </p:txBody>
      </p:sp>
      <p:sp>
        <p:nvSpPr>
          <p:cNvPr id="2" name="矩形 1"/>
          <p:cNvSpPr/>
          <p:nvPr/>
        </p:nvSpPr>
        <p:spPr>
          <a:xfrm>
            <a:off x="745606" y="902626"/>
            <a:ext cx="902811" cy="523220"/>
          </a:xfrm>
          <a:prstGeom prst="rect">
            <a:avLst/>
          </a:prstGeom>
        </p:spPr>
        <p:txBody>
          <a:bodyPr wrap="none">
            <a:spAutoFit/>
          </a:bodyPr>
          <a:lstStyle/>
          <a:p>
            <a:r>
              <a:rPr lang="zh-CN" altLang="en-US" sz="2800" dirty="0"/>
              <a:t>目录</a:t>
            </a:r>
            <a:endParaRPr lang="zh-CN" altLang="en-US" sz="2800" dirty="0"/>
          </a:p>
        </p:txBody>
      </p:sp>
      <p:sp>
        <p:nvSpPr>
          <p:cNvPr id="30" name="文本框 29"/>
          <p:cNvSpPr txBox="1"/>
          <p:nvPr/>
        </p:nvSpPr>
        <p:spPr>
          <a:xfrm>
            <a:off x="8441833" y="2411796"/>
            <a:ext cx="2646878" cy="461665"/>
          </a:xfrm>
          <a:prstGeom prst="rect">
            <a:avLst/>
          </a:prstGeom>
          <a:noFill/>
        </p:spPr>
        <p:txBody>
          <a:bodyPr wrap="none" rtlCol="0">
            <a:spAutoFit/>
          </a:bodyPr>
          <a:lstStyle/>
          <a:p>
            <a:r>
              <a:rPr lang="zh-CN" altLang="en-US" sz="2400" b="1" dirty="0">
                <a:solidFill>
                  <a:srgbClr val="24569D"/>
                </a:solidFill>
              </a:rPr>
              <a:t>贝叶斯规则及应用</a:t>
            </a:r>
            <a:endParaRPr lang="zh-CN" altLang="en-US" sz="2400" b="1" dirty="0">
              <a:solidFill>
                <a:srgbClr val="24569D"/>
              </a:solidFill>
            </a:endParaRPr>
          </a:p>
        </p:txBody>
      </p:sp>
      <p:sp>
        <p:nvSpPr>
          <p:cNvPr id="29" name="矩形 28"/>
          <p:cNvSpPr/>
          <p:nvPr/>
        </p:nvSpPr>
        <p:spPr>
          <a:xfrm>
            <a:off x="1648515" y="4869981"/>
            <a:ext cx="2339102" cy="461665"/>
          </a:xfrm>
          <a:prstGeom prst="rect">
            <a:avLst/>
          </a:prstGeom>
        </p:spPr>
        <p:txBody>
          <a:bodyPr wrap="none">
            <a:spAutoFit/>
          </a:bodyPr>
          <a:lstStyle/>
          <a:p>
            <a:pPr lvl="0"/>
            <a:r>
              <a:rPr lang="zh-CN" altLang="en-US" sz="2400" b="1" dirty="0">
                <a:solidFill>
                  <a:srgbClr val="24569D"/>
                </a:solidFill>
              </a:rPr>
              <a:t>贝叶斯网络推理</a:t>
            </a:r>
            <a:endParaRPr lang="zh-CN" altLang="en-US" sz="2400" b="1" dirty="0">
              <a:solidFill>
                <a:srgbClr val="24569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200926" y="847710"/>
            <a:ext cx="7532876"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166320" y="670081"/>
            <a:ext cx="818922" cy="818922"/>
            <a:chOff x="4082479" y="2760704"/>
            <a:chExt cx="1485324" cy="1485324"/>
          </a:xfrm>
        </p:grpSpPr>
        <p:sp>
          <p:nvSpPr>
            <p:cNvPr id="21" name="立方体 20"/>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2" name="组合 21"/>
            <p:cNvGrpSpPr/>
            <p:nvPr/>
          </p:nvGrpSpPr>
          <p:grpSpPr>
            <a:xfrm>
              <a:off x="4494284" y="2979307"/>
              <a:ext cx="607190" cy="1121821"/>
              <a:chOff x="9632752" y="7542709"/>
              <a:chExt cx="890113" cy="1644542"/>
            </a:xfrm>
          </p:grpSpPr>
          <p:sp>
            <p:nvSpPr>
              <p:cNvPr id="23" name="任意多边形 30"/>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5" name="任意多边形 28"/>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sp>
        <p:nvSpPr>
          <p:cNvPr id="2" name="矩形 1"/>
          <p:cNvSpPr/>
          <p:nvPr/>
        </p:nvSpPr>
        <p:spPr>
          <a:xfrm>
            <a:off x="1777365" y="810260"/>
            <a:ext cx="7271385" cy="598805"/>
          </a:xfrm>
          <a:prstGeom prst="rect">
            <a:avLst/>
          </a:prstGeom>
        </p:spPr>
        <p:txBody>
          <a:bodyPr wrap="square">
            <a:spAutoFit/>
          </a:bodyPr>
          <a:lstStyle/>
          <a:p>
            <a:pPr algn="ctr">
              <a:lnSpc>
                <a:spcPct val="150000"/>
              </a:lnSpc>
            </a:pPr>
            <a:r>
              <a:rPr lang="zh-CN" altLang="en-US" sz="2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为什么要进行不确定性推理？</a:t>
            </a:r>
            <a:r>
              <a:rPr lang="en-US" altLang="zh-CN" sz="2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刻画信息的不确定性</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Rectangle 3"/>
          <p:cNvSpPr txBox="1">
            <a:spLocks noChangeArrowheads="1"/>
          </p:cNvSpPr>
          <p:nvPr/>
        </p:nvSpPr>
        <p:spPr>
          <a:xfrm>
            <a:off x="890338" y="1731315"/>
            <a:ext cx="10231654" cy="49291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试图使用逻辑会失败，有以下三个原因: </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200000"/>
              </a:lnSpc>
            </a:pPr>
            <a:r>
              <a:rPr lang="zh-CN" altLang="en-US" sz="2000" dirty="0">
                <a:solidFill>
                  <a:schemeClr val="accent2"/>
                </a:solidFill>
                <a:latin typeface="微软雅黑" panose="020B0503020204020204" pitchFamily="34" charset="-122"/>
                <a:ea typeface="微软雅黑" panose="020B0503020204020204" pitchFamily="34" charset="-122"/>
              </a:rPr>
              <a:t>惰性</a:t>
            </a:r>
            <a:r>
              <a:rPr lang="en-US" altLang="zh-CN" sz="2000" dirty="0">
                <a:latin typeface="微软雅黑" panose="020B0503020204020204" pitchFamily="34" charset="-122"/>
                <a:ea typeface="微软雅黑" panose="020B0503020204020204" pitchFamily="34" charset="-122"/>
              </a:rPr>
              <a:t>: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无法列举出前提和结论的完整集合.</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200000"/>
              </a:lnSpc>
            </a:pPr>
            <a:r>
              <a:rPr lang="zh-CN" altLang="en-US" sz="2000" dirty="0">
                <a:solidFill>
                  <a:schemeClr val="accent2"/>
                </a:solidFill>
                <a:latin typeface="微软雅黑" panose="020B0503020204020204" pitchFamily="34" charset="-122"/>
                <a:ea typeface="微软雅黑" panose="020B0503020204020204" pitchFamily="34" charset="-122"/>
              </a:rPr>
              <a:t>无知</a:t>
            </a:r>
            <a:r>
              <a:rPr lang="en-US" altLang="zh-CN" sz="2000" dirty="0">
                <a:latin typeface="微软雅黑" panose="020B0503020204020204" pitchFamily="34" charset="-122"/>
                <a:ea typeface="微软雅黑" panose="020B0503020204020204" pitchFamily="34" charset="-122"/>
              </a:rPr>
              <a:t>: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缺乏相关事实、初始条件, etc.</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2">
              <a:lnSpc>
                <a:spcPct val="200000"/>
              </a:lnSpc>
            </a:pPr>
            <a:r>
              <a:rPr lang="zh-CN" altLang="en-US" sz="2000" dirty="0">
                <a:solidFill>
                  <a:srgbClr val="FF0000"/>
                </a:solidFill>
                <a:latin typeface="微软雅黑" panose="020B0503020204020204" pitchFamily="34" charset="-122"/>
                <a:ea typeface="微软雅黑" panose="020B0503020204020204" pitchFamily="34" charset="-122"/>
              </a:rPr>
              <a:t>理论的无知</a:t>
            </a:r>
            <a:r>
              <a:rPr lang="en-US" altLang="zh-CN" sz="2000" dirty="0">
                <a:solidFill>
                  <a:schemeClr val="accent2"/>
                </a:solidFill>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对于该领域，缺少完整的理论</a:t>
            </a:r>
            <a:r>
              <a:rPr lang="en-US" altLang="zh-CN" sz="2000" dirty="0">
                <a:solidFill>
                  <a:schemeClr val="accent2"/>
                </a:solidFill>
                <a:latin typeface="微软雅黑" panose="020B0503020204020204" pitchFamily="34" charset="-122"/>
                <a:ea typeface="微软雅黑" panose="020B0503020204020204" pitchFamily="34" charset="-122"/>
              </a:rPr>
              <a:t>.</a:t>
            </a:r>
            <a:endParaRPr lang="en-US" altLang="zh-CN" sz="2000" dirty="0">
              <a:solidFill>
                <a:schemeClr val="accent2"/>
              </a:solidFill>
              <a:latin typeface="微软雅黑" panose="020B0503020204020204" pitchFamily="34" charset="-122"/>
              <a:ea typeface="微软雅黑" panose="020B0503020204020204" pitchFamily="34" charset="-122"/>
            </a:endParaRPr>
          </a:p>
          <a:p>
            <a:pPr lvl="2">
              <a:lnSpc>
                <a:spcPct val="200000"/>
              </a:lnSpc>
            </a:pPr>
            <a:r>
              <a:rPr lang="zh-CN" altLang="en-US" sz="2000" dirty="0">
                <a:solidFill>
                  <a:srgbClr val="FF0000"/>
                </a:solidFill>
                <a:latin typeface="微软雅黑" panose="020B0503020204020204" pitchFamily="34" charset="-122"/>
                <a:ea typeface="微软雅黑" panose="020B0503020204020204" pitchFamily="34" charset="-122"/>
              </a:rPr>
              <a:t>实践的无知</a:t>
            </a:r>
            <a:r>
              <a:rPr lang="en-US" altLang="zh-CN" sz="2000" dirty="0">
                <a:solidFill>
                  <a:schemeClr val="accent2"/>
                </a:solidFill>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即使我们知道所有的规则</a:t>
            </a:r>
            <a:r>
              <a:rPr lang="en-US" altLang="zh-CN" sz="2000" dirty="0">
                <a:solidFill>
                  <a:schemeClr val="accent2"/>
                </a:solidFill>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对于一个特定的对象（病人）我们也无法确定。</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200000"/>
              </a:lnSpc>
            </a:pPr>
            <a:r>
              <a:rPr lang="zh-CN" altLang="en-US" sz="2000" dirty="0">
                <a:solidFill>
                  <a:schemeClr val="accent2"/>
                </a:solidFill>
                <a:latin typeface="微软雅黑" panose="020B0503020204020204" pitchFamily="34" charset="-122"/>
                <a:ea typeface="微软雅黑" panose="020B0503020204020204" pitchFamily="34" charset="-122"/>
              </a:rPr>
              <a:t>不完备性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逻辑系统本身的表达能力不足，无法解决特定问题</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200000"/>
              </a:lnSpc>
            </a:pP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479" y="56666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处理不确定性的方法</a:t>
              </a:r>
              <a:endParaRPr lang="en-US" altLang="zh-CN" sz="2400" dirty="0">
                <a:latin typeface="微软雅黑" panose="020B0503020204020204" pitchFamily="34" charset="-122"/>
                <a:ea typeface="微软雅黑" panose="020B0503020204020204" pitchFamily="34" charset="-122"/>
              </a:endParaRPr>
            </a:p>
          </p:txBody>
        </p:sp>
      </p:grpSp>
      <p:sp>
        <p:nvSpPr>
          <p:cNvPr id="2" name="矩形 1"/>
          <p:cNvSpPr/>
          <p:nvPr/>
        </p:nvSpPr>
        <p:spPr>
          <a:xfrm>
            <a:off x="1133241" y="1729194"/>
            <a:ext cx="10374630" cy="1614805"/>
          </a:xfrm>
          <a:prstGeom prst="rect">
            <a:avLst/>
          </a:prstGeom>
        </p:spPr>
        <p:txBody>
          <a:bodyPr wrap="none">
            <a:spAutoFit/>
          </a:bodyPr>
          <a:lstStyle/>
          <a:p>
            <a:pPr marL="285750" indent="-285750">
              <a:lnSpc>
                <a:spcPct val="150000"/>
              </a:lnSpc>
              <a:spcAft>
                <a:spcPts val="0"/>
              </a:spcAft>
              <a:buFont typeface="Wingdings" panose="05000000000000000000" pitchFamily="2" charset="2"/>
              <a:buChar char="l"/>
            </a:pPr>
            <a:r>
              <a:rPr lang="zh-CN"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概率推理</a:t>
            </a: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基于概率图进行的推理</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概率推理反映了推理过程中存在的不确定性特点。</a:t>
            </a:r>
            <a:endPar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Aft>
                <a:spcPts val="0"/>
              </a:spcAft>
            </a:pPr>
            <a:endPar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概率图模型一般分为</a:t>
            </a:r>
            <a:r>
              <a:rPr lang="zh-CN" altLang="zh-CN"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贝叶斯网络（</a:t>
            </a:r>
            <a:r>
              <a:rPr lang="en-US" altLang="zh-CN"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Bayesian Network</a:t>
            </a:r>
            <a:r>
              <a:rPr lang="zh-CN" altLang="zh-CN"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和马尔可夫网络（</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Markov Network</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）两大类。</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p>
        </p:txBody>
      </p:sp>
      <p:sp>
        <p:nvSpPr>
          <p:cNvPr id="8" name="矩形 7"/>
          <p:cNvSpPr/>
          <p:nvPr/>
        </p:nvSpPr>
        <p:spPr>
          <a:xfrm>
            <a:off x="1100502" y="3518373"/>
            <a:ext cx="10984230" cy="1753235"/>
          </a:xfrm>
          <a:prstGeom prst="rect">
            <a:avLst/>
          </a:prstGeom>
        </p:spPr>
        <p:txBody>
          <a:bodyPr wrap="none">
            <a:spAutoFit/>
          </a:bodyPr>
          <a:lstStyle/>
          <a:p>
            <a:pPr marL="285750" indent="-285750">
              <a:lnSpc>
                <a:spcPct val="150000"/>
              </a:lnSpc>
              <a:buFont typeface="Wingdings" panose="05000000000000000000" pitchFamily="2" charset="2"/>
              <a:buChar char="l"/>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因果推理：</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基于因果图进行的推理</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因果图是一种有向无环图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(directed acyclic graphs, DAG)</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有向无环图指的是一个无回路的有向图，即从图中任意一个节点出发经过任意条边，均无法回到该节点。</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有向无环图刻画了图中所有节点之间的依赖关系。</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DAG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可用于描述数据的生成机制。</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这样描述变量联合分布或者数据生成机制的模型，被称为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贝叶斯网络</a:t>
            </a:r>
            <a:r>
              <a:rPr lang="en-US" altLang="zh-CN"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Bayesian network</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3391544" y="5803005"/>
            <a:ext cx="4224233" cy="458715"/>
          </a:xfrm>
          <a:prstGeom prst="rect">
            <a:avLst/>
          </a:prstGeom>
        </p:spPr>
        <p:txBody>
          <a:bodyPr wrap="none">
            <a:spAutoFit/>
          </a:bodyPr>
          <a:lstStyle/>
          <a:p>
            <a:pPr marL="342900" indent="-342900">
              <a:lnSpc>
                <a:spcPct val="150000"/>
              </a:lnSpc>
              <a:buClr>
                <a:schemeClr val="bg1"/>
              </a:buClr>
              <a:buSzPct val="80000"/>
              <a:buFont typeface="+mj-lt"/>
              <a:buAutoNum type="arabicPeriod"/>
            </a:pP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我们重点</a:t>
            </a:r>
            <a:r>
              <a:rPr lang="zh-CN"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介绍</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基于贝叶斯网络的推理</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479" y="56666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
        <p:nvSpPr>
          <p:cNvPr id="9" name="Rectangle 3"/>
          <p:cNvSpPr txBox="1">
            <a:spLocks noChangeArrowheads="1"/>
          </p:cNvSpPr>
          <p:nvPr/>
        </p:nvSpPr>
        <p:spPr>
          <a:xfrm>
            <a:off x="1072515" y="1687195"/>
            <a:ext cx="9271635" cy="1741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不确定环境下，智能体的知识提供相关语句的</a:t>
            </a:r>
            <a:r>
              <a:rPr lang="zh-CN" altLang="en-US" sz="2000" dirty="0">
                <a:solidFill>
                  <a:srgbClr val="FF0000"/>
                </a:solidFill>
                <a:latin typeface="微软雅黑" panose="020B0503020204020204" pitchFamily="34" charset="-122"/>
                <a:ea typeface="微软雅黑" panose="020B0503020204020204" pitchFamily="34" charset="-122"/>
              </a:rPr>
              <a:t>信念度</a:t>
            </a:r>
            <a:r>
              <a:rPr lang="en-US" altLang="zh-CN" sz="2000" dirty="0">
                <a:latin typeface="微软雅黑" panose="020B0503020204020204" pitchFamily="34" charset="-122"/>
                <a:ea typeface="微软雅黑" panose="020B0503020204020204" pitchFamily="34" charset="-122"/>
              </a:rPr>
              <a:t>( </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degree of belief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，处理信念度的主要工具是</a:t>
            </a:r>
            <a:r>
              <a:rPr lang="zh-CN" altLang="en-US" sz="2000" dirty="0">
                <a:solidFill>
                  <a:srgbClr val="FF0000"/>
                </a:solidFill>
                <a:latin typeface="微软雅黑" panose="020B0503020204020204" pitchFamily="34" charset="-122"/>
                <a:ea typeface="微软雅黑" panose="020B0503020204020204" pitchFamily="34" charset="-122"/>
              </a:rPr>
              <a:t>概率理论</a:t>
            </a:r>
            <a:r>
              <a:rPr lang="en-US" altLang="zh-CN" sz="2000" dirty="0">
                <a:latin typeface="微软雅黑" panose="020B0503020204020204" pitchFamily="34" charset="-122"/>
                <a:ea typeface="微软雅黑" panose="020B0503020204020204" pitchFamily="34" charset="-122"/>
              </a:rPr>
              <a:t>( </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probability theory </a:t>
            </a:r>
            <a:r>
              <a:rPr lang="en-US" altLang="zh-CN" sz="2000" dirty="0">
                <a:latin typeface="微软雅黑" panose="020B0503020204020204" pitchFamily="34" charset="-122"/>
                <a:ea typeface="微软雅黑" panose="020B0503020204020204" pitchFamily="34" charset="-122"/>
              </a:rPr>
              <a:t>)</a:t>
            </a:r>
            <a:r>
              <a:rPr lang="zh-CN" altLang="en-US" sz="2000" i="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概率提供了一种方法</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以</a:t>
            </a:r>
            <a:r>
              <a:rPr lang="zh-CN" altLang="en-US" sz="2000" dirty="0">
                <a:latin typeface="微软雅黑" panose="020B0503020204020204" pitchFamily="34" charset="-122"/>
                <a:ea typeface="微软雅黑" panose="020B0503020204020204" pitchFamily="34" charset="-122"/>
              </a:rPr>
              <a:t>概括由我们的惰性和无知产生的不确定性</a:t>
            </a:r>
            <a:endParaRPr lang="en-US" altLang="zh-CN" sz="2000" dirty="0">
              <a:latin typeface="微软雅黑" panose="020B0503020204020204" pitchFamily="34" charset="-122"/>
              <a:ea typeface="微软雅黑" panose="020B0503020204020204" pitchFamily="34" charset="-122"/>
            </a:endParaRPr>
          </a:p>
        </p:txBody>
      </p:sp>
      <p:sp>
        <p:nvSpPr>
          <p:cNvPr id="11" name="Rectangle 3"/>
          <p:cNvSpPr txBox="1">
            <a:spLocks noChangeArrowheads="1"/>
          </p:cNvSpPr>
          <p:nvPr/>
        </p:nvSpPr>
        <p:spPr>
          <a:xfrm>
            <a:off x="1169670" y="4075430"/>
            <a:ext cx="9496425" cy="14243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概率理论相关概念：随机变量、事件；概率公理；无条件概率（先验概率）、条件概率（后验概率）；完全联合概率分布；</a:t>
            </a:r>
            <a:r>
              <a:rPr lang="zh-CN" altLang="en-US" sz="2000" dirty="0">
                <a:solidFill>
                  <a:srgbClr val="FF0000"/>
                </a:solidFill>
                <a:latin typeface="微软雅黑" panose="020B0503020204020204" pitchFamily="34" charset="-122"/>
                <a:ea typeface="微软雅黑" panose="020B0503020204020204" pitchFamily="34" charset="-122"/>
              </a:rPr>
              <a:t>乘法法则、链式法则</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479" y="56666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
        <p:nvSpPr>
          <p:cNvPr id="9" name="Rectangle 3"/>
          <p:cNvSpPr txBox="1">
            <a:spLocks noChangeArrowheads="1"/>
          </p:cNvSpPr>
          <p:nvPr/>
        </p:nvSpPr>
        <p:spPr>
          <a:xfrm>
            <a:off x="1089660" y="1744980"/>
            <a:ext cx="10136505" cy="36017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Aft>
                <a:spcPts val="1200"/>
              </a:spcAft>
              <a:buFont typeface="Wingdings" panose="05000000000000000000" pitchFamily="2" charset="2"/>
              <a:buChar char="l"/>
            </a:pPr>
            <a:r>
              <a:rPr lang="zh-CN"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随机变量：</a:t>
            </a:r>
            <a:r>
              <a:rPr lang="zh-CN" altLang="en-US" sz="2000" dirty="0">
                <a:solidFill>
                  <a:srgbClr val="FF0000"/>
                </a:solidFill>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表示可能世界中的不确定性。随机变量以大写字母开头。</a:t>
            </a:r>
            <a:endParaRPr lang="en-US" altLang="zh-CN" sz="2000" dirty="0">
              <a:latin typeface="微软雅黑" panose="020B0503020204020204" pitchFamily="34" charset="-122"/>
              <a:ea typeface="微软雅黑" panose="020B0503020204020204" pitchFamily="34" charset="-122"/>
            </a:endParaRPr>
          </a:p>
          <a:p>
            <a:pPr>
              <a:lnSpc>
                <a:spcPct val="80000"/>
              </a:lnSpc>
              <a:defRPr/>
            </a:pPr>
            <a:r>
              <a:rPr lang="zh-CN" altLang="en-US" sz="2000" dirty="0">
                <a:solidFill>
                  <a:srgbClr val="00B0F0"/>
                </a:solidFill>
                <a:latin typeface="微软雅黑" panose="020B0503020204020204" pitchFamily="34" charset="-122"/>
                <a:ea typeface="微软雅黑" panose="020B0503020204020204" pitchFamily="34" charset="-122"/>
              </a:rPr>
              <a:t>基本命题</a:t>
            </a:r>
            <a:r>
              <a:rPr lang="zh-CN" altLang="en-US" sz="2000" dirty="0">
                <a:latin typeface="微软雅黑" panose="020B0503020204020204" pitchFamily="34" charset="-122"/>
                <a:ea typeface="微软雅黑" panose="020B0503020204020204" pitchFamily="34" charset="-122"/>
              </a:rPr>
              <a:t>通过单个随机变量的赋值进行构造 </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lvl="1">
              <a:lnSpc>
                <a:spcPct val="150000"/>
              </a:lnSpc>
              <a:defRP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e.g., </a:t>
            </a: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Cavity </a:t>
            </a:r>
            <a:r>
              <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false </a:t>
            </a:r>
            <a:r>
              <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(abbreviated as </a:t>
            </a:r>
            <a:r>
              <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defRPr/>
            </a:pP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Weather =</a:t>
            </a:r>
            <a:r>
              <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sunny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(abbreviated as </a:t>
            </a: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sunny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lvl="4">
              <a:lnSpc>
                <a:spcPct val="80000"/>
              </a:lnSpc>
              <a:buNone/>
              <a:defRPr/>
            </a:pPr>
            <a:endParaRPr lang="en-US" altLang="zh-CN" sz="2000" dirty="0">
              <a:latin typeface="微软雅黑" panose="020B0503020204020204" pitchFamily="34" charset="-122"/>
              <a:ea typeface="微软雅黑" panose="020B0503020204020204" pitchFamily="34" charset="-122"/>
            </a:endParaRPr>
          </a:p>
          <a:p>
            <a:pPr>
              <a:lnSpc>
                <a:spcPct val="80000"/>
              </a:lnSpc>
              <a:defRPr/>
            </a:pPr>
            <a:r>
              <a:rPr lang="zh-CN" altLang="en-US" sz="2000" dirty="0">
                <a:solidFill>
                  <a:srgbClr val="00B0F0"/>
                </a:solidFill>
                <a:latin typeface="微软雅黑" panose="020B0503020204020204" pitchFamily="34" charset="-122"/>
                <a:ea typeface="微软雅黑" panose="020B0503020204020204" pitchFamily="34" charset="-122"/>
              </a:rPr>
              <a:t>复合命题</a:t>
            </a:r>
            <a:r>
              <a:rPr lang="zh-CN" altLang="en-US" sz="2000" dirty="0">
                <a:latin typeface="微软雅黑" panose="020B0503020204020204" pitchFamily="34" charset="-122"/>
                <a:ea typeface="微软雅黑" panose="020B0503020204020204" pitchFamily="34" charset="-122"/>
              </a:rPr>
              <a:t>由基本命题的逻辑连接构造</a:t>
            </a:r>
            <a:endParaRPr lang="en-US" altLang="zh-CN" sz="2000" dirty="0">
              <a:latin typeface="微软雅黑" panose="020B0503020204020204" pitchFamily="34" charset="-122"/>
              <a:ea typeface="微软雅黑" panose="020B0503020204020204" pitchFamily="34" charset="-122"/>
            </a:endParaRPr>
          </a:p>
          <a:p>
            <a:pPr lvl="1">
              <a:lnSpc>
                <a:spcPct val="150000"/>
              </a:lnSpc>
              <a:defRP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e.g., </a:t>
            </a: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Weather = sunny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Cavity </a:t>
            </a:r>
            <a:r>
              <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false</a:t>
            </a:r>
            <a:endPar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200000"/>
              </a:lnSpc>
              <a:buNone/>
            </a:pPr>
            <a:endParaRPr lang="en-US" altLang="zh-C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479" y="56666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
        <p:nvSpPr>
          <p:cNvPr id="7" name="Rectangle 2"/>
          <p:cNvSpPr txBox="1">
            <a:spLocks noChangeArrowheads="1"/>
          </p:cNvSpPr>
          <p:nvPr/>
        </p:nvSpPr>
        <p:spPr>
          <a:xfrm>
            <a:off x="1082040" y="1837055"/>
            <a:ext cx="2763520" cy="5784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l"/>
              <a:defRPr/>
            </a:pPr>
            <a:r>
              <a:rPr lang="zh-CN" altLang="zh-CN" sz="2400" b="1" dirty="0">
                <a:solidFill>
                  <a:srgbClr val="FF0000"/>
                </a:solidFill>
                <a:latin typeface="+mn-lt"/>
                <a:ea typeface="+mn-ea"/>
                <a:cs typeface="+mn-cs"/>
              </a:rPr>
              <a:t>概率分布</a:t>
            </a:r>
            <a:endParaRPr lang="zh-CN" altLang="zh-CN" sz="2400" b="1" dirty="0">
              <a:solidFill>
                <a:srgbClr val="FF0000"/>
              </a:solidFill>
              <a:latin typeface="+mn-lt"/>
              <a:ea typeface="+mn-ea"/>
              <a:cs typeface="+mn-cs"/>
            </a:endParaRPr>
          </a:p>
        </p:txBody>
      </p:sp>
      <p:sp>
        <p:nvSpPr>
          <p:cNvPr id="8" name="Rectangle 3"/>
          <p:cNvSpPr txBox="1">
            <a:spLocks noChangeArrowheads="1"/>
          </p:cNvSpPr>
          <p:nvPr/>
        </p:nvSpPr>
        <p:spPr>
          <a:xfrm>
            <a:off x="812165" y="2265680"/>
            <a:ext cx="10761345" cy="3627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50000"/>
              </a:lnSpc>
              <a:buFont typeface="Arial" panose="020B0604020202020204" pitchFamily="34" charset="0"/>
              <a:buNone/>
              <a:defRPr/>
            </a:pPr>
            <a:r>
              <a:rPr lang="zh-CN" altLang="en-US" sz="2000" dirty="0">
                <a:latin typeface="微软雅黑" panose="020B0503020204020204" pitchFamily="34" charset="-122"/>
                <a:ea typeface="微软雅黑" panose="020B0503020204020204" pitchFamily="34" charset="-122"/>
              </a:rPr>
              <a:t>考虑随机变量</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Weather</a:t>
            </a:r>
            <a:r>
              <a:rPr lang="zh-CN" altLang="en-US" sz="2000" dirty="0">
                <a:latin typeface="微软雅黑" panose="020B0503020204020204" pitchFamily="34" charset="-122"/>
                <a:ea typeface="微软雅黑" panose="020B0503020204020204" pitchFamily="34" charset="-122"/>
              </a:rPr>
              <a:t>，其定义域为</a:t>
            </a:r>
            <a:r>
              <a:rPr lang="en-US" altLang="zh-CN" sz="2000" dirty="0">
                <a:latin typeface="微软雅黑" panose="020B0503020204020204" pitchFamily="34" charset="-122"/>
                <a:ea typeface="微软雅黑" panose="020B0503020204020204" pitchFamily="34" charset="-122"/>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000"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sunny, rainy, cloudy, snow</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2000" dirty="0">
                <a:latin typeface="微软雅黑" panose="020B0503020204020204" pitchFamily="34" charset="-122"/>
                <a:ea typeface="微软雅黑" panose="020B0503020204020204" pitchFamily="34" charset="-122"/>
              </a:rPr>
              <a:t>，每个可能取值的概率，可以写成：</a:t>
            </a:r>
            <a:endParaRPr lang="en-US" altLang="zh-CN" sz="2000" dirty="0">
              <a:latin typeface="微软雅黑" panose="020B0503020204020204" pitchFamily="34" charset="-122"/>
              <a:ea typeface="微软雅黑" panose="020B0503020204020204" pitchFamily="34" charset="-122"/>
            </a:endParaRPr>
          </a:p>
          <a:p>
            <a:pPr marL="457200" lvl="1" indent="0">
              <a:lnSpc>
                <a:spcPct val="150000"/>
              </a:lnSpc>
              <a:buFont typeface="Arial" panose="020B0604020202020204" pitchFamily="34" charset="0"/>
              <a:buNone/>
              <a:defRPr/>
            </a:pPr>
            <a:r>
              <a:rPr lang="en-US" altLang="zh-CN" sz="2000" i="1" dirty="0">
                <a:latin typeface="微软雅黑" panose="020B0503020204020204" pitchFamily="34" charset="-122"/>
                <a:ea typeface="微软雅黑" panose="020B0503020204020204" pitchFamily="34" charset="-122"/>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Weather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sunny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0.6</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50000"/>
              </a:lnSpc>
              <a:buFont typeface="Arial" panose="020B0604020202020204" pitchFamily="34" charset="0"/>
              <a:buNone/>
              <a:defRPr/>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Weather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rain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0.1</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50000"/>
              </a:lnSpc>
              <a:buFont typeface="Arial" panose="020B0604020202020204" pitchFamily="34" charset="0"/>
              <a:buNone/>
              <a:defRPr/>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Weather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cloudy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0.29</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50000"/>
              </a:lnSpc>
              <a:buFont typeface="Arial" panose="020B0604020202020204" pitchFamily="34" charset="0"/>
              <a:buNone/>
              <a:defRPr/>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Weather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snow</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0.01</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479" y="56666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10" name="Rectangle 3"/>
              <p:cNvSpPr txBox="1">
                <a:spLocks noChangeArrowheads="1"/>
              </p:cNvSpPr>
              <p:nvPr/>
            </p:nvSpPr>
            <p:spPr>
              <a:xfrm>
                <a:off x="1172210" y="1524000"/>
                <a:ext cx="10396220" cy="49841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zh-CN"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先验概率</a:t>
                </a:r>
                <a:r>
                  <a:rPr lang="zh-CN" altLang="en-US" sz="2000" dirty="0">
                    <a:latin typeface="微软雅黑" panose="020B0503020204020204" pitchFamily="34" charset="-122"/>
                    <a:ea typeface="微软雅黑" panose="020B0503020204020204" pitchFamily="34" charset="-122"/>
                  </a:rPr>
                  <a:t> 或 无条件概率</a:t>
                </a:r>
                <a:endParaRPr lang="en-US" altLang="zh-CN" sz="2000" dirty="0">
                  <a:latin typeface="微软雅黑" panose="020B0503020204020204" pitchFamily="34" charset="-122"/>
                  <a:ea typeface="微软雅黑" panose="020B0503020204020204" pitchFamily="34" charset="-122"/>
                </a:endParaRPr>
              </a:p>
              <a:p>
                <a:pPr lvl="1">
                  <a:lnSpc>
                    <a:spcPct val="80000"/>
                  </a:lnSpc>
                  <a:buFontTx/>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e.g., 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true) = 0.1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80000"/>
                  </a:lnSpc>
                  <a:buFontTx/>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Weather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sunny) = 0.72</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4">
                  <a:lnSpc>
                    <a:spcPct val="80000"/>
                  </a:lnSpc>
                  <a:buFontTx/>
                  <a:buNone/>
                </a:pPr>
                <a:r>
                  <a:rPr lang="en-US" altLang="zh-CN" sz="1600" dirty="0">
                    <a:latin typeface="微软雅黑" panose="020B0503020204020204" pitchFamily="34" charset="-122"/>
                    <a:ea typeface="微软雅黑" panose="020B0503020204020204" pitchFamily="34" charset="-122"/>
                  </a:rPr>
                  <a:t>			</a:t>
                </a:r>
                <a:endParaRPr lang="en-US" altLang="zh-CN" sz="1600" dirty="0">
                  <a:latin typeface="微软雅黑" panose="020B0503020204020204" pitchFamily="34" charset="-122"/>
                  <a:ea typeface="微软雅黑" panose="020B0503020204020204" pitchFamily="34" charset="-122"/>
                </a:endParaRPr>
              </a:p>
              <a:p>
                <a:pPr>
                  <a:lnSpc>
                    <a:spcPct val="80000"/>
                  </a:lnSpc>
                </a:pPr>
                <a:r>
                  <a:rPr lang="zh-CN"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联合概率分布：</a:t>
                </a:r>
                <a:r>
                  <a:rPr lang="zh-CN" altLang="en-US" sz="2000" dirty="0">
                    <a:latin typeface="微软雅黑" panose="020B0503020204020204" pitchFamily="34" charset="-122"/>
                    <a:ea typeface="微软雅黑" panose="020B0503020204020204" pitchFamily="34" charset="-122"/>
                  </a:rPr>
                  <a:t>多个变量取值的所有组合的概率</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Weather,Cavity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rPr>
                  <a:t>是一个</a:t>
                </a:r>
                <a:r>
                  <a:rPr lang="en-US" altLang="zh-CN" sz="2000" dirty="0">
                    <a:latin typeface="微软雅黑" panose="020B0503020204020204" pitchFamily="34" charset="-122"/>
                    <a:ea typeface="微软雅黑" panose="020B0503020204020204" pitchFamily="34" charset="-122"/>
                  </a:rPr>
                  <a:t>4</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oMath>
                </a14:m>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的概率表</a:t>
                </a:r>
                <a:r>
                  <a:rPr lang="en-US" altLang="zh-CN" sz="20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80000"/>
                  </a:lnSpc>
                  <a:buFontTx/>
                  <a:buNone/>
                </a:pPr>
                <a:r>
                  <a:rPr lang="en-US" altLang="zh-CN" sz="2400" dirty="0">
                    <a:latin typeface="微软雅黑" panose="020B0503020204020204" pitchFamily="34" charset="-122"/>
                    <a:ea typeface="微软雅黑" panose="020B0503020204020204" pitchFamily="34" charset="-122"/>
                  </a:rPr>
                  <a:t>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Weather</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sunny	rainy	cloudy	 snow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80000"/>
                  </a:lnSpc>
                  <a:buFontTx/>
                  <a:buNone/>
                </a:pPr>
                <a:r>
                  <a:rPr lang="en-US" altLang="zh-CN" sz="1800" dirty="0">
                    <a:latin typeface="微软雅黑" panose="020B0503020204020204" pitchFamily="34" charset="-122"/>
                    <a:ea typeface="微软雅黑" panose="020B0503020204020204" pitchFamily="34" charset="-122"/>
                  </a:rPr>
                  <a:t>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true </a:t>
                </a:r>
                <a:r>
                  <a:rPr lang="en-US" altLang="zh-CN" sz="180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0.144	0.02 	0.016 	 0.02</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80000"/>
                  </a:lnSpc>
                  <a:buFontTx/>
                  <a:buNone/>
                </a:pPr>
                <a:r>
                  <a:rPr lang="en-US" altLang="zh-CN" sz="1800" dirty="0">
                    <a:latin typeface="微软雅黑" panose="020B0503020204020204" pitchFamily="34" charset="-122"/>
                    <a:ea typeface="微软雅黑" panose="020B0503020204020204" pitchFamily="34" charset="-122"/>
                  </a:rPr>
                  <a:t>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false	</a:t>
                </a:r>
                <a:r>
                  <a:rPr lang="en-US" altLang="zh-CN" sz="180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0.576	0.08 	0.064 	 0.08</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e.g.,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sunny,Cavity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80000"/>
                  </a:lnSpc>
                </a:pPr>
                <a:r>
                  <a:rPr lang="zh-CN"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完全联合概率分布：</a:t>
                </a:r>
                <a:endParaRPr lang="zh-CN"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8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e.g.,</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Weather,Cavity</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80000"/>
                  </a:lnSpc>
                </a:pPr>
                <a:r>
                  <a:rPr lang="zh-CN" altLang="en-US" sz="2000" dirty="0">
                    <a:latin typeface="微软雅黑" panose="020B0503020204020204" pitchFamily="34" charset="-122"/>
                    <a:ea typeface="微软雅黑" panose="020B0503020204020204" pitchFamily="34" charset="-122"/>
                  </a:rPr>
                  <a:t>一个完全联合分布基本满足计算任何命题的概率的需求</a:t>
                </a:r>
                <a:endParaRPr lang="en-US" altLang="zh-CN" sz="2000" dirty="0">
                  <a:solidFill>
                    <a:srgbClr val="FF0000"/>
                  </a:solidFill>
                  <a:latin typeface="微软雅黑" panose="020B0503020204020204" pitchFamily="34" charset="-122"/>
                  <a:ea typeface="微软雅黑" panose="020B0503020204020204" pitchFamily="34" charset="-122"/>
                </a:endParaRPr>
              </a:p>
            </p:txBody>
          </p:sp>
        </mc:Choice>
        <mc:Fallback>
          <p:sp>
            <p:nvSpPr>
              <p:cNvPr id="10" name="Rectangle 3"/>
              <p:cNvSpPr txBox="1">
                <a:spLocks noRot="1" noChangeAspect="1" noMove="1" noResize="1" noEditPoints="1" noAdjustHandles="1" noChangeArrowheads="1" noChangeShapeType="1" noTextEdit="1"/>
              </p:cNvSpPr>
              <p:nvPr/>
            </p:nvSpPr>
            <p:spPr>
              <a:xfrm>
                <a:off x="1172210" y="1524000"/>
                <a:ext cx="10396220" cy="4984115"/>
              </a:xfrm>
              <a:prstGeom prst="rect">
                <a:avLst/>
              </a:prstGeom>
              <a:blipFill rotWithShape="1">
                <a:blip r:embed="rId1"/>
                <a:stretch>
                  <a:fillRect t="-522"/>
                </a:stretch>
              </a:blipFill>
            </p:spPr>
            <p:txBody>
              <a:bodyPr/>
              <a:lstStyle/>
              <a:p>
                <a:r>
                  <a:rPr lang="zh-CN" altLang="en-US">
                    <a:noFill/>
                  </a:rPr>
                  <a:t> </a:t>
                </a:r>
              </a:p>
            </p:txBody>
          </p:sp>
        </mc:Fallback>
      </mc:AlternateContent>
      <p:sp>
        <p:nvSpPr>
          <p:cNvPr id="11" name="Line 4"/>
          <p:cNvSpPr>
            <a:spLocks noChangeShapeType="1"/>
          </p:cNvSpPr>
          <p:nvPr/>
        </p:nvSpPr>
        <p:spPr bwMode="auto">
          <a:xfrm flipV="1">
            <a:off x="1240790" y="3479800"/>
            <a:ext cx="6320155" cy="63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5"/>
          <p:cNvSpPr>
            <a:spLocks noChangeShapeType="1"/>
          </p:cNvSpPr>
          <p:nvPr/>
        </p:nvSpPr>
        <p:spPr bwMode="auto">
          <a:xfrm>
            <a:off x="3385963" y="3145565"/>
            <a:ext cx="0" cy="1066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479" y="56666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
        <p:nvSpPr>
          <p:cNvPr id="9" name="Rectangle 3"/>
          <p:cNvSpPr txBox="1">
            <a:spLocks noChangeArrowheads="1"/>
          </p:cNvSpPr>
          <p:nvPr/>
        </p:nvSpPr>
        <p:spPr>
          <a:xfrm>
            <a:off x="902100" y="1385947"/>
            <a:ext cx="11379200" cy="52058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zh-CN" altLang="en-US" sz="2000" dirty="0">
                <a:solidFill>
                  <a:srgbClr val="FF0000"/>
                </a:solidFill>
                <a:latin typeface="微软雅黑" panose="020B0503020204020204" pitchFamily="34" charset="-122"/>
                <a:ea typeface="微软雅黑" panose="020B0503020204020204" pitchFamily="34" charset="-122"/>
              </a:rPr>
              <a:t>条件概率</a:t>
            </a:r>
            <a:r>
              <a:rPr lang="zh-CN" altLang="en-US" sz="2000" dirty="0">
                <a:latin typeface="微软雅黑" panose="020B0503020204020204" pitchFamily="34" charset="-122"/>
                <a:ea typeface="微软雅黑" panose="020B0503020204020204" pitchFamily="34" charset="-122"/>
              </a:rPr>
              <a:t> </a:t>
            </a:r>
            <a:r>
              <a:rPr lang="zh-CN" altLang="en-US" sz="2000" dirty="0">
                <a:solidFill>
                  <a:srgbClr val="0070C0"/>
                </a:solidFill>
                <a:latin typeface="微软雅黑" panose="020B0503020204020204" pitchFamily="34" charset="-122"/>
                <a:ea typeface="微软雅黑" panose="020B0503020204020204" pitchFamily="34" charset="-122"/>
              </a:rPr>
              <a:t>或 后验概率</a:t>
            </a:r>
            <a:endParaRPr lang="en-US" altLang="zh-CN" sz="2000" dirty="0">
              <a:solidFill>
                <a:srgbClr val="0070C0"/>
              </a:solidFill>
              <a:latin typeface="微软雅黑" panose="020B0503020204020204" pitchFamily="34" charset="-122"/>
              <a:ea typeface="微软雅黑" panose="020B0503020204020204" pitchFamily="34" charset="-122"/>
            </a:endParaRPr>
          </a:p>
          <a:p>
            <a:pPr lvl="1">
              <a:lnSpc>
                <a:spcPct val="150000"/>
              </a:lnSpc>
              <a:spcBef>
                <a:spcPts val="0"/>
              </a:spcBef>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e.g., 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0.8</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0"/>
              </a:spcBef>
            </a:pPr>
            <a:r>
              <a:rPr lang="zh-CN" altLang="en-US" sz="2000" dirty="0">
                <a:solidFill>
                  <a:srgbClr val="0070C0"/>
                </a:solidFill>
                <a:latin typeface="微软雅黑" panose="020B0503020204020204" pitchFamily="34" charset="-122"/>
                <a:ea typeface="微软雅黑" panose="020B0503020204020204" pitchFamily="34" charset="-122"/>
              </a:rPr>
              <a:t>额外条件很重要</a:t>
            </a:r>
            <a:endParaRPr lang="en-US" altLang="zh-CN" sz="2000" dirty="0">
              <a:solidFill>
                <a:srgbClr val="0070C0"/>
              </a:solidFill>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000" dirty="0">
                <a:latin typeface="微软雅黑" panose="020B0503020204020204" pitchFamily="34" charset="-122"/>
                <a:ea typeface="微软雅黑" panose="020B0503020204020204" pitchFamily="34" charset="-122"/>
              </a:rPr>
              <a:t>如果获得进一步信息，</a:t>
            </a:r>
            <a:r>
              <a:rPr lang="en-US" altLang="zh-CN" sz="2000" i="1" dirty="0">
                <a:latin typeface="微软雅黑" panose="020B0503020204020204" pitchFamily="34" charset="-122"/>
                <a:ea typeface="微软雅黑" panose="020B0503020204020204" pitchFamily="34" charset="-122"/>
              </a:rPr>
              <a:t>cavity</a:t>
            </a:r>
            <a:r>
              <a:rPr lang="zh-CN" altLang="en-US" sz="2000" dirty="0">
                <a:latin typeface="微软雅黑" panose="020B0503020204020204" pitchFamily="34" charset="-122"/>
                <a:ea typeface="微软雅黑" panose="020B0503020204020204" pitchFamily="34" charset="-122"/>
              </a:rPr>
              <a:t>为真，条件概率将更新为：</a:t>
            </a:r>
            <a:endParaRPr lang="en-US" altLang="zh-CN" sz="2000" dirty="0">
              <a:latin typeface="微软雅黑" panose="020B0503020204020204" pitchFamily="34" charset="-122"/>
              <a:ea typeface="微软雅黑" panose="020B0503020204020204" pitchFamily="34" charset="-122"/>
            </a:endParaRPr>
          </a:p>
          <a:p>
            <a:pPr lvl="1">
              <a:lnSpc>
                <a:spcPct val="150000"/>
              </a:lnSpc>
              <a:spcBef>
                <a:spcPts val="0"/>
              </a:spcBef>
              <a:buFontTx/>
              <a:buNone/>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cavity | </a:t>
            </a:r>
            <a:r>
              <a:rPr lang="en-US" altLang="zh-CN" sz="2000"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toothache,cavity</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1</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0"/>
              </a:spcBef>
            </a:pPr>
            <a:r>
              <a:rPr lang="zh-CN" altLang="en-US" sz="2000" dirty="0">
                <a:solidFill>
                  <a:srgbClr val="0070C0"/>
                </a:solidFill>
                <a:latin typeface="微软雅黑" panose="020B0503020204020204" pitchFamily="34" charset="-122"/>
                <a:ea typeface="微软雅黑" panose="020B0503020204020204" pitchFamily="34" charset="-122"/>
              </a:rPr>
              <a:t>无关的证据，可以简化</a:t>
            </a:r>
            <a:endParaRPr lang="en-US" altLang="zh-CN" sz="2000" dirty="0">
              <a:solidFill>
                <a:srgbClr val="0070C0"/>
              </a:solidFill>
              <a:latin typeface="微软雅黑" panose="020B0503020204020204" pitchFamily="34" charset="-122"/>
              <a:ea typeface="微软雅黑" panose="020B0503020204020204" pitchFamily="34" charset="-122"/>
            </a:endParaRPr>
          </a:p>
          <a:p>
            <a:pPr lvl="1">
              <a:lnSpc>
                <a:spcPct val="150000"/>
              </a:lnSpc>
              <a:spcBef>
                <a:spcPts val="0"/>
              </a:spcBef>
            </a:pP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e.g.,P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 | toothache, sunny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0.8</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0"/>
              </a:spcBef>
            </a:pPr>
            <a:r>
              <a:rPr lang="zh-CN" altLang="en-US" sz="2000" dirty="0">
                <a:solidFill>
                  <a:srgbClr val="0070C0"/>
                </a:solidFill>
                <a:latin typeface="微软雅黑" panose="020B0503020204020204" pitchFamily="34" charset="-122"/>
                <a:ea typeface="微软雅黑" panose="020B0503020204020204" pitchFamily="34" charset="-122"/>
              </a:rPr>
              <a:t>条件概率是由无条件概率定义的：</a:t>
            </a:r>
            <a:endParaRPr lang="en-US" altLang="zh-CN" sz="2000" dirty="0">
              <a:solidFill>
                <a:srgbClr val="0070C0"/>
              </a:solidFill>
              <a:latin typeface="微软雅黑" panose="020B0503020204020204" pitchFamily="34" charset="-122"/>
              <a:ea typeface="微软雅黑" panose="020B0503020204020204" pitchFamily="34" charset="-122"/>
            </a:endParaRPr>
          </a:p>
          <a:p>
            <a:pPr marL="0" indent="0">
              <a:lnSpc>
                <a:spcPct val="80000"/>
              </a:lnSpc>
              <a:buNone/>
            </a:pPr>
            <a:endParaRPr lang="en-US" altLang="zh-CN" sz="2400" dirty="0">
              <a:latin typeface="微软雅黑" panose="020B0503020204020204" pitchFamily="34" charset="-122"/>
              <a:ea typeface="微软雅黑" panose="020B0503020204020204" pitchFamily="34" charset="-122"/>
            </a:endParaRPr>
          </a:p>
          <a:p>
            <a:pPr marL="457200" lvl="1" indent="0">
              <a:lnSpc>
                <a:spcPct val="80000"/>
              </a:lnSpc>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要求：</a:t>
            </a:r>
            <a:r>
              <a:rPr lang="en-US" altLang="zh-CN" sz="2000" i="1" dirty="0">
                <a:latin typeface="微软雅黑" panose="020B0503020204020204" pitchFamily="34" charset="-122"/>
                <a:ea typeface="微软雅黑" panose="020B0503020204020204" pitchFamily="34" charset="-122"/>
              </a:rPr>
              <a:t>P</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)&gt;0</a:t>
            </a:r>
            <a:endParaRPr lang="en-US" altLang="zh-CN" sz="2000" dirty="0">
              <a:latin typeface="微软雅黑" panose="020B0503020204020204" pitchFamily="34" charset="-122"/>
              <a:ea typeface="微软雅黑" panose="020B0503020204020204" pitchFamily="34" charset="-122"/>
            </a:endParaRPr>
          </a:p>
        </p:txBody>
      </p:sp>
      <p:pic>
        <p:nvPicPr>
          <p:cNvPr id="13" name="Picture 6" descr="txp_fig"/>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3176696" y="5213833"/>
            <a:ext cx="237331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479" y="56666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
        <p:nvSpPr>
          <p:cNvPr id="9" name="Rectangle 3"/>
          <p:cNvSpPr txBox="1">
            <a:spLocks noChangeArrowheads="1"/>
          </p:cNvSpPr>
          <p:nvPr/>
        </p:nvSpPr>
        <p:spPr>
          <a:xfrm>
            <a:off x="755050" y="1194983"/>
            <a:ext cx="8926623" cy="9846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r>
              <a:rPr lang="zh-CN" altLang="en-US" sz="2400" dirty="0">
                <a:solidFill>
                  <a:srgbClr val="FF0000"/>
                </a:solidFill>
                <a:latin typeface="微软雅黑" panose="020B0503020204020204" pitchFamily="34" charset="-122"/>
                <a:ea typeface="微软雅黑" panose="020B0503020204020204" pitchFamily="34" charset="-122"/>
              </a:rPr>
              <a:t>乘法法则和链式法则</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8" name="Rectangle 3"/>
          <p:cNvSpPr txBox="1">
            <a:spLocks noChangeArrowheads="1"/>
          </p:cNvSpPr>
          <p:nvPr/>
        </p:nvSpPr>
        <p:spPr>
          <a:xfrm>
            <a:off x="812800" y="1980959"/>
            <a:ext cx="10925544" cy="4706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zh-CN" altLang="en-US" sz="2000" dirty="0">
                <a:solidFill>
                  <a:srgbClr val="00B0F0"/>
                </a:solidFill>
                <a:latin typeface="微软雅黑" panose="020B0503020204020204" pitchFamily="34" charset="-122"/>
                <a:ea typeface="微软雅黑" panose="020B0503020204020204" pitchFamily="34" charset="-122"/>
              </a:rPr>
              <a:t>乘法法则</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0" indent="0">
              <a:lnSpc>
                <a:spcPct val="80000"/>
              </a:lnSpc>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4">
              <a:lnSpc>
                <a:spcPct val="80000"/>
              </a:lnSpc>
              <a:buFontTx/>
              <a:buNone/>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80000"/>
              </a:lnSpc>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e.g.,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Weather,Cavity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Weather | Cavity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1828800" lvl="4" indent="0">
              <a:lnSpc>
                <a:spcPct val="80000"/>
              </a:lnSpc>
              <a:buNone/>
            </a:pPr>
            <a:endParaRPr lang="en-US" altLang="zh-CN" sz="2000"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考虑有</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个变量的联合分布：</a:t>
            </a:r>
            <a:endParaRPr lang="en-US" altLang="zh-CN" sz="2000" dirty="0">
              <a:solidFill>
                <a:schemeClr val="accent2"/>
              </a:solidFill>
              <a:latin typeface="微软雅黑" panose="020B0503020204020204" pitchFamily="34" charset="-122"/>
              <a:ea typeface="微软雅黑" panose="020B0503020204020204" pitchFamily="34" charset="-122"/>
            </a:endParaRPr>
          </a:p>
          <a:p>
            <a:pPr lvl="1">
              <a:lnSpc>
                <a:spcPts val="2400"/>
              </a:lnSpc>
              <a:spcBef>
                <a:spcPts val="600"/>
              </a:spcBef>
              <a:buFont typeface="Arial" panose="020B0604020202020204" pitchFamily="34" charset="0"/>
              <a:buNone/>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n-1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n-1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乘法法则</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ts val="2400"/>
              </a:lnSpc>
              <a:spcBef>
                <a:spcPts val="600"/>
              </a:spcBef>
              <a:buFont typeface="Arial" panose="020B0604020202020204" pitchFamily="34" charset="0"/>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n-2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n-1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n-2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n-1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乘法法则</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ts val="2400"/>
              </a:lnSpc>
              <a:spcBef>
                <a:spcPts val="600"/>
              </a:spcBef>
              <a:buFont typeface="Arial" panose="020B0604020202020204" pitchFamily="34" charset="0"/>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ts val="2400"/>
              </a:lnSpc>
              <a:spcBef>
                <a:spcPts val="600"/>
              </a:spcBef>
              <a:buFont typeface="Arial" panose="020B0604020202020204" pitchFamily="34" charset="0"/>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az-Cyrl-AZ" altLang="zh-CN" sz="2000" dirty="0">
                <a:latin typeface="Times New Roman" panose="02020603050405020304" pitchFamily="18" charset="0"/>
                <a:ea typeface="微软雅黑" panose="020B0503020204020204" pitchFamily="34" charset="-122"/>
                <a:cs typeface="Times New Roman" panose="02020603050405020304" pitchFamily="18" charset="0"/>
              </a:rPr>
              <a:t>П</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 1~n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 ,X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乘法法则</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ts val="2400"/>
              </a:lnSpc>
              <a:spcBef>
                <a:spcPts val="600"/>
              </a:spcBef>
              <a:buFont typeface="Arial" panose="020B0604020202020204" pitchFamily="34" charset="0"/>
              <a:buNone/>
            </a:pPr>
            <a:endParaRPr lang="en-US" altLang="zh-CN" sz="2000" dirty="0">
              <a:latin typeface="微软雅黑" panose="020B0503020204020204" pitchFamily="34" charset="-122"/>
              <a:ea typeface="微软雅黑" panose="020B0503020204020204" pitchFamily="34" charset="-122"/>
            </a:endParaRPr>
          </a:p>
          <a:p>
            <a:pPr>
              <a:spcBef>
                <a:spcPts val="600"/>
              </a:spcBef>
            </a:pPr>
            <a:r>
              <a:rPr lang="zh-CN" altLang="en-US" sz="2000" dirty="0">
                <a:solidFill>
                  <a:srgbClr val="00B0F0"/>
                </a:solidFill>
                <a:latin typeface="微软雅黑" panose="020B0503020204020204" pitchFamily="34" charset="-122"/>
                <a:ea typeface="微软雅黑" panose="020B0503020204020204" pitchFamily="34" charset="-122"/>
              </a:rPr>
              <a:t>链式法则</a:t>
            </a:r>
            <a:r>
              <a:rPr lang="zh-CN" altLang="en-US" sz="2000"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az-Cyrl-AZ" altLang="zh-CN" sz="2000" dirty="0">
                <a:latin typeface="Times New Roman" panose="02020603050405020304" pitchFamily="18" charset="0"/>
                <a:ea typeface="微软雅黑" panose="020B0503020204020204" pitchFamily="34" charset="-122"/>
                <a:cs typeface="Times New Roman" panose="02020603050405020304" pitchFamily="18" charset="0"/>
              </a:rPr>
              <a:t>П</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 1 ~n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 ,X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lvl="1">
              <a:spcBef>
                <a:spcPts val="600"/>
              </a:spcBef>
              <a:buFont typeface="Arial" panose="020B0604020202020204" pitchFamily="34" charset="0"/>
              <a:buNone/>
            </a:pP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479" y="56666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
        <p:nvSpPr>
          <p:cNvPr id="9" name="Rectangle 3"/>
          <p:cNvSpPr txBox="1">
            <a:spLocks noChangeArrowheads="1"/>
          </p:cNvSpPr>
          <p:nvPr/>
        </p:nvSpPr>
        <p:spPr>
          <a:xfrm>
            <a:off x="744975" y="1171531"/>
            <a:ext cx="8926623" cy="9846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r>
              <a:rPr lang="zh-CN" altLang="en-US" sz="2400" dirty="0">
                <a:solidFill>
                  <a:srgbClr val="FF0000"/>
                </a:solidFill>
                <a:latin typeface="微软雅黑" panose="020B0503020204020204" pitchFamily="34" charset="-122"/>
                <a:ea typeface="微软雅黑" panose="020B0503020204020204" pitchFamily="34" charset="-122"/>
              </a:rPr>
              <a:t>使用完全联合分布进行推理</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10" name="Rectangle 3"/>
          <p:cNvSpPr txBox="1">
            <a:spLocks noChangeArrowheads="1"/>
          </p:cNvSpPr>
          <p:nvPr/>
        </p:nvSpPr>
        <p:spPr>
          <a:xfrm>
            <a:off x="802725" y="1763279"/>
            <a:ext cx="10776267" cy="4773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000" dirty="0">
                <a:latin typeface="微软雅黑" panose="020B0503020204020204" pitchFamily="34" charset="-122"/>
                <a:ea typeface="微软雅黑" panose="020B0503020204020204" pitchFamily="34" charset="-122"/>
              </a:rPr>
              <a:t>使用</a:t>
            </a:r>
            <a:r>
              <a:rPr lang="zh-CN" altLang="en-US" sz="2000" dirty="0">
                <a:solidFill>
                  <a:srgbClr val="00B0F0"/>
                </a:solidFill>
                <a:latin typeface="微软雅黑" panose="020B0503020204020204" pitchFamily="34" charset="-122"/>
                <a:ea typeface="微软雅黑" panose="020B0503020204020204" pitchFamily="34" charset="-122"/>
              </a:rPr>
              <a:t>完全联合概率分布</a:t>
            </a:r>
            <a:r>
              <a:rPr lang="zh-CN" altLang="en-US" sz="2000" dirty="0">
                <a:latin typeface="微软雅黑" panose="020B0503020204020204" pitchFamily="34" charset="-122"/>
                <a:ea typeface="微软雅黑" panose="020B0503020204020204" pitchFamily="34" charset="-122"/>
              </a:rPr>
              <a:t>作为“知识库”，从中可以导出所有问题的答案。</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00B0F0"/>
                </a:solidFill>
                <a:latin typeface="微软雅黑" panose="020B0503020204020204" pitchFamily="34" charset="-122"/>
                <a:ea typeface="微软雅黑" panose="020B0503020204020204" pitchFamily="34" charset="-122"/>
              </a:rPr>
              <a:t>概率推理</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根据已观察到的证据，计算查询命题的后验概率 。</a:t>
            </a:r>
            <a:endParaRPr lang="en-US" altLang="zh-CN" sz="2000" dirty="0">
              <a:latin typeface="微软雅黑" panose="020B0503020204020204" pitchFamily="34" charset="-122"/>
              <a:ea typeface="微软雅黑" panose="020B0503020204020204" pitchFamily="34" charset="-122"/>
            </a:endParaRPr>
          </a:p>
          <a:p>
            <a:endParaRPr 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例如，计算</a:t>
            </a:r>
            <a:r>
              <a:rPr lang="zh-CN" altLang="en-US" sz="2000" dirty="0">
                <a:solidFill>
                  <a:srgbClr val="00B0F0"/>
                </a:solidFill>
                <a:latin typeface="微软雅黑" panose="020B0503020204020204" pitchFamily="34" charset="-122"/>
                <a:ea typeface="微软雅黑" panose="020B0503020204020204" pitchFamily="34" charset="-122"/>
              </a:rPr>
              <a:t>条件概率</a:t>
            </a:r>
            <a:r>
              <a:rPr lang="en-US" sz="2000" dirty="0">
                <a:solidFill>
                  <a:srgbClr val="FF0000"/>
                </a:solidFill>
                <a:latin typeface="微软雅黑" panose="020B0503020204020204" pitchFamily="34" charset="-122"/>
                <a:ea typeface="微软雅黑" panose="020B0503020204020204" pitchFamily="34" charset="-122"/>
              </a:rPr>
              <a:t> </a:t>
            </a:r>
            <a:endParaRPr lang="en-US" sz="2000" dirty="0">
              <a:solidFill>
                <a:srgbClr val="FF0000"/>
              </a:solidFill>
              <a:latin typeface="微软雅黑" panose="020B0503020204020204" pitchFamily="34" charset="-122"/>
              <a:ea typeface="微软雅黑" panose="020B0503020204020204" pitchFamily="34" charset="-122"/>
            </a:endParaRPr>
          </a:p>
          <a:p>
            <a:pPr lvl="1"/>
            <a:r>
              <a:rPr lang="en-US" sz="20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100</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on time | no reported accidents) = 0.90</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r>
              <a:rPr lang="zh-CN" altLang="en-US" sz="2000" dirty="0">
                <a:latin typeface="微软雅黑" panose="020B0503020204020204" pitchFamily="34" charset="-122"/>
                <a:ea typeface="微软雅黑" panose="020B0503020204020204" pitchFamily="34" charset="-122"/>
              </a:rPr>
              <a:t>表示给定证据下的信念度</a:t>
            </a:r>
            <a:endParaRPr lang="en-US" sz="2000" i="1" dirty="0">
              <a:latin typeface="微软雅黑" panose="020B0503020204020204" pitchFamily="34" charset="-122"/>
              <a:ea typeface="微软雅黑" panose="020B0503020204020204" pitchFamily="34" charset="-122"/>
            </a:endParaRPr>
          </a:p>
          <a:p>
            <a:endParaRPr 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随着新的证据的出现，概率会发生变化</a:t>
            </a:r>
            <a:endParaRPr lang="en-US" sz="2000" dirty="0">
              <a:latin typeface="微软雅黑" panose="020B0503020204020204" pitchFamily="34" charset="-122"/>
              <a:ea typeface="微软雅黑" panose="020B0503020204020204" pitchFamily="34" charset="-122"/>
            </a:endParaRPr>
          </a:p>
          <a:p>
            <a:pPr lvl="1"/>
            <a:r>
              <a:rPr lang="en-US" sz="20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100 </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on time | no accidents, </a:t>
            </a:r>
            <a:r>
              <a:rPr 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5 a.m.</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 = 0.95</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r>
              <a:rPr lang="en-US" sz="20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100  </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on time | no accidents, 5 a.m., </a:t>
            </a:r>
            <a:r>
              <a:rPr 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raining</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 = 0.80</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r>
              <a:rPr lang="zh-CN" altLang="en-US" sz="2000" dirty="0">
                <a:latin typeface="微软雅黑" panose="020B0503020204020204" pitchFamily="34" charset="-122"/>
                <a:ea typeface="微软雅黑" panose="020B0503020204020204" pitchFamily="34" charset="-122"/>
              </a:rPr>
              <a:t>观察新的证据，更新信念度</a:t>
            </a:r>
            <a:endParaRPr lang="en-US" sz="2000" i="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479" y="56666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
        <p:nvSpPr>
          <p:cNvPr id="9" name="Rectangle 3"/>
          <p:cNvSpPr txBox="1">
            <a:spLocks noChangeArrowheads="1"/>
          </p:cNvSpPr>
          <p:nvPr/>
        </p:nvSpPr>
        <p:spPr>
          <a:xfrm>
            <a:off x="812800" y="1142654"/>
            <a:ext cx="8926623" cy="9846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r>
              <a:rPr lang="zh-CN" altLang="en-US" sz="2400" dirty="0">
                <a:solidFill>
                  <a:srgbClr val="FF0000"/>
                </a:solidFill>
                <a:latin typeface="微软雅黑" panose="020B0503020204020204" pitchFamily="34" charset="-122"/>
                <a:ea typeface="微软雅黑" panose="020B0503020204020204" pitchFamily="34" charset="-122"/>
              </a:rPr>
              <a:t>使用完全联合分布进行推理</a:t>
            </a:r>
            <a:endParaRPr lang="en-US" altLang="zh-CN" sz="2400"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8" name="Rectangle 3"/>
              <p:cNvSpPr txBox="1">
                <a:spLocks noChangeArrowheads="1"/>
              </p:cNvSpPr>
              <p:nvPr/>
            </p:nvSpPr>
            <p:spPr>
              <a:xfrm>
                <a:off x="1097516" y="2019005"/>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一个简单的例子</a:t>
                </a:r>
                <a:r>
                  <a:rPr lang="en-US" altLang="zh-CN" sz="2000" dirty="0">
                    <a:latin typeface="微软雅黑" panose="020B0503020204020204" pitchFamily="34" charset="-122"/>
                    <a:ea typeface="微软雅黑" panose="020B0503020204020204" pitchFamily="34" charset="-122"/>
                  </a:rPr>
                  <a:t>: </a:t>
                </a:r>
                <a:r>
                  <a:rPr lang="zh-CN" altLang="en-US" sz="2000" dirty="0">
                    <a:solidFill>
                      <a:srgbClr val="FF0000"/>
                    </a:solidFill>
                    <a:latin typeface="微软雅黑" panose="020B0503020204020204" pitchFamily="34" charset="-122"/>
                    <a:ea typeface="微软雅黑" panose="020B0503020204020204" pitchFamily="34" charset="-122"/>
                  </a:rPr>
                  <a:t>诊断牙病患者的牙痛</a:t>
                </a:r>
                <a:endParaRPr lang="en-US" altLang="zh-CN" sz="2000" dirty="0">
                  <a:solidFill>
                    <a:srgbClr val="FF0000"/>
                  </a:solidFill>
                  <a:latin typeface="微软雅黑" panose="020B0503020204020204" pitchFamily="34" charset="-122"/>
                  <a:ea typeface="微软雅黑" panose="020B0503020204020204" pitchFamily="34" charset="-122"/>
                </a:endParaRPr>
              </a:p>
              <a:p>
                <a:pPr lvl="5"/>
                <a:endParaRPr lang="en-US" altLang="zh-CN" sz="1200" dirty="0"/>
              </a:p>
              <a:p>
                <a:pPr lvl="1">
                  <a:lnSpc>
                    <a:spcPct val="150000"/>
                  </a:lnSpc>
                </a:pPr>
                <a:r>
                  <a:rPr lang="zh-CN" altLang="en-US" sz="2000" dirty="0">
                    <a:latin typeface="微软雅黑" panose="020B0503020204020204" pitchFamily="34" charset="-122"/>
                    <a:ea typeface="微软雅黑" panose="020B0503020204020204" pitchFamily="34" charset="-122"/>
                  </a:rPr>
                  <a:t>问题域：由三个布尔变量</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zh-CN" altLang="en-US" sz="2000" dirty="0">
                    <a:latin typeface="微软雅黑" panose="020B0503020204020204" pitchFamily="34" charset="-122"/>
                    <a:ea typeface="微软雅黑" panose="020B0503020204020204" pitchFamily="34" charset="-122"/>
                  </a:rPr>
                  <a:t>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Catch</a:t>
                </a:r>
                <a:r>
                  <a:rPr lang="zh-CN" altLang="en-US" sz="2000" dirty="0">
                    <a:latin typeface="微软雅黑" panose="020B0503020204020204" pitchFamily="34" charset="-122"/>
                    <a:ea typeface="微软雅黑" panose="020B0503020204020204" pitchFamily="34" charset="-122"/>
                  </a:rPr>
                  <a:t>组成</a:t>
                </a:r>
                <a:endParaRPr lang="en-US" altLang="zh-CN" sz="2000" dirty="0">
                  <a:latin typeface="微软雅黑" panose="020B0503020204020204" pitchFamily="34" charset="-122"/>
                  <a:ea typeface="微软雅黑" panose="020B0503020204020204" pitchFamily="34" charset="-122"/>
                </a:endParaRPr>
              </a:p>
              <a:p>
                <a:pPr lvl="1">
                  <a:lnSpc>
                    <a:spcPct val="150000"/>
                  </a:lnSpc>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Catch</a:t>
                </a:r>
                <a:r>
                  <a:rPr lang="zh-CN" altLang="en-US" sz="2000" dirty="0">
                    <a:latin typeface="微软雅黑" panose="020B0503020204020204" pitchFamily="34" charset="-122"/>
                    <a:ea typeface="微软雅黑" panose="020B0503020204020204" pitchFamily="34" charset="-122"/>
                  </a:rPr>
                  <a:t>表示由于牙医的钢探针不洁而导致的牙龈感染</a:t>
                </a:r>
                <a:endParaRPr lang="en-US" altLang="zh-CN" sz="2000" dirty="0">
                  <a:latin typeface="微软雅黑" panose="020B0503020204020204" pitchFamily="34" charset="-122"/>
                  <a:ea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rPr>
                  <a:t>给定</a:t>
                </a:r>
                <a:r>
                  <a:rPr lang="zh-CN" altLang="en-US" sz="2000" dirty="0">
                    <a:solidFill>
                      <a:srgbClr val="FF0000"/>
                    </a:solidFill>
                    <a:latin typeface="微软雅黑" panose="020B0503020204020204" pitchFamily="34" charset="-122"/>
                    <a:ea typeface="微软雅黑" panose="020B0503020204020204" pitchFamily="34" charset="-122"/>
                  </a:rPr>
                  <a:t>完全联合分布</a:t>
                </a:r>
                <a:r>
                  <a:rPr lang="zh-CN" altLang="en-US" sz="2000" dirty="0">
                    <a:latin typeface="微软雅黑" panose="020B0503020204020204" pitchFamily="34" charset="-122"/>
                    <a:ea typeface="微软雅黑" panose="020B0503020204020204" pitchFamily="34" charset="-122"/>
                  </a:rPr>
                  <a:t>，一个</a:t>
                </a:r>
                <a:r>
                  <a:rPr lang="en-US" altLang="zh-CN" sz="2000" dirty="0">
                    <a:latin typeface="微软雅黑" panose="020B0503020204020204" pitchFamily="34" charset="-122"/>
                    <a:ea typeface="微软雅黑" panose="020B0503020204020204" pitchFamily="34" charset="-122"/>
                  </a:rPr>
                  <a:t>2</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oMath>
                </a14:m>
                <a:r>
                  <a:rPr lang="en-US" altLang="zh-CN" sz="2000" dirty="0">
                    <a:latin typeface="微软雅黑" panose="020B0503020204020204" pitchFamily="34" charset="-122"/>
                    <a:ea typeface="微软雅黑" panose="020B0503020204020204" pitchFamily="34" charset="-122"/>
                  </a:rPr>
                  <a:t>2</a:t>
                </a:r>
                <a14:m>
                  <m:oMath xmlns:m="http://schemas.openxmlformats.org/officeDocument/2006/math">
                    <m:r>
                      <a:rPr lang="en-US" altLang="zh-CN" sz="2000" i="1" dirty="0" smtClean="0">
                        <a:latin typeface="Cambria Math" panose="02040503050406030204" pitchFamily="18" charset="0"/>
                        <a:ea typeface="Cambria Math" panose="02040503050406030204" pitchFamily="18" charset="0"/>
                      </a:rPr>
                      <m:t>×</m:t>
                    </m:r>
                  </m:oMath>
                </a14:m>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的表格</a:t>
                </a:r>
                <a:endParaRPr lang="en-US" altLang="zh-CN" sz="2000" dirty="0">
                  <a:latin typeface="微软雅黑" panose="020B0503020204020204" pitchFamily="34" charset="-122"/>
                  <a:ea typeface="微软雅黑" panose="020B0503020204020204" pitchFamily="34" charset="-122"/>
                </a:endParaRPr>
              </a:p>
              <a:p>
                <a:endParaRPr lang="en-US" altLang="zh-CN" sz="2400" dirty="0"/>
              </a:p>
              <a:p>
                <a:endParaRPr lang="en-US" altLang="zh-CN" sz="2400" dirty="0"/>
              </a:p>
              <a:p>
                <a:endParaRPr lang="en-US" altLang="zh-CN" sz="2400" dirty="0"/>
              </a:p>
              <a:p>
                <a:pPr>
                  <a:buFontTx/>
                  <a:buNone/>
                </a:pPr>
                <a:r>
                  <a:rPr lang="en-US" altLang="zh-CN" sz="2400" dirty="0"/>
                  <a:t>
</a:t>
                </a:r>
                <a:endParaRPr lang="en-US" altLang="zh-CN" sz="2400" dirty="0"/>
              </a:p>
              <a:p>
                <a:endParaRPr lang="en-US" altLang="zh-CN" sz="2200" dirty="0"/>
              </a:p>
            </p:txBody>
          </p:sp>
        </mc:Choice>
        <mc:Fallback>
          <p:sp>
            <p:nvSpPr>
              <p:cNvPr id="8" name="Rectangle 3"/>
              <p:cNvSpPr txBox="1">
                <a:spLocks noRot="1" noChangeAspect="1" noMove="1" noResize="1" noEditPoints="1" noAdjustHandles="1" noChangeArrowheads="1" noChangeShapeType="1" noTextEdit="1"/>
              </p:cNvSpPr>
              <p:nvPr/>
            </p:nvSpPr>
            <p:spPr>
              <a:xfrm>
                <a:off x="1097516" y="2019005"/>
                <a:ext cx="11379200" cy="4729164"/>
              </a:xfrm>
              <a:prstGeom prst="rect">
                <a:avLst/>
              </a:prstGeom>
              <a:blipFill rotWithShape="1">
                <a:blip r:embed="rId1"/>
                <a:stretch>
                  <a:fillRect l="-2" t="-34" r="2" b="1"/>
                </a:stretch>
              </a:blipFill>
            </p:spPr>
            <p:txBody>
              <a:bodyPr/>
              <a:lstStyle/>
              <a:p>
                <a:r>
                  <a:rPr lang="zh-CN" altLang="en-US">
                    <a:noFill/>
                  </a:rPr>
                  <a:t> </a:t>
                </a:r>
              </a:p>
            </p:txBody>
          </p:sp>
        </mc:Fallback>
      </mc:AlternateContent>
      <p:pic>
        <p:nvPicPr>
          <p:cNvPr id="11"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166" y="4089446"/>
            <a:ext cx="10505442" cy="2600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721895" y="1386038"/>
            <a:ext cx="11242307" cy="4985045"/>
          </a:xfrm>
        </p:spPr>
        <p:txBody>
          <a:bodyPr>
            <a:normAutofit fontScale="85000" lnSpcReduction="20000"/>
          </a:bodyPr>
          <a:lstStyle/>
          <a:p>
            <a:pPr>
              <a:lnSpc>
                <a:spcPct val="90000"/>
              </a:lnSpc>
            </a:pPr>
            <a:r>
              <a:rPr lang="zh-CN" altLang="en-US" sz="2600" dirty="0">
                <a:latin typeface="微软雅黑" panose="020B0503020204020204" pitchFamily="34" charset="-122"/>
                <a:ea typeface="微软雅黑" panose="020B0503020204020204" pitchFamily="34" charset="-122"/>
              </a:rPr>
              <a:t>给定完全联合分布</a:t>
            </a:r>
            <a:r>
              <a:rPr lang="en-US" altLang="zh-CN"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a:lnSpc>
                <a:spcPct val="90000"/>
              </a:lnSpc>
            </a:pPr>
            <a:endParaRPr lang="en-US" altLang="zh-CN" sz="2400" dirty="0">
              <a:latin typeface="微软雅黑" panose="020B0503020204020204" pitchFamily="34" charset="-122"/>
              <a:ea typeface="微软雅黑" panose="020B0503020204020204" pitchFamily="34" charset="-122"/>
            </a:endParaRPr>
          </a:p>
          <a:p>
            <a:pPr>
              <a:lnSpc>
                <a:spcPct val="90000"/>
              </a:lnSpc>
            </a:pPr>
            <a:endParaRPr lang="en-US" altLang="zh-CN" sz="2400" dirty="0">
              <a:latin typeface="微软雅黑" panose="020B0503020204020204" pitchFamily="34" charset="-122"/>
              <a:ea typeface="微软雅黑" panose="020B0503020204020204" pitchFamily="34" charset="-122"/>
            </a:endParaRPr>
          </a:p>
          <a:p>
            <a:pPr>
              <a:lnSpc>
                <a:spcPct val="90000"/>
              </a:lnSpc>
            </a:pPr>
            <a:endParaRPr lang="en-US" altLang="zh-CN" sz="2400" dirty="0">
              <a:latin typeface="微软雅黑" panose="020B0503020204020204" pitchFamily="34" charset="-122"/>
              <a:ea typeface="微软雅黑" panose="020B0503020204020204" pitchFamily="34" charset="-122"/>
            </a:endParaRPr>
          </a:p>
          <a:p>
            <a:pPr>
              <a:lnSpc>
                <a:spcPct val="90000"/>
              </a:lnSpc>
            </a:pPr>
            <a:endParaRPr lang="en-US" altLang="zh-CN" sz="2400" dirty="0">
              <a:latin typeface="微软雅黑" panose="020B0503020204020204" pitchFamily="34" charset="-122"/>
              <a:ea typeface="微软雅黑" panose="020B0503020204020204" pitchFamily="34" charset="-122"/>
            </a:endParaRPr>
          </a:p>
          <a:p>
            <a:pPr marL="914400" lvl="2" indent="0">
              <a:lnSpc>
                <a:spcPct val="90000"/>
              </a:lnSpc>
              <a:buNone/>
            </a:pPr>
            <a:endParaRPr lang="en-US" altLang="zh-CN" sz="1600" dirty="0">
              <a:latin typeface="微软雅黑" panose="020B0503020204020204" pitchFamily="34" charset="-122"/>
              <a:ea typeface="微软雅黑" panose="020B0503020204020204" pitchFamily="34" charset="-122"/>
            </a:endParaRPr>
          </a:p>
          <a:p>
            <a:pPr marL="914400" lvl="2" indent="0">
              <a:lnSpc>
                <a:spcPct val="90000"/>
              </a:lnSpc>
              <a:buNone/>
            </a:pPr>
            <a:endParaRPr lang="en-US" altLang="zh-CN" sz="1600" dirty="0">
              <a:latin typeface="微软雅黑" panose="020B0503020204020204" pitchFamily="34" charset="-122"/>
              <a:ea typeface="微软雅黑" panose="020B0503020204020204" pitchFamily="34" charset="-122"/>
            </a:endParaRPr>
          </a:p>
          <a:p>
            <a:pPr marL="914400" lvl="2" indent="0">
              <a:lnSpc>
                <a:spcPct val="90000"/>
              </a:lnSpc>
              <a:buNone/>
            </a:pPr>
            <a:endParaRPr lang="en-US" altLang="zh-CN" sz="1600" dirty="0">
              <a:latin typeface="微软雅黑" panose="020B0503020204020204" pitchFamily="34" charset="-122"/>
              <a:ea typeface="微软雅黑" panose="020B0503020204020204" pitchFamily="34" charset="-122"/>
            </a:endParaRPr>
          </a:p>
          <a:p>
            <a:pPr marL="914400" lvl="2" indent="0">
              <a:lnSpc>
                <a:spcPct val="90000"/>
              </a:lnSpc>
              <a:buNone/>
            </a:pPr>
            <a:endParaRPr lang="en-US" altLang="zh-CN" sz="1600" dirty="0">
              <a:latin typeface="微软雅黑" panose="020B0503020204020204" pitchFamily="34" charset="-122"/>
              <a:ea typeface="微软雅黑" panose="020B0503020204020204" pitchFamily="34" charset="-122"/>
            </a:endParaRPr>
          </a:p>
          <a:p>
            <a:pPr>
              <a:lnSpc>
                <a:spcPct val="90000"/>
              </a:lnSpc>
            </a:pPr>
            <a:r>
              <a:rPr lang="zh-CN" altLang="en-US" sz="2600" dirty="0">
                <a:solidFill>
                  <a:srgbClr val="FF0000"/>
                </a:solidFill>
                <a:latin typeface="微软雅黑" panose="020B0503020204020204" pitchFamily="34" charset="-122"/>
                <a:ea typeface="微软雅黑" panose="020B0503020204020204" pitchFamily="34" charset="-122"/>
              </a:rPr>
              <a:t>对于任意命题</a:t>
            </a:r>
            <a:r>
              <a:rPr lang="el-GR"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600" dirty="0">
                <a:solidFill>
                  <a:srgbClr val="FF0000"/>
                </a:solidFill>
                <a:latin typeface="微软雅黑" panose="020B0503020204020204" pitchFamily="34" charset="-122"/>
                <a:ea typeface="微软雅黑" panose="020B0503020204020204" pitchFamily="34" charset="-122"/>
              </a:rPr>
              <a:t>, </a:t>
            </a:r>
            <a:r>
              <a:rPr lang="zh-CN" altLang="en-US" sz="2600" dirty="0">
                <a:solidFill>
                  <a:srgbClr val="FF0000"/>
                </a:solidFill>
                <a:latin typeface="微软雅黑" panose="020B0503020204020204" pitchFamily="34" charset="-122"/>
                <a:ea typeface="微软雅黑" panose="020B0503020204020204" pitchFamily="34" charset="-122"/>
              </a:rPr>
              <a:t>其概率是使得该命题成立的可能世界的概率之和：</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l-GR"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l-GR"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Σ</a:t>
            </a:r>
            <a:r>
              <a:rPr lang="el-GR" altLang="zh-CN" sz="26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ω</a:t>
            </a:r>
            <a:r>
              <a:rPr lang="en-US" altLang="zh-CN" sz="26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6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ω╞φ</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P(</a:t>
            </a:r>
            <a:r>
              <a:rPr lang="el-GR"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ω</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lvl="2">
              <a:lnSpc>
                <a:spcPct val="150000"/>
              </a:lnSpc>
            </a:pPr>
            <a:endParaRPr lang="en-US" altLang="zh-CN"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600" dirty="0">
                <a:latin typeface="微软雅黑" panose="020B0503020204020204" pitchFamily="34" charset="-122"/>
                <a:ea typeface="微软雅黑" panose="020B0503020204020204" pitchFamily="34" charset="-122"/>
              </a:rPr>
              <a:t>一种计算任何命题概率的方法：</a:t>
            </a:r>
            <a:endParaRPr lang="en-US" altLang="zh-CN" sz="2600" dirty="0">
              <a:latin typeface="微软雅黑" panose="020B0503020204020204" pitchFamily="34" charset="-122"/>
              <a:ea typeface="微软雅黑" panose="020B0503020204020204" pitchFamily="34" charset="-122"/>
            </a:endParaRPr>
          </a:p>
          <a:p>
            <a:pPr lvl="1">
              <a:lnSpc>
                <a:spcPct val="150000"/>
              </a:lnSpc>
            </a:pPr>
            <a:r>
              <a:rPr lang="zh-CN" altLang="en-US" sz="2600" dirty="0">
                <a:latin typeface="微软雅黑" panose="020B0503020204020204" pitchFamily="34" charset="-122"/>
                <a:ea typeface="微软雅黑" panose="020B0503020204020204" pitchFamily="34" charset="-122"/>
              </a:rPr>
              <a:t>识别命题为真的可能世界，然后把它们的概率加起来</a:t>
            </a:r>
            <a:endParaRPr lang="en-US" altLang="zh-CN" sz="2600" dirty="0">
              <a:solidFill>
                <a:srgbClr val="FF0000"/>
              </a:solidFill>
              <a:latin typeface="微软雅黑" panose="020B0503020204020204" pitchFamily="34" charset="-122"/>
              <a:ea typeface="微软雅黑" panose="020B0503020204020204" pitchFamily="34" charset="-122"/>
            </a:endParaRPr>
          </a:p>
          <a:p>
            <a:pPr lvl="1">
              <a:lnSpc>
                <a:spcPct val="150000"/>
              </a:lnSpc>
            </a:pPr>
            <a:r>
              <a:rPr lang="zh-CN" altLang="en-US" sz="2600" dirty="0">
                <a:solidFill>
                  <a:srgbClr val="FF0000"/>
                </a:solidFill>
                <a:latin typeface="微软雅黑" panose="020B0503020204020204" pitchFamily="34" charset="-122"/>
                <a:ea typeface="微软雅黑" panose="020B0503020204020204" pitchFamily="34" charset="-122"/>
              </a:rPr>
              <a:t>例如：</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cavity </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0.108 + 0.012 + 0.072 + 0.008+ 0.016 + 0.064 = 0.28</a:t>
            </a:r>
            <a:endPar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pPr>
            <a:endParaRPr lang="en-US" altLang="zh-CN" sz="1800" dirty="0">
              <a:latin typeface="微软雅黑" panose="020B0503020204020204" pitchFamily="34" charset="-122"/>
              <a:ea typeface="微软雅黑" panose="020B0503020204020204" pitchFamily="34" charset="-122"/>
            </a:endParaRPr>
          </a:p>
        </p:txBody>
      </p:sp>
      <p:pic>
        <p:nvPicPr>
          <p:cNvPr id="30724"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33575" y="1799926"/>
            <a:ext cx="8047038"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581400" y="2667000"/>
            <a:ext cx="3124200" cy="685800"/>
          </a:xfrm>
          <a:prstGeom prst="rect">
            <a:avLst/>
          </a:prstGeom>
          <a:solidFill>
            <a:srgbClr val="FFFF00">
              <a:alpha val="21961"/>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矩形 5"/>
          <p:cNvSpPr/>
          <p:nvPr/>
        </p:nvSpPr>
        <p:spPr>
          <a:xfrm>
            <a:off x="6726148" y="2656726"/>
            <a:ext cx="3124200" cy="363876"/>
          </a:xfrm>
          <a:prstGeom prst="rect">
            <a:avLst/>
          </a:prstGeom>
          <a:solidFill>
            <a:srgbClr val="FFFF00">
              <a:alpha val="21961"/>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nvGrpSpPr>
          <p:cNvPr id="8" name="组合 7"/>
          <p:cNvGrpSpPr/>
          <p:nvPr/>
        </p:nvGrpSpPr>
        <p:grpSpPr>
          <a:xfrm>
            <a:off x="1093535" y="486917"/>
            <a:ext cx="7464387" cy="497934"/>
            <a:chOff x="4099943" y="2819853"/>
            <a:chExt cx="2570275" cy="497934"/>
          </a:xfrm>
        </p:grpSpPr>
        <p:sp>
          <p:nvSpPr>
            <p:cNvPr id="9" name="平行四边形 8"/>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平行四边形 9"/>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矩形 10"/>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854149" y="1496015"/>
            <a:ext cx="10515600" cy="4351338"/>
          </a:xfrm>
        </p:spPr>
        <p:txBody>
          <a:bodyPr>
            <a:normAutofit fontScale="92500" lnSpcReduction="10000"/>
          </a:bodyPr>
          <a:lstStyle/>
          <a:p>
            <a:pPr>
              <a:lnSpc>
                <a:spcPct val="90000"/>
              </a:lnSpc>
            </a:pPr>
            <a:r>
              <a:rPr lang="zh-CN" altLang="en-US" sz="2200" dirty="0">
                <a:latin typeface="微软雅黑" panose="020B0503020204020204" pitchFamily="34" charset="-122"/>
                <a:ea typeface="微软雅黑" panose="020B0503020204020204" pitchFamily="34" charset="-122"/>
              </a:rPr>
              <a:t>给定完全联合分布</a:t>
            </a:r>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a:lnSpc>
                <a:spcPct val="90000"/>
              </a:lnSpc>
            </a:pPr>
            <a:endParaRPr lang="en-US" altLang="zh-CN" sz="2200" dirty="0">
              <a:latin typeface="微软雅黑" panose="020B0503020204020204" pitchFamily="34" charset="-122"/>
              <a:ea typeface="微软雅黑" panose="020B0503020204020204" pitchFamily="34" charset="-122"/>
            </a:endParaRPr>
          </a:p>
          <a:p>
            <a:pPr>
              <a:lnSpc>
                <a:spcPct val="90000"/>
              </a:lnSpc>
            </a:pPr>
            <a:endParaRPr lang="en-US" altLang="zh-CN" sz="2200" dirty="0">
              <a:latin typeface="微软雅黑" panose="020B0503020204020204" pitchFamily="34" charset="-122"/>
              <a:ea typeface="微软雅黑" panose="020B0503020204020204" pitchFamily="34" charset="-122"/>
            </a:endParaRPr>
          </a:p>
          <a:p>
            <a:pPr>
              <a:lnSpc>
                <a:spcPct val="90000"/>
              </a:lnSpc>
            </a:pPr>
            <a:endParaRPr lang="en-US" altLang="zh-CN" sz="2200" dirty="0">
              <a:latin typeface="微软雅黑" panose="020B0503020204020204" pitchFamily="34" charset="-122"/>
              <a:ea typeface="微软雅黑" panose="020B0503020204020204" pitchFamily="34" charset="-122"/>
            </a:endParaRPr>
          </a:p>
          <a:p>
            <a:pPr>
              <a:lnSpc>
                <a:spcPct val="90000"/>
              </a:lnSpc>
            </a:pPr>
            <a:endParaRPr lang="en-US" altLang="zh-CN" sz="2200" dirty="0">
              <a:latin typeface="微软雅黑" panose="020B0503020204020204" pitchFamily="34" charset="-122"/>
              <a:ea typeface="微软雅黑" panose="020B0503020204020204" pitchFamily="34" charset="-122"/>
            </a:endParaRPr>
          </a:p>
          <a:p>
            <a:pPr>
              <a:lnSpc>
                <a:spcPct val="90000"/>
              </a:lnSpc>
            </a:pPr>
            <a:endParaRPr lang="en-US" altLang="zh-CN" sz="2200" dirty="0">
              <a:latin typeface="微软雅黑" panose="020B0503020204020204" pitchFamily="34" charset="-122"/>
              <a:ea typeface="微软雅黑" panose="020B0503020204020204" pitchFamily="34" charset="-122"/>
            </a:endParaRPr>
          </a:p>
          <a:p>
            <a:pPr>
              <a:lnSpc>
                <a:spcPct val="90000"/>
              </a:lnSpc>
            </a:pPr>
            <a:endParaRPr lang="en-US" altLang="zh-CN" sz="2200" dirty="0">
              <a:latin typeface="微软雅黑" panose="020B0503020204020204" pitchFamily="34" charset="-122"/>
              <a:ea typeface="微软雅黑" panose="020B0503020204020204" pitchFamily="34" charset="-122"/>
            </a:endParaRPr>
          </a:p>
          <a:p>
            <a:pPr eaLnBrk="1" hangingPunct="1">
              <a:lnSpc>
                <a:spcPct val="90000"/>
              </a:lnSpc>
            </a:pPr>
            <a:r>
              <a:rPr lang="zh-CN" altLang="en-US" sz="2200" dirty="0">
                <a:latin typeface="微软雅黑" panose="020B0503020204020204" pitchFamily="34" charset="-122"/>
                <a:ea typeface="微软雅黑" panose="020B0503020204020204" pitchFamily="34" charset="-122"/>
              </a:rPr>
              <a:t>一个特别常见的任务：提取某个变量的概率分布（无条件概率</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边缘概率）</a:t>
            </a:r>
            <a:endParaRPr lang="en-US" altLang="zh-CN" sz="2200" dirty="0">
              <a:latin typeface="微软雅黑" panose="020B0503020204020204" pitchFamily="34" charset="-122"/>
              <a:ea typeface="微软雅黑" panose="020B0503020204020204" pitchFamily="34" charset="-122"/>
            </a:endParaRPr>
          </a:p>
          <a:p>
            <a:pPr eaLnBrk="1" hangingPunct="1">
              <a:lnSpc>
                <a:spcPct val="90000"/>
              </a:lnSpc>
            </a:pPr>
            <a:endParaRPr lang="en-US" altLang="zh-CN" sz="2200" dirty="0">
              <a:solidFill>
                <a:srgbClr val="FF0000"/>
              </a:solidFill>
              <a:latin typeface="微软雅黑" panose="020B0503020204020204" pitchFamily="34" charset="-122"/>
              <a:ea typeface="微软雅黑" panose="020B0503020204020204" pitchFamily="34" charset="-122"/>
            </a:endParaRPr>
          </a:p>
          <a:p>
            <a:pPr eaLnBrk="1" hangingPunct="1">
              <a:lnSpc>
                <a:spcPct val="90000"/>
              </a:lnSpc>
            </a:pPr>
            <a:r>
              <a:rPr lang="zh-CN" altLang="en-US" sz="2200" dirty="0">
                <a:solidFill>
                  <a:srgbClr val="FF0000"/>
                </a:solidFill>
                <a:latin typeface="微软雅黑" panose="020B0503020204020204" pitchFamily="34" charset="-122"/>
                <a:ea typeface="微软雅黑" panose="020B0503020204020204" pitchFamily="34" charset="-122"/>
              </a:rPr>
              <a:t>边缘化规则，</a:t>
            </a:r>
            <a:r>
              <a:rPr lang="zh-CN" altLang="en-US" sz="2200" dirty="0">
                <a:latin typeface="微软雅黑" panose="020B0503020204020204" pitchFamily="34" charset="-122"/>
                <a:ea typeface="微软雅黑" panose="020B0503020204020204" pitchFamily="34" charset="-122"/>
              </a:rPr>
              <a:t>或者称为</a:t>
            </a:r>
            <a:r>
              <a:rPr lang="zh-CN" altLang="en-US" sz="2200" dirty="0">
                <a:solidFill>
                  <a:srgbClr val="FF0000"/>
                </a:solidFill>
                <a:latin typeface="微软雅黑" panose="020B0503020204020204" pitchFamily="34" charset="-122"/>
                <a:ea typeface="微软雅黑" panose="020B0503020204020204" pitchFamily="34" charset="-122"/>
              </a:rPr>
              <a:t>求和消元：</a:t>
            </a:r>
            <a:endParaRPr lang="en-US" altLang="zh-CN" sz="2200" dirty="0">
              <a:solidFill>
                <a:srgbClr val="FF0000"/>
              </a:solidFill>
              <a:latin typeface="微软雅黑" panose="020B0503020204020204" pitchFamily="34" charset="-122"/>
              <a:ea typeface="微软雅黑" panose="020B0503020204020204" pitchFamily="34" charset="-122"/>
            </a:endParaRPr>
          </a:p>
          <a:p>
            <a:pPr marL="0" indent="0" eaLnBrk="1" hangingPunct="1">
              <a:lnSpc>
                <a:spcPct val="90000"/>
              </a:lnSpc>
              <a:buNone/>
            </a:pPr>
            <a:endParaRPr lang="en-US" altLang="zh-CN" sz="2200" dirty="0">
              <a:solidFill>
                <a:srgbClr val="FF0000"/>
              </a:solidFill>
              <a:latin typeface="微软雅黑" panose="020B0503020204020204" pitchFamily="34" charset="-122"/>
              <a:ea typeface="微软雅黑" panose="020B0503020204020204" pitchFamily="34" charset="-122"/>
            </a:endParaRPr>
          </a:p>
          <a:p>
            <a:pPr lvl="1">
              <a:lnSpc>
                <a:spcPct val="90000"/>
              </a:lnSpc>
            </a:pPr>
            <a:r>
              <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0.108 + 0.012 + 0.016 + 0.064 = 0.2</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pPr>
            <a:endParaRPr lang="en-US" altLang="zh-CN" sz="1800" dirty="0"/>
          </a:p>
        </p:txBody>
      </p:sp>
      <p:pic>
        <p:nvPicPr>
          <p:cNvPr id="30724"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54840" y="1842551"/>
            <a:ext cx="8047038"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581400" y="2667000"/>
            <a:ext cx="3124200" cy="6858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nvGrpSpPr>
          <p:cNvPr id="7" name="组合 6"/>
          <p:cNvGrpSpPr/>
          <p:nvPr/>
        </p:nvGrpSpPr>
        <p:grpSpPr>
          <a:xfrm>
            <a:off x="1093535" y="486917"/>
            <a:ext cx="7464387" cy="497934"/>
            <a:chOff x="4099943" y="2819853"/>
            <a:chExt cx="2570275"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093535" y="486917"/>
            <a:ext cx="7464387" cy="497934"/>
            <a:chOff x="4099943" y="2819853"/>
            <a:chExt cx="2570275" cy="497934"/>
          </a:xfrm>
        </p:grpSpPr>
        <p:sp>
          <p:nvSpPr>
            <p:cNvPr id="12" name="平行四边形 11"/>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平行四边形 12"/>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4" name="矩形 13"/>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
        <p:nvSpPr>
          <p:cNvPr id="16" name="Line 7"/>
          <p:cNvSpPr>
            <a:spLocks noChangeShapeType="1"/>
          </p:cNvSpPr>
          <p:nvPr/>
        </p:nvSpPr>
        <p:spPr bwMode="auto">
          <a:xfrm>
            <a:off x="4990060" y="4894593"/>
            <a:ext cx="3124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8"/>
          <p:cNvSpPr>
            <a:spLocks noChangeShapeType="1"/>
          </p:cNvSpPr>
          <p:nvPr/>
        </p:nvSpPr>
        <p:spPr bwMode="auto">
          <a:xfrm>
            <a:off x="4990060" y="5709759"/>
            <a:ext cx="403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8"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11935" y="1688806"/>
            <a:ext cx="8047038" cy="2212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3"/>
          <p:cNvSpPr>
            <a:spLocks noGrp="1" noChangeArrowheads="1"/>
          </p:cNvSpPr>
          <p:nvPr>
            <p:ph idx="1"/>
          </p:nvPr>
        </p:nvSpPr>
        <p:spPr>
          <a:xfrm>
            <a:off x="978060" y="1531197"/>
            <a:ext cx="11379200" cy="5251090"/>
          </a:xfrm>
        </p:spPr>
        <p:txBody>
          <a:bodyPr>
            <a:normAutofit fontScale="92500" lnSpcReduction="10000"/>
          </a:bodyPr>
          <a:lstStyle/>
          <a:p>
            <a:pPr>
              <a:lnSpc>
                <a:spcPct val="90000"/>
              </a:lnSpc>
            </a:pPr>
            <a:r>
              <a:rPr lang="zh-CN" altLang="en-US" sz="2200" dirty="0">
                <a:latin typeface="微软雅黑" panose="020B0503020204020204" pitchFamily="34" charset="-122"/>
                <a:ea typeface="微软雅黑" panose="020B0503020204020204" pitchFamily="34" charset="-122"/>
              </a:rPr>
              <a:t>给定完全联合分布</a:t>
            </a:r>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eaLnBrk="1" hangingPunct="1">
              <a:lnSpc>
                <a:spcPct val="90000"/>
              </a:lnSpc>
            </a:pPr>
            <a:endParaRPr lang="en-US" altLang="zh-CN" sz="2400" dirty="0">
              <a:latin typeface="微软雅黑" panose="020B0503020204020204" pitchFamily="34" charset="-122"/>
              <a:ea typeface="微软雅黑" panose="020B0503020204020204" pitchFamily="34" charset="-122"/>
            </a:endParaRPr>
          </a:p>
          <a:p>
            <a:pPr eaLnBrk="1" hangingPunct="1">
              <a:lnSpc>
                <a:spcPct val="90000"/>
              </a:lnSpc>
            </a:pPr>
            <a:endParaRPr lang="en-US" altLang="zh-CN" sz="2400" dirty="0">
              <a:latin typeface="微软雅黑" panose="020B0503020204020204" pitchFamily="34" charset="-122"/>
              <a:ea typeface="微软雅黑" panose="020B0503020204020204" pitchFamily="34" charset="-122"/>
            </a:endParaRPr>
          </a:p>
          <a:p>
            <a:pPr eaLnBrk="1" hangingPunct="1">
              <a:lnSpc>
                <a:spcPct val="90000"/>
              </a:lnSpc>
            </a:pPr>
            <a:endParaRPr lang="en-US" altLang="zh-CN" sz="2400" dirty="0">
              <a:latin typeface="微软雅黑" panose="020B0503020204020204" pitchFamily="34" charset="-122"/>
              <a:ea typeface="微软雅黑" panose="020B0503020204020204" pitchFamily="34" charset="-122"/>
            </a:endParaRPr>
          </a:p>
          <a:p>
            <a:pPr eaLnBrk="1" hangingPunct="1">
              <a:lnSpc>
                <a:spcPct val="90000"/>
              </a:lnSpc>
              <a:buFontTx/>
              <a:buNone/>
            </a:pPr>
            <a:endParaRPr lang="en-US" altLang="zh-CN" sz="2400" dirty="0">
              <a:latin typeface="微软雅黑" panose="020B0503020204020204" pitchFamily="34" charset="-122"/>
              <a:ea typeface="微软雅黑" panose="020B0503020204020204" pitchFamily="34" charset="-122"/>
            </a:endParaRPr>
          </a:p>
          <a:p>
            <a:pPr eaLnBrk="1" hangingPunct="1">
              <a:lnSpc>
                <a:spcPct val="90000"/>
              </a:lnSpc>
            </a:pPr>
            <a:endParaRPr lang="en-US" altLang="zh-CN" sz="2400" dirty="0">
              <a:latin typeface="微软雅黑" panose="020B0503020204020204" pitchFamily="34" charset="-122"/>
              <a:ea typeface="微软雅黑" panose="020B0503020204020204" pitchFamily="34" charset="-122"/>
            </a:endParaRPr>
          </a:p>
          <a:p>
            <a:pPr lvl="1">
              <a:lnSpc>
                <a:spcPct val="90000"/>
              </a:lnSpc>
            </a:pPr>
            <a:endParaRPr lang="en-US" altLang="zh-CN" sz="2200" dirty="0">
              <a:latin typeface="微软雅黑" panose="020B0503020204020204" pitchFamily="34" charset="-122"/>
              <a:ea typeface="微软雅黑" panose="020B0503020204020204" pitchFamily="34" charset="-122"/>
            </a:endParaRPr>
          </a:p>
          <a:p>
            <a:pPr eaLnBrk="1" hangingPunct="1">
              <a:lnSpc>
                <a:spcPct val="90000"/>
              </a:lnSpc>
            </a:pPr>
            <a:r>
              <a:rPr lang="zh-CN" altLang="en-US" sz="2200" dirty="0">
                <a:latin typeface="微软雅黑" panose="020B0503020204020204" pitchFamily="34" charset="-122"/>
                <a:ea typeface="微软雅黑" panose="020B0503020204020204" pitchFamily="34" charset="-122"/>
              </a:rPr>
              <a:t>条件概率是由无条件概率定义的，可以计算</a:t>
            </a:r>
            <a:r>
              <a:rPr lang="zh-CN" altLang="en-US" sz="2200" dirty="0">
                <a:solidFill>
                  <a:srgbClr val="FF0000"/>
                </a:solidFill>
                <a:latin typeface="微软雅黑" panose="020B0503020204020204" pitchFamily="34" charset="-122"/>
                <a:ea typeface="微软雅黑" panose="020B0503020204020204" pitchFamily="34" charset="-122"/>
              </a:rPr>
              <a:t>条件概率</a:t>
            </a:r>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eaLnBrk="1" hangingPunct="1">
              <a:lnSpc>
                <a:spcPct val="90000"/>
              </a:lnSpc>
              <a:buFontTx/>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 	      0.016+0.064</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0.108 + 0.012 + 0.016 + 0.064</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   0.4</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3831997" y="2654595"/>
            <a:ext cx="3124200" cy="6858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1" name="矩形 20"/>
          <p:cNvSpPr/>
          <p:nvPr/>
        </p:nvSpPr>
        <p:spPr>
          <a:xfrm>
            <a:off x="3831997" y="2997495"/>
            <a:ext cx="31242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420587" y="1574179"/>
            <a:ext cx="11291176" cy="4929188"/>
          </a:xfrm>
        </p:spPr>
        <p:txBody>
          <a:bodyPr>
            <a:normAutofit lnSpcReduction="10000"/>
          </a:bodyPr>
          <a:lstStyle/>
          <a:p>
            <a:pPr eaLnBrk="1" hangingPunct="1">
              <a:lnSpc>
                <a:spcPct val="90000"/>
              </a:lnSpc>
              <a:buFontTx/>
              <a:buNone/>
            </a:pP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 	      0.016+0.064</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0.108 + 0.012 + 0.016 + 0.064</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   0.4
   </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 	 0.108 + 0.012 </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0.108 + 0.012 + 0.016 + 0.064</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buFontTx/>
              <a:buNone/>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   0.6</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90000"/>
              </a:lnSpc>
            </a:pPr>
            <a:endParaRPr lang="en-US" altLang="zh-CN" sz="1800" dirty="0"/>
          </a:p>
        </p:txBody>
      </p:sp>
      <p:sp>
        <p:nvSpPr>
          <p:cNvPr id="32772" name="Line 7"/>
          <p:cNvSpPr>
            <a:spLocks noChangeShapeType="1"/>
          </p:cNvSpPr>
          <p:nvPr/>
        </p:nvSpPr>
        <p:spPr bwMode="auto">
          <a:xfrm>
            <a:off x="4638575" y="1877729"/>
            <a:ext cx="3124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773" name="Line 8"/>
          <p:cNvSpPr>
            <a:spLocks noChangeShapeType="1"/>
          </p:cNvSpPr>
          <p:nvPr/>
        </p:nvSpPr>
        <p:spPr bwMode="auto">
          <a:xfrm>
            <a:off x="4638575" y="2673846"/>
            <a:ext cx="4038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774" name="Line 7"/>
          <p:cNvSpPr>
            <a:spLocks noChangeShapeType="1"/>
          </p:cNvSpPr>
          <p:nvPr/>
        </p:nvSpPr>
        <p:spPr bwMode="auto">
          <a:xfrm>
            <a:off x="4570396" y="4685489"/>
            <a:ext cx="3124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775" name="Line 8"/>
          <p:cNvSpPr>
            <a:spLocks noChangeShapeType="1"/>
          </p:cNvSpPr>
          <p:nvPr/>
        </p:nvSpPr>
        <p:spPr bwMode="auto">
          <a:xfrm flipV="1">
            <a:off x="4638575" y="5417288"/>
            <a:ext cx="4435381" cy="71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7938666" y="3562113"/>
            <a:ext cx="3926075" cy="1015663"/>
          </a:xfrm>
          <a:prstGeom prst="rect">
            <a:avLst/>
          </a:prstGeom>
          <a:ln>
            <a:solidFill>
              <a:srgbClr val="FF0000"/>
            </a:solidFill>
          </a:ln>
        </p:spPr>
        <p:style>
          <a:lnRef idx="2">
            <a:schemeClr val="accent4"/>
          </a:lnRef>
          <a:fillRef idx="1">
            <a:schemeClr val="lt1"/>
          </a:fillRef>
          <a:effectRef idx="0">
            <a:schemeClr val="accent4"/>
          </a:effectRef>
          <a:fontRef idx="minor">
            <a:schemeClr val="dk1"/>
          </a:fontRef>
        </p:style>
        <p:txBody>
          <a:bodyPr wrap="none">
            <a:spAutoFit/>
          </a:bodyPr>
          <a:lstStyle/>
          <a:p>
            <a:r>
              <a:rPr lang="zh-CN" altLang="en-US" sz="2000" dirty="0">
                <a:latin typeface="微软雅黑" panose="020B0503020204020204" pitchFamily="34" charset="-122"/>
                <a:ea typeface="微软雅黑" panose="020B0503020204020204" pitchFamily="34" charset="-122"/>
              </a:rPr>
              <a:t>这两个计算出来的值相加等于</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分母是不变的，是常数。</a:t>
            </a:r>
            <a:endParaRPr lang="zh-CN" altLang="en-US" sz="2000" dirty="0">
              <a:latin typeface="微软雅黑" panose="020B0503020204020204" pitchFamily="34" charset="-122"/>
              <a:ea typeface="微软雅黑" panose="020B0503020204020204" pitchFamily="34" charset="-122"/>
            </a:endParaRPr>
          </a:p>
        </p:txBody>
      </p:sp>
      <p:grpSp>
        <p:nvGrpSpPr>
          <p:cNvPr id="10" name="组合 9"/>
          <p:cNvGrpSpPr/>
          <p:nvPr/>
        </p:nvGrpSpPr>
        <p:grpSpPr>
          <a:xfrm>
            <a:off x="1093535" y="486917"/>
            <a:ext cx="7464387" cy="497934"/>
            <a:chOff x="4099943" y="2819853"/>
            <a:chExt cx="2570275" cy="497934"/>
          </a:xfrm>
        </p:grpSpPr>
        <p:sp>
          <p:nvSpPr>
            <p:cNvPr id="11" name="平行四边形 10"/>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672164" y="1393257"/>
            <a:ext cx="10993654" cy="5334000"/>
          </a:xfrm>
        </p:spPr>
        <p:txBody>
          <a:bodyPr>
            <a:normAutofit/>
          </a:bodyPr>
          <a:lstStyle/>
          <a:p>
            <a:pPr>
              <a:lnSpc>
                <a:spcPct val="150000"/>
              </a:lnSpc>
            </a:pPr>
            <a:r>
              <a:rPr lang="zh-CN" altLang="en-US" sz="2000" dirty="0">
                <a:latin typeface="微软雅黑" panose="020B0503020204020204" pitchFamily="34" charset="-122"/>
                <a:ea typeface="微软雅黑" panose="020B0503020204020204" pitchFamily="34" charset="-122"/>
              </a:rPr>
              <a:t>例如：</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50000"/>
              </a:lnSpc>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α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 toothache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50000"/>
              </a:lnSpc>
              <a:buFontTx/>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α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 toothache, catch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Cavity, toothache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catch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50000"/>
              </a:lnSpc>
              <a:buFontTx/>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l-GR" altLang="zh-CN" sz="2000" dirty="0">
                <a:latin typeface="Times New Roman" panose="02020603050405020304" pitchFamily="18" charset="0"/>
                <a:ea typeface="微软雅黑" panose="020B0503020204020204" pitchFamily="34" charset="-122"/>
                <a:cs typeface="Times New Roman" panose="02020603050405020304" pitchFamily="18" charset="0"/>
              </a:rPr>
              <a:t>α</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[&lt;0.108,0.016&gt; + &lt;0.012,0.064&gt;]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50000"/>
              </a:lnSpc>
              <a:buFontTx/>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α  &lt;0.12,0.08&gt;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50000"/>
              </a:lnSpc>
              <a:buFontTx/>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&lt;0.6,0.4&gt;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827484" y="4707131"/>
            <a:ext cx="10257034" cy="1515223"/>
          </a:xfrm>
          <a:prstGeom prst="rect">
            <a:avLst/>
          </a:prstGeom>
        </p:spPr>
        <p:txBody>
          <a:bodyPr wrap="square">
            <a:spAutoFit/>
          </a:bodyPr>
          <a:lstStyle/>
          <a:p>
            <a:pPr eaLnBrk="1" hangingPunct="1">
              <a:lnSpc>
                <a:spcPct val="150000"/>
              </a:lnSpc>
            </a:pPr>
            <a:r>
              <a:rPr lang="zh-CN" altLang="en-US" sz="2200" dirty="0">
                <a:solidFill>
                  <a:srgbClr val="FF0000"/>
                </a:solidFill>
                <a:latin typeface="微软雅黑" panose="020B0503020204020204" pitchFamily="34" charset="-122"/>
                <a:ea typeface="微软雅黑" panose="020B0503020204020204" pitchFamily="34" charset="-122"/>
              </a:rPr>
              <a:t>归一化方法</a:t>
            </a:r>
            <a:endParaRPr lang="en-US" altLang="zh-CN" sz="2200" dirty="0">
              <a:solidFill>
                <a:srgbClr val="FF0000"/>
              </a:solidFill>
              <a:latin typeface="微软雅黑" panose="020B0503020204020204" pitchFamily="34" charset="-122"/>
              <a:ea typeface="微软雅黑" panose="020B0503020204020204" pitchFamily="34" charset="-122"/>
            </a:endParaRPr>
          </a:p>
          <a:p>
            <a:pPr lvl="1">
              <a:lnSpc>
                <a:spcPct val="150000"/>
              </a:lnSpc>
              <a:buNone/>
            </a:pPr>
            <a:r>
              <a:rPr lang="zh-CN" altLang="en-US" sz="2000" dirty="0">
                <a:latin typeface="微软雅黑" panose="020B0503020204020204" pitchFamily="34" charset="-122"/>
                <a:ea typeface="微软雅黑" panose="020B0503020204020204" pitchFamily="34" charset="-122"/>
              </a:rPr>
              <a:t>基本思想：计算查询变量的概率分布，可以固定证据变量 </a:t>
            </a:r>
            <a:r>
              <a:rPr lang="en-US" altLang="zh-CN" sz="2000" dirty="0">
                <a:latin typeface="微软雅黑" panose="020B0503020204020204" pitchFamily="34" charset="-122"/>
                <a:ea typeface="微软雅黑" panose="020B0503020204020204" pitchFamily="34" charset="-122"/>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evidence variables</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，然后在隐变量 </a:t>
            </a:r>
            <a:r>
              <a:rPr lang="en-US" altLang="zh-CN" sz="2000" dirty="0">
                <a:latin typeface="微软雅黑" panose="020B0503020204020204" pitchFamily="34" charset="-122"/>
                <a:ea typeface="微软雅黑" panose="020B0503020204020204" pitchFamily="34" charset="-122"/>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hidden variables</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上求和并归一化</a:t>
            </a:r>
            <a:endParaRPr lang="en-US" altLang="zh-CN" sz="2000" dirty="0">
              <a:latin typeface="微软雅黑" panose="020B0503020204020204" pitchFamily="34" charset="-122"/>
              <a:ea typeface="微软雅黑" panose="020B0503020204020204" pitchFamily="34" charset="-122"/>
            </a:endParaRPr>
          </a:p>
        </p:txBody>
      </p:sp>
      <p:grpSp>
        <p:nvGrpSpPr>
          <p:cNvPr id="6" name="组合 5"/>
          <p:cNvGrpSpPr/>
          <p:nvPr/>
        </p:nvGrpSpPr>
        <p:grpSpPr>
          <a:xfrm>
            <a:off x="1093535" y="486917"/>
            <a:ext cx="7464387" cy="497934"/>
            <a:chOff x="4099943" y="2819853"/>
            <a:chExt cx="2570275" cy="497934"/>
          </a:xfrm>
        </p:grpSpPr>
        <p:sp>
          <p:nvSpPr>
            <p:cNvPr id="7" name="平行四边形 6"/>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平行四边形 7"/>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矩形 8"/>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869482" y="1284170"/>
            <a:ext cx="11431604" cy="5334000"/>
          </a:xfrm>
        </p:spPr>
        <p:txBody>
          <a:bodyPr/>
          <a:lstStyle/>
          <a:p>
            <a:pPr eaLnBrk="1" hangingPunct="1">
              <a:lnSpc>
                <a:spcPct val="150000"/>
              </a:lnSpc>
              <a:buFontTx/>
              <a:buNone/>
            </a:pPr>
            <a:r>
              <a:rPr lang="zh-CN" altLang="en-US" sz="2200" dirty="0">
                <a:solidFill>
                  <a:srgbClr val="FF0000"/>
                </a:solidFill>
                <a:latin typeface="微软雅黑" panose="020B0503020204020204" pitchFamily="34" charset="-122"/>
                <a:ea typeface="微软雅黑" panose="020B0503020204020204" pitchFamily="34" charset="-122"/>
              </a:rPr>
              <a:t>归一化方法</a:t>
            </a:r>
            <a:r>
              <a:rPr lang="en-US" altLang="zh-CN" sz="2200" b="1" dirty="0">
                <a:solidFill>
                  <a:srgbClr val="FF0000"/>
                </a:solidFill>
                <a:latin typeface="微软雅黑" panose="020B0503020204020204" pitchFamily="34" charset="-122"/>
                <a:ea typeface="微软雅黑" panose="020B0503020204020204" pitchFamily="34" charset="-122"/>
              </a:rPr>
              <a:t>: </a:t>
            </a:r>
            <a:endParaRPr lang="en-US" altLang="zh-CN" sz="2200" b="1" dirty="0">
              <a:solidFill>
                <a:srgbClr val="FF0000"/>
              </a:solidFill>
              <a:latin typeface="微软雅黑" panose="020B0503020204020204" pitchFamily="34" charset="-122"/>
              <a:ea typeface="微软雅黑" panose="020B0503020204020204" pitchFamily="34" charset="-122"/>
            </a:endParaRPr>
          </a:p>
          <a:p>
            <a:pPr>
              <a:lnSpc>
                <a:spcPct val="150000"/>
              </a:lnSpc>
              <a:buNone/>
            </a:pPr>
            <a:r>
              <a:rPr lang="en-US" altLang="zh-CN"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假设查询变量为</a:t>
            </a:r>
            <a:r>
              <a:rPr lang="en-US" altLang="zh-CN" sz="2000"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证据变量集合为</a:t>
            </a:r>
            <a:r>
              <a:rPr lang="en-US" altLang="zh-CN" sz="2000" dirty="0">
                <a:latin typeface="微软雅黑" panose="020B0503020204020204" pitchFamily="34" charset="-122"/>
                <a:ea typeface="微软雅黑" panose="020B0503020204020204" pitchFamily="34" charset="-122"/>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微软雅黑" panose="020B0503020204020204" pitchFamily="34" charset="-122"/>
                <a:ea typeface="微软雅黑" panose="020B0503020204020204" pitchFamily="34" charset="-122"/>
              </a:rPr>
              <a:t>表示其观察值；假设其余的未观测变量为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buNone/>
            </a:pPr>
            <a:r>
              <a:rPr lang="zh-CN" altLang="en-US" sz="2000" dirty="0">
                <a:latin typeface="微软雅黑" panose="020B0503020204020204" pitchFamily="34" charset="-122"/>
                <a:ea typeface="微软雅黑" panose="020B0503020204020204" pitchFamily="34" charset="-122"/>
              </a:rPr>
              <a:t>     计算查询变量</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buNone/>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P</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α </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α </a:t>
            </a:r>
            <a:r>
              <a:rPr lang="el-GR"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Σ</a:t>
            </a:r>
            <a:r>
              <a:rPr lang="en-US" altLang="zh-CN"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 </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80000"/>
              </a:lnSpc>
              <a:buFontTx/>
              <a:buNone/>
            </a:pPr>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200" b="1" dirty="0">
                <a:latin typeface="微软雅黑" panose="020B0503020204020204" pitchFamily="34" charset="-122"/>
                <a:ea typeface="微软雅黑" panose="020B0503020204020204" pitchFamily="34" charset="-122"/>
              </a:rPr>
              <a:t>问题：</a:t>
            </a:r>
            <a:r>
              <a:rPr lang="zh-CN" altLang="en-US" sz="2200" dirty="0">
                <a:latin typeface="微软雅黑" panose="020B0503020204020204" pitchFamily="34" charset="-122"/>
                <a:ea typeface="微软雅黑" panose="020B0503020204020204" pitchFamily="34" charset="-122"/>
              </a:rPr>
              <a:t>规模扩展性不好 </a:t>
            </a:r>
            <a:endParaRPr lang="en-US" altLang="zh-CN" sz="2200" dirty="0">
              <a:latin typeface="微软雅黑" panose="020B0503020204020204" pitchFamily="34" charset="-122"/>
              <a:ea typeface="微软雅黑" panose="020B0503020204020204" pitchFamily="34" charset="-122"/>
            </a:endParaRPr>
          </a:p>
          <a:p>
            <a:pPr marL="0" indent="0" eaLnBrk="1" hangingPunct="1">
              <a:lnSpc>
                <a:spcPct val="150000"/>
              </a:lnSpc>
              <a:buNone/>
            </a:pPr>
            <a:r>
              <a:rPr lang="zh-CN" altLang="en-US" sz="22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对于一个由</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个布尔变量所描述的问题域，最坏情况下的时间复杂性</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O(2</a:t>
            </a:r>
            <a:r>
              <a:rPr lang="en-US" altLang="zh-CN" sz="2000" i="1" baseline="30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i="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空间复杂性</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O(2</a:t>
            </a:r>
            <a:r>
              <a:rPr lang="en-US" altLang="zh-CN" sz="2000" i="1" baseline="30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5" name="组合 4"/>
          <p:cNvGrpSpPr/>
          <p:nvPr/>
        </p:nvGrpSpPr>
        <p:grpSpPr>
          <a:xfrm>
            <a:off x="1093535" y="486917"/>
            <a:ext cx="7464387"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相关知识点</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361347" y="2168224"/>
            <a:ext cx="2855980" cy="682098"/>
            <a:chOff x="422953" y="1892526"/>
            <a:chExt cx="2855980" cy="682098"/>
          </a:xfrm>
        </p:grpSpPr>
        <p:sp>
          <p:nvSpPr>
            <p:cNvPr id="24" name="文本框 23"/>
            <p:cNvSpPr txBox="1"/>
            <p:nvPr/>
          </p:nvSpPr>
          <p:spPr>
            <a:xfrm>
              <a:off x="750437" y="2114249"/>
              <a:ext cx="2320925" cy="460375"/>
            </a:xfrm>
            <a:prstGeom prst="rect">
              <a:avLst/>
            </a:prstGeom>
            <a:noFill/>
          </p:spPr>
          <p:txBody>
            <a:bodyPr wrap="none" rtlCol="0">
              <a:spAutoFit/>
            </a:bodyPr>
            <a:lstStyle/>
            <a:p>
              <a:pPr algn="l">
                <a:lnSpc>
                  <a:spcPct val="100000"/>
                </a:lnSpc>
                <a:buClrTx/>
                <a:buSzTx/>
                <a:buFontTx/>
              </a:pPr>
              <a:r>
                <a:rPr lang="zh-CN" altLang="en-US" sz="2400" b="1" dirty="0">
                  <a:solidFill>
                    <a:srgbClr val="24569D"/>
                  </a:solidFill>
                </a:rPr>
                <a:t>概率推理知识点</a:t>
              </a:r>
              <a:endParaRPr lang="zh-CN" altLang="en-US" sz="2400" b="1" dirty="0">
                <a:solidFill>
                  <a:srgbClr val="24569D"/>
                </a:solidFill>
              </a:endParaRPr>
            </a:p>
          </p:txBody>
        </p:sp>
        <p:sp>
          <p:nvSpPr>
            <p:cNvPr id="25" name="文本框 24"/>
            <p:cNvSpPr txBox="1"/>
            <p:nvPr/>
          </p:nvSpPr>
          <p:spPr>
            <a:xfrm>
              <a:off x="422953" y="1892526"/>
              <a:ext cx="2855980" cy="461665"/>
            </a:xfrm>
            <a:prstGeom prst="rect">
              <a:avLst/>
            </a:prstGeom>
            <a:noFill/>
          </p:spPr>
          <p:txBody>
            <a:bodyPr wrap="square" rtlCol="0">
              <a:spAutoFit/>
            </a:bodyPr>
            <a:lstStyle/>
            <a:p>
              <a:endParaRPr lang="en-US" altLang="zh-CN" sz="2400" dirty="0">
                <a:solidFill>
                  <a:srgbClr val="FF0000"/>
                </a:solidFill>
                <a:latin typeface="微软雅黑" panose="020B0503020204020204" pitchFamily="34" charset="-122"/>
              </a:endParaRPr>
            </a:p>
          </p:txBody>
        </p:sp>
      </p:grpSp>
      <p:sp>
        <p:nvSpPr>
          <p:cNvPr id="28" name="文本框 27"/>
          <p:cNvSpPr txBox="1"/>
          <p:nvPr/>
        </p:nvSpPr>
        <p:spPr>
          <a:xfrm>
            <a:off x="8502923" y="4920321"/>
            <a:ext cx="2954655" cy="461665"/>
          </a:xfrm>
          <a:prstGeom prst="rect">
            <a:avLst/>
          </a:prstGeom>
          <a:noFill/>
        </p:spPr>
        <p:txBody>
          <a:bodyPr wrap="none" rtlCol="0">
            <a:spAutoFit/>
          </a:bodyPr>
          <a:lstStyle/>
          <a:p>
            <a:r>
              <a:rPr lang="zh-CN" altLang="en-US" sz="2400" b="1" dirty="0">
                <a:solidFill>
                  <a:srgbClr val="24569D"/>
                </a:solidFill>
              </a:rPr>
              <a:t>贝叶斯网络推理案例</a:t>
            </a:r>
            <a:endParaRPr lang="zh-CN" altLang="en-US" sz="2400" b="1" dirty="0">
              <a:solidFill>
                <a:srgbClr val="24569D"/>
              </a:solidFill>
            </a:endParaRPr>
          </a:p>
        </p:txBody>
      </p:sp>
      <p:sp>
        <p:nvSpPr>
          <p:cNvPr id="30" name="文本框 29"/>
          <p:cNvSpPr txBox="1"/>
          <p:nvPr/>
        </p:nvSpPr>
        <p:spPr>
          <a:xfrm>
            <a:off x="8441833" y="2411796"/>
            <a:ext cx="2646878" cy="461665"/>
          </a:xfrm>
          <a:prstGeom prst="rect">
            <a:avLst/>
          </a:prstGeom>
          <a:noFill/>
        </p:spPr>
        <p:txBody>
          <a:bodyPr wrap="none" rtlCol="0">
            <a:spAutoFit/>
          </a:bodyPr>
          <a:lstStyle/>
          <a:p>
            <a:r>
              <a:rPr lang="zh-CN" altLang="en-US" sz="2400" b="1" dirty="0">
                <a:solidFill>
                  <a:srgbClr val="FF0000"/>
                </a:solidFill>
              </a:rPr>
              <a:t>贝叶斯规则及应用</a:t>
            </a:r>
            <a:endParaRPr lang="zh-CN" altLang="en-US" sz="2400" b="1" dirty="0">
              <a:solidFill>
                <a:srgbClr val="FF0000"/>
              </a:solidFill>
            </a:endParaRPr>
          </a:p>
        </p:txBody>
      </p:sp>
      <p:sp>
        <p:nvSpPr>
          <p:cNvPr id="29" name="矩形 28"/>
          <p:cNvSpPr/>
          <p:nvPr/>
        </p:nvSpPr>
        <p:spPr>
          <a:xfrm>
            <a:off x="1648515" y="4869981"/>
            <a:ext cx="2339102" cy="461665"/>
          </a:xfrm>
          <a:prstGeom prst="rect">
            <a:avLst/>
          </a:prstGeom>
        </p:spPr>
        <p:txBody>
          <a:bodyPr wrap="none">
            <a:spAutoFit/>
          </a:bodyPr>
          <a:lstStyle/>
          <a:p>
            <a:pPr lvl="0"/>
            <a:r>
              <a:rPr lang="zh-CN" altLang="en-US" sz="2400" b="1" dirty="0">
                <a:solidFill>
                  <a:srgbClr val="24569D"/>
                </a:solidFill>
              </a:rPr>
              <a:t>贝叶斯网络推理</a:t>
            </a:r>
            <a:endParaRPr lang="zh-CN" altLang="en-US" sz="2400" b="1" dirty="0">
              <a:solidFill>
                <a:srgbClr val="24569D"/>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59" name="Rectangle 3"/>
          <p:cNvSpPr>
            <a:spLocks noGrp="1" noChangeArrowheads="1"/>
          </p:cNvSpPr>
          <p:nvPr>
            <p:ph idx="1"/>
          </p:nvPr>
        </p:nvSpPr>
        <p:spPr>
          <a:xfrm>
            <a:off x="636809" y="1378819"/>
            <a:ext cx="7992240" cy="5105400"/>
          </a:xfrm>
        </p:spPr>
        <p:txBody>
          <a:bodyPr>
            <a:normAutofit/>
          </a:bodyPr>
          <a:lstStyle/>
          <a:p>
            <a:pPr eaLnBrk="1" hangingPunct="1">
              <a:lnSpc>
                <a:spcPct val="80000"/>
              </a:lnSpc>
            </a:pPr>
            <a:r>
              <a:rPr lang="zh-CN" altLang="en-US" sz="2000" dirty="0">
                <a:latin typeface="微软雅黑" panose="020B0503020204020204" pitchFamily="34" charset="-122"/>
                <a:ea typeface="微软雅黑" panose="020B0503020204020204" pitchFamily="34" charset="-122"/>
              </a:rPr>
              <a:t>根据乘法法则，联合分布可以表示为</a:t>
            </a:r>
            <a:r>
              <a:rPr lang="en-US" sz="2000" dirty="0">
                <a:latin typeface="微软雅黑" panose="020B0503020204020204" pitchFamily="34" charset="-122"/>
                <a:ea typeface="微软雅黑" panose="020B0503020204020204" pitchFamily="34" charset="-122"/>
              </a:rPr>
              <a:t>:</a:t>
            </a:r>
            <a:endParaRPr lang="en-US" sz="2000" dirty="0">
              <a:latin typeface="微软雅黑" panose="020B0503020204020204" pitchFamily="34" charset="-122"/>
              <a:ea typeface="微软雅黑" panose="020B0503020204020204" pitchFamily="34" charset="-122"/>
            </a:endParaRPr>
          </a:p>
          <a:p>
            <a:pPr lvl="1" eaLnBrk="1" hangingPunct="1">
              <a:lnSpc>
                <a:spcPct val="80000"/>
              </a:lnSpc>
            </a:pPr>
            <a:endParaRPr lang="en-US" sz="2000" dirty="0"/>
          </a:p>
          <a:p>
            <a:pPr eaLnBrk="1" hangingPunct="1">
              <a:lnSpc>
                <a:spcPct val="80000"/>
              </a:lnSpc>
            </a:pPr>
            <a:endParaRPr lang="en-US" sz="2400" dirty="0"/>
          </a:p>
          <a:p>
            <a:pPr eaLnBrk="1" hangingPunct="1">
              <a:lnSpc>
                <a:spcPct val="80000"/>
              </a:lnSpc>
            </a:pPr>
            <a:endParaRPr lang="en-US" sz="2400" dirty="0"/>
          </a:p>
          <a:p>
            <a:r>
              <a:rPr lang="zh-CN" altLang="en-US" sz="2000" dirty="0">
                <a:latin typeface="微软雅黑" panose="020B0503020204020204" pitchFamily="34" charset="-122"/>
                <a:ea typeface="微软雅黑" panose="020B0503020204020204" pitchFamily="34" charset="-122"/>
              </a:rPr>
              <a:t>同时除以</a:t>
            </a:r>
            <a:r>
              <a:rPr lang="en-US" altLang="zh-CN" sz="2000" dirty="0">
                <a:latin typeface="微软雅黑" panose="020B0503020204020204" pitchFamily="34" charset="-122"/>
                <a:ea typeface="微软雅黑" panose="020B0503020204020204" pitchFamily="34" charset="-122"/>
              </a:rPr>
              <a:t>P(a)</a:t>
            </a:r>
            <a:r>
              <a:rPr lang="zh-CN" altLang="en-US" sz="2000" dirty="0">
                <a:latin typeface="微软雅黑" panose="020B0503020204020204" pitchFamily="34" charset="-122"/>
                <a:ea typeface="微软雅黑" panose="020B0503020204020204" pitchFamily="34" charset="-122"/>
              </a:rPr>
              <a:t>，得到</a:t>
            </a:r>
            <a:r>
              <a:rPr lang="zh-CN" altLang="en-US" sz="2000" dirty="0">
                <a:solidFill>
                  <a:srgbClr val="FF0000"/>
                </a:solidFill>
                <a:latin typeface="微软雅黑" panose="020B0503020204020204" pitchFamily="34" charset="-122"/>
                <a:ea typeface="微软雅黑" panose="020B0503020204020204" pitchFamily="34" charset="-122"/>
              </a:rPr>
              <a:t>贝叶斯规则</a:t>
            </a:r>
            <a:r>
              <a:rPr lang="en-US" sz="2000" dirty="0">
                <a:latin typeface="微软雅黑" panose="020B0503020204020204" pitchFamily="34" charset="-122"/>
                <a:ea typeface="微软雅黑" panose="020B0503020204020204" pitchFamily="34" charset="-122"/>
              </a:rPr>
              <a:t>:</a:t>
            </a:r>
            <a:endParaRPr lang="en-US" sz="2000" dirty="0">
              <a:latin typeface="微软雅黑" panose="020B0503020204020204" pitchFamily="34" charset="-122"/>
              <a:ea typeface="微软雅黑" panose="020B0503020204020204" pitchFamily="34" charset="-122"/>
            </a:endParaRPr>
          </a:p>
          <a:p>
            <a:pPr lvl="1" eaLnBrk="1" hangingPunct="1">
              <a:lnSpc>
                <a:spcPct val="80000"/>
              </a:lnSpc>
            </a:pPr>
            <a:endParaRPr lang="en-US" sz="2000" dirty="0"/>
          </a:p>
          <a:p>
            <a:pPr marL="0" indent="0" eaLnBrk="1" hangingPunct="1">
              <a:lnSpc>
                <a:spcPct val="80000"/>
              </a:lnSpc>
              <a:buNone/>
            </a:pPr>
            <a:endParaRPr lang="en-US" sz="2400" dirty="0"/>
          </a:p>
          <a:p>
            <a:pPr marL="0" indent="0" eaLnBrk="1" hangingPunct="1">
              <a:lnSpc>
                <a:spcPct val="80000"/>
              </a:lnSpc>
              <a:buNone/>
            </a:pPr>
            <a:endParaRPr lang="en-US" sz="2400" dirty="0"/>
          </a:p>
          <a:p>
            <a:pPr eaLnBrk="1" hangingPunct="1">
              <a:lnSpc>
                <a:spcPct val="80000"/>
              </a:lnSpc>
            </a:pPr>
            <a:r>
              <a:rPr lang="zh-CN" altLang="en-US" sz="2000" dirty="0">
                <a:latin typeface="微软雅黑" panose="020B0503020204020204" pitchFamily="34" charset="-122"/>
                <a:ea typeface="微软雅黑" panose="020B0503020204020204" pitchFamily="34" charset="-122"/>
              </a:rPr>
              <a:t>是大多数进行概率推理的人工智能系统的基础</a:t>
            </a:r>
            <a:endParaRPr lang="en-US" altLang="zh-CN" sz="2000" dirty="0">
              <a:latin typeface="微软雅黑" panose="020B0503020204020204" pitchFamily="34" charset="-122"/>
              <a:ea typeface="微软雅黑" panose="020B0503020204020204" pitchFamily="34" charset="-122"/>
            </a:endParaRPr>
          </a:p>
          <a:p>
            <a:pPr marL="0" indent="0" eaLnBrk="1" hangingPunct="1">
              <a:lnSpc>
                <a:spcPct val="80000"/>
              </a:lnSpc>
              <a:buNone/>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贝叶斯规则在实践中很有用：</a:t>
            </a:r>
            <a:endParaRPr lang="en-US" altLang="zh-CN" sz="2000" dirty="0">
              <a:latin typeface="微软雅黑" panose="020B0503020204020204" pitchFamily="34" charset="-122"/>
              <a:ea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rPr>
              <a:t>很多情况下，前三项有很好的估计，而需要计算第</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项</a:t>
            </a:r>
            <a:endParaRPr lang="en-US" sz="2000" dirty="0">
              <a:latin typeface="微软雅黑" panose="020B0503020204020204" pitchFamily="34" charset="-122"/>
              <a:ea typeface="微软雅黑" panose="020B0503020204020204" pitchFamily="34" charset="-122"/>
            </a:endParaRPr>
          </a:p>
        </p:txBody>
      </p:sp>
      <p:pic>
        <p:nvPicPr>
          <p:cNvPr id="1017869" name="Picture 13" descr="Thomas Bayes">
            <a:hlinkClick r:id="rId1" tooltip="Thomas Bayes"/>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0828" y="2735058"/>
            <a:ext cx="2927072" cy="313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7870" name="AutoShape 14"/>
          <p:cNvSpPr>
            <a:spLocks noChangeArrowheads="1"/>
          </p:cNvSpPr>
          <p:nvPr/>
        </p:nvSpPr>
        <p:spPr bwMode="auto">
          <a:xfrm>
            <a:off x="8051851" y="2041140"/>
            <a:ext cx="1905000" cy="457200"/>
          </a:xfrm>
          <a:prstGeom prst="wedgeRoundRectCallout">
            <a:avLst>
              <a:gd name="adj1" fmla="val -6000"/>
              <a:gd name="adj2" fmla="val 163889"/>
              <a:gd name="adj3" fmla="val 16667"/>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pPr algn="ctr"/>
            <a:r>
              <a:rPr lang="en-US" dirty="0">
                <a:latin typeface="Calibri" panose="020F0502020204030204" pitchFamily="34" charset="0"/>
                <a:cs typeface="Calibri" panose="020F0502020204030204" pitchFamily="34" charset="0"/>
              </a:rPr>
              <a:t>That’s my rule!</a:t>
            </a:r>
            <a:endParaRPr lang="en-US"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2" name="矩形 1"/>
              <p:cNvSpPr/>
              <p:nvPr/>
            </p:nvSpPr>
            <p:spPr>
              <a:xfrm>
                <a:off x="1353193" y="1919525"/>
                <a:ext cx="7651158" cy="430887"/>
              </a:xfrm>
              <a:prstGeom prst="rect">
                <a:avLst/>
              </a:prstGeom>
            </p:spPr>
            <p:txBody>
              <a:bodyPr wrap="square">
                <a:spAutoFit/>
              </a:bodyPr>
              <a:lstStyle/>
              <a:p>
                <a:pPr marL="0" indent="0">
                  <a:buNone/>
                </a:pPr>
                <a14:m>
                  <m:oMath xmlns:m="http://schemas.openxmlformats.org/officeDocument/2006/math">
                    <m:r>
                      <a:rPr lang="en-US" altLang="zh-CN" sz="2200" i="1" smtClean="0">
                        <a:latin typeface="Cambria Math" panose="02040503050406030204" pitchFamily="18" charset="0"/>
                        <a:sym typeface="Symbol" panose="05050102010706020507"/>
                      </a:rPr>
                      <m:t>𝑃</m:t>
                    </m:r>
                    <m:r>
                      <a:rPr lang="en-US" altLang="zh-CN" sz="2200" i="1">
                        <a:latin typeface="Cambria Math" panose="02040503050406030204" pitchFamily="18" charset="0"/>
                        <a:sym typeface="Symbol" panose="05050102010706020507"/>
                      </a:rPr>
                      <m:t>(</m:t>
                    </m:r>
                    <m:r>
                      <a:rPr lang="en-US" altLang="zh-CN" sz="2200" i="1">
                        <a:latin typeface="Cambria Math" panose="02040503050406030204" pitchFamily="18" charset="0"/>
                        <a:sym typeface="Symbol" panose="05050102010706020507"/>
                      </a:rPr>
                      <m:t>𝑎</m:t>
                    </m:r>
                    <m:r>
                      <a:rPr lang="en-US" altLang="zh-CN" sz="2200" i="1">
                        <a:latin typeface="Cambria Math" panose="02040503050406030204" pitchFamily="18" charset="0"/>
                        <a:sym typeface="Symbol" panose="05050102010706020507"/>
                      </a:rPr>
                      <m:t>, </m:t>
                    </m:r>
                    <m:r>
                      <a:rPr lang="en-US" altLang="zh-CN" sz="2200" i="1">
                        <a:latin typeface="Cambria Math" panose="02040503050406030204" pitchFamily="18" charset="0"/>
                        <a:sym typeface="Symbol" panose="05050102010706020507"/>
                      </a:rPr>
                      <m:t>𝑏</m:t>
                    </m:r>
                    <m:r>
                      <a:rPr lang="en-US" altLang="zh-CN" sz="2200" i="1">
                        <a:latin typeface="Cambria Math" panose="02040503050406030204" pitchFamily="18" charset="0"/>
                        <a:sym typeface="Symbol" panose="05050102010706020507"/>
                      </a:rPr>
                      <m:t>)=</m:t>
                    </m:r>
                    <m:r>
                      <a:rPr lang="en-US" altLang="zh-CN" sz="2200" i="1">
                        <a:latin typeface="Cambria Math" panose="02040503050406030204" pitchFamily="18" charset="0"/>
                        <a:sym typeface="Symbol" panose="05050102010706020507"/>
                      </a:rPr>
                      <m:t>𝑃</m:t>
                    </m:r>
                    <m:r>
                      <a:rPr lang="en-US" altLang="zh-CN" sz="2200" i="1">
                        <a:latin typeface="Cambria Math" panose="02040503050406030204" pitchFamily="18" charset="0"/>
                        <a:sym typeface="Symbol" panose="05050102010706020507"/>
                      </a:rPr>
                      <m:t>(</m:t>
                    </m:r>
                    <m:r>
                      <a:rPr lang="en-US" altLang="zh-CN" sz="2200" i="1">
                        <a:latin typeface="Cambria Math" panose="02040503050406030204" pitchFamily="18" charset="0"/>
                        <a:sym typeface="Symbol" panose="05050102010706020507"/>
                      </a:rPr>
                      <m:t>𝑎</m:t>
                    </m:r>
                    <m:r>
                      <a:rPr lang="en-US" altLang="zh-CN" sz="2200" i="1">
                        <a:latin typeface="Cambria Math" panose="02040503050406030204" pitchFamily="18" charset="0"/>
                        <a:sym typeface="Symbol" panose="05050102010706020507"/>
                      </a:rPr>
                      <m:t>|</m:t>
                    </m:r>
                    <m:r>
                      <a:rPr lang="en-US" altLang="zh-CN" sz="2200" i="1">
                        <a:latin typeface="Cambria Math" panose="02040503050406030204" pitchFamily="18" charset="0"/>
                        <a:sym typeface="Symbol" panose="05050102010706020507"/>
                      </a:rPr>
                      <m:t>𝑏</m:t>
                    </m:r>
                    <m:r>
                      <a:rPr lang="en-US" altLang="zh-CN" sz="2200" i="1">
                        <a:latin typeface="Cambria Math" panose="02040503050406030204" pitchFamily="18" charset="0"/>
                        <a:sym typeface="Symbol" panose="05050102010706020507"/>
                      </a:rPr>
                      <m:t>)</m:t>
                    </m:r>
                    <m:r>
                      <a:rPr lang="en-US" altLang="zh-CN" sz="2200" i="1">
                        <a:latin typeface="Cambria Math" panose="02040503050406030204" pitchFamily="18" charset="0"/>
                        <a:sym typeface="Symbol" panose="05050102010706020507"/>
                      </a:rPr>
                      <m:t>𝑃</m:t>
                    </m:r>
                    <m:r>
                      <a:rPr lang="en-US" altLang="zh-CN" sz="2200" i="1">
                        <a:latin typeface="Cambria Math" panose="02040503050406030204" pitchFamily="18" charset="0"/>
                        <a:sym typeface="Symbol" panose="05050102010706020507"/>
                      </a:rPr>
                      <m:t>(</m:t>
                    </m:r>
                    <m:r>
                      <a:rPr lang="en-US" altLang="zh-CN" sz="2200" i="1">
                        <a:latin typeface="Cambria Math" panose="02040503050406030204" pitchFamily="18" charset="0"/>
                        <a:sym typeface="Symbol" panose="05050102010706020507"/>
                      </a:rPr>
                      <m:t>𝑏</m:t>
                    </m:r>
                    <m:r>
                      <a:rPr lang="en-US" altLang="zh-CN" sz="2200" i="1" smtClean="0">
                        <a:solidFill>
                          <a:schemeClr val="tx1"/>
                        </a:solidFill>
                        <a:latin typeface="Cambria Math" panose="02040503050406030204" pitchFamily="18" charset="0"/>
                        <a:sym typeface="Symbol" panose="05050102010706020507"/>
                      </a:rPr>
                      <m:t>)</m:t>
                    </m:r>
                  </m:oMath>
                </a14:m>
                <a:r>
                  <a:rPr lang="en-US" altLang="zh-CN" sz="2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200" b="0" i="0" smtClean="0">
                        <a:solidFill>
                          <a:schemeClr val="tx1"/>
                        </a:solidFill>
                        <a:latin typeface="Cambria Math" panose="02040503050406030204" pitchFamily="18" charset="0"/>
                        <a:sym typeface="Symbol" panose="05050102010706020507"/>
                      </a:rPr>
                      <m:t> </m:t>
                    </m:r>
                    <m:r>
                      <a:rPr lang="en-US" altLang="zh-CN" sz="2200" i="1">
                        <a:solidFill>
                          <a:schemeClr val="tx1"/>
                        </a:solidFill>
                        <a:latin typeface="Cambria Math" panose="02040503050406030204" pitchFamily="18" charset="0"/>
                        <a:sym typeface="Symbol" panose="05050102010706020507"/>
                      </a:rPr>
                      <m:t> </m:t>
                    </m:r>
                    <m:r>
                      <a:rPr lang="en-US" altLang="zh-CN" sz="2200" i="1">
                        <a:solidFill>
                          <a:schemeClr val="tx1"/>
                        </a:solidFill>
                        <a:latin typeface="Cambria Math" panose="02040503050406030204" pitchFamily="18" charset="0"/>
                        <a:sym typeface="Symbol" panose="05050102010706020507"/>
                      </a:rPr>
                      <m:t>𝑃</m:t>
                    </m:r>
                    <m:r>
                      <a:rPr lang="en-US" altLang="zh-CN" sz="2200" i="1">
                        <a:solidFill>
                          <a:schemeClr val="tx1"/>
                        </a:solidFill>
                        <a:latin typeface="Cambria Math" panose="02040503050406030204" pitchFamily="18" charset="0"/>
                        <a:sym typeface="Symbol" panose="05050102010706020507"/>
                      </a:rPr>
                      <m:t>(</m:t>
                    </m:r>
                    <m:r>
                      <a:rPr lang="en-US" altLang="zh-CN" sz="2200" i="1">
                        <a:solidFill>
                          <a:schemeClr val="tx1"/>
                        </a:solidFill>
                        <a:latin typeface="Cambria Math" panose="02040503050406030204" pitchFamily="18" charset="0"/>
                        <a:sym typeface="Symbol" panose="05050102010706020507"/>
                      </a:rPr>
                      <m:t>𝑎</m:t>
                    </m:r>
                    <m:r>
                      <a:rPr lang="en-US" altLang="zh-CN" sz="2200" i="1">
                        <a:solidFill>
                          <a:schemeClr val="tx1"/>
                        </a:solidFill>
                        <a:latin typeface="Cambria Math" panose="02040503050406030204" pitchFamily="18" charset="0"/>
                        <a:sym typeface="Symbol" panose="05050102010706020507"/>
                      </a:rPr>
                      <m:t>, </m:t>
                    </m:r>
                    <m:r>
                      <a:rPr lang="en-US" altLang="zh-CN" sz="2200" i="1">
                        <a:solidFill>
                          <a:schemeClr val="tx1"/>
                        </a:solidFill>
                        <a:latin typeface="Cambria Math" panose="02040503050406030204" pitchFamily="18" charset="0"/>
                        <a:sym typeface="Symbol" panose="05050102010706020507"/>
                      </a:rPr>
                      <m:t>𝑏</m:t>
                    </m:r>
                    <m:r>
                      <a:rPr lang="en-US" altLang="zh-CN" sz="2200" i="1">
                        <a:solidFill>
                          <a:schemeClr val="tx1"/>
                        </a:solidFill>
                        <a:latin typeface="Cambria Math" panose="02040503050406030204" pitchFamily="18" charset="0"/>
                        <a:sym typeface="Symbol" panose="05050102010706020507"/>
                      </a:rPr>
                      <m:t>)=</m:t>
                    </m:r>
                    <m:r>
                      <a:rPr lang="en-US" altLang="zh-CN" sz="2200" i="1">
                        <a:solidFill>
                          <a:schemeClr val="tx1"/>
                        </a:solidFill>
                        <a:latin typeface="Cambria Math" panose="02040503050406030204" pitchFamily="18" charset="0"/>
                        <a:sym typeface="Symbol" panose="05050102010706020507"/>
                      </a:rPr>
                      <m:t>𝑃</m:t>
                    </m:r>
                    <m:r>
                      <a:rPr lang="en-US" altLang="zh-CN" sz="2200" i="1">
                        <a:solidFill>
                          <a:schemeClr val="tx1"/>
                        </a:solidFill>
                        <a:latin typeface="Cambria Math" panose="02040503050406030204" pitchFamily="18" charset="0"/>
                        <a:sym typeface="Symbol" panose="05050102010706020507"/>
                      </a:rPr>
                      <m:t>(</m:t>
                    </m:r>
                    <m:r>
                      <a:rPr lang="en-US" altLang="zh-CN" sz="2200" i="1">
                        <a:solidFill>
                          <a:schemeClr val="tx1"/>
                        </a:solidFill>
                        <a:latin typeface="Cambria Math" panose="02040503050406030204" pitchFamily="18" charset="0"/>
                        <a:sym typeface="Symbol" panose="05050102010706020507"/>
                      </a:rPr>
                      <m:t>𝑏</m:t>
                    </m:r>
                    <m:r>
                      <a:rPr lang="en-US" altLang="zh-CN" sz="2200" i="1">
                        <a:solidFill>
                          <a:schemeClr val="tx1"/>
                        </a:solidFill>
                        <a:latin typeface="Cambria Math" panose="02040503050406030204" pitchFamily="18" charset="0"/>
                        <a:sym typeface="Symbol" panose="05050102010706020507"/>
                      </a:rPr>
                      <m:t>|</m:t>
                    </m:r>
                    <m:r>
                      <a:rPr lang="en-US" altLang="zh-CN" sz="2200" i="1">
                        <a:solidFill>
                          <a:schemeClr val="tx1"/>
                        </a:solidFill>
                        <a:latin typeface="Cambria Math" panose="02040503050406030204" pitchFamily="18" charset="0"/>
                        <a:sym typeface="Symbol" panose="05050102010706020507"/>
                      </a:rPr>
                      <m:t>𝑎</m:t>
                    </m:r>
                    <m:r>
                      <a:rPr lang="en-US" altLang="zh-CN" sz="2200" i="1">
                        <a:solidFill>
                          <a:schemeClr val="tx1"/>
                        </a:solidFill>
                        <a:latin typeface="Cambria Math" panose="02040503050406030204" pitchFamily="18" charset="0"/>
                        <a:sym typeface="Symbol" panose="05050102010706020507"/>
                      </a:rPr>
                      <m:t>)</m:t>
                    </m:r>
                    <m:r>
                      <a:rPr lang="en-US" altLang="zh-CN" sz="2200" i="1">
                        <a:solidFill>
                          <a:schemeClr val="tx1"/>
                        </a:solidFill>
                        <a:latin typeface="Cambria Math" panose="02040503050406030204" pitchFamily="18" charset="0"/>
                        <a:sym typeface="Symbol" panose="05050102010706020507"/>
                      </a:rPr>
                      <m:t>𝑃</m:t>
                    </m:r>
                    <m:r>
                      <a:rPr lang="en-US" altLang="zh-CN" sz="2200" i="1">
                        <a:solidFill>
                          <a:schemeClr val="tx1"/>
                        </a:solidFill>
                        <a:latin typeface="Cambria Math" panose="02040503050406030204" pitchFamily="18" charset="0"/>
                        <a:sym typeface="Symbol" panose="05050102010706020507"/>
                      </a:rPr>
                      <m:t>(</m:t>
                    </m:r>
                    <m:r>
                      <a:rPr lang="en-US" altLang="zh-CN" sz="2200" i="1">
                        <a:solidFill>
                          <a:schemeClr val="tx1"/>
                        </a:solidFill>
                        <a:latin typeface="Cambria Math" panose="02040503050406030204" pitchFamily="18" charset="0"/>
                        <a:sym typeface="Symbol" panose="05050102010706020507"/>
                      </a:rPr>
                      <m:t>𝑎</m:t>
                    </m:r>
                    <m:r>
                      <a:rPr lang="en-US" altLang="zh-CN" sz="2200" i="1">
                        <a:solidFill>
                          <a:schemeClr val="tx1"/>
                        </a:solidFill>
                        <a:latin typeface="Cambria Math" panose="02040503050406030204" pitchFamily="18" charset="0"/>
                        <a:sym typeface="Symbol" panose="05050102010706020507"/>
                      </a:rPr>
                      <m:t>)</m:t>
                    </m:r>
                  </m:oMath>
                </a14:m>
                <a:endParaRPr lang="en-US" altLang="zh-CN" sz="2200" dirty="0">
                  <a:solidFill>
                    <a:srgbClr val="333399"/>
                  </a:solidFill>
                  <a:latin typeface="Times New Roman" panose="02020603050405020304" pitchFamily="18" charset="0"/>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1353193" y="1919525"/>
                <a:ext cx="7651158" cy="430887"/>
              </a:xfrm>
              <a:prstGeom prst="rect">
                <a:avLst/>
              </a:prstGeom>
              <a:blipFill rotWithShape="1">
                <a:blip r:embed="rId3"/>
                <a:stretch>
                  <a:fillRect t="-129" r="1" b="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2134967" y="3395016"/>
                <a:ext cx="4454489" cy="681533"/>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sym typeface="Symbol" panose="05050102010706020507"/>
                        </a:rPr>
                        <m:t>𝑃</m:t>
                      </m:r>
                      <m:r>
                        <a:rPr lang="en-US" altLang="zh-CN" sz="2800" i="1">
                          <a:latin typeface="Cambria Math" panose="02040503050406030204" pitchFamily="18" charset="0"/>
                          <a:sym typeface="Symbol" panose="05050102010706020507"/>
                        </a:rPr>
                        <m:t>(</m:t>
                      </m:r>
                      <m:r>
                        <a:rPr lang="en-US" altLang="zh-CN" sz="2800" i="1">
                          <a:latin typeface="Cambria Math" panose="02040503050406030204" pitchFamily="18" charset="0"/>
                          <a:sym typeface="Symbol" panose="05050102010706020507"/>
                        </a:rPr>
                        <m:t>𝑏</m:t>
                      </m:r>
                      <m:r>
                        <a:rPr lang="en-US" altLang="zh-CN" sz="2800" i="1">
                          <a:latin typeface="Cambria Math" panose="02040503050406030204" pitchFamily="18" charset="0"/>
                          <a:sym typeface="Symbol" panose="05050102010706020507"/>
                        </a:rPr>
                        <m:t>|</m:t>
                      </m:r>
                      <m:r>
                        <a:rPr lang="en-US" altLang="zh-CN" sz="2800" i="1">
                          <a:latin typeface="Cambria Math" panose="02040503050406030204" pitchFamily="18" charset="0"/>
                          <a:sym typeface="Symbol" panose="05050102010706020507"/>
                        </a:rPr>
                        <m:t>𝑎</m:t>
                      </m:r>
                      <m:r>
                        <a:rPr lang="en-US" altLang="zh-CN" sz="2800" i="1">
                          <a:latin typeface="Cambria Math" panose="02040503050406030204" pitchFamily="18" charset="0"/>
                          <a:sym typeface="Symbol" panose="05050102010706020507"/>
                        </a:rPr>
                        <m:t>)=</m:t>
                      </m:r>
                      <m:box>
                        <m:boxPr>
                          <m:ctrlPr>
                            <a:rPr lang="en-US" altLang="zh-CN" sz="2800" i="1" smtClean="0">
                              <a:latin typeface="Cambria Math" panose="02040503050406030204" pitchFamily="18" charset="0"/>
                              <a:sym typeface="Symbol" panose="05050102010706020507"/>
                            </a:rPr>
                          </m:ctrlPr>
                        </m:boxPr>
                        <m:e>
                          <m:argPr>
                            <m:argSz m:val="-1"/>
                          </m:argPr>
                          <m:f>
                            <m:fPr>
                              <m:ctrlPr>
                                <a:rPr lang="en-US" altLang="zh-CN" sz="2800" i="1" smtClean="0">
                                  <a:latin typeface="Cambria Math" panose="02040503050406030204" pitchFamily="18" charset="0"/>
                                  <a:sym typeface="Symbol" panose="05050102010706020507"/>
                                </a:rPr>
                              </m:ctrlPr>
                            </m:fPr>
                            <m:num>
                              <m:r>
                                <a:rPr lang="en-US" altLang="zh-CN" sz="2800" i="1">
                                  <a:latin typeface="Cambria Math" panose="02040503050406030204" pitchFamily="18" charset="0"/>
                                  <a:sym typeface="Symbol" panose="05050102010706020507"/>
                                </a:rPr>
                                <m:t>𝑃</m:t>
                              </m:r>
                              <m:r>
                                <a:rPr lang="en-US" altLang="zh-CN" sz="2800" i="1">
                                  <a:latin typeface="Cambria Math" panose="02040503050406030204" pitchFamily="18" charset="0"/>
                                  <a:sym typeface="Symbol" panose="05050102010706020507"/>
                                </a:rPr>
                                <m:t>(</m:t>
                              </m:r>
                              <m:r>
                                <a:rPr lang="en-US" altLang="zh-CN" sz="2800" i="1">
                                  <a:latin typeface="Cambria Math" panose="02040503050406030204" pitchFamily="18" charset="0"/>
                                  <a:sym typeface="Symbol" panose="05050102010706020507"/>
                                </a:rPr>
                                <m:t>𝑎</m:t>
                              </m:r>
                              <m:r>
                                <a:rPr lang="en-US" altLang="zh-CN" sz="2800" i="1">
                                  <a:latin typeface="Cambria Math" panose="02040503050406030204" pitchFamily="18" charset="0"/>
                                  <a:sym typeface="Symbol" panose="05050102010706020507"/>
                                </a:rPr>
                                <m:t>|</m:t>
                              </m:r>
                              <m:r>
                                <a:rPr lang="en-US" altLang="zh-CN" sz="2800" i="1">
                                  <a:latin typeface="Cambria Math" panose="02040503050406030204" pitchFamily="18" charset="0"/>
                                  <a:sym typeface="Symbol" panose="05050102010706020507"/>
                                </a:rPr>
                                <m:t>𝑏</m:t>
                              </m:r>
                              <m:r>
                                <a:rPr lang="en-US" altLang="zh-CN" sz="2800" i="1">
                                  <a:latin typeface="Cambria Math" panose="02040503050406030204" pitchFamily="18" charset="0"/>
                                  <a:sym typeface="Symbol" panose="05050102010706020507"/>
                                </a:rPr>
                                <m:t>)</m:t>
                              </m:r>
                              <m:r>
                                <a:rPr lang="en-US" altLang="zh-CN" sz="2800" i="1">
                                  <a:latin typeface="Cambria Math" panose="02040503050406030204" pitchFamily="18" charset="0"/>
                                  <a:sym typeface="Symbol" panose="05050102010706020507"/>
                                </a:rPr>
                                <m:t>𝑃</m:t>
                              </m:r>
                              <m:r>
                                <a:rPr lang="en-US" altLang="zh-CN" sz="2800" i="1">
                                  <a:latin typeface="Cambria Math" panose="02040503050406030204" pitchFamily="18" charset="0"/>
                                  <a:sym typeface="Symbol" panose="05050102010706020507"/>
                                </a:rPr>
                                <m:t>(</m:t>
                              </m:r>
                              <m:r>
                                <a:rPr lang="en-US" altLang="zh-CN" sz="2800" i="1">
                                  <a:latin typeface="Cambria Math" panose="02040503050406030204" pitchFamily="18" charset="0"/>
                                  <a:sym typeface="Symbol" panose="05050102010706020507"/>
                                </a:rPr>
                                <m:t>𝑏</m:t>
                              </m:r>
                              <m:r>
                                <a:rPr lang="en-US" altLang="zh-CN" sz="2800" i="1">
                                  <a:latin typeface="Cambria Math" panose="02040503050406030204" pitchFamily="18" charset="0"/>
                                  <a:sym typeface="Symbol" panose="05050102010706020507"/>
                                </a:rPr>
                                <m:t>)</m:t>
                              </m:r>
                            </m:num>
                            <m:den>
                              <m:r>
                                <a:rPr lang="en-US" altLang="zh-CN" sz="2800" i="1">
                                  <a:latin typeface="Cambria Math" panose="02040503050406030204" pitchFamily="18" charset="0"/>
                                  <a:sym typeface="Symbol" panose="05050102010706020507"/>
                                </a:rPr>
                                <m:t>𝑃</m:t>
                              </m:r>
                              <m:r>
                                <a:rPr lang="en-US" altLang="zh-CN" sz="2800" i="1">
                                  <a:latin typeface="Cambria Math" panose="02040503050406030204" pitchFamily="18" charset="0"/>
                                  <a:sym typeface="Symbol" panose="05050102010706020507"/>
                                </a:rPr>
                                <m:t>(</m:t>
                              </m:r>
                              <m:r>
                                <a:rPr lang="en-US" altLang="zh-CN" sz="2800" i="1">
                                  <a:latin typeface="Cambria Math" panose="02040503050406030204" pitchFamily="18" charset="0"/>
                                  <a:sym typeface="Symbol" panose="05050102010706020507"/>
                                </a:rPr>
                                <m:t>𝑎</m:t>
                              </m:r>
                              <m:r>
                                <a:rPr lang="en-US" altLang="zh-CN" sz="2800" i="1">
                                  <a:latin typeface="Cambria Math" panose="02040503050406030204" pitchFamily="18" charset="0"/>
                                  <a:sym typeface="Symbol" panose="05050102010706020507"/>
                                </a:rPr>
                                <m:t>)</m:t>
                              </m:r>
                            </m:den>
                          </m:f>
                        </m:e>
                      </m:box>
                    </m:oMath>
                  </m:oMathPara>
                </a14:m>
                <a:endParaRPr lang="zh-CN" altLang="en-US" sz="2800" dirty="0">
                  <a:latin typeface="Times New Roman" panose="02020603050405020304" pitchFamily="18" charset="0"/>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2134967" y="3395016"/>
                <a:ext cx="4454489" cy="681533"/>
              </a:xfrm>
              <a:prstGeom prst="rect">
                <a:avLst/>
              </a:prstGeom>
              <a:blipFill rotWithShape="1">
                <a:blip r:embed="rId4"/>
                <a:stretch>
                  <a:fillRect l="-2" t="-45" r="1" b="71"/>
                </a:stretch>
              </a:blipFill>
            </p:spPr>
            <p:txBody>
              <a:bodyPr/>
              <a:lstStyle/>
              <a:p>
                <a:r>
                  <a:rPr lang="zh-CN" altLang="en-US">
                    <a:noFill/>
                  </a:rPr>
                  <a:t> </a:t>
                </a:r>
              </a:p>
            </p:txBody>
          </p:sp>
        </mc:Fallback>
      </mc:AlternateContent>
      <p:grpSp>
        <p:nvGrpSpPr>
          <p:cNvPr id="9" name="组合 8"/>
          <p:cNvGrpSpPr/>
          <p:nvPr/>
        </p:nvGrpSpPr>
        <p:grpSpPr>
          <a:xfrm>
            <a:off x="1093535" y="486917"/>
            <a:ext cx="7464387" cy="497934"/>
            <a:chOff x="4099943" y="2819853"/>
            <a:chExt cx="2570275" cy="497934"/>
          </a:xfrm>
        </p:grpSpPr>
        <p:sp>
          <p:nvSpPr>
            <p:cNvPr id="10" name="平行四边形 9"/>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平行四边形 10"/>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矩形 11"/>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贝叶斯规则</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31" name="Rectangle 3"/>
          <p:cNvSpPr>
            <a:spLocks noGrp="1" noChangeArrowheads="1"/>
          </p:cNvSpPr>
          <p:nvPr>
            <p:ph idx="1"/>
          </p:nvPr>
        </p:nvSpPr>
        <p:spPr/>
        <p:txBody>
          <a:bodyPr/>
          <a:lstStyle/>
          <a:p>
            <a:pPr eaLnBrk="1" hangingPunct="1"/>
            <a:r>
              <a:rPr lang="zh-CN" altLang="en-US" sz="2000" dirty="0">
                <a:latin typeface="微软雅黑" panose="020B0503020204020204" pitchFamily="34" charset="-122"/>
                <a:ea typeface="微软雅黑" panose="020B0503020204020204" pitchFamily="34" charset="-122"/>
              </a:rPr>
              <a:t>简单示例</a:t>
            </a:r>
            <a:r>
              <a:rPr lang="en-US" sz="2000" dirty="0">
                <a:latin typeface="微软雅黑" panose="020B0503020204020204" pitchFamily="34" charset="-122"/>
                <a:ea typeface="微软雅黑" panose="020B0503020204020204" pitchFamily="34" charset="-122"/>
              </a:rPr>
              <a:t>: </a:t>
            </a:r>
            <a:r>
              <a:rPr lang="zh-CN" altLang="en-US" sz="2000" dirty="0">
                <a:solidFill>
                  <a:srgbClr val="FF0000"/>
                </a:solidFill>
                <a:latin typeface="微软雅黑" panose="020B0503020204020204" pitchFamily="34" charset="-122"/>
                <a:ea typeface="微软雅黑" panose="020B0503020204020204" pitchFamily="34" charset="-122"/>
              </a:rPr>
              <a:t>医疗诊断</a:t>
            </a:r>
            <a:endParaRPr lang="en-US" sz="2000" dirty="0">
              <a:solidFill>
                <a:srgbClr val="FF0000"/>
              </a:solidFill>
              <a:latin typeface="微软雅黑" panose="020B0503020204020204" pitchFamily="34" charset="-122"/>
              <a:ea typeface="微软雅黑" panose="020B0503020204020204" pitchFamily="34" charset="-122"/>
            </a:endParaRPr>
          </a:p>
          <a:p>
            <a:pPr eaLnBrk="1" hangingPunct="1"/>
            <a:endParaRPr 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结果</a:t>
            </a:r>
            <a:r>
              <a:rPr lang="en-US" altLang="zh-CN" sz="2000" dirty="0">
                <a:latin typeface="微软雅黑" panose="020B0503020204020204" pitchFamily="34" charset="-122"/>
                <a:ea typeface="微软雅黑" panose="020B0503020204020204" pitchFamily="34" charset="-122"/>
              </a:rPr>
              <a:t>effect</a:t>
            </a:r>
            <a:r>
              <a:rPr lang="zh-CN" altLang="en-US" sz="2000" dirty="0">
                <a:latin typeface="微软雅黑" panose="020B0503020204020204" pitchFamily="34" charset="-122"/>
                <a:ea typeface="微软雅黑" panose="020B0503020204020204" pitchFamily="34" charset="-122"/>
              </a:rPr>
              <a:t>看作是证据，确定造成这一结果的未知因素</a:t>
            </a:r>
            <a:r>
              <a:rPr lang="en-US" altLang="zh-CN" sz="2000" dirty="0">
                <a:latin typeface="微软雅黑" panose="020B0503020204020204" pitchFamily="34" charset="-122"/>
                <a:ea typeface="微软雅黑" panose="020B0503020204020204" pitchFamily="34" charset="-122"/>
              </a:rPr>
              <a:t>cause </a:t>
            </a:r>
            <a:r>
              <a:rPr lang="zh-CN" altLang="en-US" sz="2000" dirty="0">
                <a:latin typeface="微软雅黑" panose="020B0503020204020204" pitchFamily="34" charset="-122"/>
                <a:ea typeface="微软雅黑" panose="020B0503020204020204" pitchFamily="34" charset="-122"/>
              </a:rPr>
              <a:t>，贝叶斯规则</a:t>
            </a:r>
            <a:r>
              <a:rPr lang="en-US" sz="2000" dirty="0">
                <a:latin typeface="微软雅黑" panose="020B0503020204020204" pitchFamily="34" charset="-122"/>
                <a:ea typeface="微软雅黑" panose="020B0503020204020204" pitchFamily="34" charset="-122"/>
              </a:rPr>
              <a:t>:</a:t>
            </a:r>
            <a:endParaRPr lang="en-US" sz="2000" dirty="0">
              <a:latin typeface="微软雅黑" panose="020B0503020204020204" pitchFamily="34" charset="-122"/>
              <a:ea typeface="微软雅黑" panose="020B0503020204020204" pitchFamily="34" charset="-122"/>
            </a:endParaRPr>
          </a:p>
          <a:p>
            <a:pPr eaLnBrk="1" hangingPunct="1"/>
            <a:endParaRPr lang="en-US" sz="2000" dirty="0">
              <a:latin typeface="微软雅黑" panose="020B0503020204020204" pitchFamily="34" charset="-122"/>
              <a:ea typeface="微软雅黑" panose="020B0503020204020204" pitchFamily="34" charset="-122"/>
            </a:endParaRPr>
          </a:p>
          <a:p>
            <a:pPr eaLnBrk="1" hangingPunct="1"/>
            <a:endParaRPr lang="en-US" sz="2000" dirty="0">
              <a:latin typeface="微软雅黑" panose="020B0503020204020204" pitchFamily="34" charset="-122"/>
              <a:ea typeface="微软雅黑" panose="020B0503020204020204" pitchFamily="34" charset="-122"/>
            </a:endParaRPr>
          </a:p>
          <a:p>
            <a:pPr lvl="1" eaLnBrk="1" hangingPunct="1"/>
            <a:endParaRPr lang="en-US" sz="2000" dirty="0">
              <a:latin typeface="微软雅黑" panose="020B0503020204020204" pitchFamily="34" charset="-122"/>
              <a:ea typeface="微软雅黑" panose="020B0503020204020204" pitchFamily="34" charset="-122"/>
            </a:endParaRPr>
          </a:p>
          <a:p>
            <a:pPr lvl="1" eaLnBrk="1" hangingPunct="1"/>
            <a:r>
              <a:rPr lang="zh-CN" altLang="en-US" sz="2000" dirty="0">
                <a:latin typeface="微软雅黑" panose="020B0503020204020204" pitchFamily="34" charset="-122"/>
                <a:ea typeface="微软雅黑" panose="020B0503020204020204" pitchFamily="34" charset="-122"/>
              </a:rPr>
              <a:t>条件概率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effect|cause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rPr>
              <a:t>量化了因果方向上的关系</a:t>
            </a:r>
            <a:endParaRPr lang="en-US" altLang="zh-CN" sz="2000" dirty="0">
              <a:latin typeface="微软雅黑" panose="020B0503020204020204" pitchFamily="34" charset="-122"/>
              <a:ea typeface="微软雅黑" panose="020B0503020204020204" pitchFamily="34" charset="-122"/>
            </a:endParaRPr>
          </a:p>
          <a:p>
            <a:pPr lvl="1" eaLnBrk="1" hangingPunct="1"/>
            <a:endParaRPr lang="en-US"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条件概率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cause|effect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rPr>
              <a:t>描述诊断方向上的关系</a:t>
            </a:r>
            <a:endParaRPr lang="en-US" altLang="zh-CN" sz="2000" dirty="0">
              <a:latin typeface="微软雅黑" panose="020B0503020204020204" pitchFamily="34" charset="-122"/>
              <a:ea typeface="微软雅黑" panose="020B0503020204020204" pitchFamily="34" charset="-122"/>
            </a:endParaRPr>
          </a:p>
          <a:p>
            <a:pPr lvl="1"/>
            <a:endParaRPr lang="en-US"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实际中，经常有因果关系的条件概率，而想得出诊断关系。</a:t>
            </a:r>
            <a:endParaRPr lang="en-US" sz="2000" dirty="0">
              <a:latin typeface="微软雅黑" panose="020B0503020204020204" pitchFamily="34" charset="-122"/>
              <a:ea typeface="微软雅黑" panose="020B0503020204020204" pitchFamily="34" charset="-122"/>
            </a:endParaRPr>
          </a:p>
        </p:txBody>
      </p:sp>
      <p:pic>
        <p:nvPicPr>
          <p:cNvPr id="11" name="Picture 10" descr="latex-image-1.pd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6399" y="3192181"/>
            <a:ext cx="5445919" cy="712860"/>
          </a:xfrm>
          <a:prstGeom prst="rect">
            <a:avLst/>
          </a:prstGeom>
        </p:spPr>
      </p:pic>
      <p:grpSp>
        <p:nvGrpSpPr>
          <p:cNvPr id="6" name="组合 5"/>
          <p:cNvGrpSpPr/>
          <p:nvPr/>
        </p:nvGrpSpPr>
        <p:grpSpPr>
          <a:xfrm>
            <a:off x="1093535" y="486917"/>
            <a:ext cx="7464387" cy="497934"/>
            <a:chOff x="4099943" y="2819853"/>
            <a:chExt cx="2570275" cy="497934"/>
          </a:xfrm>
        </p:grpSpPr>
        <p:sp>
          <p:nvSpPr>
            <p:cNvPr id="7" name="平行四边形 6"/>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平行四边形 7"/>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矩形 8"/>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贝叶斯规则应用</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20931" name="Rectangle 3"/>
              <p:cNvSpPr>
                <a:spLocks noGrp="1" noChangeArrowheads="1"/>
              </p:cNvSpPr>
              <p:nvPr>
                <p:ph idx="1"/>
              </p:nvPr>
            </p:nvSpPr>
            <p:spPr>
              <a:xfrm>
                <a:off x="406400" y="1425877"/>
                <a:ext cx="11379200" cy="4729164"/>
              </a:xfrm>
            </p:spPr>
            <p:txBody>
              <a:bodyPr>
                <a:normAutofit lnSpcReduction="10000"/>
              </a:bodyPr>
              <a:lstStyle/>
              <a:p>
                <a:pPr eaLnBrk="1" hangingPunct="1"/>
                <a:r>
                  <a:rPr lang="zh-CN" altLang="en-US" sz="2400" dirty="0">
                    <a:latin typeface="微软雅黑" panose="020B0503020204020204" pitchFamily="34" charset="-122"/>
                    <a:ea typeface="微软雅黑" panose="020B0503020204020204" pitchFamily="34" charset="-122"/>
                  </a:rPr>
                  <a:t>简单实例</a:t>
                </a:r>
                <a:r>
                  <a:rPr lang="en-US" sz="2400" dirty="0">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医疗诊断</a:t>
                </a:r>
                <a:endParaRPr lang="en-US" sz="2400" dirty="0">
                  <a:solidFill>
                    <a:srgbClr val="FF0000"/>
                  </a:solidFill>
                  <a:latin typeface="微软雅黑" panose="020B0503020204020204" pitchFamily="34" charset="-122"/>
                  <a:ea typeface="微软雅黑" panose="020B0503020204020204" pitchFamily="34" charset="-122"/>
                </a:endParaRPr>
              </a:p>
              <a:p>
                <a:pPr lvl="6"/>
                <a:endParaRPr lang="en-US" sz="1200" dirty="0"/>
              </a:p>
              <a:p>
                <a:pPr lvl="1" algn="just">
                  <a:lnSpc>
                    <a:spcPct val="200000"/>
                  </a:lnSpc>
                </a:pPr>
                <a:r>
                  <a:rPr lang="zh-CN" altLang="en-US" sz="2000" dirty="0">
                    <a:latin typeface="微软雅黑" panose="020B0503020204020204" pitchFamily="34" charset="-122"/>
                    <a:ea typeface="微软雅黑" panose="020B0503020204020204" pitchFamily="34" charset="-122"/>
                  </a:rPr>
                  <a:t>医生知道脑膜炎有</a:t>
                </a:r>
                <a:r>
                  <a:rPr lang="en-US" altLang="zh-CN" sz="2000" dirty="0">
                    <a:solidFill>
                      <a:srgbClr val="FF0000"/>
                    </a:solidFill>
                    <a:latin typeface="微软雅黑" panose="020B0503020204020204" pitchFamily="34" charset="-122"/>
                    <a:ea typeface="微软雅黑" panose="020B0503020204020204" pitchFamily="34" charset="-122"/>
                  </a:rPr>
                  <a:t>70%</a:t>
                </a:r>
                <a:r>
                  <a:rPr lang="zh-CN" altLang="en-US" sz="2000" dirty="0">
                    <a:latin typeface="微软雅黑" panose="020B0503020204020204" pitchFamily="34" charset="-122"/>
                    <a:ea typeface="微软雅黑" panose="020B0503020204020204" pitchFamily="34" charset="-122"/>
                  </a:rPr>
                  <a:t>的可能会引起病人脖子僵硬。医生还了解一些无条件的事实：病人患脑膜炎的先验概率为</a:t>
                </a:r>
                <a:r>
                  <a:rPr lang="en-US" sz="2000" dirty="0">
                    <a:solidFill>
                      <a:srgbClr val="FF0000"/>
                    </a:solidFill>
                    <a:latin typeface="微软雅黑" panose="020B0503020204020204" pitchFamily="34" charset="-122"/>
                    <a:ea typeface="微软雅黑" panose="020B0503020204020204" pitchFamily="34" charset="-122"/>
                  </a:rPr>
                  <a:t>1/50,000</a:t>
                </a:r>
                <a:r>
                  <a:rPr 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而任何一个病人脖子僵硬的概率为</a:t>
                </a:r>
                <a:r>
                  <a:rPr lang="en-US" sz="2000" dirty="0">
                    <a:solidFill>
                      <a:srgbClr val="FF0000"/>
                    </a:solidFill>
                    <a:latin typeface="微软雅黑" panose="020B0503020204020204" pitchFamily="34" charset="-122"/>
                    <a:ea typeface="微软雅黑" panose="020B0503020204020204" pitchFamily="34" charset="-122"/>
                  </a:rPr>
                  <a:t> 1%</a:t>
                </a:r>
                <a:r>
                  <a:rPr lang="zh-CN" altLang="en-US" sz="2000" dirty="0">
                    <a:latin typeface="微软雅黑" panose="020B0503020204020204" pitchFamily="34" charset="-122"/>
                    <a:ea typeface="微软雅黑" panose="020B0503020204020204" pitchFamily="34" charset="-122"/>
                  </a:rPr>
                  <a:t>。问：</a:t>
                </a:r>
                <a:r>
                  <a:rPr lang="zh-CN" altLang="en-US" sz="2000" dirty="0">
                    <a:solidFill>
                      <a:srgbClr val="FF0000"/>
                    </a:solidFill>
                    <a:latin typeface="微软雅黑" panose="020B0503020204020204" pitchFamily="34" charset="-122"/>
                    <a:ea typeface="微软雅黑" panose="020B0503020204020204" pitchFamily="34" charset="-122"/>
                  </a:rPr>
                  <a:t>脖子僵硬的病人患脑膜炎的概率？</a:t>
                </a:r>
                <a:endParaRPr lang="en-US" sz="2000" dirty="0">
                  <a:solidFill>
                    <a:srgbClr val="FF0000"/>
                  </a:solidFill>
                  <a:latin typeface="微软雅黑" panose="020B0503020204020204" pitchFamily="34" charset="-122"/>
                  <a:ea typeface="微软雅黑" panose="020B0503020204020204" pitchFamily="34" charset="-122"/>
                </a:endParaRPr>
              </a:p>
              <a:p>
                <a:pPr lvl="1"/>
                <a:endParaRPr lang="en-US" altLang="zh-CN" sz="2000" dirty="0"/>
              </a:p>
              <a:p>
                <a:pPr lvl="1"/>
                <a:r>
                  <a:rPr lang="zh-CN" altLang="en-US" sz="2000" dirty="0">
                    <a:latin typeface="微软雅黑" panose="020B0503020204020204" pitchFamily="34" charset="-122"/>
                    <a:ea typeface="微软雅黑" panose="020B0503020204020204" pitchFamily="34" charset="-122"/>
                  </a:rPr>
                  <a:t>令</a:t>
                </a:r>
                <a:r>
                  <a:rPr lang="en-US" altLang="zh-CN" sz="2000" dirty="0">
                    <a:latin typeface="微软雅黑" panose="020B0503020204020204" pitchFamily="34" charset="-122"/>
                    <a:ea typeface="微软雅黑" panose="020B0503020204020204" pitchFamily="34" charset="-122"/>
                  </a:rPr>
                  <a:t>m</a:t>
                </a:r>
                <a:r>
                  <a:rPr lang="zh-CN" altLang="en-US" sz="2000" dirty="0">
                    <a:latin typeface="微软雅黑" panose="020B0503020204020204" pitchFamily="34" charset="-122"/>
                    <a:ea typeface="微软雅黑" panose="020B0503020204020204" pitchFamily="34" charset="-122"/>
                  </a:rPr>
                  <a:t>表示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病人患有脑膜炎</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的命题</a:t>
                </a:r>
                <a:r>
                  <a:rPr lang="en-US" altLang="zh-CN" sz="2000" dirty="0">
                    <a:latin typeface="微软雅黑" panose="020B0503020204020204" pitchFamily="34" charset="-122"/>
                    <a:ea typeface="微软雅黑" panose="020B0503020204020204" pitchFamily="34" charset="-122"/>
                  </a:rPr>
                  <a:t>, s</a:t>
                </a:r>
                <a:r>
                  <a:rPr lang="zh-CN" altLang="en-US" sz="2000" dirty="0">
                    <a:latin typeface="微软雅黑" panose="020B0503020204020204" pitchFamily="34" charset="-122"/>
                    <a:ea typeface="微软雅黑" panose="020B0503020204020204" pitchFamily="34" charset="-122"/>
                  </a:rPr>
                  <a:t>表示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病人脖子僵硬</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的命题</a:t>
                </a:r>
                <a:endParaRPr lang="en-US" altLang="zh-CN" sz="2000" dirty="0">
                  <a:latin typeface="微软雅黑" panose="020B0503020204020204" pitchFamily="34" charset="-122"/>
                  <a:ea typeface="微软雅黑" panose="020B0503020204020204" pitchFamily="34" charset="-122"/>
                </a:endParaRPr>
              </a:p>
              <a:p>
                <a:pPr lvl="1"/>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则有：</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1/50000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0.7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0.01</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buNone/>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a:t>
                </a:r>
                <a14:m>
                  <m:oMath xmlns:m="http://schemas.openxmlformats.org/officeDocument/2006/math">
                    <m:f>
                      <m:fPr>
                        <m:ctrlPr>
                          <a:rPr lang="en-US" altLang="zh-CN" sz="2000" i="1">
                            <a:solidFill>
                              <a:srgbClr val="FF0000"/>
                            </a:solidFill>
                            <a:latin typeface="Cambria Math" panose="02040503050406030204" pitchFamily="18" charset="0"/>
                          </a:rPr>
                        </m:ctrlPr>
                      </m:fPr>
                      <m:num>
                        <m:r>
                          <a:rPr lang="en-US" altLang="zh-CN" sz="2000" i="1">
                            <a:solidFill>
                              <a:srgbClr val="FF0000"/>
                            </a:solidFill>
                            <a:latin typeface="Cambria Math" panose="02040503050406030204" pitchFamily="18" charset="0"/>
                          </a:rPr>
                          <m:t>𝑃</m:t>
                        </m:r>
                        <m:r>
                          <m:rPr>
                            <m:nor/>
                          </m:rP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s</m:t>
                        </m:r>
                        <m:r>
                          <m:rPr>
                            <m:nor/>
                          </m:rP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m</m:t>
                        </m:r>
                        <m:r>
                          <m:rPr>
                            <m:nor/>
                          </m:rP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 ∗ </m:t>
                        </m:r>
                        <m:r>
                          <a:rPr lang="en-US" altLang="zh-CN" sz="2000" i="1" dirty="0">
                            <a:solidFill>
                              <a:srgbClr val="FF0000"/>
                            </a:solidFill>
                            <a:latin typeface="Cambria Math" panose="02040503050406030204" pitchFamily="18" charset="0"/>
                          </a:rPr>
                          <m:t>𝑃</m:t>
                        </m:r>
                        <m:r>
                          <m:rPr>
                            <m:nor/>
                          </m:rP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m</m:t>
                        </m:r>
                        <m:r>
                          <m:rPr>
                            <m:nor/>
                          </m:rP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m:t>
                        </m:r>
                      </m:num>
                      <m:den>
                        <m:r>
                          <m:rPr>
                            <m:nor/>
                          </m:rP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s</m:t>
                        </m:r>
                        <m:r>
                          <m:rPr>
                            <m:nor/>
                          </m:rP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m:t>)</m:t>
                        </m:r>
                      </m:den>
                    </m:f>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(0.7* 1/50000) /0.01 = 0.0014</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endParaRPr lang="en-US" sz="2000" dirty="0"/>
              </a:p>
            </p:txBody>
          </p:sp>
        </mc:Choice>
        <mc:Fallback>
          <p:sp>
            <p:nvSpPr>
              <p:cNvPr id="1020931" name="Rectangle 3"/>
              <p:cNvSpPr>
                <a:spLocks noRot="1" noChangeAspect="1" noMove="1" noResize="1" noEditPoints="1" noAdjustHandles="1" noChangeArrowheads="1" noChangeShapeType="1" noTextEdit="1"/>
              </p:cNvSpPr>
              <p:nvPr>
                <p:ph idx="1"/>
              </p:nvPr>
            </p:nvSpPr>
            <p:spPr>
              <a:xfrm>
                <a:off x="406400" y="1425877"/>
                <a:ext cx="11379200" cy="4729164"/>
              </a:xfrm>
              <a:blipFill rotWithShape="1">
                <a:blip r:embed="rId1"/>
                <a:stretch>
                  <a:fillRect t="-866" b="13"/>
                </a:stretch>
              </a:blipFill>
            </p:spPr>
            <p:txBody>
              <a:bodyPr/>
              <a:lstStyle/>
              <a:p>
                <a:r>
                  <a:rPr lang="zh-CN" altLang="en-US">
                    <a:noFill/>
                  </a:rPr>
                  <a:t> </a:t>
                </a:r>
              </a:p>
            </p:txBody>
          </p:sp>
        </mc:Fallback>
      </mc:AlternateContent>
      <p:grpSp>
        <p:nvGrpSpPr>
          <p:cNvPr id="5" name="组合 4"/>
          <p:cNvGrpSpPr/>
          <p:nvPr/>
        </p:nvGrpSpPr>
        <p:grpSpPr>
          <a:xfrm>
            <a:off x="1093535" y="486917"/>
            <a:ext cx="7464387"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贝叶斯规则应用</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31" name="Rectangle 3"/>
          <p:cNvSpPr>
            <a:spLocks noGrp="1" noChangeArrowheads="1"/>
          </p:cNvSpPr>
          <p:nvPr>
            <p:ph idx="1"/>
          </p:nvPr>
        </p:nvSpPr>
        <p:spPr>
          <a:xfrm>
            <a:off x="406400" y="1425877"/>
            <a:ext cx="11379200" cy="4729164"/>
          </a:xfrm>
        </p:spPr>
        <p:txBody>
          <a:bodyPr/>
          <a:lstStyle/>
          <a:p>
            <a:pPr eaLnBrk="1" hangingPunct="1"/>
            <a:r>
              <a:rPr lang="zh-CN" altLang="en-US" sz="2400" dirty="0">
                <a:latin typeface="微软雅黑" panose="020B0503020204020204" pitchFamily="34" charset="-122"/>
                <a:ea typeface="微软雅黑" panose="020B0503020204020204" pitchFamily="34" charset="-122"/>
              </a:rPr>
              <a:t>简单实例</a:t>
            </a:r>
            <a:r>
              <a:rPr lang="en-US" altLang="zh-CN" sz="2400" dirty="0">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医疗诊断</a:t>
            </a:r>
            <a:endParaRPr lang="en-US" altLang="zh-CN" sz="2400" dirty="0">
              <a:solidFill>
                <a:srgbClr val="FF0000"/>
              </a:solidFill>
              <a:latin typeface="微软雅黑" panose="020B0503020204020204" pitchFamily="34" charset="-122"/>
              <a:ea typeface="微软雅黑" panose="020B0503020204020204" pitchFamily="34" charset="-122"/>
            </a:endParaRPr>
          </a:p>
          <a:p>
            <a:pPr lvl="6"/>
            <a:endParaRPr lang="en-US" sz="1200" dirty="0"/>
          </a:p>
          <a:p>
            <a:pPr lvl="1" algn="just">
              <a:lnSpc>
                <a:spcPct val="200000"/>
              </a:lnSpc>
            </a:pPr>
            <a:r>
              <a:rPr lang="zh-CN" altLang="en-US" sz="2000" dirty="0">
                <a:latin typeface="微软雅黑" panose="020B0503020204020204" pitchFamily="34" charset="-122"/>
                <a:ea typeface="微软雅黑" panose="020B0503020204020204" pitchFamily="34" charset="-122"/>
              </a:rPr>
              <a:t>医生知道脑膜炎有</a:t>
            </a:r>
            <a:r>
              <a:rPr lang="en-US" altLang="zh-CN" sz="2000" dirty="0">
                <a:latin typeface="微软雅黑" panose="020B0503020204020204" pitchFamily="34" charset="-122"/>
                <a:ea typeface="微软雅黑" panose="020B0503020204020204" pitchFamily="34" charset="-122"/>
              </a:rPr>
              <a:t>70%</a:t>
            </a:r>
            <a:r>
              <a:rPr lang="zh-CN" altLang="en-US" sz="2000" dirty="0">
                <a:latin typeface="微软雅黑" panose="020B0503020204020204" pitchFamily="34" charset="-122"/>
                <a:ea typeface="微软雅黑" panose="020B0503020204020204" pitchFamily="34" charset="-122"/>
              </a:rPr>
              <a:t>的可能会引起病人脖子僵硬。医生还了解一些无条件的事实：病人脖子僵硬的先验概率为</a:t>
            </a:r>
            <a:r>
              <a:rPr lang="en-US" sz="2000" dirty="0">
                <a:latin typeface="微软雅黑" panose="020B0503020204020204" pitchFamily="34" charset="-122"/>
                <a:ea typeface="微软雅黑" panose="020B0503020204020204" pitchFamily="34" charset="-122"/>
              </a:rPr>
              <a:t>1/50,000, </a:t>
            </a:r>
            <a:r>
              <a:rPr lang="zh-CN" altLang="en-US" sz="2000" dirty="0">
                <a:latin typeface="微软雅黑" panose="020B0503020204020204" pitchFamily="34" charset="-122"/>
                <a:ea typeface="微软雅黑" panose="020B0503020204020204" pitchFamily="34" charset="-122"/>
              </a:rPr>
              <a:t>而任何一个病人脖子僵硬的概率为</a:t>
            </a:r>
            <a:r>
              <a:rPr lang="en-US" sz="2000" dirty="0">
                <a:latin typeface="微软雅黑" panose="020B0503020204020204" pitchFamily="34" charset="-122"/>
                <a:ea typeface="微软雅黑" panose="020B0503020204020204" pitchFamily="34" charset="-122"/>
              </a:rPr>
              <a:t> 1%</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gn="just">
              <a:lnSpc>
                <a:spcPct val="200000"/>
              </a:lnSpc>
            </a:pPr>
            <a:r>
              <a:rPr lang="zh-CN" altLang="en-US" sz="2000" dirty="0">
                <a:latin typeface="微软雅黑" panose="020B0503020204020204" pitchFamily="34" charset="-122"/>
                <a:ea typeface="微软雅黑" panose="020B0503020204020204" pitchFamily="34" charset="-122"/>
              </a:rPr>
              <a:t>问题：</a:t>
            </a:r>
            <a:r>
              <a:rPr lang="zh-CN" altLang="en-US" sz="2000" dirty="0">
                <a:solidFill>
                  <a:srgbClr val="FF0000"/>
                </a:solidFill>
                <a:latin typeface="微软雅黑" panose="020B0503020204020204" pitchFamily="34" charset="-122"/>
                <a:ea typeface="微软雅黑" panose="020B0503020204020204" pitchFamily="34" charset="-122"/>
              </a:rPr>
              <a:t>计算</a:t>
            </a:r>
            <a:r>
              <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rgbClr val="FF0000"/>
                </a:solidFill>
                <a:latin typeface="微软雅黑" panose="020B0503020204020204" pitchFamily="34" charset="-122"/>
                <a:ea typeface="微软雅黑" panose="020B0503020204020204" pitchFamily="34" charset="-122"/>
              </a:rPr>
              <a:t>？</a:t>
            </a:r>
            <a:endParaRPr lang="en-US" altLang="zh-CN" sz="2000" dirty="0">
              <a:solidFill>
                <a:srgbClr val="FF0000"/>
              </a:solidFill>
              <a:latin typeface="微软雅黑" panose="020B0503020204020204" pitchFamily="34" charset="-122"/>
              <a:ea typeface="微软雅黑" panose="020B0503020204020204" pitchFamily="34" charset="-122"/>
            </a:endParaRPr>
          </a:p>
          <a:p>
            <a:pPr lvl="1" algn="just">
              <a:lnSpc>
                <a:spcPct val="200000"/>
              </a:lnSpc>
            </a:pPr>
            <a:r>
              <a:rPr lang="zh-CN" altLang="en-US" sz="2000" dirty="0">
                <a:solidFill>
                  <a:srgbClr val="FF0000"/>
                </a:solidFill>
                <a:latin typeface="微软雅黑" panose="020B0503020204020204" pitchFamily="34" charset="-122"/>
                <a:ea typeface="微软雅黑" panose="020B0503020204020204" pitchFamily="34" charset="-122"/>
              </a:rPr>
              <a:t>归一化的方法：</a:t>
            </a:r>
            <a:endParaRPr lang="en-US" sz="20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矩形 4"/>
              <p:cNvSpPr/>
              <p:nvPr/>
            </p:nvSpPr>
            <p:spPr>
              <a:xfrm>
                <a:off x="2333222" y="4780453"/>
                <a:ext cx="6402009" cy="1015663"/>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𝐏</m:t>
                      </m:r>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ctrlPr>
                        </m:dPr>
                        <m:e>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𝑀</m:t>
                          </m:r>
                        </m:e>
                        <m:e>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𝑠</m:t>
                          </m:r>
                        </m:e>
                      </m:d>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  &lt;</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𝑃</m:t>
                      </m:r>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ctrlPr>
                        </m:dPr>
                        <m:e>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𝑚</m:t>
                          </m:r>
                        </m:e>
                        <m:e>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𝑠</m:t>
                          </m:r>
                        </m:e>
                      </m:d>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𝑃</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𝑚</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𝑠</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)&gt;</m:t>
                      </m:r>
                    </m:oMath>
                  </m:oMathPara>
                </a14:m>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ct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a:rPr>
                  <a:t> </a:t>
                </a:r>
                <a14:m>
                  <m:oMath xmlns:m="http://schemas.openxmlformats.org/officeDocument/2006/math">
                    <m:r>
                      <m:rPr>
                        <m:sty m:val="p"/>
                      </m:rP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α</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&lt;</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𝑃</m:t>
                    </m:r>
                    <m:d>
                      <m:dPr>
                        <m:ctrlPr>
                          <a:rPr lang="en-US" altLang="zh-CN" sz="2000" i="1">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ctrlPr>
                      </m:dPr>
                      <m:e>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𝑠</m:t>
                        </m:r>
                      </m:e>
                      <m:e>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𝑚</m:t>
                        </m:r>
                      </m:e>
                    </m:d>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𝑃</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𝑚</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m:t>
                    </m:r>
                    <m:r>
                      <a:rPr lang="en-US" altLang="zh-CN" sz="200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𝑃</m:t>
                    </m:r>
                    <m:r>
                      <a:rPr lang="en-US" altLang="zh-CN" sz="200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m:t>
                    </m:r>
                    <m:r>
                      <a:rPr lang="en-US" altLang="zh-CN" sz="200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𝑠</m:t>
                    </m:r>
                    <m:r>
                      <a:rPr lang="en-US" altLang="zh-CN" sz="200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m:t>
                    </m:r>
                    <m:r>
                      <a:rPr lang="en-US" altLang="zh-CN" sz="200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𝑚</m:t>
                    </m:r>
                    <m:r>
                      <a:rPr lang="en-US" altLang="zh-CN" sz="200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𝑃</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𝑚</m:t>
                    </m:r>
                    <m:r>
                      <a:rPr lang="en-US" altLang="zh-CN" sz="2000">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a:rPr>
                      <m:t>)&gt;</m:t>
                    </m:r>
                  </m:oMath>
                </a14:m>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2333222" y="4780453"/>
                <a:ext cx="6402009" cy="1015663"/>
              </a:xfrm>
              <a:prstGeom prst="rect">
                <a:avLst/>
              </a:prstGeom>
              <a:blipFill rotWithShape="1">
                <a:blip r:embed="rId1"/>
                <a:stretch>
                  <a:fillRect l="-4" t="-17" r="3" b="46"/>
                </a:stretch>
              </a:blipFill>
            </p:spPr>
            <p:txBody>
              <a:bodyPr/>
              <a:lstStyle/>
              <a:p>
                <a:r>
                  <a:rPr lang="zh-CN" altLang="en-US">
                    <a:noFill/>
                  </a:rPr>
                  <a:t> </a:t>
                </a:r>
              </a:p>
            </p:txBody>
          </p:sp>
        </mc:Fallback>
      </mc:AlternateContent>
      <p:grpSp>
        <p:nvGrpSpPr>
          <p:cNvPr id="6" name="组合 5"/>
          <p:cNvGrpSpPr/>
          <p:nvPr/>
        </p:nvGrpSpPr>
        <p:grpSpPr>
          <a:xfrm>
            <a:off x="1093535" y="486917"/>
            <a:ext cx="7464387" cy="497934"/>
            <a:chOff x="4099943" y="2819853"/>
            <a:chExt cx="2570275" cy="497934"/>
          </a:xfrm>
        </p:grpSpPr>
        <p:sp>
          <p:nvSpPr>
            <p:cNvPr id="7" name="平行四边形 6"/>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平行四边形 7"/>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矩形 8"/>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贝叶斯规则应用</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4035" name="Content Placeholder 2"/>
              <p:cNvSpPr>
                <a:spLocks noGrp="1" noChangeArrowheads="1"/>
              </p:cNvSpPr>
              <p:nvPr>
                <p:ph idx="1"/>
              </p:nvPr>
            </p:nvSpPr>
            <p:spPr>
              <a:xfrm>
                <a:off x="664143" y="1356361"/>
                <a:ext cx="10443411" cy="4906963"/>
              </a:xfrm>
            </p:spPr>
            <p:txBody>
              <a:bodyPr>
                <a:normAutofit/>
              </a:bodyPr>
              <a:lstStyle/>
              <a:p>
                <a:pPr algn="just">
                  <a:lnSpc>
                    <a:spcPct val="150000"/>
                  </a:lnSpc>
                </a:pPr>
                <a:r>
                  <a:rPr lang="zh-CN" altLang="en-US" sz="2000" dirty="0">
                    <a:latin typeface="微软雅黑" panose="020B0503020204020204" pitchFamily="34" charset="-122"/>
                    <a:ea typeface="微软雅黑" panose="020B0503020204020204" pitchFamily="34" charset="-122"/>
                  </a:rPr>
                  <a:t>简单示例</a:t>
                </a:r>
                <a:r>
                  <a:rPr lang="en-US" altLang="zh-CN" sz="2000" dirty="0">
                    <a:latin typeface="微软雅黑" panose="020B0503020204020204" pitchFamily="34" charset="-122"/>
                    <a:ea typeface="微软雅黑" panose="020B0503020204020204" pitchFamily="34" charset="-122"/>
                  </a:rPr>
                  <a:t>2:  </a:t>
                </a:r>
                <a:r>
                  <a:rPr lang="zh-CN" altLang="zh-CN" sz="2000" dirty="0">
                    <a:latin typeface="微软雅黑" panose="020B0503020204020204" pitchFamily="34" charset="-122"/>
                    <a:ea typeface="微软雅黑" panose="020B0503020204020204" pitchFamily="34" charset="-122"/>
                  </a:rPr>
                  <a:t>明天要举行户外</a:t>
                </a:r>
                <a:r>
                  <a:rPr lang="zh-CN" altLang="en-US" sz="2000" dirty="0">
                    <a:latin typeface="微软雅黑" panose="020B0503020204020204" pitchFamily="34" charset="-122"/>
                    <a:ea typeface="微软雅黑" panose="020B0503020204020204" pitchFamily="34" charset="-122"/>
                  </a:rPr>
                  <a:t>运动会</a:t>
                </a:r>
                <a:r>
                  <a:rPr lang="zh-CN" altLang="zh-CN" sz="2000" dirty="0">
                    <a:latin typeface="微软雅黑" panose="020B0503020204020204" pitchFamily="34" charset="-122"/>
                    <a:ea typeface="微软雅黑" panose="020B0503020204020204" pitchFamily="34" charset="-122"/>
                  </a:rPr>
                  <a:t>。近年来，每年</a:t>
                </a:r>
                <a:r>
                  <a:rPr lang="zh-CN" altLang="zh-CN" sz="2000" dirty="0">
                    <a:solidFill>
                      <a:srgbClr val="FF0000"/>
                    </a:solidFill>
                    <a:latin typeface="微软雅黑" panose="020B0503020204020204" pitchFamily="34" charset="-122"/>
                    <a:ea typeface="微软雅黑" panose="020B0503020204020204" pitchFamily="34" charset="-122"/>
                  </a:rPr>
                  <a:t>仅下雨</a:t>
                </a:r>
                <a:r>
                  <a:rPr lang="en-US" altLang="zh-CN" sz="2000" dirty="0">
                    <a:solidFill>
                      <a:srgbClr val="FF0000"/>
                    </a:solidFill>
                    <a:latin typeface="微软雅黑" panose="020B0503020204020204" pitchFamily="34" charset="-122"/>
                    <a:ea typeface="微软雅黑" panose="020B0503020204020204" pitchFamily="34" charset="-122"/>
                  </a:rPr>
                  <a:t>5</a:t>
                </a:r>
                <a:r>
                  <a:rPr lang="zh-CN" altLang="zh-CN" sz="2000" dirty="0">
                    <a:solidFill>
                      <a:srgbClr val="FF0000"/>
                    </a:solidFill>
                    <a:latin typeface="微软雅黑" panose="020B0503020204020204" pitchFamily="34" charset="-122"/>
                    <a:ea typeface="微软雅黑" panose="020B0503020204020204" pitchFamily="34" charset="-122"/>
                  </a:rPr>
                  <a:t>天</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5/365=0.014</a:t>
                </a:r>
                <a:r>
                  <a:rPr lang="zh-CN" altLang="zh-CN" sz="2000" dirty="0">
                    <a:latin typeface="微软雅黑" panose="020B0503020204020204" pitchFamily="34" charset="-122"/>
                    <a:ea typeface="微软雅黑" panose="020B0503020204020204" pitchFamily="34" charset="-122"/>
                  </a:rPr>
                  <a:t>）。不幸的是，天气预报员预测明天会下雨。</a:t>
                </a:r>
                <a:r>
                  <a:rPr lang="zh-CN" altLang="zh-CN" sz="2000" dirty="0">
                    <a:solidFill>
                      <a:srgbClr val="FF0000"/>
                    </a:solidFill>
                    <a:latin typeface="微软雅黑" panose="020B0503020204020204" pitchFamily="34" charset="-122"/>
                    <a:ea typeface="微软雅黑" panose="020B0503020204020204" pitchFamily="34" charset="-122"/>
                  </a:rPr>
                  <a:t>当真的下雨时，天气预报员准确地预测了</a:t>
                </a:r>
                <a:r>
                  <a:rPr lang="en-US" altLang="zh-CN" sz="2000" dirty="0">
                    <a:solidFill>
                      <a:srgbClr val="FF0000"/>
                    </a:solidFill>
                    <a:latin typeface="微软雅黑" panose="020B0503020204020204" pitchFamily="34" charset="-122"/>
                    <a:ea typeface="微软雅黑" panose="020B0503020204020204" pitchFamily="34" charset="-122"/>
                  </a:rPr>
                  <a:t>90%</a:t>
                </a:r>
                <a:r>
                  <a:rPr lang="zh-CN" altLang="zh-CN" sz="2000" dirty="0">
                    <a:solidFill>
                      <a:srgbClr val="FF0000"/>
                    </a:solidFill>
                    <a:latin typeface="微软雅黑" panose="020B0503020204020204" pitchFamily="34" charset="-122"/>
                    <a:ea typeface="微软雅黑" panose="020B0503020204020204" pitchFamily="34" charset="-122"/>
                  </a:rPr>
                  <a:t>的降雨</a:t>
                </a:r>
                <a:r>
                  <a:rPr lang="zh-CN" altLang="zh-CN" sz="2000" dirty="0">
                    <a:latin typeface="微软雅黑" panose="020B0503020204020204" pitchFamily="34" charset="-122"/>
                    <a:ea typeface="微软雅黑" panose="020B0503020204020204" pitchFamily="34" charset="-122"/>
                  </a:rPr>
                  <a:t>。</a:t>
                </a:r>
                <a:r>
                  <a:rPr lang="zh-CN" altLang="zh-CN" sz="2000" dirty="0">
                    <a:solidFill>
                      <a:srgbClr val="FF0000"/>
                    </a:solidFill>
                    <a:latin typeface="微软雅黑" panose="020B0503020204020204" pitchFamily="34" charset="-122"/>
                    <a:ea typeface="微软雅黑" panose="020B0503020204020204" pitchFamily="34" charset="-122"/>
                  </a:rPr>
                  <a:t>当不下雨时，他错误地预测了</a:t>
                </a:r>
                <a:r>
                  <a:rPr lang="en-US" altLang="zh-CN" sz="2000" dirty="0">
                    <a:solidFill>
                      <a:srgbClr val="FF0000"/>
                    </a:solidFill>
                    <a:latin typeface="微软雅黑" panose="020B0503020204020204" pitchFamily="34" charset="-122"/>
                    <a:ea typeface="微软雅黑" panose="020B0503020204020204" pitchFamily="34" charset="-122"/>
                  </a:rPr>
                  <a:t>10%</a:t>
                </a:r>
                <a:r>
                  <a:rPr lang="zh-CN" altLang="zh-CN" sz="2000" dirty="0">
                    <a:solidFill>
                      <a:srgbClr val="FF0000"/>
                    </a:solidFill>
                    <a:latin typeface="微软雅黑" panose="020B0503020204020204" pitchFamily="34" charset="-122"/>
                    <a:ea typeface="微软雅黑" panose="020B0503020204020204" pitchFamily="34" charset="-122"/>
                  </a:rPr>
                  <a:t>的降雨</a:t>
                </a:r>
                <a:r>
                  <a:rPr lang="zh-CN"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明天</a:t>
                </a:r>
                <a:r>
                  <a:rPr lang="zh-CN" altLang="zh-CN" sz="2000" dirty="0">
                    <a:latin typeface="微软雅黑" panose="020B0503020204020204" pitchFamily="34" charset="-122"/>
                    <a:ea typeface="微软雅黑" panose="020B0503020204020204" pitchFamily="34" charset="-122"/>
                  </a:rPr>
                  <a:t>下雨</a:t>
                </a:r>
                <a:r>
                  <a:rPr lang="zh-CN" altLang="en-US" sz="2000" dirty="0">
                    <a:latin typeface="微软雅黑" panose="020B0503020204020204" pitchFamily="34" charset="-122"/>
                    <a:ea typeface="微软雅黑" panose="020B0503020204020204" pitchFamily="34" charset="-122"/>
                  </a:rPr>
                  <a:t>和不下雨</a:t>
                </a:r>
                <a:r>
                  <a:rPr lang="zh-CN" altLang="zh-CN" sz="2000" dirty="0">
                    <a:latin typeface="微软雅黑" panose="020B0503020204020204" pitchFamily="34" charset="-122"/>
                    <a:ea typeface="微软雅黑" panose="020B0503020204020204" pitchFamily="34" charset="-122"/>
                  </a:rPr>
                  <a:t>的可能性</a:t>
                </a:r>
                <a:r>
                  <a:rPr lang="zh-CN" altLang="en-US" sz="2000" dirty="0">
                    <a:latin typeface="微软雅黑" panose="020B0503020204020204" pitchFamily="34" charset="-122"/>
                    <a:ea typeface="微软雅黑" panose="020B0503020204020204" pitchFamily="34" charset="-122"/>
                  </a:rPr>
                  <a:t>分别</a:t>
                </a:r>
                <a:r>
                  <a:rPr lang="zh-CN" altLang="zh-CN" sz="2000" dirty="0">
                    <a:latin typeface="微软雅黑" panose="020B0503020204020204" pitchFamily="34" charset="-122"/>
                    <a:ea typeface="微软雅黑" panose="020B0503020204020204" pitchFamily="34" charset="-122"/>
                  </a:rPr>
                  <a:t>有多大？</a:t>
                </a:r>
                <a:endParaRPr lang="en-US" altLang="zh-CN" sz="2000" dirty="0">
                  <a:latin typeface="微软雅黑" panose="020B0503020204020204" pitchFamily="34" charset="-122"/>
                  <a:ea typeface="微软雅黑" panose="020B0503020204020204" pitchFamily="34" charset="-122"/>
                </a:endParaRPr>
              </a:p>
              <a:p>
                <a:pPr algn="just">
                  <a:lnSpc>
                    <a:spcPct val="150000"/>
                  </a:lnSpc>
                </a:pPr>
                <a:endParaRPr lang="en-US" altLang="zh-CN" sz="2000" dirty="0">
                  <a:solidFill>
                    <a:schemeClr val="tx1"/>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chemeClr val="tx1"/>
                    </a:solidFill>
                    <a:latin typeface="微软雅黑" panose="020B0503020204020204" pitchFamily="34" charset="-122"/>
                    <a:ea typeface="微软雅黑" panose="020B0503020204020204" pitchFamily="34" charset="-122"/>
                  </a:rPr>
                  <a:t>令</a:t>
                </a:r>
                <a:r>
                  <a:rPr lang="en-US" altLang="zh-CN" sz="2000" dirty="0">
                    <a:solidFill>
                      <a:schemeClr val="tx1"/>
                    </a:solidFill>
                    <a:latin typeface="微软雅黑" panose="020B0503020204020204" pitchFamily="34" charset="-122"/>
                    <a:ea typeface="微软雅黑" panose="020B0503020204020204" pitchFamily="34" charset="-122"/>
                  </a:rPr>
                  <a:t>rain</a:t>
                </a:r>
                <a:r>
                  <a:rPr lang="zh-CN" altLang="en-US" sz="2000" dirty="0">
                    <a:solidFill>
                      <a:schemeClr val="tx1"/>
                    </a:solidFill>
                    <a:latin typeface="微软雅黑" panose="020B0503020204020204" pitchFamily="34" charset="-122"/>
                    <a:ea typeface="微软雅黑" panose="020B0503020204020204" pitchFamily="34" charset="-122"/>
                  </a:rPr>
                  <a:t>表示明天下雨的概率，</a:t>
                </a:r>
                <a:r>
                  <a:rPr lang="en-US" altLang="zh-CN" sz="2000" dirty="0">
                    <a:solidFill>
                      <a:schemeClr val="tx1"/>
                    </a:solidFill>
                    <a:latin typeface="微软雅黑" panose="020B0503020204020204" pitchFamily="34" charset="-122"/>
                    <a:ea typeface="微软雅黑" panose="020B0503020204020204" pitchFamily="34" charset="-122"/>
                  </a:rPr>
                  <a:t>predict</a:t>
                </a:r>
                <a:r>
                  <a:rPr lang="zh-CN" altLang="en-US" sz="2000" dirty="0">
                    <a:solidFill>
                      <a:schemeClr val="tx1"/>
                    </a:solidFill>
                    <a:latin typeface="微软雅黑" panose="020B0503020204020204" pitchFamily="34" charset="-122"/>
                    <a:ea typeface="微软雅黑" panose="020B0503020204020204" pitchFamily="34" charset="-122"/>
                  </a:rPr>
                  <a:t>表示预测明天下雨的概率</a:t>
                </a:r>
                <a:endParaRPr lang="en-US" altLang="zh-CN" sz="2000" dirty="0">
                  <a:solidFill>
                    <a:schemeClr val="tx1"/>
                  </a:solidFill>
                  <a:latin typeface="微软雅黑" panose="020B0503020204020204" pitchFamily="34" charset="-122"/>
                  <a:ea typeface="微软雅黑" panose="020B0503020204020204" pitchFamily="34" charset="-122"/>
                </a:endParaRPr>
              </a:p>
              <a:p>
                <a:pPr algn="just">
                  <a:lnSpc>
                    <a:spcPct val="150000"/>
                  </a:lnSpc>
                </a:pPr>
                <a14:m>
                  <m:oMath xmlns:m="http://schemas.openxmlformats.org/officeDocument/2006/math">
                    <m:r>
                      <m:rPr>
                        <m:nor/>
                      </m:rPr>
                      <a:rPr lang="zh-CN" altLang="en-US" sz="2000" dirty="0">
                        <a:solidFill>
                          <a:schemeClr val="tx1"/>
                        </a:solidFill>
                        <a:latin typeface="微软雅黑" panose="020B0503020204020204" pitchFamily="34" charset="-122"/>
                        <a:ea typeface="微软雅黑" panose="020B0503020204020204" pitchFamily="34" charset="-122"/>
                      </a:rPr>
                      <m:t>则有</m:t>
                    </m:r>
                    <m:r>
                      <a:rPr lang="zh-CN" altLang="en-US" sz="2000" i="1" dirty="0" smtClean="0">
                        <a:solidFill>
                          <a:schemeClr val="tx1"/>
                        </a:solidFill>
                        <a:latin typeface="Cambria Math" panose="02040503050406030204" pitchFamily="18" charset="0"/>
                      </a:rPr>
                      <m:t>：</m:t>
                    </m:r>
                  </m:oMath>
                </a14:m>
                <a:endParaRPr lang="en-US" altLang="zh-CN" sz="2000" i="1" dirty="0">
                  <a:solidFill>
                    <a:schemeClr val="tx1"/>
                  </a:solidFill>
                  <a:latin typeface="微软雅黑" panose="020B0503020204020204" pitchFamily="34" charset="-122"/>
                  <a:ea typeface="微软雅黑" panose="020B0503020204020204" pitchFamily="34" charset="-122"/>
                </a:endParaRPr>
              </a:p>
              <a:p>
                <a:pPr lvl="1" algn="just">
                  <a:lnSpc>
                    <a:spcPct val="150000"/>
                  </a:lnSpc>
                </a:pPr>
                <a14:m>
                  <m:oMath xmlns:m="http://schemas.openxmlformats.org/officeDocument/2006/math">
                    <m:r>
                      <m:rPr>
                        <m:nor/>
                      </m:rPr>
                      <a:rPr lang="en-US" altLang="zh-CN" sz="20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000" i="1" dirty="0">
                        <a:solidFill>
                          <a:schemeClr val="tx1"/>
                        </a:solidFill>
                        <a:latin typeface="Cambria Math" panose="02040503050406030204" pitchFamily="18" charset="0"/>
                      </a:rPr>
                      <m:t>=</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0</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014</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m:rPr>
                        <m:nor/>
                      </m:rPr>
                      <a:rPr lang="en-US" altLang="zh-CN" sz="20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000" i="1" dirty="0">
                        <a:solidFill>
                          <a:schemeClr val="tx1"/>
                        </a:solidFill>
                        <a:latin typeface="Cambria Math" panose="02040503050406030204" pitchFamily="18" charset="0"/>
                        <a:sym typeface="Symbol" panose="05050102010706020507" pitchFamily="18" charset="2"/>
                      </a:rPr>
                      <m:t></m:t>
                    </m:r>
                    <m:r>
                      <m:rPr>
                        <m:nor/>
                      </m:rPr>
                      <a:rPr lang="en-US" altLang="zh-CN" sz="20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000" i="1" dirty="0">
                        <a:solidFill>
                          <a:schemeClr val="tx1"/>
                        </a:solidFill>
                        <a:latin typeface="Cambria Math" panose="02040503050406030204" pitchFamily="18" charset="0"/>
                      </a:rPr>
                      <m:t>=</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0</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b="0" i="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986</m:t>
                    </m:r>
                    <m:r>
                      <a:rPr lang="zh-CN" altLang="en-US" sz="2000" i="1" dirty="0">
                        <a:solidFill>
                          <a:schemeClr val="tx1"/>
                        </a:solidFill>
                        <a:latin typeface="Cambria Math" panose="02040503050406030204" pitchFamily="18" charset="0"/>
                      </a:rPr>
                      <m:t>；</m:t>
                    </m:r>
                    <m:r>
                      <m:rPr>
                        <m:nor/>
                      </m:rPr>
                      <a:rPr lang="en-US" altLang="zh-CN" sz="20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predict</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0</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a:rPr lang="zh-CN" altLang="en-US" sz="2000" i="1" dirty="0">
                        <a:solidFill>
                          <a:schemeClr val="tx1"/>
                        </a:solidFill>
                        <a:latin typeface="Cambria Math" panose="02040503050406030204" pitchFamily="18" charset="0"/>
                      </a:rPr>
                      <m:t> </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9</m:t>
                    </m:r>
                  </m:oMath>
                </a14:m>
                <a:r>
                  <a:rPr lang="zh-CN" altLang="en-US"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m:rPr>
                        <m:nor/>
                      </m:rPr>
                      <a:rPr lang="en-US" altLang="zh-CN" sz="2000" i="1"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0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predict</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000" i="1" dirty="0">
                        <a:solidFill>
                          <a:schemeClr val="tx1"/>
                        </a:solidFill>
                        <a:latin typeface="Cambria Math" panose="02040503050406030204" pitchFamily="18" charset="0"/>
                        <a:sym typeface="Symbol" panose="05050102010706020507" pitchFamily="18" charset="2"/>
                      </a:rPr>
                      <m:t></m:t>
                    </m:r>
                    <m:r>
                      <m:rPr>
                        <m:nor/>
                      </m:rPr>
                      <a:rPr lang="en-US" altLang="zh-CN" sz="20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m:t>) </m:t>
                    </m:r>
                  </m:oMath>
                </a14:m>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=0.1</a:t>
                </a:r>
                <a:endPar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sz="2000" dirty="0">
                    <a:solidFill>
                      <a:schemeClr val="tx1"/>
                    </a:solidFill>
                    <a:latin typeface="微软雅黑" panose="020B0503020204020204" pitchFamily="34" charset="-122"/>
                    <a:ea typeface="微软雅黑" panose="020B0503020204020204" pitchFamily="34" charset="-122"/>
                  </a:rPr>
                  <a:t>问题：计算</a:t>
                </a:r>
                <a:r>
                  <a:rPr lang="en-US" altLang="zh-CN" sz="20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Rain</a:t>
                </a:r>
                <a:r>
                  <a:rPr lang="en-US" altLang="zh-CN" sz="20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predict</a:t>
                </a: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tx1"/>
                    </a:solidFill>
                    <a:latin typeface="微软雅黑" panose="020B0503020204020204" pitchFamily="34" charset="-122"/>
                    <a:ea typeface="微软雅黑" panose="020B0503020204020204" pitchFamily="34" charset="-122"/>
                  </a:rPr>
                  <a:t>？</a:t>
                </a:r>
                <a:endParaRPr lang="en-US" altLang="zh-CN" sz="2000" dirty="0">
                  <a:solidFill>
                    <a:schemeClr val="tx1"/>
                  </a:solidFill>
                  <a:latin typeface="微软雅黑" panose="020B0503020204020204" pitchFamily="34" charset="-122"/>
                  <a:ea typeface="微软雅黑" panose="020B0503020204020204" pitchFamily="34" charset="-122"/>
                </a:endParaRPr>
              </a:p>
            </p:txBody>
          </p:sp>
        </mc:Choice>
        <mc:Fallback>
          <p:sp>
            <p:nvSpPr>
              <p:cNvPr id="44035" name="Content Placeholder 2"/>
              <p:cNvSpPr>
                <a:spLocks noRot="1" noChangeAspect="1" noMove="1" noResize="1" noEditPoints="1" noAdjustHandles="1" noChangeArrowheads="1" noChangeShapeType="1" noTextEdit="1"/>
              </p:cNvSpPr>
              <p:nvPr>
                <p:ph idx="1"/>
              </p:nvPr>
            </p:nvSpPr>
            <p:spPr>
              <a:xfrm>
                <a:off x="664143" y="1356361"/>
                <a:ext cx="10443411" cy="4906963"/>
              </a:xfrm>
              <a:blipFill rotWithShape="1">
                <a:blip r:embed="rId1"/>
                <a:stretch>
                  <a:fillRect l="-5" r="1" b="7"/>
                </a:stretch>
              </a:blipFill>
            </p:spPr>
            <p:txBody>
              <a:bodyPr/>
              <a:lstStyle/>
              <a:p>
                <a:r>
                  <a:rPr lang="zh-CN" altLang="en-US">
                    <a:noFill/>
                  </a:rPr>
                  <a:t> </a:t>
                </a:r>
              </a:p>
            </p:txBody>
          </p:sp>
        </mc:Fallback>
      </mc:AlternateContent>
      <p:grpSp>
        <p:nvGrpSpPr>
          <p:cNvPr id="5" name="组合 4"/>
          <p:cNvGrpSpPr/>
          <p:nvPr/>
        </p:nvGrpSpPr>
        <p:grpSpPr>
          <a:xfrm>
            <a:off x="1093535" y="486917"/>
            <a:ext cx="7464387"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贝叶斯规则应用</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4035" name="Content Placeholder 2"/>
              <p:cNvSpPr>
                <a:spLocks noGrp="1" noChangeArrowheads="1"/>
              </p:cNvSpPr>
              <p:nvPr>
                <p:ph idx="1"/>
              </p:nvPr>
            </p:nvSpPr>
            <p:spPr>
              <a:xfrm>
                <a:off x="736062" y="1407732"/>
                <a:ext cx="10421673" cy="4906963"/>
              </a:xfrm>
            </p:spPr>
            <p:txBody>
              <a:bodyPr>
                <a:normAutofit fontScale="92500"/>
              </a:bodyPr>
              <a:lstStyle/>
              <a:p>
                <a:pPr algn="just">
                  <a:lnSpc>
                    <a:spcPct val="150000"/>
                  </a:lnSpc>
                </a:pPr>
                <a:r>
                  <a:rPr lang="zh-CN" altLang="en-US" sz="2200" dirty="0">
                    <a:latin typeface="微软雅黑" panose="020B0503020204020204" pitchFamily="34" charset="-122"/>
                    <a:ea typeface="微软雅黑" panose="020B0503020204020204" pitchFamily="34" charset="-122"/>
                  </a:rPr>
                  <a:t>简单示例</a:t>
                </a:r>
                <a:r>
                  <a:rPr lang="en-US" altLang="zh-CN" sz="2200" dirty="0">
                    <a:latin typeface="微软雅黑" panose="020B0503020204020204" pitchFamily="34" charset="-122"/>
                    <a:ea typeface="微软雅黑" panose="020B0503020204020204" pitchFamily="34" charset="-122"/>
                  </a:rPr>
                  <a:t>2: </a:t>
                </a:r>
                <a:r>
                  <a:rPr lang="zh-CN" altLang="zh-CN" sz="2200" dirty="0">
                    <a:latin typeface="微软雅黑" panose="020B0503020204020204" pitchFamily="34" charset="-122"/>
                    <a:ea typeface="微软雅黑" panose="020B0503020204020204" pitchFamily="34" charset="-122"/>
                  </a:rPr>
                  <a:t>明天要举行户外</a:t>
                </a:r>
                <a:r>
                  <a:rPr lang="zh-CN" altLang="en-US" sz="2200" dirty="0">
                    <a:latin typeface="微软雅黑" panose="020B0503020204020204" pitchFamily="34" charset="-122"/>
                    <a:ea typeface="微软雅黑" panose="020B0503020204020204" pitchFamily="34" charset="-122"/>
                  </a:rPr>
                  <a:t>运动会</a:t>
                </a:r>
                <a:r>
                  <a:rPr lang="zh-CN" altLang="zh-CN" sz="2200" dirty="0">
                    <a:latin typeface="微软雅黑" panose="020B0503020204020204" pitchFamily="34" charset="-122"/>
                    <a:ea typeface="微软雅黑" panose="020B0503020204020204" pitchFamily="34" charset="-122"/>
                  </a:rPr>
                  <a:t>。近年来，每年</a:t>
                </a:r>
                <a:r>
                  <a:rPr lang="zh-CN" altLang="zh-CN" sz="2200" dirty="0">
                    <a:solidFill>
                      <a:srgbClr val="FF0000"/>
                    </a:solidFill>
                    <a:latin typeface="微软雅黑" panose="020B0503020204020204" pitchFamily="34" charset="-122"/>
                    <a:ea typeface="微软雅黑" panose="020B0503020204020204" pitchFamily="34" charset="-122"/>
                  </a:rPr>
                  <a:t>仅下雨</a:t>
                </a:r>
                <a:r>
                  <a:rPr lang="en-US" altLang="zh-CN" sz="2200" dirty="0">
                    <a:solidFill>
                      <a:srgbClr val="FF0000"/>
                    </a:solidFill>
                    <a:latin typeface="微软雅黑" panose="020B0503020204020204" pitchFamily="34" charset="-122"/>
                    <a:ea typeface="微软雅黑" panose="020B0503020204020204" pitchFamily="34" charset="-122"/>
                  </a:rPr>
                  <a:t>5</a:t>
                </a:r>
                <a:r>
                  <a:rPr lang="zh-CN" altLang="zh-CN" sz="2200" dirty="0">
                    <a:solidFill>
                      <a:srgbClr val="FF0000"/>
                    </a:solidFill>
                    <a:latin typeface="微软雅黑" panose="020B0503020204020204" pitchFamily="34" charset="-122"/>
                    <a:ea typeface="微软雅黑" panose="020B0503020204020204" pitchFamily="34" charset="-122"/>
                  </a:rPr>
                  <a:t>天</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5/365=0.014</a:t>
                </a:r>
                <a:r>
                  <a:rPr lang="zh-CN" altLang="zh-CN" sz="2200" dirty="0">
                    <a:latin typeface="微软雅黑" panose="020B0503020204020204" pitchFamily="34" charset="-122"/>
                    <a:ea typeface="微软雅黑" panose="020B0503020204020204" pitchFamily="34" charset="-122"/>
                  </a:rPr>
                  <a:t>）。不幸的是，天气预报员预测明天会下雨。</a:t>
                </a:r>
                <a:r>
                  <a:rPr lang="zh-CN" altLang="zh-CN" sz="2200" dirty="0">
                    <a:solidFill>
                      <a:srgbClr val="FF0000"/>
                    </a:solidFill>
                    <a:latin typeface="微软雅黑" panose="020B0503020204020204" pitchFamily="34" charset="-122"/>
                    <a:ea typeface="微软雅黑" panose="020B0503020204020204" pitchFamily="34" charset="-122"/>
                  </a:rPr>
                  <a:t>当真的下雨时，天气预报员准确地预测了</a:t>
                </a:r>
                <a:r>
                  <a:rPr lang="en-US" altLang="zh-CN" sz="2200" dirty="0">
                    <a:solidFill>
                      <a:srgbClr val="FF0000"/>
                    </a:solidFill>
                    <a:latin typeface="微软雅黑" panose="020B0503020204020204" pitchFamily="34" charset="-122"/>
                    <a:ea typeface="微软雅黑" panose="020B0503020204020204" pitchFamily="34" charset="-122"/>
                  </a:rPr>
                  <a:t>90%</a:t>
                </a:r>
                <a:r>
                  <a:rPr lang="zh-CN" altLang="zh-CN" sz="2200" dirty="0">
                    <a:solidFill>
                      <a:srgbClr val="FF0000"/>
                    </a:solidFill>
                    <a:latin typeface="微软雅黑" panose="020B0503020204020204" pitchFamily="34" charset="-122"/>
                    <a:ea typeface="微软雅黑" panose="020B0503020204020204" pitchFamily="34" charset="-122"/>
                  </a:rPr>
                  <a:t>的降雨</a:t>
                </a:r>
                <a:r>
                  <a:rPr lang="zh-CN" altLang="zh-CN" sz="2200" dirty="0">
                    <a:latin typeface="微软雅黑" panose="020B0503020204020204" pitchFamily="34" charset="-122"/>
                    <a:ea typeface="微软雅黑" panose="020B0503020204020204" pitchFamily="34" charset="-122"/>
                  </a:rPr>
                  <a:t>。</a:t>
                </a:r>
                <a:r>
                  <a:rPr lang="zh-CN" altLang="zh-CN" sz="2200" dirty="0">
                    <a:solidFill>
                      <a:srgbClr val="FF0000"/>
                    </a:solidFill>
                    <a:latin typeface="微软雅黑" panose="020B0503020204020204" pitchFamily="34" charset="-122"/>
                    <a:ea typeface="微软雅黑" panose="020B0503020204020204" pitchFamily="34" charset="-122"/>
                  </a:rPr>
                  <a:t>当不下雨时，他错误地预测了</a:t>
                </a:r>
                <a:r>
                  <a:rPr lang="en-US" altLang="zh-CN" sz="2200" dirty="0">
                    <a:solidFill>
                      <a:srgbClr val="FF0000"/>
                    </a:solidFill>
                    <a:latin typeface="微软雅黑" panose="020B0503020204020204" pitchFamily="34" charset="-122"/>
                    <a:ea typeface="微软雅黑" panose="020B0503020204020204" pitchFamily="34" charset="-122"/>
                  </a:rPr>
                  <a:t>10%</a:t>
                </a:r>
                <a:r>
                  <a:rPr lang="zh-CN" altLang="zh-CN" sz="2200" dirty="0">
                    <a:solidFill>
                      <a:srgbClr val="FF0000"/>
                    </a:solidFill>
                    <a:latin typeface="微软雅黑" panose="020B0503020204020204" pitchFamily="34" charset="-122"/>
                    <a:ea typeface="微软雅黑" panose="020B0503020204020204" pitchFamily="34" charset="-122"/>
                  </a:rPr>
                  <a:t>的降雨</a:t>
                </a:r>
                <a:r>
                  <a:rPr lang="zh-CN"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明天</a:t>
                </a:r>
                <a:r>
                  <a:rPr lang="zh-CN" altLang="zh-CN" sz="2200" dirty="0">
                    <a:latin typeface="微软雅黑" panose="020B0503020204020204" pitchFamily="34" charset="-122"/>
                    <a:ea typeface="微软雅黑" panose="020B0503020204020204" pitchFamily="34" charset="-122"/>
                  </a:rPr>
                  <a:t>下雨</a:t>
                </a:r>
                <a:r>
                  <a:rPr lang="zh-CN" altLang="en-US" sz="2200" dirty="0">
                    <a:latin typeface="微软雅黑" panose="020B0503020204020204" pitchFamily="34" charset="-122"/>
                    <a:ea typeface="微软雅黑" panose="020B0503020204020204" pitchFamily="34" charset="-122"/>
                  </a:rPr>
                  <a:t>和不下雨</a:t>
                </a:r>
                <a:r>
                  <a:rPr lang="zh-CN" altLang="zh-CN" sz="2200" dirty="0">
                    <a:latin typeface="微软雅黑" panose="020B0503020204020204" pitchFamily="34" charset="-122"/>
                    <a:ea typeface="微软雅黑" panose="020B0503020204020204" pitchFamily="34" charset="-122"/>
                  </a:rPr>
                  <a:t>的可能性</a:t>
                </a:r>
                <a:r>
                  <a:rPr lang="zh-CN" altLang="en-US" sz="2200" dirty="0">
                    <a:latin typeface="微软雅黑" panose="020B0503020204020204" pitchFamily="34" charset="-122"/>
                    <a:ea typeface="微软雅黑" panose="020B0503020204020204" pitchFamily="34" charset="-122"/>
                  </a:rPr>
                  <a:t>分别</a:t>
                </a:r>
                <a:r>
                  <a:rPr lang="zh-CN" altLang="zh-CN" sz="2200" dirty="0">
                    <a:latin typeface="微软雅黑" panose="020B0503020204020204" pitchFamily="34" charset="-122"/>
                    <a:ea typeface="微软雅黑" panose="020B0503020204020204" pitchFamily="34" charset="-122"/>
                  </a:rPr>
                  <a:t>有多大？</a:t>
                </a:r>
                <a:endParaRPr lang="en-US" altLang="zh-CN" sz="2200" dirty="0">
                  <a:latin typeface="微软雅黑" panose="020B0503020204020204" pitchFamily="34" charset="-122"/>
                  <a:ea typeface="微软雅黑" panose="020B0503020204020204" pitchFamily="34" charset="-122"/>
                </a:endParaRPr>
              </a:p>
              <a:p>
                <a:pPr lvl="8" algn="just">
                  <a:lnSpc>
                    <a:spcPct val="150000"/>
                  </a:lnSpc>
                </a:pPr>
                <a:endParaRPr lang="en-US" altLang="zh-CN" sz="1600" dirty="0"/>
              </a:p>
              <a:p>
                <a:pPr marL="457200" lvl="1" indent="0">
                  <a:lnSpc>
                    <a:spcPct val="150000"/>
                  </a:lnSpc>
                  <a:buNone/>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1" dirty="0" err="1">
                    <a:latin typeface="Times New Roman" panose="02020603050405020304" pitchFamily="18" charset="0"/>
                    <a:ea typeface="微软雅黑" panose="020B0503020204020204" pitchFamily="34" charset="-122"/>
                    <a:cs typeface="Times New Roman" panose="02020603050405020304" pitchFamily="18" charset="0"/>
                  </a:rPr>
                  <a:t>Rain|predict</a:t>
                </a: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 </a:t>
                </a:r>
                <a14:m>
                  <m:oMath xmlns:m="http://schemas.openxmlformats.org/officeDocument/2006/math">
                    <m:r>
                      <a:rPr lang="en-US" altLang="zh-CN" sz="2200" b="1">
                        <a:latin typeface="Cambria Math" panose="02040503050406030204" pitchFamily="18" charset="0"/>
                        <a:ea typeface="微软雅黑" panose="020B0503020204020204" pitchFamily="34" charset="-122"/>
                        <a:cs typeface="Times New Roman" panose="02020603050405020304" pitchFamily="18" charset="0"/>
                      </a:rPr>
                      <m:t>&lt;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predict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200" b="1" dirty="0">
                        <a:latin typeface="Cambria Math" panose="02040503050406030204" pitchFamily="18" charset="0"/>
                        <a:ea typeface="微软雅黑" panose="020B0503020204020204" pitchFamily="34" charset="-122"/>
                        <a:cs typeface="Times New Roman" panose="02020603050405020304" pitchFamily="18" charset="0"/>
                      </a:rPr>
                      <m:t>, </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200" b="1" dirty="0">
                        <a:latin typeface="Cambria Math" panose="020405030504060302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predict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200" b="1">
                        <a:latin typeface="Cambria Math" panose="02040503050406030204" pitchFamily="18" charset="0"/>
                        <a:ea typeface="微软雅黑" panose="020B0503020204020204" pitchFamily="34" charset="-122"/>
                        <a:cs typeface="Times New Roman" panose="02020603050405020304" pitchFamily="18" charset="0"/>
                      </a:rPr>
                      <m:t>&gt;</m:t>
                    </m:r>
                  </m:oMath>
                </a14:m>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50000"/>
                  </a:lnSpc>
                  <a:buNone/>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α</a:t>
                </a: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a:rPr lang="en-US" altLang="zh-CN" sz="2200" b="1">
                        <a:latin typeface="Cambria Math" panose="02040503050406030204" pitchFamily="18" charset="0"/>
                        <a:ea typeface="微软雅黑" panose="020B0503020204020204" pitchFamily="34" charset="-122"/>
                        <a:cs typeface="Times New Roman" panose="02020603050405020304" pitchFamily="18" charset="0"/>
                      </a:rPr>
                      <m:t>&lt;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predict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 ∗ </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200" b="1" dirty="0">
                        <a:latin typeface="Cambria Math" panose="020405030504060302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predict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200" b="1" dirty="0">
                        <a:latin typeface="Cambria Math" panose="020405030504060302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 ∗ </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P</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200" b="1" dirty="0">
                        <a:latin typeface="Cambria Math" panose="020405030504060302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rain</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2200" b="1">
                        <a:latin typeface="Cambria Math" panose="02040503050406030204" pitchFamily="18" charset="0"/>
                        <a:ea typeface="微软雅黑" panose="020B0503020204020204" pitchFamily="34" charset="-122"/>
                        <a:cs typeface="Times New Roman" panose="02020603050405020304" pitchFamily="18" charset="0"/>
                      </a:rPr>
                      <m:t>&gt;</m:t>
                    </m:r>
                  </m:oMath>
                </a14:m>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50000"/>
                  </a:lnSpc>
                  <a:buNone/>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α</a:t>
                </a: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a:rPr lang="en-US" altLang="zh-CN" sz="2200" b="1">
                        <a:latin typeface="Cambria Math" panose="02040503050406030204" pitchFamily="18" charset="0"/>
                        <a:ea typeface="微软雅黑" panose="020B0503020204020204" pitchFamily="34" charset="-122"/>
                        <a:cs typeface="Times New Roman" panose="02020603050405020304" pitchFamily="18" charset="0"/>
                      </a:rPr>
                      <m:t>&lt;</m:t>
                    </m:r>
                  </m:oMath>
                </a14:m>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0</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a:rPr lang="zh-CN" altLang="en-US" sz="2200" b="1" dirty="0">
                        <a:latin typeface="Cambria Math" panose="02040503050406030204" pitchFamily="18" charset="0"/>
                        <a:ea typeface="微软雅黑" panose="020B0503020204020204" pitchFamily="34" charset="-122"/>
                        <a:cs typeface="Times New Roman" panose="02020603050405020304" pitchFamily="18" charset="0"/>
                      </a:rPr>
                      <m:t> </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9</m:t>
                    </m:r>
                    <m:r>
                      <a:rPr lang="zh-CN" altLang="en-US" sz="2200" b="1" dirty="0">
                        <a:latin typeface="Cambria Math" panose="020405030504060302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0</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014</m:t>
                    </m:r>
                    <m:r>
                      <a:rPr lang="en-US" altLang="zh-CN" sz="2200" b="1" dirty="0">
                        <a:latin typeface="Cambria Math" panose="02040503050406030204" pitchFamily="18" charset="0"/>
                        <a:ea typeface="微软雅黑" panose="020B0503020204020204" pitchFamily="34" charset="-122"/>
                        <a:cs typeface="Times New Roman" panose="02020603050405020304" pitchFamily="18" charset="0"/>
                      </a:rPr>
                      <m:t>, </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0</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1</m:t>
                    </m:r>
                    <m:r>
                      <a:rPr lang="zh-CN" altLang="en-US" sz="2200" b="1" dirty="0">
                        <a:latin typeface="Cambria Math" panose="020405030504060302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0</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m:t>
                    </m:r>
                    <m:r>
                      <m:rPr>
                        <m:nor/>
                      </m:rP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m:t>986</m:t>
                    </m:r>
                  </m:oMath>
                </a14:m>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a:rPr lang="en-US" altLang="zh-CN" sz="2200" b="1">
                        <a:latin typeface="Cambria Math" panose="02040503050406030204" pitchFamily="18" charset="0"/>
                        <a:ea typeface="微软雅黑" panose="020B0503020204020204" pitchFamily="34" charset="-122"/>
                        <a:cs typeface="Times New Roman" panose="02020603050405020304" pitchFamily="18" charset="0"/>
                      </a:rPr>
                      <m:t>&gt;</m:t>
                    </m:r>
                  </m:oMath>
                </a14:m>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50000"/>
                  </a:lnSpc>
                  <a:buNone/>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a:rPr lang="en-US" altLang="zh-CN" sz="2200" b="1" dirty="0">
                        <a:latin typeface="Cambria Math" panose="02040503050406030204" pitchFamily="18" charset="0"/>
                        <a:ea typeface="微软雅黑" panose="020B0503020204020204" pitchFamily="34" charset="-122"/>
                        <a:cs typeface="Times New Roman" panose="02020603050405020304" pitchFamily="18" charset="0"/>
                      </a:rPr>
                      <m:t>=</m:t>
                    </m:r>
                  </m:oMath>
                </a14:m>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a:rPr lang="en-US" altLang="zh-CN" sz="2200" b="1">
                        <a:latin typeface="Cambria Math" panose="02040503050406030204" pitchFamily="18" charset="0"/>
                        <a:ea typeface="微软雅黑" panose="020B0503020204020204" pitchFamily="34" charset="-122"/>
                        <a:cs typeface="Times New Roman" panose="02020603050405020304" pitchFamily="18" charset="0"/>
                      </a:rPr>
                      <m:t>&lt; </m:t>
                    </m:r>
                  </m:oMath>
                </a14:m>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0.111</a:t>
                </a: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0.889&gt;</a:t>
                </a:r>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gn="just">
                  <a:lnSpc>
                    <a:spcPct val="150000"/>
                  </a:lnSpc>
                  <a:buNone/>
                </a:pPr>
                <a:r>
                  <a:rPr lang="en-US" altLang="zh-CN" sz="2400" dirty="0"/>
                  <a:t>                           </a:t>
                </a:r>
                <a:endParaRPr lang="en-US" altLang="zh-CN" sz="2400" dirty="0"/>
              </a:p>
            </p:txBody>
          </p:sp>
        </mc:Choice>
        <mc:Fallback>
          <p:sp>
            <p:nvSpPr>
              <p:cNvPr id="44035" name="Content Placeholder 2"/>
              <p:cNvSpPr>
                <a:spLocks noRot="1" noChangeAspect="1" noMove="1" noResize="1" noEditPoints="1" noAdjustHandles="1" noChangeArrowheads="1" noChangeShapeType="1" noTextEdit="1"/>
              </p:cNvSpPr>
              <p:nvPr>
                <p:ph idx="1"/>
              </p:nvPr>
            </p:nvSpPr>
            <p:spPr>
              <a:xfrm>
                <a:off x="736062" y="1407732"/>
                <a:ext cx="10421673" cy="4906963"/>
              </a:xfrm>
              <a:blipFill rotWithShape="1">
                <a:blip r:embed="rId1"/>
                <a:stretch>
                  <a:fillRect l="-1" t="-12" r="1" b="5"/>
                </a:stretch>
              </a:blipFill>
            </p:spPr>
            <p:txBody>
              <a:bodyPr/>
              <a:lstStyle/>
              <a:p>
                <a:r>
                  <a:rPr lang="zh-CN" altLang="en-US">
                    <a:noFill/>
                  </a:rPr>
                  <a:t> </a:t>
                </a:r>
              </a:p>
            </p:txBody>
          </p:sp>
        </mc:Fallback>
      </mc:AlternateContent>
      <p:grpSp>
        <p:nvGrpSpPr>
          <p:cNvPr id="5" name="组合 4"/>
          <p:cNvGrpSpPr/>
          <p:nvPr/>
        </p:nvGrpSpPr>
        <p:grpSpPr>
          <a:xfrm>
            <a:off x="1093535" y="486917"/>
            <a:ext cx="7464387"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贝叶斯规则应用</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361347" y="2168224"/>
            <a:ext cx="2855980" cy="682098"/>
            <a:chOff x="422953" y="1892526"/>
            <a:chExt cx="2855980" cy="682098"/>
          </a:xfrm>
        </p:grpSpPr>
        <p:sp>
          <p:nvSpPr>
            <p:cNvPr id="24" name="文本框 23"/>
            <p:cNvSpPr txBox="1"/>
            <p:nvPr/>
          </p:nvSpPr>
          <p:spPr>
            <a:xfrm>
              <a:off x="750437" y="2114249"/>
              <a:ext cx="2320925" cy="460375"/>
            </a:xfrm>
            <a:prstGeom prst="rect">
              <a:avLst/>
            </a:prstGeom>
            <a:noFill/>
          </p:spPr>
          <p:txBody>
            <a:bodyPr wrap="none" rtlCol="0">
              <a:spAutoFit/>
            </a:bodyPr>
            <a:lstStyle/>
            <a:p>
              <a:pPr algn="l">
                <a:lnSpc>
                  <a:spcPct val="100000"/>
                </a:lnSpc>
                <a:buClrTx/>
                <a:buSzTx/>
                <a:buFontTx/>
              </a:pPr>
              <a:r>
                <a:rPr lang="zh-CN" altLang="en-US" sz="2400" b="1" dirty="0">
                  <a:solidFill>
                    <a:srgbClr val="24569D"/>
                  </a:solidFill>
                </a:rPr>
                <a:t>概率推理知识点</a:t>
              </a:r>
              <a:endParaRPr lang="zh-CN" altLang="en-US" sz="2400" b="1" dirty="0">
                <a:solidFill>
                  <a:srgbClr val="24569D"/>
                </a:solidFill>
              </a:endParaRPr>
            </a:p>
          </p:txBody>
        </p:sp>
        <p:sp>
          <p:nvSpPr>
            <p:cNvPr id="25" name="文本框 24"/>
            <p:cNvSpPr txBox="1"/>
            <p:nvPr/>
          </p:nvSpPr>
          <p:spPr>
            <a:xfrm>
              <a:off x="422953" y="1892526"/>
              <a:ext cx="2855980" cy="461665"/>
            </a:xfrm>
            <a:prstGeom prst="rect">
              <a:avLst/>
            </a:prstGeom>
            <a:noFill/>
          </p:spPr>
          <p:txBody>
            <a:bodyPr wrap="square" rtlCol="0">
              <a:spAutoFit/>
            </a:bodyPr>
            <a:lstStyle/>
            <a:p>
              <a:endParaRPr lang="en-US" altLang="zh-CN" sz="2400" dirty="0">
                <a:solidFill>
                  <a:srgbClr val="FF0000"/>
                </a:solidFill>
                <a:latin typeface="微软雅黑" panose="020B0503020204020204" pitchFamily="34" charset="-122"/>
              </a:endParaRPr>
            </a:p>
          </p:txBody>
        </p:sp>
      </p:grpSp>
      <p:sp>
        <p:nvSpPr>
          <p:cNvPr id="28" name="文本框 27"/>
          <p:cNvSpPr txBox="1"/>
          <p:nvPr/>
        </p:nvSpPr>
        <p:spPr>
          <a:xfrm>
            <a:off x="8502923" y="4920321"/>
            <a:ext cx="2954655" cy="461665"/>
          </a:xfrm>
          <a:prstGeom prst="rect">
            <a:avLst/>
          </a:prstGeom>
          <a:noFill/>
        </p:spPr>
        <p:txBody>
          <a:bodyPr wrap="none" rtlCol="0">
            <a:spAutoFit/>
          </a:bodyPr>
          <a:lstStyle/>
          <a:p>
            <a:r>
              <a:rPr lang="zh-CN" altLang="en-US" sz="2400" b="1" dirty="0">
                <a:solidFill>
                  <a:srgbClr val="24569D"/>
                </a:solidFill>
              </a:rPr>
              <a:t>贝叶斯网络推理案例</a:t>
            </a:r>
            <a:endParaRPr lang="zh-CN" altLang="en-US" sz="2400" b="1" dirty="0">
              <a:solidFill>
                <a:srgbClr val="24569D"/>
              </a:solidFill>
            </a:endParaRPr>
          </a:p>
        </p:txBody>
      </p:sp>
      <p:sp>
        <p:nvSpPr>
          <p:cNvPr id="30" name="文本框 29"/>
          <p:cNvSpPr txBox="1"/>
          <p:nvPr/>
        </p:nvSpPr>
        <p:spPr>
          <a:xfrm>
            <a:off x="8441833" y="2411796"/>
            <a:ext cx="2626360" cy="460375"/>
          </a:xfrm>
          <a:prstGeom prst="rect">
            <a:avLst/>
          </a:prstGeom>
          <a:noFill/>
        </p:spPr>
        <p:txBody>
          <a:bodyPr wrap="none" rtlCol="0">
            <a:spAutoFit/>
          </a:bodyPr>
          <a:lstStyle/>
          <a:p>
            <a:r>
              <a:rPr lang="zh-CN" altLang="en-US" sz="2400" b="1" dirty="0">
                <a:solidFill>
                  <a:srgbClr val="24569D"/>
                </a:solidFill>
              </a:rPr>
              <a:t>贝叶斯规则及应用</a:t>
            </a:r>
            <a:endParaRPr lang="zh-CN" altLang="en-US" sz="2400" b="1" dirty="0">
              <a:solidFill>
                <a:srgbClr val="24569D"/>
              </a:solidFill>
            </a:endParaRPr>
          </a:p>
        </p:txBody>
      </p:sp>
      <p:sp>
        <p:nvSpPr>
          <p:cNvPr id="29" name="矩形 28"/>
          <p:cNvSpPr/>
          <p:nvPr/>
        </p:nvSpPr>
        <p:spPr>
          <a:xfrm>
            <a:off x="1648515" y="4869981"/>
            <a:ext cx="2339102" cy="461665"/>
          </a:xfrm>
          <a:prstGeom prst="rect">
            <a:avLst/>
          </a:prstGeom>
        </p:spPr>
        <p:txBody>
          <a:bodyPr wrap="none">
            <a:spAutoFit/>
          </a:bodyPr>
          <a:lstStyle/>
          <a:p>
            <a:pPr lvl="0"/>
            <a:r>
              <a:rPr lang="zh-CN" altLang="en-US" sz="2400" b="1" dirty="0">
                <a:solidFill>
                  <a:srgbClr val="FF0000"/>
                </a:solidFill>
              </a:rPr>
              <a:t>贝叶斯网络推理</a:t>
            </a:r>
            <a:endParaRPr lang="zh-CN" altLang="en-US" sz="2400" b="1"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406399" y="1397001"/>
            <a:ext cx="11394174" cy="5216584"/>
          </a:xfrm>
        </p:spPr>
        <p:txBody>
          <a:bodyPr/>
          <a:lstStyle/>
          <a:p>
            <a:pPr eaLnBrk="1" hangingPunct="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完全概率分布能够回答关于问题域的任何问题，但是</a:t>
            </a:r>
            <a:r>
              <a:rPr lang="en-US" sz="2000" dirty="0">
                <a:latin typeface="微软雅黑" panose="020B0503020204020204" pitchFamily="34" charset="-122"/>
                <a:ea typeface="微软雅黑" panose="020B0503020204020204" pitchFamily="34" charset="-122"/>
                <a:cs typeface="Calibri" panose="020F0502020204030204"/>
              </a:rPr>
              <a:t>:</a:t>
            </a:r>
            <a:endParaRPr lang="en-US" sz="2000" dirty="0">
              <a:latin typeface="微软雅黑" panose="020B0503020204020204" pitchFamily="34" charset="-122"/>
              <a:ea typeface="微软雅黑" panose="020B0503020204020204" pitchFamily="34" charset="-122"/>
              <a:cs typeface="Calibri" panose="020F0502020204030204"/>
            </a:endParaRPr>
          </a:p>
          <a:p>
            <a:pPr lvl="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随着变量数目增多会增大到不可操作的程度，</a:t>
            </a:r>
            <a:r>
              <a:rPr lang="zh-CN" altLang="en-US" sz="2000" dirty="0">
                <a:latin typeface="微软雅黑" panose="020B0503020204020204" pitchFamily="34" charset="-122"/>
                <a:ea typeface="微软雅黑" panose="020B0503020204020204" pitchFamily="34" charset="-122"/>
              </a:rPr>
              <a:t>计算复杂性十分巨大</a:t>
            </a: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为每个可能世界逐个指定概率是不自然的</a:t>
            </a:r>
            <a:endParaRPr lang="en-US" sz="2000" dirty="0">
              <a:latin typeface="微软雅黑" panose="020B0503020204020204" pitchFamily="34" charset="-122"/>
              <a:ea typeface="微软雅黑" panose="020B0503020204020204" pitchFamily="34" charset="-122"/>
              <a:cs typeface="Calibri" panose="020F0502020204030204"/>
            </a:endParaRPr>
          </a:p>
          <a:p>
            <a:pPr eaLnBrk="1" hangingPunct="1">
              <a:lnSpc>
                <a:spcPct val="80000"/>
              </a:lnSpc>
            </a:pPr>
            <a:endParaRPr lang="en-US" sz="2400" dirty="0">
              <a:solidFill>
                <a:srgbClr val="CC0000"/>
              </a:solidFill>
              <a:latin typeface="微软雅黑" panose="020B0503020204020204" pitchFamily="34" charset="-122"/>
              <a:ea typeface="微软雅黑" panose="020B0503020204020204" pitchFamily="34" charset="-122"/>
              <a:cs typeface="Calibri" panose="020F0502020204030204"/>
            </a:endParaRPr>
          </a:p>
          <a:p>
            <a:pPr>
              <a:lnSpc>
                <a:spcPct val="150000"/>
              </a:lnSpc>
            </a:pPr>
            <a:r>
              <a:rPr lang="zh-CN" altLang="en-US" sz="2000" dirty="0">
                <a:solidFill>
                  <a:srgbClr val="CC0000"/>
                </a:solidFill>
                <a:latin typeface="微软雅黑" panose="020B0503020204020204" pitchFamily="34" charset="-122"/>
                <a:ea typeface="微软雅黑" panose="020B0503020204020204" pitchFamily="34" charset="-122"/>
                <a:cs typeface="Calibri" panose="020F0502020204030204"/>
              </a:rPr>
              <a:t>贝叶斯网络</a:t>
            </a:r>
            <a:r>
              <a:rPr lang="en-US" sz="2000" dirty="0">
                <a:solidFill>
                  <a:srgbClr val="CC0000"/>
                </a:solidFill>
                <a:latin typeface="微软雅黑" panose="020B0503020204020204" pitchFamily="34" charset="-122"/>
                <a:ea typeface="微软雅黑" panose="020B0503020204020204" pitchFamily="34" charset="-122"/>
                <a:cs typeface="Calibri" panose="020F0502020204030204"/>
              </a:rPr>
              <a:t>: </a:t>
            </a:r>
            <a:r>
              <a:rPr lang="zh-CN" altLang="en-US" sz="2000" dirty="0">
                <a:latin typeface="微软雅黑" panose="020B0503020204020204" pitchFamily="34" charset="-122"/>
                <a:ea typeface="微软雅黑" panose="020B0503020204020204" pitchFamily="34" charset="-122"/>
                <a:cs typeface="Calibri" panose="020F0502020204030204"/>
              </a:rPr>
              <a:t>一种使用简单局部分布（条件概率）描述复杂联合分布的技术</a:t>
            </a:r>
            <a:endParaRPr lang="en-US" sz="2000" dirty="0">
              <a:latin typeface="微软雅黑" panose="020B0503020204020204" pitchFamily="34" charset="-122"/>
              <a:ea typeface="微软雅黑" panose="020B0503020204020204" pitchFamily="34" charset="-122"/>
              <a:cs typeface="Calibri" panose="020F0502020204030204"/>
            </a:endParaRPr>
          </a:p>
          <a:p>
            <a:pPr lvl="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是一个有向无环图，也称之为图模型</a:t>
            </a: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用于表示变量之间的依赖关系</a:t>
            </a: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本质上，表示任何完全联合概率分布</a:t>
            </a:r>
            <a:endParaRPr lang="en-US" sz="2000" dirty="0">
              <a:latin typeface="微软雅黑" panose="020B0503020204020204" pitchFamily="34" charset="-122"/>
              <a:ea typeface="微软雅黑" panose="020B0503020204020204" pitchFamily="34" charset="-122"/>
              <a:cs typeface="Calibri" panose="020F0502020204030204"/>
            </a:endParaRPr>
          </a:p>
        </p:txBody>
      </p:sp>
      <p:grpSp>
        <p:nvGrpSpPr>
          <p:cNvPr id="5" name="组合 4"/>
          <p:cNvGrpSpPr/>
          <p:nvPr/>
        </p:nvGrpSpPr>
        <p:grpSpPr>
          <a:xfrm>
            <a:off x="1093535" y="486917"/>
            <a:ext cx="7464387"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贝叶斯网络</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341338" y="1451542"/>
            <a:ext cx="12113753" cy="5265559"/>
          </a:xfrm>
        </p:spPr>
        <p:txBody>
          <a:bodyPr/>
          <a:lstStyle/>
          <a:p>
            <a:pPr eaLnBrk="1" hangingPunct="1">
              <a:lnSpc>
                <a:spcPct val="150000"/>
              </a:lnSpc>
            </a:pPr>
            <a:r>
              <a:rPr lang="zh-CN" altLang="en-US" sz="2200" dirty="0">
                <a:solidFill>
                  <a:srgbClr val="FF0000"/>
                </a:solidFill>
                <a:latin typeface="微软雅黑" panose="020B0503020204020204" pitchFamily="34" charset="-122"/>
                <a:ea typeface="微软雅黑" panose="020B0503020204020204" pitchFamily="34" charset="-122"/>
                <a:cs typeface="Calibri" panose="020F0502020204030204"/>
              </a:rPr>
              <a:t>语法：</a:t>
            </a:r>
            <a:endParaRPr lang="en-US" altLang="zh-CN" sz="2200" dirty="0">
              <a:solidFill>
                <a:srgbClr val="FF0000"/>
              </a:solidFill>
              <a:latin typeface="微软雅黑" panose="020B0503020204020204" pitchFamily="34" charset="-122"/>
              <a:ea typeface="微软雅黑" panose="020B0503020204020204" pitchFamily="34" charset="-122"/>
              <a:cs typeface="Calibri" panose="020F0502020204030204"/>
            </a:endParaRPr>
          </a:p>
          <a:p>
            <a:pPr lvl="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一个</a:t>
            </a:r>
            <a:r>
              <a:rPr lang="zh-CN" altLang="en-US" sz="2000" dirty="0">
                <a:solidFill>
                  <a:srgbClr val="FF0000"/>
                </a:solidFill>
                <a:latin typeface="微软雅黑" panose="020B0503020204020204" pitchFamily="34" charset="-122"/>
                <a:ea typeface="微软雅黑" panose="020B0503020204020204" pitchFamily="34" charset="-122"/>
                <a:cs typeface="Calibri" panose="020F0502020204030204"/>
              </a:rPr>
              <a:t>结点</a:t>
            </a:r>
            <a:r>
              <a:rPr lang="zh-CN" altLang="en-US" sz="2000" dirty="0">
                <a:latin typeface="微软雅黑" panose="020B0503020204020204" pitchFamily="34" charset="-122"/>
                <a:ea typeface="微软雅黑" panose="020B0503020204020204" pitchFamily="34" charset="-122"/>
                <a:cs typeface="Calibri" panose="020F0502020204030204"/>
              </a:rPr>
              <a:t>对应一个随机变量</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aseline="-25000" dirty="0">
                <a:latin typeface="微软雅黑" panose="020B0503020204020204" pitchFamily="34" charset="-122"/>
                <a:ea typeface="微软雅黑" panose="020B0503020204020204" pitchFamily="34" charset="-122"/>
                <a:cs typeface="Calibri" panose="020F0502020204030204"/>
              </a:rPr>
              <a:t> </a:t>
            </a:r>
            <a:r>
              <a:rPr lang="zh-CN" altLang="en-US" sz="2000" dirty="0">
                <a:latin typeface="微软雅黑" panose="020B0503020204020204" pitchFamily="34" charset="-122"/>
                <a:ea typeface="微软雅黑" panose="020B0503020204020204" pitchFamily="34" charset="-122"/>
                <a:cs typeface="Calibri" panose="020F0502020204030204"/>
              </a:rPr>
              <a:t>，可以是已知的或者是待观测的</a:t>
            </a:r>
            <a:endParaRPr lang="en-US" sz="2000" dirty="0">
              <a:latin typeface="微软雅黑" panose="020B0503020204020204" pitchFamily="34" charset="-122"/>
              <a:ea typeface="微软雅黑" panose="020B0503020204020204" pitchFamily="34" charset="-122"/>
              <a:cs typeface="Calibri" panose="020F0502020204030204"/>
            </a:endParaRPr>
          </a:p>
          <a:p>
            <a:pPr lvl="1">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cs typeface="Calibri" panose="020F0502020204030204"/>
              </a:rPr>
              <a:t>有向边</a:t>
            </a:r>
            <a:r>
              <a:rPr lang="zh-CN" altLang="en-US" sz="2000" dirty="0">
                <a:latin typeface="微软雅黑" panose="020B0503020204020204" pitchFamily="34" charset="-122"/>
                <a:ea typeface="微软雅黑" panose="020B0503020204020204" pitchFamily="34" charset="-122"/>
                <a:cs typeface="Calibri" panose="020F0502020204030204"/>
              </a:rPr>
              <a:t>表示连接的变量间的</a:t>
            </a:r>
            <a:r>
              <a:rPr lang="en-US" altLang="zh-CN" sz="2000" dirty="0">
                <a:latin typeface="微软雅黑" panose="020B0503020204020204" pitchFamily="34" charset="-122"/>
                <a:ea typeface="微软雅黑" panose="020B0503020204020204" pitchFamily="34" charset="-122"/>
                <a:cs typeface="Calibri" panose="020F0502020204030204"/>
              </a:rPr>
              <a:t>“</a:t>
            </a:r>
            <a:r>
              <a:rPr lang="zh-CN" altLang="en-US" sz="2000" dirty="0">
                <a:latin typeface="微软雅黑" panose="020B0503020204020204" pitchFamily="34" charset="-122"/>
                <a:ea typeface="微软雅黑" panose="020B0503020204020204" pitchFamily="34" charset="-122"/>
                <a:cs typeface="Calibri" panose="020F0502020204030204"/>
              </a:rPr>
              <a:t>直接影响</a:t>
            </a:r>
            <a:r>
              <a:rPr lang="en-US" altLang="zh-CN" sz="2000" dirty="0">
                <a:latin typeface="微软雅黑" panose="020B0503020204020204" pitchFamily="34" charset="-122"/>
                <a:ea typeface="微软雅黑" panose="020B0503020204020204" pitchFamily="34" charset="-122"/>
                <a:cs typeface="Calibri" panose="020F0502020204030204"/>
              </a:rPr>
              <a:t>”</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lvl="1">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cs typeface="Calibri" panose="020F0502020204030204"/>
              </a:rPr>
              <a:t>条件概率分布</a:t>
            </a:r>
            <a:r>
              <a:rPr lang="zh-CN" altLang="en-US" sz="2000" dirty="0">
                <a:latin typeface="微软雅黑" panose="020B0503020204020204" pitchFamily="34" charset="-122"/>
                <a:ea typeface="微软雅黑" panose="020B0503020204020204" pitchFamily="34" charset="-122"/>
                <a:cs typeface="Calibri" panose="020F0502020204030204"/>
              </a:rPr>
              <a:t>，量化父结点对该结点的影响</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marL="457200" lvl="1" indent="0">
              <a:lnSpc>
                <a:spcPct val="150000"/>
              </a:lnSpc>
              <a:buNone/>
            </a:pPr>
            <a:r>
              <a:rPr lang="en-US" sz="2000" b="1" dirty="0">
                <a:latin typeface="Times New Roman" panose="02020603050405020304" pitchFamily="18" charset="0"/>
                <a:ea typeface="微软雅黑" panose="020B0503020204020204" pitchFamily="34" charset="-122"/>
                <a:cs typeface="Times New Roman" panose="02020603050405020304" pitchFamily="18" charset="0"/>
              </a:rPr>
              <a:t>                                    P</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0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sz="20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sz="2000" i="1" dirty="0" err="1">
                <a:latin typeface="Times New Roman" panose="02020603050405020304" pitchFamily="18" charset="0"/>
                <a:ea typeface="微软雅黑" panose="020B0503020204020204" pitchFamily="34" charset="-122"/>
                <a:cs typeface="Times New Roman" panose="02020603050405020304" pitchFamily="18" charset="0"/>
              </a:rPr>
              <a:t>Parents</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sz="20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2">
              <a:lnSpc>
                <a:spcPct val="150000"/>
              </a:lnSpc>
            </a:pPr>
            <a:r>
              <a:rPr lang="zh-CN" altLang="en-US" dirty="0">
                <a:latin typeface="微软雅黑" panose="020B0503020204020204" pitchFamily="34" charset="-122"/>
                <a:ea typeface="微软雅黑" panose="020B0503020204020204" pitchFamily="34" charset="-122"/>
                <a:cs typeface="Calibri" panose="020F0502020204030204"/>
              </a:rPr>
              <a:t>条件概率表</a:t>
            </a:r>
            <a:r>
              <a:rPr lang="en-US" altLang="zh-CN" dirty="0">
                <a:latin typeface="微软雅黑" panose="020B0503020204020204" pitchFamily="34" charset="-122"/>
                <a:ea typeface="微软雅黑" panose="020B0503020204020204" pitchFamily="34" charset="-122"/>
                <a:cs typeface="Calibri" panose="020F0502020204030204"/>
              </a:rPr>
              <a:t>(conditional probability table, CPT),</a:t>
            </a:r>
            <a:r>
              <a:rPr lang="zh-CN" altLang="en-US" dirty="0">
                <a:latin typeface="微软雅黑" panose="020B0503020204020204" pitchFamily="34" charset="-122"/>
                <a:ea typeface="微软雅黑" panose="020B0503020204020204" pitchFamily="34" charset="-122"/>
                <a:cs typeface="Calibri" panose="020F0502020204030204"/>
              </a:rPr>
              <a:t> 为每个变量指定其相对于父结点的条件概率</a:t>
            </a:r>
            <a:endParaRPr lang="en-US" altLang="zh-CN" dirty="0">
              <a:latin typeface="微软雅黑" panose="020B0503020204020204" pitchFamily="34" charset="-122"/>
              <a:ea typeface="微软雅黑" panose="020B0503020204020204" pitchFamily="34" charset="-122"/>
              <a:cs typeface="Calibri" panose="020F0502020204030204"/>
            </a:endParaRPr>
          </a:p>
          <a:p>
            <a:pPr marL="914400" lvl="2" indent="0">
              <a:lnSpc>
                <a:spcPct val="150000"/>
              </a:lnSpc>
              <a:buNone/>
            </a:pPr>
            <a:endParaRPr lang="en-US" dirty="0">
              <a:latin typeface="Calibri" panose="020F0502020204030204"/>
              <a:cs typeface="Calibri" panose="020F0502020204030204"/>
            </a:endParaRPr>
          </a:p>
        </p:txBody>
      </p:sp>
      <p:sp>
        <p:nvSpPr>
          <p:cNvPr id="8" name="Oval 4"/>
          <p:cNvSpPr>
            <a:spLocks noChangeArrowheads="1"/>
          </p:cNvSpPr>
          <p:nvPr/>
        </p:nvSpPr>
        <p:spPr bwMode="auto">
          <a:xfrm>
            <a:off x="9442382" y="1451543"/>
            <a:ext cx="533400" cy="533400"/>
          </a:xfrm>
          <a:prstGeom prst="ellipse">
            <a:avLst/>
          </a:prstGeom>
          <a:solidFill>
            <a:schemeClr val="bg1"/>
          </a:solidFill>
          <a:ln w="28575">
            <a:solidFill>
              <a:schemeClr val="tx1"/>
            </a:solidFill>
            <a:round/>
          </a:ln>
        </p:spPr>
        <p:txBody>
          <a:bodyPr wrap="none" anchor="ctr"/>
          <a:lstStyle/>
          <a:p>
            <a:pPr algn="ctr"/>
            <a:r>
              <a:rPr lang="en-US" sz="2400" i="1" dirty="0">
                <a:latin typeface="Calibri" panose="020F0502020204030204"/>
                <a:cs typeface="Calibri" panose="020F0502020204030204"/>
              </a:rPr>
              <a:t>A</a:t>
            </a:r>
            <a:r>
              <a:rPr lang="en-US" sz="2400" baseline="-25000" dirty="0">
                <a:latin typeface="Calibri" panose="020F0502020204030204"/>
                <a:cs typeface="Calibri" panose="020F0502020204030204"/>
              </a:rPr>
              <a:t>1</a:t>
            </a:r>
            <a:endParaRPr lang="en-US" sz="2400" baseline="-25000" dirty="0">
              <a:latin typeface="Calibri" panose="020F0502020204030204"/>
              <a:cs typeface="Calibri" panose="020F0502020204030204"/>
            </a:endParaRPr>
          </a:p>
        </p:txBody>
      </p:sp>
      <p:sp>
        <p:nvSpPr>
          <p:cNvPr id="9" name="Oval 5"/>
          <p:cNvSpPr>
            <a:spLocks noChangeArrowheads="1"/>
          </p:cNvSpPr>
          <p:nvPr/>
        </p:nvSpPr>
        <p:spPr bwMode="auto">
          <a:xfrm>
            <a:off x="10051982" y="2823143"/>
            <a:ext cx="533400" cy="533400"/>
          </a:xfrm>
          <a:prstGeom prst="ellipse">
            <a:avLst/>
          </a:prstGeom>
          <a:solidFill>
            <a:schemeClr val="bg1"/>
          </a:solidFill>
          <a:ln w="28575">
            <a:solidFill>
              <a:schemeClr val="tx1"/>
            </a:solidFill>
            <a:round/>
          </a:ln>
        </p:spPr>
        <p:txBody>
          <a:bodyPr wrap="none" anchor="ctr"/>
          <a:lstStyle/>
          <a:p>
            <a:pPr algn="ctr"/>
            <a:r>
              <a:rPr lang="en-US" sz="2400" i="1" dirty="0">
                <a:latin typeface="Calibri" panose="020F0502020204030204"/>
                <a:cs typeface="Calibri" panose="020F0502020204030204"/>
              </a:rPr>
              <a:t>X</a:t>
            </a:r>
            <a:endParaRPr lang="en-US" sz="2400" baseline="-25000" dirty="0">
              <a:latin typeface="Calibri" panose="020F0502020204030204"/>
              <a:cs typeface="Calibri" panose="020F0502020204030204"/>
            </a:endParaRPr>
          </a:p>
        </p:txBody>
      </p:sp>
      <p:cxnSp>
        <p:nvCxnSpPr>
          <p:cNvPr id="10" name="AutoShape 6"/>
          <p:cNvCxnSpPr>
            <a:cxnSpLocks noChangeShapeType="1"/>
            <a:stCxn id="8" idx="4"/>
          </p:cNvCxnSpPr>
          <p:nvPr/>
        </p:nvCxnSpPr>
        <p:spPr bwMode="auto">
          <a:xfrm>
            <a:off x="9709082" y="1984943"/>
            <a:ext cx="445569" cy="885792"/>
          </a:xfrm>
          <a:prstGeom prst="straightConnector1">
            <a:avLst/>
          </a:prstGeom>
          <a:noFill/>
          <a:ln w="28575">
            <a:solidFill>
              <a:schemeClr val="tx1"/>
            </a:solidFill>
            <a:round/>
            <a:tailEnd type="triangle" w="lg" len="lg"/>
          </a:ln>
          <a:extLst>
            <a:ext uri="{909E8E84-426E-40DD-AFC4-6F175D3DCCD1}">
              <a14:hiddenFill xmlns:a14="http://schemas.microsoft.com/office/drawing/2010/main">
                <a:noFill/>
              </a14:hiddenFill>
            </a:ext>
          </a:extLst>
        </p:spPr>
      </p:cxnSp>
      <p:sp>
        <p:nvSpPr>
          <p:cNvPr id="11" name="Oval 7"/>
          <p:cNvSpPr>
            <a:spLocks noChangeArrowheads="1"/>
          </p:cNvSpPr>
          <p:nvPr/>
        </p:nvSpPr>
        <p:spPr bwMode="auto">
          <a:xfrm>
            <a:off x="10966382" y="1451543"/>
            <a:ext cx="533400" cy="533400"/>
          </a:xfrm>
          <a:prstGeom prst="ellipse">
            <a:avLst/>
          </a:prstGeom>
          <a:solidFill>
            <a:schemeClr val="bg1"/>
          </a:solidFill>
          <a:ln w="28575">
            <a:solidFill>
              <a:schemeClr val="tx1"/>
            </a:solidFill>
            <a:round/>
          </a:ln>
        </p:spPr>
        <p:txBody>
          <a:bodyPr wrap="none" anchor="ctr"/>
          <a:lstStyle/>
          <a:p>
            <a:pPr algn="ctr"/>
            <a:r>
              <a:rPr lang="en-US" sz="2400" i="1" dirty="0">
                <a:latin typeface="Calibri" panose="020F0502020204030204"/>
                <a:cs typeface="Calibri" panose="020F0502020204030204"/>
              </a:rPr>
              <a:t>A</a:t>
            </a:r>
            <a:r>
              <a:rPr lang="en-US" sz="2400" i="1" baseline="-25000" dirty="0">
                <a:latin typeface="Calibri" panose="020F0502020204030204"/>
                <a:cs typeface="Calibri" panose="020F0502020204030204"/>
              </a:rPr>
              <a:t>n</a:t>
            </a:r>
            <a:endParaRPr lang="en-US" sz="2400" i="1" baseline="-25000" dirty="0">
              <a:latin typeface="Calibri" panose="020F0502020204030204"/>
              <a:cs typeface="Calibri" panose="020F0502020204030204"/>
            </a:endParaRPr>
          </a:p>
        </p:txBody>
      </p:sp>
      <p:cxnSp>
        <p:nvCxnSpPr>
          <p:cNvPr id="12" name="AutoShape 8"/>
          <p:cNvCxnSpPr>
            <a:cxnSpLocks noChangeShapeType="1"/>
            <a:stCxn id="11" idx="4"/>
            <a:endCxn id="9" idx="7"/>
          </p:cNvCxnSpPr>
          <p:nvPr/>
        </p:nvCxnSpPr>
        <p:spPr bwMode="auto">
          <a:xfrm flipH="1">
            <a:off x="10507267" y="1984943"/>
            <a:ext cx="725815" cy="916315"/>
          </a:xfrm>
          <a:prstGeom prst="straightConnector1">
            <a:avLst/>
          </a:prstGeom>
          <a:noFill/>
          <a:ln w="28575">
            <a:solidFill>
              <a:schemeClr val="tx1"/>
            </a:solidFill>
            <a:round/>
            <a:tailEnd type="triangle" w="lg" len="lg"/>
          </a:ln>
          <a:extLst>
            <a:ext uri="{909E8E84-426E-40DD-AFC4-6F175D3DCCD1}">
              <a14:hiddenFill xmlns:a14="http://schemas.microsoft.com/office/drawing/2010/main">
                <a:noFill/>
              </a14:hiddenFill>
            </a:ext>
          </a:extLst>
        </p:spPr>
      </p:cxnSp>
      <p:pic>
        <p:nvPicPr>
          <p:cNvPr id="13" name="Picture 9" descr="txp_fig"/>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10128182" y="1603943"/>
            <a:ext cx="469900" cy="8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AutoShape 10"/>
          <p:cNvCxnSpPr>
            <a:cxnSpLocks noChangeShapeType="1"/>
            <a:endCxn id="9" idx="0"/>
          </p:cNvCxnSpPr>
          <p:nvPr/>
        </p:nvCxnSpPr>
        <p:spPr bwMode="auto">
          <a:xfrm flipH="1">
            <a:off x="10318682" y="2061143"/>
            <a:ext cx="152400" cy="762000"/>
          </a:xfrm>
          <a:prstGeom prst="straightConnector1">
            <a:avLst/>
          </a:prstGeom>
          <a:noFill/>
          <a:ln w="28575">
            <a:solidFill>
              <a:schemeClr val="tx1"/>
            </a:solidFill>
            <a:round/>
            <a:tailEnd type="triangle" w="lg" len="lg"/>
          </a:ln>
          <a:extLst>
            <a:ext uri="{909E8E84-426E-40DD-AFC4-6F175D3DCCD1}">
              <a14:hiddenFill xmlns:a14="http://schemas.microsoft.com/office/drawing/2010/main">
                <a:noFill/>
              </a14:hiddenFill>
            </a:ext>
          </a:extLst>
        </p:spPr>
      </p:cxnSp>
      <p:pic>
        <p:nvPicPr>
          <p:cNvPr id="15" name="Picture 5" descr="txp_fig.png"/>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bwMode="auto">
          <a:xfrm>
            <a:off x="9478567" y="3754413"/>
            <a:ext cx="2057400" cy="30213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7357" dir="2700000" rotWithShape="0">
                    <a:scrgbClr r="0" g="0" b="0"/>
                  </a:outerShdw>
                </a:effectLst>
              </a14:hiddenEffects>
            </a:ext>
          </a:extLst>
        </p:spPr>
      </p:pic>
      <p:sp>
        <p:nvSpPr>
          <p:cNvPr id="16" name="AutoShape 12"/>
          <p:cNvSpPr>
            <a:spLocks noChangeArrowheads="1"/>
          </p:cNvSpPr>
          <p:nvPr/>
        </p:nvSpPr>
        <p:spPr bwMode="auto">
          <a:xfrm rot="5400000">
            <a:off x="10775882" y="3013643"/>
            <a:ext cx="609600" cy="6858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4100 h 21600"/>
              <a:gd name="T14" fmla="*/ 19055 w 21600"/>
              <a:gd name="T15" fmla="*/ 8058 h 21600"/>
            </a:gdLst>
            <a:ahLst/>
            <a:cxnLst>
              <a:cxn ang="T8">
                <a:pos x="T0" y="T1"/>
              </a:cxn>
              <a:cxn ang="T9">
                <a:pos x="T2" y="T3"/>
              </a:cxn>
              <a:cxn ang="T10">
                <a:pos x="T4" y="T5"/>
              </a:cxn>
              <a:cxn ang="T11">
                <a:pos x="T6" y="T7"/>
              </a:cxn>
            </a:cxnLst>
            <a:rect l="T12" t="T13" r="T14" b="T15"/>
            <a:pathLst>
              <a:path w="21600" h="21600">
                <a:moveTo>
                  <a:pt x="21600" y="6079"/>
                </a:moveTo>
                <a:lnTo>
                  <a:pt x="13781" y="0"/>
                </a:lnTo>
                <a:lnTo>
                  <a:pt x="13781" y="4100"/>
                </a:lnTo>
                <a:lnTo>
                  <a:pt x="12427" y="4100"/>
                </a:lnTo>
                <a:cubicBezTo>
                  <a:pt x="5564" y="4100"/>
                  <a:pt x="0" y="7708"/>
                  <a:pt x="0" y="12158"/>
                </a:cubicBezTo>
                <a:lnTo>
                  <a:pt x="0" y="21600"/>
                </a:lnTo>
                <a:lnTo>
                  <a:pt x="4046" y="21600"/>
                </a:lnTo>
                <a:lnTo>
                  <a:pt x="4046" y="12158"/>
                </a:lnTo>
                <a:cubicBezTo>
                  <a:pt x="4046" y="9894"/>
                  <a:pt x="7798" y="8058"/>
                  <a:pt x="12427" y="8058"/>
                </a:cubicBezTo>
                <a:lnTo>
                  <a:pt x="13781" y="8058"/>
                </a:lnTo>
                <a:lnTo>
                  <a:pt x="13781" y="12158"/>
                </a:lnTo>
                <a:close/>
              </a:path>
            </a:pathLst>
          </a:custGeom>
          <a:solidFill>
            <a:schemeClr val="accent1"/>
          </a:solidFill>
          <a:ln w="9525">
            <a:solidFill>
              <a:schemeClr val="tx1"/>
            </a:solidFill>
            <a:miter lim="800000"/>
          </a:ln>
        </p:spPr>
        <p:txBody>
          <a:bodyPr wrap="none" anchor="ctr"/>
          <a:lstStyle/>
          <a:p>
            <a:endParaRPr lang="en-US">
              <a:latin typeface="Calibri" panose="020F0502020204030204"/>
              <a:cs typeface="Calibri" panose="020F0502020204030204"/>
            </a:endParaRPr>
          </a:p>
        </p:txBody>
      </p:sp>
      <p:sp>
        <p:nvSpPr>
          <p:cNvPr id="18" name="Text Box 14"/>
          <p:cNvSpPr txBox="1">
            <a:spLocks noChangeArrowheads="1"/>
          </p:cNvSpPr>
          <p:nvPr/>
        </p:nvSpPr>
        <p:spPr bwMode="auto">
          <a:xfrm>
            <a:off x="2912834" y="5502549"/>
            <a:ext cx="1074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MS PGothic" panose="020B0600070205080204" charset="-128"/>
              </a:defRPr>
            </a:lvl1pPr>
            <a:lvl2pPr marL="742950" indent="-285750" eaLnBrk="0" hangingPunct="0">
              <a:defRPr>
                <a:solidFill>
                  <a:schemeClr val="tx1"/>
                </a:solidFill>
                <a:latin typeface="Arial" panose="020B0604020202020204" pitchFamily="34" charset="0"/>
                <a:ea typeface="MS PGothic" panose="020B0600070205080204" charset="-128"/>
              </a:defRPr>
            </a:lvl2pPr>
            <a:lvl3pPr marL="1143000" indent="-228600" eaLnBrk="0" hangingPunct="0">
              <a:defRPr>
                <a:solidFill>
                  <a:schemeClr val="tx1"/>
                </a:solidFill>
                <a:latin typeface="Arial" panose="020B0604020202020204" pitchFamily="34" charset="0"/>
                <a:ea typeface="MS PGothic" panose="020B0600070205080204" charset="-128"/>
              </a:defRPr>
            </a:lvl3pPr>
            <a:lvl4pPr marL="1600200" indent="-228600" eaLnBrk="0" hangingPunct="0">
              <a:defRPr>
                <a:solidFill>
                  <a:schemeClr val="tx1"/>
                </a:solidFill>
                <a:latin typeface="Arial" panose="020B0604020202020204" pitchFamily="34" charset="0"/>
                <a:ea typeface="MS PGothic" panose="020B0600070205080204" charset="-128"/>
              </a:defRPr>
            </a:lvl4pPr>
            <a:lvl5pPr marL="2057400" indent="-228600" eaLnBrk="0" hangingPunct="0">
              <a:defRPr>
                <a:solidFill>
                  <a:schemeClr val="tx1"/>
                </a:solidFill>
                <a:latin typeface="Arial" panose="020B0604020202020204" pitchFamily="34" charset="0"/>
                <a:ea typeface="MS PGothic" panose="020B060007020508020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charset="-128"/>
              </a:defRPr>
            </a:lvl9pPr>
          </a:lstStyle>
          <a:p>
            <a:pPr eaLnBrk="1" hangingPunct="1">
              <a:spcBef>
                <a:spcPct val="50000"/>
              </a:spcBef>
            </a:pPr>
            <a:r>
              <a:rPr lang="zh-CN" altLang="en-US" sz="2400" dirty="0">
                <a:solidFill>
                  <a:srgbClr val="CC0000"/>
                </a:solidFill>
                <a:latin typeface="微软雅黑" panose="020B0503020204020204" pitchFamily="34" charset="-122"/>
                <a:ea typeface="微软雅黑" panose="020B0503020204020204" pitchFamily="34" charset="-122"/>
                <a:cs typeface="Calibri" panose="020F0502020204030204"/>
              </a:rPr>
              <a:t>贝叶斯网络</a:t>
            </a:r>
            <a:r>
              <a:rPr lang="en-US" sz="2400" dirty="0">
                <a:solidFill>
                  <a:srgbClr val="CC0000"/>
                </a:solidFill>
                <a:latin typeface="微软雅黑" panose="020B0503020204020204" pitchFamily="34" charset="-122"/>
                <a:ea typeface="微软雅黑" panose="020B0503020204020204" pitchFamily="34" charset="-122"/>
                <a:cs typeface="Calibri" panose="020F0502020204030204"/>
              </a:rPr>
              <a:t>= </a:t>
            </a:r>
            <a:r>
              <a:rPr lang="zh-CN" altLang="en-US" sz="2400" dirty="0">
                <a:solidFill>
                  <a:srgbClr val="CC0000"/>
                </a:solidFill>
                <a:latin typeface="微软雅黑" panose="020B0503020204020204" pitchFamily="34" charset="-122"/>
                <a:ea typeface="微软雅黑" panose="020B0503020204020204" pitchFamily="34" charset="-122"/>
                <a:cs typeface="Calibri" panose="020F0502020204030204"/>
              </a:rPr>
              <a:t>拓扑结构</a:t>
            </a:r>
            <a:r>
              <a:rPr lang="en-US" sz="2400" dirty="0">
                <a:solidFill>
                  <a:srgbClr val="CC0000"/>
                </a:solidFill>
                <a:latin typeface="微软雅黑" panose="020B0503020204020204" pitchFamily="34" charset="-122"/>
                <a:ea typeface="微软雅黑" panose="020B0503020204020204" pitchFamily="34" charset="-122"/>
                <a:cs typeface="Calibri" panose="020F0502020204030204"/>
              </a:rPr>
              <a:t>(</a:t>
            </a:r>
            <a:r>
              <a:rPr lang="zh-CN" altLang="en-US" sz="2400" dirty="0">
                <a:solidFill>
                  <a:srgbClr val="CC0000"/>
                </a:solidFill>
                <a:latin typeface="微软雅黑" panose="020B0503020204020204" pitchFamily="34" charset="-122"/>
                <a:ea typeface="微软雅黑" panose="020B0503020204020204" pitchFamily="34" charset="-122"/>
                <a:cs typeface="Calibri" panose="020F0502020204030204"/>
              </a:rPr>
              <a:t>图</a:t>
            </a:r>
            <a:r>
              <a:rPr lang="en-US" sz="2400" dirty="0">
                <a:solidFill>
                  <a:srgbClr val="CC0000"/>
                </a:solidFill>
                <a:latin typeface="微软雅黑" panose="020B0503020204020204" pitchFamily="34" charset="-122"/>
                <a:ea typeface="微软雅黑" panose="020B0503020204020204" pitchFamily="34" charset="-122"/>
                <a:cs typeface="Calibri" panose="020F0502020204030204"/>
              </a:rPr>
              <a:t>) + </a:t>
            </a:r>
            <a:r>
              <a:rPr lang="zh-CN" altLang="en-US" sz="2400" dirty="0">
                <a:solidFill>
                  <a:srgbClr val="CC0000"/>
                </a:solidFill>
                <a:latin typeface="微软雅黑" panose="020B0503020204020204" pitchFamily="34" charset="-122"/>
                <a:ea typeface="微软雅黑" panose="020B0503020204020204" pitchFamily="34" charset="-122"/>
                <a:cs typeface="Calibri" panose="020F0502020204030204"/>
              </a:rPr>
              <a:t>条件概率</a:t>
            </a:r>
            <a:endParaRPr lang="en-US" sz="2400" dirty="0">
              <a:solidFill>
                <a:srgbClr val="CC0000"/>
              </a:solidFill>
              <a:latin typeface="微软雅黑" panose="020B0503020204020204" pitchFamily="34" charset="-122"/>
              <a:ea typeface="微软雅黑" panose="020B0503020204020204" pitchFamily="34" charset="-122"/>
              <a:cs typeface="Calibri" panose="020F0502020204030204"/>
            </a:endParaRPr>
          </a:p>
        </p:txBody>
      </p:sp>
      <p:grpSp>
        <p:nvGrpSpPr>
          <p:cNvPr id="17" name="组合 16"/>
          <p:cNvGrpSpPr/>
          <p:nvPr/>
        </p:nvGrpSpPr>
        <p:grpSpPr>
          <a:xfrm>
            <a:off x="1093535" y="486917"/>
            <a:ext cx="7464387" cy="497934"/>
            <a:chOff x="4099943" y="2819853"/>
            <a:chExt cx="2570275" cy="497934"/>
          </a:xfrm>
        </p:grpSpPr>
        <p:sp>
          <p:nvSpPr>
            <p:cNvPr id="19" name="平行四边形 18"/>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0" name="平行四边形 19"/>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1" name="矩形 20"/>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贝叶斯网络模型</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1052028" y="1156225"/>
            <a:ext cx="10820400" cy="5336589"/>
          </a:xfrm>
        </p:spPr>
        <p:txBody>
          <a:bodyPr/>
          <a:lstStyle/>
          <a:p>
            <a:pPr eaLnBrk="1" hangingPunct="1">
              <a:lnSpc>
                <a:spcPct val="200000"/>
              </a:lnSpc>
            </a:pPr>
            <a:r>
              <a:rPr lang="zh-CN" altLang="en-US" sz="2200" dirty="0">
                <a:latin typeface="微软雅黑" panose="020B0503020204020204" pitchFamily="34" charset="-122"/>
                <a:ea typeface="微软雅黑" panose="020B0503020204020204" pitchFamily="34" charset="-122"/>
                <a:cs typeface="Calibri" panose="020F0502020204030204"/>
              </a:rPr>
              <a:t>贝叶斯网络的</a:t>
            </a:r>
            <a:r>
              <a:rPr lang="zh-CN" altLang="en-US" sz="2200" dirty="0">
                <a:solidFill>
                  <a:srgbClr val="FF0000"/>
                </a:solidFill>
                <a:latin typeface="微软雅黑" panose="020B0503020204020204" pitchFamily="34" charset="-122"/>
                <a:ea typeface="微软雅黑" panose="020B0503020204020204" pitchFamily="34" charset="-122"/>
                <a:cs typeface="Calibri" panose="020F0502020204030204"/>
              </a:rPr>
              <a:t>拓扑结构</a:t>
            </a:r>
            <a:endParaRPr lang="en-US" altLang="zh-CN" sz="2200" dirty="0">
              <a:solidFill>
                <a:srgbClr val="FF0000"/>
              </a:solidFill>
              <a:latin typeface="微软雅黑" panose="020B0503020204020204" pitchFamily="34" charset="-122"/>
              <a:ea typeface="微软雅黑" panose="020B0503020204020204" pitchFamily="34" charset="-122"/>
              <a:cs typeface="Calibri" panose="020F0502020204030204"/>
            </a:endParaRPr>
          </a:p>
          <a:p>
            <a:pPr lvl="1">
              <a:lnSpc>
                <a:spcPct val="200000"/>
              </a:lnSpc>
            </a:pPr>
            <a:r>
              <a:rPr lang="zh-CN" altLang="en-US" sz="2000" dirty="0">
                <a:latin typeface="微软雅黑" panose="020B0503020204020204" pitchFamily="34" charset="-122"/>
                <a:ea typeface="微软雅黑" panose="020B0503020204020204" pitchFamily="34" charset="-122"/>
                <a:cs typeface="Calibri" panose="020F0502020204030204"/>
              </a:rPr>
              <a:t>用一种精确简洁的方式描述了在问题域中成立的独立和条件独立关系</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eaLnBrk="1" hangingPunct="1">
              <a:lnSpc>
                <a:spcPct val="80000"/>
              </a:lnSpc>
            </a:pPr>
            <a:endParaRPr lang="en-US" altLang="zh-CN" sz="2000" dirty="0">
              <a:latin typeface="微软雅黑" panose="020B0503020204020204" pitchFamily="34" charset="-122"/>
              <a:ea typeface="微软雅黑" panose="020B0503020204020204" pitchFamily="34" charset="-122"/>
              <a:cs typeface="Calibri" panose="020F0502020204030204"/>
            </a:endParaRPr>
          </a:p>
          <a:p>
            <a:pPr>
              <a:lnSpc>
                <a:spcPct val="80000"/>
              </a:lnSpc>
            </a:pPr>
            <a:endParaRPr lang="en-US" sz="2000" dirty="0">
              <a:latin typeface="微软雅黑" panose="020B0503020204020204" pitchFamily="34" charset="-122"/>
              <a:ea typeface="微软雅黑" panose="020B0503020204020204" pitchFamily="34" charset="-122"/>
              <a:cs typeface="Calibri" panose="020F0502020204030204"/>
            </a:endParaRPr>
          </a:p>
          <a:p>
            <a:pPr>
              <a:lnSpc>
                <a:spcPct val="80000"/>
              </a:lnSpc>
            </a:pPr>
            <a:endParaRPr lang="en-US" sz="2000" dirty="0">
              <a:latin typeface="微软雅黑" panose="020B0503020204020204" pitchFamily="34" charset="-122"/>
              <a:ea typeface="微软雅黑" panose="020B0503020204020204" pitchFamily="34" charset="-122"/>
              <a:cs typeface="Calibri" panose="020F0502020204030204"/>
            </a:endParaRPr>
          </a:p>
          <a:p>
            <a:pPr>
              <a:lnSpc>
                <a:spcPct val="80000"/>
              </a:lnSpc>
            </a:pPr>
            <a:endParaRPr lang="en-US" sz="2000" dirty="0">
              <a:latin typeface="微软雅黑" panose="020B0503020204020204" pitchFamily="34" charset="-122"/>
              <a:ea typeface="微软雅黑" panose="020B0503020204020204" pitchFamily="34" charset="-122"/>
              <a:cs typeface="Calibri" panose="020F0502020204030204"/>
            </a:endParaRPr>
          </a:p>
          <a:p>
            <a:pPr>
              <a:lnSpc>
                <a:spcPct val="80000"/>
              </a:lnSpc>
            </a:pPr>
            <a:endParaRPr lang="en-US" sz="2000" dirty="0">
              <a:latin typeface="微软雅黑" panose="020B0503020204020204" pitchFamily="34" charset="-122"/>
              <a:ea typeface="微软雅黑" panose="020B0503020204020204" pitchFamily="34" charset="-122"/>
              <a:cs typeface="Calibri" panose="020F0502020204030204"/>
            </a:endParaRPr>
          </a:p>
          <a:p>
            <a:pPr>
              <a:lnSpc>
                <a:spcPct val="80000"/>
              </a:lnSpc>
            </a:pPr>
            <a:endParaRPr lang="en-US" sz="2000" dirty="0">
              <a:latin typeface="微软雅黑" panose="020B0503020204020204" pitchFamily="34" charset="-122"/>
              <a:ea typeface="微软雅黑" panose="020B0503020204020204" pitchFamily="34" charset="-122"/>
              <a:cs typeface="Calibri" panose="020F0502020204030204"/>
            </a:endParaRPr>
          </a:p>
          <a:p>
            <a:pPr lvl="1">
              <a:lnSpc>
                <a:spcPct val="80000"/>
              </a:lnSpc>
            </a:pPr>
            <a:r>
              <a:rPr lang="en-US" sz="2000" i="1" dirty="0">
                <a:latin typeface="Times New Roman" panose="02020603050405020304" pitchFamily="18" charset="0"/>
                <a:ea typeface="微软雅黑" panose="020B0503020204020204" pitchFamily="34" charset="-122"/>
                <a:cs typeface="Times New Roman" panose="02020603050405020304" pitchFamily="18" charset="0"/>
              </a:rPr>
              <a:t>Weather </a:t>
            </a:r>
            <a:r>
              <a:rPr lang="zh-CN" altLang="en-US" sz="2000" dirty="0">
                <a:latin typeface="微软雅黑" panose="020B0503020204020204" pitchFamily="34" charset="-122"/>
                <a:ea typeface="微软雅黑" panose="020B0503020204020204" pitchFamily="34" charset="-122"/>
                <a:cs typeface="Calibri" panose="020F0502020204030204"/>
              </a:rPr>
              <a:t>与其他变量是独立的 </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lvl="1">
              <a:lnSpc>
                <a:spcPct val="80000"/>
              </a:lnSpc>
            </a:pPr>
            <a:endParaRPr lang="en-US" altLang="zh-CN" sz="2000" dirty="0">
              <a:latin typeface="微软雅黑" panose="020B0503020204020204" pitchFamily="34" charset="-122"/>
              <a:ea typeface="微软雅黑" panose="020B0503020204020204" pitchFamily="34" charset="-122"/>
              <a:cs typeface="Calibri" panose="020F0502020204030204"/>
            </a:endParaRPr>
          </a:p>
          <a:p>
            <a:pPr lvl="1">
              <a:lnSpc>
                <a:spcPct val="80000"/>
              </a:lnSpc>
            </a:pPr>
            <a:r>
              <a:rPr lang="zh-CN" altLang="en-US" sz="2000" dirty="0">
                <a:latin typeface="微软雅黑" panose="020B0503020204020204" pitchFamily="34" charset="-122"/>
                <a:ea typeface="微软雅黑" panose="020B0503020204020204" pitchFamily="34" charset="-122"/>
                <a:cs typeface="Calibri" panose="020F0502020204030204"/>
              </a:rPr>
              <a:t> 给定 </a:t>
            </a:r>
            <a:r>
              <a:rPr lang="en-US" sz="2000" i="1" dirty="0">
                <a:latin typeface="Times New Roman" panose="02020603050405020304" pitchFamily="18" charset="0"/>
                <a:ea typeface="微软雅黑" panose="020B0503020204020204" pitchFamily="34" charset="-122"/>
                <a:cs typeface="Times New Roman" panose="02020603050405020304" pitchFamily="18" charset="0"/>
              </a:rPr>
              <a:t>Cavity</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cs typeface="Calibri" panose="020F0502020204030204"/>
              </a:rPr>
              <a:t>条件下，</a:t>
            </a:r>
            <a:r>
              <a:rPr lang="en-US" sz="2000" i="1" dirty="0">
                <a:latin typeface="Times New Roman" panose="02020603050405020304" pitchFamily="18" charset="0"/>
                <a:ea typeface="微软雅黑" panose="020B0503020204020204" pitchFamily="34" charset="-122"/>
                <a:cs typeface="Times New Roman" panose="02020603050405020304" pitchFamily="18" charset="0"/>
              </a:rPr>
              <a:t>Toothache</a:t>
            </a:r>
            <a:r>
              <a:rPr lang="en-US" sz="2000" dirty="0">
                <a:latin typeface="微软雅黑" panose="020B0503020204020204" pitchFamily="34" charset="-122"/>
                <a:ea typeface="微软雅黑" panose="020B0503020204020204" pitchFamily="34" charset="-122"/>
                <a:cs typeface="Calibri" panose="020F0502020204030204"/>
              </a:rPr>
              <a:t> </a:t>
            </a:r>
            <a:r>
              <a:rPr lang="zh-CN" altLang="en-US" sz="2000" dirty="0">
                <a:latin typeface="微软雅黑" panose="020B0503020204020204" pitchFamily="34" charset="-122"/>
                <a:ea typeface="微软雅黑" panose="020B0503020204020204" pitchFamily="34" charset="-122"/>
                <a:cs typeface="Calibri" panose="020F0502020204030204"/>
              </a:rPr>
              <a:t>和 </a:t>
            </a:r>
            <a:r>
              <a:rPr lang="en-US" sz="2000" i="1" dirty="0">
                <a:latin typeface="Times New Roman" panose="02020603050405020304" pitchFamily="18" charset="0"/>
                <a:ea typeface="微软雅黑" panose="020B0503020204020204" pitchFamily="34" charset="-122"/>
                <a:cs typeface="Times New Roman" panose="02020603050405020304" pitchFamily="18" charset="0"/>
              </a:rPr>
              <a:t>Catch</a:t>
            </a:r>
            <a:r>
              <a:rPr lang="en-US" sz="2000" dirty="0">
                <a:latin typeface="微软雅黑" panose="020B0503020204020204" pitchFamily="34" charset="-122"/>
                <a:ea typeface="微软雅黑" panose="020B0503020204020204" pitchFamily="34" charset="-122"/>
                <a:cs typeface="Calibri" panose="020F0502020204030204"/>
              </a:rPr>
              <a:t> </a:t>
            </a:r>
            <a:r>
              <a:rPr lang="zh-CN" altLang="en-US" sz="2000" dirty="0">
                <a:latin typeface="微软雅黑" panose="020B0503020204020204" pitchFamily="34" charset="-122"/>
                <a:ea typeface="微软雅黑" panose="020B0503020204020204" pitchFamily="34" charset="-122"/>
                <a:cs typeface="Calibri" panose="020F0502020204030204"/>
              </a:rPr>
              <a:t>是条件独立的</a:t>
            </a:r>
            <a:endParaRPr lang="en-US" sz="2000" dirty="0">
              <a:latin typeface="微软雅黑" panose="020B0503020204020204" pitchFamily="34" charset="-122"/>
              <a:ea typeface="微软雅黑" panose="020B0503020204020204" pitchFamily="34" charset="-122"/>
              <a:cs typeface="Calibri" panose="020F0502020204030204"/>
            </a:endParaRPr>
          </a:p>
        </p:txBody>
      </p:sp>
      <p:pic>
        <p:nvPicPr>
          <p:cNvPr id="17412"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r="61858" b="49960"/>
          <a:stretch>
            <a:fillRect/>
          </a:stretch>
        </p:blipFill>
        <p:spPr bwMode="auto">
          <a:xfrm>
            <a:off x="3033228" y="3184663"/>
            <a:ext cx="1447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413" name="Group 5"/>
          <p:cNvGrpSpPr/>
          <p:nvPr/>
        </p:nvGrpSpPr>
        <p:grpSpPr bwMode="auto">
          <a:xfrm>
            <a:off x="6462228" y="2541060"/>
            <a:ext cx="3272670" cy="2277806"/>
            <a:chOff x="3600" y="2208"/>
            <a:chExt cx="1767" cy="1247"/>
          </a:xfrm>
        </p:grpSpPr>
        <p:pic>
          <p:nvPicPr>
            <p:cNvPr id="17415"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l="26097"/>
            <a:stretch>
              <a:fillRect/>
            </a:stretch>
          </p:blipFill>
          <p:spPr bwMode="auto">
            <a:xfrm>
              <a:off x="3600" y="2208"/>
              <a:ext cx="1767" cy="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Rectangle 7"/>
            <p:cNvSpPr>
              <a:spLocks noChangeArrowheads="1"/>
            </p:cNvSpPr>
            <p:nvPr/>
          </p:nvSpPr>
          <p:spPr bwMode="auto">
            <a:xfrm>
              <a:off x="3600" y="2208"/>
              <a:ext cx="336" cy="6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atin typeface="Calibri" panose="020F0502020204030204"/>
                <a:cs typeface="Calibri" panose="020F0502020204030204"/>
              </a:endParaRPr>
            </a:p>
          </p:txBody>
        </p:sp>
      </p:grpSp>
      <p:grpSp>
        <p:nvGrpSpPr>
          <p:cNvPr id="9" name="组合 8"/>
          <p:cNvGrpSpPr/>
          <p:nvPr/>
        </p:nvGrpSpPr>
        <p:grpSpPr>
          <a:xfrm>
            <a:off x="1093535" y="486917"/>
            <a:ext cx="7464387" cy="497934"/>
            <a:chOff x="4099943" y="2819853"/>
            <a:chExt cx="2570275" cy="497934"/>
          </a:xfrm>
        </p:grpSpPr>
        <p:sp>
          <p:nvSpPr>
            <p:cNvPr id="10" name="平行四边形 9"/>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平行四边形 10"/>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矩形 11"/>
            <p:cNvSpPr/>
            <p:nvPr/>
          </p:nvSpPr>
          <p:spPr>
            <a:xfrm>
              <a:off x="4216534" y="2853798"/>
              <a:ext cx="2359684" cy="461665"/>
            </a:xfrm>
            <a:prstGeom prst="rect">
              <a:avLst/>
            </a:prstGeom>
          </p:spPr>
          <p:txBody>
            <a:bodyPr wrap="square">
              <a:spAutoFit/>
            </a:bodyPr>
            <a:lstStyle/>
            <a:p>
              <a:pPr algn="ctr">
                <a:defRPr/>
              </a:pPr>
              <a:r>
                <a:rPr lang="zh-CN" altLang="en-US" sz="2400" dirty="0">
                  <a:latin typeface="微软雅黑" panose="020B0503020204020204" pitchFamily="34" charset="-122"/>
                  <a:ea typeface="微软雅黑" panose="020B0503020204020204" pitchFamily="34" charset="-122"/>
                </a:rPr>
                <a:t>贝叶斯网络模型</a:t>
              </a:r>
              <a:endParaRPr lang="en-US" altLang="zh-CN" sz="24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3"/>
          <p:cNvSpPr>
            <a:spLocks noGrp="1" noChangeArrowheads="1"/>
          </p:cNvSpPr>
          <p:nvPr>
            <p:ph idx="1"/>
          </p:nvPr>
        </p:nvSpPr>
        <p:spPr>
          <a:xfrm>
            <a:off x="582991" y="1108326"/>
            <a:ext cx="10242885" cy="4876800"/>
          </a:xfrm>
        </p:spPr>
        <p:txBody>
          <a:bodyPr>
            <a:normAutofit/>
          </a:bodyPr>
          <a:lstStyle/>
          <a:p>
            <a:pPr>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一个贝叶斯网络：</a:t>
            </a:r>
            <a:r>
              <a:rPr lang="en-US" altLang="zh-CN" sz="2000" dirty="0">
                <a:latin typeface="微软雅黑" panose="020B0503020204020204" pitchFamily="34" charset="-122"/>
                <a:ea typeface="微软雅黑" panose="020B0503020204020204" pitchFamily="34" charset="-122"/>
                <a:cs typeface="Calibri" panose="020F0502020204030204"/>
              </a:rPr>
              <a:t> </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Alarm Network</a:t>
            </a:r>
            <a:endPar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我在上班，邻居约翰打电话说我的报警器响了，但邻居玛丽不打电话。有时，它会受到轻微地震的影响。有窃贼吗？</a:t>
            </a:r>
            <a:endParaRPr lang="en-US" sz="2000" dirty="0">
              <a:latin typeface="微软雅黑" panose="020B0503020204020204" pitchFamily="34" charset="-122"/>
              <a:ea typeface="微软雅黑" panose="020B0503020204020204" pitchFamily="34" charset="-122"/>
              <a:cs typeface="Calibri" panose="020F0502020204030204"/>
            </a:endParaRPr>
          </a:p>
          <a:p>
            <a:pPr lvl="1">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cs typeface="Calibri" panose="020F0502020204030204"/>
              </a:rPr>
              <a:t>布尔变量</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Burglary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Earthquake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Alarm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JohnCalls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MaryCalls</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cs typeface="Calibri" panose="020F0502020204030204"/>
              </a:rPr>
              <a:t>网络拓扑</a:t>
            </a:r>
            <a:r>
              <a:rPr lang="zh-CN" altLang="en-US" sz="2000" dirty="0">
                <a:latin typeface="微软雅黑" panose="020B0503020204020204" pitchFamily="34" charset="-122"/>
                <a:ea typeface="微软雅黑" panose="020B0503020204020204" pitchFamily="34" charset="-122"/>
                <a:cs typeface="Calibri" panose="020F0502020204030204"/>
              </a:rPr>
              <a:t>反应了因果关系</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lvl="2">
              <a:lnSpc>
                <a:spcPct val="150000"/>
              </a:lnSpc>
            </a:pPr>
            <a:r>
              <a:rPr lang="zh-CN" altLang="en-US" dirty="0">
                <a:latin typeface="微软雅黑" panose="020B0503020204020204" pitchFamily="34" charset="-122"/>
                <a:ea typeface="微软雅黑" panose="020B0503020204020204" pitchFamily="34" charset="-122"/>
                <a:cs typeface="Calibri" panose="020F0502020204030204"/>
              </a:rPr>
              <a:t>窃贼闯入，报警器会响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Burglary -&gt;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Alarm</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lvl="2">
              <a:lnSpc>
                <a:spcPct val="150000"/>
              </a:lnSpc>
            </a:pPr>
            <a:r>
              <a:rPr lang="zh-CN" altLang="en-US" dirty="0">
                <a:latin typeface="微软雅黑" panose="020B0503020204020204" pitchFamily="34" charset="-122"/>
                <a:ea typeface="微软雅黑" panose="020B0503020204020204" pitchFamily="34" charset="-122"/>
                <a:cs typeface="Calibri" panose="020F0502020204030204"/>
              </a:rPr>
              <a:t>地震偶尔报警器也会有反应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Earthquake -&gt;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Alarm</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lvl="2">
              <a:lnSpc>
                <a:spcPct val="150000"/>
              </a:lnSpc>
            </a:pPr>
            <a:r>
              <a:rPr lang="zh-CN" altLang="en-US" dirty="0">
                <a:latin typeface="微软雅黑" panose="020B0503020204020204" pitchFamily="34" charset="-122"/>
                <a:ea typeface="微软雅黑" panose="020B0503020204020204" pitchFamily="34" charset="-122"/>
                <a:cs typeface="Calibri" panose="020F0502020204030204"/>
              </a:rPr>
              <a:t>听到警报声，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John</a:t>
            </a:r>
            <a:r>
              <a:rPr lang="zh-CN" altLang="en-US" dirty="0">
                <a:latin typeface="微软雅黑" panose="020B0503020204020204" pitchFamily="34" charset="-122"/>
                <a:ea typeface="微软雅黑" panose="020B0503020204020204" pitchFamily="34" charset="-122"/>
                <a:cs typeface="Calibri" panose="020F0502020204030204"/>
              </a:rPr>
              <a:t>会打来电话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Alarm -&gt; </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JohnCalls</a:t>
            </a:r>
            <a:endParaRPr lang="en-US" altLang="zh-CN" i="1" dirty="0">
              <a:latin typeface="Times New Roman" panose="02020603050405020304" pitchFamily="18" charset="0"/>
              <a:ea typeface="微软雅黑" panose="020B0503020204020204" pitchFamily="34" charset="-122"/>
              <a:cs typeface="Times New Roman" panose="02020603050405020304" pitchFamily="18" charset="0"/>
            </a:endParaRPr>
          </a:p>
          <a:p>
            <a:pPr lvl="2">
              <a:lnSpc>
                <a:spcPct val="150000"/>
              </a:lnSpc>
            </a:pPr>
            <a:r>
              <a:rPr lang="zh-CN" altLang="en-US" dirty="0">
                <a:latin typeface="微软雅黑" panose="020B0503020204020204" pitchFamily="34" charset="-122"/>
                <a:ea typeface="微软雅黑" panose="020B0503020204020204" pitchFamily="34" charset="-122"/>
                <a:cs typeface="Calibri" panose="020F0502020204030204"/>
              </a:rPr>
              <a:t>听到警报声，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Mary</a:t>
            </a:r>
            <a:r>
              <a:rPr lang="zh-CN" altLang="en-US" dirty="0">
                <a:latin typeface="微软雅黑" panose="020B0503020204020204" pitchFamily="34" charset="-122"/>
                <a:ea typeface="微软雅黑" panose="020B0503020204020204" pitchFamily="34" charset="-122"/>
                <a:cs typeface="Calibri" panose="020F0502020204030204"/>
              </a:rPr>
              <a:t>会打来电话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Alarm -&gt; </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MaryCalls</a:t>
            </a:r>
            <a:endParaRPr 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8081276" y="2661446"/>
            <a:ext cx="3786674" cy="3088228"/>
          </a:xfrm>
          <a:prstGeom prst="rect">
            <a:avLst/>
          </a:prstGeom>
        </p:spPr>
      </p:pic>
      <p:sp>
        <p:nvSpPr>
          <p:cNvPr id="5" name="Title 1"/>
          <p:cNvSpPr txBox="1"/>
          <p:nvPr/>
        </p:nvSpPr>
        <p:spPr>
          <a:xfrm>
            <a:off x="737191" y="7804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Calibri" panose="020F0502020204030204"/>
                <a:cs typeface="Calibri" panose="020F0502020204030204"/>
              </a:rPr>
              <a:t>示例</a:t>
            </a:r>
            <a:r>
              <a:rPr lang="en-US" sz="2800" dirty="0">
                <a:latin typeface="Calibri" panose="020F0502020204030204"/>
                <a:cs typeface="Calibri" panose="020F0502020204030204"/>
              </a:rPr>
              <a:t>: Alarm Network</a:t>
            </a:r>
            <a:endParaRPr lang="en-US" sz="2800" dirty="0">
              <a:latin typeface="Calibri" panose="020F0502020204030204"/>
              <a:cs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292320" y="1314747"/>
            <a:ext cx="7405341" cy="5091648"/>
          </a:xfrm>
          <a:prstGeom prst="rect">
            <a:avLst/>
          </a:prstGeom>
          <a:solidFill>
            <a:srgbClr val="FFC000"/>
          </a:solidFill>
        </p:spPr>
      </p:pic>
      <p:sp>
        <p:nvSpPr>
          <p:cNvPr id="7" name="Title 1"/>
          <p:cNvSpPr txBox="1"/>
          <p:nvPr/>
        </p:nvSpPr>
        <p:spPr>
          <a:xfrm>
            <a:off x="737191" y="7804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Calibri" panose="020F0502020204030204"/>
                <a:cs typeface="Calibri" panose="020F0502020204030204"/>
              </a:rPr>
              <a:t>示例</a:t>
            </a:r>
            <a:r>
              <a:rPr lang="en-US" sz="2800" dirty="0">
                <a:latin typeface="Calibri" panose="020F0502020204030204"/>
                <a:cs typeface="Calibri" panose="020F0502020204030204"/>
              </a:rPr>
              <a:t>: Alarm Network</a:t>
            </a:r>
            <a:endParaRPr lang="en-US" sz="2800" dirty="0">
              <a:latin typeface="Calibri" panose="020F0502020204030204"/>
              <a:cs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741145" y="1437735"/>
            <a:ext cx="9469655" cy="4800600"/>
          </a:xfrm>
        </p:spPr>
        <p:txBody>
          <a:bodyPr/>
          <a:lstStyle/>
          <a:p>
            <a:pPr eaLnBrk="1" hangingPunct="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贝叶斯网络是完全联合概率分布的一种表示</a:t>
            </a:r>
            <a:endParaRPr lang="en-US" sz="2000" dirty="0">
              <a:latin typeface="微软雅黑" panose="020B0503020204020204" pitchFamily="34" charset="-122"/>
              <a:ea typeface="微软雅黑" panose="020B0503020204020204" pitchFamily="34" charset="-122"/>
              <a:cs typeface="Calibri" panose="020F0502020204030204"/>
            </a:endParaRPr>
          </a:p>
          <a:p>
            <a:pPr eaLnBrk="1" hangingPunct="1">
              <a:lnSpc>
                <a:spcPct val="150000"/>
              </a:lnSpc>
            </a:pPr>
            <a:endParaRPr lang="en-US" sz="2400" dirty="0">
              <a:latin typeface="Calibri" panose="020F0502020204030204"/>
              <a:cs typeface="Calibri" panose="020F0502020204030204"/>
            </a:endParaRPr>
          </a:p>
        </p:txBody>
      </p:sp>
      <p:sp>
        <p:nvSpPr>
          <p:cNvPr id="24" name="Right Arrow 27"/>
          <p:cNvSpPr/>
          <p:nvPr/>
        </p:nvSpPr>
        <p:spPr>
          <a:xfrm>
            <a:off x="6247501" y="3480649"/>
            <a:ext cx="1401908" cy="754217"/>
          </a:xfrm>
          <a:prstGeom prst="rightArrow">
            <a:avLst>
              <a:gd name="adj1" fmla="val 43750"/>
              <a:gd name="adj2" fmla="val 50000"/>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5" name="Table 30"/>
          <p:cNvGraphicFramePr>
            <a:graphicFrameLocks noGrp="1"/>
          </p:cNvGraphicFramePr>
          <p:nvPr/>
        </p:nvGraphicFramePr>
        <p:xfrm>
          <a:off x="7936621" y="2372753"/>
          <a:ext cx="1676399" cy="2970008"/>
        </p:xfrm>
        <a:graphic>
          <a:graphicData uri="http://schemas.openxmlformats.org/drawingml/2006/table">
            <a:tbl>
              <a:tblPr firstRow="1" bandRow="1">
                <a:tableStyleId>{5C22544A-7EE6-4342-B048-85BDC9FD1C3A}</a:tableStyleId>
              </a:tblPr>
              <a:tblGrid>
                <a:gridCol w="419100"/>
                <a:gridCol w="419099"/>
                <a:gridCol w="400878"/>
                <a:gridCol w="437322"/>
              </a:tblGrid>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p:sp>
        <p:nvSpPr>
          <p:cNvPr id="26" name="Rectangle 14336"/>
          <p:cNvSpPr/>
          <p:nvPr/>
        </p:nvSpPr>
        <p:spPr>
          <a:xfrm>
            <a:off x="1002971" y="6117687"/>
            <a:ext cx="5175768" cy="338554"/>
          </a:xfrm>
          <a:prstGeom prst="rect">
            <a:avLst/>
          </a:prstGeom>
        </p:spPr>
        <p:txBody>
          <a:bodyPr wrap="square">
            <a:spAutoFit/>
          </a:bodyPr>
          <a:lstStyle/>
          <a:p>
            <a:pPr algn="ctr">
              <a:lnSpc>
                <a:spcPct val="80000"/>
              </a:lnSpc>
            </a:pPr>
            <a:r>
              <a:rPr lang="zh-CN" altLang="en-US"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rPr>
              <a:t>贝叶斯网络</a:t>
            </a:r>
            <a:endParaRPr lang="en-US"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endParaRPr>
          </a:p>
        </p:txBody>
      </p:sp>
      <p:sp>
        <p:nvSpPr>
          <p:cNvPr id="27" name="Rectangle 34"/>
          <p:cNvSpPr/>
          <p:nvPr/>
        </p:nvSpPr>
        <p:spPr>
          <a:xfrm>
            <a:off x="7455697" y="6104620"/>
            <a:ext cx="3016929" cy="338554"/>
          </a:xfrm>
          <a:prstGeom prst="rect">
            <a:avLst/>
          </a:prstGeom>
        </p:spPr>
        <p:txBody>
          <a:bodyPr wrap="square">
            <a:spAutoFit/>
          </a:bodyPr>
          <a:lstStyle/>
          <a:p>
            <a:pPr algn="ctr">
              <a:lnSpc>
                <a:spcPct val="80000"/>
              </a:lnSpc>
            </a:pPr>
            <a:r>
              <a:rPr lang="zh-CN" altLang="en-US"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rPr>
              <a:t>完全联合概率分布</a:t>
            </a:r>
            <a:endParaRPr lang="en-US"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endParaRPr>
          </a:p>
        </p:txBody>
      </p:sp>
      <p:pic>
        <p:nvPicPr>
          <p:cNvPr id="44" name="图片 43"/>
          <p:cNvPicPr>
            <a:picLocks noChangeAspect="1"/>
          </p:cNvPicPr>
          <p:nvPr/>
        </p:nvPicPr>
        <p:blipFill>
          <a:blip r:embed="rId1"/>
          <a:stretch>
            <a:fillRect/>
          </a:stretch>
        </p:blipFill>
        <p:spPr>
          <a:xfrm>
            <a:off x="1292207" y="2258230"/>
            <a:ext cx="5235482" cy="3599731"/>
          </a:xfrm>
          <a:prstGeom prst="rect">
            <a:avLst/>
          </a:prstGeom>
        </p:spPr>
      </p:pic>
      <p:sp>
        <p:nvSpPr>
          <p:cNvPr id="2"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cs typeface="Calibri" panose="020F0502020204030204"/>
              </a:rPr>
              <a:t>贝叶斯网络的语义</a:t>
            </a:r>
            <a:endParaRPr lang="en-US" sz="2800" dirty="0">
              <a:latin typeface="微软雅黑" panose="020B0503020204020204" pitchFamily="34" charset="-122"/>
              <a:ea typeface="微软雅黑" panose="020B0503020204020204" pitchFamily="34" charset="-122"/>
              <a:cs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741145" y="1477992"/>
            <a:ext cx="10927519" cy="4800600"/>
          </a:xfrm>
        </p:spPr>
        <p:txBody>
          <a:bodyPr/>
          <a:lstStyle/>
          <a:p>
            <a:pPr eaLnBrk="1" hangingPunct="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贝叶斯网络是完全联合概率分布的一种表示</a:t>
            </a:r>
            <a:endParaRPr lang="en-US" sz="2000" dirty="0">
              <a:latin typeface="微软雅黑" panose="020B0503020204020204" pitchFamily="34" charset="-122"/>
              <a:ea typeface="微软雅黑" panose="020B0503020204020204" pitchFamily="34" charset="-122"/>
              <a:cs typeface="Calibri" panose="020F0502020204030204"/>
            </a:endParaRPr>
          </a:p>
          <a:p>
            <a:pPr lvl="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完全联合概率分布由局部条件概率分布的乘积进行定义（链式法则）</a:t>
            </a: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150000"/>
              </a:lnSpc>
            </a:pPr>
            <a:endParaRPr lang="en-US" sz="2000" dirty="0">
              <a:latin typeface="微软雅黑" panose="020B0503020204020204" pitchFamily="34" charset="-122"/>
              <a:ea typeface="微软雅黑" panose="020B0503020204020204" pitchFamily="34" charset="-122"/>
              <a:cs typeface="Calibri" panose="020F0502020204030204"/>
            </a:endParaRPr>
          </a:p>
          <a:p>
            <a:pPr marL="457200" lvl="1" indent="0" eaLnBrk="1" hangingPunct="1">
              <a:lnSpc>
                <a:spcPct val="150000"/>
              </a:lnSpc>
              <a:buNone/>
            </a:pP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例如</a:t>
            </a:r>
            <a:r>
              <a:rPr lang="en-US" sz="2000" dirty="0">
                <a:latin typeface="微软雅黑" panose="020B0503020204020204" pitchFamily="34" charset="-122"/>
                <a:ea typeface="微软雅黑" panose="020B0503020204020204" pitchFamily="34" charset="-122"/>
                <a:cs typeface="Calibri" panose="020F0502020204030204"/>
              </a:rPr>
              <a:t>:</a:t>
            </a: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150000"/>
              </a:lnSpc>
            </a:pPr>
            <a:endParaRPr lang="en-US" sz="2000" dirty="0">
              <a:latin typeface="微软雅黑" panose="020B0503020204020204" pitchFamily="34" charset="-122"/>
              <a:ea typeface="微软雅黑" panose="020B0503020204020204" pitchFamily="34" charset="-122"/>
              <a:cs typeface="Calibri" panose="020F0502020204030204"/>
            </a:endParaRPr>
          </a:p>
          <a:p>
            <a:pPr eaLnBrk="1" hangingPunct="1">
              <a:lnSpc>
                <a:spcPct val="150000"/>
              </a:lnSpc>
            </a:pPr>
            <a:endParaRPr lang="en-US" sz="2400" dirty="0">
              <a:latin typeface="Calibri" panose="020F0502020204030204"/>
              <a:cs typeface="Calibri" panose="020F0502020204030204"/>
            </a:endParaRPr>
          </a:p>
        </p:txBody>
      </p:sp>
      <p:pic>
        <p:nvPicPr>
          <p:cNvPr id="2" name="图片 1"/>
          <p:cNvPicPr>
            <a:picLocks noChangeAspect="1"/>
          </p:cNvPicPr>
          <p:nvPr/>
        </p:nvPicPr>
        <p:blipFill>
          <a:blip r:embed="rId1"/>
          <a:stretch>
            <a:fillRect/>
          </a:stretch>
        </p:blipFill>
        <p:spPr>
          <a:xfrm>
            <a:off x="1782235" y="2664674"/>
            <a:ext cx="4688182" cy="914621"/>
          </a:xfrm>
          <a:prstGeom prst="rect">
            <a:avLst/>
          </a:prstGeom>
        </p:spPr>
      </p:pic>
      <p:sp>
        <p:nvSpPr>
          <p:cNvPr id="4" name="矩形 3"/>
          <p:cNvSpPr/>
          <p:nvPr/>
        </p:nvSpPr>
        <p:spPr>
          <a:xfrm>
            <a:off x="1696529" y="4093923"/>
            <a:ext cx="5474898" cy="1881990"/>
          </a:xfrm>
          <a:prstGeom prst="rect">
            <a:avLst/>
          </a:prstGeom>
        </p:spPr>
        <p:txBody>
          <a:bodyPr wrap="square">
            <a:spAutoFit/>
          </a:bodyPr>
          <a:lstStyle/>
          <a:p>
            <a:pPr>
              <a:lnSpc>
                <a:spcPct val="150000"/>
              </a:lnSpc>
            </a:pPr>
            <a:r>
              <a:rPr lang="zh-CN" altLang="en-US" sz="2000" i="1"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 j </a:t>
            </a:r>
            <a:r>
              <a:rPr lang="en-US" altLang="zh-CN" sz="2000" i="1"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m</a:t>
            </a:r>
            <a:r>
              <a:rPr lang="en-US" altLang="zh-CN" sz="2000" i="1"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a</a:t>
            </a:r>
            <a:r>
              <a:rPr lang="en-US" altLang="zh-CN" sz="2000" i="1"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¬b</a:t>
            </a:r>
            <a:r>
              <a:rPr lang="en-US" altLang="zh-CN" sz="2000" i="1"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¬e</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j</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m</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e</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e</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dirty="0">
                <a:latin typeface="Times New Roman" panose="02020603050405020304" pitchFamily="18" charset="0"/>
                <a:cs typeface="Times New Roman" panose="02020603050405020304" pitchFamily="18" charset="0"/>
              </a:rPr>
              <a:t>= 0.9 × 0.7 × 0.001 × 0.999 × 0.998</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dirty="0">
                <a:latin typeface="Times New Roman" panose="02020603050405020304" pitchFamily="18" charset="0"/>
                <a:cs typeface="Times New Roman" panose="02020603050405020304" pitchFamily="18" charset="0"/>
              </a:rPr>
              <a:t>≈ 0.00063</a:t>
            </a:r>
            <a:endParaRPr lang="zh-CN" altLang="en-US" sz="2000" dirty="0">
              <a:latin typeface="Times New Roman" panose="02020603050405020304" pitchFamily="18" charset="0"/>
              <a:cs typeface="Times New Roman" panose="02020603050405020304" pitchFamily="18" charset="0"/>
            </a:endParaRPr>
          </a:p>
        </p:txBody>
      </p:sp>
      <p:pic>
        <p:nvPicPr>
          <p:cNvPr id="24" name="图片 23"/>
          <p:cNvPicPr>
            <a:picLocks noChangeAspect="1"/>
          </p:cNvPicPr>
          <p:nvPr/>
        </p:nvPicPr>
        <p:blipFill>
          <a:blip r:embed="rId2"/>
          <a:stretch>
            <a:fillRect/>
          </a:stretch>
        </p:blipFill>
        <p:spPr>
          <a:xfrm>
            <a:off x="7265245" y="2752485"/>
            <a:ext cx="4688182" cy="3223428"/>
          </a:xfrm>
          <a:prstGeom prst="rect">
            <a:avLst/>
          </a:prstGeom>
        </p:spPr>
      </p:pic>
      <p:sp>
        <p:nvSpPr>
          <p:cNvPr id="6"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cs typeface="Calibri" panose="020F0502020204030204"/>
              </a:rPr>
              <a:t>贝叶斯网络的语义</a:t>
            </a:r>
            <a:endParaRPr lang="en-US" sz="2800" dirty="0">
              <a:latin typeface="微软雅黑" panose="020B0503020204020204" pitchFamily="34" charset="-122"/>
              <a:ea typeface="微软雅黑" panose="020B0503020204020204" pitchFamily="34" charset="-122"/>
              <a:cs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845376" y="1715500"/>
            <a:ext cx="9883006" cy="4729164"/>
          </a:xfrm>
        </p:spPr>
        <p:txBody>
          <a:bodyPr/>
          <a:lstStyle/>
          <a:p>
            <a:pPr>
              <a:lnSpc>
                <a:spcPct val="150000"/>
              </a:lnSpc>
            </a:pPr>
            <a:r>
              <a:rPr lang="en-US" sz="2000" dirty="0">
                <a:latin typeface="微软雅黑" panose="020B0503020204020204" pitchFamily="34" charset="-122"/>
                <a:ea typeface="微软雅黑" panose="020B0503020204020204" pitchFamily="34" charset="-122"/>
                <a:cs typeface="Calibri" panose="020F0502020204030204"/>
              </a:rPr>
              <a:t>1. </a:t>
            </a:r>
            <a:r>
              <a:rPr lang="zh-CN" altLang="en-US" sz="2000" dirty="0">
                <a:solidFill>
                  <a:srgbClr val="FF0000"/>
                </a:solidFill>
                <a:latin typeface="微软雅黑" panose="020B0503020204020204" pitchFamily="34" charset="-122"/>
                <a:ea typeface="微软雅黑" panose="020B0503020204020204" pitchFamily="34" charset="-122"/>
                <a:cs typeface="Calibri" panose="020F0502020204030204"/>
              </a:rPr>
              <a:t>结点</a:t>
            </a:r>
            <a:r>
              <a:rPr lang="zh-CN" altLang="en-US" sz="2000" dirty="0">
                <a:latin typeface="微软雅黑" panose="020B0503020204020204" pitchFamily="34" charset="-122"/>
                <a:ea typeface="微软雅黑" panose="020B0503020204020204" pitchFamily="34" charset="-122"/>
                <a:cs typeface="Calibri" panose="020F0502020204030204"/>
              </a:rPr>
              <a:t>：选择一组排好序的随机变量</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X</a:t>
            </a:r>
            <a:r>
              <a:rPr lang="en-US"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000"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sz="2000" baseline="-25000" dirty="0" err="1">
                <a:latin typeface="Times New Roman" panose="02020603050405020304" pitchFamily="18" charset="0"/>
                <a:ea typeface="微软雅黑" panose="020B0503020204020204" pitchFamily="34" charset="-122"/>
                <a:cs typeface="Times New Roman" panose="02020603050405020304" pitchFamily="18" charset="0"/>
              </a:rPr>
              <a:t>n</a:t>
            </a:r>
            <a:endParaRPr lang="en-US" sz="20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sz="2000" dirty="0">
                <a:latin typeface="微软雅黑" panose="020B0503020204020204" pitchFamily="34" charset="-122"/>
                <a:ea typeface="微软雅黑" panose="020B0503020204020204" pitchFamily="34" charset="-122"/>
                <a:cs typeface="Calibri" panose="020F0502020204030204"/>
              </a:rPr>
              <a:t>2. </a:t>
            </a:r>
            <a:r>
              <a:rPr lang="zh-CN" altLang="en-US" sz="2000" dirty="0">
                <a:solidFill>
                  <a:srgbClr val="FF0000"/>
                </a:solidFill>
                <a:latin typeface="微软雅黑" panose="020B0503020204020204" pitchFamily="34" charset="-122"/>
                <a:ea typeface="微软雅黑" panose="020B0503020204020204" pitchFamily="34" charset="-122"/>
                <a:cs typeface="Calibri" panose="020F0502020204030204"/>
              </a:rPr>
              <a:t>边</a:t>
            </a:r>
            <a:r>
              <a:rPr lang="zh-CN" altLang="en-US" sz="2000" dirty="0">
                <a:latin typeface="微软雅黑" panose="020B0503020204020204" pitchFamily="34" charset="-122"/>
                <a:ea typeface="微软雅黑" panose="020B0503020204020204" pitchFamily="34" charset="-122"/>
                <a:cs typeface="Calibri" panose="020F0502020204030204"/>
              </a:rPr>
              <a:t>：</a:t>
            </a:r>
            <a:r>
              <a:rPr lang="en-US" sz="2000" dirty="0" err="1">
                <a:latin typeface="微软雅黑" panose="020B0503020204020204" pitchFamily="34" charset="-122"/>
                <a:ea typeface="微软雅黑" panose="020B0503020204020204" pitchFamily="34" charset="-122"/>
                <a:cs typeface="Calibri" panose="020F0502020204030204"/>
              </a:rPr>
              <a:t>i</a:t>
            </a:r>
            <a:r>
              <a:rPr lang="zh-CN" altLang="en-US" sz="2000" dirty="0">
                <a:latin typeface="微软雅黑" panose="020B0503020204020204" pitchFamily="34" charset="-122"/>
                <a:ea typeface="微软雅黑" panose="020B0503020204020204" pitchFamily="34" charset="-122"/>
                <a:cs typeface="Calibri" panose="020F0502020204030204"/>
              </a:rPr>
              <a:t>从</a:t>
            </a:r>
            <a:r>
              <a:rPr lang="en-US" sz="2000" dirty="0">
                <a:latin typeface="微软雅黑" panose="020B0503020204020204" pitchFamily="34" charset="-122"/>
                <a:ea typeface="微软雅黑" panose="020B0503020204020204" pitchFamily="34" charset="-122"/>
                <a:cs typeface="Calibri" panose="020F0502020204030204"/>
              </a:rPr>
              <a:t>1 </a:t>
            </a:r>
            <a:r>
              <a:rPr lang="zh-CN" altLang="en-US" sz="2000" dirty="0">
                <a:latin typeface="微软雅黑" panose="020B0503020204020204" pitchFamily="34" charset="-122"/>
                <a:ea typeface="微软雅黑" panose="020B0503020204020204" pitchFamily="34" charset="-122"/>
                <a:cs typeface="Calibri" panose="020F0502020204030204"/>
              </a:rPr>
              <a:t>到</a:t>
            </a:r>
            <a:r>
              <a:rPr lang="en-US" sz="2000" dirty="0">
                <a:latin typeface="微软雅黑" panose="020B0503020204020204" pitchFamily="34" charset="-122"/>
                <a:ea typeface="微软雅黑" panose="020B0503020204020204" pitchFamily="34" charset="-122"/>
                <a:cs typeface="Calibri" panose="020F0502020204030204"/>
              </a:rPr>
              <a:t> n</a:t>
            </a:r>
            <a:r>
              <a:rPr lang="zh-CN" altLang="en-US" sz="2000" dirty="0">
                <a:latin typeface="微软雅黑" panose="020B0503020204020204" pitchFamily="34" charset="-122"/>
                <a:ea typeface="微软雅黑" panose="020B0503020204020204" pitchFamily="34" charset="-122"/>
                <a:cs typeface="Calibri" panose="020F0502020204030204"/>
              </a:rPr>
              <a:t>，执行：</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marL="457200" lvl="1" indent="0">
              <a:lnSpc>
                <a:spcPct val="150000"/>
              </a:lnSpc>
              <a:buNone/>
            </a:pPr>
            <a:r>
              <a:rPr lang="en-US" altLang="zh-CN" sz="2000" dirty="0">
                <a:latin typeface="微软雅黑" panose="020B0503020204020204" pitchFamily="34" charset="-122"/>
                <a:ea typeface="微软雅黑" panose="020B0503020204020204" pitchFamily="34" charset="-122"/>
                <a:cs typeface="Calibri" panose="020F0502020204030204"/>
              </a:rPr>
              <a:t>2.1 </a:t>
            </a:r>
            <a:r>
              <a:rPr lang="zh-CN" altLang="en-US" sz="2000" dirty="0">
                <a:latin typeface="微软雅黑" panose="020B0503020204020204" pitchFamily="34" charset="-122"/>
                <a:ea typeface="微软雅黑" panose="020B0503020204020204" pitchFamily="34" charset="-122"/>
                <a:cs typeface="Calibri" panose="020F0502020204030204"/>
              </a:rPr>
              <a:t>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i-1</a:t>
            </a:r>
            <a:r>
              <a:rPr lang="zh-CN" altLang="en-US" sz="2000" dirty="0">
                <a:latin typeface="微软雅黑" panose="020B0503020204020204" pitchFamily="34" charset="-122"/>
                <a:ea typeface="微软雅黑" panose="020B0503020204020204" pitchFamily="34" charset="-122"/>
                <a:cs typeface="Calibri" panose="020F0502020204030204"/>
              </a:rPr>
              <a:t>中选择</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微软雅黑" panose="020B0503020204020204" pitchFamily="34" charset="-122"/>
                <a:ea typeface="微软雅黑" panose="020B0503020204020204" pitchFamily="34" charset="-122"/>
                <a:cs typeface="Calibri" panose="020F0502020204030204"/>
              </a:rPr>
              <a:t>的父结点最小的集合，使得</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marL="457200" lvl="1" indent="0">
              <a:lnSpc>
                <a:spcPct val="150000"/>
              </a:lnSpc>
              <a:buNone/>
            </a:pPr>
            <a:r>
              <a:rPr lang="en-US" sz="2000" dirty="0">
                <a:latin typeface="微软雅黑" panose="020B0503020204020204" pitchFamily="34" charset="-122"/>
                <a:ea typeface="微软雅黑" panose="020B0503020204020204" pitchFamily="34" charset="-122"/>
                <a:cs typeface="Calibri" panose="020F0502020204030204"/>
              </a:rPr>
              <a:t>                           </a:t>
            </a:r>
            <a:r>
              <a:rPr lang="en-US"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0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sz="20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sz="2000" i="1" dirty="0" err="1">
                <a:latin typeface="Times New Roman" panose="02020603050405020304" pitchFamily="18" charset="0"/>
                <a:ea typeface="微软雅黑" panose="020B0503020204020204" pitchFamily="34" charset="-122"/>
                <a:cs typeface="Times New Roman" panose="02020603050405020304" pitchFamily="18" charset="0"/>
              </a:rPr>
              <a:t>Parents</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 </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i-1</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50000"/>
              </a:lnSpc>
              <a:buNone/>
            </a:pPr>
            <a:r>
              <a:rPr lang="en-US" altLang="zh-CN" sz="2000" dirty="0">
                <a:latin typeface="微软雅黑" panose="020B0503020204020204" pitchFamily="34" charset="-122"/>
                <a:ea typeface="微软雅黑" panose="020B0503020204020204" pitchFamily="34" charset="-122"/>
                <a:cs typeface="Calibri" panose="020F0502020204030204"/>
              </a:rPr>
              <a:t>2.2 </a:t>
            </a:r>
            <a:r>
              <a:rPr lang="zh-CN" altLang="en-US" sz="2000" dirty="0">
                <a:latin typeface="微软雅黑" panose="020B0503020204020204" pitchFamily="34" charset="-122"/>
                <a:ea typeface="微软雅黑" panose="020B0503020204020204" pitchFamily="34" charset="-122"/>
                <a:cs typeface="Calibri" panose="020F0502020204030204"/>
              </a:rPr>
              <a:t>在每一个父结点与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微软雅黑" panose="020B0503020204020204" pitchFamily="34" charset="-122"/>
                <a:ea typeface="微软雅黑" panose="020B0503020204020204" pitchFamily="34" charset="-122"/>
                <a:cs typeface="Calibri" panose="020F0502020204030204"/>
              </a:rPr>
              <a:t>之间插入一条边</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marL="457200" lvl="1" indent="0">
              <a:lnSpc>
                <a:spcPct val="150000"/>
              </a:lnSpc>
              <a:buNone/>
            </a:pPr>
            <a:r>
              <a:rPr lang="en-US" altLang="zh-CN" sz="2000" dirty="0">
                <a:latin typeface="微软雅黑" panose="020B0503020204020204" pitchFamily="34" charset="-122"/>
                <a:ea typeface="微软雅黑" panose="020B0503020204020204" pitchFamily="34" charset="-122"/>
                <a:cs typeface="Calibri" panose="020F0502020204030204"/>
              </a:rPr>
              <a:t>2.3 </a:t>
            </a:r>
            <a:r>
              <a:rPr lang="zh-CN" altLang="en-US" sz="2000" dirty="0">
                <a:solidFill>
                  <a:srgbClr val="FF0000"/>
                </a:solidFill>
                <a:latin typeface="微软雅黑" panose="020B0503020204020204" pitchFamily="34" charset="-122"/>
                <a:ea typeface="微软雅黑" panose="020B0503020204020204" pitchFamily="34" charset="-122"/>
                <a:cs typeface="Calibri" panose="020F0502020204030204"/>
              </a:rPr>
              <a:t>条件概率表</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CPTs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微软雅黑" panose="020B0503020204020204" pitchFamily="34" charset="-122"/>
                <a:ea typeface="微软雅黑" panose="020B0503020204020204" pitchFamily="34" charset="-122"/>
                <a:cs typeface="Calibri" panose="020F0502020204030204"/>
              </a:rPr>
              <a:t>:  </a:t>
            </a:r>
            <a:r>
              <a:rPr lang="zh-CN" altLang="en-US" sz="2000" dirty="0">
                <a:latin typeface="微软雅黑" panose="020B0503020204020204" pitchFamily="34" charset="-122"/>
                <a:ea typeface="微软雅黑" panose="020B0503020204020204" pitchFamily="34" charset="-122"/>
                <a:cs typeface="Calibri" panose="020F0502020204030204"/>
              </a:rPr>
              <a:t>写出条件概率表</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Parents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50000"/>
              </a:lnSpc>
              <a:buNone/>
            </a:pPr>
            <a:endParaRPr lang="en-US" sz="2400" dirty="0">
              <a:latin typeface="Calibri" panose="020F0502020204030204"/>
              <a:cs typeface="Calibri" panose="020F0502020204030204"/>
            </a:endParaRPr>
          </a:p>
        </p:txBody>
      </p:sp>
      <p:sp>
        <p:nvSpPr>
          <p:cNvPr id="4"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cs typeface="Calibri" panose="020F0502020204030204"/>
              </a:rPr>
              <a:t>构造贝叶斯网络的方法</a:t>
            </a:r>
            <a:endParaRPr lang="en-US" sz="2800" dirty="0">
              <a:latin typeface="微软雅黑" panose="020B0503020204020204" pitchFamily="34" charset="-122"/>
              <a:ea typeface="微软雅黑" panose="020B0503020204020204" pitchFamily="34" charset="-122"/>
              <a:cs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741145" y="1527214"/>
            <a:ext cx="9883006" cy="4729164"/>
          </a:xfrm>
        </p:spPr>
        <p:txBody>
          <a:bodyPr/>
          <a:lstStyle/>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示例： </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Alarm Network</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    假设选定随机变量的次序：</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M, J, A, B, E</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endParaRPr lang="en-US" sz="2000" dirty="0">
              <a:latin typeface="微软雅黑" panose="020B0503020204020204" pitchFamily="34" charset="-122"/>
              <a:ea typeface="微软雅黑" panose="020B0503020204020204" pitchFamily="34" charset="-122"/>
              <a:cs typeface="Calibri" panose="020F0502020204030204"/>
            </a:endParaRPr>
          </a:p>
          <a:p>
            <a:pPr marL="457200" lvl="1" indent="0">
              <a:lnSpc>
                <a:spcPct val="150000"/>
              </a:lnSpc>
              <a:buNone/>
            </a:pPr>
            <a:endParaRPr lang="en-US" sz="2400" dirty="0">
              <a:latin typeface="Calibri" panose="020F0502020204030204"/>
              <a:cs typeface="Calibri" panose="020F0502020204030204"/>
            </a:endParaRPr>
          </a:p>
        </p:txBody>
      </p:sp>
      <p:sp>
        <p:nvSpPr>
          <p:cNvPr id="12" name="矩形 11"/>
          <p:cNvSpPr/>
          <p:nvPr/>
        </p:nvSpPr>
        <p:spPr>
          <a:xfrm>
            <a:off x="2287604" y="2980921"/>
            <a:ext cx="6096000" cy="1051698"/>
          </a:xfrm>
          <a:prstGeom prst="rect">
            <a:avLst/>
          </a:prstGeom>
        </p:spPr>
        <p:txBody>
          <a:bodyPr>
            <a:spAutoFit/>
          </a:bodyPr>
          <a:lstStyle/>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M</a:t>
            </a:r>
            <a:r>
              <a:rPr lang="zh-CN" altLang="en-US" sz="2000" dirty="0">
                <a:solidFill>
                  <a:srgbClr val="DE68FF"/>
                </a:solidFill>
                <a:latin typeface="Times New Roman" panose="02020603050405020304" pitchFamily="18" charset="0"/>
                <a:cs typeface="Times New Roman" panose="02020603050405020304" pitchFamily="18" charset="0"/>
              </a:rPr>
              <a:t>) =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a:t>
            </a:r>
            <a:r>
              <a:rPr lang="zh-CN" altLang="en-US" sz="2000" dirty="0">
                <a:solidFill>
                  <a:srgbClr val="DE68FF"/>
                </a:solidFill>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a:lnSpc>
                <a:spcPct val="150000"/>
              </a:lnSpc>
            </a:pPr>
            <a:endParaRPr lang="zh-CN" altLang="en-US" sz="2400" dirty="0"/>
          </a:p>
        </p:txBody>
      </p:sp>
      <p:pic>
        <p:nvPicPr>
          <p:cNvPr id="10" name="图片 9"/>
          <p:cNvPicPr>
            <a:picLocks noChangeAspect="1"/>
          </p:cNvPicPr>
          <p:nvPr/>
        </p:nvPicPr>
        <p:blipFill>
          <a:blip r:embed="rId1"/>
          <a:stretch>
            <a:fillRect/>
          </a:stretch>
        </p:blipFill>
        <p:spPr>
          <a:xfrm>
            <a:off x="6641763" y="2045092"/>
            <a:ext cx="4614982" cy="3138405"/>
          </a:xfrm>
          <a:prstGeom prst="rect">
            <a:avLst/>
          </a:prstGeom>
        </p:spPr>
      </p:pic>
      <p:sp>
        <p:nvSpPr>
          <p:cNvPr id="4"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cs typeface="Calibri" panose="020F0502020204030204"/>
              </a:rPr>
              <a:t>构造贝叶斯网络的方法</a:t>
            </a:r>
            <a:endParaRPr lang="en-US" sz="2800" dirty="0">
              <a:latin typeface="微软雅黑" panose="020B0503020204020204" pitchFamily="34" charset="-122"/>
              <a:ea typeface="微软雅黑" panose="020B0503020204020204" pitchFamily="34" charset="-122"/>
              <a:cs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741145" y="1340676"/>
            <a:ext cx="9883006" cy="4729164"/>
          </a:xfrm>
        </p:spPr>
        <p:txBody>
          <a:bodyPr/>
          <a:lstStyle/>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示例： </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Alarm Network</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    假设选定随机变量的次序：</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M, J, A, B, E</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endParaRPr lang="en-US" sz="2400" dirty="0">
              <a:latin typeface="Calibri" panose="020F0502020204030204"/>
              <a:cs typeface="Calibri" panose="020F0502020204030204"/>
            </a:endParaRPr>
          </a:p>
          <a:p>
            <a:pPr marL="457200" lvl="1" indent="0">
              <a:lnSpc>
                <a:spcPct val="150000"/>
              </a:lnSpc>
              <a:buNone/>
            </a:pPr>
            <a:endParaRPr lang="en-US" sz="2400" dirty="0">
              <a:latin typeface="Calibri" panose="020F0502020204030204"/>
              <a:cs typeface="Calibri" panose="020F0502020204030204"/>
            </a:endParaRPr>
          </a:p>
        </p:txBody>
      </p:sp>
      <p:sp>
        <p:nvSpPr>
          <p:cNvPr id="7" name="矩形 6"/>
          <p:cNvSpPr/>
          <p:nvPr/>
        </p:nvSpPr>
        <p:spPr>
          <a:xfrm>
            <a:off x="1796448" y="2833333"/>
            <a:ext cx="6096000" cy="960328"/>
          </a:xfrm>
          <a:prstGeom prst="rect">
            <a:avLst/>
          </a:prstGeom>
        </p:spPr>
        <p:txBody>
          <a:bodyPr>
            <a:spAutoFit/>
          </a:bodyPr>
          <a:lstStyle/>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M</a:t>
            </a:r>
            <a:r>
              <a:rPr lang="zh-CN" altLang="en-US" sz="2000" dirty="0">
                <a:solidFill>
                  <a:srgbClr val="DE68FF"/>
                </a:solidFill>
                <a:latin typeface="Times New Roman" panose="02020603050405020304" pitchFamily="18" charset="0"/>
                <a:cs typeface="Times New Roman" panose="02020603050405020304" pitchFamily="18" charset="0"/>
              </a:rPr>
              <a:t>) =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a:t>
            </a:r>
            <a:r>
              <a:rPr lang="zh-CN" altLang="en-US" sz="2000" dirty="0">
                <a:solidFill>
                  <a:srgbClr val="DE68FF"/>
                </a:solidFill>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No </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J,M</a:t>
            </a:r>
            <a:r>
              <a:rPr lang="zh-CN" altLang="en-US" sz="2000" dirty="0">
                <a:solidFill>
                  <a:srgbClr val="DE68FF"/>
                </a:solidFill>
                <a:latin typeface="Times New Roman" panose="02020603050405020304" pitchFamily="18" charset="0"/>
                <a:cs typeface="Times New Roman" panose="02020603050405020304" pitchFamily="18" charset="0"/>
              </a:rPr>
              <a:t>) =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a:t>
            </a:r>
            <a:r>
              <a:rPr lang="zh-CN" altLang="en-US" sz="2000" dirty="0">
                <a:solidFill>
                  <a:srgbClr val="DE68FF"/>
                </a:solidFill>
                <a:latin typeface="Times New Roman" panose="02020603050405020304" pitchFamily="18" charset="0"/>
                <a:cs typeface="Times New Roman" panose="02020603050405020304" pitchFamily="18" charset="0"/>
              </a:rPr>
              <a:t>)?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J,M</a:t>
            </a:r>
            <a:r>
              <a:rPr lang="zh-CN" altLang="en-US" sz="2000" dirty="0">
                <a:solidFill>
                  <a:srgbClr val="DE68FF"/>
                </a:solidFill>
                <a:latin typeface="Times New Roman" panose="02020603050405020304" pitchFamily="18" charset="0"/>
                <a:cs typeface="Times New Roman" panose="02020603050405020304" pitchFamily="18" charset="0"/>
              </a:rPr>
              <a:t>) =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6763112" y="2038113"/>
            <a:ext cx="4369277" cy="3108310"/>
          </a:xfrm>
          <a:prstGeom prst="rect">
            <a:avLst/>
          </a:prstGeom>
        </p:spPr>
      </p:pic>
      <p:sp>
        <p:nvSpPr>
          <p:cNvPr id="5"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cs typeface="Calibri" panose="020F0502020204030204"/>
              </a:rPr>
              <a:t>构造贝叶斯网络的方法</a:t>
            </a:r>
            <a:endParaRPr lang="en-US" sz="2800" dirty="0">
              <a:latin typeface="微软雅黑" panose="020B0503020204020204" pitchFamily="34" charset="-122"/>
              <a:ea typeface="微软雅黑" panose="020B0503020204020204" pitchFamily="34" charset="-122"/>
              <a:cs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709061" y="1350301"/>
            <a:ext cx="9883006" cy="4729164"/>
          </a:xfrm>
        </p:spPr>
        <p:txBody>
          <a:bodyPr/>
          <a:lstStyle/>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示例： </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Alarm Network</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    假设选定随机变量的次序：</a:t>
            </a:r>
            <a:r>
              <a:rPr lang="en-US" sz="2000" dirty="0">
                <a:latin typeface="Times New Roman" panose="02020603050405020304" pitchFamily="18" charset="0"/>
                <a:ea typeface="微软雅黑" panose="020B0503020204020204" pitchFamily="34" charset="-122"/>
                <a:cs typeface="Times New Roman" panose="02020603050405020304" pitchFamily="18" charset="0"/>
              </a:rPr>
              <a:t>M, J, A, B, E</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pPr>
            <a:endParaRPr lang="en-US" sz="2400" dirty="0">
              <a:latin typeface="Calibri" panose="020F0502020204030204"/>
              <a:cs typeface="Calibri" panose="020F0502020204030204"/>
            </a:endParaRPr>
          </a:p>
          <a:p>
            <a:pPr marL="457200" lvl="1" indent="0">
              <a:lnSpc>
                <a:spcPct val="150000"/>
              </a:lnSpc>
              <a:buNone/>
            </a:pPr>
            <a:endParaRPr lang="en-US" sz="2400" dirty="0">
              <a:latin typeface="Calibri" panose="020F0502020204030204"/>
              <a:cs typeface="Calibri" panose="020F0502020204030204"/>
            </a:endParaRPr>
          </a:p>
        </p:txBody>
      </p:sp>
      <p:sp>
        <p:nvSpPr>
          <p:cNvPr id="6" name="矩形 5"/>
          <p:cNvSpPr/>
          <p:nvPr/>
        </p:nvSpPr>
        <p:spPr>
          <a:xfrm>
            <a:off x="1870143" y="2675864"/>
            <a:ext cx="6096000" cy="2436693"/>
          </a:xfrm>
          <a:prstGeom prst="rect">
            <a:avLst/>
          </a:prstGeom>
        </p:spPr>
        <p:txBody>
          <a:bodyPr>
            <a:spAutoFit/>
          </a:bodyPr>
          <a:lstStyle/>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M</a:t>
            </a:r>
            <a:r>
              <a:rPr lang="zh-CN" altLang="en-US" sz="2000" dirty="0">
                <a:solidFill>
                  <a:srgbClr val="DE68FF"/>
                </a:solidFill>
                <a:latin typeface="Times New Roman" panose="02020603050405020304" pitchFamily="18" charset="0"/>
                <a:cs typeface="Times New Roman" panose="02020603050405020304" pitchFamily="18" charset="0"/>
              </a:rPr>
              <a:t>) =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a:t>
            </a:r>
            <a:r>
              <a:rPr lang="zh-CN" altLang="en-US" sz="2000" dirty="0">
                <a:solidFill>
                  <a:srgbClr val="DE68FF"/>
                </a:solidFill>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No </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J,M</a:t>
            </a:r>
            <a:r>
              <a:rPr lang="zh-CN" altLang="en-US" sz="2000" dirty="0">
                <a:solidFill>
                  <a:srgbClr val="DE68FF"/>
                </a:solidFill>
                <a:latin typeface="Times New Roman" panose="02020603050405020304" pitchFamily="18" charset="0"/>
                <a:cs typeface="Times New Roman" panose="02020603050405020304" pitchFamily="18" charset="0"/>
              </a:rPr>
              <a:t>) =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a:t>
            </a:r>
            <a:r>
              <a:rPr lang="zh-CN" altLang="en-US" sz="2000" dirty="0">
                <a:solidFill>
                  <a:srgbClr val="DE68FF"/>
                </a:solidFill>
                <a:latin typeface="Times New Roman" panose="02020603050405020304" pitchFamily="18" charset="0"/>
                <a:cs typeface="Times New Roman" panose="02020603050405020304" pitchFamily="18" charset="0"/>
              </a:rPr>
              <a:t>)?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J,M</a:t>
            </a:r>
            <a:r>
              <a:rPr lang="zh-CN" altLang="en-US" sz="2000" dirty="0">
                <a:solidFill>
                  <a:srgbClr val="DE68FF"/>
                </a:solidFill>
                <a:latin typeface="Times New Roman" panose="02020603050405020304" pitchFamily="18" charset="0"/>
                <a:cs typeface="Times New Roman" panose="02020603050405020304" pitchFamily="18" charset="0"/>
              </a:rPr>
              <a:t>) =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No</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B</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A,J,M</a:t>
            </a:r>
            <a:r>
              <a:rPr lang="zh-CN" altLang="en-US" sz="2000" dirty="0">
                <a:solidFill>
                  <a:srgbClr val="DE68FF"/>
                </a:solidFill>
                <a:latin typeface="Times New Roman" panose="02020603050405020304" pitchFamily="18" charset="0"/>
                <a:cs typeface="Times New Roman" panose="02020603050405020304" pitchFamily="18" charset="0"/>
              </a:rPr>
              <a:t>) =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B</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a:t>
            </a:r>
            <a:r>
              <a:rPr lang="zh-CN" altLang="en-US" sz="2000" dirty="0">
                <a:solidFill>
                  <a:srgbClr val="DE68FF"/>
                </a:solidFill>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B</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A,J,M</a:t>
            </a:r>
            <a:r>
              <a:rPr lang="zh-CN" altLang="en-US" sz="2000" dirty="0">
                <a:solidFill>
                  <a:srgbClr val="DE68FF"/>
                </a:solidFill>
                <a:latin typeface="Times New Roman" panose="02020603050405020304" pitchFamily="18" charset="0"/>
                <a:cs typeface="Times New Roman" panose="02020603050405020304" pitchFamily="18" charset="0"/>
              </a:rPr>
              <a:t>) = </a:t>
            </a:r>
            <a:r>
              <a:rPr lang="zh-CN" altLang="en-US" sz="2000" i="1" dirty="0">
                <a:solidFill>
                  <a:srgbClr val="DE68FF"/>
                </a:solidFill>
                <a:latin typeface="Times New Roman" panose="02020603050405020304" pitchFamily="18" charset="0"/>
                <a:cs typeface="Times New Roman" panose="02020603050405020304" pitchFamily="18" charset="0"/>
              </a:rPr>
              <a:t>P</a:t>
            </a:r>
            <a:r>
              <a:rPr lang="zh-CN" altLang="en-US" sz="2000" dirty="0">
                <a:solidFill>
                  <a:srgbClr val="DE68FF"/>
                </a:solidFill>
                <a:latin typeface="Times New Roman" panose="02020603050405020304" pitchFamily="18" charset="0"/>
                <a:cs typeface="Times New Roman" panose="02020603050405020304" pitchFamily="18" charset="0"/>
              </a:rPr>
              <a:t>(</a:t>
            </a:r>
            <a:r>
              <a:rPr lang="zh-CN" altLang="en-US" sz="2000" i="1" dirty="0">
                <a:solidFill>
                  <a:srgbClr val="DE68FF"/>
                </a:solidFill>
                <a:latin typeface="Times New Roman" panose="02020603050405020304" pitchFamily="18" charset="0"/>
                <a:cs typeface="Times New Roman" panose="02020603050405020304" pitchFamily="18" charset="0"/>
              </a:rPr>
              <a:t>B</a:t>
            </a:r>
            <a:r>
              <a:rPr lang="zh-CN" altLang="en-US" sz="2000" dirty="0">
                <a:solidFill>
                  <a:srgbClr val="DE68FF"/>
                </a:solidFill>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a:lnSpc>
                <a:spcPct val="150000"/>
              </a:lnSpc>
            </a:pPr>
            <a:endParaRPr lang="en-US" altLang="zh-CN" sz="2400" dirty="0">
              <a:solidFill>
                <a:srgbClr val="DE68FF"/>
              </a:solidFill>
            </a:endParaRPr>
          </a:p>
        </p:txBody>
      </p:sp>
      <p:pic>
        <p:nvPicPr>
          <p:cNvPr id="2" name="图片 1"/>
          <p:cNvPicPr>
            <a:picLocks noChangeAspect="1"/>
          </p:cNvPicPr>
          <p:nvPr/>
        </p:nvPicPr>
        <p:blipFill>
          <a:blip r:embed="rId1"/>
          <a:stretch>
            <a:fillRect/>
          </a:stretch>
        </p:blipFill>
        <p:spPr>
          <a:xfrm>
            <a:off x="6346190" y="1938063"/>
            <a:ext cx="4578216" cy="3912294"/>
          </a:xfrm>
          <a:prstGeom prst="rect">
            <a:avLst/>
          </a:prstGeom>
        </p:spPr>
      </p:pic>
      <p:sp>
        <p:nvSpPr>
          <p:cNvPr id="5"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cs typeface="Calibri" panose="020F0502020204030204"/>
              </a:rPr>
              <a:t>构造贝叶斯网络的方法</a:t>
            </a:r>
            <a:endParaRPr lang="en-US" sz="2800" dirty="0">
              <a:latin typeface="微软雅黑" panose="020B0503020204020204" pitchFamily="34" charset="-122"/>
              <a:ea typeface="微软雅黑" panose="020B0503020204020204" pitchFamily="34" charset="-122"/>
              <a:cs typeface="Calibri" panose="020F050202020403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741145" y="1363357"/>
            <a:ext cx="9883006" cy="4729164"/>
          </a:xfrm>
        </p:spPr>
        <p:txBody>
          <a:bodyPr/>
          <a:lstStyle/>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示例</a:t>
            </a:r>
            <a:r>
              <a:rPr lang="zh-CN" altLang="en-US" sz="2000" dirty="0">
                <a:latin typeface="Calibri" panose="020F0502020204030204"/>
                <a:cs typeface="Calibri" panose="020F0502020204030204"/>
              </a:rPr>
              <a:t>： </a:t>
            </a:r>
            <a:r>
              <a:rPr lang="en-US" altLang="zh-CN" sz="2000" dirty="0">
                <a:solidFill>
                  <a:srgbClr val="FF0000"/>
                </a:solidFill>
                <a:latin typeface="Times New Roman" panose="02020603050405020304" pitchFamily="18" charset="0"/>
                <a:cs typeface="Times New Roman" panose="02020603050405020304" pitchFamily="18" charset="0"/>
              </a:rPr>
              <a:t>Alarm Network</a:t>
            </a:r>
            <a:endParaRPr lang="en-US" altLang="zh-CN" sz="2000"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000" dirty="0">
                <a:latin typeface="Calibri" panose="020F0502020204030204"/>
                <a:cs typeface="Calibri" panose="020F0502020204030204"/>
              </a:rPr>
              <a:t>    </a:t>
            </a:r>
            <a:r>
              <a:rPr lang="zh-CN" altLang="en-US" sz="2000" dirty="0">
                <a:latin typeface="微软雅黑" panose="020B0503020204020204" pitchFamily="34" charset="-122"/>
                <a:ea typeface="微软雅黑" panose="020B0503020204020204" pitchFamily="34" charset="-122"/>
                <a:cs typeface="Calibri" panose="020F0502020204030204"/>
              </a:rPr>
              <a:t>假设选定随机变量的次序</a:t>
            </a:r>
            <a:r>
              <a:rPr lang="zh-CN" altLang="en-US" sz="2000" dirty="0">
                <a:latin typeface="Calibri" panose="020F0502020204030204"/>
                <a:cs typeface="Calibri" panose="020F0502020204030204"/>
              </a:rPr>
              <a:t>：</a:t>
            </a:r>
            <a:r>
              <a:rPr lang="en-US" sz="2000" dirty="0">
                <a:latin typeface="Times New Roman" panose="02020603050405020304" pitchFamily="18" charset="0"/>
                <a:cs typeface="Times New Roman" panose="02020603050405020304" pitchFamily="18" charset="0"/>
              </a:rPr>
              <a:t>M, J, A, B, E</a:t>
            </a:r>
            <a:endParaRPr lang="zh-CN" altLang="en-US" sz="2000" dirty="0">
              <a:latin typeface="Times New Roman" panose="02020603050405020304" pitchFamily="18" charset="0"/>
              <a:cs typeface="Times New Roman" panose="02020603050405020304" pitchFamily="18" charset="0"/>
            </a:endParaRPr>
          </a:p>
          <a:p>
            <a:pPr marL="0" indent="0">
              <a:lnSpc>
                <a:spcPct val="150000"/>
              </a:lnSpc>
              <a:buNone/>
            </a:pPr>
            <a:endParaRPr lang="en-US" sz="2400" dirty="0">
              <a:latin typeface="Calibri" panose="020F0502020204030204"/>
              <a:cs typeface="Calibri" panose="020F0502020204030204"/>
            </a:endParaRPr>
          </a:p>
          <a:p>
            <a:pPr marL="457200" lvl="1" indent="0">
              <a:lnSpc>
                <a:spcPct val="150000"/>
              </a:lnSpc>
              <a:buNone/>
            </a:pPr>
            <a:endParaRPr lang="en-US" sz="2400" dirty="0">
              <a:latin typeface="Calibri" panose="020F0502020204030204"/>
              <a:cs typeface="Calibri" panose="020F0502020204030204"/>
            </a:endParaRPr>
          </a:p>
        </p:txBody>
      </p:sp>
      <p:pic>
        <p:nvPicPr>
          <p:cNvPr id="7" name="图片 6"/>
          <p:cNvPicPr>
            <a:picLocks noChangeAspect="1"/>
          </p:cNvPicPr>
          <p:nvPr/>
        </p:nvPicPr>
        <p:blipFill>
          <a:blip r:embed="rId1"/>
          <a:stretch>
            <a:fillRect/>
          </a:stretch>
        </p:blipFill>
        <p:spPr>
          <a:xfrm>
            <a:off x="6935002" y="1622420"/>
            <a:ext cx="4321743" cy="4470101"/>
          </a:xfrm>
          <a:prstGeom prst="rect">
            <a:avLst/>
          </a:prstGeom>
        </p:spPr>
      </p:pic>
      <p:sp>
        <p:nvSpPr>
          <p:cNvPr id="6" name="矩形 5"/>
          <p:cNvSpPr/>
          <p:nvPr/>
        </p:nvSpPr>
        <p:spPr>
          <a:xfrm>
            <a:off x="1892968" y="2732499"/>
            <a:ext cx="6096000" cy="3360022"/>
          </a:xfrm>
          <a:prstGeom prst="rect">
            <a:avLst/>
          </a:prstGeom>
        </p:spPr>
        <p:txBody>
          <a:bodyPr>
            <a:spAutoFit/>
          </a:bodyPr>
          <a:lstStyle/>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P(J|M) = P(J)? </a:t>
            </a:r>
            <a:r>
              <a:rPr lang="zh-CN" altLang="en-US" sz="2000" dirty="0">
                <a:latin typeface="Times New Roman" panose="02020603050405020304" pitchFamily="18" charset="0"/>
                <a:cs typeface="Times New Roman" panose="02020603050405020304" pitchFamily="18" charset="0"/>
              </a:rPr>
              <a:t>No</a:t>
            </a:r>
            <a:r>
              <a:rPr lang="zh-CN" altLang="en-US" sz="2000" i="1" dirty="0">
                <a:latin typeface="Times New Roman" panose="02020603050405020304" pitchFamily="18" charset="0"/>
                <a:cs typeface="Times New Roman" panose="02020603050405020304" pitchFamily="18" charset="0"/>
              </a:rPr>
              <a:t> </a:t>
            </a:r>
            <a:endParaRPr lang="en-US" altLang="zh-CN" sz="2000" i="1"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P(A|J,M) = P(A|J)? P(A|J,M) = P(A)?</a:t>
            </a:r>
            <a:r>
              <a:rPr lang="zh-CN" altLang="en-US" sz="2000" i="1"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No</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P(B|A,J,M) = P(B|A)? </a:t>
            </a:r>
            <a:r>
              <a:rPr lang="zh-CN" altLang="en-US" sz="2000" dirty="0">
                <a:latin typeface="Times New Roman" panose="02020603050405020304" pitchFamily="18" charset="0"/>
                <a:cs typeface="Times New Roman" panose="02020603050405020304" pitchFamily="18" charset="0"/>
              </a:rPr>
              <a:t>Yes</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P(B|A,J,M) = P(B)? </a:t>
            </a:r>
            <a:r>
              <a:rPr lang="zh-CN" altLang="en-US" sz="2000" dirty="0">
                <a:latin typeface="Times New Roman" panose="02020603050405020304" pitchFamily="18" charset="0"/>
                <a:cs typeface="Times New Roman" panose="02020603050405020304" pitchFamily="18" charset="0"/>
              </a:rPr>
              <a:t>No</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P(E|B,A,J,M) = P(E|A)? </a:t>
            </a:r>
            <a:r>
              <a:rPr lang="zh-CN" altLang="en-US" sz="2000" i="1" dirty="0">
                <a:latin typeface="Times New Roman" panose="02020603050405020304" pitchFamily="18" charset="0"/>
                <a:cs typeface="Times New Roman" panose="02020603050405020304" pitchFamily="18" charset="0"/>
              </a:rPr>
              <a:t> </a:t>
            </a:r>
            <a:endParaRPr lang="en-US" altLang="zh-CN" sz="2000" i="1"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P(E|B,A,J,M) = P(E|A,B)?</a:t>
            </a:r>
            <a:endParaRPr lang="en-US" altLang="zh-CN" sz="2000" i="1" dirty="0">
              <a:latin typeface="Times New Roman" panose="02020603050405020304" pitchFamily="18" charset="0"/>
              <a:cs typeface="Times New Roman" panose="02020603050405020304" pitchFamily="18" charset="0"/>
            </a:endParaRPr>
          </a:p>
          <a:p>
            <a:pPr>
              <a:lnSpc>
                <a:spcPct val="150000"/>
              </a:lnSpc>
            </a:pPr>
            <a:endParaRPr lang="en-US" altLang="zh-CN" sz="2400" dirty="0">
              <a:solidFill>
                <a:srgbClr val="DE68FF"/>
              </a:solidFill>
            </a:endParaRPr>
          </a:p>
        </p:txBody>
      </p:sp>
      <p:sp>
        <p:nvSpPr>
          <p:cNvPr id="4"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cs typeface="Calibri" panose="020F0502020204030204"/>
              </a:rPr>
              <a:t>构造贝叶斯网络的方法</a:t>
            </a:r>
            <a:endParaRPr lang="en-US" sz="2800" dirty="0">
              <a:latin typeface="微软雅黑" panose="020B0503020204020204" pitchFamily="34" charset="-122"/>
              <a:ea typeface="微软雅黑" panose="020B0503020204020204" pitchFamily="34" charset="-122"/>
              <a:cs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810661" y="1363357"/>
            <a:ext cx="9883006" cy="4729164"/>
          </a:xfrm>
        </p:spPr>
        <p:txBody>
          <a:bodyPr/>
          <a:lstStyle/>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示例</a:t>
            </a:r>
            <a:r>
              <a:rPr lang="zh-CN" altLang="en-US" sz="2000" dirty="0">
                <a:latin typeface="Calibri" panose="020F0502020204030204"/>
                <a:cs typeface="Calibri" panose="020F0502020204030204"/>
              </a:rPr>
              <a:t>： </a:t>
            </a:r>
            <a:r>
              <a:rPr lang="en-US" altLang="zh-CN" sz="2000" dirty="0">
                <a:solidFill>
                  <a:srgbClr val="FF0000"/>
                </a:solidFill>
                <a:latin typeface="Times New Roman" panose="02020603050405020304" pitchFamily="18" charset="0"/>
                <a:cs typeface="Times New Roman" panose="02020603050405020304" pitchFamily="18" charset="0"/>
              </a:rPr>
              <a:t>Alarm Network</a:t>
            </a:r>
            <a:endParaRPr lang="en-US" altLang="zh-CN" sz="2000"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000" dirty="0">
                <a:latin typeface="Calibri" panose="020F0502020204030204"/>
                <a:cs typeface="Calibri" panose="020F0502020204030204"/>
              </a:rPr>
              <a:t>    </a:t>
            </a:r>
            <a:r>
              <a:rPr lang="zh-CN" altLang="en-US" sz="2000" dirty="0">
                <a:latin typeface="微软雅黑" panose="020B0503020204020204" pitchFamily="34" charset="-122"/>
                <a:ea typeface="微软雅黑" panose="020B0503020204020204" pitchFamily="34" charset="-122"/>
                <a:cs typeface="Calibri" panose="020F0502020204030204"/>
              </a:rPr>
              <a:t>假设选定随机变量的次序</a:t>
            </a:r>
            <a:r>
              <a:rPr lang="zh-CN" altLang="en-US" sz="2000" dirty="0">
                <a:latin typeface="Calibri" panose="020F0502020204030204"/>
                <a:cs typeface="Calibri" panose="020F0502020204030204"/>
              </a:rPr>
              <a:t>：</a:t>
            </a:r>
            <a:r>
              <a:rPr lang="en-US" sz="2000" dirty="0">
                <a:latin typeface="Times New Roman" panose="02020603050405020304" pitchFamily="18" charset="0"/>
                <a:cs typeface="Times New Roman" panose="02020603050405020304" pitchFamily="18" charset="0"/>
              </a:rPr>
              <a:t>M, J, A, B, E</a:t>
            </a:r>
            <a:endParaRPr lang="zh-CN" altLang="en-US" sz="2000" dirty="0">
              <a:latin typeface="Times New Roman" panose="02020603050405020304" pitchFamily="18" charset="0"/>
              <a:cs typeface="Times New Roman" panose="02020603050405020304" pitchFamily="18" charset="0"/>
            </a:endParaRPr>
          </a:p>
          <a:p>
            <a:pPr marL="0" indent="0">
              <a:lnSpc>
                <a:spcPct val="150000"/>
              </a:lnSpc>
              <a:buNone/>
            </a:pPr>
            <a:endParaRPr lang="en-US" sz="2400" dirty="0">
              <a:latin typeface="Calibri" panose="020F0502020204030204"/>
              <a:cs typeface="Calibri" panose="020F0502020204030204"/>
            </a:endParaRPr>
          </a:p>
          <a:p>
            <a:pPr marL="457200" lvl="1" indent="0">
              <a:lnSpc>
                <a:spcPct val="150000"/>
              </a:lnSpc>
              <a:buNone/>
            </a:pPr>
            <a:endParaRPr lang="en-US" sz="2400" dirty="0">
              <a:latin typeface="Calibri" panose="020F0502020204030204"/>
              <a:cs typeface="Calibri" panose="020F0502020204030204"/>
            </a:endParaRPr>
          </a:p>
        </p:txBody>
      </p:sp>
      <p:pic>
        <p:nvPicPr>
          <p:cNvPr id="6" name="图片 5"/>
          <p:cNvPicPr>
            <a:picLocks noChangeAspect="1"/>
          </p:cNvPicPr>
          <p:nvPr/>
        </p:nvPicPr>
        <p:blipFill>
          <a:blip r:embed="rId1"/>
          <a:stretch>
            <a:fillRect/>
          </a:stretch>
        </p:blipFill>
        <p:spPr>
          <a:xfrm>
            <a:off x="6697123" y="1506282"/>
            <a:ext cx="4559622" cy="4686464"/>
          </a:xfrm>
          <a:prstGeom prst="rect">
            <a:avLst/>
          </a:prstGeom>
        </p:spPr>
      </p:pic>
      <p:sp>
        <p:nvSpPr>
          <p:cNvPr id="2" name="矩形 1"/>
          <p:cNvSpPr/>
          <p:nvPr/>
        </p:nvSpPr>
        <p:spPr>
          <a:xfrm>
            <a:off x="1946622" y="2741737"/>
            <a:ext cx="6096000" cy="2806987"/>
          </a:xfrm>
          <a:prstGeom prst="rect">
            <a:avLst/>
          </a:prstGeom>
        </p:spPr>
        <p:txBody>
          <a:bodyPr>
            <a:spAutoFit/>
          </a:bodyPr>
          <a:lstStyle/>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P(J|M) = P(J)? </a:t>
            </a:r>
            <a:r>
              <a:rPr lang="zh-CN" altLang="en-US" sz="2000" dirty="0">
                <a:latin typeface="Times New Roman" panose="02020603050405020304" pitchFamily="18" charset="0"/>
                <a:cs typeface="Times New Roman" panose="02020603050405020304" pitchFamily="18" charset="0"/>
              </a:rPr>
              <a:t>No </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P(A|J,M) = P(A|J)? P(A|J,M) = P(A)?</a:t>
            </a:r>
            <a:r>
              <a:rPr lang="zh-CN" altLang="en-US" sz="2000" i="1"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No</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P(B|A,J,M) = P(B|A)? </a:t>
            </a:r>
            <a:r>
              <a:rPr lang="zh-CN" altLang="en-US" sz="2000" dirty="0">
                <a:latin typeface="Times New Roman" panose="02020603050405020304" pitchFamily="18" charset="0"/>
                <a:cs typeface="Times New Roman" panose="02020603050405020304" pitchFamily="18" charset="0"/>
              </a:rPr>
              <a:t>Yes</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P(B|A,J,M) = P(B)? </a:t>
            </a:r>
            <a:r>
              <a:rPr lang="zh-CN" altLang="en-US" sz="2000" dirty="0">
                <a:latin typeface="Times New Roman" panose="02020603050405020304" pitchFamily="18" charset="0"/>
                <a:cs typeface="Times New Roman" panose="02020603050405020304" pitchFamily="18" charset="0"/>
              </a:rPr>
              <a:t>No</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P(E|B,A,J,M) = P(E|A)? </a:t>
            </a:r>
            <a:r>
              <a:rPr lang="zh-CN" altLang="en-US" sz="2000" dirty="0">
                <a:latin typeface="Times New Roman" panose="02020603050405020304" pitchFamily="18" charset="0"/>
                <a:cs typeface="Times New Roman" panose="02020603050405020304" pitchFamily="18" charset="0"/>
              </a:rPr>
              <a:t>No</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zh-CN" altLang="en-US" sz="2000" i="1" dirty="0">
                <a:solidFill>
                  <a:srgbClr val="DE68FF"/>
                </a:solidFill>
                <a:latin typeface="Times New Roman" panose="02020603050405020304" pitchFamily="18" charset="0"/>
                <a:cs typeface="Times New Roman" panose="02020603050405020304" pitchFamily="18" charset="0"/>
              </a:rPr>
              <a:t>P(E|B,A,J,M) = P(E|A,B)? </a:t>
            </a:r>
            <a:r>
              <a:rPr lang="zh-CN" altLang="en-US" sz="2000" dirty="0">
                <a:latin typeface="Times New Roman" panose="02020603050405020304" pitchFamily="18" charset="0"/>
                <a:cs typeface="Times New Roman" panose="02020603050405020304" pitchFamily="18" charset="0"/>
              </a:rPr>
              <a:t>Ye</a:t>
            </a:r>
            <a:r>
              <a:rPr lang="en-US" altLang="zh-CN" sz="2000" dirty="0">
                <a:latin typeface="Times New Roman" panose="02020603050405020304" pitchFamily="18" charset="0"/>
                <a:cs typeface="Times New Roman" panose="02020603050405020304" pitchFamily="18" charset="0"/>
              </a:rPr>
              <a:t>s</a:t>
            </a:r>
            <a:endParaRPr lang="zh-CN" altLang="en-US" sz="2000" dirty="0">
              <a:latin typeface="Times New Roman" panose="02020603050405020304" pitchFamily="18" charset="0"/>
              <a:cs typeface="Times New Roman" panose="02020603050405020304" pitchFamily="18" charset="0"/>
            </a:endParaRPr>
          </a:p>
        </p:txBody>
      </p:sp>
      <p:sp>
        <p:nvSpPr>
          <p:cNvPr id="5"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cs typeface="Calibri" panose="020F0502020204030204"/>
              </a:rPr>
              <a:t>构造贝叶斯网络的方法</a:t>
            </a:r>
            <a:endParaRPr lang="en-US" sz="2800" dirty="0">
              <a:latin typeface="微软雅黑" panose="020B0503020204020204" pitchFamily="34" charset="-122"/>
              <a:ea typeface="微软雅黑" panose="020B0503020204020204" pitchFamily="34" charset="-122"/>
              <a:cs typeface="Calibri" panose="020F050202020403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741145" y="1340676"/>
            <a:ext cx="9883006" cy="4729164"/>
          </a:xfrm>
        </p:spPr>
        <p:txBody>
          <a:bodyPr/>
          <a:lstStyle/>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示例</a:t>
            </a:r>
            <a:r>
              <a:rPr lang="zh-CN" altLang="en-US" sz="2000" dirty="0">
                <a:latin typeface="Calibri" panose="020F0502020204030204"/>
                <a:cs typeface="Calibri" panose="020F0502020204030204"/>
              </a:rPr>
              <a:t>： </a:t>
            </a:r>
            <a:r>
              <a:rPr lang="en-US" altLang="zh-CN" sz="2000" dirty="0">
                <a:solidFill>
                  <a:srgbClr val="FF0000"/>
                </a:solidFill>
                <a:latin typeface="Times New Roman" panose="02020603050405020304" pitchFamily="18" charset="0"/>
                <a:cs typeface="Times New Roman" panose="02020603050405020304" pitchFamily="18" charset="0"/>
              </a:rPr>
              <a:t>Alarm Network</a:t>
            </a:r>
            <a:endParaRPr lang="en-US" altLang="zh-CN" sz="2000" dirty="0">
              <a:latin typeface="Times New Roman" panose="02020603050405020304" pitchFamily="18" charset="0"/>
              <a:cs typeface="Times New Roman" panose="02020603050405020304" pitchFamily="18" charset="0"/>
            </a:endParaRPr>
          </a:p>
          <a:p>
            <a:pPr marL="0" indent="0">
              <a:lnSpc>
                <a:spcPct val="150000"/>
              </a:lnSpc>
              <a:buNone/>
            </a:pPr>
            <a:r>
              <a:rPr lang="zh-CN" altLang="en-US" sz="2000" dirty="0">
                <a:latin typeface="Calibri" panose="020F0502020204030204"/>
                <a:cs typeface="Calibri" panose="020F0502020204030204"/>
              </a:rPr>
              <a:t>    </a:t>
            </a:r>
            <a:r>
              <a:rPr lang="zh-CN" altLang="en-US" sz="2000" dirty="0">
                <a:latin typeface="微软雅黑" panose="020B0503020204020204" pitchFamily="34" charset="-122"/>
                <a:ea typeface="微软雅黑" panose="020B0503020204020204" pitchFamily="34" charset="-122"/>
                <a:cs typeface="Calibri" panose="020F0502020204030204"/>
              </a:rPr>
              <a:t>假设选定随机变量的次序</a:t>
            </a:r>
            <a:r>
              <a:rPr lang="zh-CN" altLang="en-US" sz="2000" dirty="0">
                <a:latin typeface="Calibri" panose="020F0502020204030204"/>
                <a:cs typeface="Calibri" panose="020F0502020204030204"/>
              </a:rPr>
              <a:t>：</a:t>
            </a:r>
            <a:r>
              <a:rPr lang="en-US" sz="2000" dirty="0">
                <a:latin typeface="Times New Roman" panose="02020603050405020304" pitchFamily="18" charset="0"/>
                <a:cs typeface="Times New Roman" panose="02020603050405020304" pitchFamily="18" charset="0"/>
              </a:rPr>
              <a:t>M, J, A, B, E</a:t>
            </a:r>
            <a:endParaRPr lang="zh-CN" altLang="en-US" sz="2000" dirty="0">
              <a:latin typeface="Times New Roman" panose="02020603050405020304" pitchFamily="18" charset="0"/>
              <a:cs typeface="Times New Roman" panose="02020603050405020304" pitchFamily="18" charset="0"/>
            </a:endParaRPr>
          </a:p>
          <a:p>
            <a:pPr marL="0" indent="0">
              <a:lnSpc>
                <a:spcPct val="150000"/>
              </a:lnSpc>
              <a:buNone/>
            </a:pPr>
            <a:endParaRPr lang="en-US" sz="2400" dirty="0">
              <a:latin typeface="Calibri" panose="020F0502020204030204"/>
              <a:cs typeface="Calibri" panose="020F0502020204030204"/>
            </a:endParaRPr>
          </a:p>
          <a:p>
            <a:pPr marL="457200" lvl="1" indent="0">
              <a:lnSpc>
                <a:spcPct val="150000"/>
              </a:lnSpc>
              <a:buNone/>
            </a:pPr>
            <a:endParaRPr lang="en-US" sz="2400" dirty="0">
              <a:latin typeface="Calibri" panose="020F0502020204030204"/>
              <a:cs typeface="Calibri" panose="020F0502020204030204"/>
            </a:endParaRPr>
          </a:p>
        </p:txBody>
      </p:sp>
      <p:pic>
        <p:nvPicPr>
          <p:cNvPr id="6" name="图片 5"/>
          <p:cNvPicPr>
            <a:picLocks noChangeAspect="1"/>
          </p:cNvPicPr>
          <p:nvPr/>
        </p:nvPicPr>
        <p:blipFill>
          <a:blip r:embed="rId1"/>
          <a:stretch>
            <a:fillRect/>
          </a:stretch>
        </p:blipFill>
        <p:spPr>
          <a:xfrm>
            <a:off x="6701219" y="1824012"/>
            <a:ext cx="4348224" cy="4469185"/>
          </a:xfrm>
          <a:prstGeom prst="rect">
            <a:avLst/>
          </a:prstGeom>
        </p:spPr>
      </p:pic>
      <p:pic>
        <p:nvPicPr>
          <p:cNvPr id="7" name="图片 6"/>
          <p:cNvPicPr>
            <a:picLocks noChangeAspect="1"/>
          </p:cNvPicPr>
          <p:nvPr/>
        </p:nvPicPr>
        <p:blipFill>
          <a:blip r:embed="rId2"/>
          <a:stretch>
            <a:fillRect/>
          </a:stretch>
        </p:blipFill>
        <p:spPr>
          <a:xfrm>
            <a:off x="1166437" y="2678632"/>
            <a:ext cx="4348223" cy="3546200"/>
          </a:xfrm>
          <a:prstGeom prst="rect">
            <a:avLst/>
          </a:prstGeom>
        </p:spPr>
      </p:pic>
      <p:sp>
        <p:nvSpPr>
          <p:cNvPr id="4"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cs typeface="Calibri" panose="020F0502020204030204"/>
              </a:rPr>
              <a:t>构造贝叶斯网络的方法</a:t>
            </a:r>
            <a:endParaRPr lang="en-US" sz="2800" dirty="0">
              <a:latin typeface="微软雅黑" panose="020B0503020204020204" pitchFamily="34" charset="-122"/>
              <a:ea typeface="微软雅黑" panose="020B0503020204020204" pitchFamily="34" charset="-122"/>
              <a:cs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idx="1"/>
          </p:nvPr>
        </p:nvSpPr>
        <p:spPr>
          <a:xfrm>
            <a:off x="960786" y="1240662"/>
            <a:ext cx="8229600" cy="1327533"/>
          </a:xfrm>
        </p:spPr>
        <p:txBody>
          <a:bodyPr/>
          <a:lstStyle/>
          <a:p>
            <a:pPr eaLnBrk="1" hangingPunct="1">
              <a:lnSpc>
                <a:spcPct val="80000"/>
              </a:lnSpc>
            </a:pPr>
            <a:r>
              <a:rPr lang="zh-CN" altLang="en-US" sz="2000" dirty="0">
                <a:latin typeface="微软雅黑" panose="020B0503020204020204" pitchFamily="34" charset="-122"/>
                <a:ea typeface="微软雅黑" panose="020B0503020204020204" pitchFamily="34" charset="-122"/>
                <a:cs typeface="Calibri" panose="020F0502020204030204"/>
              </a:rPr>
              <a:t>基本任务</a:t>
            </a:r>
            <a:r>
              <a:rPr lang="en-US" sz="2000" dirty="0">
                <a:latin typeface="微软雅黑" panose="020B0503020204020204" pitchFamily="34" charset="-122"/>
                <a:ea typeface="微软雅黑" panose="020B0503020204020204" pitchFamily="34" charset="-122"/>
                <a:cs typeface="Calibri" panose="020F0502020204030204"/>
              </a:rPr>
              <a:t>:</a:t>
            </a: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80000"/>
              </a:lnSpc>
            </a:pPr>
            <a:r>
              <a:rPr lang="zh-CN" altLang="en-US" sz="2000" dirty="0">
                <a:latin typeface="微软雅黑" panose="020B0503020204020204" pitchFamily="34" charset="-122"/>
                <a:ea typeface="微软雅黑" panose="020B0503020204020204" pitchFamily="34" charset="-122"/>
                <a:cs typeface="Calibri" panose="020F0502020204030204"/>
              </a:rPr>
              <a:t>证据变量</a:t>
            </a:r>
            <a:r>
              <a:rPr lang="en-US" sz="2000" dirty="0">
                <a:latin typeface="微软雅黑" panose="020B0503020204020204" pitchFamily="34" charset="-122"/>
                <a:ea typeface="微软雅黑" panose="020B0503020204020204" pitchFamily="34" charset="-122"/>
                <a:cs typeface="Calibri" panose="020F0502020204030204"/>
              </a:rPr>
              <a:t>: </a:t>
            </a: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80000"/>
              </a:lnSpc>
            </a:pPr>
            <a:r>
              <a:rPr lang="zh-CN" altLang="en-US" sz="2000" dirty="0">
                <a:latin typeface="微软雅黑" panose="020B0503020204020204" pitchFamily="34" charset="-122"/>
                <a:ea typeface="微软雅黑" panose="020B0503020204020204" pitchFamily="34" charset="-122"/>
                <a:cs typeface="Calibri" panose="020F0502020204030204"/>
              </a:rPr>
              <a:t>查询变量</a:t>
            </a:r>
            <a:r>
              <a:rPr lang="en-US" sz="2000" dirty="0">
                <a:latin typeface="微软雅黑" panose="020B0503020204020204" pitchFamily="34" charset="-122"/>
                <a:ea typeface="微软雅黑" panose="020B0503020204020204" pitchFamily="34" charset="-122"/>
                <a:cs typeface="Calibri" panose="020F0502020204030204"/>
              </a:rPr>
              <a:t>:</a:t>
            </a: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80000"/>
              </a:lnSpc>
            </a:pPr>
            <a:r>
              <a:rPr lang="zh-CN" altLang="en-US" sz="2000" dirty="0">
                <a:latin typeface="微软雅黑" panose="020B0503020204020204" pitchFamily="34" charset="-122"/>
                <a:ea typeface="微软雅黑" panose="020B0503020204020204" pitchFamily="34" charset="-122"/>
                <a:cs typeface="Calibri" panose="020F0502020204030204"/>
              </a:rPr>
              <a:t>隐藏变量</a:t>
            </a:r>
            <a:r>
              <a:rPr lang="en-US" sz="2000" dirty="0">
                <a:latin typeface="微软雅黑" panose="020B0503020204020204" pitchFamily="34" charset="-122"/>
                <a:ea typeface="微软雅黑" panose="020B0503020204020204" pitchFamily="34" charset="-122"/>
                <a:cs typeface="Calibri" panose="020F0502020204030204"/>
              </a:rPr>
              <a:t>:</a:t>
            </a:r>
            <a:endParaRPr lang="en-US" sz="2000" dirty="0">
              <a:latin typeface="微软雅黑" panose="020B0503020204020204" pitchFamily="34" charset="-122"/>
              <a:ea typeface="微软雅黑" panose="020B0503020204020204" pitchFamily="34" charset="-122"/>
              <a:cs typeface="Calibri" panose="020F0502020204030204"/>
            </a:endParaRPr>
          </a:p>
          <a:p>
            <a:pPr lvl="1" eaLnBrk="1" hangingPunct="1">
              <a:lnSpc>
                <a:spcPct val="80000"/>
              </a:lnSpc>
            </a:pPr>
            <a:endParaRPr lang="en-US" sz="1600" dirty="0">
              <a:latin typeface="Calibri" panose="020F0502020204030204"/>
              <a:cs typeface="Calibri" panose="020F0502020204030204"/>
            </a:endParaRPr>
          </a:p>
          <a:p>
            <a:pPr lvl="1" eaLnBrk="1" hangingPunct="1">
              <a:lnSpc>
                <a:spcPct val="80000"/>
              </a:lnSpc>
            </a:pPr>
            <a:endParaRPr lang="en-US" sz="1600" dirty="0">
              <a:latin typeface="Calibri" panose="020F0502020204030204"/>
              <a:cs typeface="Calibri" panose="020F0502020204030204"/>
            </a:endParaRPr>
          </a:p>
        </p:txBody>
      </p:sp>
      <p:sp>
        <p:nvSpPr>
          <p:cNvPr id="6" name="Rectangle 3"/>
          <p:cNvSpPr txBox="1">
            <a:spLocks noChangeArrowheads="1"/>
          </p:cNvSpPr>
          <p:nvPr/>
        </p:nvSpPr>
        <p:spPr bwMode="auto">
          <a:xfrm>
            <a:off x="7779228" y="1474741"/>
            <a:ext cx="3997028" cy="863830"/>
          </a:xfrm>
          <a:prstGeom prst="rect">
            <a:avLst/>
          </a:prstGeom>
          <a:noFill/>
          <a:ln w="9525">
            <a:noFill/>
            <a:miter lim="800000"/>
          </a:ln>
        </p:spPr>
        <p:txBody>
          <a:bodyPr vert="horz" wrap="square" lIns="91436" tIns="45718" rIns="91436" bIns="45718" numCol="1" anchor="t" anchorCtr="0" compatLnSpc="1"/>
          <a:lstStyle>
            <a:lvl1pPr marL="342900" indent="-342900" algn="l" rtl="0" eaLnBrk="1" fontAlgn="base" hangingPunct="1">
              <a:spcBef>
                <a:spcPct val="20000"/>
              </a:spcBef>
              <a:spcAft>
                <a:spcPct val="0"/>
              </a:spcAft>
              <a:buClr>
                <a:schemeClr val="accent2"/>
              </a:buClr>
              <a:buFont typeface="Wingdings" panose="05000000000000000000" pitchFamily="2" charset="2"/>
              <a:buChar char="§"/>
              <a:defRPr sz="3200">
                <a:solidFill>
                  <a:schemeClr val="accent2"/>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chemeClr val="tx1"/>
              </a:buClr>
              <a:buFont typeface="Wingdings" panose="05000000000000000000" pitchFamily="2" charset="2"/>
              <a:buChar char="§"/>
              <a:defRPr sz="2800">
                <a:solidFill>
                  <a:schemeClr val="tx1"/>
                </a:solidFill>
                <a:latin typeface="Calibri" panose="020F0502020204030204" pitchFamily="34" charset="0"/>
              </a:defRPr>
            </a:lvl2pPr>
            <a:lvl3pPr marL="1143000" indent="-228600" algn="l" rtl="0" eaLnBrk="1" fontAlgn="base" hangingPunct="1">
              <a:spcBef>
                <a:spcPct val="20000"/>
              </a:spcBef>
              <a:spcAft>
                <a:spcPct val="0"/>
              </a:spcAft>
              <a:buClr>
                <a:schemeClr val="accent2"/>
              </a:buClr>
              <a:buFont typeface="Wingdings" panose="05000000000000000000" pitchFamily="2" charset="2"/>
              <a:buChar char="§"/>
              <a:defRPr sz="24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lr>
                <a:schemeClr val="tx1"/>
              </a:buClr>
              <a:buFont typeface="Wingdings" panose="05000000000000000000" pitchFamily="2" charset="2"/>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lr>
                <a:schemeClr val="accent2"/>
              </a:buClr>
              <a:buFont typeface="Wingdings" panose="05000000000000000000" pitchFamily="2" charset="2"/>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lr>
                <a:schemeClr val="accent2"/>
              </a:buClr>
              <a:buFont typeface="Wingdings" panose="05000000000000000000"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accent2"/>
              </a:buClr>
              <a:buFont typeface="Wingdings" panose="05000000000000000000"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accent2"/>
              </a:buClr>
              <a:buFont typeface="Wingdings" panose="05000000000000000000"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accent2"/>
              </a:buClr>
              <a:buFont typeface="Wingdings" panose="05000000000000000000" pitchFamily="2" charset="2"/>
              <a:buChar char="§"/>
              <a:defRPr sz="2000">
                <a:solidFill>
                  <a:schemeClr val="tx1"/>
                </a:solidFill>
                <a:latin typeface="+mn-lt"/>
              </a:defRPr>
            </a:lvl9pPr>
          </a:lstStyle>
          <a:p>
            <a:pPr>
              <a:lnSpc>
                <a:spcPct val="80000"/>
              </a:lnSpc>
            </a:pPr>
            <a:r>
              <a:rPr lang="zh-CN" altLang="en-US" sz="2000" dirty="0">
                <a:solidFill>
                  <a:srgbClr val="FF0000"/>
                </a:solidFill>
                <a:latin typeface="微软雅黑" panose="020B0503020204020204" pitchFamily="34" charset="-122"/>
                <a:ea typeface="微软雅黑" panose="020B0503020204020204" pitchFamily="34" charset="-122"/>
                <a:cs typeface="Calibri" panose="020F0502020204030204"/>
              </a:rPr>
              <a:t>典型的查询是询问后验概率</a:t>
            </a:r>
            <a:r>
              <a:rPr lang="en-US" sz="2000" dirty="0">
                <a:latin typeface="微软雅黑" panose="020B0503020204020204" pitchFamily="34" charset="-122"/>
                <a:ea typeface="微软雅黑" panose="020B0503020204020204" pitchFamily="34" charset="-122"/>
                <a:cs typeface="Calibri" panose="020F0502020204030204"/>
              </a:rPr>
              <a:t>:</a:t>
            </a:r>
            <a:endParaRPr lang="en-US" sz="2000" dirty="0">
              <a:latin typeface="微软雅黑" panose="020B0503020204020204" pitchFamily="34" charset="-122"/>
              <a:ea typeface="微软雅黑" panose="020B0503020204020204" pitchFamily="34" charset="-122"/>
              <a:cs typeface="Calibri" panose="020F0502020204030204"/>
            </a:endParaRPr>
          </a:p>
          <a:p>
            <a:pPr lvl="1">
              <a:lnSpc>
                <a:spcPct val="80000"/>
              </a:lnSpc>
            </a:pPr>
            <a:endParaRPr lang="en-US" sz="1600" dirty="0">
              <a:latin typeface="Calibri" panose="020F0502020204030204"/>
              <a:cs typeface="Calibri" panose="020F0502020204030204"/>
            </a:endParaRPr>
          </a:p>
        </p:txBody>
      </p:sp>
      <p:pic>
        <p:nvPicPr>
          <p:cNvPr id="7" name="Picture 5" descr="txp_fig"/>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714081" y="1699187"/>
            <a:ext cx="1574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5" descr="txp_fig"/>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3176973" y="1610535"/>
            <a:ext cx="20955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txp_fig"/>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3189673" y="1929623"/>
            <a:ext cx="16986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2" descr="txp_fig"/>
          <p:cNvPicPr>
            <a:picLocks noChangeAspect="1" noChangeArrowheads="1"/>
          </p:cNvPicPr>
          <p:nvPr>
            <p:custDataLst>
              <p:tags r:id="rId7"/>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3154748" y="2234423"/>
            <a:ext cx="95885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AutoShape 22"/>
          <p:cNvSpPr/>
          <p:nvPr/>
        </p:nvSpPr>
        <p:spPr bwMode="auto">
          <a:xfrm>
            <a:off x="5379898" y="1559239"/>
            <a:ext cx="228600" cy="914400"/>
          </a:xfrm>
          <a:prstGeom prst="rightBrace">
            <a:avLst>
              <a:gd name="adj1" fmla="val 3333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Calibri" panose="020F0502020204030204"/>
              <a:cs typeface="Calibri" panose="020F0502020204030204"/>
            </a:endParaRPr>
          </a:p>
        </p:txBody>
      </p:sp>
      <p:sp>
        <p:nvSpPr>
          <p:cNvPr id="12" name="Text Box 23"/>
          <p:cNvSpPr txBox="1">
            <a:spLocks noChangeArrowheads="1"/>
          </p:cNvSpPr>
          <p:nvPr/>
        </p:nvSpPr>
        <p:spPr bwMode="auto">
          <a:xfrm>
            <a:off x="5751431" y="1968119"/>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i="1" dirty="0">
                <a:latin typeface="Calibri" panose="020F0502020204030204"/>
                <a:cs typeface="Calibri" panose="020F0502020204030204"/>
              </a:rPr>
              <a:t>All variables</a:t>
            </a:r>
            <a:endParaRPr lang="en-US" i="1" dirty="0">
              <a:latin typeface="Calibri" panose="020F0502020204030204"/>
              <a:cs typeface="Calibri" panose="020F0502020204030204"/>
            </a:endParaRPr>
          </a:p>
        </p:txBody>
      </p:sp>
      <p:pic>
        <p:nvPicPr>
          <p:cNvPr id="13" name="Picture 17" descr="txp_fig"/>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8829704" y="1873689"/>
            <a:ext cx="2067441" cy="35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ight Arrow 27"/>
          <p:cNvSpPr/>
          <p:nvPr/>
        </p:nvSpPr>
        <p:spPr>
          <a:xfrm>
            <a:off x="5217598" y="4212162"/>
            <a:ext cx="1401908" cy="754217"/>
          </a:xfrm>
          <a:prstGeom prst="rightArrow">
            <a:avLst>
              <a:gd name="adj1" fmla="val 43750"/>
              <a:gd name="adj2" fmla="val 50000"/>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able 30"/>
          <p:cNvGraphicFramePr>
            <a:graphicFrameLocks noGrp="1"/>
          </p:cNvGraphicFramePr>
          <p:nvPr/>
        </p:nvGraphicFramePr>
        <p:xfrm>
          <a:off x="7012596" y="3406227"/>
          <a:ext cx="1676399" cy="2970008"/>
        </p:xfrm>
        <a:graphic>
          <a:graphicData uri="http://schemas.openxmlformats.org/drawingml/2006/table">
            <a:tbl>
              <a:tblPr firstRow="1" bandRow="1">
                <a:tableStyleId>{5C22544A-7EE6-4342-B048-85BDC9FD1C3A}</a:tableStyleId>
              </a:tblPr>
              <a:tblGrid>
                <a:gridCol w="419100"/>
                <a:gridCol w="419099"/>
                <a:gridCol w="400878"/>
                <a:gridCol w="437322"/>
              </a:tblGrid>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371251">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p:sp>
        <p:nvSpPr>
          <p:cNvPr id="16" name="Rectangle 14336"/>
          <p:cNvSpPr/>
          <p:nvPr/>
        </p:nvSpPr>
        <p:spPr>
          <a:xfrm>
            <a:off x="214092" y="2885790"/>
            <a:ext cx="5175768" cy="338554"/>
          </a:xfrm>
          <a:prstGeom prst="rect">
            <a:avLst/>
          </a:prstGeom>
        </p:spPr>
        <p:txBody>
          <a:bodyPr wrap="square">
            <a:spAutoFit/>
          </a:bodyPr>
          <a:lstStyle/>
          <a:p>
            <a:pPr algn="ctr">
              <a:lnSpc>
                <a:spcPct val="80000"/>
              </a:lnSpc>
            </a:pPr>
            <a:r>
              <a:rPr lang="zh-CN" altLang="en-US"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rPr>
              <a:t>贝叶斯网络</a:t>
            </a:r>
            <a:endParaRPr lang="en-US"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endParaRPr>
          </a:p>
        </p:txBody>
      </p:sp>
      <p:sp>
        <p:nvSpPr>
          <p:cNvPr id="17" name="Rectangle 34"/>
          <p:cNvSpPr/>
          <p:nvPr/>
        </p:nvSpPr>
        <p:spPr>
          <a:xfrm>
            <a:off x="7041821" y="2801559"/>
            <a:ext cx="1676398" cy="338554"/>
          </a:xfrm>
          <a:prstGeom prst="rect">
            <a:avLst/>
          </a:prstGeom>
        </p:spPr>
        <p:txBody>
          <a:bodyPr wrap="square">
            <a:spAutoFit/>
          </a:bodyPr>
          <a:lstStyle/>
          <a:p>
            <a:pPr algn="ctr">
              <a:lnSpc>
                <a:spcPct val="80000"/>
              </a:lnSpc>
            </a:pPr>
            <a:r>
              <a:rPr lang="zh-CN" altLang="en-US"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rPr>
              <a:t>联合分布</a:t>
            </a:r>
            <a:endParaRPr lang="en-US"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endParaRPr>
          </a:p>
        </p:txBody>
      </p:sp>
      <mc:AlternateContent xmlns:mc="http://schemas.openxmlformats.org/markup-compatibility/2006">
        <mc:Choice xmlns:a14="http://schemas.microsoft.com/office/drawing/2010/main" Requires="a14">
          <p:sp>
            <p:nvSpPr>
              <p:cNvPr id="18" name="Rectangle 36"/>
              <p:cNvSpPr/>
              <p:nvPr/>
            </p:nvSpPr>
            <p:spPr>
              <a:xfrm>
                <a:off x="9971363" y="3624308"/>
                <a:ext cx="1676398" cy="1126462"/>
              </a:xfrm>
              <a:prstGeom prst="rect">
                <a:avLst/>
              </a:prstGeom>
            </p:spPr>
            <p:txBody>
              <a:bodyPr wrap="square">
                <a:spAutoFit/>
              </a:bodyPr>
              <a:lstStyle/>
              <a:p>
                <a:pPr algn="ctr">
                  <a:lnSpc>
                    <a:spcPct val="80000"/>
                  </a:lnSpc>
                </a:pPr>
                <a:r>
                  <a:rPr lang="zh-CN" altLang="en-US"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rPr>
                  <a:t>查询</a:t>
                </a:r>
                <a:endParaRPr lang="en-US" altLang="zh-CN" sz="2000" dirty="0">
                  <a:solidFill>
                    <a:schemeClr val="accent2"/>
                  </a:solidFill>
                  <a:latin typeface="微软雅黑" panose="020B0503020204020204" pitchFamily="34" charset="-122"/>
                  <a:ea typeface="微软雅黑" panose="020B0503020204020204" pitchFamily="34" charset="-122"/>
                  <a:cs typeface="Calibri" panose="020F0502020204030204"/>
                  <a:sym typeface="Wingdings" panose="05000000000000000000"/>
                </a:endParaRPr>
              </a:p>
              <a:p>
                <a:pPr algn="ctr">
                  <a:lnSpc>
                    <a:spcPct val="80000"/>
                  </a:lnSpc>
                </a:pPr>
                <a:endParaRPr lang="en-US" sz="3200" dirty="0">
                  <a:solidFill>
                    <a:schemeClr val="accent2"/>
                  </a:solidFill>
                  <a:latin typeface="Calibri" panose="020F0502020204030204"/>
                  <a:cs typeface="Calibri" panose="020F0502020204030204"/>
                  <a:sym typeface="Wingdings" panose="05000000000000000000"/>
                </a:endParaRPr>
              </a:p>
              <a:p>
                <a:pPr algn="ctr">
                  <a:lnSpc>
                    <a:spcPct val="80000"/>
                  </a:lnSpc>
                </a:pPr>
                <a14:m>
                  <m:oMathPara xmlns:m="http://schemas.openxmlformats.org/officeDocument/2006/math">
                    <m:oMathParaPr>
                      <m:jc m:val="centerGroup"/>
                    </m:oMathParaPr>
                    <m:oMath xmlns:m="http://schemas.openxmlformats.org/officeDocument/2006/math">
                      <m:r>
                        <a:rPr lang="en-US" sz="3200" i="1" smtClean="0">
                          <a:solidFill>
                            <a:schemeClr val="tx2"/>
                          </a:solidFill>
                          <a:latin typeface="Cambria Math" panose="02040503050406030204" pitchFamily="18" charset="0"/>
                          <a:cs typeface="Calibri" panose="020F0502020204030204"/>
                          <a:sym typeface="Wingdings" panose="05000000000000000000"/>
                        </a:rPr>
                        <m:t>𝑃</m:t>
                      </m:r>
                      <m:d>
                        <m:dPr>
                          <m:endChr m:val="|"/>
                          <m:ctrlPr>
                            <a:rPr lang="en-US" sz="3200" i="1">
                              <a:solidFill>
                                <a:schemeClr val="tx2"/>
                              </a:solidFill>
                              <a:latin typeface="Cambria Math" panose="02040503050406030204" pitchFamily="18" charset="0"/>
                              <a:cs typeface="Calibri" panose="020F0502020204030204"/>
                              <a:sym typeface="Wingdings" panose="05000000000000000000"/>
                            </a:rPr>
                          </m:ctrlPr>
                        </m:dPr>
                        <m:e>
                          <m:r>
                            <a:rPr lang="en-US" sz="3200" i="1">
                              <a:solidFill>
                                <a:schemeClr val="tx2"/>
                              </a:solidFill>
                              <a:latin typeface="Cambria Math" panose="02040503050406030204" pitchFamily="18" charset="0"/>
                              <a:cs typeface="Calibri" panose="020F0502020204030204"/>
                              <a:sym typeface="Wingdings" panose="05000000000000000000"/>
                            </a:rPr>
                            <m:t>𝑎</m:t>
                          </m:r>
                          <m:r>
                            <a:rPr lang="en-US" sz="3200" i="1">
                              <a:solidFill>
                                <a:schemeClr val="tx2"/>
                              </a:solidFill>
                              <a:latin typeface="Cambria Math" panose="02040503050406030204" pitchFamily="18" charset="0"/>
                              <a:cs typeface="Calibri" panose="020F0502020204030204"/>
                              <a:sym typeface="Wingdings" panose="05000000000000000000"/>
                            </a:rPr>
                            <m:t> </m:t>
                          </m:r>
                        </m:e>
                      </m:d>
                      <m:r>
                        <m:rPr>
                          <m:nor/>
                        </m:rPr>
                        <a:rPr lang="en-US" sz="3200">
                          <a:solidFill>
                            <a:schemeClr val="tx2"/>
                          </a:solidFill>
                          <a:latin typeface="Times New Roman" panose="02020603050405020304" pitchFamily="18" charset="0"/>
                          <a:cs typeface="Times New Roman" panose="02020603050405020304" pitchFamily="18" charset="0"/>
                          <a:sym typeface="Wingdings" panose="05000000000000000000"/>
                        </a:rPr>
                        <m:t> </m:t>
                      </m:r>
                      <m:r>
                        <a:rPr lang="en-US" sz="3200" i="1">
                          <a:solidFill>
                            <a:schemeClr val="tx2"/>
                          </a:solidFill>
                          <a:latin typeface="Cambria Math" panose="02040503050406030204" pitchFamily="18" charset="0"/>
                          <a:cs typeface="Calibri" panose="020F0502020204030204"/>
                          <a:sym typeface="Wingdings" panose="05000000000000000000"/>
                        </a:rPr>
                        <m:t>𝑒</m:t>
                      </m:r>
                      <m:r>
                        <a:rPr lang="en-US" sz="3200" i="1">
                          <a:solidFill>
                            <a:schemeClr val="tx2"/>
                          </a:solidFill>
                          <a:latin typeface="Cambria Math" panose="02040503050406030204" pitchFamily="18" charset="0"/>
                          <a:cs typeface="Calibri" panose="020F0502020204030204"/>
                          <a:sym typeface="Wingdings" panose="05000000000000000000"/>
                        </a:rPr>
                        <m:t>)</m:t>
                      </m:r>
                    </m:oMath>
                  </m:oMathPara>
                </a14:m>
                <a:endParaRPr lang="en-US" sz="3200" dirty="0">
                  <a:solidFill>
                    <a:schemeClr val="tx2"/>
                  </a:solidFill>
                  <a:latin typeface="Times New Roman" panose="02020603050405020304" pitchFamily="18" charset="0"/>
                  <a:cs typeface="Times New Roman" panose="02020603050405020304" pitchFamily="18" charset="0"/>
                  <a:sym typeface="Wingdings" panose="05000000000000000000"/>
                </a:endParaRPr>
              </a:p>
            </p:txBody>
          </p:sp>
        </mc:Choice>
        <mc:Fallback>
          <p:sp>
            <p:nvSpPr>
              <p:cNvPr id="18" name="Rectangle 36"/>
              <p:cNvSpPr>
                <a:spLocks noRot="1" noChangeAspect="1" noMove="1" noResize="1" noEditPoints="1" noAdjustHandles="1" noChangeArrowheads="1" noChangeShapeType="1" noTextEdit="1"/>
              </p:cNvSpPr>
              <p:nvPr/>
            </p:nvSpPr>
            <p:spPr>
              <a:xfrm>
                <a:off x="9971363" y="3624308"/>
                <a:ext cx="1676398" cy="1126462"/>
              </a:xfrm>
              <a:prstGeom prst="rect">
                <a:avLst/>
              </a:prstGeom>
              <a:blipFill rotWithShape="1">
                <a:blip r:embed="rId11"/>
                <a:stretch>
                  <a:fillRect l="-35" t="-2343" r="35" b="30"/>
                </a:stretch>
              </a:blipFill>
            </p:spPr>
            <p:txBody>
              <a:bodyPr/>
              <a:lstStyle/>
              <a:p>
                <a:r>
                  <a:rPr lang="zh-CN" altLang="en-US">
                    <a:noFill/>
                  </a:rPr>
                  <a:t> </a:t>
                </a:r>
              </a:p>
            </p:txBody>
          </p:sp>
        </mc:Fallback>
      </mc:AlternateContent>
      <p:sp>
        <p:nvSpPr>
          <p:cNvPr id="20" name="Right Arrow 27"/>
          <p:cNvSpPr/>
          <p:nvPr/>
        </p:nvSpPr>
        <p:spPr>
          <a:xfrm>
            <a:off x="9176329" y="4212161"/>
            <a:ext cx="584871" cy="754217"/>
          </a:xfrm>
          <a:prstGeom prst="rightArrow">
            <a:avLst>
              <a:gd name="adj1" fmla="val 43750"/>
              <a:gd name="adj2" fmla="val 50000"/>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图片 37"/>
          <p:cNvPicPr>
            <a:picLocks noChangeAspect="1"/>
          </p:cNvPicPr>
          <p:nvPr/>
        </p:nvPicPr>
        <p:blipFill>
          <a:blip r:embed="rId12"/>
          <a:stretch>
            <a:fillRect/>
          </a:stretch>
        </p:blipFill>
        <p:spPr>
          <a:xfrm>
            <a:off x="705377" y="3543407"/>
            <a:ext cx="4370209" cy="3004800"/>
          </a:xfrm>
          <a:prstGeom prst="rect">
            <a:avLst/>
          </a:prstGeom>
        </p:spPr>
      </p:pic>
      <p:sp>
        <p:nvSpPr>
          <p:cNvPr id="19"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0482" name="Rectangle 3"/>
              <p:cNvSpPr>
                <a:spLocks noGrp="1" noChangeArrowheads="1"/>
              </p:cNvSpPr>
              <p:nvPr>
                <p:ph idx="1"/>
              </p:nvPr>
            </p:nvSpPr>
            <p:spPr>
              <a:xfrm>
                <a:off x="741145" y="1181406"/>
                <a:ext cx="8055374" cy="5638800"/>
              </a:xfrm>
            </p:spPr>
            <p:txBody>
              <a:bodyPr/>
              <a:lstStyle/>
              <a:p>
                <a:pPr marL="3200400" lvl="7" indent="0">
                  <a:buNone/>
                </a:pPr>
                <a:endParaRPr lang="en-US" sz="500" dirty="0">
                  <a:latin typeface="Calibri" panose="020F0502020204030204"/>
                  <a:ea typeface="MS PGothic" panose="020B0600070205080204" charset="-128"/>
                  <a:cs typeface="Calibri" panose="020F0502020204030204"/>
                </a:endParaRPr>
              </a:p>
              <a:p>
                <a:pPr marL="0" indent="0">
                  <a:lnSpc>
                    <a:spcPct val="150000"/>
                  </a:lnSpc>
                  <a:buNone/>
                </a:pPr>
                <a:r>
                  <a:rPr lang="zh-CN" altLang="en-US" sz="2000" dirty="0">
                    <a:latin typeface="微软雅黑" panose="020B0503020204020204" pitchFamily="34" charset="-122"/>
                    <a:ea typeface="微软雅黑" panose="020B0503020204020204" pitchFamily="34" charset="-122"/>
                    <a:cs typeface="Calibri" panose="020F0502020204030204"/>
                  </a:rPr>
                  <a:t>示例： </a:t>
                </a: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Alarm Network</a:t>
                </a:r>
                <a:endPar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已知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John</a:t>
                </a:r>
                <a:r>
                  <a:rPr lang="zh-CN" altLang="en-US" sz="2000" dirty="0">
                    <a:latin typeface="微软雅黑" panose="020B0503020204020204" pitchFamily="34" charset="-122"/>
                    <a:ea typeface="微软雅黑" panose="020B0503020204020204" pitchFamily="34" charset="-122"/>
                    <a:cs typeface="Calibri" panose="020F0502020204030204"/>
                  </a:rPr>
                  <a:t>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Mary</a:t>
                </a:r>
                <a:r>
                  <a:rPr lang="zh-CN" altLang="en-US" sz="2000" dirty="0">
                    <a:latin typeface="微软雅黑" panose="020B0503020204020204" pitchFamily="34" charset="-122"/>
                    <a:ea typeface="微软雅黑" panose="020B0503020204020204" pitchFamily="34" charset="-122"/>
                    <a:cs typeface="Calibri" panose="020F0502020204030204"/>
                  </a:rPr>
                  <a:t>都打来了电话，问出现盗贼的概率是多少？</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分析：</a:t>
                </a:r>
                <a:endParaRPr lang="en-US" altLang="zh-CN" sz="2000" dirty="0">
                  <a:latin typeface="微软雅黑" panose="020B0503020204020204" pitchFamily="34" charset="-122"/>
                  <a:ea typeface="微软雅黑" panose="020B0503020204020204" pitchFamily="34" charset="-122"/>
                  <a:cs typeface="Calibri" panose="020F0502020204030204"/>
                </a:endParaRPr>
              </a:p>
              <a:p>
                <a:pPr lvl="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证据变量</a:t>
                </a:r>
                <a:r>
                  <a:rPr lang="en-US" altLang="zh-CN" sz="2000" dirty="0">
                    <a:latin typeface="微软雅黑" panose="020B0503020204020204" pitchFamily="34" charset="-122"/>
                    <a:ea typeface="微软雅黑" panose="020B0503020204020204" pitchFamily="34" charset="-122"/>
                    <a:cs typeface="Calibri" panose="020F0502020204030204"/>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JohnCalls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=true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MaryCalls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=true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查询变量</a:t>
                </a:r>
                <a:r>
                  <a:rPr lang="en-US" altLang="zh-CN" sz="2000" dirty="0">
                    <a:latin typeface="微软雅黑" panose="020B0503020204020204" pitchFamily="34" charset="-122"/>
                    <a:ea typeface="微软雅黑" panose="020B0503020204020204" pitchFamily="34" charset="-122"/>
                    <a:cs typeface="Calibri" panose="020F0502020204030204"/>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Burglary</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隐藏变量</a:t>
                </a:r>
                <a:r>
                  <a:rPr lang="en-US" altLang="zh-CN" sz="2000" dirty="0">
                    <a:latin typeface="微软雅黑" panose="020B0503020204020204" pitchFamily="34" charset="-122"/>
                    <a:ea typeface="微软雅黑" panose="020B0503020204020204" pitchFamily="34" charset="-122"/>
                    <a:cs typeface="Calibri" panose="020F0502020204030204"/>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Earthquake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Alarm</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rPr>
                  <a:t>问题：</a:t>
                </a:r>
                <a14:m>
                  <m:oMath xmlns:m="http://schemas.openxmlformats.org/officeDocument/2006/math">
                    <m:r>
                      <a:rPr lang="en-US" altLang="zh-CN" sz="2000" i="1">
                        <a:latin typeface="Cambria Math" panose="02040503050406030204"/>
                        <a:sym typeface="Symbol" panose="05050102010706020507"/>
                      </a:rPr>
                      <m:t>𝑃</m:t>
                    </m:r>
                    <m:d>
                      <m:dPr>
                        <m:ctrlPr>
                          <a:rPr lang="en-US" altLang="zh-CN" sz="2000" i="1">
                            <a:latin typeface="Cambria Math" panose="02040503050406030204" pitchFamily="18" charset="0"/>
                            <a:sym typeface="Symbol" panose="05050102010706020507"/>
                          </a:rPr>
                        </m:ctrlPr>
                      </m:dPr>
                      <m:e>
                        <m:r>
                          <a:rPr lang="en-US" altLang="zh-CN" sz="2000" i="1">
                            <a:latin typeface="Cambria Math" panose="02040503050406030204" pitchFamily="18" charset="0"/>
                            <a:sym typeface="Symbol" panose="05050102010706020507"/>
                          </a:rPr>
                          <m:t>𝐵</m:t>
                        </m:r>
                        <m:r>
                          <a:rPr lang="en-US" altLang="zh-CN" sz="2000" i="1" smtClean="0">
                            <a:latin typeface="Cambria Math" panose="02040503050406030204" pitchFamily="18" charset="0"/>
                            <a:sym typeface="Symbol" panose="05050102010706020507"/>
                          </a:rPr>
                          <m:t>𝑢𝑟𝑔𝑙𝑎𝑟𝑦</m:t>
                        </m:r>
                      </m:e>
                      <m:e>
                        <m:r>
                          <m:rPr>
                            <m:nor/>
                          </m:rPr>
                          <a:rPr lang="en-US" altLang="zh-CN" sz="2000" i="1" dirty="0">
                            <a:latin typeface="Times New Roman" panose="02020603050405020304" pitchFamily="18" charset="0"/>
                            <a:cs typeface="Times New Roman" panose="02020603050405020304" pitchFamily="18" charset="0"/>
                          </a:rPr>
                          <m:t>JohnCalls</m:t>
                        </m:r>
                        <m:r>
                          <m:rPr>
                            <m:nor/>
                          </m:rPr>
                          <a:rPr lang="en-US" altLang="zh-CN" sz="2000" dirty="0">
                            <a:latin typeface="Times New Roman" panose="02020603050405020304" pitchFamily="18" charset="0"/>
                            <a:cs typeface="Times New Roman" panose="02020603050405020304" pitchFamily="18" charset="0"/>
                          </a:rPr>
                          <m:t> =</m:t>
                        </m:r>
                        <m:r>
                          <m:rPr>
                            <m:nor/>
                          </m:rPr>
                          <a:rPr lang="en-US" altLang="zh-CN" sz="2000" dirty="0">
                            <a:latin typeface="Times New Roman" panose="02020603050405020304" pitchFamily="18" charset="0"/>
                            <a:cs typeface="Times New Roman" panose="02020603050405020304" pitchFamily="18" charset="0"/>
                          </a:rPr>
                          <m:t>true</m:t>
                        </m:r>
                        <m:r>
                          <a:rPr lang="en-US" altLang="zh-CN" sz="2000" i="1">
                            <a:latin typeface="Cambria Math" panose="02040503050406030204" pitchFamily="18" charset="0"/>
                            <a:sym typeface="Symbol" panose="05050102010706020507"/>
                          </a:rPr>
                          <m:t>,</m:t>
                        </m:r>
                        <m:r>
                          <m:rPr>
                            <m:nor/>
                          </m:rPr>
                          <a:rPr lang="en-US" altLang="zh-CN" sz="2000" i="1" dirty="0">
                            <a:latin typeface="Times New Roman" panose="02020603050405020304" pitchFamily="18" charset="0"/>
                            <a:cs typeface="Times New Roman" panose="02020603050405020304" pitchFamily="18" charset="0"/>
                          </a:rPr>
                          <m:t>MaryCalls</m:t>
                        </m:r>
                        <m:r>
                          <m:rPr>
                            <m:nor/>
                          </m:rPr>
                          <a:rPr lang="en-US" altLang="zh-CN" sz="2000" dirty="0">
                            <a:latin typeface="Times New Roman" panose="02020603050405020304" pitchFamily="18" charset="0"/>
                            <a:cs typeface="Times New Roman" panose="02020603050405020304" pitchFamily="18" charset="0"/>
                          </a:rPr>
                          <m:t> =</m:t>
                        </m:r>
                        <m:r>
                          <m:rPr>
                            <m:nor/>
                          </m:rPr>
                          <a:rPr lang="en-US" altLang="zh-CN" sz="2000" dirty="0">
                            <a:latin typeface="Times New Roman" panose="02020603050405020304" pitchFamily="18" charset="0"/>
                            <a:cs typeface="Times New Roman" panose="02020603050405020304" pitchFamily="18" charset="0"/>
                          </a:rPr>
                          <m:t>true</m:t>
                        </m:r>
                      </m:e>
                    </m:d>
                  </m:oMath>
                </a14:m>
                <a:r>
                  <a:rPr lang="en-US" altLang="zh-CN" sz="2000" dirty="0">
                    <a:latin typeface="Times New Roman" panose="02020603050405020304" pitchFamily="18" charset="0"/>
                    <a:cs typeface="Times New Roman" panose="02020603050405020304" pitchFamily="18" charset="0"/>
                    <a:sym typeface="Symbol" panose="05050102010706020507"/>
                  </a:rPr>
                  <a:t> =</a:t>
                </a:r>
                <a:r>
                  <a:rPr lang="zh-CN" altLang="en-US" sz="2000" dirty="0">
                    <a:latin typeface="Times New Roman" panose="02020603050405020304" pitchFamily="18" charset="0"/>
                    <a:cs typeface="Times New Roman" panose="02020603050405020304" pitchFamily="18" charset="0"/>
                    <a:sym typeface="Symbol" panose="05050102010706020507"/>
                  </a:rPr>
                  <a:t>？</a:t>
                </a:r>
                <a:endParaRPr lang="en-US" altLang="zh-CN" sz="2000" dirty="0">
                  <a:latin typeface="Times New Roman" panose="02020603050405020304" pitchFamily="18" charset="0"/>
                  <a:cs typeface="Times New Roman" panose="02020603050405020304" pitchFamily="18" charset="0"/>
                  <a:sym typeface="Symbol" panose="05050102010706020507"/>
                </a:endParaRPr>
              </a:p>
              <a:p>
                <a:pPr>
                  <a:lnSpc>
                    <a:spcPct val="150000"/>
                  </a:lnSpc>
                </a:pPr>
                <a:r>
                  <a:rPr lang="zh-CN" altLang="en-US" sz="2000" dirty="0">
                    <a:latin typeface="微软雅黑" panose="020B0503020204020204" pitchFamily="34" charset="-122"/>
                    <a:ea typeface="微软雅黑" panose="020B0503020204020204" pitchFamily="34" charset="-122"/>
                    <a:cs typeface="Calibri" panose="020F0502020204030204"/>
                    <a:sym typeface="Symbol" panose="05050102010706020507"/>
                  </a:rPr>
                  <a:t>简写为</a:t>
                </a:r>
                <a:r>
                  <a:rPr lang="zh-CN" altLang="en-US" sz="2000" dirty="0">
                    <a:latin typeface="微软雅黑" panose="020B0503020204020204" pitchFamily="34" charset="-122"/>
                    <a:ea typeface="微软雅黑" panose="020B0503020204020204" pitchFamily="34" charset="-122"/>
                    <a:sym typeface="Symbol" panose="05050102010706020507"/>
                  </a:rPr>
                  <a:t>：</a:t>
                </a:r>
                <a14:m>
                  <m:oMath xmlns:m="http://schemas.openxmlformats.org/officeDocument/2006/math">
                    <m:r>
                      <a:rPr lang="en-US" altLang="zh-CN" sz="2000" i="1">
                        <a:latin typeface="Cambria Math" panose="02040503050406030204" pitchFamily="18" charset="0"/>
                        <a:sym typeface="Symbol" panose="05050102010706020507"/>
                      </a:rPr>
                      <m:t>𝑃</m:t>
                    </m:r>
                    <m:d>
                      <m:dPr>
                        <m:ctrlPr>
                          <a:rPr lang="en-US" altLang="zh-CN" sz="2000" i="1">
                            <a:latin typeface="Cambria Math" panose="02040503050406030204" pitchFamily="18" charset="0"/>
                            <a:sym typeface="Symbol" panose="05050102010706020507"/>
                          </a:rPr>
                        </m:ctrlPr>
                      </m:dPr>
                      <m:e>
                        <m:r>
                          <a:rPr lang="en-US" altLang="zh-CN" sz="2000" i="1">
                            <a:latin typeface="Cambria Math" panose="02040503050406030204" pitchFamily="18" charset="0"/>
                            <a:sym typeface="Symbol" panose="05050102010706020507"/>
                          </a:rPr>
                          <m:t>𝐵</m:t>
                        </m:r>
                      </m:e>
                      <m:e>
                        <m:r>
                          <a:rPr lang="en-US" altLang="zh-CN" sz="2000" i="1">
                            <a:latin typeface="Cambria Math" panose="02040503050406030204" pitchFamily="18" charset="0"/>
                            <a:sym typeface="Symbol" panose="05050102010706020507"/>
                          </a:rPr>
                          <m:t>𝑗</m:t>
                        </m:r>
                        <m:r>
                          <a:rPr lang="en-US" altLang="zh-CN" sz="2000" i="1">
                            <a:latin typeface="Cambria Math" panose="02040503050406030204" pitchFamily="18" charset="0"/>
                            <a:sym typeface="Symbol" panose="05050102010706020507"/>
                          </a:rPr>
                          <m:t>,</m:t>
                        </m:r>
                        <m:r>
                          <a:rPr lang="en-US" altLang="zh-CN" sz="2000" i="1">
                            <a:latin typeface="Cambria Math" panose="02040503050406030204" pitchFamily="18" charset="0"/>
                            <a:sym typeface="Symbol" panose="05050102010706020507"/>
                          </a:rPr>
                          <m:t>𝑚</m:t>
                        </m:r>
                      </m:e>
                    </m:d>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a:endParaRPr>
              </a:p>
              <a:p>
                <a:pPr marL="0" indent="0">
                  <a:lnSpc>
                    <a:spcPct val="150000"/>
                  </a:lnSpc>
                  <a:buNone/>
                </a:pPr>
                <a:endParaRPr lang="en-US" altLang="zh-CN" sz="2400" dirty="0">
                  <a:latin typeface="Cambria Math" panose="02040503050406030204" pitchFamily="18" charset="0"/>
                  <a:sym typeface="Symbol" panose="05050102010706020507"/>
                </a:endParaRPr>
              </a:p>
              <a:p>
                <a:pPr>
                  <a:lnSpc>
                    <a:spcPct val="150000"/>
                  </a:lnSpc>
                </a:pPr>
                <a:endParaRPr lang="en-US" altLang="zh-CN" sz="2400" dirty="0">
                  <a:latin typeface="Cambria Math" panose="02040503050406030204" pitchFamily="18" charset="0"/>
                  <a:sym typeface="Symbol" panose="05050102010706020507"/>
                </a:endParaRPr>
              </a:p>
              <a:p>
                <a:pPr>
                  <a:lnSpc>
                    <a:spcPct val="150000"/>
                  </a:lnSpc>
                </a:pPr>
                <a:endParaRPr lang="en-US" sz="2200" dirty="0">
                  <a:latin typeface="Calibri" panose="020F0502020204030204"/>
                  <a:cs typeface="Calibri" panose="020F0502020204030204"/>
                </a:endParaRPr>
              </a:p>
              <a:p>
                <a:endParaRPr lang="en-US" sz="2400" b="1" dirty="0">
                  <a:latin typeface="Calibri" panose="020F0502020204030204"/>
                  <a:ea typeface="MS PGothic" panose="020B0600070205080204" charset="-128"/>
                  <a:cs typeface="Calibri" panose="020F0502020204030204"/>
                </a:endParaRPr>
              </a:p>
            </p:txBody>
          </p:sp>
        </mc:Choice>
        <mc:Fallback>
          <p:sp>
            <p:nvSpPr>
              <p:cNvPr id="20482" name="Rectangle 3"/>
              <p:cNvSpPr>
                <a:spLocks noRot="1" noChangeAspect="1" noMove="1" noResize="1" noEditPoints="1" noAdjustHandles="1" noChangeArrowheads="1" noChangeShapeType="1" noTextEdit="1"/>
              </p:cNvSpPr>
              <p:nvPr>
                <p:ph idx="1"/>
              </p:nvPr>
            </p:nvSpPr>
            <p:spPr>
              <a:xfrm>
                <a:off x="741145" y="1181406"/>
                <a:ext cx="8055374" cy="5638800"/>
              </a:xfrm>
              <a:blipFill rotWithShape="1">
                <a:blip r:embed="rId1"/>
                <a:stretch>
                  <a:fillRect l="-1" t="-5" r="6" b="-24747"/>
                </a:stretch>
              </a:blipFill>
            </p:spPr>
            <p:txBody>
              <a:bodyPr/>
              <a:lstStyle/>
              <a:p>
                <a:r>
                  <a:rPr lang="zh-CN" altLang="en-US">
                    <a:noFill/>
                  </a:rPr>
                  <a:t> </a:t>
                </a:r>
              </a:p>
            </p:txBody>
          </p:sp>
        </mc:Fallback>
      </mc:AlternateContent>
      <p:sp>
        <p:nvSpPr>
          <p:cNvPr id="19" name="Oval 4"/>
          <p:cNvSpPr>
            <a:spLocks noChangeArrowheads="1"/>
          </p:cNvSpPr>
          <p:nvPr/>
        </p:nvSpPr>
        <p:spPr bwMode="auto">
          <a:xfrm>
            <a:off x="8271713" y="2126939"/>
            <a:ext cx="762000" cy="762000"/>
          </a:xfrm>
          <a:prstGeom prst="ellipse">
            <a:avLst/>
          </a:prstGeom>
          <a:solidFill>
            <a:schemeClr val="bg1"/>
          </a:solidFill>
          <a:ln w="28575">
            <a:solidFill>
              <a:schemeClr val="tx1"/>
            </a:solidFill>
            <a:round/>
          </a:ln>
        </p:spPr>
        <p:txBody>
          <a:bodyPr wrap="none" anchor="ctr"/>
          <a:lstStyle/>
          <a:p>
            <a:pPr algn="ctr"/>
            <a:r>
              <a:rPr lang="en-US" sz="2800" i="1" dirty="0">
                <a:latin typeface="Calibri" panose="020F0502020204030204"/>
                <a:cs typeface="Calibri" panose="020F0502020204030204"/>
              </a:rPr>
              <a:t>B</a:t>
            </a:r>
            <a:endParaRPr lang="en-US" sz="2800" baseline="-25000" dirty="0">
              <a:latin typeface="Calibri" panose="020F0502020204030204"/>
              <a:cs typeface="Calibri" panose="020F0502020204030204"/>
            </a:endParaRPr>
          </a:p>
        </p:txBody>
      </p:sp>
      <p:sp>
        <p:nvSpPr>
          <p:cNvPr id="20" name="Oval 4"/>
          <p:cNvSpPr>
            <a:spLocks noChangeArrowheads="1"/>
          </p:cNvSpPr>
          <p:nvPr/>
        </p:nvSpPr>
        <p:spPr bwMode="auto">
          <a:xfrm>
            <a:off x="10379845" y="2126939"/>
            <a:ext cx="762000" cy="762000"/>
          </a:xfrm>
          <a:prstGeom prst="ellipse">
            <a:avLst/>
          </a:prstGeom>
          <a:solidFill>
            <a:schemeClr val="bg1"/>
          </a:solidFill>
          <a:ln w="28575">
            <a:solidFill>
              <a:schemeClr val="tx1"/>
            </a:solidFill>
            <a:round/>
          </a:ln>
        </p:spPr>
        <p:txBody>
          <a:bodyPr wrap="none" anchor="ctr"/>
          <a:lstStyle/>
          <a:p>
            <a:pPr algn="ctr"/>
            <a:r>
              <a:rPr lang="en-US" sz="2800" i="1" dirty="0">
                <a:latin typeface="Calibri" panose="020F0502020204030204"/>
                <a:cs typeface="Calibri" panose="020F0502020204030204"/>
              </a:rPr>
              <a:t>E</a:t>
            </a:r>
            <a:endParaRPr lang="en-US" sz="2800" baseline="-25000" dirty="0">
              <a:latin typeface="Calibri" panose="020F0502020204030204"/>
              <a:cs typeface="Calibri" panose="020F0502020204030204"/>
            </a:endParaRPr>
          </a:p>
        </p:txBody>
      </p:sp>
      <p:sp>
        <p:nvSpPr>
          <p:cNvPr id="21" name="Oval 4"/>
          <p:cNvSpPr>
            <a:spLocks noChangeArrowheads="1"/>
          </p:cNvSpPr>
          <p:nvPr/>
        </p:nvSpPr>
        <p:spPr bwMode="auto">
          <a:xfrm>
            <a:off x="9369192" y="3238806"/>
            <a:ext cx="762000" cy="762000"/>
          </a:xfrm>
          <a:prstGeom prst="ellipse">
            <a:avLst/>
          </a:prstGeom>
          <a:solidFill>
            <a:schemeClr val="bg1"/>
          </a:solidFill>
          <a:ln w="28575">
            <a:solidFill>
              <a:schemeClr val="tx1"/>
            </a:solidFill>
            <a:round/>
          </a:ln>
        </p:spPr>
        <p:txBody>
          <a:bodyPr wrap="none" anchor="ctr"/>
          <a:lstStyle/>
          <a:p>
            <a:pPr algn="ctr"/>
            <a:r>
              <a:rPr lang="en-US" sz="2800" i="1" dirty="0">
                <a:latin typeface="Calibri" panose="020F0502020204030204"/>
                <a:cs typeface="Calibri" panose="020F0502020204030204"/>
              </a:rPr>
              <a:t>A</a:t>
            </a:r>
            <a:endParaRPr lang="en-US" sz="2800" baseline="-25000" dirty="0">
              <a:latin typeface="Calibri" panose="020F0502020204030204"/>
              <a:cs typeface="Calibri" panose="020F0502020204030204"/>
            </a:endParaRPr>
          </a:p>
        </p:txBody>
      </p:sp>
      <p:sp>
        <p:nvSpPr>
          <p:cNvPr id="22" name="Oval 4"/>
          <p:cNvSpPr>
            <a:spLocks noChangeArrowheads="1"/>
          </p:cNvSpPr>
          <p:nvPr/>
        </p:nvSpPr>
        <p:spPr bwMode="auto">
          <a:xfrm>
            <a:off x="10494745" y="4493598"/>
            <a:ext cx="762000" cy="762000"/>
          </a:xfrm>
          <a:prstGeom prst="ellipse">
            <a:avLst/>
          </a:prstGeom>
          <a:solidFill>
            <a:schemeClr val="bg1"/>
          </a:solidFill>
          <a:ln w="28575">
            <a:solidFill>
              <a:schemeClr val="tx1"/>
            </a:solidFill>
            <a:round/>
          </a:ln>
        </p:spPr>
        <p:txBody>
          <a:bodyPr wrap="none" anchor="ctr"/>
          <a:lstStyle/>
          <a:p>
            <a:pPr algn="ctr"/>
            <a:r>
              <a:rPr lang="en-US" sz="2800" i="1" dirty="0">
                <a:latin typeface="Calibri" panose="020F0502020204030204"/>
                <a:cs typeface="Calibri" panose="020F0502020204030204"/>
              </a:rPr>
              <a:t>M</a:t>
            </a:r>
            <a:endParaRPr lang="en-US" sz="2800" baseline="-25000" dirty="0">
              <a:latin typeface="Calibri" panose="020F0502020204030204"/>
              <a:cs typeface="Calibri" panose="020F0502020204030204"/>
            </a:endParaRPr>
          </a:p>
        </p:txBody>
      </p:sp>
      <p:sp>
        <p:nvSpPr>
          <p:cNvPr id="23" name="Oval 4"/>
          <p:cNvSpPr>
            <a:spLocks noChangeArrowheads="1"/>
          </p:cNvSpPr>
          <p:nvPr/>
        </p:nvSpPr>
        <p:spPr bwMode="auto">
          <a:xfrm>
            <a:off x="8439452" y="4493598"/>
            <a:ext cx="762000" cy="762000"/>
          </a:xfrm>
          <a:prstGeom prst="ellipse">
            <a:avLst/>
          </a:prstGeom>
          <a:solidFill>
            <a:schemeClr val="bg1"/>
          </a:solidFill>
          <a:ln w="28575">
            <a:solidFill>
              <a:schemeClr val="tx1"/>
            </a:solidFill>
            <a:round/>
          </a:ln>
        </p:spPr>
        <p:txBody>
          <a:bodyPr wrap="none" anchor="ctr"/>
          <a:lstStyle/>
          <a:p>
            <a:pPr algn="ctr"/>
            <a:r>
              <a:rPr lang="en-US" sz="2800" i="1" dirty="0">
                <a:latin typeface="Calibri" panose="020F0502020204030204"/>
                <a:cs typeface="Calibri" panose="020F0502020204030204"/>
              </a:rPr>
              <a:t>J</a:t>
            </a:r>
            <a:endParaRPr lang="en-US" sz="2800" baseline="-25000" dirty="0">
              <a:latin typeface="Calibri" panose="020F0502020204030204"/>
              <a:cs typeface="Calibri" panose="020F0502020204030204"/>
            </a:endParaRPr>
          </a:p>
        </p:txBody>
      </p:sp>
      <p:cxnSp>
        <p:nvCxnSpPr>
          <p:cNvPr id="24" name="AutoShape 6"/>
          <p:cNvCxnSpPr>
            <a:cxnSpLocks noChangeShapeType="1"/>
            <a:endCxn id="22" idx="1"/>
          </p:cNvCxnSpPr>
          <p:nvPr/>
        </p:nvCxnSpPr>
        <p:spPr bwMode="auto">
          <a:xfrm>
            <a:off x="10022908" y="3895078"/>
            <a:ext cx="583429" cy="710112"/>
          </a:xfrm>
          <a:prstGeom prst="straightConnector1">
            <a:avLst/>
          </a:prstGeom>
          <a:noFill/>
          <a:ln w="28575">
            <a:solidFill>
              <a:schemeClr val="tx1"/>
            </a:solidFill>
            <a:round/>
            <a:tailEnd type="triangle" w="lg" len="lg"/>
          </a:ln>
          <a:extLst>
            <a:ext uri="{909E8E84-426E-40DD-AFC4-6F175D3DCCD1}">
              <a14:hiddenFill xmlns:a14="http://schemas.microsoft.com/office/drawing/2010/main">
                <a:noFill/>
              </a14:hiddenFill>
            </a:ext>
          </a:extLst>
        </p:spPr>
      </p:cxnSp>
      <p:cxnSp>
        <p:nvCxnSpPr>
          <p:cNvPr id="25" name="AutoShape 6"/>
          <p:cNvCxnSpPr>
            <a:cxnSpLocks noChangeShapeType="1"/>
            <a:endCxn id="23" idx="7"/>
          </p:cNvCxnSpPr>
          <p:nvPr/>
        </p:nvCxnSpPr>
        <p:spPr bwMode="auto">
          <a:xfrm flipH="1">
            <a:off x="9089860" y="3895078"/>
            <a:ext cx="394232" cy="710112"/>
          </a:xfrm>
          <a:prstGeom prst="straightConnector1">
            <a:avLst/>
          </a:prstGeom>
          <a:noFill/>
          <a:ln w="28575">
            <a:solidFill>
              <a:schemeClr val="tx1"/>
            </a:solidFill>
            <a:round/>
            <a:tailEnd type="triangle" w="lg" len="lg"/>
          </a:ln>
          <a:extLst>
            <a:ext uri="{909E8E84-426E-40DD-AFC4-6F175D3DCCD1}">
              <a14:hiddenFill xmlns:a14="http://schemas.microsoft.com/office/drawing/2010/main">
                <a:noFill/>
              </a14:hiddenFill>
            </a:ext>
          </a:extLst>
        </p:spPr>
      </p:cxnSp>
      <p:cxnSp>
        <p:nvCxnSpPr>
          <p:cNvPr id="26" name="AutoShape 6"/>
          <p:cNvCxnSpPr>
            <a:cxnSpLocks noChangeShapeType="1"/>
            <a:stCxn id="20" idx="3"/>
            <a:endCxn id="21" idx="7"/>
          </p:cNvCxnSpPr>
          <p:nvPr/>
        </p:nvCxnSpPr>
        <p:spPr bwMode="auto">
          <a:xfrm flipH="1">
            <a:off x="10019600" y="2777347"/>
            <a:ext cx="471837" cy="573051"/>
          </a:xfrm>
          <a:prstGeom prst="straightConnector1">
            <a:avLst/>
          </a:prstGeom>
          <a:noFill/>
          <a:ln w="28575">
            <a:solidFill>
              <a:schemeClr val="tx1"/>
            </a:solidFill>
            <a:round/>
            <a:tailEnd type="triangle" w="lg" len="lg"/>
          </a:ln>
          <a:extLst>
            <a:ext uri="{909E8E84-426E-40DD-AFC4-6F175D3DCCD1}">
              <a14:hiddenFill xmlns:a14="http://schemas.microsoft.com/office/drawing/2010/main">
                <a:noFill/>
              </a14:hiddenFill>
            </a:ext>
          </a:extLst>
        </p:spPr>
      </p:cxnSp>
      <p:cxnSp>
        <p:nvCxnSpPr>
          <p:cNvPr id="27" name="AutoShape 6"/>
          <p:cNvCxnSpPr>
            <a:cxnSpLocks noChangeShapeType="1"/>
            <a:stCxn id="19" idx="5"/>
            <a:endCxn id="21" idx="1"/>
          </p:cNvCxnSpPr>
          <p:nvPr/>
        </p:nvCxnSpPr>
        <p:spPr bwMode="auto">
          <a:xfrm>
            <a:off x="8922121" y="2777347"/>
            <a:ext cx="558663" cy="573051"/>
          </a:xfrm>
          <a:prstGeom prst="straightConnector1">
            <a:avLst/>
          </a:prstGeom>
          <a:noFill/>
          <a:ln w="28575">
            <a:solidFill>
              <a:schemeClr val="tx1"/>
            </a:solidFill>
            <a:round/>
            <a:tailEnd type="triangle" w="lg" len="lg"/>
          </a:ln>
          <a:extLst>
            <a:ext uri="{909E8E84-426E-40DD-AFC4-6F175D3DCCD1}">
              <a14:hiddenFill xmlns:a14="http://schemas.microsoft.com/office/drawing/2010/main">
                <a:noFill/>
              </a14:hiddenFill>
            </a:ext>
          </a:extLst>
        </p:spPr>
      </p:cxnSp>
      <p:sp>
        <p:nvSpPr>
          <p:cNvPr id="4"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000" dirty="0">
                <a:latin typeface="微软雅黑" panose="020B0503020204020204" pitchFamily="34" charset="-122"/>
                <a:ea typeface="微软雅黑" panose="020B0503020204020204" pitchFamily="34" charset="-122"/>
              </a:rPr>
              <a:t>直接求和联合概率分布中的变量，而不进行实际概率的显式计算</a:t>
            </a:r>
            <a:endParaRPr lang="zh-CN" altLang="en-US" sz="2000" dirty="0">
              <a:latin typeface="微软雅黑" panose="020B0503020204020204" pitchFamily="34" charset="-122"/>
              <a:ea typeface="微软雅黑" panose="020B0503020204020204" pitchFamily="34" charset="-122"/>
            </a:endParaRPr>
          </a:p>
          <a:p>
            <a:endParaRPr lang="zh-CN" altLang="en-US" sz="2400" dirty="0"/>
          </a:p>
        </p:txBody>
      </p:sp>
      <mc:AlternateContent xmlns:mc="http://schemas.openxmlformats.org/markup-compatibility/2006">
        <mc:Choice xmlns:a14="http://schemas.microsoft.com/office/drawing/2010/main" Requires="a14">
          <p:sp>
            <p:nvSpPr>
              <p:cNvPr id="5" name="Rectangle 9"/>
              <p:cNvSpPr/>
              <p:nvPr/>
            </p:nvSpPr>
            <p:spPr>
              <a:xfrm>
                <a:off x="4142751" y="2912560"/>
                <a:ext cx="3075265" cy="1947200"/>
              </a:xfrm>
              <a:prstGeom prst="rect">
                <a:avLst/>
              </a:prstGeom>
            </p:spPr>
            <p:txBody>
              <a:bodyPr wrap="none">
                <a:spAutoFit/>
              </a:bodyPr>
              <a:lstStyle/>
              <a:p>
                <a14:m>
                  <m:oMathPara xmlns:m="http://schemas.openxmlformats.org/officeDocument/2006/math">
                    <m:oMathParaPr>
                      <m:jc m:val="left"/>
                    </m:oMathParaPr>
                    <m:oMath xmlns:m="http://schemas.openxmlformats.org/officeDocument/2006/math">
                      <m:r>
                        <a:rPr lang="en-US" altLang="zh-CN" sz="2000" b="1" smtClean="0">
                          <a:solidFill>
                            <a:schemeClr val="accent2"/>
                          </a:solidFill>
                          <a:latin typeface="Cambria Math" panose="02040503050406030204" pitchFamily="18" charset="0"/>
                          <a:sym typeface="Symbol" panose="05050102010706020507"/>
                        </a:rPr>
                        <m:t>𝐏</m:t>
                      </m:r>
                      <m:d>
                        <m:dPr>
                          <m:ctrlPr>
                            <a:rPr lang="en-US" sz="2000" b="0" i="1" smtClean="0">
                              <a:solidFill>
                                <a:schemeClr val="accent2"/>
                              </a:solidFill>
                              <a:latin typeface="Cambria Math" panose="02040503050406030204" pitchFamily="18" charset="0"/>
                              <a:sym typeface="Symbol" panose="05050102010706020507"/>
                            </a:rPr>
                          </m:ctrlPr>
                        </m:dPr>
                        <m:e>
                          <m:r>
                            <a:rPr lang="en-US" sz="2000" b="0" i="1" smtClean="0">
                              <a:solidFill>
                                <a:schemeClr val="accent2"/>
                              </a:solidFill>
                              <a:latin typeface="Cambria Math" panose="02040503050406030204" pitchFamily="18" charset="0"/>
                              <a:sym typeface="Symbol" panose="05050102010706020507"/>
                            </a:rPr>
                            <m:t>𝐵</m:t>
                          </m:r>
                        </m:e>
                        <m:e>
                          <m:r>
                            <a:rPr lang="en-US" sz="2000" b="0" i="1" smtClean="0">
                              <a:solidFill>
                                <a:schemeClr val="accent2"/>
                              </a:solidFill>
                              <a:latin typeface="Cambria Math" panose="02040503050406030204" pitchFamily="18" charset="0"/>
                              <a:sym typeface="Symbol" panose="05050102010706020507"/>
                            </a:rPr>
                            <m:t>𝑗</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𝑚</m:t>
                          </m:r>
                        </m:e>
                      </m:d>
                    </m:oMath>
                  </m:oMathPara>
                </a14:m>
                <a:endParaRPr lang="en-US" sz="2000" dirty="0">
                  <a:solidFill>
                    <a:schemeClr val="accent2"/>
                  </a:solidFill>
                  <a:latin typeface="Times New Roman" panose="02020603050405020304" pitchFamily="18" charset="0"/>
                  <a:cs typeface="Times New Roman" panose="02020603050405020304" pitchFamily="18" charset="0"/>
                  <a:sym typeface="Symbol" panose="05050102010706020507"/>
                </a:endParaRPr>
              </a:p>
              <a:p>
                <a:r>
                  <a:rPr lang="en-US" sz="2000" dirty="0">
                    <a:solidFill>
                      <a:schemeClr val="accent2"/>
                    </a:solidFill>
                    <a:latin typeface="Times New Roman" panose="02020603050405020304" pitchFamily="18" charset="0"/>
                    <a:cs typeface="Times New Roman" panose="02020603050405020304" pitchFamily="18" charset="0"/>
                    <a:sym typeface="Symbol" panose="05050102010706020507"/>
                  </a:rPr>
                  <a:t>=</a:t>
                </a:r>
                <a14:m>
                  <m:oMath xmlns:m="http://schemas.openxmlformats.org/officeDocument/2006/math">
                    <m:r>
                      <a:rPr lang="en-US" altLang="zh-CN" sz="2000" i="1">
                        <a:solidFill>
                          <a:schemeClr val="accent2"/>
                        </a:solidFill>
                        <a:latin typeface="Cambria Math" panose="02040503050406030204" pitchFamily="18" charset="0"/>
                        <a:sym typeface="Symbol" panose="05050102010706020507"/>
                      </a:rPr>
                      <m:t>𝛼</m:t>
                    </m:r>
                    <m:r>
                      <a:rPr lang="en-US" altLang="zh-CN" sz="2000" b="0" i="1" smtClean="0">
                        <a:solidFill>
                          <a:schemeClr val="accent2"/>
                        </a:solidFill>
                        <a:latin typeface="Cambria Math" panose="02040503050406030204" pitchFamily="18" charset="0"/>
                        <a:sym typeface="Symbol" panose="05050102010706020507"/>
                      </a:rPr>
                      <m:t> </m:t>
                    </m:r>
                    <m:r>
                      <a:rPr lang="en-US" altLang="zh-CN" sz="2000" b="1">
                        <a:solidFill>
                          <a:schemeClr val="accent2"/>
                        </a:solidFill>
                        <a:latin typeface="Cambria Math" panose="02040503050406030204" pitchFamily="18" charset="0"/>
                        <a:sym typeface="Symbol" panose="05050102010706020507"/>
                      </a:rPr>
                      <m:t>𝐏</m:t>
                    </m:r>
                    <m:d>
                      <m:dPr>
                        <m:ctrlPr>
                          <a:rPr lang="en-US" altLang="zh-CN" sz="2000" i="1">
                            <a:solidFill>
                              <a:schemeClr val="accent2"/>
                            </a:solidFill>
                            <a:latin typeface="Cambria Math" panose="02040503050406030204" pitchFamily="18" charset="0"/>
                            <a:sym typeface="Symbol" panose="05050102010706020507"/>
                          </a:rPr>
                        </m:ctrlPr>
                      </m:dPr>
                      <m:e>
                        <m:r>
                          <a:rPr lang="en-US" altLang="zh-CN" sz="2000" i="1">
                            <a:solidFill>
                              <a:schemeClr val="accent2"/>
                            </a:solidFill>
                            <a:latin typeface="Cambria Math" panose="02040503050406030204" pitchFamily="18" charset="0"/>
                            <a:sym typeface="Symbol" panose="05050102010706020507"/>
                          </a:rPr>
                          <m:t>𝐵</m:t>
                        </m:r>
                        <m:r>
                          <a:rPr lang="en-US" altLang="zh-CN" sz="2000" i="1">
                            <a:solidFill>
                              <a:schemeClr val="accent2"/>
                            </a:solidFill>
                            <a:latin typeface="Cambria Math" panose="02040503050406030204" pitchFamily="18" charset="0"/>
                            <a:sym typeface="Symbol" panose="05050102010706020507"/>
                          </a:rPr>
                          <m:t>, </m:t>
                        </m:r>
                        <m:r>
                          <a:rPr lang="en-US" altLang="zh-CN" sz="2000" i="1">
                            <a:solidFill>
                              <a:schemeClr val="accent2"/>
                            </a:solidFill>
                            <a:latin typeface="Cambria Math" panose="02040503050406030204" pitchFamily="18" charset="0"/>
                            <a:sym typeface="Symbol" panose="05050102010706020507"/>
                          </a:rPr>
                          <m:t>𝑗</m:t>
                        </m:r>
                        <m:r>
                          <a:rPr lang="en-US" altLang="zh-CN" sz="2000" i="1">
                            <a:solidFill>
                              <a:schemeClr val="accent2"/>
                            </a:solidFill>
                            <a:latin typeface="Cambria Math" panose="02040503050406030204" pitchFamily="18" charset="0"/>
                            <a:sym typeface="Symbol" panose="05050102010706020507"/>
                          </a:rPr>
                          <m:t>,</m:t>
                        </m:r>
                        <m:r>
                          <a:rPr lang="en-US" altLang="zh-CN" sz="2000" i="1">
                            <a:solidFill>
                              <a:schemeClr val="accent2"/>
                            </a:solidFill>
                            <a:latin typeface="Cambria Math" panose="02040503050406030204" pitchFamily="18" charset="0"/>
                            <a:sym typeface="Symbol" panose="05050102010706020507"/>
                          </a:rPr>
                          <m:t>𝑚</m:t>
                        </m:r>
                      </m:e>
                    </m:d>
                  </m:oMath>
                </a14:m>
                <a:endParaRPr lang="en-US" altLang="zh-CN" sz="2000" i="1" dirty="0">
                  <a:solidFill>
                    <a:schemeClr val="accent2"/>
                  </a:solidFill>
                  <a:latin typeface="Times New Roman" panose="02020603050405020304" pitchFamily="18" charset="0"/>
                  <a:cs typeface="Times New Roman" panose="02020603050405020304" pitchFamily="18" charset="0"/>
                  <a:sym typeface="Symbol" panose="05050102010706020507"/>
                </a:endParaRPr>
              </a:p>
              <a:p>
                <a14:m>
                  <m:oMathPara xmlns:m="http://schemas.openxmlformats.org/officeDocument/2006/math">
                    <m:oMathParaPr>
                      <m:jc m:val="left"/>
                    </m:oMathParaPr>
                    <m:oMath xmlns:m="http://schemas.openxmlformats.org/officeDocument/2006/math">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𝛼</m:t>
                      </m:r>
                      <m:nary>
                        <m:naryPr>
                          <m:chr m:val="∑"/>
                          <m:supHide m:val="on"/>
                          <m:ctrlPr>
                            <a:rPr lang="en-US" sz="2000" i="1" smtClean="0">
                              <a:solidFill>
                                <a:schemeClr val="accent2"/>
                              </a:solidFill>
                              <a:latin typeface="Cambria Math" panose="02040503050406030204" pitchFamily="18" charset="0"/>
                              <a:sym typeface="Symbol" panose="05050102010706020507"/>
                            </a:rPr>
                          </m:ctrlPr>
                        </m:naryPr>
                        <m:sub>
                          <m:r>
                            <a:rPr lang="en-US" sz="2000" i="1">
                              <a:solidFill>
                                <a:schemeClr val="accent2"/>
                              </a:solidFill>
                              <a:latin typeface="Cambria Math" panose="02040503050406030204" pitchFamily="18" charset="0"/>
                              <a:sym typeface="Symbol" panose="05050102010706020507"/>
                            </a:rPr>
                            <m:t>𝑒</m:t>
                          </m:r>
                        </m:sub>
                        <m:sup/>
                        <m:e>
                          <m:nary>
                            <m:naryPr>
                              <m:chr m:val="∑"/>
                              <m:supHide m:val="on"/>
                              <m:ctrlPr>
                                <a:rPr lang="en-US" sz="2000" i="1">
                                  <a:solidFill>
                                    <a:schemeClr val="accent2"/>
                                  </a:solidFill>
                                  <a:latin typeface="Cambria Math" panose="02040503050406030204" pitchFamily="18" charset="0"/>
                                  <a:sym typeface="Symbol" panose="05050102010706020507"/>
                                </a:rPr>
                              </m:ctrlPr>
                            </m:naryPr>
                            <m:sub>
                              <m:r>
                                <a:rPr lang="en-US" sz="2000" i="1">
                                  <a:solidFill>
                                    <a:schemeClr val="accent2"/>
                                  </a:solidFill>
                                  <a:latin typeface="Cambria Math" panose="02040503050406030204" pitchFamily="18" charset="0"/>
                                  <a:sym typeface="Symbol" panose="05050102010706020507"/>
                                </a:rPr>
                                <m:t>𝑎</m:t>
                              </m:r>
                            </m:sub>
                            <m:sup/>
                            <m:e>
                              <m:r>
                                <a:rPr lang="en-US" altLang="zh-CN" sz="2000" b="1">
                                  <a:solidFill>
                                    <a:schemeClr val="accent2"/>
                                  </a:solidFill>
                                  <a:latin typeface="Cambria Math" panose="02040503050406030204" pitchFamily="18" charset="0"/>
                                  <a:sym typeface="Symbol" panose="05050102010706020507"/>
                                </a:rPr>
                                <m:t>𝐏</m:t>
                              </m:r>
                              <m:d>
                                <m:dPr>
                                  <m:ctrlPr>
                                    <a:rPr lang="en-US" sz="2000" i="1">
                                      <a:solidFill>
                                        <a:schemeClr val="accent2"/>
                                      </a:solidFill>
                                      <a:latin typeface="Cambria Math" panose="02040503050406030204" pitchFamily="18" charset="0"/>
                                      <a:sym typeface="Symbol" panose="05050102010706020507"/>
                                    </a:rPr>
                                  </m:ctrlPr>
                                </m:dPr>
                                <m:e>
                                  <m:r>
                                    <a:rPr lang="en-US" sz="2000" i="1">
                                      <a:solidFill>
                                        <a:schemeClr val="accent2"/>
                                      </a:solidFill>
                                      <a:latin typeface="Cambria Math" panose="02040503050406030204" pitchFamily="18" charset="0"/>
                                      <a:sym typeface="Symbol" panose="05050102010706020507"/>
                                    </a:rPr>
                                    <m:t>𝐵</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𝑒</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𝑎</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𝑗</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𝑚</m:t>
                                  </m:r>
                                </m:e>
                              </m:d>
                              <m:r>
                                <a:rPr lang="en-US" sz="2000" i="1">
                                  <a:solidFill>
                                    <a:schemeClr val="accent2"/>
                                  </a:solidFill>
                                  <a:latin typeface="Cambria Math" panose="02040503050406030204" pitchFamily="18" charset="0"/>
                                  <a:sym typeface="Symbol" panose="05050102010706020507"/>
                                </a:rPr>
                                <m:t> </m:t>
                              </m:r>
                            </m:e>
                          </m:nary>
                        </m:e>
                      </m:nary>
                    </m:oMath>
                  </m:oMathPara>
                </a14:m>
                <a:endParaRPr lang="en-US" sz="2000" dirty="0">
                  <a:solidFill>
                    <a:schemeClr val="accent2"/>
                  </a:solidFill>
                  <a:latin typeface="Times New Roman" panose="02020603050405020304" pitchFamily="18" charset="0"/>
                  <a:cs typeface="Times New Roman" panose="02020603050405020304" pitchFamily="18" charset="0"/>
                </a:endParaRPr>
              </a:p>
              <a:p>
                <a:endParaRPr lang="en-US" sz="3200" dirty="0">
                  <a:solidFill>
                    <a:schemeClr val="accent2"/>
                  </a:solidFill>
                </a:endParaRPr>
              </a:p>
            </p:txBody>
          </p:sp>
        </mc:Choice>
        <mc:Fallback>
          <p:sp>
            <p:nvSpPr>
              <p:cNvPr id="5" name="Rectangle 9"/>
              <p:cNvSpPr>
                <a:spLocks noRot="1" noChangeAspect="1" noMove="1" noResize="1" noEditPoints="1" noAdjustHandles="1" noChangeArrowheads="1" noChangeShapeType="1" noTextEdit="1"/>
              </p:cNvSpPr>
              <p:nvPr/>
            </p:nvSpPr>
            <p:spPr>
              <a:xfrm>
                <a:off x="4142751" y="2912560"/>
                <a:ext cx="3075265" cy="1947200"/>
              </a:xfrm>
              <a:prstGeom prst="rect">
                <a:avLst/>
              </a:prstGeom>
              <a:blipFill rotWithShape="1">
                <a:blip r:embed="rId1"/>
                <a:stretch>
                  <a:fillRect t="-23" r="20" b="5"/>
                </a:stretch>
              </a:blipFill>
            </p:spPr>
            <p:txBody>
              <a:bodyPr/>
              <a:lstStyle/>
              <a:p>
                <a:r>
                  <a:rPr lang="zh-CN" altLang="en-US">
                    <a:noFill/>
                  </a:rPr>
                  <a:t> </a:t>
                </a:r>
              </a:p>
            </p:txBody>
          </p:sp>
        </mc:Fallback>
      </mc:AlternateContent>
      <p:sp>
        <p:nvSpPr>
          <p:cNvPr id="6" name="矩形 5"/>
          <p:cNvSpPr/>
          <p:nvPr/>
        </p:nvSpPr>
        <p:spPr>
          <a:xfrm>
            <a:off x="937771" y="2567273"/>
            <a:ext cx="1980029" cy="345287"/>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lnSpc>
                <a:spcPct val="80000"/>
              </a:lnSpc>
            </a:pPr>
            <a:r>
              <a:rPr lang="zh-CN" altLang="en-US" sz="2000" dirty="0">
                <a:solidFill>
                  <a:schemeClr val="accent1">
                    <a:lumMod val="75000"/>
                  </a:schemeClr>
                </a:solidFill>
                <a:latin typeface="Calibri" panose="020F0502020204030204"/>
                <a:cs typeface="Calibri" panose="020F0502020204030204"/>
              </a:rPr>
              <a:t>根据归一化方法</a:t>
            </a:r>
            <a:endParaRPr lang="en-US" altLang="zh-CN" sz="2000" dirty="0">
              <a:solidFill>
                <a:schemeClr val="accent1">
                  <a:lumMod val="75000"/>
                </a:schemeClr>
              </a:solidFill>
              <a:latin typeface="Calibri" panose="020F0502020204030204"/>
              <a:cs typeface="Calibri" panose="020F0502020204030204"/>
            </a:endParaRPr>
          </a:p>
        </p:txBody>
      </p:sp>
      <p:sp>
        <p:nvSpPr>
          <p:cNvPr id="8"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000" dirty="0">
                <a:latin typeface="微软雅黑" panose="020B0503020204020204" pitchFamily="34" charset="-122"/>
                <a:ea typeface="微软雅黑" panose="020B0503020204020204" pitchFamily="34" charset="-122"/>
              </a:rPr>
              <a:t>直接求和联合概率分布中的变量，而不进行实际概率的显式计算</a:t>
            </a:r>
            <a:endParaRPr lang="zh-CN" altLang="en-US" sz="2000" dirty="0">
              <a:latin typeface="微软雅黑" panose="020B0503020204020204" pitchFamily="34" charset="-122"/>
              <a:ea typeface="微软雅黑" panose="020B0503020204020204" pitchFamily="34" charset="-122"/>
            </a:endParaRPr>
          </a:p>
          <a:p>
            <a:pPr marL="0" indent="0">
              <a:buNone/>
            </a:pPr>
            <a:endParaRPr lang="zh-CN" altLang="en-US" sz="2400" dirty="0"/>
          </a:p>
        </p:txBody>
      </p:sp>
      <mc:AlternateContent xmlns:mc="http://schemas.openxmlformats.org/markup-compatibility/2006">
        <mc:Choice xmlns:a14="http://schemas.microsoft.com/office/drawing/2010/main" Requires="a14">
          <p:sp>
            <p:nvSpPr>
              <p:cNvPr id="5" name="Rectangle 9"/>
              <p:cNvSpPr/>
              <p:nvPr/>
            </p:nvSpPr>
            <p:spPr>
              <a:xfrm>
                <a:off x="3907377" y="2392025"/>
                <a:ext cx="3075265" cy="1947200"/>
              </a:xfrm>
              <a:prstGeom prst="rect">
                <a:avLst/>
              </a:prstGeom>
            </p:spPr>
            <p:txBody>
              <a:bodyPr wrap="none">
                <a:spAutoFit/>
              </a:bodyPr>
              <a:lstStyle/>
              <a:p>
                <a14:m>
                  <m:oMathPara xmlns:m="http://schemas.openxmlformats.org/officeDocument/2006/math">
                    <m:oMathParaPr>
                      <m:jc m:val="left"/>
                    </m:oMathParaPr>
                    <m:oMath xmlns:m="http://schemas.openxmlformats.org/officeDocument/2006/math">
                      <m:r>
                        <a:rPr lang="en-US" sz="2000" b="1" i="0" smtClean="0">
                          <a:solidFill>
                            <a:schemeClr val="accent2"/>
                          </a:solidFill>
                          <a:latin typeface="Cambria Math" panose="02040503050406030204" pitchFamily="18" charset="0"/>
                          <a:sym typeface="Symbol" panose="05050102010706020507"/>
                        </a:rPr>
                        <m:t>𝐏</m:t>
                      </m:r>
                      <m:d>
                        <m:dPr>
                          <m:ctrlPr>
                            <a:rPr lang="en-US" sz="2000" b="0" i="1" smtClean="0">
                              <a:solidFill>
                                <a:schemeClr val="accent2"/>
                              </a:solidFill>
                              <a:latin typeface="Cambria Math" panose="02040503050406030204" pitchFamily="18" charset="0"/>
                              <a:sym typeface="Symbol" panose="05050102010706020507"/>
                            </a:rPr>
                          </m:ctrlPr>
                        </m:dPr>
                        <m:e>
                          <m:r>
                            <a:rPr lang="en-US" sz="2000" b="0" i="1" smtClean="0">
                              <a:solidFill>
                                <a:schemeClr val="accent2"/>
                              </a:solidFill>
                              <a:latin typeface="Cambria Math" panose="02040503050406030204" pitchFamily="18" charset="0"/>
                              <a:sym typeface="Symbol" panose="05050102010706020507"/>
                            </a:rPr>
                            <m:t>𝐵</m:t>
                          </m:r>
                        </m:e>
                        <m:e>
                          <m:r>
                            <a:rPr lang="en-US" sz="2000" b="0" i="1" smtClean="0">
                              <a:solidFill>
                                <a:schemeClr val="accent2"/>
                              </a:solidFill>
                              <a:latin typeface="Cambria Math" panose="02040503050406030204" pitchFamily="18" charset="0"/>
                              <a:sym typeface="Symbol" panose="05050102010706020507"/>
                            </a:rPr>
                            <m:t>𝑗</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𝑚</m:t>
                          </m:r>
                        </m:e>
                      </m:d>
                    </m:oMath>
                  </m:oMathPara>
                </a14:m>
                <a:endParaRPr lang="en-US" sz="2000" dirty="0">
                  <a:solidFill>
                    <a:schemeClr val="accent2"/>
                  </a:solidFill>
                  <a:latin typeface="Times New Roman" panose="02020603050405020304" pitchFamily="18" charset="0"/>
                  <a:cs typeface="Times New Roman" panose="02020603050405020304" pitchFamily="18" charset="0"/>
                  <a:sym typeface="Symbol" panose="05050102010706020507"/>
                </a:endParaRPr>
              </a:p>
              <a:p>
                <a:r>
                  <a:rPr lang="en-US" sz="2000" dirty="0">
                    <a:solidFill>
                      <a:schemeClr val="accent2"/>
                    </a:solidFill>
                    <a:latin typeface="Times New Roman" panose="02020603050405020304" pitchFamily="18" charset="0"/>
                    <a:cs typeface="Times New Roman" panose="02020603050405020304" pitchFamily="18" charset="0"/>
                    <a:sym typeface="Symbol" panose="05050102010706020507"/>
                  </a:rPr>
                  <a:t>=</a:t>
                </a:r>
                <a14:m>
                  <m:oMath xmlns:m="http://schemas.openxmlformats.org/officeDocument/2006/math">
                    <m:r>
                      <a:rPr lang="en-US" altLang="zh-CN" sz="2000" i="1">
                        <a:solidFill>
                          <a:schemeClr val="accent2"/>
                        </a:solidFill>
                        <a:latin typeface="Cambria Math" panose="02040503050406030204" pitchFamily="18" charset="0"/>
                        <a:sym typeface="Symbol" panose="05050102010706020507"/>
                      </a:rPr>
                      <m:t>𝛼</m:t>
                    </m:r>
                    <m:r>
                      <a:rPr lang="en-US" altLang="zh-CN" sz="2000" b="0" i="1" smtClean="0">
                        <a:solidFill>
                          <a:schemeClr val="accent2"/>
                        </a:solidFill>
                        <a:latin typeface="Cambria Math" panose="02040503050406030204" pitchFamily="18" charset="0"/>
                        <a:sym typeface="Symbol" panose="05050102010706020507"/>
                      </a:rPr>
                      <m:t> </m:t>
                    </m:r>
                    <m:r>
                      <a:rPr lang="en-US" altLang="zh-CN" sz="2000" b="1" i="0">
                        <a:solidFill>
                          <a:schemeClr val="accent2"/>
                        </a:solidFill>
                        <a:latin typeface="Cambria Math" panose="02040503050406030204" pitchFamily="18" charset="0"/>
                        <a:sym typeface="Symbol" panose="05050102010706020507"/>
                      </a:rPr>
                      <m:t>𝐏</m:t>
                    </m:r>
                    <m:d>
                      <m:dPr>
                        <m:ctrlPr>
                          <a:rPr lang="en-US" altLang="zh-CN" sz="2000" i="1">
                            <a:solidFill>
                              <a:schemeClr val="accent2"/>
                            </a:solidFill>
                            <a:latin typeface="Cambria Math" panose="02040503050406030204" pitchFamily="18" charset="0"/>
                            <a:sym typeface="Symbol" panose="05050102010706020507"/>
                          </a:rPr>
                        </m:ctrlPr>
                      </m:dPr>
                      <m:e>
                        <m:r>
                          <a:rPr lang="en-US" altLang="zh-CN" sz="2000" i="1">
                            <a:solidFill>
                              <a:schemeClr val="accent2"/>
                            </a:solidFill>
                            <a:latin typeface="Cambria Math" panose="02040503050406030204" pitchFamily="18" charset="0"/>
                            <a:sym typeface="Symbol" panose="05050102010706020507"/>
                          </a:rPr>
                          <m:t>𝐵</m:t>
                        </m:r>
                        <m:r>
                          <a:rPr lang="en-US" altLang="zh-CN" sz="2000" i="1">
                            <a:solidFill>
                              <a:schemeClr val="accent2"/>
                            </a:solidFill>
                            <a:latin typeface="Cambria Math" panose="02040503050406030204" pitchFamily="18" charset="0"/>
                            <a:sym typeface="Symbol" panose="05050102010706020507"/>
                          </a:rPr>
                          <m:t>, </m:t>
                        </m:r>
                        <m:r>
                          <a:rPr lang="en-US" altLang="zh-CN" sz="2000" i="1">
                            <a:solidFill>
                              <a:schemeClr val="accent2"/>
                            </a:solidFill>
                            <a:latin typeface="Cambria Math" panose="02040503050406030204" pitchFamily="18" charset="0"/>
                            <a:sym typeface="Symbol" panose="05050102010706020507"/>
                          </a:rPr>
                          <m:t>𝑗</m:t>
                        </m:r>
                        <m:r>
                          <a:rPr lang="en-US" altLang="zh-CN" sz="2000" i="1">
                            <a:solidFill>
                              <a:schemeClr val="accent2"/>
                            </a:solidFill>
                            <a:latin typeface="Cambria Math" panose="02040503050406030204" pitchFamily="18" charset="0"/>
                            <a:sym typeface="Symbol" panose="05050102010706020507"/>
                          </a:rPr>
                          <m:t>,</m:t>
                        </m:r>
                        <m:r>
                          <a:rPr lang="en-US" altLang="zh-CN" sz="2000" i="1">
                            <a:solidFill>
                              <a:schemeClr val="accent2"/>
                            </a:solidFill>
                            <a:latin typeface="Cambria Math" panose="02040503050406030204" pitchFamily="18" charset="0"/>
                            <a:sym typeface="Symbol" panose="05050102010706020507"/>
                          </a:rPr>
                          <m:t>𝑚</m:t>
                        </m:r>
                      </m:e>
                    </m:d>
                  </m:oMath>
                </a14:m>
                <a:endParaRPr lang="en-US" altLang="zh-CN" sz="2000" i="1" dirty="0">
                  <a:solidFill>
                    <a:schemeClr val="accent2"/>
                  </a:solidFill>
                  <a:latin typeface="Times New Roman" panose="02020603050405020304" pitchFamily="18" charset="0"/>
                  <a:cs typeface="Times New Roman" panose="02020603050405020304" pitchFamily="18" charset="0"/>
                  <a:sym typeface="Symbol" panose="05050102010706020507"/>
                </a:endParaRPr>
              </a:p>
              <a:p>
                <a14:m>
                  <m:oMathPara xmlns:m="http://schemas.openxmlformats.org/officeDocument/2006/math">
                    <m:oMathParaPr>
                      <m:jc m:val="left"/>
                    </m:oMathParaPr>
                    <m:oMath xmlns:m="http://schemas.openxmlformats.org/officeDocument/2006/math">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𝛼</m:t>
                      </m:r>
                      <m:nary>
                        <m:naryPr>
                          <m:chr m:val="∑"/>
                          <m:supHide m:val="on"/>
                          <m:ctrlPr>
                            <a:rPr lang="en-US" sz="2000" i="1" smtClean="0">
                              <a:solidFill>
                                <a:schemeClr val="accent2"/>
                              </a:solidFill>
                              <a:latin typeface="Cambria Math" panose="02040503050406030204" pitchFamily="18" charset="0"/>
                              <a:sym typeface="Symbol" panose="05050102010706020507"/>
                            </a:rPr>
                          </m:ctrlPr>
                        </m:naryPr>
                        <m:sub>
                          <m:r>
                            <a:rPr lang="en-US" sz="2000" i="1">
                              <a:solidFill>
                                <a:schemeClr val="accent2"/>
                              </a:solidFill>
                              <a:latin typeface="Cambria Math" panose="02040503050406030204" pitchFamily="18" charset="0"/>
                              <a:sym typeface="Symbol" panose="05050102010706020507"/>
                            </a:rPr>
                            <m:t>𝑒</m:t>
                          </m:r>
                        </m:sub>
                        <m:sup/>
                        <m:e>
                          <m:nary>
                            <m:naryPr>
                              <m:chr m:val="∑"/>
                              <m:supHide m:val="on"/>
                              <m:ctrlPr>
                                <a:rPr lang="en-US" sz="2000" i="1">
                                  <a:solidFill>
                                    <a:schemeClr val="accent2"/>
                                  </a:solidFill>
                                  <a:latin typeface="Cambria Math" panose="02040503050406030204" pitchFamily="18" charset="0"/>
                                  <a:sym typeface="Symbol" panose="05050102010706020507"/>
                                </a:rPr>
                              </m:ctrlPr>
                            </m:naryPr>
                            <m:sub>
                              <m:r>
                                <a:rPr lang="en-US" sz="2000" i="1">
                                  <a:solidFill>
                                    <a:schemeClr val="accent2"/>
                                  </a:solidFill>
                                  <a:latin typeface="Cambria Math" panose="02040503050406030204" pitchFamily="18" charset="0"/>
                                  <a:sym typeface="Symbol" panose="05050102010706020507"/>
                                </a:rPr>
                                <m:t>𝑎</m:t>
                              </m:r>
                            </m:sub>
                            <m:sup/>
                            <m:e>
                              <m:r>
                                <a:rPr lang="en-US" altLang="zh-CN" sz="2000" b="1">
                                  <a:solidFill>
                                    <a:schemeClr val="accent2"/>
                                  </a:solidFill>
                                  <a:latin typeface="Cambria Math" panose="02040503050406030204" pitchFamily="18" charset="0"/>
                                  <a:sym typeface="Symbol" panose="05050102010706020507"/>
                                </a:rPr>
                                <m:t>𝐏</m:t>
                              </m:r>
                              <m:d>
                                <m:dPr>
                                  <m:ctrlPr>
                                    <a:rPr lang="en-US" sz="2000" i="1">
                                      <a:solidFill>
                                        <a:schemeClr val="accent2"/>
                                      </a:solidFill>
                                      <a:latin typeface="Cambria Math" panose="02040503050406030204" pitchFamily="18" charset="0"/>
                                      <a:sym typeface="Symbol" panose="05050102010706020507"/>
                                    </a:rPr>
                                  </m:ctrlPr>
                                </m:dPr>
                                <m:e>
                                  <m:r>
                                    <a:rPr lang="en-US" sz="2000" i="1">
                                      <a:solidFill>
                                        <a:schemeClr val="accent2"/>
                                      </a:solidFill>
                                      <a:latin typeface="Cambria Math" panose="02040503050406030204" pitchFamily="18" charset="0"/>
                                      <a:sym typeface="Symbol" panose="05050102010706020507"/>
                                    </a:rPr>
                                    <m:t>𝐵</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𝑒</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𝑎</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𝑗</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𝑚</m:t>
                                  </m:r>
                                </m:e>
                              </m:d>
                              <m:r>
                                <a:rPr lang="en-US" sz="2000" i="1">
                                  <a:solidFill>
                                    <a:schemeClr val="accent2"/>
                                  </a:solidFill>
                                  <a:latin typeface="Cambria Math" panose="02040503050406030204" pitchFamily="18" charset="0"/>
                                  <a:sym typeface="Symbol" panose="05050102010706020507"/>
                                </a:rPr>
                                <m:t> </m:t>
                              </m:r>
                            </m:e>
                          </m:nary>
                        </m:e>
                      </m:nary>
                    </m:oMath>
                  </m:oMathPara>
                </a14:m>
                <a:endParaRPr lang="en-US" sz="2000" dirty="0">
                  <a:solidFill>
                    <a:schemeClr val="accent2"/>
                  </a:solidFill>
                  <a:latin typeface="Times New Roman" panose="02020603050405020304" pitchFamily="18" charset="0"/>
                  <a:cs typeface="Times New Roman" panose="02020603050405020304" pitchFamily="18" charset="0"/>
                </a:endParaRPr>
              </a:p>
              <a:p>
                <a:endParaRPr lang="en-US" sz="3200" dirty="0">
                  <a:solidFill>
                    <a:schemeClr val="accent2"/>
                  </a:solidFill>
                </a:endParaRPr>
              </a:p>
            </p:txBody>
          </p:sp>
        </mc:Choice>
        <mc:Fallback>
          <p:sp>
            <p:nvSpPr>
              <p:cNvPr id="5" name="Rectangle 9"/>
              <p:cNvSpPr>
                <a:spLocks noRot="1" noChangeAspect="1" noMove="1" noResize="1" noEditPoints="1" noAdjustHandles="1" noChangeArrowheads="1" noChangeShapeType="1" noTextEdit="1"/>
              </p:cNvSpPr>
              <p:nvPr/>
            </p:nvSpPr>
            <p:spPr>
              <a:xfrm>
                <a:off x="3907377" y="2392025"/>
                <a:ext cx="3075265" cy="1947200"/>
              </a:xfrm>
              <a:prstGeom prst="rect">
                <a:avLst/>
              </a:prstGeom>
              <a:blipFill rotWithShape="1">
                <a:blip r:embed="rId1"/>
                <a:stretch>
                  <a:fillRect l="-7" t="-32" r="6"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Rectangle 8"/>
              <p:cNvSpPr/>
              <p:nvPr/>
            </p:nvSpPr>
            <p:spPr>
              <a:xfrm>
                <a:off x="3808050" y="4227902"/>
                <a:ext cx="5144229" cy="83920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𝛼</m:t>
                      </m:r>
                      <m:nary>
                        <m:naryPr>
                          <m:chr m:val="∑"/>
                          <m:supHide m:val="on"/>
                          <m:ctrlPr>
                            <a:rPr lang="en-US" sz="2000" i="1" smtClean="0">
                              <a:solidFill>
                                <a:schemeClr val="accent2"/>
                              </a:solidFill>
                              <a:latin typeface="Cambria Math" panose="02040503050406030204" pitchFamily="18" charset="0"/>
                              <a:sym typeface="Symbol" panose="05050102010706020507"/>
                            </a:rPr>
                          </m:ctrlPr>
                        </m:naryPr>
                        <m:sub>
                          <m:r>
                            <a:rPr lang="en-US" sz="2000" i="1">
                              <a:solidFill>
                                <a:schemeClr val="accent2"/>
                              </a:solidFill>
                              <a:latin typeface="Cambria Math" panose="02040503050406030204" pitchFamily="18" charset="0"/>
                              <a:sym typeface="Symbol" panose="05050102010706020507"/>
                            </a:rPr>
                            <m:t>𝑒</m:t>
                          </m:r>
                        </m:sub>
                        <m:sup/>
                        <m:e>
                          <m:nary>
                            <m:naryPr>
                              <m:chr m:val="∑"/>
                              <m:supHide m:val="on"/>
                              <m:ctrlPr>
                                <a:rPr lang="en-US" sz="2000" i="1">
                                  <a:solidFill>
                                    <a:schemeClr val="accent2"/>
                                  </a:solidFill>
                                  <a:latin typeface="Cambria Math" panose="02040503050406030204" pitchFamily="18" charset="0"/>
                                  <a:sym typeface="Symbol" panose="05050102010706020507"/>
                                </a:rPr>
                              </m:ctrlPr>
                            </m:naryPr>
                            <m:sub>
                              <m:r>
                                <a:rPr lang="en-US" sz="2000" i="1">
                                  <a:solidFill>
                                    <a:schemeClr val="accent2"/>
                                  </a:solidFill>
                                  <a:latin typeface="Cambria Math" panose="02040503050406030204" pitchFamily="18" charset="0"/>
                                  <a:sym typeface="Symbol" panose="05050102010706020507"/>
                                </a:rPr>
                                <m:t>𝑎</m:t>
                              </m:r>
                            </m:sub>
                            <m:sup/>
                            <m:e>
                              <m:r>
                                <a:rPr lang="en-US" altLang="zh-CN" sz="2000" b="1">
                                  <a:solidFill>
                                    <a:schemeClr val="accent2"/>
                                  </a:solidFill>
                                  <a:latin typeface="Cambria Math" panose="02040503050406030204" pitchFamily="18" charset="0"/>
                                  <a:sym typeface="Symbol" panose="05050102010706020507"/>
                                </a:rPr>
                                <m:t>𝐏</m:t>
                              </m:r>
                              <m:r>
                                <a:rPr lang="en-US" altLang="zh-CN" sz="2000" i="1">
                                  <a:solidFill>
                                    <a:schemeClr val="accent2"/>
                                  </a:solidFill>
                                  <a:latin typeface="Cambria Math" panose="02040503050406030204" pitchFamily="18" charset="0"/>
                                  <a:sym typeface="Symbol" panose="05050102010706020507"/>
                                </a:rPr>
                                <m:t>(</m:t>
                              </m:r>
                              <m:r>
                                <a:rPr lang="en-US" altLang="zh-CN" sz="2000" i="1">
                                  <a:solidFill>
                                    <a:schemeClr val="accent2"/>
                                  </a:solidFill>
                                  <a:latin typeface="Cambria Math" panose="02040503050406030204" pitchFamily="18" charset="0"/>
                                  <a:sym typeface="Symbol" panose="05050102010706020507"/>
                                </a:rPr>
                                <m:t>𝐵</m:t>
                              </m:r>
                              <m:r>
                                <a:rPr lang="en-US" altLang="zh-CN" sz="2000" i="1">
                                  <a:solidFill>
                                    <a:schemeClr val="accent2"/>
                                  </a:solidFill>
                                  <a:latin typeface="Cambria Math" panose="02040503050406030204" pitchFamily="18" charset="0"/>
                                  <a:sym typeface="Symbol" panose="05050102010706020507"/>
                                </a:rPr>
                                <m:t>) </m:t>
                              </m:r>
                              <m:r>
                                <a:rPr lang="en-US" sz="2000" i="1">
                                  <a:solidFill>
                                    <a:schemeClr val="accent2"/>
                                  </a:solidFill>
                                  <a:latin typeface="Cambria Math" panose="02040503050406030204" pitchFamily="18" charset="0"/>
                                  <a:sym typeface="Symbol" panose="05050102010706020507"/>
                                </a:rPr>
                                <m:t>𝑃</m:t>
                              </m:r>
                              <m:d>
                                <m:dPr>
                                  <m:ctrlPr>
                                    <a:rPr lang="en-US" sz="2000" i="1">
                                      <a:solidFill>
                                        <a:schemeClr val="accent2"/>
                                      </a:solidFill>
                                      <a:latin typeface="Cambria Math" panose="02040503050406030204" pitchFamily="18" charset="0"/>
                                      <a:sym typeface="Symbol" panose="05050102010706020507"/>
                                    </a:rPr>
                                  </m:ctrlPr>
                                </m:dPr>
                                <m:e>
                                  <m:r>
                                    <a:rPr lang="en-US" sz="2000" i="1">
                                      <a:solidFill>
                                        <a:schemeClr val="accent2"/>
                                      </a:solidFill>
                                      <a:latin typeface="Cambria Math" panose="02040503050406030204" pitchFamily="18" charset="0"/>
                                      <a:sym typeface="Symbol" panose="05050102010706020507"/>
                                    </a:rPr>
                                    <m:t>𝑒</m:t>
                                  </m:r>
                                </m:e>
                              </m:d>
                              <m:r>
                                <a:rPr lang="en-US" altLang="zh-CN" sz="2000" b="1">
                                  <a:solidFill>
                                    <a:schemeClr val="accent2"/>
                                  </a:solidFill>
                                  <a:latin typeface="Cambria Math" panose="02040503050406030204" pitchFamily="18" charset="0"/>
                                  <a:sym typeface="Symbol" panose="05050102010706020507"/>
                                </a:rPr>
                                <m:t>𝐏</m:t>
                              </m:r>
                              <m:d>
                                <m:dPr>
                                  <m:ctrlPr>
                                    <a:rPr lang="en-US" sz="2000" b="0" i="1" smtClean="0">
                                      <a:solidFill>
                                        <a:schemeClr val="accent2"/>
                                      </a:solidFill>
                                      <a:latin typeface="Cambria Math" panose="02040503050406030204" pitchFamily="18" charset="0"/>
                                      <a:sym typeface="Symbol" panose="05050102010706020507"/>
                                    </a:rPr>
                                  </m:ctrlPr>
                                </m:dPr>
                                <m:e>
                                  <m:r>
                                    <a:rPr lang="en-US" sz="2000" b="0" i="1" smtClean="0">
                                      <a:solidFill>
                                        <a:schemeClr val="accent2"/>
                                      </a:solidFill>
                                      <a:latin typeface="Cambria Math" panose="02040503050406030204" pitchFamily="18" charset="0"/>
                                      <a:sym typeface="Symbol" panose="05050102010706020507"/>
                                    </a:rPr>
                                    <m:t>𝑎</m:t>
                                  </m:r>
                                </m:e>
                                <m:e>
                                  <m:r>
                                    <a:rPr lang="en-US" sz="2000" b="0" i="1" smtClean="0">
                                      <a:solidFill>
                                        <a:schemeClr val="accent2"/>
                                      </a:solidFill>
                                      <a:latin typeface="Cambria Math" panose="02040503050406030204" pitchFamily="18" charset="0"/>
                                      <a:sym typeface="Symbol" panose="05050102010706020507"/>
                                    </a:rPr>
                                    <m:t>𝐵</m:t>
                                  </m:r>
                                  <m:r>
                                    <a:rPr lang="en-US" sz="2000" b="0" i="1" smtClean="0">
                                      <a:solidFill>
                                        <a:schemeClr val="accent2"/>
                                      </a:solidFill>
                                      <a:latin typeface="Cambria Math" panose="02040503050406030204" pitchFamily="18" charset="0"/>
                                      <a:sym typeface="Symbol" panose="05050102010706020507"/>
                                    </a:rPr>
                                    <m:t>,</m:t>
                                  </m:r>
                                  <m:r>
                                    <a:rPr lang="en-US" sz="2000" b="0" i="1" smtClean="0">
                                      <a:solidFill>
                                        <a:schemeClr val="accent2"/>
                                      </a:solidFill>
                                      <a:latin typeface="Cambria Math" panose="02040503050406030204" pitchFamily="18" charset="0"/>
                                      <a:sym typeface="Symbol" panose="05050102010706020507"/>
                                    </a:rPr>
                                    <m:t>𝑒</m:t>
                                  </m:r>
                                </m:e>
                              </m:d>
                              <m:r>
                                <a:rPr lang="en-US" altLang="zh-CN" sz="2000" i="1">
                                  <a:solidFill>
                                    <a:schemeClr val="accent2"/>
                                  </a:solidFill>
                                  <a:latin typeface="Cambria Math" panose="02040503050406030204" pitchFamily="18" charset="0"/>
                                  <a:sym typeface="Symbol" panose="05050102010706020507"/>
                                </a:rPr>
                                <m:t>𝑃</m:t>
                              </m:r>
                              <m:d>
                                <m:dPr>
                                  <m:ctrlPr>
                                    <a:rPr lang="en-US" altLang="zh-CN" sz="2000" i="1">
                                      <a:solidFill>
                                        <a:schemeClr val="accent2"/>
                                      </a:solidFill>
                                      <a:latin typeface="Cambria Math" panose="02040503050406030204" pitchFamily="18" charset="0"/>
                                      <a:sym typeface="Symbol" panose="05050102010706020507"/>
                                    </a:rPr>
                                  </m:ctrlPr>
                                </m:dPr>
                                <m:e>
                                  <m:r>
                                    <a:rPr lang="en-US" altLang="zh-CN" sz="2000" i="1">
                                      <a:solidFill>
                                        <a:schemeClr val="accent2"/>
                                      </a:solidFill>
                                      <a:latin typeface="Cambria Math" panose="02040503050406030204" pitchFamily="18" charset="0"/>
                                      <a:sym typeface="Symbol" panose="05050102010706020507"/>
                                    </a:rPr>
                                    <m:t>𝑗</m:t>
                                  </m:r>
                                </m:e>
                                <m:e>
                                  <m:r>
                                    <a:rPr lang="en-US" altLang="zh-CN" sz="2000" i="1">
                                      <a:solidFill>
                                        <a:schemeClr val="accent2"/>
                                      </a:solidFill>
                                      <a:latin typeface="Cambria Math" panose="02040503050406030204" pitchFamily="18" charset="0"/>
                                      <a:sym typeface="Symbol" panose="05050102010706020507"/>
                                    </a:rPr>
                                    <m:t>𝑎</m:t>
                                  </m:r>
                                </m:e>
                              </m:d>
                              <m:r>
                                <a:rPr lang="en-US" altLang="zh-CN" sz="2000" i="1">
                                  <a:solidFill>
                                    <a:schemeClr val="accent2"/>
                                  </a:solidFill>
                                  <a:latin typeface="Cambria Math" panose="02040503050406030204" pitchFamily="18" charset="0"/>
                                  <a:sym typeface="Symbol" panose="05050102010706020507"/>
                                </a:rPr>
                                <m:t>𝑃</m:t>
                              </m:r>
                              <m:d>
                                <m:dPr>
                                  <m:ctrlPr>
                                    <a:rPr lang="en-US" altLang="zh-CN" sz="2000" i="1">
                                      <a:solidFill>
                                        <a:schemeClr val="accent2"/>
                                      </a:solidFill>
                                      <a:latin typeface="Cambria Math" panose="02040503050406030204" pitchFamily="18" charset="0"/>
                                      <a:sym typeface="Symbol" panose="05050102010706020507"/>
                                    </a:rPr>
                                  </m:ctrlPr>
                                </m:dPr>
                                <m:e>
                                  <m:r>
                                    <a:rPr lang="en-US" altLang="zh-CN" sz="2000" i="1">
                                      <a:solidFill>
                                        <a:schemeClr val="accent2"/>
                                      </a:solidFill>
                                      <a:latin typeface="Cambria Math" panose="02040503050406030204" pitchFamily="18" charset="0"/>
                                      <a:sym typeface="Symbol" panose="05050102010706020507"/>
                                    </a:rPr>
                                    <m:t>𝑚</m:t>
                                  </m:r>
                                </m:e>
                                <m:e>
                                  <m:r>
                                    <a:rPr lang="en-US" altLang="zh-CN" sz="2000" i="1">
                                      <a:solidFill>
                                        <a:schemeClr val="accent2"/>
                                      </a:solidFill>
                                      <a:latin typeface="Cambria Math" panose="02040503050406030204" pitchFamily="18" charset="0"/>
                                      <a:sym typeface="Symbol" panose="05050102010706020507"/>
                                    </a:rPr>
                                    <m:t>𝑎</m:t>
                                  </m:r>
                                </m:e>
                              </m:d>
                            </m:e>
                          </m:nary>
                        </m:e>
                      </m:nary>
                    </m:oMath>
                  </m:oMathPara>
                </a14:m>
                <a:endParaRPr lang="en-US" sz="2000" dirty="0">
                  <a:solidFill>
                    <a:schemeClr val="accent2"/>
                  </a:solidFill>
                  <a:latin typeface="Times New Roman" panose="02020603050405020304" pitchFamily="18" charset="0"/>
                  <a:cs typeface="Times New Roman" panose="02020603050405020304" pitchFamily="18" charset="0"/>
                </a:endParaRPr>
              </a:p>
            </p:txBody>
          </p:sp>
        </mc:Choice>
        <mc:Fallback>
          <p:sp>
            <p:nvSpPr>
              <p:cNvPr id="6" name="Rectangle 8"/>
              <p:cNvSpPr>
                <a:spLocks noRot="1" noChangeAspect="1" noMove="1" noResize="1" noEditPoints="1" noAdjustHandles="1" noChangeArrowheads="1" noChangeShapeType="1" noTextEdit="1"/>
              </p:cNvSpPr>
              <p:nvPr/>
            </p:nvSpPr>
            <p:spPr>
              <a:xfrm>
                <a:off x="3808050" y="4227902"/>
                <a:ext cx="5144229" cy="839204"/>
              </a:xfrm>
              <a:prstGeom prst="rect">
                <a:avLst/>
              </a:prstGeom>
              <a:blipFill rotWithShape="1">
                <a:blip r:embed="rId2"/>
                <a:stretch>
                  <a:fillRect l="-11" t="-9" r="1" b="53"/>
                </a:stretch>
              </a:blipFill>
            </p:spPr>
            <p:txBody>
              <a:bodyPr/>
              <a:lstStyle/>
              <a:p>
                <a:r>
                  <a:rPr lang="zh-CN" altLang="en-US">
                    <a:noFill/>
                  </a:rPr>
                  <a:t> </a:t>
                </a:r>
              </a:p>
            </p:txBody>
          </p:sp>
        </mc:Fallback>
      </mc:AlternateContent>
      <p:sp>
        <p:nvSpPr>
          <p:cNvPr id="15" name="矩形 14"/>
          <p:cNvSpPr/>
          <p:nvPr/>
        </p:nvSpPr>
        <p:spPr>
          <a:xfrm>
            <a:off x="1016466" y="2759778"/>
            <a:ext cx="1980029" cy="345287"/>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lnSpc>
                <a:spcPct val="80000"/>
              </a:lnSpc>
            </a:pPr>
            <a:r>
              <a:rPr lang="zh-CN" altLang="en-US" sz="2000" dirty="0">
                <a:solidFill>
                  <a:schemeClr val="accent1">
                    <a:lumMod val="75000"/>
                  </a:schemeClr>
                </a:solidFill>
                <a:latin typeface="Calibri" panose="020F0502020204030204"/>
                <a:cs typeface="Calibri" panose="020F0502020204030204"/>
              </a:rPr>
              <a:t>根据归一化方法</a:t>
            </a:r>
            <a:endParaRPr lang="en-US" altLang="zh-CN" sz="2000" dirty="0">
              <a:solidFill>
                <a:schemeClr val="accent1">
                  <a:lumMod val="75000"/>
                </a:schemeClr>
              </a:solidFill>
              <a:latin typeface="Calibri" panose="020F0502020204030204"/>
              <a:cs typeface="Calibri" panose="020F0502020204030204"/>
            </a:endParaRPr>
          </a:p>
        </p:txBody>
      </p:sp>
      <p:sp>
        <p:nvSpPr>
          <p:cNvPr id="16" name="矩形 15"/>
          <p:cNvSpPr/>
          <p:nvPr/>
        </p:nvSpPr>
        <p:spPr>
          <a:xfrm>
            <a:off x="1016466" y="4468370"/>
            <a:ext cx="2749471" cy="345287"/>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lnSpc>
                <a:spcPct val="80000"/>
              </a:lnSpc>
            </a:pPr>
            <a:r>
              <a:rPr lang="zh-CN" altLang="en-US" sz="2000" dirty="0">
                <a:solidFill>
                  <a:schemeClr val="accent1">
                    <a:lumMod val="75000"/>
                  </a:schemeClr>
                </a:solidFill>
                <a:latin typeface="Calibri" panose="020F0502020204030204"/>
                <a:cs typeface="Calibri" panose="020F0502020204030204"/>
              </a:rPr>
              <a:t>根据贝叶斯网络的语义</a:t>
            </a:r>
            <a:endParaRPr lang="en-US" altLang="zh-CN" sz="2000" dirty="0">
              <a:solidFill>
                <a:schemeClr val="accent1">
                  <a:lumMod val="75000"/>
                </a:schemeClr>
              </a:solidFill>
              <a:latin typeface="Calibri" panose="020F0502020204030204"/>
              <a:cs typeface="Calibri" panose="020F0502020204030204"/>
            </a:endParaRPr>
          </a:p>
        </p:txBody>
      </p:sp>
      <mc:AlternateContent xmlns:mc="http://schemas.openxmlformats.org/markup-compatibility/2006">
        <mc:Choice xmlns:a14="http://schemas.microsoft.com/office/drawing/2010/main" Requires="a14">
          <p:sp>
            <p:nvSpPr>
              <p:cNvPr id="8" name="Rectangle 9"/>
              <p:cNvSpPr/>
              <p:nvPr/>
            </p:nvSpPr>
            <p:spPr>
              <a:xfrm>
                <a:off x="3827845" y="5793645"/>
                <a:ext cx="1221360" cy="400110"/>
              </a:xfrm>
              <a:prstGeom prst="rect">
                <a:avLst/>
              </a:prstGeom>
            </p:spPr>
            <p:txBody>
              <a:bodyPr wrap="none">
                <a:spAutoFit/>
              </a:bodyPr>
              <a:lstStyle/>
              <a:p>
                <a14:m>
                  <m:oMathPara xmlns:m="http://schemas.openxmlformats.org/officeDocument/2006/math">
                    <m:oMathParaPr>
                      <m:jc m:val="left"/>
                    </m:oMathParaPr>
                    <m:oMath xmlns:m="http://schemas.openxmlformats.org/officeDocument/2006/math">
                      <m:r>
                        <a:rPr lang="en-US" altLang="zh-CN" sz="2000" i="1">
                          <a:solidFill>
                            <a:schemeClr val="accent2"/>
                          </a:solidFill>
                          <a:latin typeface="Cambria Math" panose="02040503050406030204" pitchFamily="18" charset="0"/>
                          <a:sym typeface="Symbol" panose="05050102010706020507"/>
                        </a:rPr>
                        <m:t>=</m:t>
                      </m:r>
                      <m:r>
                        <a:rPr lang="en-US" altLang="zh-CN" sz="2000" i="1">
                          <a:solidFill>
                            <a:schemeClr val="accent2"/>
                          </a:solidFill>
                          <a:latin typeface="Cambria Math" panose="02040503050406030204" pitchFamily="18" charset="0"/>
                          <a:sym typeface="Symbol" panose="05050102010706020507"/>
                        </a:rPr>
                        <m:t>𝛼</m:t>
                      </m:r>
                      <m:r>
                        <a:rPr lang="en-US" altLang="zh-CN" sz="2000" b="1">
                          <a:solidFill>
                            <a:schemeClr val="accent2"/>
                          </a:solidFill>
                          <a:latin typeface="Cambria Math" panose="02040503050406030204" pitchFamily="18" charset="0"/>
                          <a:sym typeface="Symbol" panose="05050102010706020507"/>
                        </a:rPr>
                        <m:t>𝐏</m:t>
                      </m:r>
                      <m:r>
                        <a:rPr lang="en-US" altLang="zh-CN" sz="2000" i="1">
                          <a:solidFill>
                            <a:schemeClr val="accent2"/>
                          </a:solidFill>
                          <a:latin typeface="Cambria Math" panose="02040503050406030204" pitchFamily="18" charset="0"/>
                          <a:sym typeface="Symbol" panose="05050102010706020507"/>
                        </a:rPr>
                        <m:t>(</m:t>
                      </m:r>
                      <m:r>
                        <a:rPr lang="en-US" altLang="zh-CN" sz="2000" i="1">
                          <a:solidFill>
                            <a:schemeClr val="accent2"/>
                          </a:solidFill>
                          <a:latin typeface="Cambria Math" panose="02040503050406030204" pitchFamily="18" charset="0"/>
                          <a:sym typeface="Symbol" panose="05050102010706020507"/>
                        </a:rPr>
                        <m:t>𝐵</m:t>
                      </m:r>
                      <m:r>
                        <a:rPr lang="en-US" altLang="zh-CN" sz="2000" i="1">
                          <a:solidFill>
                            <a:schemeClr val="accent2"/>
                          </a:solidFill>
                          <a:latin typeface="Cambria Math" panose="02040503050406030204" pitchFamily="18" charset="0"/>
                          <a:sym typeface="Symbol" panose="05050102010706020507"/>
                        </a:rPr>
                        <m:t>)</m:t>
                      </m:r>
                    </m:oMath>
                  </m:oMathPara>
                </a14:m>
                <a:endParaRPr lang="en-US" sz="2000" dirty="0">
                  <a:solidFill>
                    <a:schemeClr val="accent2"/>
                  </a:solidFill>
                </a:endParaRPr>
              </a:p>
            </p:txBody>
          </p:sp>
        </mc:Choice>
        <mc:Fallback>
          <p:sp>
            <p:nvSpPr>
              <p:cNvPr id="8" name="Rectangle 9"/>
              <p:cNvSpPr>
                <a:spLocks noRot="1" noChangeAspect="1" noMove="1" noResize="1" noEditPoints="1" noAdjustHandles="1" noChangeArrowheads="1" noChangeShapeType="1" noTextEdit="1"/>
              </p:cNvSpPr>
              <p:nvPr/>
            </p:nvSpPr>
            <p:spPr>
              <a:xfrm>
                <a:off x="3827845" y="5793645"/>
                <a:ext cx="1221360" cy="400110"/>
              </a:xfrm>
              <a:prstGeom prst="rect">
                <a:avLst/>
              </a:prstGeom>
              <a:blipFill rotWithShape="1">
                <a:blip r:embed="rId3"/>
                <a:stretch>
                  <a:fillRect l="-5" t="-135" r="26" b="1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ectangle 11"/>
              <p:cNvSpPr/>
              <p:nvPr/>
            </p:nvSpPr>
            <p:spPr>
              <a:xfrm>
                <a:off x="4855325" y="5575166"/>
                <a:ext cx="694101" cy="83920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nary>
                        <m:naryPr>
                          <m:chr m:val="∑"/>
                          <m:supHide m:val="on"/>
                          <m:ctrlPr>
                            <a:rPr lang="en-US" sz="2000" i="1" smtClean="0">
                              <a:solidFill>
                                <a:schemeClr val="accent2"/>
                              </a:solidFill>
                              <a:latin typeface="Cambria Math" panose="02040503050406030204" pitchFamily="18" charset="0"/>
                              <a:sym typeface="Symbol" panose="05050102010706020507"/>
                            </a:rPr>
                          </m:ctrlPr>
                        </m:naryPr>
                        <m:sub>
                          <m:r>
                            <a:rPr lang="en-US" sz="2000" i="1">
                              <a:solidFill>
                                <a:schemeClr val="accent2"/>
                              </a:solidFill>
                              <a:latin typeface="Cambria Math" panose="02040503050406030204" pitchFamily="18" charset="0"/>
                              <a:sym typeface="Symbol" panose="05050102010706020507"/>
                            </a:rPr>
                            <m:t>𝑒</m:t>
                          </m:r>
                        </m:sub>
                        <m:sup/>
                        <m:e>
                          <m:r>
                            <a:rPr lang="en-US" sz="2000" b="0" i="1" smtClean="0">
                              <a:solidFill>
                                <a:schemeClr val="accent2"/>
                              </a:solidFill>
                              <a:latin typeface="Cambria Math" panose="02040503050406030204" pitchFamily="18" charset="0"/>
                              <a:sym typeface="Symbol" panose="05050102010706020507"/>
                            </a:rPr>
                            <m:t> </m:t>
                          </m:r>
                        </m:e>
                      </m:nary>
                    </m:oMath>
                  </m:oMathPara>
                </a14:m>
                <a:endParaRPr lang="en-US" sz="2000" dirty="0">
                  <a:solidFill>
                    <a:schemeClr val="accent2"/>
                  </a:solidFill>
                </a:endParaRPr>
              </a:p>
            </p:txBody>
          </p:sp>
        </mc:Choice>
        <mc:Fallback>
          <p:sp>
            <p:nvSpPr>
              <p:cNvPr id="9" name="Rectangle 11"/>
              <p:cNvSpPr>
                <a:spLocks noRot="1" noChangeAspect="1" noMove="1" noResize="1" noEditPoints="1" noAdjustHandles="1" noChangeArrowheads="1" noChangeShapeType="1" noTextEdit="1"/>
              </p:cNvSpPr>
              <p:nvPr/>
            </p:nvSpPr>
            <p:spPr>
              <a:xfrm>
                <a:off x="4855325" y="5575166"/>
                <a:ext cx="694101" cy="839204"/>
              </a:xfrm>
              <a:prstGeom prst="rect">
                <a:avLst/>
              </a:prstGeom>
              <a:blipFill rotWithShape="1">
                <a:blip r:embed="rId4"/>
                <a:stretch>
                  <a:fillRect l="-17" t="-60" r="23"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Rectangle 13"/>
              <p:cNvSpPr/>
              <p:nvPr/>
            </p:nvSpPr>
            <p:spPr>
              <a:xfrm>
                <a:off x="5802716" y="5591789"/>
                <a:ext cx="694100" cy="83920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nary>
                        <m:naryPr>
                          <m:chr m:val="∑"/>
                          <m:supHide m:val="on"/>
                          <m:ctrlPr>
                            <a:rPr lang="en-US" sz="2000" i="1" smtClean="0">
                              <a:solidFill>
                                <a:schemeClr val="accent2"/>
                              </a:solidFill>
                              <a:latin typeface="Cambria Math" panose="02040503050406030204" pitchFamily="18" charset="0"/>
                              <a:sym typeface="Symbol" panose="05050102010706020507"/>
                            </a:rPr>
                          </m:ctrlPr>
                        </m:naryPr>
                        <m:sub>
                          <m:r>
                            <a:rPr lang="en-US" sz="2000" b="0" i="1" smtClean="0">
                              <a:solidFill>
                                <a:schemeClr val="accent2"/>
                              </a:solidFill>
                              <a:latin typeface="Cambria Math" panose="02040503050406030204" pitchFamily="18" charset="0"/>
                              <a:sym typeface="Symbol" panose="05050102010706020507"/>
                            </a:rPr>
                            <m:t>𝑎</m:t>
                          </m:r>
                        </m:sub>
                        <m:sup/>
                        <m:e>
                          <m:r>
                            <a:rPr lang="en-US" sz="2000" b="0" i="1" smtClean="0">
                              <a:solidFill>
                                <a:schemeClr val="accent2"/>
                              </a:solidFill>
                              <a:latin typeface="Cambria Math" panose="02040503050406030204" pitchFamily="18" charset="0"/>
                              <a:sym typeface="Symbol" panose="05050102010706020507"/>
                            </a:rPr>
                            <m:t> </m:t>
                          </m:r>
                        </m:e>
                      </m:nary>
                    </m:oMath>
                  </m:oMathPara>
                </a14:m>
                <a:endParaRPr lang="en-US" sz="2000" dirty="0">
                  <a:solidFill>
                    <a:schemeClr val="accent2"/>
                  </a:solidFill>
                </a:endParaRPr>
              </a:p>
            </p:txBody>
          </p:sp>
        </mc:Choice>
        <mc:Fallback>
          <p:sp>
            <p:nvSpPr>
              <p:cNvPr id="10" name="Rectangle 13"/>
              <p:cNvSpPr>
                <a:spLocks noRot="1" noChangeAspect="1" noMove="1" noResize="1" noEditPoints="1" noAdjustHandles="1" noChangeArrowheads="1" noChangeShapeType="1" noTextEdit="1"/>
              </p:cNvSpPr>
              <p:nvPr/>
            </p:nvSpPr>
            <p:spPr>
              <a:xfrm>
                <a:off x="5802716" y="5591789"/>
                <a:ext cx="694100" cy="839204"/>
              </a:xfrm>
              <a:prstGeom prst="rect">
                <a:avLst/>
              </a:prstGeom>
              <a:blipFill rotWithShape="1">
                <a:blip r:embed="rId5"/>
                <a:stretch>
                  <a:fillRect l="-12" t="-73" r="19" b="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Rectangle 15"/>
              <p:cNvSpPr/>
              <p:nvPr/>
            </p:nvSpPr>
            <p:spPr>
              <a:xfrm>
                <a:off x="5252147" y="5774992"/>
                <a:ext cx="765338"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i="1">
                          <a:solidFill>
                            <a:schemeClr val="accent2"/>
                          </a:solidFill>
                          <a:latin typeface="Cambria Math" panose="02040503050406030204" pitchFamily="18" charset="0"/>
                          <a:sym typeface="Symbol" panose="05050102010706020507"/>
                        </a:rPr>
                        <m:t>𝑃</m:t>
                      </m:r>
                      <m:d>
                        <m:dPr>
                          <m:ctrlPr>
                            <a:rPr lang="en-US" sz="2000" i="1">
                              <a:solidFill>
                                <a:schemeClr val="accent2"/>
                              </a:solidFill>
                              <a:latin typeface="Cambria Math" panose="02040503050406030204" pitchFamily="18" charset="0"/>
                              <a:sym typeface="Symbol" panose="05050102010706020507"/>
                            </a:rPr>
                          </m:ctrlPr>
                        </m:dPr>
                        <m:e>
                          <m:r>
                            <a:rPr lang="en-US" sz="2000" i="1">
                              <a:solidFill>
                                <a:schemeClr val="accent2"/>
                              </a:solidFill>
                              <a:latin typeface="Cambria Math" panose="02040503050406030204" pitchFamily="18" charset="0"/>
                              <a:sym typeface="Symbol" panose="05050102010706020507"/>
                            </a:rPr>
                            <m:t>𝑒</m:t>
                          </m:r>
                        </m:e>
                      </m:d>
                    </m:oMath>
                  </m:oMathPara>
                </a14:m>
                <a:endParaRPr lang="en-US" sz="2000" dirty="0">
                  <a:solidFill>
                    <a:schemeClr val="accent2"/>
                  </a:solidFill>
                </a:endParaRPr>
              </a:p>
            </p:txBody>
          </p:sp>
        </mc:Choice>
        <mc:Fallback>
          <p:sp>
            <p:nvSpPr>
              <p:cNvPr id="11" name="Rectangle 15"/>
              <p:cNvSpPr>
                <a:spLocks noRot="1" noChangeAspect="1" noMove="1" noResize="1" noEditPoints="1" noAdjustHandles="1" noChangeArrowheads="1" noChangeShapeType="1" noTextEdit="1"/>
              </p:cNvSpPr>
              <p:nvPr/>
            </p:nvSpPr>
            <p:spPr>
              <a:xfrm>
                <a:off x="5252147" y="5774992"/>
                <a:ext cx="765338" cy="400110"/>
              </a:xfrm>
              <a:prstGeom prst="rect">
                <a:avLst/>
              </a:prstGeom>
              <a:blipFill rotWithShape="1">
                <a:blip r:embed="rId6"/>
                <a:stretch>
                  <a:fillRect l="-8" t="-75" r="29" b="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Rectangle 16"/>
              <p:cNvSpPr/>
              <p:nvPr/>
            </p:nvSpPr>
            <p:spPr>
              <a:xfrm>
                <a:off x="6214465" y="5774992"/>
                <a:ext cx="1263231"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sz="2000" b="1">
                          <a:solidFill>
                            <a:schemeClr val="accent2"/>
                          </a:solidFill>
                          <a:latin typeface="Cambria Math" panose="02040503050406030204" pitchFamily="18" charset="0"/>
                          <a:sym typeface="Symbol" panose="05050102010706020507"/>
                        </a:rPr>
                        <m:t>𝐏</m:t>
                      </m:r>
                      <m:d>
                        <m:dPr>
                          <m:ctrlPr>
                            <a:rPr lang="en-US" sz="2000" i="1">
                              <a:solidFill>
                                <a:schemeClr val="accent2"/>
                              </a:solidFill>
                              <a:latin typeface="Cambria Math" panose="02040503050406030204" pitchFamily="18" charset="0"/>
                              <a:sym typeface="Symbol" panose="05050102010706020507"/>
                            </a:rPr>
                          </m:ctrlPr>
                        </m:dPr>
                        <m:e>
                          <m:r>
                            <a:rPr lang="en-US" sz="2000" i="1">
                              <a:solidFill>
                                <a:schemeClr val="accent2"/>
                              </a:solidFill>
                              <a:latin typeface="Cambria Math" panose="02040503050406030204" pitchFamily="18" charset="0"/>
                              <a:sym typeface="Symbol" panose="05050102010706020507"/>
                            </a:rPr>
                            <m:t>𝑎</m:t>
                          </m:r>
                        </m:e>
                        <m:e>
                          <m:r>
                            <a:rPr lang="en-US" altLang="zh-CN" sz="2000" i="1">
                              <a:solidFill>
                                <a:schemeClr val="accent2"/>
                              </a:solidFill>
                              <a:latin typeface="Cambria Math" panose="02040503050406030204" pitchFamily="18" charset="0"/>
                              <a:sym typeface="Symbol" panose="05050102010706020507"/>
                            </a:rPr>
                            <m:t>𝐵</m:t>
                          </m:r>
                          <m:r>
                            <a:rPr lang="en-US" sz="2000" i="1">
                              <a:solidFill>
                                <a:schemeClr val="accent2"/>
                              </a:solidFill>
                              <a:latin typeface="Cambria Math" panose="02040503050406030204" pitchFamily="18" charset="0"/>
                              <a:sym typeface="Symbol" panose="05050102010706020507"/>
                            </a:rPr>
                            <m:t>,</m:t>
                          </m:r>
                          <m:r>
                            <a:rPr lang="en-US" sz="2000" i="1">
                              <a:solidFill>
                                <a:schemeClr val="accent2"/>
                              </a:solidFill>
                              <a:latin typeface="Cambria Math" panose="02040503050406030204" pitchFamily="18" charset="0"/>
                              <a:sym typeface="Symbol" panose="05050102010706020507"/>
                            </a:rPr>
                            <m:t>𝑒</m:t>
                          </m:r>
                        </m:e>
                      </m:d>
                    </m:oMath>
                  </m:oMathPara>
                </a14:m>
                <a:endParaRPr lang="en-US" sz="2000" dirty="0">
                  <a:solidFill>
                    <a:schemeClr val="accent2"/>
                  </a:solidFill>
                </a:endParaRPr>
              </a:p>
            </p:txBody>
          </p:sp>
        </mc:Choice>
        <mc:Fallback>
          <p:sp>
            <p:nvSpPr>
              <p:cNvPr id="12" name="Rectangle 16"/>
              <p:cNvSpPr>
                <a:spLocks noRot="1" noChangeAspect="1" noMove="1" noResize="1" noEditPoints="1" noAdjustHandles="1" noChangeArrowheads="1" noChangeShapeType="1" noTextEdit="1"/>
              </p:cNvSpPr>
              <p:nvPr/>
            </p:nvSpPr>
            <p:spPr>
              <a:xfrm>
                <a:off x="6214465" y="5774992"/>
                <a:ext cx="1263231" cy="400110"/>
              </a:xfrm>
              <a:prstGeom prst="rect">
                <a:avLst/>
              </a:prstGeom>
              <a:blipFill rotWithShape="1">
                <a:blip r:embed="rId7"/>
                <a:stretch>
                  <a:fillRect l="-28" t="-75" r="45" b="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Rectangle 17"/>
              <p:cNvSpPr/>
              <p:nvPr/>
            </p:nvSpPr>
            <p:spPr>
              <a:xfrm>
                <a:off x="7175147" y="5772368"/>
                <a:ext cx="1016625"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b="0" i="1" smtClean="0">
                          <a:solidFill>
                            <a:schemeClr val="accent2"/>
                          </a:solidFill>
                          <a:latin typeface="Cambria Math" panose="02040503050406030204" pitchFamily="18" charset="0"/>
                          <a:sym typeface="Symbol" panose="05050102010706020507"/>
                        </a:rPr>
                        <m:t> </m:t>
                      </m:r>
                      <m:r>
                        <a:rPr lang="en-US" sz="2000" i="1">
                          <a:solidFill>
                            <a:schemeClr val="accent2"/>
                          </a:solidFill>
                          <a:latin typeface="Cambria Math" panose="02040503050406030204" pitchFamily="18" charset="0"/>
                          <a:sym typeface="Symbol" panose="05050102010706020507"/>
                        </a:rPr>
                        <m:t>𝑃</m:t>
                      </m:r>
                      <m:d>
                        <m:dPr>
                          <m:ctrlPr>
                            <a:rPr lang="en-US" sz="2000" i="1">
                              <a:solidFill>
                                <a:schemeClr val="accent2"/>
                              </a:solidFill>
                              <a:latin typeface="Cambria Math" panose="02040503050406030204" pitchFamily="18" charset="0"/>
                              <a:sym typeface="Symbol" panose="05050102010706020507"/>
                            </a:rPr>
                          </m:ctrlPr>
                        </m:dPr>
                        <m:e>
                          <m:r>
                            <a:rPr lang="en-US" sz="2000" i="1">
                              <a:solidFill>
                                <a:schemeClr val="accent2"/>
                              </a:solidFill>
                              <a:latin typeface="Cambria Math" panose="02040503050406030204" pitchFamily="18" charset="0"/>
                              <a:sym typeface="Symbol" panose="05050102010706020507"/>
                            </a:rPr>
                            <m:t>𝑗</m:t>
                          </m:r>
                        </m:e>
                        <m:e>
                          <m:r>
                            <a:rPr lang="en-US" sz="2000" i="1">
                              <a:solidFill>
                                <a:schemeClr val="accent2"/>
                              </a:solidFill>
                              <a:latin typeface="Cambria Math" panose="02040503050406030204" pitchFamily="18" charset="0"/>
                              <a:sym typeface="Symbol" panose="05050102010706020507"/>
                            </a:rPr>
                            <m:t>𝑎</m:t>
                          </m:r>
                        </m:e>
                      </m:d>
                    </m:oMath>
                  </m:oMathPara>
                </a14:m>
                <a:endParaRPr lang="en-US" sz="2000" dirty="0">
                  <a:solidFill>
                    <a:schemeClr val="accent2"/>
                  </a:solidFill>
                </a:endParaRPr>
              </a:p>
            </p:txBody>
          </p:sp>
        </mc:Choice>
        <mc:Fallback>
          <p:sp>
            <p:nvSpPr>
              <p:cNvPr id="13" name="Rectangle 17"/>
              <p:cNvSpPr>
                <a:spLocks noRot="1" noChangeAspect="1" noMove="1" noResize="1" noEditPoints="1" noAdjustHandles="1" noChangeArrowheads="1" noChangeShapeType="1" noTextEdit="1"/>
              </p:cNvSpPr>
              <p:nvPr/>
            </p:nvSpPr>
            <p:spPr>
              <a:xfrm>
                <a:off x="7175147" y="5772368"/>
                <a:ext cx="1016625" cy="400110"/>
              </a:xfrm>
              <a:prstGeom prst="rect">
                <a:avLst/>
              </a:prstGeom>
              <a:blipFill rotWithShape="1">
                <a:blip r:embed="rId8"/>
                <a:stretch>
                  <a:fillRect l="-28" t="-54" r="27"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Rectangle 18"/>
              <p:cNvSpPr/>
              <p:nvPr/>
            </p:nvSpPr>
            <p:spPr>
              <a:xfrm>
                <a:off x="7977068" y="5774992"/>
                <a:ext cx="1081642"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000" i="1">
                          <a:solidFill>
                            <a:schemeClr val="accent2"/>
                          </a:solidFill>
                          <a:latin typeface="Cambria Math" panose="02040503050406030204" pitchFamily="18" charset="0"/>
                          <a:sym typeface="Symbol" panose="05050102010706020507"/>
                        </a:rPr>
                        <m:t>𝑃</m:t>
                      </m:r>
                      <m:r>
                        <a:rPr lang="en-US" sz="2000" i="1">
                          <a:solidFill>
                            <a:schemeClr val="accent2"/>
                          </a:solidFill>
                          <a:latin typeface="Cambria Math" panose="02040503050406030204" pitchFamily="18" charset="0"/>
                          <a:sym typeface="Symbol" panose="05050102010706020507"/>
                        </a:rPr>
                        <m:t>(</m:t>
                      </m:r>
                      <m:r>
                        <a:rPr lang="en-US" sz="2000" i="1">
                          <a:solidFill>
                            <a:schemeClr val="accent2"/>
                          </a:solidFill>
                          <a:latin typeface="Cambria Math" panose="02040503050406030204" pitchFamily="18" charset="0"/>
                          <a:sym typeface="Symbol" panose="05050102010706020507"/>
                        </a:rPr>
                        <m:t>𝑚</m:t>
                      </m:r>
                      <m:r>
                        <a:rPr lang="en-US" sz="2000" i="1">
                          <a:solidFill>
                            <a:schemeClr val="accent2"/>
                          </a:solidFill>
                          <a:latin typeface="Cambria Math" panose="02040503050406030204" pitchFamily="18" charset="0"/>
                          <a:sym typeface="Symbol" panose="05050102010706020507"/>
                        </a:rPr>
                        <m:t>|</m:t>
                      </m:r>
                      <m:r>
                        <a:rPr lang="en-US" sz="2000" i="1">
                          <a:solidFill>
                            <a:schemeClr val="accent2"/>
                          </a:solidFill>
                          <a:latin typeface="Cambria Math" panose="02040503050406030204" pitchFamily="18" charset="0"/>
                          <a:sym typeface="Symbol" panose="05050102010706020507"/>
                        </a:rPr>
                        <m:t>𝑎</m:t>
                      </m:r>
                      <m:r>
                        <a:rPr lang="en-US" sz="2000" i="1">
                          <a:solidFill>
                            <a:schemeClr val="accent2"/>
                          </a:solidFill>
                          <a:latin typeface="Cambria Math" panose="02040503050406030204" pitchFamily="18" charset="0"/>
                          <a:sym typeface="Symbol" panose="05050102010706020507"/>
                        </a:rPr>
                        <m:t>)</m:t>
                      </m:r>
                    </m:oMath>
                  </m:oMathPara>
                </a14:m>
                <a:endParaRPr lang="en-US" sz="2000" dirty="0">
                  <a:solidFill>
                    <a:schemeClr val="accent2"/>
                  </a:solidFill>
                </a:endParaRPr>
              </a:p>
            </p:txBody>
          </p:sp>
        </mc:Choice>
        <mc:Fallback>
          <p:sp>
            <p:nvSpPr>
              <p:cNvPr id="14" name="Rectangle 18"/>
              <p:cNvSpPr>
                <a:spLocks noRot="1" noChangeAspect="1" noMove="1" noResize="1" noEditPoints="1" noAdjustHandles="1" noChangeArrowheads="1" noChangeShapeType="1" noTextEdit="1"/>
              </p:cNvSpPr>
              <p:nvPr/>
            </p:nvSpPr>
            <p:spPr>
              <a:xfrm>
                <a:off x="7977068" y="5774992"/>
                <a:ext cx="1081642" cy="400110"/>
              </a:xfrm>
              <a:prstGeom prst="rect">
                <a:avLst/>
              </a:prstGeom>
              <a:blipFill rotWithShape="1">
                <a:blip r:embed="rId9"/>
                <a:stretch>
                  <a:fillRect l="-18" t="-75" r="40" b="90"/>
                </a:stretch>
              </a:blipFill>
            </p:spPr>
            <p:txBody>
              <a:bodyPr/>
              <a:lstStyle/>
              <a:p>
                <a:r>
                  <a:rPr lang="zh-CN" altLang="en-US">
                    <a:noFill/>
                  </a:rPr>
                  <a:t> </a:t>
                </a:r>
              </a:p>
            </p:txBody>
          </p:sp>
        </mc:Fallback>
      </mc:AlternateContent>
      <p:sp>
        <p:nvSpPr>
          <p:cNvPr id="17" name="矩形 16"/>
          <p:cNvSpPr/>
          <p:nvPr/>
        </p:nvSpPr>
        <p:spPr>
          <a:xfrm>
            <a:off x="1016466" y="5575166"/>
            <a:ext cx="1210588" cy="345287"/>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lnSpc>
                <a:spcPct val="80000"/>
              </a:lnSpc>
            </a:pPr>
            <a:r>
              <a:rPr lang="zh-CN" altLang="en-US" sz="2000" dirty="0">
                <a:solidFill>
                  <a:schemeClr val="accent1">
                    <a:lumMod val="75000"/>
                  </a:schemeClr>
                </a:solidFill>
                <a:latin typeface="Calibri" panose="020F0502020204030204"/>
                <a:cs typeface="Calibri" panose="020F0502020204030204"/>
              </a:rPr>
              <a:t>简化计算</a:t>
            </a:r>
            <a:endParaRPr lang="en-US" altLang="zh-CN" sz="2000" dirty="0">
              <a:solidFill>
                <a:schemeClr val="accent1">
                  <a:lumMod val="75000"/>
                </a:schemeClr>
              </a:solidFill>
              <a:latin typeface="Calibri" panose="020F0502020204030204"/>
              <a:cs typeface="Calibri" panose="020F0502020204030204"/>
            </a:endParaRPr>
          </a:p>
        </p:txBody>
      </p:sp>
      <p:sp>
        <p:nvSpPr>
          <p:cNvPr id="18"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0" name="Oval 4"/>
          <p:cNvSpPr>
            <a:spLocks noChangeArrowheads="1"/>
          </p:cNvSpPr>
          <p:nvPr/>
        </p:nvSpPr>
        <p:spPr bwMode="auto">
          <a:xfrm>
            <a:off x="1828800" y="1447800"/>
            <a:ext cx="1930400" cy="1143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Burglary</a:t>
            </a:r>
            <a:endParaRPr lang="en-US" altLang="zh-CN">
              <a:solidFill>
                <a:srgbClr val="FF3300"/>
              </a:solidFill>
            </a:endParaRPr>
          </a:p>
        </p:txBody>
      </p:sp>
      <p:sp>
        <p:nvSpPr>
          <p:cNvPr id="244741" name="Oval 5"/>
          <p:cNvSpPr>
            <a:spLocks noChangeArrowheads="1"/>
          </p:cNvSpPr>
          <p:nvPr/>
        </p:nvSpPr>
        <p:spPr bwMode="auto">
          <a:xfrm>
            <a:off x="6908800" y="1447800"/>
            <a:ext cx="2235200" cy="1143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Earthquake</a:t>
            </a:r>
            <a:endParaRPr lang="en-US" altLang="zh-CN">
              <a:solidFill>
                <a:srgbClr val="FF3300"/>
              </a:solidFill>
            </a:endParaRPr>
          </a:p>
        </p:txBody>
      </p:sp>
      <p:sp>
        <p:nvSpPr>
          <p:cNvPr id="244742" name="Oval 6"/>
          <p:cNvSpPr>
            <a:spLocks noChangeArrowheads="1"/>
          </p:cNvSpPr>
          <p:nvPr/>
        </p:nvSpPr>
        <p:spPr bwMode="auto">
          <a:xfrm>
            <a:off x="7213600" y="5181600"/>
            <a:ext cx="1930400" cy="1143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MaryCalls</a:t>
            </a:r>
            <a:endParaRPr lang="en-US" altLang="zh-CN">
              <a:solidFill>
                <a:srgbClr val="FF3300"/>
              </a:solidFill>
            </a:endParaRPr>
          </a:p>
        </p:txBody>
      </p:sp>
      <p:sp>
        <p:nvSpPr>
          <p:cNvPr id="244743" name="Oval 7"/>
          <p:cNvSpPr>
            <a:spLocks noChangeArrowheads="1"/>
          </p:cNvSpPr>
          <p:nvPr/>
        </p:nvSpPr>
        <p:spPr bwMode="auto">
          <a:xfrm>
            <a:off x="1524000" y="5029200"/>
            <a:ext cx="2032000" cy="1143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JohnCalls</a:t>
            </a:r>
            <a:endParaRPr lang="en-US" altLang="zh-CN">
              <a:solidFill>
                <a:srgbClr val="FF3300"/>
              </a:solidFill>
            </a:endParaRPr>
          </a:p>
        </p:txBody>
      </p:sp>
      <p:sp>
        <p:nvSpPr>
          <p:cNvPr id="244744" name="Line 8"/>
          <p:cNvSpPr>
            <a:spLocks noChangeShapeType="1"/>
          </p:cNvSpPr>
          <p:nvPr/>
        </p:nvSpPr>
        <p:spPr bwMode="auto">
          <a:xfrm flipH="1">
            <a:off x="5791200" y="2438400"/>
            <a:ext cx="1422400" cy="9144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4745" name="Line 9"/>
          <p:cNvSpPr>
            <a:spLocks noChangeShapeType="1"/>
          </p:cNvSpPr>
          <p:nvPr/>
        </p:nvSpPr>
        <p:spPr bwMode="auto">
          <a:xfrm>
            <a:off x="3352800" y="2438400"/>
            <a:ext cx="1524000" cy="9144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4746" name="Oval 10"/>
          <p:cNvSpPr>
            <a:spLocks noChangeArrowheads="1"/>
          </p:cNvSpPr>
          <p:nvPr/>
        </p:nvSpPr>
        <p:spPr bwMode="auto">
          <a:xfrm>
            <a:off x="4572000" y="3276600"/>
            <a:ext cx="1625600" cy="914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Alarm</a:t>
            </a:r>
            <a:endParaRPr lang="en-US" altLang="zh-CN">
              <a:solidFill>
                <a:srgbClr val="FF3300"/>
              </a:solidFill>
            </a:endParaRPr>
          </a:p>
        </p:txBody>
      </p:sp>
      <p:sp>
        <p:nvSpPr>
          <p:cNvPr id="244747" name="Line 11"/>
          <p:cNvSpPr>
            <a:spLocks noChangeShapeType="1"/>
          </p:cNvSpPr>
          <p:nvPr/>
        </p:nvSpPr>
        <p:spPr bwMode="auto">
          <a:xfrm flipH="1">
            <a:off x="2946400" y="4038600"/>
            <a:ext cx="1828800" cy="10668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4748" name="Line 12"/>
          <p:cNvSpPr>
            <a:spLocks noChangeShapeType="1"/>
          </p:cNvSpPr>
          <p:nvPr/>
        </p:nvSpPr>
        <p:spPr bwMode="auto">
          <a:xfrm>
            <a:off x="5791200" y="4114800"/>
            <a:ext cx="1727200" cy="12192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44749" name="Group 13"/>
          <p:cNvGraphicFramePr>
            <a:graphicFrameLocks noGrp="1"/>
          </p:cNvGraphicFramePr>
          <p:nvPr/>
        </p:nvGraphicFramePr>
        <p:xfrm>
          <a:off x="6807200" y="2819400"/>
          <a:ext cx="2540000" cy="1889760"/>
        </p:xfrm>
        <a:graphic>
          <a:graphicData uri="http://schemas.openxmlformats.org/drawingml/2006/table">
            <a:tbl>
              <a:tblPr/>
              <a:tblGrid>
                <a:gridCol w="1320800"/>
                <a:gridCol w="1219200"/>
              </a:tblGrid>
              <a:tr h="2286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B    E</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P(A) </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t     t</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t     f</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f     t</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f     f</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0.95</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0.94</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0.29</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0.001</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44760" name="Group 24"/>
          <p:cNvGraphicFramePr>
            <a:graphicFrameLocks noGrp="1"/>
          </p:cNvGraphicFramePr>
          <p:nvPr/>
        </p:nvGraphicFramePr>
        <p:xfrm>
          <a:off x="3759200" y="5334000"/>
          <a:ext cx="1828800" cy="1158240"/>
        </p:xfrm>
        <a:graphic>
          <a:graphicData uri="http://schemas.openxmlformats.org/drawingml/2006/table">
            <a:tbl>
              <a:tblPr/>
              <a:tblGrid>
                <a:gridCol w="812800"/>
                <a:gridCol w="1016000"/>
              </a:tblGrid>
              <a:tr h="2286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A</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P(J) </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t       </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f</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0.90</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0.05</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44771" name="Group 35"/>
          <p:cNvGraphicFramePr>
            <a:graphicFrameLocks noGrp="1"/>
          </p:cNvGraphicFramePr>
          <p:nvPr/>
        </p:nvGraphicFramePr>
        <p:xfrm>
          <a:off x="9448800" y="5334000"/>
          <a:ext cx="1828800" cy="1158240"/>
        </p:xfrm>
        <a:graphic>
          <a:graphicData uri="http://schemas.openxmlformats.org/drawingml/2006/table">
            <a:tbl>
              <a:tblPr/>
              <a:tblGrid>
                <a:gridCol w="812800"/>
                <a:gridCol w="1016000"/>
              </a:tblGrid>
              <a:tr h="2286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A</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P(M) </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t       </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   f</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0.70</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0.01</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44782" name="Group 46"/>
          <p:cNvGraphicFramePr>
            <a:graphicFrameLocks noGrp="1"/>
          </p:cNvGraphicFramePr>
          <p:nvPr/>
        </p:nvGraphicFramePr>
        <p:xfrm>
          <a:off x="4064000" y="1600200"/>
          <a:ext cx="1117600" cy="891540"/>
        </p:xfrm>
        <a:graphic>
          <a:graphicData uri="http://schemas.openxmlformats.org/drawingml/2006/table">
            <a:tbl>
              <a:tblPr/>
              <a:tblGrid>
                <a:gridCol w="1117600"/>
              </a:tblGrid>
              <a:tr h="2286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P(B) </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0.001</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44790" name="Group 54"/>
          <p:cNvGraphicFramePr>
            <a:graphicFrameLocks noGrp="1"/>
          </p:cNvGraphicFramePr>
          <p:nvPr/>
        </p:nvGraphicFramePr>
        <p:xfrm>
          <a:off x="9448800" y="1524000"/>
          <a:ext cx="1117600" cy="891540"/>
        </p:xfrm>
        <a:graphic>
          <a:graphicData uri="http://schemas.openxmlformats.org/drawingml/2006/table">
            <a:tbl>
              <a:tblPr/>
              <a:tblGrid>
                <a:gridCol w="1117600"/>
              </a:tblGrid>
              <a:tr h="2286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P(E) </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楷体_GB2312" pitchFamily="49" charset="-122"/>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楷体_GB2312" pitchFamily="49" charset="-122"/>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楷体_GB2312" pitchFamily="49" charset="-122"/>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楷体_GB2312" pitchFamily="49" charset="-122"/>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rPr>
                        <a:t>0.002</a:t>
                      </a:r>
                      <a:endParaRPr kumimoji="0" lang="en-US" altLang="zh-CN" sz="2000" b="0" i="0" u="none" strike="noStrike" cap="none" normalizeH="0" baseline="0">
                        <a:ln>
                          <a:noFill/>
                        </a:ln>
                        <a:solidFill>
                          <a:schemeClr val="tx1"/>
                        </a:solidFill>
                        <a:effectLst/>
                        <a:latin typeface="Arial" panose="020B0604020202020204" pitchFamily="34" charset="0"/>
                        <a:ea typeface="楷体_GB2312" pitchFamily="49" charset="-122"/>
                      </a:endParaRPr>
                    </a:p>
                  </a:txBody>
                  <a:tcPr marL="121920" marR="12192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Rectangle 3"/>
          <p:cNvSpPr>
            <a:spLocks noChangeArrowheads="1"/>
          </p:cNvSpPr>
          <p:nvPr/>
        </p:nvSpPr>
        <p:spPr bwMode="auto">
          <a:xfrm>
            <a:off x="741145" y="1679831"/>
            <a:ext cx="11684000" cy="5371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lgn="l">
              <a:defRPr>
                <a:solidFill>
                  <a:schemeClr val="tx1"/>
                </a:solidFill>
                <a:latin typeface="Arial" panose="020B0604020202020204" pitchFamily="34" charset="0"/>
                <a:ea typeface="楷体_GB2312" pitchFamily="49" charset="-122"/>
              </a:defRPr>
            </a:lvl1pPr>
            <a:lvl2pPr marL="990600" indent="-533400" algn="l">
              <a:defRPr>
                <a:solidFill>
                  <a:schemeClr val="tx1"/>
                </a:solidFill>
                <a:latin typeface="Arial" panose="020B0604020202020204" pitchFamily="34" charset="0"/>
                <a:ea typeface="楷体_GB2312" pitchFamily="49" charset="-122"/>
              </a:defRPr>
            </a:lvl2pPr>
            <a:lvl3pPr marL="1371600" indent="-457200" algn="l">
              <a:defRPr>
                <a:solidFill>
                  <a:schemeClr val="tx1"/>
                </a:solidFill>
                <a:latin typeface="Arial" panose="020B0604020202020204" pitchFamily="34" charset="0"/>
                <a:ea typeface="楷体_GB2312" pitchFamily="49" charset="-122"/>
              </a:defRPr>
            </a:lvl3pPr>
            <a:lvl4pPr marL="1752600" indent="-381000" algn="l">
              <a:defRPr>
                <a:solidFill>
                  <a:schemeClr val="tx1"/>
                </a:solidFill>
                <a:latin typeface="Arial" panose="020B0604020202020204" pitchFamily="34" charset="0"/>
                <a:ea typeface="楷体_GB2312" pitchFamily="49" charset="-122"/>
              </a:defRPr>
            </a:lvl4pPr>
            <a:lvl5pPr marL="2209800" indent="-381000" algn="l">
              <a:defRPr>
                <a:solidFill>
                  <a:schemeClr val="tx1"/>
                </a:solidFill>
                <a:latin typeface="Arial" panose="020B0604020202020204" pitchFamily="34" charset="0"/>
                <a:ea typeface="楷体_GB2312" pitchFamily="49" charset="-122"/>
              </a:defRPr>
            </a:lvl5pPr>
            <a:lvl6pPr marL="2667000" indent="-381000" fontAlgn="base">
              <a:spcBef>
                <a:spcPct val="0"/>
              </a:spcBef>
              <a:spcAft>
                <a:spcPct val="0"/>
              </a:spcAft>
              <a:defRPr>
                <a:solidFill>
                  <a:schemeClr val="tx1"/>
                </a:solidFill>
                <a:latin typeface="Arial" panose="020B0604020202020204" pitchFamily="34" charset="0"/>
                <a:ea typeface="楷体_GB2312" pitchFamily="49" charset="-122"/>
              </a:defRPr>
            </a:lvl6pPr>
            <a:lvl7pPr marL="3124200" indent="-381000" fontAlgn="base">
              <a:spcBef>
                <a:spcPct val="0"/>
              </a:spcBef>
              <a:spcAft>
                <a:spcPct val="0"/>
              </a:spcAft>
              <a:defRPr>
                <a:solidFill>
                  <a:schemeClr val="tx1"/>
                </a:solidFill>
                <a:latin typeface="Arial" panose="020B0604020202020204" pitchFamily="34" charset="0"/>
                <a:ea typeface="楷体_GB2312" pitchFamily="49" charset="-122"/>
              </a:defRPr>
            </a:lvl7pPr>
            <a:lvl8pPr marL="3581400" indent="-381000" fontAlgn="base">
              <a:spcBef>
                <a:spcPct val="0"/>
              </a:spcBef>
              <a:spcAft>
                <a:spcPct val="0"/>
              </a:spcAft>
              <a:defRPr>
                <a:solidFill>
                  <a:schemeClr val="tx1"/>
                </a:solidFill>
                <a:latin typeface="Arial" panose="020B0604020202020204" pitchFamily="34" charset="0"/>
                <a:ea typeface="楷体_GB2312" pitchFamily="49" charset="-122"/>
              </a:defRPr>
            </a:lvl8pPr>
            <a:lvl9pPr marL="4038600" indent="-381000"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5000"/>
              </a:lnSpc>
              <a:spcBef>
                <a:spcPct val="20000"/>
              </a:spcBef>
              <a:buClr>
                <a:schemeClr val="bg2"/>
              </a:buClr>
              <a:buSzPct val="75000"/>
              <a:buFont typeface="Wingdings" panose="05000000000000000000" pitchFamily="2" charset="2"/>
              <a:buChar char="n"/>
            </a:pPr>
            <a:r>
              <a:rPr lang="zh-CN" altLang="en-US" sz="2000" b="0" dirty="0">
                <a:latin typeface="微软雅黑" panose="020B0503020204020204" pitchFamily="34" charset="-122"/>
                <a:ea typeface="微软雅黑" panose="020B0503020204020204" pitchFamily="34" charset="-122"/>
              </a:rPr>
              <a:t>已知，一个事件</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 =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JohnCalls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true, and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MaryCalls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true}</a:t>
            </a:r>
            <a:r>
              <a:rPr lang="zh-CN" altLang="en-US" sz="2000" b="0" dirty="0">
                <a:latin typeface="微软雅黑" panose="020B0503020204020204" pitchFamily="34" charset="-122"/>
                <a:ea typeface="微软雅黑" panose="020B0503020204020204" pitchFamily="34" charset="-122"/>
              </a:rPr>
              <a:t>，试问出现盗贼的概率是多少？ </a:t>
            </a:r>
            <a:endParaRPr lang="zh-CN" altLang="en-US" sz="2000" b="0" dirty="0">
              <a:latin typeface="微软雅黑" panose="020B0503020204020204" pitchFamily="34" charset="-122"/>
              <a:ea typeface="微软雅黑" panose="020B0503020204020204" pitchFamily="34" charset="-122"/>
            </a:endParaRPr>
          </a:p>
          <a:p>
            <a:pPr>
              <a:lnSpc>
                <a:spcPct val="125000"/>
              </a:lnSpc>
              <a:spcBef>
                <a:spcPct val="20000"/>
              </a:spcBef>
              <a:buClr>
                <a:schemeClr val="bg2"/>
              </a:buClr>
              <a:buSzPct val="75000"/>
              <a:buFont typeface="Wingdings" panose="05000000000000000000" pitchFamily="2" charset="2"/>
              <a:buChar char="n"/>
            </a:pPr>
            <a:r>
              <a:rPr lang="zh-CN" altLang="en-US" sz="2000" b="0" dirty="0">
                <a:latin typeface="微软雅黑" panose="020B0503020204020204" pitchFamily="34" charset="-122"/>
                <a:ea typeface="微软雅黑" panose="020B0503020204020204" pitchFamily="34" charset="-122"/>
              </a:rPr>
              <a:t>解：</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X|e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X,e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a:t>
            </a:r>
            <a:r>
              <a:rPr lang="en-US" altLang="zh-CN" sz="2000" b="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y</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X,e,y</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lnSpc>
                <a:spcPct val="125000"/>
              </a:lnSpc>
              <a:spcBef>
                <a:spcPct val="20000"/>
              </a:spcBef>
              <a:buClr>
                <a:schemeClr val="bg2"/>
              </a:buClr>
              <a:buSzPct val="75000"/>
              <a:buFont typeface="Wingdings" panose="05000000000000000000" pitchFamily="2" charset="2"/>
              <a:buNone/>
            </a:pPr>
            <a:r>
              <a:rPr lang="en-US" altLang="zh-CN" sz="2000" b="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b="0" dirty="0">
                <a:latin typeface="微软雅黑" panose="020B0503020204020204" pitchFamily="34" charset="-122"/>
                <a:ea typeface="微软雅黑" panose="020B0503020204020204" pitchFamily="34" charset="-122"/>
                <a:sym typeface="Symbol" panose="05050102010706020507" pitchFamily="18" charset="2"/>
              </a:rPr>
              <a:t>而</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X,e,y</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000" b="0" dirty="0">
                <a:latin typeface="微软雅黑" panose="020B0503020204020204" pitchFamily="34" charset="-122"/>
                <a:ea typeface="微软雅黑" panose="020B0503020204020204" pitchFamily="34" charset="-122"/>
                <a:sym typeface="Symbol" panose="05050102010706020507" pitchFamily="18" charset="2"/>
              </a:rPr>
              <a:t>可写成条件概率乘积的形式。</a:t>
            </a:r>
            <a:endParaRPr lang="zh-CN" altLang="en-US" sz="2000" b="0" dirty="0">
              <a:latin typeface="微软雅黑" panose="020B0503020204020204" pitchFamily="34" charset="-122"/>
              <a:ea typeface="微软雅黑" panose="020B0503020204020204" pitchFamily="34" charset="-122"/>
              <a:sym typeface="Symbol" panose="05050102010706020507" pitchFamily="18" charset="2"/>
            </a:endParaRPr>
          </a:p>
          <a:p>
            <a:pPr>
              <a:lnSpc>
                <a:spcPct val="125000"/>
              </a:lnSpc>
              <a:spcBef>
                <a:spcPct val="20000"/>
              </a:spcBef>
              <a:buClr>
                <a:schemeClr val="bg2"/>
              </a:buClr>
              <a:buSzPct val="75000"/>
              <a:buFont typeface="Wingdings" panose="05000000000000000000" pitchFamily="2" charset="2"/>
              <a:buNone/>
            </a:pPr>
            <a:r>
              <a:rPr lang="zh-CN" altLang="en-US" sz="2000" b="0" dirty="0">
                <a:latin typeface="微软雅黑" panose="020B0503020204020204" pitchFamily="34" charset="-122"/>
                <a:ea typeface="微软雅黑" panose="020B0503020204020204" pitchFamily="34" charset="-122"/>
                <a:sym typeface="Symbol" panose="05050102010706020507" pitchFamily="18" charset="2"/>
              </a:rPr>
              <a:t>          因此，在贝叶斯网络中可通过计算条件概率的乘积并求和来回答查询。</a:t>
            </a:r>
            <a:endParaRPr lang="zh-CN" altLang="en-US" sz="2000" b="0" dirty="0">
              <a:latin typeface="微软雅黑" panose="020B0503020204020204" pitchFamily="34" charset="-122"/>
              <a:ea typeface="微软雅黑" panose="020B0503020204020204" pitchFamily="34" charset="-122"/>
              <a:sym typeface="Symbol" panose="05050102010706020507" pitchFamily="18" charset="2"/>
            </a:endParaRPr>
          </a:p>
          <a:p>
            <a:pPr>
              <a:lnSpc>
                <a:spcPct val="125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Burgary</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JohnCalls</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true, </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MaryCalls</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true)</a:t>
            </a:r>
            <a:r>
              <a:rPr lang="zh-CN" altLang="en-US" sz="2000" b="0" dirty="0">
                <a:latin typeface="微软雅黑" panose="020B0503020204020204" pitchFamily="34" charset="-122"/>
                <a:ea typeface="微软雅黑" panose="020B0503020204020204" pitchFamily="34" charset="-122"/>
              </a:rPr>
              <a:t>简写为：</a:t>
            </a:r>
            <a:endParaRPr lang="zh-CN" altLang="en-US" sz="2000" b="0" dirty="0">
              <a:latin typeface="微软雅黑" panose="020B0503020204020204" pitchFamily="34" charset="-122"/>
              <a:ea typeface="微软雅黑" panose="020B0503020204020204" pitchFamily="34" charset="-122"/>
            </a:endParaRPr>
          </a:p>
          <a:p>
            <a:pPr>
              <a:lnSpc>
                <a:spcPct val="125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P(B | j, m) =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P(B, j, m) =  </a:t>
            </a:r>
            <a:r>
              <a:rPr lang="en-US" altLang="zh-CN" sz="2000" b="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e</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 e, a, j, m)</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lnSpc>
                <a:spcPct val="125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a:t>
            </a:r>
            <a:r>
              <a:rPr lang="en-US" altLang="zh-CN" sz="2000" b="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e</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P(b)P(e)P(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a|b,e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j|a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lnSpc>
                <a:spcPct val="125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P(b) </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e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P(e)</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a|b,e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j|a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p:txBody>
      </p:sp>
      <p:sp>
        <p:nvSpPr>
          <p:cNvPr id="2"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Oval 2"/>
          <p:cNvSpPr>
            <a:spLocks noChangeArrowheads="1"/>
          </p:cNvSpPr>
          <p:nvPr/>
        </p:nvSpPr>
        <p:spPr bwMode="auto">
          <a:xfrm>
            <a:off x="5520906" y="885648"/>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87" name="Oval 3"/>
          <p:cNvSpPr>
            <a:spLocks noChangeArrowheads="1"/>
          </p:cNvSpPr>
          <p:nvPr/>
        </p:nvSpPr>
        <p:spPr bwMode="auto">
          <a:xfrm>
            <a:off x="5384800" y="1969701"/>
            <a:ext cx="609600" cy="31915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a:t>
            </a:r>
            <a:endParaRPr lang="en-US" altLang="zh-CN">
              <a:solidFill>
                <a:srgbClr val="FF3300"/>
              </a:solidFill>
            </a:endParaRPr>
          </a:p>
        </p:txBody>
      </p:sp>
      <p:sp>
        <p:nvSpPr>
          <p:cNvPr id="246788" name="Oval 4"/>
          <p:cNvSpPr>
            <a:spLocks noChangeArrowheads="1"/>
          </p:cNvSpPr>
          <p:nvPr/>
        </p:nvSpPr>
        <p:spPr bwMode="auto">
          <a:xfrm>
            <a:off x="8229600" y="2426901"/>
            <a:ext cx="6096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a:t>
            </a:r>
            <a:endParaRPr lang="en-US" altLang="zh-CN">
              <a:solidFill>
                <a:srgbClr val="FF3300"/>
              </a:solidFill>
            </a:endParaRPr>
          </a:p>
        </p:txBody>
      </p:sp>
      <p:sp>
        <p:nvSpPr>
          <p:cNvPr id="246789" name="Oval 5"/>
          <p:cNvSpPr>
            <a:spLocks noChangeArrowheads="1"/>
          </p:cNvSpPr>
          <p:nvPr/>
        </p:nvSpPr>
        <p:spPr bwMode="auto">
          <a:xfrm>
            <a:off x="2946400" y="2655501"/>
            <a:ext cx="6096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a:t>
            </a:r>
            <a:endParaRPr lang="en-US" altLang="zh-CN">
              <a:solidFill>
                <a:srgbClr val="FF3300"/>
              </a:solidFill>
            </a:endParaRPr>
          </a:p>
        </p:txBody>
      </p:sp>
      <p:sp>
        <p:nvSpPr>
          <p:cNvPr id="246790" name="Oval 6"/>
          <p:cNvSpPr>
            <a:spLocks noChangeArrowheads="1"/>
          </p:cNvSpPr>
          <p:nvPr/>
        </p:nvSpPr>
        <p:spPr bwMode="auto">
          <a:xfrm>
            <a:off x="1524000" y="37223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1" name="Oval 7"/>
          <p:cNvSpPr>
            <a:spLocks noChangeArrowheads="1"/>
          </p:cNvSpPr>
          <p:nvPr/>
        </p:nvSpPr>
        <p:spPr bwMode="auto">
          <a:xfrm>
            <a:off x="1524000" y="47891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2" name="Oval 8"/>
          <p:cNvSpPr>
            <a:spLocks noChangeArrowheads="1"/>
          </p:cNvSpPr>
          <p:nvPr/>
        </p:nvSpPr>
        <p:spPr bwMode="auto">
          <a:xfrm>
            <a:off x="1524000" y="58559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3" name="Oval 9"/>
          <p:cNvSpPr>
            <a:spLocks noChangeArrowheads="1"/>
          </p:cNvSpPr>
          <p:nvPr/>
        </p:nvSpPr>
        <p:spPr bwMode="auto">
          <a:xfrm>
            <a:off x="4470400" y="37223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4" name="Oval 10"/>
          <p:cNvSpPr>
            <a:spLocks noChangeArrowheads="1"/>
          </p:cNvSpPr>
          <p:nvPr/>
        </p:nvSpPr>
        <p:spPr bwMode="auto">
          <a:xfrm>
            <a:off x="4470400" y="47891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5" name="Oval 11"/>
          <p:cNvSpPr>
            <a:spLocks noChangeArrowheads="1"/>
          </p:cNvSpPr>
          <p:nvPr/>
        </p:nvSpPr>
        <p:spPr bwMode="auto">
          <a:xfrm>
            <a:off x="4470400" y="58559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6" name="Oval 12"/>
          <p:cNvSpPr>
            <a:spLocks noChangeArrowheads="1"/>
          </p:cNvSpPr>
          <p:nvPr/>
        </p:nvSpPr>
        <p:spPr bwMode="auto">
          <a:xfrm>
            <a:off x="6807200" y="36461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7" name="Oval 13"/>
          <p:cNvSpPr>
            <a:spLocks noChangeArrowheads="1"/>
          </p:cNvSpPr>
          <p:nvPr/>
        </p:nvSpPr>
        <p:spPr bwMode="auto">
          <a:xfrm>
            <a:off x="6807200" y="47129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8" name="Oval 14"/>
          <p:cNvSpPr>
            <a:spLocks noChangeArrowheads="1"/>
          </p:cNvSpPr>
          <p:nvPr/>
        </p:nvSpPr>
        <p:spPr bwMode="auto">
          <a:xfrm>
            <a:off x="6807200" y="57797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9" name="Oval 15"/>
          <p:cNvSpPr>
            <a:spLocks noChangeArrowheads="1"/>
          </p:cNvSpPr>
          <p:nvPr/>
        </p:nvSpPr>
        <p:spPr bwMode="auto">
          <a:xfrm>
            <a:off x="9550400" y="36461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0" name="Oval 16"/>
          <p:cNvSpPr>
            <a:spLocks noChangeArrowheads="1"/>
          </p:cNvSpPr>
          <p:nvPr/>
        </p:nvSpPr>
        <p:spPr bwMode="auto">
          <a:xfrm>
            <a:off x="9550400" y="47129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1" name="Oval 17"/>
          <p:cNvSpPr>
            <a:spLocks noChangeArrowheads="1"/>
          </p:cNvSpPr>
          <p:nvPr/>
        </p:nvSpPr>
        <p:spPr bwMode="auto">
          <a:xfrm>
            <a:off x="9550400" y="5779701"/>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2" name="Line 18"/>
          <p:cNvSpPr>
            <a:spLocks noChangeShapeType="1"/>
          </p:cNvSpPr>
          <p:nvPr/>
        </p:nvSpPr>
        <p:spPr bwMode="auto">
          <a:xfrm>
            <a:off x="5689600" y="1131501"/>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03" name="Line 19"/>
          <p:cNvSpPr>
            <a:spLocks noChangeShapeType="1"/>
          </p:cNvSpPr>
          <p:nvPr/>
        </p:nvSpPr>
        <p:spPr bwMode="auto">
          <a:xfrm>
            <a:off x="1727200" y="3950901"/>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04" name="Line 20"/>
          <p:cNvSpPr>
            <a:spLocks noChangeShapeType="1"/>
          </p:cNvSpPr>
          <p:nvPr/>
        </p:nvSpPr>
        <p:spPr bwMode="auto">
          <a:xfrm>
            <a:off x="1727200" y="5017701"/>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05" name="Line 21"/>
          <p:cNvSpPr>
            <a:spLocks noChangeShapeType="1"/>
          </p:cNvSpPr>
          <p:nvPr/>
        </p:nvSpPr>
        <p:spPr bwMode="auto">
          <a:xfrm>
            <a:off x="4673600" y="3950901"/>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06" name="Line 22"/>
          <p:cNvSpPr>
            <a:spLocks noChangeShapeType="1"/>
          </p:cNvSpPr>
          <p:nvPr/>
        </p:nvSpPr>
        <p:spPr bwMode="auto">
          <a:xfrm>
            <a:off x="4673600" y="5017701"/>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07" name="Line 23"/>
          <p:cNvSpPr>
            <a:spLocks noChangeShapeType="1"/>
          </p:cNvSpPr>
          <p:nvPr/>
        </p:nvSpPr>
        <p:spPr bwMode="auto">
          <a:xfrm>
            <a:off x="7010400" y="3874701"/>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08" name="Line 24"/>
          <p:cNvSpPr>
            <a:spLocks noChangeShapeType="1"/>
          </p:cNvSpPr>
          <p:nvPr/>
        </p:nvSpPr>
        <p:spPr bwMode="auto">
          <a:xfrm>
            <a:off x="7010400" y="4941501"/>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09" name="Line 25"/>
          <p:cNvSpPr>
            <a:spLocks noChangeShapeType="1"/>
          </p:cNvSpPr>
          <p:nvPr/>
        </p:nvSpPr>
        <p:spPr bwMode="auto">
          <a:xfrm>
            <a:off x="9753600" y="3874701"/>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10" name="Line 26"/>
          <p:cNvSpPr>
            <a:spLocks noChangeShapeType="1"/>
          </p:cNvSpPr>
          <p:nvPr/>
        </p:nvSpPr>
        <p:spPr bwMode="auto">
          <a:xfrm>
            <a:off x="9753600" y="4941501"/>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11" name="Line 27"/>
          <p:cNvSpPr>
            <a:spLocks noChangeShapeType="1"/>
          </p:cNvSpPr>
          <p:nvPr/>
        </p:nvSpPr>
        <p:spPr bwMode="auto">
          <a:xfrm flipH="1">
            <a:off x="1727200" y="3036501"/>
            <a:ext cx="1320800" cy="762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12" name="Line 28"/>
          <p:cNvSpPr>
            <a:spLocks noChangeShapeType="1"/>
          </p:cNvSpPr>
          <p:nvPr/>
        </p:nvSpPr>
        <p:spPr bwMode="auto">
          <a:xfrm flipH="1">
            <a:off x="3556000" y="2274501"/>
            <a:ext cx="1828800" cy="533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13" name="Line 29"/>
          <p:cNvSpPr>
            <a:spLocks noChangeShapeType="1"/>
          </p:cNvSpPr>
          <p:nvPr/>
        </p:nvSpPr>
        <p:spPr bwMode="auto">
          <a:xfrm>
            <a:off x="5994400" y="2198301"/>
            <a:ext cx="223520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14" name="Line 30"/>
          <p:cNvSpPr>
            <a:spLocks noChangeShapeType="1"/>
          </p:cNvSpPr>
          <p:nvPr/>
        </p:nvSpPr>
        <p:spPr bwMode="auto">
          <a:xfrm>
            <a:off x="8737600" y="2807901"/>
            <a:ext cx="91440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15" name="Line 31"/>
          <p:cNvSpPr>
            <a:spLocks noChangeShapeType="1"/>
          </p:cNvSpPr>
          <p:nvPr/>
        </p:nvSpPr>
        <p:spPr bwMode="auto">
          <a:xfrm flipH="1">
            <a:off x="7010400" y="2807901"/>
            <a:ext cx="132080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16" name="Line 32"/>
          <p:cNvSpPr>
            <a:spLocks noChangeShapeType="1"/>
          </p:cNvSpPr>
          <p:nvPr/>
        </p:nvSpPr>
        <p:spPr bwMode="auto">
          <a:xfrm>
            <a:off x="3556000" y="2960301"/>
            <a:ext cx="101600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817" name="Text Box 33"/>
          <p:cNvSpPr txBox="1">
            <a:spLocks noChangeArrowheads="1"/>
          </p:cNvSpPr>
          <p:nvPr/>
        </p:nvSpPr>
        <p:spPr bwMode="auto">
          <a:xfrm>
            <a:off x="4775200" y="1055302"/>
            <a:ext cx="914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dirty="0">
                <a:solidFill>
                  <a:schemeClr val="tx1"/>
                </a:solidFill>
              </a:rPr>
              <a:t>P(b)0.01</a:t>
            </a:r>
            <a:endParaRPr lang="en-US" altLang="zh-CN" sz="2000" b="0" dirty="0">
              <a:solidFill>
                <a:schemeClr val="tx1"/>
              </a:solidFill>
            </a:endParaRPr>
          </a:p>
        </p:txBody>
      </p:sp>
      <p:sp>
        <p:nvSpPr>
          <p:cNvPr id="246818" name="Text Box 34"/>
          <p:cNvSpPr txBox="1">
            <a:spLocks noChangeArrowheads="1"/>
          </p:cNvSpPr>
          <p:nvPr/>
        </p:nvSpPr>
        <p:spPr bwMode="auto">
          <a:xfrm>
            <a:off x="3556000" y="1741102"/>
            <a:ext cx="1117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P(e)</a:t>
            </a:r>
            <a:endParaRPr lang="en-US" altLang="zh-CN" sz="2000" b="0">
              <a:solidFill>
                <a:schemeClr val="tx1"/>
              </a:solidFill>
            </a:endParaRPr>
          </a:p>
          <a:p>
            <a:pPr>
              <a:spcBef>
                <a:spcPct val="50000"/>
              </a:spcBef>
            </a:pPr>
            <a:r>
              <a:rPr lang="en-US" altLang="zh-CN" sz="2000" b="0">
                <a:solidFill>
                  <a:schemeClr val="tx1"/>
                </a:solidFill>
              </a:rPr>
              <a:t>0.002</a:t>
            </a:r>
            <a:endParaRPr lang="en-US" altLang="zh-CN" sz="2000" b="0">
              <a:solidFill>
                <a:schemeClr val="tx1"/>
              </a:solidFill>
            </a:endParaRPr>
          </a:p>
        </p:txBody>
      </p:sp>
      <p:sp>
        <p:nvSpPr>
          <p:cNvPr id="246819" name="Text Box 35"/>
          <p:cNvSpPr txBox="1">
            <a:spLocks noChangeArrowheads="1"/>
          </p:cNvSpPr>
          <p:nvPr/>
        </p:nvSpPr>
        <p:spPr bwMode="auto">
          <a:xfrm>
            <a:off x="6908800" y="1588702"/>
            <a:ext cx="1117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P(~e)</a:t>
            </a:r>
            <a:endParaRPr lang="en-US" altLang="zh-CN" sz="2000" b="0">
              <a:solidFill>
                <a:schemeClr val="tx1"/>
              </a:solidFill>
            </a:endParaRPr>
          </a:p>
          <a:p>
            <a:pPr>
              <a:spcBef>
                <a:spcPct val="50000"/>
              </a:spcBef>
            </a:pPr>
            <a:r>
              <a:rPr lang="en-US" altLang="zh-CN" sz="2000" b="0">
                <a:solidFill>
                  <a:schemeClr val="tx1"/>
                </a:solidFill>
              </a:rPr>
              <a:t>0.998</a:t>
            </a:r>
            <a:endParaRPr lang="en-US" altLang="zh-CN" sz="2000" b="0">
              <a:solidFill>
                <a:schemeClr val="tx1"/>
              </a:solidFill>
            </a:endParaRPr>
          </a:p>
        </p:txBody>
      </p:sp>
      <p:sp>
        <p:nvSpPr>
          <p:cNvPr id="246820" name="Text Box 36"/>
          <p:cNvSpPr txBox="1">
            <a:spLocks noChangeArrowheads="1"/>
          </p:cNvSpPr>
          <p:nvPr/>
        </p:nvSpPr>
        <p:spPr bwMode="auto">
          <a:xfrm>
            <a:off x="1219200" y="2579302"/>
            <a:ext cx="14224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P(a|b,e)</a:t>
            </a:r>
            <a:endParaRPr lang="en-US" altLang="zh-CN" sz="2000" b="0">
              <a:solidFill>
                <a:schemeClr val="tx1"/>
              </a:solidFill>
            </a:endParaRPr>
          </a:p>
          <a:p>
            <a:pPr>
              <a:spcBef>
                <a:spcPct val="50000"/>
              </a:spcBef>
            </a:pPr>
            <a:r>
              <a:rPr lang="en-US" altLang="zh-CN" sz="2000" b="0">
                <a:solidFill>
                  <a:schemeClr val="tx1"/>
                </a:solidFill>
              </a:rPr>
              <a:t>0.95</a:t>
            </a:r>
            <a:endParaRPr lang="en-US" altLang="zh-CN" sz="2000" b="0">
              <a:solidFill>
                <a:schemeClr val="tx1"/>
              </a:solidFill>
            </a:endParaRPr>
          </a:p>
        </p:txBody>
      </p:sp>
      <p:sp>
        <p:nvSpPr>
          <p:cNvPr id="246821" name="Text Box 37"/>
          <p:cNvSpPr txBox="1">
            <a:spLocks noChangeArrowheads="1"/>
          </p:cNvSpPr>
          <p:nvPr/>
        </p:nvSpPr>
        <p:spPr bwMode="auto">
          <a:xfrm>
            <a:off x="3962400" y="2731702"/>
            <a:ext cx="14224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P(~a|b,e)</a:t>
            </a:r>
            <a:endParaRPr lang="en-US" altLang="zh-CN" sz="2000" b="0">
              <a:solidFill>
                <a:schemeClr val="tx1"/>
              </a:solidFill>
            </a:endParaRPr>
          </a:p>
          <a:p>
            <a:pPr>
              <a:spcBef>
                <a:spcPct val="50000"/>
              </a:spcBef>
            </a:pPr>
            <a:r>
              <a:rPr lang="en-US" altLang="zh-CN" sz="2000" b="0">
                <a:solidFill>
                  <a:schemeClr val="tx1"/>
                </a:solidFill>
              </a:rPr>
              <a:t>0.05</a:t>
            </a:r>
            <a:endParaRPr lang="en-US" altLang="zh-CN" sz="2000" b="0">
              <a:solidFill>
                <a:schemeClr val="tx1"/>
              </a:solidFill>
            </a:endParaRPr>
          </a:p>
        </p:txBody>
      </p:sp>
      <p:sp>
        <p:nvSpPr>
          <p:cNvPr id="246822" name="Text Box 38"/>
          <p:cNvSpPr txBox="1">
            <a:spLocks noChangeArrowheads="1"/>
          </p:cNvSpPr>
          <p:nvPr/>
        </p:nvSpPr>
        <p:spPr bwMode="auto">
          <a:xfrm>
            <a:off x="6096000" y="2655502"/>
            <a:ext cx="14224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P(a|b,~e)</a:t>
            </a:r>
            <a:endParaRPr lang="en-US" altLang="zh-CN" sz="2000" b="0">
              <a:solidFill>
                <a:schemeClr val="tx1"/>
              </a:solidFill>
            </a:endParaRPr>
          </a:p>
          <a:p>
            <a:pPr>
              <a:spcBef>
                <a:spcPct val="50000"/>
              </a:spcBef>
            </a:pPr>
            <a:r>
              <a:rPr lang="en-US" altLang="zh-CN" sz="2000" b="0">
                <a:solidFill>
                  <a:schemeClr val="tx1"/>
                </a:solidFill>
              </a:rPr>
              <a:t>0.94</a:t>
            </a:r>
            <a:endParaRPr lang="en-US" altLang="zh-CN" sz="2000" b="0">
              <a:solidFill>
                <a:schemeClr val="tx1"/>
              </a:solidFill>
            </a:endParaRPr>
          </a:p>
        </p:txBody>
      </p:sp>
      <p:sp>
        <p:nvSpPr>
          <p:cNvPr id="246823" name="Text Box 39"/>
          <p:cNvSpPr txBox="1">
            <a:spLocks noChangeArrowheads="1"/>
          </p:cNvSpPr>
          <p:nvPr/>
        </p:nvSpPr>
        <p:spPr bwMode="auto">
          <a:xfrm>
            <a:off x="9245600" y="2362201"/>
            <a:ext cx="1727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P(~a|b,~e)</a:t>
            </a:r>
            <a:endParaRPr lang="en-US" altLang="zh-CN" sz="2000" b="0">
              <a:solidFill>
                <a:schemeClr val="tx1"/>
              </a:solidFill>
            </a:endParaRPr>
          </a:p>
          <a:p>
            <a:pPr>
              <a:spcBef>
                <a:spcPct val="50000"/>
              </a:spcBef>
            </a:pPr>
            <a:r>
              <a:rPr lang="en-US" altLang="zh-CN" sz="2000" b="0">
                <a:solidFill>
                  <a:schemeClr val="tx1"/>
                </a:solidFill>
              </a:rPr>
              <a:t>0.06</a:t>
            </a:r>
            <a:endParaRPr lang="en-US" altLang="zh-CN" sz="2000" b="0">
              <a:solidFill>
                <a:schemeClr val="tx1"/>
              </a:solidFill>
            </a:endParaRPr>
          </a:p>
        </p:txBody>
      </p:sp>
      <p:sp>
        <p:nvSpPr>
          <p:cNvPr id="246824" name="Text Box 40"/>
          <p:cNvSpPr txBox="1">
            <a:spLocks noChangeArrowheads="1"/>
          </p:cNvSpPr>
          <p:nvPr/>
        </p:nvSpPr>
        <p:spPr bwMode="auto">
          <a:xfrm>
            <a:off x="609600" y="5017702"/>
            <a:ext cx="1117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P(m|a)</a:t>
            </a:r>
            <a:endParaRPr lang="en-US" altLang="zh-CN" sz="2000" b="0">
              <a:solidFill>
                <a:schemeClr val="tx1"/>
              </a:solidFill>
            </a:endParaRPr>
          </a:p>
          <a:p>
            <a:pPr>
              <a:spcBef>
                <a:spcPct val="50000"/>
              </a:spcBef>
            </a:pPr>
            <a:r>
              <a:rPr lang="en-US" altLang="zh-CN" sz="2000" b="0">
                <a:solidFill>
                  <a:schemeClr val="tx1"/>
                </a:solidFill>
              </a:rPr>
              <a:t>0.70</a:t>
            </a:r>
            <a:endParaRPr lang="en-US" altLang="zh-CN" sz="2000" b="0">
              <a:solidFill>
                <a:schemeClr val="tx1"/>
              </a:solidFill>
            </a:endParaRPr>
          </a:p>
        </p:txBody>
      </p:sp>
      <p:sp>
        <p:nvSpPr>
          <p:cNvPr id="246825" name="Text Box 41"/>
          <p:cNvSpPr txBox="1">
            <a:spLocks noChangeArrowheads="1"/>
          </p:cNvSpPr>
          <p:nvPr/>
        </p:nvSpPr>
        <p:spPr bwMode="auto">
          <a:xfrm>
            <a:off x="711200" y="3950902"/>
            <a:ext cx="10160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P(j|a)</a:t>
            </a:r>
            <a:endParaRPr lang="en-US" altLang="zh-CN" sz="2000" b="0">
              <a:solidFill>
                <a:schemeClr val="tx1"/>
              </a:solidFill>
            </a:endParaRPr>
          </a:p>
          <a:p>
            <a:pPr>
              <a:spcBef>
                <a:spcPct val="50000"/>
              </a:spcBef>
            </a:pPr>
            <a:r>
              <a:rPr lang="en-US" altLang="zh-CN" sz="2000" b="0">
                <a:solidFill>
                  <a:schemeClr val="tx1"/>
                </a:solidFill>
              </a:rPr>
              <a:t>0.90</a:t>
            </a:r>
            <a:endParaRPr lang="en-US" altLang="zh-CN" sz="2000" b="0">
              <a:solidFill>
                <a:schemeClr val="tx1"/>
              </a:solidFill>
            </a:endParaRPr>
          </a:p>
        </p:txBody>
      </p:sp>
      <p:sp>
        <p:nvSpPr>
          <p:cNvPr id="246826" name="Text Box 42"/>
          <p:cNvSpPr txBox="1">
            <a:spLocks noChangeArrowheads="1"/>
          </p:cNvSpPr>
          <p:nvPr/>
        </p:nvSpPr>
        <p:spPr bwMode="auto">
          <a:xfrm>
            <a:off x="3454400" y="3950902"/>
            <a:ext cx="1219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P(j|~a)</a:t>
            </a:r>
            <a:endParaRPr lang="en-US" altLang="zh-CN" sz="2000" b="0">
              <a:solidFill>
                <a:schemeClr val="tx1"/>
              </a:solidFill>
            </a:endParaRPr>
          </a:p>
          <a:p>
            <a:pPr>
              <a:spcBef>
                <a:spcPct val="50000"/>
              </a:spcBef>
            </a:pPr>
            <a:r>
              <a:rPr lang="en-US" altLang="zh-CN" sz="2000" b="0">
                <a:solidFill>
                  <a:schemeClr val="tx1"/>
                </a:solidFill>
              </a:rPr>
              <a:t>0.05</a:t>
            </a:r>
            <a:endParaRPr lang="en-US" altLang="zh-CN" sz="2000" b="0">
              <a:solidFill>
                <a:schemeClr val="tx1"/>
              </a:solidFill>
            </a:endParaRPr>
          </a:p>
        </p:txBody>
      </p:sp>
      <p:sp>
        <p:nvSpPr>
          <p:cNvPr id="246827" name="Text Box 43"/>
          <p:cNvSpPr txBox="1">
            <a:spLocks noChangeArrowheads="1"/>
          </p:cNvSpPr>
          <p:nvPr/>
        </p:nvSpPr>
        <p:spPr bwMode="auto">
          <a:xfrm>
            <a:off x="5892800" y="3874701"/>
            <a:ext cx="10160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P(j|a)</a:t>
            </a:r>
            <a:endParaRPr lang="en-US" altLang="zh-CN" sz="2000" b="0">
              <a:solidFill>
                <a:schemeClr val="tx1"/>
              </a:solidFill>
            </a:endParaRPr>
          </a:p>
          <a:p>
            <a:pPr>
              <a:spcBef>
                <a:spcPct val="50000"/>
              </a:spcBef>
            </a:pPr>
            <a:r>
              <a:rPr lang="en-US" altLang="zh-CN" sz="2000" b="0">
                <a:solidFill>
                  <a:schemeClr val="tx1"/>
                </a:solidFill>
              </a:rPr>
              <a:t>0.90</a:t>
            </a:r>
            <a:endParaRPr lang="en-US" altLang="zh-CN" sz="2000" b="0">
              <a:solidFill>
                <a:schemeClr val="tx1"/>
              </a:solidFill>
            </a:endParaRPr>
          </a:p>
        </p:txBody>
      </p:sp>
      <p:sp>
        <p:nvSpPr>
          <p:cNvPr id="246828" name="Text Box 44"/>
          <p:cNvSpPr txBox="1">
            <a:spLocks noChangeArrowheads="1"/>
          </p:cNvSpPr>
          <p:nvPr/>
        </p:nvSpPr>
        <p:spPr bwMode="auto">
          <a:xfrm>
            <a:off x="8432800" y="3874701"/>
            <a:ext cx="1219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P(j|~a)</a:t>
            </a:r>
            <a:endParaRPr lang="en-US" altLang="zh-CN" sz="2000" b="0">
              <a:solidFill>
                <a:schemeClr val="tx1"/>
              </a:solidFill>
            </a:endParaRPr>
          </a:p>
          <a:p>
            <a:pPr>
              <a:spcBef>
                <a:spcPct val="50000"/>
              </a:spcBef>
            </a:pPr>
            <a:r>
              <a:rPr lang="en-US" altLang="zh-CN" sz="2000" b="0">
                <a:solidFill>
                  <a:schemeClr val="tx1"/>
                </a:solidFill>
              </a:rPr>
              <a:t>0.05</a:t>
            </a:r>
            <a:endParaRPr lang="en-US" altLang="zh-CN" sz="2000" b="0">
              <a:solidFill>
                <a:schemeClr val="tx1"/>
              </a:solidFill>
            </a:endParaRPr>
          </a:p>
        </p:txBody>
      </p:sp>
      <p:sp>
        <p:nvSpPr>
          <p:cNvPr id="246829" name="Text Box 45"/>
          <p:cNvSpPr txBox="1">
            <a:spLocks noChangeArrowheads="1"/>
          </p:cNvSpPr>
          <p:nvPr/>
        </p:nvSpPr>
        <p:spPr bwMode="auto">
          <a:xfrm>
            <a:off x="5892800" y="5017702"/>
            <a:ext cx="1117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P(m|a)</a:t>
            </a:r>
            <a:endParaRPr lang="en-US" altLang="zh-CN" sz="2000" b="0">
              <a:solidFill>
                <a:schemeClr val="tx1"/>
              </a:solidFill>
            </a:endParaRPr>
          </a:p>
          <a:p>
            <a:pPr>
              <a:spcBef>
                <a:spcPct val="50000"/>
              </a:spcBef>
            </a:pPr>
            <a:r>
              <a:rPr lang="en-US" altLang="zh-CN" sz="2000" b="0">
                <a:solidFill>
                  <a:schemeClr val="tx1"/>
                </a:solidFill>
              </a:rPr>
              <a:t>0.70</a:t>
            </a:r>
            <a:endParaRPr lang="en-US" altLang="zh-CN" sz="2000" b="0">
              <a:solidFill>
                <a:schemeClr val="tx1"/>
              </a:solidFill>
            </a:endParaRPr>
          </a:p>
        </p:txBody>
      </p:sp>
      <p:sp>
        <p:nvSpPr>
          <p:cNvPr id="246830" name="Text Box 46"/>
          <p:cNvSpPr txBox="1">
            <a:spLocks noChangeArrowheads="1"/>
          </p:cNvSpPr>
          <p:nvPr/>
        </p:nvSpPr>
        <p:spPr bwMode="auto">
          <a:xfrm>
            <a:off x="3251200" y="5093902"/>
            <a:ext cx="13208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P(m|~a)</a:t>
            </a:r>
            <a:endParaRPr lang="en-US" altLang="zh-CN" sz="2000" b="0">
              <a:solidFill>
                <a:schemeClr val="tx1"/>
              </a:solidFill>
            </a:endParaRPr>
          </a:p>
          <a:p>
            <a:pPr>
              <a:spcBef>
                <a:spcPct val="50000"/>
              </a:spcBef>
            </a:pPr>
            <a:r>
              <a:rPr lang="en-US" altLang="zh-CN" sz="2000" b="0">
                <a:solidFill>
                  <a:schemeClr val="tx1"/>
                </a:solidFill>
              </a:rPr>
              <a:t>0.01</a:t>
            </a:r>
            <a:endParaRPr lang="en-US" altLang="zh-CN" sz="2000" b="0">
              <a:solidFill>
                <a:schemeClr val="tx1"/>
              </a:solidFill>
            </a:endParaRPr>
          </a:p>
        </p:txBody>
      </p:sp>
      <p:sp>
        <p:nvSpPr>
          <p:cNvPr id="246831" name="Text Box 47"/>
          <p:cNvSpPr txBox="1">
            <a:spLocks noChangeArrowheads="1"/>
          </p:cNvSpPr>
          <p:nvPr/>
        </p:nvSpPr>
        <p:spPr bwMode="auto">
          <a:xfrm>
            <a:off x="8432800" y="5017702"/>
            <a:ext cx="13208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P(m|~a)</a:t>
            </a:r>
            <a:endParaRPr lang="en-US" altLang="zh-CN" sz="2000" b="0">
              <a:solidFill>
                <a:schemeClr val="tx1"/>
              </a:solidFill>
            </a:endParaRPr>
          </a:p>
          <a:p>
            <a:pPr>
              <a:spcBef>
                <a:spcPct val="50000"/>
              </a:spcBef>
            </a:pPr>
            <a:r>
              <a:rPr lang="en-US" altLang="zh-CN" sz="2000" b="0">
                <a:solidFill>
                  <a:schemeClr val="tx1"/>
                </a:solidFill>
              </a:rPr>
              <a:t>0.01</a:t>
            </a:r>
            <a:endParaRPr lang="en-US" altLang="zh-CN" sz="2000" b="0">
              <a:solidFill>
                <a:schemeClr val="tx1"/>
              </a:solidFill>
            </a:endParaRPr>
          </a:p>
        </p:txBody>
      </p:sp>
      <p:sp>
        <p:nvSpPr>
          <p:cNvPr id="246832" name="Text Box 48"/>
          <p:cNvSpPr txBox="1">
            <a:spLocks noChangeArrowheads="1"/>
          </p:cNvSpPr>
          <p:nvPr/>
        </p:nvSpPr>
        <p:spPr bwMode="auto">
          <a:xfrm>
            <a:off x="3556000" y="6276075"/>
            <a:ext cx="7518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dirty="0">
                <a:solidFill>
                  <a:schemeClr val="tx1"/>
                </a:solidFill>
                <a:latin typeface="Times New Roman" panose="02020603050405020304" pitchFamily="18" charset="0"/>
                <a:cs typeface="Times New Roman" panose="02020603050405020304" pitchFamily="18" charset="0"/>
              </a:rPr>
              <a:t>P(b | j, m)</a:t>
            </a:r>
            <a:r>
              <a:rPr lang="zh-CN" altLang="en-US" sz="2000" b="0" dirty="0">
                <a:solidFill>
                  <a:schemeClr val="tx1"/>
                </a:solidFill>
                <a:latin typeface="微软雅黑" panose="020B0503020204020204" pitchFamily="34" charset="-122"/>
                <a:ea typeface="微软雅黑" panose="020B0503020204020204" pitchFamily="34" charset="-122"/>
              </a:rPr>
              <a:t>的自顶向下的计算过程</a:t>
            </a:r>
            <a:endParaRPr lang="zh-CN" altLang="en-US" sz="2000" b="0" dirty="0">
              <a:solidFill>
                <a:schemeClr val="tx1"/>
              </a:solidFill>
              <a:latin typeface="微软雅黑" panose="020B0503020204020204" pitchFamily="34" charset="-122"/>
              <a:ea typeface="微软雅黑" panose="020B0503020204020204" pitchFamily="34" charset="-122"/>
            </a:endParaRPr>
          </a:p>
        </p:txBody>
      </p:sp>
      <p:sp>
        <p:nvSpPr>
          <p:cNvPr id="2"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ChangeArrowheads="1"/>
          </p:cNvSpPr>
          <p:nvPr/>
        </p:nvSpPr>
        <p:spPr bwMode="auto">
          <a:xfrm>
            <a:off x="508000" y="1721927"/>
            <a:ext cx="11684000" cy="5506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lgn="l">
              <a:defRPr>
                <a:solidFill>
                  <a:schemeClr val="tx1"/>
                </a:solidFill>
                <a:latin typeface="Arial" panose="020B0604020202020204" pitchFamily="34" charset="0"/>
                <a:ea typeface="楷体_GB2312" pitchFamily="49" charset="-122"/>
              </a:defRPr>
            </a:lvl1pPr>
            <a:lvl2pPr marL="990600" indent="-533400" algn="l">
              <a:defRPr>
                <a:solidFill>
                  <a:schemeClr val="tx1"/>
                </a:solidFill>
                <a:latin typeface="Arial" panose="020B0604020202020204" pitchFamily="34" charset="0"/>
                <a:ea typeface="楷体_GB2312" pitchFamily="49" charset="-122"/>
              </a:defRPr>
            </a:lvl2pPr>
            <a:lvl3pPr marL="1371600" indent="-457200" algn="l">
              <a:defRPr>
                <a:solidFill>
                  <a:schemeClr val="tx1"/>
                </a:solidFill>
                <a:latin typeface="Arial" panose="020B0604020202020204" pitchFamily="34" charset="0"/>
                <a:ea typeface="楷体_GB2312" pitchFamily="49" charset="-122"/>
              </a:defRPr>
            </a:lvl3pPr>
            <a:lvl4pPr marL="1752600" indent="-381000" algn="l">
              <a:defRPr>
                <a:solidFill>
                  <a:schemeClr val="tx1"/>
                </a:solidFill>
                <a:latin typeface="Arial" panose="020B0604020202020204" pitchFamily="34" charset="0"/>
                <a:ea typeface="楷体_GB2312" pitchFamily="49" charset="-122"/>
              </a:defRPr>
            </a:lvl4pPr>
            <a:lvl5pPr marL="2209800" indent="-381000" algn="l">
              <a:defRPr>
                <a:solidFill>
                  <a:schemeClr val="tx1"/>
                </a:solidFill>
                <a:latin typeface="Arial" panose="020B0604020202020204" pitchFamily="34" charset="0"/>
                <a:ea typeface="楷体_GB2312" pitchFamily="49" charset="-122"/>
              </a:defRPr>
            </a:lvl5pPr>
            <a:lvl6pPr marL="2667000" indent="-381000" fontAlgn="base">
              <a:spcBef>
                <a:spcPct val="0"/>
              </a:spcBef>
              <a:spcAft>
                <a:spcPct val="0"/>
              </a:spcAft>
              <a:defRPr>
                <a:solidFill>
                  <a:schemeClr val="tx1"/>
                </a:solidFill>
                <a:latin typeface="Arial" panose="020B0604020202020204" pitchFamily="34" charset="0"/>
                <a:ea typeface="楷体_GB2312" pitchFamily="49" charset="-122"/>
              </a:defRPr>
            </a:lvl6pPr>
            <a:lvl7pPr marL="3124200" indent="-381000" fontAlgn="base">
              <a:spcBef>
                <a:spcPct val="0"/>
              </a:spcBef>
              <a:spcAft>
                <a:spcPct val="0"/>
              </a:spcAft>
              <a:defRPr>
                <a:solidFill>
                  <a:schemeClr val="tx1"/>
                </a:solidFill>
                <a:latin typeface="Arial" panose="020B0604020202020204" pitchFamily="34" charset="0"/>
                <a:ea typeface="楷体_GB2312" pitchFamily="49" charset="-122"/>
              </a:defRPr>
            </a:lvl7pPr>
            <a:lvl8pPr marL="3581400" indent="-381000" fontAlgn="base">
              <a:spcBef>
                <a:spcPct val="0"/>
              </a:spcBef>
              <a:spcAft>
                <a:spcPct val="0"/>
              </a:spcAft>
              <a:defRPr>
                <a:solidFill>
                  <a:schemeClr val="tx1"/>
                </a:solidFill>
                <a:latin typeface="Arial" panose="020B0604020202020204" pitchFamily="34" charset="0"/>
                <a:ea typeface="楷体_GB2312" pitchFamily="49" charset="-122"/>
              </a:defRPr>
            </a:lvl8pPr>
            <a:lvl9pPr marL="4038600" indent="-381000"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50000"/>
              </a:lnSpc>
              <a:spcBef>
                <a:spcPct val="20000"/>
              </a:spcBef>
              <a:buClr>
                <a:schemeClr val="bg2"/>
              </a:buClr>
              <a:buSzPct val="75000"/>
              <a:buFont typeface="Wingdings" panose="05000000000000000000" pitchFamily="2" charset="2"/>
              <a:buChar char="n"/>
            </a:pPr>
            <a:r>
              <a:rPr lang="en-US" altLang="zh-CN" sz="2000" b="0" dirty="0">
                <a:latin typeface="Times New Roman" panose="02020603050405020304" pitchFamily="18" charset="0"/>
                <a:cs typeface="Times New Roman" panose="02020603050405020304" pitchFamily="18" charset="0"/>
              </a:rPr>
              <a:t>P(B | j, m) = </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P(B, j, m) =  </a:t>
            </a:r>
            <a:r>
              <a:rPr lang="en-US" altLang="zh-CN" sz="2000" b="0" baseline="-25000" dirty="0" err="1">
                <a:latin typeface="Times New Roman" panose="02020603050405020304" pitchFamily="18" charset="0"/>
                <a:cs typeface="Times New Roman" panose="02020603050405020304" pitchFamily="18" charset="0"/>
                <a:sym typeface="Symbol" panose="05050102010706020507" pitchFamily="18" charset="2"/>
              </a:rPr>
              <a:t>e</a:t>
            </a:r>
            <a:r>
              <a:rPr lang="en-US" altLang="zh-CN" sz="2000" b="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baseline="-25000" dirty="0" err="1">
                <a:latin typeface="Times New Roman" panose="02020603050405020304" pitchFamily="18" charset="0"/>
                <a:cs typeface="Times New Roman" panose="02020603050405020304" pitchFamily="18" charset="0"/>
                <a:sym typeface="Symbol" panose="05050102010706020507" pitchFamily="18" charset="2"/>
              </a:rPr>
              <a:t>a</a:t>
            </a:r>
            <a:r>
              <a:rPr lang="en-US" altLang="zh-CN" sz="2000" b="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(B, e, a, j, m)</a:t>
            </a:r>
            <a:endParaRPr lang="en-US" altLang="zh-CN" sz="2000" b="0" dirty="0">
              <a:latin typeface="Times New Roman" panose="02020603050405020304" pitchFamily="18" charset="0"/>
              <a:cs typeface="Times New Roman" panose="02020603050405020304" pitchFamily="18" charset="0"/>
              <a:sym typeface="Symbol" panose="05050102010706020507" pitchFamily="18" charset="2"/>
            </a:endParaRPr>
          </a:p>
          <a:p>
            <a:pPr>
              <a:lnSpc>
                <a:spcPct val="150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2000" b="0" baseline="-25000" dirty="0" err="1">
                <a:latin typeface="Times New Roman" panose="02020603050405020304" pitchFamily="18" charset="0"/>
                <a:cs typeface="Times New Roman" panose="02020603050405020304" pitchFamily="18" charset="0"/>
                <a:sym typeface="Symbol" panose="05050102010706020507" pitchFamily="18" charset="2"/>
              </a:rPr>
              <a:t>e</a:t>
            </a:r>
            <a:r>
              <a:rPr lang="en-US" altLang="zh-CN" sz="2000" b="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baseline="-25000" dirty="0" err="1">
                <a:latin typeface="Times New Roman" panose="02020603050405020304" pitchFamily="18" charset="0"/>
                <a:cs typeface="Times New Roman" panose="02020603050405020304" pitchFamily="18" charset="0"/>
                <a:sym typeface="Symbol" panose="05050102010706020507" pitchFamily="18" charset="2"/>
              </a:rPr>
              <a:t>a</a:t>
            </a:r>
            <a:r>
              <a:rPr lang="en-US" altLang="zh-CN" sz="2000" b="0"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P(b)P(e)P(</a:t>
            </a:r>
            <a:r>
              <a:rPr lang="en-US" altLang="zh-CN" sz="2000" b="0" dirty="0" err="1">
                <a:latin typeface="Times New Roman" panose="02020603050405020304" pitchFamily="18" charset="0"/>
                <a:cs typeface="Times New Roman" panose="02020603050405020304" pitchFamily="18" charset="0"/>
                <a:sym typeface="Symbol" panose="05050102010706020507" pitchFamily="18" charset="2"/>
              </a:rPr>
              <a:t>a|b,e</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cs typeface="Times New Roman" panose="02020603050405020304" pitchFamily="18" charset="0"/>
                <a:sym typeface="Symbol" panose="05050102010706020507" pitchFamily="18" charset="2"/>
              </a:rPr>
              <a:t>j|a</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cs typeface="Times New Roman" panose="02020603050405020304" pitchFamily="18" charset="0"/>
                <a:sym typeface="Symbol" panose="05050102010706020507" pitchFamily="18" charset="2"/>
              </a:rPr>
              <a:t>m|a</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0" dirty="0">
              <a:latin typeface="Times New Roman" panose="02020603050405020304" pitchFamily="18" charset="0"/>
              <a:cs typeface="Times New Roman" panose="02020603050405020304" pitchFamily="18" charset="0"/>
              <a:sym typeface="Symbol" panose="05050102010706020507" pitchFamily="18" charset="2"/>
            </a:endParaRPr>
          </a:p>
          <a:p>
            <a:pPr>
              <a:lnSpc>
                <a:spcPct val="150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 P(b) </a:t>
            </a:r>
            <a:r>
              <a:rPr lang="en-US" altLang="zh-CN" sz="2000" b="0" baseline="-25000" dirty="0">
                <a:latin typeface="Times New Roman" panose="02020603050405020304" pitchFamily="18" charset="0"/>
                <a:cs typeface="Times New Roman" panose="02020603050405020304" pitchFamily="18" charset="0"/>
                <a:sym typeface="Symbol" panose="05050102010706020507" pitchFamily="18" charset="2"/>
              </a:rPr>
              <a:t>e </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P(e)</a:t>
            </a:r>
            <a:r>
              <a:rPr lang="en-US" altLang="zh-CN" sz="2000" b="0"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0" baseline="-25000" dirty="0">
                <a:latin typeface="Times New Roman" panose="02020603050405020304" pitchFamily="18" charset="0"/>
                <a:cs typeface="Times New Roman" panose="02020603050405020304" pitchFamily="18" charset="0"/>
                <a:sym typeface="Symbol" panose="05050102010706020507" pitchFamily="18" charset="2"/>
              </a:rPr>
              <a:t>a </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cs typeface="Times New Roman" panose="02020603050405020304" pitchFamily="18" charset="0"/>
                <a:sym typeface="Symbol" panose="05050102010706020507" pitchFamily="18" charset="2"/>
              </a:rPr>
              <a:t>a|b,e</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cs typeface="Times New Roman" panose="02020603050405020304" pitchFamily="18" charset="0"/>
                <a:sym typeface="Symbol" panose="05050102010706020507" pitchFamily="18" charset="2"/>
              </a:rPr>
              <a:t>j|a</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cs typeface="Times New Roman" panose="02020603050405020304" pitchFamily="18" charset="0"/>
                <a:sym typeface="Symbol" panose="05050102010706020507" pitchFamily="18" charset="2"/>
              </a:rPr>
              <a:t>m|a</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0" dirty="0">
              <a:latin typeface="Times New Roman" panose="02020603050405020304" pitchFamily="18" charset="0"/>
              <a:cs typeface="Times New Roman" panose="02020603050405020304" pitchFamily="18" charset="0"/>
              <a:sym typeface="Symbol" panose="05050102010706020507" pitchFamily="18" charset="2"/>
            </a:endParaRPr>
          </a:p>
          <a:p>
            <a:pPr>
              <a:lnSpc>
                <a:spcPct val="150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 0.001{[0.002(0.950.90.7 + 0.050.05 0.01)] + [0.998  (0.94 0.9 0.7+0.06 0.05 0.01)]} </a:t>
            </a:r>
            <a:endParaRPr lang="en-US" altLang="zh-CN" sz="2000" b="0" dirty="0">
              <a:latin typeface="Times New Roman" panose="02020603050405020304" pitchFamily="18" charset="0"/>
              <a:cs typeface="Times New Roman" panose="02020603050405020304" pitchFamily="18" charset="0"/>
              <a:sym typeface="Symbol" panose="05050102010706020507" pitchFamily="18" charset="2"/>
            </a:endParaRPr>
          </a:p>
          <a:p>
            <a:pPr>
              <a:lnSpc>
                <a:spcPct val="150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cs typeface="Times New Roman" panose="02020603050405020304" pitchFamily="18" charset="0"/>
                <a:sym typeface="Symbol" panose="05050102010706020507" pitchFamily="18" charset="2"/>
              </a:rPr>
              <a:t>=  0.00059224</a:t>
            </a:r>
            <a:endParaRPr lang="en-US" altLang="zh-CN" sz="2000" b="0"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2"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Oval 2"/>
          <p:cNvSpPr>
            <a:spLocks noChangeArrowheads="1"/>
          </p:cNvSpPr>
          <p:nvPr/>
        </p:nvSpPr>
        <p:spPr bwMode="auto">
          <a:xfrm>
            <a:off x="5486400" y="9144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35" name="Oval 3"/>
          <p:cNvSpPr>
            <a:spLocks noChangeArrowheads="1"/>
          </p:cNvSpPr>
          <p:nvPr/>
        </p:nvSpPr>
        <p:spPr bwMode="auto">
          <a:xfrm>
            <a:off x="5384800" y="1981203"/>
            <a:ext cx="6096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a:t>
            </a:r>
            <a:endParaRPr lang="en-US" altLang="zh-CN">
              <a:solidFill>
                <a:srgbClr val="FF3300"/>
              </a:solidFill>
            </a:endParaRPr>
          </a:p>
        </p:txBody>
      </p:sp>
      <p:sp>
        <p:nvSpPr>
          <p:cNvPr id="248836" name="Oval 4"/>
          <p:cNvSpPr>
            <a:spLocks noChangeArrowheads="1"/>
          </p:cNvSpPr>
          <p:nvPr/>
        </p:nvSpPr>
        <p:spPr bwMode="auto">
          <a:xfrm>
            <a:off x="8229600" y="2438403"/>
            <a:ext cx="6096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a:t>
            </a:r>
            <a:endParaRPr lang="en-US" altLang="zh-CN">
              <a:solidFill>
                <a:srgbClr val="FF3300"/>
              </a:solidFill>
            </a:endParaRPr>
          </a:p>
        </p:txBody>
      </p:sp>
      <p:sp>
        <p:nvSpPr>
          <p:cNvPr id="248837" name="Oval 5"/>
          <p:cNvSpPr>
            <a:spLocks noChangeArrowheads="1"/>
          </p:cNvSpPr>
          <p:nvPr/>
        </p:nvSpPr>
        <p:spPr bwMode="auto">
          <a:xfrm>
            <a:off x="2946400" y="2667003"/>
            <a:ext cx="6096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3300"/>
                </a:solidFill>
              </a:rPr>
              <a:t>+</a:t>
            </a:r>
            <a:endParaRPr lang="en-US" altLang="zh-CN">
              <a:solidFill>
                <a:srgbClr val="FF3300"/>
              </a:solidFill>
            </a:endParaRPr>
          </a:p>
        </p:txBody>
      </p:sp>
      <p:sp>
        <p:nvSpPr>
          <p:cNvPr id="248838" name="Oval 6"/>
          <p:cNvSpPr>
            <a:spLocks noChangeArrowheads="1"/>
          </p:cNvSpPr>
          <p:nvPr/>
        </p:nvSpPr>
        <p:spPr bwMode="auto">
          <a:xfrm>
            <a:off x="1524000" y="37338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39" name="Oval 7"/>
          <p:cNvSpPr>
            <a:spLocks noChangeArrowheads="1"/>
          </p:cNvSpPr>
          <p:nvPr/>
        </p:nvSpPr>
        <p:spPr bwMode="auto">
          <a:xfrm>
            <a:off x="1524000" y="48006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0" name="Oval 8"/>
          <p:cNvSpPr>
            <a:spLocks noChangeArrowheads="1"/>
          </p:cNvSpPr>
          <p:nvPr/>
        </p:nvSpPr>
        <p:spPr bwMode="auto">
          <a:xfrm>
            <a:off x="1524000" y="58674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1" name="Oval 9"/>
          <p:cNvSpPr>
            <a:spLocks noChangeArrowheads="1"/>
          </p:cNvSpPr>
          <p:nvPr/>
        </p:nvSpPr>
        <p:spPr bwMode="auto">
          <a:xfrm>
            <a:off x="4470400" y="37338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2" name="Oval 10"/>
          <p:cNvSpPr>
            <a:spLocks noChangeArrowheads="1"/>
          </p:cNvSpPr>
          <p:nvPr/>
        </p:nvSpPr>
        <p:spPr bwMode="auto">
          <a:xfrm>
            <a:off x="4470400" y="48006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3" name="Oval 11"/>
          <p:cNvSpPr>
            <a:spLocks noChangeArrowheads="1"/>
          </p:cNvSpPr>
          <p:nvPr/>
        </p:nvSpPr>
        <p:spPr bwMode="auto">
          <a:xfrm>
            <a:off x="4470400" y="58674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4" name="Oval 12"/>
          <p:cNvSpPr>
            <a:spLocks noChangeArrowheads="1"/>
          </p:cNvSpPr>
          <p:nvPr/>
        </p:nvSpPr>
        <p:spPr bwMode="auto">
          <a:xfrm>
            <a:off x="6807200" y="36576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5" name="Oval 13"/>
          <p:cNvSpPr>
            <a:spLocks noChangeArrowheads="1"/>
          </p:cNvSpPr>
          <p:nvPr/>
        </p:nvSpPr>
        <p:spPr bwMode="auto">
          <a:xfrm>
            <a:off x="6807200" y="47244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6" name="Oval 14"/>
          <p:cNvSpPr>
            <a:spLocks noChangeArrowheads="1"/>
          </p:cNvSpPr>
          <p:nvPr/>
        </p:nvSpPr>
        <p:spPr bwMode="auto">
          <a:xfrm>
            <a:off x="6807200" y="57912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7" name="Oval 15"/>
          <p:cNvSpPr>
            <a:spLocks noChangeArrowheads="1"/>
          </p:cNvSpPr>
          <p:nvPr/>
        </p:nvSpPr>
        <p:spPr bwMode="auto">
          <a:xfrm>
            <a:off x="9550400" y="36576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8" name="Oval 16"/>
          <p:cNvSpPr>
            <a:spLocks noChangeArrowheads="1"/>
          </p:cNvSpPr>
          <p:nvPr/>
        </p:nvSpPr>
        <p:spPr bwMode="auto">
          <a:xfrm>
            <a:off x="9550400" y="47244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9" name="Oval 17"/>
          <p:cNvSpPr>
            <a:spLocks noChangeArrowheads="1"/>
          </p:cNvSpPr>
          <p:nvPr/>
        </p:nvSpPr>
        <p:spPr bwMode="auto">
          <a:xfrm>
            <a:off x="9550400" y="5791203"/>
            <a:ext cx="304800" cy="2286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0" name="Line 18"/>
          <p:cNvSpPr>
            <a:spLocks noChangeShapeType="1"/>
          </p:cNvSpPr>
          <p:nvPr/>
        </p:nvSpPr>
        <p:spPr bwMode="auto">
          <a:xfrm>
            <a:off x="5689600" y="1143003"/>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51" name="Line 19"/>
          <p:cNvSpPr>
            <a:spLocks noChangeShapeType="1"/>
          </p:cNvSpPr>
          <p:nvPr/>
        </p:nvSpPr>
        <p:spPr bwMode="auto">
          <a:xfrm>
            <a:off x="1727200" y="3962403"/>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52" name="Line 20"/>
          <p:cNvSpPr>
            <a:spLocks noChangeShapeType="1"/>
          </p:cNvSpPr>
          <p:nvPr/>
        </p:nvSpPr>
        <p:spPr bwMode="auto">
          <a:xfrm>
            <a:off x="1727200" y="5029203"/>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53" name="Line 21"/>
          <p:cNvSpPr>
            <a:spLocks noChangeShapeType="1"/>
          </p:cNvSpPr>
          <p:nvPr/>
        </p:nvSpPr>
        <p:spPr bwMode="auto">
          <a:xfrm>
            <a:off x="4673600" y="3962403"/>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54" name="Line 22"/>
          <p:cNvSpPr>
            <a:spLocks noChangeShapeType="1"/>
          </p:cNvSpPr>
          <p:nvPr/>
        </p:nvSpPr>
        <p:spPr bwMode="auto">
          <a:xfrm>
            <a:off x="4673600" y="5029203"/>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55" name="Line 23"/>
          <p:cNvSpPr>
            <a:spLocks noChangeShapeType="1"/>
          </p:cNvSpPr>
          <p:nvPr/>
        </p:nvSpPr>
        <p:spPr bwMode="auto">
          <a:xfrm>
            <a:off x="7010400" y="3886203"/>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56" name="Line 24"/>
          <p:cNvSpPr>
            <a:spLocks noChangeShapeType="1"/>
          </p:cNvSpPr>
          <p:nvPr/>
        </p:nvSpPr>
        <p:spPr bwMode="auto">
          <a:xfrm>
            <a:off x="7010400" y="4953003"/>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57" name="Line 25"/>
          <p:cNvSpPr>
            <a:spLocks noChangeShapeType="1"/>
          </p:cNvSpPr>
          <p:nvPr/>
        </p:nvSpPr>
        <p:spPr bwMode="auto">
          <a:xfrm>
            <a:off x="9753600" y="3886203"/>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58" name="Line 26"/>
          <p:cNvSpPr>
            <a:spLocks noChangeShapeType="1"/>
          </p:cNvSpPr>
          <p:nvPr/>
        </p:nvSpPr>
        <p:spPr bwMode="auto">
          <a:xfrm>
            <a:off x="9753600" y="4953003"/>
            <a:ext cx="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59" name="Line 27"/>
          <p:cNvSpPr>
            <a:spLocks noChangeShapeType="1"/>
          </p:cNvSpPr>
          <p:nvPr/>
        </p:nvSpPr>
        <p:spPr bwMode="auto">
          <a:xfrm flipH="1">
            <a:off x="1727200" y="3048003"/>
            <a:ext cx="1320800" cy="762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60" name="Line 28"/>
          <p:cNvSpPr>
            <a:spLocks noChangeShapeType="1"/>
          </p:cNvSpPr>
          <p:nvPr/>
        </p:nvSpPr>
        <p:spPr bwMode="auto">
          <a:xfrm flipH="1">
            <a:off x="3556000" y="2286003"/>
            <a:ext cx="1828800" cy="533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61" name="Line 29"/>
          <p:cNvSpPr>
            <a:spLocks noChangeShapeType="1"/>
          </p:cNvSpPr>
          <p:nvPr/>
        </p:nvSpPr>
        <p:spPr bwMode="auto">
          <a:xfrm>
            <a:off x="5994400" y="2209803"/>
            <a:ext cx="223520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62" name="Line 30"/>
          <p:cNvSpPr>
            <a:spLocks noChangeShapeType="1"/>
          </p:cNvSpPr>
          <p:nvPr/>
        </p:nvSpPr>
        <p:spPr bwMode="auto">
          <a:xfrm>
            <a:off x="8737600" y="2819403"/>
            <a:ext cx="91440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63" name="Line 31"/>
          <p:cNvSpPr>
            <a:spLocks noChangeShapeType="1"/>
          </p:cNvSpPr>
          <p:nvPr/>
        </p:nvSpPr>
        <p:spPr bwMode="auto">
          <a:xfrm flipH="1">
            <a:off x="7010400" y="2819403"/>
            <a:ext cx="132080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64" name="Line 32"/>
          <p:cNvSpPr>
            <a:spLocks noChangeShapeType="1"/>
          </p:cNvSpPr>
          <p:nvPr/>
        </p:nvSpPr>
        <p:spPr bwMode="auto">
          <a:xfrm>
            <a:off x="3556000" y="2971803"/>
            <a:ext cx="1016000" cy="838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865" name="Text Box 33"/>
          <p:cNvSpPr txBox="1">
            <a:spLocks noChangeArrowheads="1"/>
          </p:cNvSpPr>
          <p:nvPr/>
        </p:nvSpPr>
        <p:spPr bwMode="auto">
          <a:xfrm>
            <a:off x="4779036" y="1066804"/>
            <a:ext cx="11176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dirty="0">
                <a:solidFill>
                  <a:schemeClr val="tx1"/>
                </a:solidFill>
              </a:rPr>
              <a:t>P(~b)</a:t>
            </a:r>
            <a:endParaRPr lang="en-US" altLang="zh-CN" sz="2000" b="0" dirty="0">
              <a:solidFill>
                <a:schemeClr val="tx1"/>
              </a:solidFill>
            </a:endParaRPr>
          </a:p>
          <a:p>
            <a:pPr>
              <a:spcBef>
                <a:spcPct val="50000"/>
              </a:spcBef>
            </a:pPr>
            <a:r>
              <a:rPr lang="en-US" altLang="zh-CN" sz="2000" b="0" dirty="0">
                <a:solidFill>
                  <a:schemeClr val="tx1"/>
                </a:solidFill>
              </a:rPr>
              <a:t>0.999</a:t>
            </a:r>
            <a:endParaRPr lang="en-US" altLang="zh-CN" sz="2000" b="0" dirty="0">
              <a:solidFill>
                <a:schemeClr val="tx1"/>
              </a:solidFill>
            </a:endParaRPr>
          </a:p>
        </p:txBody>
      </p:sp>
      <p:sp>
        <p:nvSpPr>
          <p:cNvPr id="248866" name="Text Box 34"/>
          <p:cNvSpPr txBox="1">
            <a:spLocks noChangeArrowheads="1"/>
          </p:cNvSpPr>
          <p:nvPr/>
        </p:nvSpPr>
        <p:spPr bwMode="auto">
          <a:xfrm>
            <a:off x="3556000" y="1752604"/>
            <a:ext cx="1117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P(e)</a:t>
            </a:r>
            <a:endParaRPr lang="en-US" altLang="zh-CN" sz="2000" b="0">
              <a:solidFill>
                <a:schemeClr val="tx1"/>
              </a:solidFill>
            </a:endParaRPr>
          </a:p>
          <a:p>
            <a:pPr>
              <a:spcBef>
                <a:spcPct val="50000"/>
              </a:spcBef>
            </a:pPr>
            <a:r>
              <a:rPr lang="en-US" altLang="zh-CN" sz="2000" b="0">
                <a:solidFill>
                  <a:schemeClr val="tx1"/>
                </a:solidFill>
              </a:rPr>
              <a:t>0.002</a:t>
            </a:r>
            <a:endParaRPr lang="en-US" altLang="zh-CN" sz="2000" b="0">
              <a:solidFill>
                <a:schemeClr val="tx1"/>
              </a:solidFill>
            </a:endParaRPr>
          </a:p>
        </p:txBody>
      </p:sp>
      <p:sp>
        <p:nvSpPr>
          <p:cNvPr id="248867" name="Text Box 35"/>
          <p:cNvSpPr txBox="1">
            <a:spLocks noChangeArrowheads="1"/>
          </p:cNvSpPr>
          <p:nvPr/>
        </p:nvSpPr>
        <p:spPr bwMode="auto">
          <a:xfrm>
            <a:off x="6908800" y="1600204"/>
            <a:ext cx="1117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P(~e)</a:t>
            </a:r>
            <a:endParaRPr lang="en-US" altLang="zh-CN" sz="2000" b="0">
              <a:solidFill>
                <a:schemeClr val="tx1"/>
              </a:solidFill>
            </a:endParaRPr>
          </a:p>
          <a:p>
            <a:pPr>
              <a:spcBef>
                <a:spcPct val="50000"/>
              </a:spcBef>
            </a:pPr>
            <a:r>
              <a:rPr lang="en-US" altLang="zh-CN" sz="2000" b="0">
                <a:solidFill>
                  <a:schemeClr val="tx1"/>
                </a:solidFill>
              </a:rPr>
              <a:t>0.998</a:t>
            </a:r>
            <a:endParaRPr lang="en-US" altLang="zh-CN" sz="2000" b="0">
              <a:solidFill>
                <a:schemeClr val="tx1"/>
              </a:solidFill>
            </a:endParaRPr>
          </a:p>
        </p:txBody>
      </p:sp>
      <p:sp>
        <p:nvSpPr>
          <p:cNvPr id="248868" name="Text Box 36"/>
          <p:cNvSpPr txBox="1">
            <a:spLocks noChangeArrowheads="1"/>
          </p:cNvSpPr>
          <p:nvPr/>
        </p:nvSpPr>
        <p:spPr bwMode="auto">
          <a:xfrm>
            <a:off x="1219200" y="2590804"/>
            <a:ext cx="14224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P(a|~b,e)</a:t>
            </a:r>
            <a:endParaRPr lang="en-US" altLang="zh-CN" sz="2000" b="0">
              <a:solidFill>
                <a:schemeClr val="tx1"/>
              </a:solidFill>
            </a:endParaRPr>
          </a:p>
          <a:p>
            <a:pPr>
              <a:spcBef>
                <a:spcPct val="50000"/>
              </a:spcBef>
            </a:pPr>
            <a:r>
              <a:rPr lang="en-US" altLang="zh-CN" sz="2000" b="0">
                <a:solidFill>
                  <a:schemeClr val="tx1"/>
                </a:solidFill>
              </a:rPr>
              <a:t>0.29</a:t>
            </a:r>
            <a:endParaRPr lang="en-US" altLang="zh-CN" sz="2000" b="0">
              <a:solidFill>
                <a:schemeClr val="tx1"/>
              </a:solidFill>
            </a:endParaRPr>
          </a:p>
        </p:txBody>
      </p:sp>
      <p:sp>
        <p:nvSpPr>
          <p:cNvPr id="248869" name="Text Box 37"/>
          <p:cNvSpPr txBox="1">
            <a:spLocks noChangeArrowheads="1"/>
          </p:cNvSpPr>
          <p:nvPr/>
        </p:nvSpPr>
        <p:spPr bwMode="auto">
          <a:xfrm>
            <a:off x="4025661" y="2743204"/>
            <a:ext cx="1625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dirty="0">
                <a:solidFill>
                  <a:schemeClr val="tx1"/>
                </a:solidFill>
              </a:rPr>
              <a:t>P(~a|~</a:t>
            </a:r>
            <a:r>
              <a:rPr lang="en-US" altLang="zh-CN" sz="2000" b="0" dirty="0" err="1">
                <a:solidFill>
                  <a:schemeClr val="tx1"/>
                </a:solidFill>
              </a:rPr>
              <a:t>b,e</a:t>
            </a:r>
            <a:r>
              <a:rPr lang="en-US" altLang="zh-CN" sz="2000" b="0" dirty="0">
                <a:solidFill>
                  <a:schemeClr val="tx1"/>
                </a:solidFill>
              </a:rPr>
              <a:t>)</a:t>
            </a:r>
            <a:endParaRPr lang="en-US" altLang="zh-CN" sz="2000" b="0" dirty="0">
              <a:solidFill>
                <a:schemeClr val="tx1"/>
              </a:solidFill>
            </a:endParaRPr>
          </a:p>
          <a:p>
            <a:pPr>
              <a:spcBef>
                <a:spcPct val="50000"/>
              </a:spcBef>
            </a:pPr>
            <a:r>
              <a:rPr lang="en-US" altLang="zh-CN" sz="2000" b="0" dirty="0">
                <a:solidFill>
                  <a:schemeClr val="tx1"/>
                </a:solidFill>
              </a:rPr>
              <a:t>0.71</a:t>
            </a:r>
            <a:endParaRPr lang="en-US" altLang="zh-CN" sz="2000" b="0" dirty="0">
              <a:solidFill>
                <a:schemeClr val="tx1"/>
              </a:solidFill>
            </a:endParaRPr>
          </a:p>
        </p:txBody>
      </p:sp>
      <p:sp>
        <p:nvSpPr>
          <p:cNvPr id="248870" name="Text Box 38"/>
          <p:cNvSpPr txBox="1">
            <a:spLocks noChangeArrowheads="1"/>
          </p:cNvSpPr>
          <p:nvPr/>
        </p:nvSpPr>
        <p:spPr bwMode="auto">
          <a:xfrm>
            <a:off x="6588671" y="2667004"/>
            <a:ext cx="1625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dirty="0">
                <a:solidFill>
                  <a:schemeClr val="tx1"/>
                </a:solidFill>
              </a:rPr>
              <a:t>P(a|~</a:t>
            </a:r>
            <a:r>
              <a:rPr lang="en-US" altLang="zh-CN" sz="2000" b="0" dirty="0" err="1">
                <a:solidFill>
                  <a:schemeClr val="tx1"/>
                </a:solidFill>
              </a:rPr>
              <a:t>b,~e</a:t>
            </a:r>
            <a:r>
              <a:rPr lang="en-US" altLang="zh-CN" sz="2000" b="0" dirty="0">
                <a:solidFill>
                  <a:schemeClr val="tx1"/>
                </a:solidFill>
              </a:rPr>
              <a:t>)</a:t>
            </a:r>
            <a:endParaRPr lang="en-US" altLang="zh-CN" sz="2000" b="0" dirty="0">
              <a:solidFill>
                <a:schemeClr val="tx1"/>
              </a:solidFill>
            </a:endParaRPr>
          </a:p>
          <a:p>
            <a:pPr>
              <a:spcBef>
                <a:spcPct val="50000"/>
              </a:spcBef>
            </a:pPr>
            <a:r>
              <a:rPr lang="en-US" altLang="zh-CN" sz="2000" b="0" dirty="0">
                <a:solidFill>
                  <a:schemeClr val="tx1"/>
                </a:solidFill>
              </a:rPr>
              <a:t>0.001</a:t>
            </a:r>
            <a:endParaRPr lang="en-US" altLang="zh-CN" sz="2000" b="0" dirty="0">
              <a:solidFill>
                <a:schemeClr val="tx1"/>
              </a:solidFill>
            </a:endParaRPr>
          </a:p>
        </p:txBody>
      </p:sp>
      <p:sp>
        <p:nvSpPr>
          <p:cNvPr id="248871" name="Text Box 39"/>
          <p:cNvSpPr txBox="1">
            <a:spLocks noChangeArrowheads="1"/>
          </p:cNvSpPr>
          <p:nvPr/>
        </p:nvSpPr>
        <p:spPr bwMode="auto">
          <a:xfrm>
            <a:off x="9113327" y="2362201"/>
            <a:ext cx="18288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dirty="0">
                <a:solidFill>
                  <a:schemeClr val="tx1"/>
                </a:solidFill>
              </a:rPr>
              <a:t>P(~a|~</a:t>
            </a:r>
            <a:r>
              <a:rPr lang="en-US" altLang="zh-CN" sz="2000" b="0" dirty="0" err="1">
                <a:solidFill>
                  <a:schemeClr val="tx1"/>
                </a:solidFill>
              </a:rPr>
              <a:t>b,~e</a:t>
            </a:r>
            <a:r>
              <a:rPr lang="en-US" altLang="zh-CN" sz="2000" b="0" dirty="0">
                <a:solidFill>
                  <a:schemeClr val="tx1"/>
                </a:solidFill>
              </a:rPr>
              <a:t>)</a:t>
            </a:r>
            <a:endParaRPr lang="en-US" altLang="zh-CN" sz="2000" b="0" dirty="0">
              <a:solidFill>
                <a:schemeClr val="tx1"/>
              </a:solidFill>
            </a:endParaRPr>
          </a:p>
          <a:p>
            <a:pPr>
              <a:spcBef>
                <a:spcPct val="50000"/>
              </a:spcBef>
            </a:pPr>
            <a:r>
              <a:rPr lang="en-US" altLang="zh-CN" sz="2000" b="0" dirty="0">
                <a:solidFill>
                  <a:schemeClr val="tx1"/>
                </a:solidFill>
              </a:rPr>
              <a:t>0.999</a:t>
            </a:r>
            <a:endParaRPr lang="en-US" altLang="zh-CN" sz="2000" b="0" dirty="0">
              <a:solidFill>
                <a:schemeClr val="tx1"/>
              </a:solidFill>
            </a:endParaRPr>
          </a:p>
        </p:txBody>
      </p:sp>
      <p:sp>
        <p:nvSpPr>
          <p:cNvPr id="248872" name="Text Box 40"/>
          <p:cNvSpPr txBox="1">
            <a:spLocks noChangeArrowheads="1"/>
          </p:cNvSpPr>
          <p:nvPr/>
        </p:nvSpPr>
        <p:spPr bwMode="auto">
          <a:xfrm>
            <a:off x="609600" y="5029204"/>
            <a:ext cx="1117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P(m|a)</a:t>
            </a:r>
            <a:endParaRPr lang="en-US" altLang="zh-CN" sz="2000" b="0">
              <a:solidFill>
                <a:schemeClr val="tx1"/>
              </a:solidFill>
            </a:endParaRPr>
          </a:p>
          <a:p>
            <a:pPr>
              <a:spcBef>
                <a:spcPct val="50000"/>
              </a:spcBef>
            </a:pPr>
            <a:r>
              <a:rPr lang="en-US" altLang="zh-CN" sz="2000" b="0">
                <a:solidFill>
                  <a:schemeClr val="tx1"/>
                </a:solidFill>
              </a:rPr>
              <a:t>0.70</a:t>
            </a:r>
            <a:endParaRPr lang="en-US" altLang="zh-CN" sz="2000" b="0">
              <a:solidFill>
                <a:schemeClr val="tx1"/>
              </a:solidFill>
            </a:endParaRPr>
          </a:p>
        </p:txBody>
      </p:sp>
      <p:sp>
        <p:nvSpPr>
          <p:cNvPr id="248873" name="Text Box 41"/>
          <p:cNvSpPr txBox="1">
            <a:spLocks noChangeArrowheads="1"/>
          </p:cNvSpPr>
          <p:nvPr/>
        </p:nvSpPr>
        <p:spPr bwMode="auto">
          <a:xfrm>
            <a:off x="711200" y="3962404"/>
            <a:ext cx="10160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P(j|a)</a:t>
            </a:r>
            <a:endParaRPr lang="en-US" altLang="zh-CN" sz="2000" b="0">
              <a:solidFill>
                <a:schemeClr val="tx1"/>
              </a:solidFill>
            </a:endParaRPr>
          </a:p>
          <a:p>
            <a:pPr>
              <a:spcBef>
                <a:spcPct val="50000"/>
              </a:spcBef>
            </a:pPr>
            <a:r>
              <a:rPr lang="en-US" altLang="zh-CN" sz="2000" b="0">
                <a:solidFill>
                  <a:schemeClr val="tx1"/>
                </a:solidFill>
              </a:rPr>
              <a:t>0.90</a:t>
            </a:r>
            <a:endParaRPr lang="en-US" altLang="zh-CN" sz="2000" b="0">
              <a:solidFill>
                <a:schemeClr val="tx1"/>
              </a:solidFill>
            </a:endParaRPr>
          </a:p>
        </p:txBody>
      </p:sp>
      <p:sp>
        <p:nvSpPr>
          <p:cNvPr id="248874" name="Text Box 42"/>
          <p:cNvSpPr txBox="1">
            <a:spLocks noChangeArrowheads="1"/>
          </p:cNvSpPr>
          <p:nvPr/>
        </p:nvSpPr>
        <p:spPr bwMode="auto">
          <a:xfrm>
            <a:off x="3575171" y="3962404"/>
            <a:ext cx="1219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dirty="0">
                <a:solidFill>
                  <a:schemeClr val="tx1"/>
                </a:solidFill>
              </a:rPr>
              <a:t>P(j|~a)</a:t>
            </a:r>
            <a:endParaRPr lang="en-US" altLang="zh-CN" sz="2000" b="0" dirty="0">
              <a:solidFill>
                <a:schemeClr val="tx1"/>
              </a:solidFill>
            </a:endParaRPr>
          </a:p>
          <a:p>
            <a:pPr>
              <a:spcBef>
                <a:spcPct val="50000"/>
              </a:spcBef>
            </a:pPr>
            <a:r>
              <a:rPr lang="en-US" altLang="zh-CN" sz="2000" b="0" dirty="0">
                <a:solidFill>
                  <a:schemeClr val="tx1"/>
                </a:solidFill>
              </a:rPr>
              <a:t>0.05</a:t>
            </a:r>
            <a:endParaRPr lang="en-US" altLang="zh-CN" sz="2000" b="0" dirty="0">
              <a:solidFill>
                <a:schemeClr val="tx1"/>
              </a:solidFill>
            </a:endParaRPr>
          </a:p>
        </p:txBody>
      </p:sp>
      <p:sp>
        <p:nvSpPr>
          <p:cNvPr id="248875" name="Text Box 43"/>
          <p:cNvSpPr txBox="1">
            <a:spLocks noChangeArrowheads="1"/>
          </p:cNvSpPr>
          <p:nvPr/>
        </p:nvSpPr>
        <p:spPr bwMode="auto">
          <a:xfrm>
            <a:off x="5892800" y="3886203"/>
            <a:ext cx="10160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P(j|a)</a:t>
            </a:r>
            <a:endParaRPr lang="en-US" altLang="zh-CN" sz="2000" b="0">
              <a:solidFill>
                <a:schemeClr val="tx1"/>
              </a:solidFill>
            </a:endParaRPr>
          </a:p>
          <a:p>
            <a:pPr>
              <a:spcBef>
                <a:spcPct val="50000"/>
              </a:spcBef>
            </a:pPr>
            <a:r>
              <a:rPr lang="en-US" altLang="zh-CN" sz="2000" b="0">
                <a:solidFill>
                  <a:schemeClr val="tx1"/>
                </a:solidFill>
              </a:rPr>
              <a:t>0.90</a:t>
            </a:r>
            <a:endParaRPr lang="en-US" altLang="zh-CN" sz="2000" b="0">
              <a:solidFill>
                <a:schemeClr val="tx1"/>
              </a:solidFill>
            </a:endParaRPr>
          </a:p>
        </p:txBody>
      </p:sp>
      <p:sp>
        <p:nvSpPr>
          <p:cNvPr id="248876" name="Text Box 44"/>
          <p:cNvSpPr txBox="1">
            <a:spLocks noChangeArrowheads="1"/>
          </p:cNvSpPr>
          <p:nvPr/>
        </p:nvSpPr>
        <p:spPr bwMode="auto">
          <a:xfrm>
            <a:off x="8662840" y="3886203"/>
            <a:ext cx="1219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dirty="0">
                <a:solidFill>
                  <a:schemeClr val="tx1"/>
                </a:solidFill>
              </a:rPr>
              <a:t>P(j|~a)</a:t>
            </a:r>
            <a:endParaRPr lang="en-US" altLang="zh-CN" sz="2000" b="0" dirty="0">
              <a:solidFill>
                <a:schemeClr val="tx1"/>
              </a:solidFill>
            </a:endParaRPr>
          </a:p>
          <a:p>
            <a:pPr>
              <a:spcBef>
                <a:spcPct val="50000"/>
              </a:spcBef>
            </a:pPr>
            <a:r>
              <a:rPr lang="en-US" altLang="zh-CN" sz="2000" b="0" dirty="0">
                <a:solidFill>
                  <a:schemeClr val="tx1"/>
                </a:solidFill>
              </a:rPr>
              <a:t>0.05</a:t>
            </a:r>
            <a:endParaRPr lang="en-US" altLang="zh-CN" sz="2000" b="0" dirty="0">
              <a:solidFill>
                <a:schemeClr val="tx1"/>
              </a:solidFill>
            </a:endParaRPr>
          </a:p>
        </p:txBody>
      </p:sp>
      <p:sp>
        <p:nvSpPr>
          <p:cNvPr id="248877" name="Text Box 45"/>
          <p:cNvSpPr txBox="1">
            <a:spLocks noChangeArrowheads="1"/>
          </p:cNvSpPr>
          <p:nvPr/>
        </p:nvSpPr>
        <p:spPr bwMode="auto">
          <a:xfrm>
            <a:off x="5892800" y="5029204"/>
            <a:ext cx="1117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a:solidFill>
                  <a:schemeClr val="tx1"/>
                </a:solidFill>
              </a:rPr>
              <a:t>P(m|a)</a:t>
            </a:r>
            <a:endParaRPr lang="en-US" altLang="zh-CN" sz="2000" b="0">
              <a:solidFill>
                <a:schemeClr val="tx1"/>
              </a:solidFill>
            </a:endParaRPr>
          </a:p>
          <a:p>
            <a:pPr>
              <a:spcBef>
                <a:spcPct val="50000"/>
              </a:spcBef>
            </a:pPr>
            <a:r>
              <a:rPr lang="en-US" altLang="zh-CN" sz="2000" b="0">
                <a:solidFill>
                  <a:schemeClr val="tx1"/>
                </a:solidFill>
              </a:rPr>
              <a:t>0.70</a:t>
            </a:r>
            <a:endParaRPr lang="en-US" altLang="zh-CN" sz="2000" b="0">
              <a:solidFill>
                <a:schemeClr val="tx1"/>
              </a:solidFill>
            </a:endParaRPr>
          </a:p>
        </p:txBody>
      </p:sp>
      <p:sp>
        <p:nvSpPr>
          <p:cNvPr id="248878" name="Text Box 46"/>
          <p:cNvSpPr txBox="1">
            <a:spLocks noChangeArrowheads="1"/>
          </p:cNvSpPr>
          <p:nvPr/>
        </p:nvSpPr>
        <p:spPr bwMode="auto">
          <a:xfrm>
            <a:off x="3423730" y="5105404"/>
            <a:ext cx="13208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dirty="0">
                <a:solidFill>
                  <a:schemeClr val="tx1"/>
                </a:solidFill>
              </a:rPr>
              <a:t>P(m|~a)</a:t>
            </a:r>
            <a:endParaRPr lang="en-US" altLang="zh-CN" sz="2000" b="0" dirty="0">
              <a:solidFill>
                <a:schemeClr val="tx1"/>
              </a:solidFill>
            </a:endParaRPr>
          </a:p>
          <a:p>
            <a:pPr>
              <a:spcBef>
                <a:spcPct val="50000"/>
              </a:spcBef>
            </a:pPr>
            <a:r>
              <a:rPr lang="en-US" altLang="zh-CN" sz="2000" b="0" dirty="0">
                <a:solidFill>
                  <a:schemeClr val="tx1"/>
                </a:solidFill>
              </a:rPr>
              <a:t>0.01</a:t>
            </a:r>
            <a:endParaRPr lang="en-US" altLang="zh-CN" sz="2000" b="0" dirty="0">
              <a:solidFill>
                <a:schemeClr val="tx1"/>
              </a:solidFill>
            </a:endParaRPr>
          </a:p>
        </p:txBody>
      </p:sp>
      <p:sp>
        <p:nvSpPr>
          <p:cNvPr id="248879" name="Text Box 47"/>
          <p:cNvSpPr txBox="1">
            <a:spLocks noChangeArrowheads="1"/>
          </p:cNvSpPr>
          <p:nvPr/>
        </p:nvSpPr>
        <p:spPr bwMode="auto">
          <a:xfrm>
            <a:off x="8685844" y="5029204"/>
            <a:ext cx="13208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0" dirty="0">
                <a:solidFill>
                  <a:schemeClr val="tx1"/>
                </a:solidFill>
              </a:rPr>
              <a:t>P(m|~a)</a:t>
            </a:r>
            <a:endParaRPr lang="en-US" altLang="zh-CN" sz="2000" b="0" dirty="0">
              <a:solidFill>
                <a:schemeClr val="tx1"/>
              </a:solidFill>
            </a:endParaRPr>
          </a:p>
          <a:p>
            <a:pPr>
              <a:spcBef>
                <a:spcPct val="50000"/>
              </a:spcBef>
            </a:pPr>
            <a:r>
              <a:rPr lang="en-US" altLang="zh-CN" sz="2000" b="0" dirty="0">
                <a:solidFill>
                  <a:schemeClr val="tx1"/>
                </a:solidFill>
              </a:rPr>
              <a:t>0.01</a:t>
            </a:r>
            <a:endParaRPr lang="en-US" altLang="zh-CN" sz="2000" b="0" dirty="0">
              <a:solidFill>
                <a:schemeClr val="tx1"/>
              </a:solidFill>
            </a:endParaRPr>
          </a:p>
        </p:txBody>
      </p:sp>
      <p:sp>
        <p:nvSpPr>
          <p:cNvPr id="248880" name="Text Box 48"/>
          <p:cNvSpPr txBox="1">
            <a:spLocks noChangeArrowheads="1"/>
          </p:cNvSpPr>
          <p:nvPr/>
        </p:nvSpPr>
        <p:spPr bwMode="auto">
          <a:xfrm>
            <a:off x="4025661" y="6248404"/>
            <a:ext cx="7518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 | j, m)</a:t>
            </a:r>
            <a:r>
              <a:rPr lang="zh-CN" altLang="en-US" sz="2000" dirty="0">
                <a:latin typeface="微软雅黑" panose="020B0503020204020204" pitchFamily="34" charset="-122"/>
                <a:ea typeface="微软雅黑" panose="020B0503020204020204" pitchFamily="34" charset="-122"/>
              </a:rPr>
              <a:t>的自顶向下的计算过程</a:t>
            </a:r>
            <a:endParaRPr lang="zh-CN" altLang="en-US" sz="2000" dirty="0">
              <a:latin typeface="微软雅黑" panose="020B0503020204020204" pitchFamily="34" charset="-122"/>
              <a:ea typeface="微软雅黑" panose="020B0503020204020204" pitchFamily="34" charset="-122"/>
            </a:endParaRPr>
          </a:p>
        </p:txBody>
      </p:sp>
      <p:sp>
        <p:nvSpPr>
          <p:cNvPr id="2" name="Title 1"/>
          <p:cNvSpPr txBox="1"/>
          <p:nvPr/>
        </p:nvSpPr>
        <p:spPr>
          <a:xfrm>
            <a:off x="741145" y="377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ChangeArrowheads="1"/>
          </p:cNvSpPr>
          <p:nvPr/>
        </p:nvSpPr>
        <p:spPr bwMode="auto">
          <a:xfrm>
            <a:off x="376454" y="1584738"/>
            <a:ext cx="116840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lgn="l">
              <a:defRPr>
                <a:solidFill>
                  <a:schemeClr val="tx1"/>
                </a:solidFill>
                <a:latin typeface="Arial" panose="020B0604020202020204" pitchFamily="34" charset="0"/>
                <a:ea typeface="楷体_GB2312" pitchFamily="49" charset="-122"/>
              </a:defRPr>
            </a:lvl1pPr>
            <a:lvl2pPr marL="990600" indent="-533400" algn="l">
              <a:defRPr>
                <a:solidFill>
                  <a:schemeClr val="tx1"/>
                </a:solidFill>
                <a:latin typeface="Arial" panose="020B0604020202020204" pitchFamily="34" charset="0"/>
                <a:ea typeface="楷体_GB2312" pitchFamily="49" charset="-122"/>
              </a:defRPr>
            </a:lvl2pPr>
            <a:lvl3pPr marL="1371600" indent="-457200" algn="l">
              <a:defRPr>
                <a:solidFill>
                  <a:schemeClr val="tx1"/>
                </a:solidFill>
                <a:latin typeface="Arial" panose="020B0604020202020204" pitchFamily="34" charset="0"/>
                <a:ea typeface="楷体_GB2312" pitchFamily="49" charset="-122"/>
              </a:defRPr>
            </a:lvl3pPr>
            <a:lvl4pPr marL="1752600" indent="-381000" algn="l">
              <a:defRPr>
                <a:solidFill>
                  <a:schemeClr val="tx1"/>
                </a:solidFill>
                <a:latin typeface="Arial" panose="020B0604020202020204" pitchFamily="34" charset="0"/>
                <a:ea typeface="楷体_GB2312" pitchFamily="49" charset="-122"/>
              </a:defRPr>
            </a:lvl4pPr>
            <a:lvl5pPr marL="2209800" indent="-381000" algn="l">
              <a:defRPr>
                <a:solidFill>
                  <a:schemeClr val="tx1"/>
                </a:solidFill>
                <a:latin typeface="Arial" panose="020B0604020202020204" pitchFamily="34" charset="0"/>
                <a:ea typeface="楷体_GB2312" pitchFamily="49" charset="-122"/>
              </a:defRPr>
            </a:lvl5pPr>
            <a:lvl6pPr marL="2667000" indent="-381000" fontAlgn="base">
              <a:spcBef>
                <a:spcPct val="0"/>
              </a:spcBef>
              <a:spcAft>
                <a:spcPct val="0"/>
              </a:spcAft>
              <a:defRPr>
                <a:solidFill>
                  <a:schemeClr val="tx1"/>
                </a:solidFill>
                <a:latin typeface="Arial" panose="020B0604020202020204" pitchFamily="34" charset="0"/>
                <a:ea typeface="楷体_GB2312" pitchFamily="49" charset="-122"/>
              </a:defRPr>
            </a:lvl6pPr>
            <a:lvl7pPr marL="3124200" indent="-381000" fontAlgn="base">
              <a:spcBef>
                <a:spcPct val="0"/>
              </a:spcBef>
              <a:spcAft>
                <a:spcPct val="0"/>
              </a:spcAft>
              <a:defRPr>
                <a:solidFill>
                  <a:schemeClr val="tx1"/>
                </a:solidFill>
                <a:latin typeface="Arial" panose="020B0604020202020204" pitchFamily="34" charset="0"/>
                <a:ea typeface="楷体_GB2312" pitchFamily="49" charset="-122"/>
              </a:defRPr>
            </a:lvl7pPr>
            <a:lvl8pPr marL="3581400" indent="-381000" fontAlgn="base">
              <a:spcBef>
                <a:spcPct val="0"/>
              </a:spcBef>
              <a:spcAft>
                <a:spcPct val="0"/>
              </a:spcAft>
              <a:defRPr>
                <a:solidFill>
                  <a:schemeClr val="tx1"/>
                </a:solidFill>
                <a:latin typeface="Arial" panose="020B0604020202020204" pitchFamily="34" charset="0"/>
                <a:ea typeface="楷体_GB2312" pitchFamily="49" charset="-122"/>
              </a:defRPr>
            </a:lvl8pPr>
            <a:lvl9pPr marL="4038600" indent="-381000"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5000"/>
              </a:lnSpc>
              <a:spcBef>
                <a:spcPct val="20000"/>
              </a:spcBef>
              <a:buClr>
                <a:schemeClr val="bg2"/>
              </a:buClr>
              <a:buSzPct val="75000"/>
              <a:buFont typeface="Wingdings" panose="05000000000000000000" pitchFamily="2" charset="2"/>
              <a:buChar char="n"/>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P(~B | j, m) =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P(~B, j, m) =  </a:t>
            </a:r>
            <a:r>
              <a:rPr lang="en-US" altLang="zh-CN" sz="2000" b="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e</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 e, a, j, m)</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lnSpc>
                <a:spcPct val="125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a:t>
            </a:r>
            <a:r>
              <a:rPr lang="en-US" altLang="zh-CN" sz="2000" b="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e</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P(~b)P(e)P(a|~</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j|a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lnSpc>
                <a:spcPct val="125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P(~b) </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e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P(e)</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b,e</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j|a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lnSpc>
                <a:spcPct val="125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0.999{[0.002(0.290.90.7 + 0.710.05 0.01)] + [0.998  (0.001 0.9 0.7+0.999 0.05 0.01)]} </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lnSpc>
                <a:spcPct val="125000"/>
              </a:lnSpc>
              <a:spcBef>
                <a:spcPct val="20000"/>
              </a:spcBef>
              <a:buClr>
                <a:schemeClr val="bg2"/>
              </a:buClr>
              <a:buSzPct val="75000"/>
              <a:buFont typeface="Wingdings" panose="05000000000000000000" pitchFamily="2" charset="2"/>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0.0014919</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spcBef>
                <a:spcPct val="20000"/>
              </a:spcBef>
              <a:buClr>
                <a:schemeClr val="bg2"/>
              </a:buClr>
              <a:buSzPct val="75000"/>
              <a:buFont typeface="Wingdings" panose="05000000000000000000" pitchFamily="2" charset="2"/>
              <a:buNone/>
            </a:pPr>
            <a:endParaRPr lang="en-US" altLang="zh-CN" sz="2000" b="0" dirty="0">
              <a:latin typeface="Times New Roman" panose="02020603050405020304" pitchFamily="18" charset="0"/>
              <a:sym typeface="Symbol" panose="05050102010706020507" pitchFamily="18" charset="2"/>
            </a:endParaRPr>
          </a:p>
          <a:p>
            <a:pPr>
              <a:spcBef>
                <a:spcPct val="20000"/>
              </a:spcBef>
              <a:buClr>
                <a:schemeClr val="bg2"/>
              </a:buClr>
              <a:buSzPct val="75000"/>
              <a:buFont typeface="Wingdings" panose="05000000000000000000" pitchFamily="2" charset="2"/>
              <a:buNone/>
            </a:pPr>
            <a:r>
              <a:rPr lang="zh-CN" altLang="en-US" sz="2000" b="0" dirty="0">
                <a:latin typeface="微软雅黑" panose="020B0503020204020204" pitchFamily="34" charset="-122"/>
                <a:ea typeface="微软雅黑" panose="020B0503020204020204" pitchFamily="34" charset="-122"/>
                <a:sym typeface="Symbol" panose="05050102010706020507" pitchFamily="18" charset="2"/>
              </a:rPr>
              <a:t>      因此，</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B|j</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m) =  &lt;0.00059224, 0.0014919&gt;</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spcBef>
                <a:spcPct val="20000"/>
              </a:spcBef>
              <a:buClr>
                <a:schemeClr val="bg2"/>
              </a:buClr>
              <a:buSzPct val="75000"/>
              <a:buFont typeface="Wingdings" panose="05000000000000000000" pitchFamily="2" charset="2"/>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&lt;0.284, 0.716&gt;</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spcBef>
                <a:spcPct val="20000"/>
              </a:spcBef>
              <a:buClr>
                <a:schemeClr val="bg2"/>
              </a:buClr>
              <a:buSzPct val="75000"/>
              <a:buFont typeface="Wingdings" panose="05000000000000000000" pitchFamily="2" charset="2"/>
              <a:buNone/>
            </a:pPr>
            <a:r>
              <a:rPr lang="zh-CN" altLang="en-US" sz="2000" b="0" dirty="0">
                <a:latin typeface="微软雅黑" panose="020B0503020204020204" pitchFamily="34" charset="-122"/>
                <a:ea typeface="微软雅黑" panose="020B0503020204020204" pitchFamily="34" charset="-122"/>
                <a:sym typeface="Symbol" panose="05050102010706020507" pitchFamily="18" charset="2"/>
              </a:rPr>
              <a:t>      </a:t>
            </a:r>
            <a:endParaRPr lang="en-US" altLang="zh-CN" sz="2000" b="0" dirty="0">
              <a:latin typeface="微软雅黑" panose="020B0503020204020204" pitchFamily="34" charset="-122"/>
              <a:ea typeface="微软雅黑" panose="020B0503020204020204" pitchFamily="34" charset="-122"/>
              <a:sym typeface="Symbol" panose="05050102010706020507" pitchFamily="18" charset="2"/>
            </a:endParaRPr>
          </a:p>
          <a:p>
            <a:pPr>
              <a:spcBef>
                <a:spcPct val="20000"/>
              </a:spcBef>
              <a:buClr>
                <a:schemeClr val="bg2"/>
              </a:buClr>
              <a:buSzPct val="75000"/>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b="0" dirty="0">
                <a:latin typeface="微软雅黑" panose="020B0503020204020204" pitchFamily="34" charset="-122"/>
                <a:ea typeface="微软雅黑" panose="020B0503020204020204" pitchFamily="34" charset="-122"/>
                <a:sym typeface="Symbol" panose="05050102010706020507" pitchFamily="18" charset="2"/>
              </a:rPr>
              <a:t>即在</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John</a:t>
            </a:r>
            <a:r>
              <a:rPr lang="zh-CN" altLang="en-US" sz="2000" b="0" dirty="0">
                <a:latin typeface="微软雅黑" panose="020B0503020204020204" pitchFamily="34" charset="-122"/>
                <a:ea typeface="微软雅黑" panose="020B0503020204020204" pitchFamily="34" charset="-122"/>
                <a:sym typeface="Symbol" panose="05050102010706020507" pitchFamily="18" charset="2"/>
              </a:rPr>
              <a:t>和</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Mary</a:t>
            </a:r>
            <a:r>
              <a:rPr lang="zh-CN" altLang="en-US" sz="2000" b="0" dirty="0">
                <a:latin typeface="微软雅黑" panose="020B0503020204020204" pitchFamily="34" charset="-122"/>
                <a:ea typeface="微软雅黑" panose="020B0503020204020204" pitchFamily="34" charset="-122"/>
                <a:sym typeface="Symbol" panose="05050102010706020507" pitchFamily="18" charset="2"/>
              </a:rPr>
              <a:t>都打电话的条件下，出现盗贼的概率约为</a:t>
            </a:r>
            <a:r>
              <a:rPr lang="en-US" altLang="zh-CN" sz="2000" b="0" dirty="0">
                <a:latin typeface="微软雅黑" panose="020B0503020204020204" pitchFamily="34" charset="-122"/>
                <a:ea typeface="微软雅黑" panose="020B0503020204020204" pitchFamily="34" charset="-122"/>
                <a:sym typeface="Symbol" panose="05050102010706020507" pitchFamily="18" charset="2"/>
              </a:rPr>
              <a:t>28%</a:t>
            </a:r>
            <a:r>
              <a:rPr lang="zh-CN" altLang="en-US" sz="2000" b="0" dirty="0">
                <a:latin typeface="微软雅黑" panose="020B0503020204020204" pitchFamily="34" charset="-122"/>
                <a:ea typeface="微软雅黑" panose="020B0503020204020204" pitchFamily="34" charset="-122"/>
                <a:sym typeface="Symbol" panose="05050102010706020507" pitchFamily="18" charset="2"/>
              </a:rPr>
              <a:t>。</a:t>
            </a:r>
            <a:endParaRPr lang="zh-CN" altLang="en-US" sz="2000" b="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2" name="Title 1"/>
          <p:cNvSpPr txBox="1"/>
          <p:nvPr/>
        </p:nvSpPr>
        <p:spPr>
          <a:xfrm>
            <a:off x="702644" y="9211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latin typeface="Calibri" panose="020F0502020204030204"/>
                <a:cs typeface="Calibri" panose="020F0502020204030204"/>
              </a:rPr>
              <a:t>贝叶斯枚举推理</a:t>
            </a:r>
            <a:endParaRPr lang="en-US" sz="2800" dirty="0">
              <a:latin typeface="Calibri" panose="020F0502020204030204"/>
              <a:cs typeface="Calibri" panose="020F050202020403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361347" y="2168224"/>
            <a:ext cx="2855980" cy="682098"/>
            <a:chOff x="422953" y="1892526"/>
            <a:chExt cx="2855980" cy="682098"/>
          </a:xfrm>
        </p:grpSpPr>
        <p:sp>
          <p:nvSpPr>
            <p:cNvPr id="24" name="文本框 23"/>
            <p:cNvSpPr txBox="1"/>
            <p:nvPr/>
          </p:nvSpPr>
          <p:spPr>
            <a:xfrm>
              <a:off x="750437" y="2114249"/>
              <a:ext cx="2320925" cy="460375"/>
            </a:xfrm>
            <a:prstGeom prst="rect">
              <a:avLst/>
            </a:prstGeom>
            <a:noFill/>
          </p:spPr>
          <p:txBody>
            <a:bodyPr wrap="none" rtlCol="0">
              <a:spAutoFit/>
            </a:bodyPr>
            <a:lstStyle/>
            <a:p>
              <a:pPr algn="l">
                <a:lnSpc>
                  <a:spcPct val="100000"/>
                </a:lnSpc>
                <a:buClrTx/>
                <a:buSzTx/>
                <a:buFontTx/>
              </a:pPr>
              <a:r>
                <a:rPr lang="zh-CN" altLang="en-US" sz="2400" b="1" dirty="0">
                  <a:solidFill>
                    <a:srgbClr val="24569D"/>
                  </a:solidFill>
                </a:rPr>
                <a:t>概率推理知识点</a:t>
              </a:r>
              <a:endParaRPr lang="zh-CN" altLang="en-US" sz="2400" b="1" dirty="0">
                <a:solidFill>
                  <a:srgbClr val="24569D"/>
                </a:solidFill>
              </a:endParaRPr>
            </a:p>
          </p:txBody>
        </p:sp>
        <p:sp>
          <p:nvSpPr>
            <p:cNvPr id="25" name="文本框 24"/>
            <p:cNvSpPr txBox="1"/>
            <p:nvPr/>
          </p:nvSpPr>
          <p:spPr>
            <a:xfrm>
              <a:off x="422953" y="1892526"/>
              <a:ext cx="2855980" cy="461665"/>
            </a:xfrm>
            <a:prstGeom prst="rect">
              <a:avLst/>
            </a:prstGeom>
            <a:noFill/>
          </p:spPr>
          <p:txBody>
            <a:bodyPr wrap="square" rtlCol="0">
              <a:spAutoFit/>
            </a:bodyPr>
            <a:lstStyle/>
            <a:p>
              <a:endParaRPr lang="en-US" altLang="zh-CN" sz="2400" dirty="0">
                <a:solidFill>
                  <a:srgbClr val="FF0000"/>
                </a:solidFill>
                <a:latin typeface="微软雅黑" panose="020B0503020204020204" pitchFamily="34" charset="-122"/>
              </a:endParaRPr>
            </a:p>
          </p:txBody>
        </p:sp>
      </p:grpSp>
      <p:sp>
        <p:nvSpPr>
          <p:cNvPr id="28" name="文本框 27"/>
          <p:cNvSpPr txBox="1"/>
          <p:nvPr/>
        </p:nvSpPr>
        <p:spPr>
          <a:xfrm>
            <a:off x="8502923" y="4920321"/>
            <a:ext cx="2954655" cy="461665"/>
          </a:xfrm>
          <a:prstGeom prst="rect">
            <a:avLst/>
          </a:prstGeom>
          <a:noFill/>
        </p:spPr>
        <p:txBody>
          <a:bodyPr wrap="none" rtlCol="0">
            <a:spAutoFit/>
          </a:bodyPr>
          <a:lstStyle/>
          <a:p>
            <a:r>
              <a:rPr lang="zh-CN" altLang="en-US" sz="2400" b="1" dirty="0">
                <a:solidFill>
                  <a:srgbClr val="FF0000"/>
                </a:solidFill>
              </a:rPr>
              <a:t>贝叶斯网络推理案例</a:t>
            </a:r>
            <a:endParaRPr lang="zh-CN" altLang="en-US" sz="2400" b="1" dirty="0">
              <a:solidFill>
                <a:srgbClr val="FF0000"/>
              </a:solidFill>
            </a:endParaRPr>
          </a:p>
        </p:txBody>
      </p:sp>
      <p:sp>
        <p:nvSpPr>
          <p:cNvPr id="30" name="文本框 29"/>
          <p:cNvSpPr txBox="1"/>
          <p:nvPr/>
        </p:nvSpPr>
        <p:spPr>
          <a:xfrm>
            <a:off x="8441833" y="2411796"/>
            <a:ext cx="2626360" cy="460375"/>
          </a:xfrm>
          <a:prstGeom prst="rect">
            <a:avLst/>
          </a:prstGeom>
          <a:noFill/>
        </p:spPr>
        <p:txBody>
          <a:bodyPr wrap="none" rtlCol="0">
            <a:spAutoFit/>
          </a:bodyPr>
          <a:lstStyle/>
          <a:p>
            <a:r>
              <a:rPr lang="zh-CN" altLang="en-US" sz="2400" b="1" dirty="0">
                <a:solidFill>
                  <a:srgbClr val="24569D"/>
                </a:solidFill>
              </a:rPr>
              <a:t>贝叶斯规则及应用</a:t>
            </a:r>
            <a:endParaRPr lang="zh-CN" altLang="en-US" sz="2400" b="1" dirty="0">
              <a:solidFill>
                <a:srgbClr val="24569D"/>
              </a:solidFill>
            </a:endParaRPr>
          </a:p>
        </p:txBody>
      </p:sp>
      <p:sp>
        <p:nvSpPr>
          <p:cNvPr id="29" name="矩形 28"/>
          <p:cNvSpPr/>
          <p:nvPr/>
        </p:nvSpPr>
        <p:spPr>
          <a:xfrm>
            <a:off x="1648515" y="4869981"/>
            <a:ext cx="2320925" cy="460375"/>
          </a:xfrm>
          <a:prstGeom prst="rect">
            <a:avLst/>
          </a:prstGeom>
        </p:spPr>
        <p:txBody>
          <a:bodyPr wrap="none">
            <a:spAutoFit/>
          </a:bodyPr>
          <a:lstStyle/>
          <a:p>
            <a:pPr lvl="0"/>
            <a:r>
              <a:rPr lang="zh-CN" altLang="en-US" sz="2400" b="1" dirty="0">
                <a:solidFill>
                  <a:srgbClr val="24569D"/>
                </a:solidFill>
              </a:rPr>
              <a:t>贝叶斯网络推理</a:t>
            </a:r>
            <a:endParaRPr lang="zh-CN" altLang="en-US" sz="2400" b="1" dirty="0">
              <a:solidFill>
                <a:srgbClr val="24569D"/>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1"/>
          </p:nvPr>
        </p:nvSpPr>
        <p:spPr>
          <a:xfrm>
            <a:off x="1122948" y="1630276"/>
            <a:ext cx="10815093" cy="5561949"/>
          </a:xfrm>
        </p:spPr>
        <p:txBody>
          <a:bodyPr>
            <a:normAutofit fontScale="25000" lnSpcReduction="20000"/>
          </a:bodyPr>
          <a:lstStyle/>
          <a:p>
            <a:pPr marL="0" indent="0">
              <a:lnSpc>
                <a:spcPct val="115000"/>
              </a:lnSpc>
              <a:spcBef>
                <a:spcPts val="500"/>
              </a:spcBef>
              <a:spcAft>
                <a:spcPts val="500"/>
              </a:spcAft>
              <a:buNone/>
            </a:pPr>
            <a:br>
              <a:rPr kumimoji="1" lang="zh-CN" altLang="en-US" sz="6400" dirty="0">
                <a:solidFill>
                  <a:srgbClr val="000000"/>
                </a:solidFill>
                <a:latin typeface="微软雅黑" panose="020B0503020204020204" pitchFamily="34" charset="-122"/>
                <a:ea typeface="微软雅黑" panose="020B0503020204020204" pitchFamily="34" charset="-122"/>
              </a:rPr>
            </a:br>
            <a:r>
              <a:rPr kumimoji="1" lang="zh-CN" altLang="en-US" sz="6400" dirty="0">
                <a:solidFill>
                  <a:srgbClr val="000000"/>
                </a:solidFill>
                <a:latin typeface="微软雅黑" panose="020B0503020204020204" pitchFamily="34" charset="-122"/>
                <a:ea typeface="微软雅黑" panose="020B0503020204020204" pitchFamily="34" charset="-122"/>
              </a:rPr>
              <a:t>已知：一个事件</a:t>
            </a:r>
            <a:r>
              <a:rPr kumimoji="1" lang="en-GB" altLang="zh-CN" sz="6400" dirty="0">
                <a:solidFill>
                  <a:srgbClr val="000000"/>
                </a:solidFill>
                <a:latin typeface="微软雅黑" panose="020B0503020204020204" pitchFamily="34" charset="-122"/>
                <a:ea typeface="微软雅黑" panose="020B0503020204020204" pitchFamily="34" charset="-122"/>
              </a:rPr>
              <a:t>e = {</a:t>
            </a:r>
            <a:r>
              <a:rPr kumimoji="1" lang="zh-CN" altLang="en-US" sz="6400" dirty="0">
                <a:solidFill>
                  <a:srgbClr val="000000"/>
                </a:solidFill>
                <a:latin typeface="微软雅黑" panose="020B0503020204020204" pitchFamily="34" charset="-122"/>
                <a:ea typeface="微软雅黑" panose="020B0503020204020204" pitchFamily="34" charset="-122"/>
              </a:rPr>
              <a:t>学校政策</a:t>
            </a:r>
            <a:r>
              <a:rPr kumimoji="1" lang="en-GB" altLang="zh-CN" sz="6400" dirty="0">
                <a:solidFill>
                  <a:srgbClr val="000000"/>
                </a:solidFill>
                <a:latin typeface="微软雅黑" panose="020B0503020204020204" pitchFamily="34" charset="-122"/>
                <a:ea typeface="微软雅黑" panose="020B0503020204020204" pitchFamily="34" charset="-122"/>
              </a:rPr>
              <a:t>U = true, and </a:t>
            </a:r>
            <a:r>
              <a:rPr kumimoji="1" lang="zh-CN" altLang="en-US" sz="6400" dirty="0">
                <a:solidFill>
                  <a:srgbClr val="000000"/>
                </a:solidFill>
                <a:latin typeface="微软雅黑" panose="020B0503020204020204" pitchFamily="34" charset="-122"/>
                <a:ea typeface="微软雅黑" panose="020B0503020204020204" pitchFamily="34" charset="-122"/>
              </a:rPr>
              <a:t>工作压力大 </a:t>
            </a:r>
            <a:r>
              <a:rPr kumimoji="1" lang="en-US" altLang="zh-CN" sz="6400" dirty="0">
                <a:solidFill>
                  <a:srgbClr val="000000"/>
                </a:solidFill>
                <a:latin typeface="微软雅黑" panose="020B0503020204020204" pitchFamily="34" charset="-122"/>
                <a:ea typeface="微软雅黑" panose="020B0503020204020204" pitchFamily="34" charset="-122"/>
              </a:rPr>
              <a:t>= </a:t>
            </a:r>
            <a:r>
              <a:rPr kumimoji="1" lang="en-GB" altLang="zh-CN" sz="6400" dirty="0">
                <a:solidFill>
                  <a:srgbClr val="000000"/>
                </a:solidFill>
                <a:latin typeface="微软雅黑" panose="020B0503020204020204" pitchFamily="34" charset="-122"/>
                <a:ea typeface="微软雅黑" panose="020B0503020204020204" pitchFamily="34" charset="-122"/>
              </a:rPr>
              <a:t>true}</a:t>
            </a:r>
            <a:r>
              <a:rPr kumimoji="1" lang="zh-CN" altLang="en-GB" sz="6400" dirty="0">
                <a:solidFill>
                  <a:srgbClr val="000000"/>
                </a:solidFill>
                <a:latin typeface="微软雅黑" panose="020B0503020204020204" pitchFamily="34" charset="-122"/>
                <a:ea typeface="微软雅黑" panose="020B0503020204020204" pitchFamily="34" charset="-122"/>
              </a:rPr>
              <a:t>， </a:t>
            </a:r>
            <a:endParaRPr kumimoji="1" lang="zh-CN" altLang="en-GB"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zh-CN" altLang="en-US" sz="6400" dirty="0">
                <a:solidFill>
                  <a:srgbClr val="000000"/>
                </a:solidFill>
                <a:latin typeface="微软雅黑" panose="020B0503020204020204" pitchFamily="34" charset="-122"/>
                <a:ea typeface="微软雅黑" panose="020B0503020204020204" pitchFamily="34" charset="-122"/>
              </a:rPr>
              <a:t>请根据上述枚举法计算学生出现健康问题的概率。 目标是基于贝叶斯网络的推理来计算该学生出现健康问题的概率。</a:t>
            </a:r>
            <a:endParaRPr kumimoji="1" lang="en-US" altLang="zh-CN"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zh-CN" altLang="en-US" sz="6400" dirty="0">
                <a:solidFill>
                  <a:srgbClr val="000000"/>
                </a:solidFill>
                <a:latin typeface="微软雅黑" panose="020B0503020204020204" pitchFamily="34" charset="-122"/>
                <a:ea typeface="微软雅黑" panose="020B0503020204020204" pitchFamily="34" charset="-122"/>
              </a:rPr>
              <a:t>贝叶斯网络中涉及到的节点和条件概率如下所示：</a:t>
            </a:r>
            <a:endParaRPr kumimoji="1" lang="zh-CN" altLang="en-US"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en-US" altLang="zh-CN" sz="6400" dirty="0">
                <a:solidFill>
                  <a:srgbClr val="000000"/>
                </a:solidFill>
                <a:latin typeface="微软雅黑" panose="020B0503020204020204" pitchFamily="34" charset="-122"/>
                <a:ea typeface="微软雅黑" panose="020B0503020204020204" pitchFamily="34" charset="-122"/>
              </a:rPr>
              <a:t>1. </a:t>
            </a:r>
            <a:r>
              <a:rPr kumimoji="1" lang="zh-CN" altLang="en-US" sz="6400" dirty="0">
                <a:solidFill>
                  <a:srgbClr val="000000"/>
                </a:solidFill>
                <a:latin typeface="微软雅黑" panose="020B0503020204020204" pitchFamily="34" charset="-122"/>
                <a:ea typeface="微软雅黑" panose="020B0503020204020204" pitchFamily="34" charset="-122"/>
              </a:rPr>
              <a:t>国家政策（</a:t>
            </a:r>
            <a:r>
              <a:rPr kumimoji="1" lang="en-US" altLang="zh-CN" sz="6400" dirty="0">
                <a:solidFill>
                  <a:srgbClr val="000000"/>
                </a:solidFill>
                <a:latin typeface="微软雅黑" panose="020B0503020204020204" pitchFamily="34" charset="-122"/>
                <a:ea typeface="微软雅黑" panose="020B0503020204020204" pitchFamily="34" charset="-122"/>
              </a:rPr>
              <a:t>C</a:t>
            </a:r>
            <a:r>
              <a:rPr kumimoji="1" lang="zh-CN" altLang="en-US" sz="6400" dirty="0">
                <a:solidFill>
                  <a:srgbClr val="000000"/>
                </a:solidFill>
                <a:latin typeface="微软雅黑" panose="020B0503020204020204" pitchFamily="34" charset="-122"/>
                <a:ea typeface="微软雅黑" panose="020B0503020204020204" pitchFamily="34" charset="-122"/>
              </a:rPr>
              <a:t>）</a:t>
            </a:r>
            <a:r>
              <a:rPr kumimoji="1" lang="en-US" altLang="zh-CN" sz="6400" dirty="0">
                <a:solidFill>
                  <a:srgbClr val="000000"/>
                </a:solidFill>
                <a:latin typeface="微软雅黑" panose="020B0503020204020204" pitchFamily="34" charset="-122"/>
                <a:ea typeface="微软雅黑" panose="020B0503020204020204" pitchFamily="34" charset="-122"/>
              </a:rPr>
              <a:t>: </a:t>
            </a:r>
            <a:r>
              <a:rPr kumimoji="1" lang="zh-CN" altLang="en-US" sz="6400" dirty="0">
                <a:solidFill>
                  <a:srgbClr val="000000"/>
                </a:solidFill>
                <a:latin typeface="微软雅黑" panose="020B0503020204020204" pitchFamily="34" charset="-122"/>
                <a:ea typeface="微软雅黑" panose="020B0503020204020204" pitchFamily="34" charset="-122"/>
              </a:rPr>
              <a:t>可能的值为</a:t>
            </a:r>
            <a:r>
              <a:rPr kumimoji="1" lang="en-US" altLang="zh-CN" sz="6400" dirty="0">
                <a:solidFill>
                  <a:srgbClr val="000000"/>
                </a:solidFill>
                <a:latin typeface="微软雅黑" panose="020B0503020204020204" pitchFamily="34" charset="-122"/>
                <a:ea typeface="微软雅黑" panose="020B0503020204020204" pitchFamily="34" charset="-122"/>
              </a:rPr>
              <a:t>True</a:t>
            </a:r>
            <a:r>
              <a:rPr kumimoji="1" lang="zh-CN" altLang="en-US" sz="6400" dirty="0">
                <a:solidFill>
                  <a:srgbClr val="000000"/>
                </a:solidFill>
                <a:latin typeface="微软雅黑" panose="020B0503020204020204" pitchFamily="34" charset="-122"/>
                <a:ea typeface="微软雅黑" panose="020B0503020204020204" pitchFamily="34" charset="-122"/>
              </a:rPr>
              <a:t>和</a:t>
            </a:r>
            <a:r>
              <a:rPr kumimoji="1" lang="en-US" altLang="zh-CN" sz="6400" dirty="0">
                <a:solidFill>
                  <a:srgbClr val="000000"/>
                </a:solidFill>
                <a:latin typeface="微软雅黑" panose="020B0503020204020204" pitchFamily="34" charset="-122"/>
                <a:ea typeface="微软雅黑" panose="020B0503020204020204" pitchFamily="34" charset="-122"/>
              </a:rPr>
              <a:t>False</a:t>
            </a:r>
            <a:r>
              <a:rPr kumimoji="1" lang="zh-CN" altLang="en-US" sz="6400" dirty="0">
                <a:solidFill>
                  <a:srgbClr val="000000"/>
                </a:solidFill>
                <a:latin typeface="微软雅黑" panose="020B0503020204020204" pitchFamily="34" charset="-122"/>
                <a:ea typeface="微软雅黑" panose="020B0503020204020204" pitchFamily="34" charset="-122"/>
              </a:rPr>
              <a:t>，且</a:t>
            </a:r>
            <a:r>
              <a:rPr kumimoji="1" lang="en-US" altLang="zh-CN" sz="6400" dirty="0">
                <a:solidFill>
                  <a:srgbClr val="000000"/>
                </a:solidFill>
                <a:latin typeface="微软雅黑" panose="020B0503020204020204" pitchFamily="34" charset="-122"/>
                <a:ea typeface="微软雅黑" panose="020B0503020204020204" pitchFamily="34" charset="-122"/>
              </a:rPr>
              <a:t>P(C=True) = 0.50</a:t>
            </a:r>
            <a:r>
              <a:rPr kumimoji="1" lang="zh-CN" altLang="en-US" sz="6400" dirty="0">
                <a:solidFill>
                  <a:srgbClr val="000000"/>
                </a:solidFill>
                <a:latin typeface="微软雅黑" panose="020B0503020204020204" pitchFamily="34" charset="-122"/>
                <a:ea typeface="微软雅黑" panose="020B0503020204020204" pitchFamily="34" charset="-122"/>
              </a:rPr>
              <a:t>。</a:t>
            </a:r>
            <a:endParaRPr kumimoji="1" lang="zh-CN" altLang="en-US"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en-US" altLang="zh-CN" sz="6400" dirty="0">
                <a:solidFill>
                  <a:srgbClr val="000000"/>
                </a:solidFill>
                <a:latin typeface="微软雅黑" panose="020B0503020204020204" pitchFamily="34" charset="-122"/>
                <a:ea typeface="微软雅黑" panose="020B0503020204020204" pitchFamily="34" charset="-122"/>
              </a:rPr>
              <a:t>2. </a:t>
            </a:r>
            <a:r>
              <a:rPr kumimoji="1" lang="zh-CN" altLang="en-US" sz="6400" dirty="0">
                <a:solidFill>
                  <a:srgbClr val="000000"/>
                </a:solidFill>
                <a:latin typeface="微软雅黑" panose="020B0503020204020204" pitchFamily="34" charset="-122"/>
                <a:ea typeface="微软雅黑" panose="020B0503020204020204" pitchFamily="34" charset="-122"/>
              </a:rPr>
              <a:t>学校政策（</a:t>
            </a:r>
            <a:r>
              <a:rPr kumimoji="1" lang="en-US" altLang="zh-CN" sz="6400" dirty="0">
                <a:solidFill>
                  <a:srgbClr val="000000"/>
                </a:solidFill>
                <a:latin typeface="微软雅黑" panose="020B0503020204020204" pitchFamily="34" charset="-122"/>
                <a:ea typeface="微软雅黑" panose="020B0503020204020204" pitchFamily="34" charset="-122"/>
              </a:rPr>
              <a:t>U</a:t>
            </a:r>
            <a:r>
              <a:rPr kumimoji="1" lang="zh-CN" altLang="en-US" sz="6400" dirty="0">
                <a:solidFill>
                  <a:srgbClr val="000000"/>
                </a:solidFill>
                <a:latin typeface="微软雅黑" panose="020B0503020204020204" pitchFamily="34" charset="-122"/>
                <a:ea typeface="微软雅黑" panose="020B0503020204020204" pitchFamily="34" charset="-122"/>
              </a:rPr>
              <a:t>）</a:t>
            </a:r>
            <a:r>
              <a:rPr kumimoji="1" lang="en-US" altLang="zh-CN" sz="6400" dirty="0">
                <a:solidFill>
                  <a:srgbClr val="000000"/>
                </a:solidFill>
                <a:latin typeface="微软雅黑" panose="020B0503020204020204" pitchFamily="34" charset="-122"/>
                <a:ea typeface="微软雅黑" panose="020B0503020204020204" pitchFamily="34" charset="-122"/>
              </a:rPr>
              <a:t>: </a:t>
            </a:r>
            <a:r>
              <a:rPr kumimoji="1" lang="zh-CN" altLang="en-US" sz="6400" dirty="0">
                <a:solidFill>
                  <a:srgbClr val="000000"/>
                </a:solidFill>
                <a:latin typeface="微软雅黑" panose="020B0503020204020204" pitchFamily="34" charset="-122"/>
                <a:ea typeface="微软雅黑" panose="020B0503020204020204" pitchFamily="34" charset="-122"/>
              </a:rPr>
              <a:t>根据国家政策</a:t>
            </a:r>
            <a:r>
              <a:rPr kumimoji="1" lang="en-US" altLang="zh-CN" sz="6400" dirty="0">
                <a:solidFill>
                  <a:srgbClr val="000000"/>
                </a:solidFill>
                <a:latin typeface="微软雅黑" panose="020B0503020204020204" pitchFamily="34" charset="-122"/>
                <a:ea typeface="微软雅黑" panose="020B0503020204020204" pitchFamily="34" charset="-122"/>
              </a:rPr>
              <a:t>C</a:t>
            </a:r>
            <a:r>
              <a:rPr kumimoji="1" lang="zh-CN" altLang="en-US" sz="6400" dirty="0">
                <a:solidFill>
                  <a:srgbClr val="000000"/>
                </a:solidFill>
                <a:latin typeface="微软雅黑" panose="020B0503020204020204" pitchFamily="34" charset="-122"/>
                <a:ea typeface="微软雅黑" panose="020B0503020204020204" pitchFamily="34" charset="-122"/>
              </a:rPr>
              <a:t>的不同，</a:t>
            </a:r>
            <a:r>
              <a:rPr kumimoji="1" lang="en-US" altLang="zh-CN" sz="6400" dirty="0">
                <a:solidFill>
                  <a:srgbClr val="000000"/>
                </a:solidFill>
                <a:latin typeface="微软雅黑" panose="020B0503020204020204" pitchFamily="34" charset="-122"/>
                <a:ea typeface="微软雅黑" panose="020B0503020204020204" pitchFamily="34" charset="-122"/>
              </a:rPr>
              <a:t>U</a:t>
            </a:r>
            <a:r>
              <a:rPr kumimoji="1" lang="zh-CN" altLang="en-US" sz="6400" dirty="0">
                <a:solidFill>
                  <a:srgbClr val="000000"/>
                </a:solidFill>
                <a:latin typeface="微软雅黑" panose="020B0503020204020204" pitchFamily="34" charset="-122"/>
                <a:ea typeface="微软雅黑" panose="020B0503020204020204" pitchFamily="34" charset="-122"/>
              </a:rPr>
              <a:t>的概率也不同。当</a:t>
            </a:r>
            <a:r>
              <a:rPr kumimoji="1" lang="en-US" altLang="zh-CN" sz="6400" dirty="0">
                <a:solidFill>
                  <a:srgbClr val="000000"/>
                </a:solidFill>
                <a:latin typeface="微软雅黑" panose="020B0503020204020204" pitchFamily="34" charset="-122"/>
                <a:ea typeface="微软雅黑" panose="020B0503020204020204" pitchFamily="34" charset="-122"/>
              </a:rPr>
              <a:t>C=True</a:t>
            </a:r>
            <a:r>
              <a:rPr kumimoji="1" lang="zh-CN" altLang="en-US" sz="6400" dirty="0">
                <a:solidFill>
                  <a:srgbClr val="000000"/>
                </a:solidFill>
                <a:latin typeface="微软雅黑" panose="020B0503020204020204" pitchFamily="34" charset="-122"/>
                <a:ea typeface="微软雅黑" panose="020B0503020204020204" pitchFamily="34" charset="-122"/>
              </a:rPr>
              <a:t>时，</a:t>
            </a:r>
            <a:r>
              <a:rPr kumimoji="1" lang="en-US" altLang="zh-CN" sz="6400" dirty="0">
                <a:solidFill>
                  <a:srgbClr val="000000"/>
                </a:solidFill>
                <a:latin typeface="微软雅黑" panose="020B0503020204020204" pitchFamily="34" charset="-122"/>
                <a:ea typeface="微软雅黑" panose="020B0503020204020204" pitchFamily="34" charset="-122"/>
              </a:rPr>
              <a:t>P(U=True) = 0.95</a:t>
            </a:r>
            <a:r>
              <a:rPr kumimoji="1" lang="zh-CN" altLang="en-US" sz="6400" dirty="0">
                <a:solidFill>
                  <a:srgbClr val="000000"/>
                </a:solidFill>
                <a:latin typeface="微软雅黑" panose="020B0503020204020204" pitchFamily="34" charset="-122"/>
                <a:ea typeface="微软雅黑" panose="020B0503020204020204" pitchFamily="34" charset="-122"/>
              </a:rPr>
              <a:t>；当</a:t>
            </a:r>
            <a:r>
              <a:rPr kumimoji="1" lang="en-US" altLang="zh-CN" sz="6400" dirty="0">
                <a:solidFill>
                  <a:srgbClr val="000000"/>
                </a:solidFill>
                <a:latin typeface="微软雅黑" panose="020B0503020204020204" pitchFamily="34" charset="-122"/>
                <a:ea typeface="微软雅黑" panose="020B0503020204020204" pitchFamily="34" charset="-122"/>
              </a:rPr>
              <a:t>C=False</a:t>
            </a:r>
            <a:r>
              <a:rPr kumimoji="1" lang="zh-CN" altLang="en-US" sz="6400" dirty="0">
                <a:solidFill>
                  <a:srgbClr val="000000"/>
                </a:solidFill>
                <a:latin typeface="微软雅黑" panose="020B0503020204020204" pitchFamily="34" charset="-122"/>
                <a:ea typeface="微软雅黑" panose="020B0503020204020204" pitchFamily="34" charset="-122"/>
              </a:rPr>
              <a:t>时，</a:t>
            </a:r>
            <a:r>
              <a:rPr kumimoji="1" lang="en-US" altLang="zh-CN" sz="6400" dirty="0">
                <a:solidFill>
                  <a:srgbClr val="000000"/>
                </a:solidFill>
                <a:latin typeface="微软雅黑" panose="020B0503020204020204" pitchFamily="34" charset="-122"/>
                <a:ea typeface="微软雅黑" panose="020B0503020204020204" pitchFamily="34" charset="-122"/>
              </a:rPr>
              <a:t>P(U=True) = 0.01</a:t>
            </a:r>
            <a:r>
              <a:rPr kumimoji="1" lang="zh-CN" altLang="en-US" sz="6400" dirty="0">
                <a:solidFill>
                  <a:srgbClr val="000000"/>
                </a:solidFill>
                <a:latin typeface="微软雅黑" panose="020B0503020204020204" pitchFamily="34" charset="-122"/>
                <a:ea typeface="微软雅黑" panose="020B0503020204020204" pitchFamily="34" charset="-122"/>
              </a:rPr>
              <a:t>。</a:t>
            </a:r>
            <a:endParaRPr kumimoji="1" lang="zh-CN" altLang="en-US"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en-US" altLang="zh-CN" sz="6400" dirty="0">
                <a:solidFill>
                  <a:srgbClr val="000000"/>
                </a:solidFill>
                <a:latin typeface="微软雅黑" panose="020B0503020204020204" pitchFamily="34" charset="-122"/>
                <a:ea typeface="微软雅黑" panose="020B0503020204020204" pitchFamily="34" charset="-122"/>
              </a:rPr>
              <a:t>3. </a:t>
            </a:r>
            <a:r>
              <a:rPr kumimoji="1" lang="zh-CN" altLang="en-US" sz="6400" dirty="0">
                <a:solidFill>
                  <a:srgbClr val="000000"/>
                </a:solidFill>
                <a:latin typeface="微软雅黑" panose="020B0503020204020204" pitchFamily="34" charset="-122"/>
                <a:ea typeface="微软雅黑" panose="020B0503020204020204" pitchFamily="34" charset="-122"/>
              </a:rPr>
              <a:t>工作压力大（</a:t>
            </a:r>
            <a:r>
              <a:rPr kumimoji="1" lang="en-US" altLang="zh-CN" sz="6400" dirty="0">
                <a:solidFill>
                  <a:srgbClr val="000000"/>
                </a:solidFill>
                <a:latin typeface="微软雅黑" panose="020B0503020204020204" pitchFamily="34" charset="-122"/>
                <a:ea typeface="微软雅黑" panose="020B0503020204020204" pitchFamily="34" charset="-122"/>
              </a:rPr>
              <a:t>W</a:t>
            </a:r>
            <a:r>
              <a:rPr kumimoji="1" lang="zh-CN" altLang="en-US" sz="6400" dirty="0">
                <a:solidFill>
                  <a:srgbClr val="000000"/>
                </a:solidFill>
                <a:latin typeface="微软雅黑" panose="020B0503020204020204" pitchFamily="34" charset="-122"/>
                <a:ea typeface="微软雅黑" panose="020B0503020204020204" pitchFamily="34" charset="-122"/>
              </a:rPr>
              <a:t>）</a:t>
            </a:r>
            <a:r>
              <a:rPr kumimoji="1" lang="en-US" altLang="zh-CN" sz="6400" dirty="0">
                <a:solidFill>
                  <a:srgbClr val="000000"/>
                </a:solidFill>
                <a:latin typeface="微软雅黑" panose="020B0503020204020204" pitchFamily="34" charset="-122"/>
                <a:ea typeface="微软雅黑" panose="020B0503020204020204" pitchFamily="34" charset="-122"/>
              </a:rPr>
              <a:t>: </a:t>
            </a:r>
            <a:r>
              <a:rPr kumimoji="1" lang="zh-CN" altLang="en-US" sz="6400" dirty="0">
                <a:solidFill>
                  <a:srgbClr val="000000"/>
                </a:solidFill>
                <a:latin typeface="微软雅黑" panose="020B0503020204020204" pitchFamily="34" charset="-122"/>
                <a:ea typeface="微软雅黑" panose="020B0503020204020204" pitchFamily="34" charset="-122"/>
              </a:rPr>
              <a:t>该值依赖于学校政策</a:t>
            </a:r>
            <a:r>
              <a:rPr kumimoji="1" lang="en-US" altLang="zh-CN" sz="6400" dirty="0">
                <a:solidFill>
                  <a:srgbClr val="000000"/>
                </a:solidFill>
                <a:latin typeface="微软雅黑" panose="020B0503020204020204" pitchFamily="34" charset="-122"/>
                <a:ea typeface="微软雅黑" panose="020B0503020204020204" pitchFamily="34" charset="-122"/>
              </a:rPr>
              <a:t>U</a:t>
            </a:r>
            <a:r>
              <a:rPr kumimoji="1" lang="zh-CN" altLang="en-US" sz="6400" dirty="0">
                <a:solidFill>
                  <a:srgbClr val="000000"/>
                </a:solidFill>
                <a:latin typeface="微软雅黑" panose="020B0503020204020204" pitchFamily="34" charset="-122"/>
                <a:ea typeface="微软雅黑" panose="020B0503020204020204" pitchFamily="34" charset="-122"/>
              </a:rPr>
              <a:t>，</a:t>
            </a:r>
            <a:r>
              <a:rPr kumimoji="1" lang="en-US" altLang="zh-CN" sz="6400" dirty="0">
                <a:solidFill>
                  <a:srgbClr val="000000"/>
                </a:solidFill>
                <a:latin typeface="微软雅黑" panose="020B0503020204020204" pitchFamily="34" charset="-122"/>
                <a:ea typeface="微软雅黑" panose="020B0503020204020204" pitchFamily="34" charset="-122"/>
              </a:rPr>
              <a:t>P(W=True | U=True) = 0.90</a:t>
            </a:r>
            <a:r>
              <a:rPr kumimoji="1" lang="zh-CN" altLang="en-US" sz="6400" dirty="0">
                <a:solidFill>
                  <a:srgbClr val="000000"/>
                </a:solidFill>
                <a:latin typeface="微软雅黑" panose="020B0503020204020204" pitchFamily="34" charset="-122"/>
                <a:ea typeface="微软雅黑" panose="020B0503020204020204" pitchFamily="34" charset="-122"/>
              </a:rPr>
              <a:t>，</a:t>
            </a:r>
            <a:r>
              <a:rPr kumimoji="1" lang="en-US" altLang="zh-CN" sz="6400" dirty="0">
                <a:solidFill>
                  <a:srgbClr val="000000"/>
                </a:solidFill>
                <a:latin typeface="微软雅黑" panose="020B0503020204020204" pitchFamily="34" charset="-122"/>
                <a:ea typeface="微软雅黑" panose="020B0503020204020204" pitchFamily="34" charset="-122"/>
              </a:rPr>
              <a:t>P(W=True | U=False) = 0.05</a:t>
            </a:r>
            <a:r>
              <a:rPr kumimoji="1" lang="zh-CN" altLang="en-US" sz="6400" dirty="0">
                <a:solidFill>
                  <a:srgbClr val="000000"/>
                </a:solidFill>
                <a:latin typeface="微软雅黑" panose="020B0503020204020204" pitchFamily="34" charset="-122"/>
                <a:ea typeface="微软雅黑" panose="020B0503020204020204" pitchFamily="34" charset="-122"/>
              </a:rPr>
              <a:t>。</a:t>
            </a:r>
            <a:endParaRPr kumimoji="1" lang="zh-CN" altLang="en-US"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en-US" altLang="zh-CN" sz="6400" dirty="0">
                <a:solidFill>
                  <a:srgbClr val="000000"/>
                </a:solidFill>
                <a:latin typeface="微软雅黑" panose="020B0503020204020204" pitchFamily="34" charset="-122"/>
                <a:ea typeface="微软雅黑" panose="020B0503020204020204" pitchFamily="34" charset="-122"/>
              </a:rPr>
              <a:t>4. </a:t>
            </a:r>
            <a:r>
              <a:rPr kumimoji="1" lang="zh-CN" altLang="en-US" sz="6400" dirty="0">
                <a:solidFill>
                  <a:srgbClr val="000000"/>
                </a:solidFill>
                <a:latin typeface="微软雅黑" panose="020B0503020204020204" pitchFamily="34" charset="-122"/>
                <a:ea typeface="微软雅黑" panose="020B0503020204020204" pitchFamily="34" charset="-122"/>
              </a:rPr>
              <a:t>身体状况差（</a:t>
            </a:r>
            <a:r>
              <a:rPr kumimoji="1" lang="en-US" altLang="zh-CN" sz="6400" dirty="0">
                <a:solidFill>
                  <a:srgbClr val="000000"/>
                </a:solidFill>
                <a:latin typeface="微软雅黑" panose="020B0503020204020204" pitchFamily="34" charset="-122"/>
                <a:ea typeface="微软雅黑" panose="020B0503020204020204" pitchFamily="34" charset="-122"/>
              </a:rPr>
              <a:t>B</a:t>
            </a:r>
            <a:r>
              <a:rPr kumimoji="1" lang="zh-CN" altLang="en-US" sz="6400" dirty="0">
                <a:solidFill>
                  <a:srgbClr val="000000"/>
                </a:solidFill>
                <a:latin typeface="微软雅黑" panose="020B0503020204020204" pitchFamily="34" charset="-122"/>
                <a:ea typeface="微软雅黑" panose="020B0503020204020204" pitchFamily="34" charset="-122"/>
              </a:rPr>
              <a:t>）</a:t>
            </a:r>
            <a:r>
              <a:rPr kumimoji="1" lang="en-US" altLang="zh-CN" sz="6400" dirty="0">
                <a:solidFill>
                  <a:srgbClr val="000000"/>
                </a:solidFill>
                <a:latin typeface="微软雅黑" panose="020B0503020204020204" pitchFamily="34" charset="-122"/>
                <a:ea typeface="微软雅黑" panose="020B0503020204020204" pitchFamily="34" charset="-122"/>
              </a:rPr>
              <a:t>: </a:t>
            </a:r>
            <a:r>
              <a:rPr kumimoji="1" lang="zh-CN" altLang="en-US" sz="6400" dirty="0">
                <a:solidFill>
                  <a:srgbClr val="000000"/>
                </a:solidFill>
                <a:latin typeface="微软雅黑" panose="020B0503020204020204" pitchFamily="34" charset="-122"/>
                <a:ea typeface="微软雅黑" panose="020B0503020204020204" pitchFamily="34" charset="-122"/>
              </a:rPr>
              <a:t>该值依赖于学校政策</a:t>
            </a:r>
            <a:r>
              <a:rPr kumimoji="1" lang="en-US" altLang="zh-CN" sz="6400" dirty="0">
                <a:solidFill>
                  <a:srgbClr val="000000"/>
                </a:solidFill>
                <a:latin typeface="微软雅黑" panose="020B0503020204020204" pitchFamily="34" charset="-122"/>
                <a:ea typeface="微软雅黑" panose="020B0503020204020204" pitchFamily="34" charset="-122"/>
              </a:rPr>
              <a:t>U</a:t>
            </a:r>
            <a:r>
              <a:rPr kumimoji="1" lang="zh-CN" altLang="en-US" sz="6400" dirty="0">
                <a:solidFill>
                  <a:srgbClr val="000000"/>
                </a:solidFill>
                <a:latin typeface="微软雅黑" panose="020B0503020204020204" pitchFamily="34" charset="-122"/>
                <a:ea typeface="微软雅黑" panose="020B0503020204020204" pitchFamily="34" charset="-122"/>
              </a:rPr>
              <a:t>，</a:t>
            </a:r>
            <a:r>
              <a:rPr kumimoji="1" lang="en-US" altLang="zh-CN" sz="6400" dirty="0">
                <a:solidFill>
                  <a:srgbClr val="000000"/>
                </a:solidFill>
                <a:latin typeface="微软雅黑" panose="020B0503020204020204" pitchFamily="34" charset="-122"/>
                <a:ea typeface="微软雅黑" panose="020B0503020204020204" pitchFamily="34" charset="-122"/>
              </a:rPr>
              <a:t>P(B=True | U=True) = 0.30</a:t>
            </a:r>
            <a:r>
              <a:rPr kumimoji="1" lang="zh-CN" altLang="en-US" sz="6400" dirty="0">
                <a:solidFill>
                  <a:srgbClr val="000000"/>
                </a:solidFill>
                <a:latin typeface="微软雅黑" panose="020B0503020204020204" pitchFamily="34" charset="-122"/>
                <a:ea typeface="微软雅黑" panose="020B0503020204020204" pitchFamily="34" charset="-122"/>
              </a:rPr>
              <a:t>，</a:t>
            </a:r>
            <a:r>
              <a:rPr kumimoji="1" lang="en-US" altLang="zh-CN" sz="6400" dirty="0">
                <a:solidFill>
                  <a:srgbClr val="000000"/>
                </a:solidFill>
                <a:latin typeface="微软雅黑" panose="020B0503020204020204" pitchFamily="34" charset="-122"/>
                <a:ea typeface="微软雅黑" panose="020B0503020204020204" pitchFamily="34" charset="-122"/>
              </a:rPr>
              <a:t>P(B=True | U=False) = 0.01</a:t>
            </a:r>
            <a:r>
              <a:rPr kumimoji="1" lang="zh-CN" altLang="en-US" sz="6400" dirty="0">
                <a:solidFill>
                  <a:srgbClr val="000000"/>
                </a:solidFill>
                <a:latin typeface="微软雅黑" panose="020B0503020204020204" pitchFamily="34" charset="-122"/>
                <a:ea typeface="微软雅黑" panose="020B0503020204020204" pitchFamily="34" charset="-122"/>
              </a:rPr>
              <a:t>。</a:t>
            </a:r>
            <a:endParaRPr kumimoji="1" lang="zh-CN" altLang="en-US"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en-US" altLang="zh-CN" sz="6400" dirty="0">
                <a:solidFill>
                  <a:srgbClr val="000000"/>
                </a:solidFill>
                <a:latin typeface="微软雅黑" panose="020B0503020204020204" pitchFamily="34" charset="-122"/>
                <a:ea typeface="微软雅黑" panose="020B0503020204020204" pitchFamily="34" charset="-122"/>
              </a:rPr>
              <a:t>5. </a:t>
            </a:r>
            <a:r>
              <a:rPr kumimoji="1" lang="zh-CN" altLang="en-US" sz="6400" dirty="0">
                <a:solidFill>
                  <a:srgbClr val="000000"/>
                </a:solidFill>
                <a:latin typeface="微软雅黑" panose="020B0503020204020204" pitchFamily="34" charset="-122"/>
                <a:ea typeface="微软雅黑" panose="020B0503020204020204" pitchFamily="34" charset="-122"/>
              </a:rPr>
              <a:t>健康问题（</a:t>
            </a:r>
            <a:r>
              <a:rPr kumimoji="1" lang="en-US" altLang="zh-CN" sz="6400" dirty="0">
                <a:solidFill>
                  <a:srgbClr val="000000"/>
                </a:solidFill>
                <a:latin typeface="微软雅黑" panose="020B0503020204020204" pitchFamily="34" charset="-122"/>
                <a:ea typeface="微软雅黑" panose="020B0503020204020204" pitchFamily="34" charset="-122"/>
              </a:rPr>
              <a:t>D</a:t>
            </a:r>
            <a:r>
              <a:rPr kumimoji="1" lang="zh-CN" altLang="en-US" sz="6400" dirty="0">
                <a:solidFill>
                  <a:srgbClr val="000000"/>
                </a:solidFill>
                <a:latin typeface="微软雅黑" panose="020B0503020204020204" pitchFamily="34" charset="-122"/>
                <a:ea typeface="微软雅黑" panose="020B0503020204020204" pitchFamily="34" charset="-122"/>
              </a:rPr>
              <a:t>）</a:t>
            </a:r>
            <a:r>
              <a:rPr kumimoji="1" lang="en-US" altLang="zh-CN" sz="6400" dirty="0">
                <a:solidFill>
                  <a:srgbClr val="000000"/>
                </a:solidFill>
                <a:latin typeface="微软雅黑" panose="020B0503020204020204" pitchFamily="34" charset="-122"/>
                <a:ea typeface="微软雅黑" panose="020B0503020204020204" pitchFamily="34" charset="-122"/>
              </a:rPr>
              <a:t>: </a:t>
            </a:r>
            <a:r>
              <a:rPr kumimoji="1" lang="zh-CN" altLang="en-US" sz="6400" dirty="0">
                <a:solidFill>
                  <a:srgbClr val="000000"/>
                </a:solidFill>
                <a:latin typeface="微软雅黑" panose="020B0503020204020204" pitchFamily="34" charset="-122"/>
                <a:ea typeface="微软雅黑" panose="020B0503020204020204" pitchFamily="34" charset="-122"/>
              </a:rPr>
              <a:t>该值依赖于工作压力</a:t>
            </a:r>
            <a:r>
              <a:rPr kumimoji="1" lang="en-US" altLang="zh-CN" sz="6400" dirty="0">
                <a:solidFill>
                  <a:srgbClr val="000000"/>
                </a:solidFill>
                <a:latin typeface="微软雅黑" panose="020B0503020204020204" pitchFamily="34" charset="-122"/>
                <a:ea typeface="微软雅黑" panose="020B0503020204020204" pitchFamily="34" charset="-122"/>
              </a:rPr>
              <a:t>W</a:t>
            </a:r>
            <a:r>
              <a:rPr kumimoji="1" lang="zh-CN" altLang="en-US" sz="6400" dirty="0">
                <a:solidFill>
                  <a:srgbClr val="000000"/>
                </a:solidFill>
                <a:latin typeface="微软雅黑" panose="020B0503020204020204" pitchFamily="34" charset="-122"/>
                <a:ea typeface="微软雅黑" panose="020B0503020204020204" pitchFamily="34" charset="-122"/>
              </a:rPr>
              <a:t>和身体状况</a:t>
            </a:r>
            <a:r>
              <a:rPr kumimoji="1" lang="en-US" altLang="zh-CN" sz="6400" dirty="0">
                <a:solidFill>
                  <a:srgbClr val="000000"/>
                </a:solidFill>
                <a:latin typeface="微软雅黑" panose="020B0503020204020204" pitchFamily="34" charset="-122"/>
                <a:ea typeface="微软雅黑" panose="020B0503020204020204" pitchFamily="34" charset="-122"/>
              </a:rPr>
              <a:t>B</a:t>
            </a:r>
            <a:r>
              <a:rPr kumimoji="1" lang="zh-CN" altLang="en-US" sz="6400" dirty="0">
                <a:solidFill>
                  <a:srgbClr val="000000"/>
                </a:solidFill>
                <a:latin typeface="微软雅黑" panose="020B0503020204020204" pitchFamily="34" charset="-122"/>
                <a:ea typeface="微软雅黑" panose="020B0503020204020204" pitchFamily="34" charset="-122"/>
              </a:rPr>
              <a:t>的值。健康问题的概率如下：</a:t>
            </a:r>
            <a:endParaRPr kumimoji="1" lang="zh-CN" altLang="en-US"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en-US" altLang="zh-CN" sz="6400" dirty="0">
                <a:solidFill>
                  <a:srgbClr val="000000"/>
                </a:solidFill>
                <a:latin typeface="微软雅黑" panose="020B0503020204020204" pitchFamily="34" charset="-122"/>
                <a:ea typeface="微软雅黑" panose="020B0503020204020204" pitchFamily="34" charset="-122"/>
              </a:rPr>
              <a:t>• P(D=True | W=True, B=True) = 0.335</a:t>
            </a:r>
            <a:endParaRPr kumimoji="1" lang="en-US" altLang="zh-CN"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en-US" altLang="zh-CN" sz="6400" dirty="0">
                <a:solidFill>
                  <a:srgbClr val="000000"/>
                </a:solidFill>
                <a:latin typeface="微软雅黑" panose="020B0503020204020204" pitchFamily="34" charset="-122"/>
                <a:ea typeface="微软雅黑" panose="020B0503020204020204" pitchFamily="34" charset="-122"/>
              </a:rPr>
              <a:t>• P(D=True | W=True, B=False) = 0.30</a:t>
            </a:r>
            <a:endParaRPr kumimoji="1" lang="en-US" altLang="zh-CN"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en-US" altLang="zh-CN" sz="6400" dirty="0">
                <a:solidFill>
                  <a:srgbClr val="000000"/>
                </a:solidFill>
                <a:latin typeface="微软雅黑" panose="020B0503020204020204" pitchFamily="34" charset="-122"/>
                <a:ea typeface="微软雅黑" panose="020B0503020204020204" pitchFamily="34" charset="-122"/>
              </a:rPr>
              <a:t>• P(D=True | W=False, B=True) = 0.05</a:t>
            </a:r>
            <a:endParaRPr kumimoji="1" lang="en-US" altLang="zh-CN"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r>
              <a:rPr kumimoji="1" lang="en-US" altLang="zh-CN" sz="6400" dirty="0">
                <a:solidFill>
                  <a:srgbClr val="000000"/>
                </a:solidFill>
                <a:latin typeface="微软雅黑" panose="020B0503020204020204" pitchFamily="34" charset="-122"/>
                <a:ea typeface="微软雅黑" panose="020B0503020204020204" pitchFamily="34" charset="-122"/>
              </a:rPr>
              <a:t>• P(D=True | W=False, B=False) = 0.00</a:t>
            </a:r>
            <a:endParaRPr kumimoji="1" lang="en-US" altLang="zh-CN" sz="64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endParaRPr kumimoji="1" lang="en-US" altLang="zh-CN" sz="20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endParaRPr kumimoji="1" lang="zh-CN" altLang="en-US" sz="20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endParaRPr kumimoji="1" lang="zh-CN" altLang="en-US" sz="2000" dirty="0">
              <a:solidFill>
                <a:srgbClr val="000000"/>
              </a:solidFill>
              <a:latin typeface="微软雅黑" panose="020B0503020204020204" pitchFamily="34" charset="-122"/>
              <a:ea typeface="微软雅黑" panose="020B0503020204020204" pitchFamily="34" charset="-122"/>
            </a:endParaRPr>
          </a:p>
          <a:p>
            <a:pPr marL="0" indent="0">
              <a:lnSpc>
                <a:spcPct val="115000"/>
              </a:lnSpc>
              <a:spcBef>
                <a:spcPts val="500"/>
              </a:spcBef>
              <a:spcAft>
                <a:spcPts val="500"/>
              </a:spcAft>
              <a:buNone/>
            </a:pPr>
            <a:br>
              <a:rPr lang="en-GB" altLang="zh-CN" sz="1400" dirty="0"/>
            </a:br>
            <a:endParaRPr lang="en-GB" altLang="zh-CN" sz="1400" dirty="0"/>
          </a:p>
        </p:txBody>
      </p:sp>
      <p:sp>
        <p:nvSpPr>
          <p:cNvPr id="7" name="标题 1"/>
          <p:cNvSpPr txBox="1"/>
          <p:nvPr/>
        </p:nvSpPr>
        <p:spPr>
          <a:xfrm>
            <a:off x="552342" y="485383"/>
            <a:ext cx="8806446" cy="1144893"/>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3600" dirty="0">
                <a:solidFill>
                  <a:srgbClr val="FF0000"/>
                </a:solidFill>
                <a:latin typeface="宋体" panose="02010600030101010101" pitchFamily="2" charset="-122"/>
                <a:ea typeface="宋体" panose="02010600030101010101" pitchFamily="2" charset="-122"/>
              </a:rPr>
              <a:t>案例：</a:t>
            </a:r>
            <a:r>
              <a:rPr lang="zh-CN" altLang="en-US" sz="4000" dirty="0">
                <a:solidFill>
                  <a:schemeClr val="accent1">
                    <a:lumMod val="75000"/>
                  </a:schemeClr>
                </a:solidFill>
                <a:latin typeface=".AppleSystemUIFont"/>
              </a:rPr>
              <a:t>学生健康风险预测模型</a:t>
            </a:r>
            <a:endParaRPr lang="zh-CN" altLang="en-US" sz="4000" dirty="0">
              <a:solidFill>
                <a:schemeClr val="accent1">
                  <a:lumMod val="75000"/>
                </a:schemeClr>
              </a:solidFill>
              <a:latin typeface=".AppleSystemUIFont"/>
            </a:endParaRPr>
          </a:p>
          <a:p>
            <a:pPr>
              <a:defRPr/>
            </a:pPr>
            <a:endParaRPr lang="zh-CN" altLang="en-US" sz="2700" dirty="0">
              <a:solidFill>
                <a:schemeClr val="accent1">
                  <a:lumMod val="75000"/>
                </a:schemeClr>
              </a:solidFill>
              <a:latin typeface=".AppleSystemUIFont"/>
            </a:endParaRPr>
          </a:p>
          <a:p>
            <a:pPr>
              <a:defRPr/>
            </a:pPr>
            <a:br>
              <a:rPr lang="zh-CN" altLang="en-US" dirty="0">
                <a:solidFill>
                  <a:srgbClr val="0E0E0E"/>
                </a:solidFill>
                <a:latin typeface=".AppleSystemUIFont"/>
              </a:rPr>
            </a:br>
            <a:endParaRPr lang="zh-CN" altLang="en-US" dirty="0"/>
          </a:p>
        </p:txBody>
      </p:sp>
      <p:sp>
        <p:nvSpPr>
          <p:cNvPr id="2" name="Rectangle 2"/>
          <p:cNvSpPr txBox="1">
            <a:spLocks noChangeArrowheads="1"/>
          </p:cNvSpPr>
          <p:nvPr/>
        </p:nvSpPr>
        <p:spPr>
          <a:xfrm>
            <a:off x="552342" y="1151673"/>
            <a:ext cx="2763520" cy="5784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mn-cs"/>
              </a:rPr>
              <a:t>背景</a:t>
            </a:r>
            <a:endParaRPr lang="zh-CN" altLang="zh-CN" sz="200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146970" y="1153237"/>
            <a:ext cx="2763520" cy="5784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mn-cs"/>
              </a:rPr>
              <a:t>贝叶斯网络建模</a:t>
            </a:r>
            <a:endParaRPr lang="zh-CN" altLang="zh-CN" sz="200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4" name="Oval 4"/>
          <p:cNvSpPr>
            <a:spLocks noChangeArrowheads="1"/>
          </p:cNvSpPr>
          <p:nvPr/>
        </p:nvSpPr>
        <p:spPr bwMode="auto">
          <a:xfrm>
            <a:off x="4654694" y="1279989"/>
            <a:ext cx="1958236" cy="739074"/>
          </a:xfrm>
          <a:prstGeom prst="ellipse">
            <a:avLst/>
          </a:prstGeom>
          <a:noFill/>
          <a:ln w="9525">
            <a:solidFill>
              <a:schemeClr val="tx1"/>
            </a:solidFill>
            <a:round/>
          </a:ln>
          <a:effectLst/>
        </p:spPr>
        <p:txBody>
          <a:bodyPr wrap="none" anchor="ctr"/>
          <a:lstStyle/>
          <a:p>
            <a:r>
              <a:rPr lang="zh-CN" altLang="en-US" dirty="0">
                <a:solidFill>
                  <a:srgbClr val="FF3300"/>
                </a:solidFill>
              </a:rPr>
              <a:t>国家政策（</a:t>
            </a:r>
            <a:r>
              <a:rPr lang="en-US" altLang="zh-CN" dirty="0">
                <a:solidFill>
                  <a:srgbClr val="FF3300"/>
                </a:solidFill>
              </a:rPr>
              <a:t>C</a:t>
            </a:r>
            <a:r>
              <a:rPr lang="zh-CN" altLang="en-US" dirty="0">
                <a:solidFill>
                  <a:srgbClr val="FF3300"/>
                </a:solidFill>
              </a:rPr>
              <a:t>）</a:t>
            </a:r>
            <a:endParaRPr lang="en-US" altLang="zh-CN" dirty="0">
              <a:solidFill>
                <a:srgbClr val="FF3300"/>
              </a:solidFill>
            </a:endParaRPr>
          </a:p>
        </p:txBody>
      </p:sp>
      <p:sp>
        <p:nvSpPr>
          <p:cNvPr id="18" name="Line 27"/>
          <p:cNvSpPr>
            <a:spLocks noChangeShapeType="1"/>
          </p:cNvSpPr>
          <p:nvPr/>
        </p:nvSpPr>
        <p:spPr bwMode="auto">
          <a:xfrm flipH="1" flipV="1">
            <a:off x="4007432" y="4682061"/>
            <a:ext cx="901452" cy="739075"/>
          </a:xfrm>
          <a:prstGeom prst="line">
            <a:avLst/>
          </a:prstGeom>
          <a:noFill/>
          <a:ln w="28575">
            <a:solidFill>
              <a:schemeClr val="tx1"/>
            </a:solidFill>
            <a:round/>
            <a:head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7"/>
          <p:cNvSpPr>
            <a:spLocks noChangeShapeType="1"/>
          </p:cNvSpPr>
          <p:nvPr/>
        </p:nvSpPr>
        <p:spPr bwMode="auto">
          <a:xfrm flipH="1" flipV="1">
            <a:off x="5630778" y="2026896"/>
            <a:ext cx="0" cy="739451"/>
          </a:xfrm>
          <a:prstGeom prst="line">
            <a:avLst/>
          </a:prstGeom>
          <a:noFill/>
          <a:ln w="28575">
            <a:solidFill>
              <a:schemeClr val="tx1"/>
            </a:solidFill>
            <a:round/>
            <a:head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20" name="Line 27"/>
          <p:cNvSpPr>
            <a:spLocks noChangeShapeType="1"/>
          </p:cNvSpPr>
          <p:nvPr/>
        </p:nvSpPr>
        <p:spPr bwMode="auto">
          <a:xfrm flipV="1">
            <a:off x="3302422" y="3204304"/>
            <a:ext cx="1352271" cy="922813"/>
          </a:xfrm>
          <a:prstGeom prst="line">
            <a:avLst/>
          </a:prstGeom>
          <a:noFill/>
          <a:ln w="28575">
            <a:solidFill>
              <a:schemeClr val="tx1"/>
            </a:solidFill>
            <a:round/>
            <a:head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7"/>
          <p:cNvSpPr>
            <a:spLocks noChangeShapeType="1"/>
          </p:cNvSpPr>
          <p:nvPr/>
        </p:nvSpPr>
        <p:spPr bwMode="auto">
          <a:xfrm flipH="1" flipV="1">
            <a:off x="6612928" y="3197431"/>
            <a:ext cx="1110365" cy="609333"/>
          </a:xfrm>
          <a:prstGeom prst="line">
            <a:avLst/>
          </a:prstGeom>
          <a:noFill/>
          <a:ln w="28575">
            <a:solidFill>
              <a:schemeClr val="tx1"/>
            </a:solidFill>
            <a:round/>
            <a:head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 name="表格 14"/>
          <p:cNvGraphicFramePr>
            <a:graphicFrameLocks noGrp="1"/>
          </p:cNvGraphicFramePr>
          <p:nvPr/>
        </p:nvGraphicFramePr>
        <p:xfrm>
          <a:off x="6911126" y="2204086"/>
          <a:ext cx="1240668" cy="1057711"/>
        </p:xfrm>
        <a:graphic>
          <a:graphicData uri="http://schemas.openxmlformats.org/drawingml/2006/table">
            <a:tbl>
              <a:tblPr firstRow="1" bandRow="1">
                <a:tableStyleId>{5C22544A-7EE6-4342-B048-85BDC9FD1C3A}</a:tableStyleId>
              </a:tblPr>
              <a:tblGrid>
                <a:gridCol w="604204"/>
                <a:gridCol w="636464"/>
              </a:tblGrid>
              <a:tr h="316031">
                <a:tc>
                  <a:txBody>
                    <a:bodyPr/>
                    <a:lstStyle/>
                    <a:p>
                      <a:pPr algn="ctr"/>
                      <a:r>
                        <a:rPr lang="en-GB" altLang="zh-CN" sz="1200" dirty="0">
                          <a:latin typeface="Times New Roman" panose="02020603050405020304" pitchFamily="18" charset="0"/>
                          <a:cs typeface="Times New Roman" panose="02020603050405020304" pitchFamily="18" charset="0"/>
                        </a:rPr>
                        <a:t>C</a:t>
                      </a:r>
                      <a:endParaRPr lang="zh-CN" altLang="en-US" sz="1200" dirty="0"/>
                    </a:p>
                  </a:txBody>
                  <a:tcPr/>
                </a:tc>
                <a:tc>
                  <a:txBody>
                    <a:bodyPr/>
                    <a:lstStyle/>
                    <a:p>
                      <a:pPr algn="ctr"/>
                      <a:r>
                        <a:rPr lang="en-GB" altLang="zh-CN" sz="1200" dirty="0">
                          <a:latin typeface="Times New Roman" panose="02020603050405020304" pitchFamily="18" charset="0"/>
                          <a:cs typeface="Times New Roman" panose="02020603050405020304" pitchFamily="18" charset="0"/>
                        </a:rPr>
                        <a:t>P</a:t>
                      </a:r>
                      <a:r>
                        <a:rPr lang="en-US" altLang="zh-CN" sz="1200" dirty="0">
                          <a:latin typeface="Times New Roman" panose="02020603050405020304" pitchFamily="18" charset="0"/>
                          <a:cs typeface="Times New Roman" panose="02020603050405020304" pitchFamily="18" charset="0"/>
                        </a:rPr>
                        <a:t>(U)</a:t>
                      </a:r>
                      <a:endParaRPr lang="zh-CN" altLang="en-US" sz="1200" dirty="0"/>
                    </a:p>
                  </a:txBody>
                  <a:tcPr/>
                </a:tc>
              </a:tr>
              <a:tr h="370840">
                <a:tc>
                  <a:txBody>
                    <a:bodyPr/>
                    <a:lstStyle/>
                    <a:p>
                      <a:pPr algn="ctr"/>
                      <a:r>
                        <a:rPr lang="en-US" altLang="zh-CN" dirty="0"/>
                        <a:t>t</a:t>
                      </a:r>
                      <a:endParaRPr lang="zh-CN" altLang="en-US" dirty="0"/>
                    </a:p>
                  </a:txBody>
                  <a:tcPr/>
                </a:tc>
                <a:tc>
                  <a:txBody>
                    <a:bodyPr/>
                    <a:lstStyle/>
                    <a:p>
                      <a:pPr algn="ctr"/>
                      <a:r>
                        <a:rPr lang="en-US" altLang="zh-CN" dirty="0"/>
                        <a:t>0.95</a:t>
                      </a:r>
                      <a:endParaRPr lang="zh-CN" altLang="en-US" dirty="0"/>
                    </a:p>
                  </a:txBody>
                  <a:tcPr/>
                </a:tc>
              </a:tr>
              <a:tr h="370840">
                <a:tc>
                  <a:txBody>
                    <a:bodyPr/>
                    <a:lstStyle/>
                    <a:p>
                      <a:pPr algn="ctr"/>
                      <a:r>
                        <a:rPr lang="en-US" altLang="zh-CN" dirty="0"/>
                        <a:t>f</a:t>
                      </a:r>
                      <a:endParaRPr lang="zh-CN" altLang="en-US" dirty="0"/>
                    </a:p>
                  </a:txBody>
                  <a:tcPr/>
                </a:tc>
                <a:tc>
                  <a:txBody>
                    <a:bodyPr/>
                    <a:lstStyle/>
                    <a:p>
                      <a:pPr algn="ctr"/>
                      <a:r>
                        <a:rPr lang="en-US" altLang="zh-CN" dirty="0"/>
                        <a:t>0.01</a:t>
                      </a:r>
                      <a:endParaRPr lang="zh-CN" altLang="en-US" dirty="0"/>
                    </a:p>
                  </a:txBody>
                  <a:tcPr/>
                </a:tc>
              </a:tr>
            </a:tbl>
          </a:graphicData>
        </a:graphic>
      </p:graphicFrame>
      <p:graphicFrame>
        <p:nvGraphicFramePr>
          <p:cNvPr id="15" name="表格 14"/>
          <p:cNvGraphicFramePr>
            <a:graphicFrameLocks noGrp="1"/>
          </p:cNvGraphicFramePr>
          <p:nvPr/>
        </p:nvGraphicFramePr>
        <p:xfrm>
          <a:off x="3672543" y="1312952"/>
          <a:ext cx="804798" cy="739451"/>
        </p:xfrm>
        <a:graphic>
          <a:graphicData uri="http://schemas.openxmlformats.org/drawingml/2006/table">
            <a:tbl>
              <a:tblPr firstRow="1" bandRow="1">
                <a:tableStyleId>{5C22544A-7EE6-4342-B048-85BDC9FD1C3A}</a:tableStyleId>
              </a:tblPr>
              <a:tblGrid>
                <a:gridCol w="804798"/>
              </a:tblGrid>
              <a:tr h="368611">
                <a:tc>
                  <a:txBody>
                    <a:bodyPr/>
                    <a:lstStyle/>
                    <a:p>
                      <a:pPr algn="ctr"/>
                      <a:r>
                        <a:rPr lang="zh-CN" altLang="en-US" sz="1200" b="1" kern="1200" dirty="0">
                          <a:solidFill>
                            <a:schemeClr val="lt1"/>
                          </a:solidFill>
                          <a:latin typeface="Times New Roman" panose="02020603050405020304" pitchFamily="18" charset="0"/>
                          <a:ea typeface="+mn-ea"/>
                          <a:cs typeface="Times New Roman" panose="02020603050405020304" pitchFamily="18" charset="0"/>
                        </a:rPr>
                        <a:t> </a:t>
                      </a:r>
                      <a:r>
                        <a:rPr lang="en-GB" altLang="zh-CN" sz="1200" b="1" kern="1200" dirty="0">
                          <a:solidFill>
                            <a:schemeClr val="lt1"/>
                          </a:solidFill>
                          <a:latin typeface="Times New Roman" panose="02020603050405020304" pitchFamily="18" charset="0"/>
                          <a:ea typeface="+mn-ea"/>
                          <a:cs typeface="Times New Roman" panose="02020603050405020304" pitchFamily="18" charset="0"/>
                        </a:rPr>
                        <a:t>P</a:t>
                      </a:r>
                      <a:r>
                        <a:rPr lang="en-US" altLang="zh-CN" sz="1200" b="1" kern="1200" dirty="0">
                          <a:solidFill>
                            <a:schemeClr val="lt1"/>
                          </a:solidFill>
                          <a:latin typeface="Times New Roman" panose="02020603050405020304" pitchFamily="18" charset="0"/>
                          <a:ea typeface="+mn-ea"/>
                          <a:cs typeface="Times New Roman" panose="02020603050405020304" pitchFamily="18" charset="0"/>
                        </a:rPr>
                        <a:t>(C)</a:t>
                      </a:r>
                      <a:r>
                        <a:rPr lang="en-GB" altLang="zh-CN" sz="1200" dirty="0">
                          <a:latin typeface="Times New Roman" panose="02020603050405020304" pitchFamily="18" charset="0"/>
                          <a:cs typeface="Times New Roman" panose="02020603050405020304" pitchFamily="18" charset="0"/>
                        </a:rPr>
                        <a:t>  </a:t>
                      </a:r>
                      <a:endParaRPr lang="zh-CN" altLang="en-US" sz="1200" dirty="0"/>
                    </a:p>
                  </a:txBody>
                  <a:tcPr/>
                </a:tc>
              </a:tr>
              <a:tr h="370840">
                <a:tc>
                  <a:txBody>
                    <a:bodyPr/>
                    <a:lstStyle/>
                    <a:p>
                      <a:pPr algn="ctr"/>
                      <a:r>
                        <a:rPr lang="en-US" altLang="zh-CN" dirty="0"/>
                        <a:t>0.50</a:t>
                      </a:r>
                      <a:endParaRPr lang="zh-CN" altLang="en-US" dirty="0"/>
                    </a:p>
                  </a:txBody>
                  <a:tcPr/>
                </a:tc>
              </a:tr>
            </a:tbl>
          </a:graphicData>
        </a:graphic>
      </p:graphicFrame>
      <p:sp>
        <p:nvSpPr>
          <p:cNvPr id="5" name="Oval 4"/>
          <p:cNvSpPr>
            <a:spLocks noChangeArrowheads="1"/>
          </p:cNvSpPr>
          <p:nvPr/>
        </p:nvSpPr>
        <p:spPr bwMode="auto">
          <a:xfrm>
            <a:off x="4654694" y="2766350"/>
            <a:ext cx="1958236" cy="739074"/>
          </a:xfrm>
          <a:prstGeom prst="ellipse">
            <a:avLst/>
          </a:prstGeom>
          <a:noFill/>
          <a:ln w="9525">
            <a:solidFill>
              <a:schemeClr val="tx1"/>
            </a:solidFill>
            <a:round/>
          </a:ln>
          <a:effectLst/>
        </p:spPr>
        <p:txBody>
          <a:bodyPr wrap="none" anchor="ctr"/>
          <a:lstStyle/>
          <a:p>
            <a:r>
              <a:rPr lang="zh-CN" altLang="en-US" dirty="0">
                <a:solidFill>
                  <a:srgbClr val="FF3300"/>
                </a:solidFill>
              </a:rPr>
              <a:t>学校政策（</a:t>
            </a:r>
            <a:r>
              <a:rPr lang="en-US" altLang="zh-CN" dirty="0">
                <a:solidFill>
                  <a:srgbClr val="FF3300"/>
                </a:solidFill>
              </a:rPr>
              <a:t>U</a:t>
            </a:r>
            <a:r>
              <a:rPr lang="zh-CN" altLang="en-US" dirty="0">
                <a:solidFill>
                  <a:srgbClr val="FF3300"/>
                </a:solidFill>
              </a:rPr>
              <a:t>）</a:t>
            </a:r>
            <a:endParaRPr lang="en-US" altLang="zh-CN" dirty="0">
              <a:solidFill>
                <a:srgbClr val="FF3300"/>
              </a:solidFill>
            </a:endParaRPr>
          </a:p>
        </p:txBody>
      </p:sp>
      <p:sp>
        <p:nvSpPr>
          <p:cNvPr id="9" name="Oval 4"/>
          <p:cNvSpPr>
            <a:spLocks noChangeArrowheads="1"/>
          </p:cNvSpPr>
          <p:nvPr/>
        </p:nvSpPr>
        <p:spPr bwMode="auto">
          <a:xfrm>
            <a:off x="6911126" y="3827382"/>
            <a:ext cx="1958236" cy="739074"/>
          </a:xfrm>
          <a:prstGeom prst="ellipse">
            <a:avLst/>
          </a:prstGeom>
          <a:noFill/>
          <a:ln w="9525">
            <a:solidFill>
              <a:schemeClr val="tx1"/>
            </a:solidFill>
            <a:round/>
          </a:ln>
          <a:effectLst/>
        </p:spPr>
        <p:txBody>
          <a:bodyPr wrap="none" anchor="ctr"/>
          <a:lstStyle/>
          <a:p>
            <a:r>
              <a:rPr lang="zh-CN" altLang="en-US" dirty="0">
                <a:solidFill>
                  <a:srgbClr val="FF3300"/>
                </a:solidFill>
              </a:rPr>
              <a:t>身体状况（</a:t>
            </a:r>
            <a:r>
              <a:rPr lang="en-US" altLang="zh-CN" dirty="0">
                <a:solidFill>
                  <a:srgbClr val="FF3300"/>
                </a:solidFill>
              </a:rPr>
              <a:t>B</a:t>
            </a:r>
            <a:r>
              <a:rPr lang="zh-CN" altLang="en-US" dirty="0">
                <a:solidFill>
                  <a:srgbClr val="FF3300"/>
                </a:solidFill>
              </a:rPr>
              <a:t>）</a:t>
            </a:r>
            <a:endParaRPr lang="en-US" altLang="zh-CN" dirty="0">
              <a:solidFill>
                <a:srgbClr val="FF3300"/>
              </a:solidFill>
            </a:endParaRPr>
          </a:p>
        </p:txBody>
      </p:sp>
      <p:sp>
        <p:nvSpPr>
          <p:cNvPr id="13" name="Oval 4"/>
          <p:cNvSpPr>
            <a:spLocks noChangeArrowheads="1"/>
          </p:cNvSpPr>
          <p:nvPr/>
        </p:nvSpPr>
        <p:spPr bwMode="auto">
          <a:xfrm>
            <a:off x="4800972" y="5256465"/>
            <a:ext cx="1958236" cy="739074"/>
          </a:xfrm>
          <a:prstGeom prst="ellipse">
            <a:avLst/>
          </a:prstGeom>
          <a:noFill/>
          <a:ln w="9525">
            <a:solidFill>
              <a:schemeClr val="tx1"/>
            </a:solidFill>
            <a:round/>
          </a:ln>
          <a:effectLst/>
        </p:spPr>
        <p:txBody>
          <a:bodyPr wrap="none" anchor="ctr"/>
          <a:lstStyle/>
          <a:p>
            <a:r>
              <a:rPr lang="zh-CN" altLang="en-US" dirty="0">
                <a:solidFill>
                  <a:srgbClr val="FF3300"/>
                </a:solidFill>
              </a:rPr>
              <a:t>健康问题（</a:t>
            </a:r>
            <a:r>
              <a:rPr lang="en-US" altLang="zh-CN" dirty="0">
                <a:solidFill>
                  <a:srgbClr val="FF3300"/>
                </a:solidFill>
              </a:rPr>
              <a:t>D</a:t>
            </a:r>
            <a:r>
              <a:rPr lang="zh-CN" altLang="en-US" dirty="0">
                <a:solidFill>
                  <a:srgbClr val="FF3300"/>
                </a:solidFill>
              </a:rPr>
              <a:t>）</a:t>
            </a:r>
            <a:endParaRPr lang="en-US" altLang="zh-CN" dirty="0">
              <a:solidFill>
                <a:srgbClr val="FF3300"/>
              </a:solidFill>
            </a:endParaRPr>
          </a:p>
        </p:txBody>
      </p:sp>
      <p:sp>
        <p:nvSpPr>
          <p:cNvPr id="23" name="Oval 4"/>
          <p:cNvSpPr>
            <a:spLocks noChangeArrowheads="1"/>
          </p:cNvSpPr>
          <p:nvPr/>
        </p:nvSpPr>
        <p:spPr bwMode="auto">
          <a:xfrm>
            <a:off x="2250354" y="4098770"/>
            <a:ext cx="1958236" cy="739074"/>
          </a:xfrm>
          <a:prstGeom prst="ellipse">
            <a:avLst/>
          </a:prstGeom>
          <a:noFill/>
          <a:ln w="9525">
            <a:solidFill>
              <a:schemeClr val="tx1"/>
            </a:solidFill>
            <a:round/>
          </a:ln>
          <a:effectLst/>
        </p:spPr>
        <p:txBody>
          <a:bodyPr wrap="none" anchor="ctr"/>
          <a:lstStyle/>
          <a:p>
            <a:r>
              <a:rPr lang="zh-CN" altLang="en-US" dirty="0">
                <a:solidFill>
                  <a:srgbClr val="FF3300"/>
                </a:solidFill>
              </a:rPr>
              <a:t>工作压力（</a:t>
            </a:r>
            <a:r>
              <a:rPr lang="en-US" altLang="zh-CN" dirty="0">
                <a:solidFill>
                  <a:srgbClr val="FF3300"/>
                </a:solidFill>
              </a:rPr>
              <a:t>W</a:t>
            </a:r>
            <a:r>
              <a:rPr lang="zh-CN" altLang="en-US" dirty="0">
                <a:solidFill>
                  <a:srgbClr val="FF3300"/>
                </a:solidFill>
              </a:rPr>
              <a:t>）</a:t>
            </a:r>
            <a:endParaRPr lang="en-US" altLang="zh-CN" dirty="0">
              <a:solidFill>
                <a:srgbClr val="FF3300"/>
              </a:solidFill>
            </a:endParaRPr>
          </a:p>
        </p:txBody>
      </p:sp>
      <p:sp>
        <p:nvSpPr>
          <p:cNvPr id="25" name="Line 27"/>
          <p:cNvSpPr>
            <a:spLocks noChangeShapeType="1"/>
          </p:cNvSpPr>
          <p:nvPr/>
        </p:nvSpPr>
        <p:spPr bwMode="auto">
          <a:xfrm flipV="1">
            <a:off x="6379783" y="4587074"/>
            <a:ext cx="1413903" cy="739074"/>
          </a:xfrm>
          <a:prstGeom prst="line">
            <a:avLst/>
          </a:prstGeom>
          <a:noFill/>
          <a:ln w="28575">
            <a:solidFill>
              <a:schemeClr val="tx1"/>
            </a:solidFill>
            <a:round/>
            <a:head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7" name="表格 14"/>
          <p:cNvGraphicFramePr>
            <a:graphicFrameLocks noGrp="1"/>
          </p:cNvGraphicFramePr>
          <p:nvPr/>
        </p:nvGraphicFramePr>
        <p:xfrm>
          <a:off x="9061193" y="3502097"/>
          <a:ext cx="1240668" cy="1057711"/>
        </p:xfrm>
        <a:graphic>
          <a:graphicData uri="http://schemas.openxmlformats.org/drawingml/2006/table">
            <a:tbl>
              <a:tblPr firstRow="1" bandRow="1">
                <a:tableStyleId>{5C22544A-7EE6-4342-B048-85BDC9FD1C3A}</a:tableStyleId>
              </a:tblPr>
              <a:tblGrid>
                <a:gridCol w="604204"/>
                <a:gridCol w="636464"/>
              </a:tblGrid>
              <a:tr h="316031">
                <a:tc>
                  <a:txBody>
                    <a:bodyPr/>
                    <a:lstStyle/>
                    <a:p>
                      <a:pPr algn="ctr"/>
                      <a:r>
                        <a:rPr lang="en-GB" altLang="zh-CN" sz="1200" dirty="0">
                          <a:latin typeface="Times New Roman" panose="02020603050405020304" pitchFamily="18" charset="0"/>
                          <a:cs typeface="Times New Roman" panose="02020603050405020304" pitchFamily="18" charset="0"/>
                        </a:rPr>
                        <a:t>U</a:t>
                      </a:r>
                      <a:endParaRPr lang="zh-CN" altLang="en-US" sz="1200" dirty="0"/>
                    </a:p>
                  </a:txBody>
                  <a:tcPr/>
                </a:tc>
                <a:tc>
                  <a:txBody>
                    <a:bodyPr/>
                    <a:lstStyle/>
                    <a:p>
                      <a:pPr algn="ctr"/>
                      <a:r>
                        <a:rPr lang="en-GB" altLang="zh-CN" sz="1200" dirty="0">
                          <a:latin typeface="Times New Roman" panose="02020603050405020304" pitchFamily="18" charset="0"/>
                          <a:cs typeface="Times New Roman" panose="02020603050405020304" pitchFamily="18" charset="0"/>
                        </a:rPr>
                        <a:t>P</a:t>
                      </a:r>
                      <a:r>
                        <a:rPr lang="en-US" altLang="zh-CN" sz="1200" dirty="0">
                          <a:latin typeface="Times New Roman" panose="02020603050405020304" pitchFamily="18" charset="0"/>
                          <a:cs typeface="Times New Roman" panose="02020603050405020304" pitchFamily="18" charset="0"/>
                        </a:rPr>
                        <a:t>(B)</a:t>
                      </a:r>
                      <a:endParaRPr lang="zh-CN" altLang="en-US" sz="1200" dirty="0"/>
                    </a:p>
                  </a:txBody>
                  <a:tcPr/>
                </a:tc>
              </a:tr>
              <a:tr h="370840">
                <a:tc>
                  <a:txBody>
                    <a:bodyPr/>
                    <a:lstStyle/>
                    <a:p>
                      <a:pPr algn="ctr"/>
                      <a:r>
                        <a:rPr lang="en-US" altLang="zh-CN" dirty="0"/>
                        <a:t>t</a:t>
                      </a:r>
                      <a:endParaRPr lang="zh-CN" altLang="en-US" dirty="0"/>
                    </a:p>
                  </a:txBody>
                  <a:tcPr/>
                </a:tc>
                <a:tc>
                  <a:txBody>
                    <a:bodyPr/>
                    <a:lstStyle/>
                    <a:p>
                      <a:pPr algn="ctr"/>
                      <a:r>
                        <a:rPr lang="en-US" altLang="zh-CN" dirty="0"/>
                        <a:t>0.30</a:t>
                      </a:r>
                      <a:endParaRPr lang="zh-CN" altLang="en-US" dirty="0"/>
                    </a:p>
                  </a:txBody>
                  <a:tcPr/>
                </a:tc>
              </a:tr>
              <a:tr h="370840">
                <a:tc>
                  <a:txBody>
                    <a:bodyPr/>
                    <a:lstStyle/>
                    <a:p>
                      <a:pPr algn="ctr"/>
                      <a:r>
                        <a:rPr lang="en-US" altLang="zh-CN" dirty="0"/>
                        <a:t>f</a:t>
                      </a:r>
                      <a:endParaRPr lang="zh-CN" altLang="en-US" dirty="0"/>
                    </a:p>
                  </a:txBody>
                  <a:tcPr/>
                </a:tc>
                <a:tc>
                  <a:txBody>
                    <a:bodyPr/>
                    <a:lstStyle/>
                    <a:p>
                      <a:pPr algn="ctr"/>
                      <a:r>
                        <a:rPr lang="en-US" altLang="zh-CN" dirty="0"/>
                        <a:t>0.01</a:t>
                      </a:r>
                      <a:endParaRPr lang="zh-CN" altLang="en-US" dirty="0"/>
                    </a:p>
                  </a:txBody>
                  <a:tcPr/>
                </a:tc>
              </a:tr>
            </a:tbl>
          </a:graphicData>
        </a:graphic>
      </p:graphicFrame>
      <p:graphicFrame>
        <p:nvGraphicFramePr>
          <p:cNvPr id="28" name="表格 14"/>
          <p:cNvGraphicFramePr>
            <a:graphicFrameLocks noGrp="1"/>
          </p:cNvGraphicFramePr>
          <p:nvPr/>
        </p:nvGraphicFramePr>
        <p:xfrm>
          <a:off x="1732286" y="4937828"/>
          <a:ext cx="1240668" cy="1057711"/>
        </p:xfrm>
        <a:graphic>
          <a:graphicData uri="http://schemas.openxmlformats.org/drawingml/2006/table">
            <a:tbl>
              <a:tblPr firstRow="1" bandRow="1">
                <a:tableStyleId>{5C22544A-7EE6-4342-B048-85BDC9FD1C3A}</a:tableStyleId>
              </a:tblPr>
              <a:tblGrid>
                <a:gridCol w="604204"/>
                <a:gridCol w="636464"/>
              </a:tblGrid>
              <a:tr h="316031">
                <a:tc>
                  <a:txBody>
                    <a:bodyPr/>
                    <a:lstStyle/>
                    <a:p>
                      <a:pPr algn="ctr"/>
                      <a:r>
                        <a:rPr lang="en-GB" altLang="zh-CN" sz="1200" dirty="0">
                          <a:latin typeface="Times New Roman" panose="02020603050405020304" pitchFamily="18" charset="0"/>
                          <a:cs typeface="Times New Roman" panose="02020603050405020304" pitchFamily="18" charset="0"/>
                        </a:rPr>
                        <a:t>U</a:t>
                      </a:r>
                      <a:endParaRPr lang="zh-CN" altLang="en-US" sz="1200" dirty="0"/>
                    </a:p>
                  </a:txBody>
                  <a:tcPr/>
                </a:tc>
                <a:tc>
                  <a:txBody>
                    <a:bodyPr/>
                    <a:lstStyle/>
                    <a:p>
                      <a:pPr algn="ctr"/>
                      <a:r>
                        <a:rPr lang="en-GB" altLang="zh-CN" sz="1200" dirty="0">
                          <a:latin typeface="Times New Roman" panose="02020603050405020304" pitchFamily="18" charset="0"/>
                          <a:cs typeface="Times New Roman" panose="02020603050405020304" pitchFamily="18" charset="0"/>
                        </a:rPr>
                        <a:t>P</a:t>
                      </a:r>
                      <a:r>
                        <a:rPr lang="en-US" altLang="zh-CN" sz="1200" dirty="0">
                          <a:latin typeface="Times New Roman" panose="02020603050405020304" pitchFamily="18" charset="0"/>
                          <a:cs typeface="Times New Roman" panose="02020603050405020304" pitchFamily="18" charset="0"/>
                        </a:rPr>
                        <a:t>(W)</a:t>
                      </a:r>
                      <a:endParaRPr lang="zh-CN" altLang="en-US" sz="1200" dirty="0"/>
                    </a:p>
                  </a:txBody>
                  <a:tcPr/>
                </a:tc>
              </a:tr>
              <a:tr h="370840">
                <a:tc>
                  <a:txBody>
                    <a:bodyPr/>
                    <a:lstStyle/>
                    <a:p>
                      <a:pPr algn="ctr"/>
                      <a:r>
                        <a:rPr lang="en-US" altLang="zh-CN" dirty="0"/>
                        <a:t>t</a:t>
                      </a:r>
                      <a:endParaRPr lang="zh-CN" altLang="en-US" dirty="0"/>
                    </a:p>
                  </a:txBody>
                  <a:tcPr/>
                </a:tc>
                <a:tc>
                  <a:txBody>
                    <a:bodyPr/>
                    <a:lstStyle/>
                    <a:p>
                      <a:pPr algn="ctr"/>
                      <a:r>
                        <a:rPr lang="en-US" altLang="zh-CN" dirty="0"/>
                        <a:t>0.90</a:t>
                      </a:r>
                      <a:endParaRPr lang="zh-CN" altLang="en-US" dirty="0"/>
                    </a:p>
                  </a:txBody>
                  <a:tcPr/>
                </a:tc>
              </a:tr>
              <a:tr h="370840">
                <a:tc>
                  <a:txBody>
                    <a:bodyPr/>
                    <a:lstStyle/>
                    <a:p>
                      <a:pPr algn="ctr"/>
                      <a:r>
                        <a:rPr lang="en-US" altLang="zh-CN" dirty="0"/>
                        <a:t>f</a:t>
                      </a:r>
                      <a:endParaRPr lang="zh-CN" altLang="en-US" dirty="0"/>
                    </a:p>
                  </a:txBody>
                  <a:tcPr/>
                </a:tc>
                <a:tc>
                  <a:txBody>
                    <a:bodyPr/>
                    <a:lstStyle/>
                    <a:p>
                      <a:pPr algn="ctr"/>
                      <a:r>
                        <a:rPr lang="en-US" altLang="zh-CN" dirty="0"/>
                        <a:t>0.05</a:t>
                      </a:r>
                      <a:endParaRPr lang="zh-CN" altLang="en-US" dirty="0"/>
                    </a:p>
                  </a:txBody>
                  <a:tcPr/>
                </a:tc>
              </a:tr>
            </a:tbl>
          </a:graphicData>
        </a:graphic>
      </p:graphicFrame>
      <p:graphicFrame>
        <p:nvGraphicFramePr>
          <p:cNvPr id="29" name="表格 14"/>
          <p:cNvGraphicFramePr>
            <a:graphicFrameLocks noGrp="1"/>
          </p:cNvGraphicFramePr>
          <p:nvPr/>
        </p:nvGraphicFramePr>
        <p:xfrm>
          <a:off x="7168110" y="5004382"/>
          <a:ext cx="2267818" cy="1737360"/>
        </p:xfrm>
        <a:graphic>
          <a:graphicData uri="http://schemas.openxmlformats.org/drawingml/2006/table">
            <a:tbl>
              <a:tblPr firstRow="1" bandRow="1">
                <a:tableStyleId>{5C22544A-7EE6-4342-B048-85BDC9FD1C3A}</a:tableStyleId>
              </a:tblPr>
              <a:tblGrid>
                <a:gridCol w="729956"/>
                <a:gridCol w="768931"/>
                <a:gridCol w="768931"/>
              </a:tblGrid>
              <a:tr h="250341">
                <a:tc>
                  <a:txBody>
                    <a:bodyPr/>
                    <a:lstStyle/>
                    <a:p>
                      <a:pPr algn="ctr"/>
                      <a:r>
                        <a:rPr lang="en-GB" altLang="zh-CN" sz="1200" dirty="0">
                          <a:latin typeface="Times New Roman" panose="02020603050405020304" pitchFamily="18" charset="0"/>
                          <a:cs typeface="Times New Roman" panose="02020603050405020304" pitchFamily="18" charset="0"/>
                        </a:rPr>
                        <a:t>W</a:t>
                      </a:r>
                      <a:endParaRPr lang="zh-CN" altLang="en-US" sz="1200" dirty="0"/>
                    </a:p>
                  </a:txBody>
                  <a:tcPr/>
                </a:tc>
                <a:tc>
                  <a:txBody>
                    <a:bodyPr/>
                    <a:lstStyle/>
                    <a:p>
                      <a:pPr algn="ctr"/>
                      <a:r>
                        <a:rPr lang="en-US" altLang="zh-CN" sz="1200" dirty="0"/>
                        <a:t>B</a:t>
                      </a:r>
                      <a:endParaRPr lang="zh-CN" altLang="en-US" sz="1200" dirty="0"/>
                    </a:p>
                  </a:txBody>
                  <a:tcPr/>
                </a:tc>
                <a:tc>
                  <a:txBody>
                    <a:bodyPr/>
                    <a:lstStyle/>
                    <a:p>
                      <a:pPr algn="ctr"/>
                      <a:r>
                        <a:rPr lang="en-GB" altLang="zh-CN" sz="1200" dirty="0">
                          <a:latin typeface="Times New Roman" panose="02020603050405020304" pitchFamily="18" charset="0"/>
                          <a:cs typeface="Times New Roman" panose="02020603050405020304" pitchFamily="18" charset="0"/>
                        </a:rPr>
                        <a:t>P</a:t>
                      </a:r>
                      <a:r>
                        <a:rPr lang="en-US" altLang="zh-CN" sz="1200" dirty="0">
                          <a:latin typeface="Times New Roman" panose="02020603050405020304" pitchFamily="18" charset="0"/>
                          <a:cs typeface="Times New Roman" panose="02020603050405020304" pitchFamily="18" charset="0"/>
                        </a:rPr>
                        <a:t>(D)</a:t>
                      </a:r>
                      <a:endParaRPr lang="zh-CN" altLang="en-US" sz="1200" dirty="0"/>
                    </a:p>
                  </a:txBody>
                  <a:tcPr/>
                </a:tc>
              </a:tr>
              <a:tr h="335764">
                <a:tc>
                  <a:txBody>
                    <a:bodyPr/>
                    <a:lstStyle/>
                    <a:p>
                      <a:pPr algn="ctr"/>
                      <a:r>
                        <a:rPr lang="en-US" altLang="zh-CN" dirty="0"/>
                        <a:t>t</a:t>
                      </a:r>
                      <a:endParaRPr lang="zh-CN" altLang="en-US" dirty="0"/>
                    </a:p>
                  </a:txBody>
                  <a:tcPr/>
                </a:tc>
                <a:tc>
                  <a:txBody>
                    <a:bodyPr/>
                    <a:lstStyle/>
                    <a:p>
                      <a:pPr algn="ctr"/>
                      <a:r>
                        <a:rPr lang="en-US" altLang="zh-CN" dirty="0"/>
                        <a:t>t</a:t>
                      </a:r>
                      <a:endParaRPr lang="zh-CN" altLang="en-US" dirty="0"/>
                    </a:p>
                  </a:txBody>
                  <a:tcPr/>
                </a:tc>
                <a:tc>
                  <a:txBody>
                    <a:bodyPr/>
                    <a:lstStyle/>
                    <a:p>
                      <a:pPr algn="ctr"/>
                      <a:r>
                        <a:rPr lang="en-US" altLang="zh-CN" dirty="0"/>
                        <a:t>0.335</a:t>
                      </a:r>
                      <a:endParaRPr lang="zh-CN" altLang="en-US" dirty="0"/>
                    </a:p>
                  </a:txBody>
                  <a:tcPr/>
                </a:tc>
              </a:tr>
              <a:tr h="335764">
                <a:tc>
                  <a:txBody>
                    <a:bodyPr/>
                    <a:lstStyle/>
                    <a:p>
                      <a:pPr algn="ctr"/>
                      <a:r>
                        <a:rPr lang="en-US" altLang="zh-CN" dirty="0"/>
                        <a:t>t</a:t>
                      </a:r>
                      <a:endParaRPr lang="zh-CN" altLang="en-US" dirty="0"/>
                    </a:p>
                  </a:txBody>
                  <a:tcPr/>
                </a:tc>
                <a:tc>
                  <a:txBody>
                    <a:bodyPr/>
                    <a:lstStyle/>
                    <a:p>
                      <a:pPr algn="ctr"/>
                      <a:r>
                        <a:rPr lang="en-US" altLang="zh-CN" dirty="0"/>
                        <a:t>f</a:t>
                      </a:r>
                      <a:endParaRPr lang="zh-CN" altLang="en-US" dirty="0"/>
                    </a:p>
                  </a:txBody>
                  <a:tcPr/>
                </a:tc>
                <a:tc>
                  <a:txBody>
                    <a:bodyPr/>
                    <a:lstStyle/>
                    <a:p>
                      <a:pPr algn="ctr"/>
                      <a:r>
                        <a:rPr lang="en-US" altLang="zh-CN" dirty="0"/>
                        <a:t>0.30</a:t>
                      </a:r>
                      <a:endParaRPr lang="zh-CN" altLang="en-US" dirty="0"/>
                    </a:p>
                  </a:txBody>
                  <a:tcPr/>
                </a:tc>
              </a:tr>
              <a:tr h="335764">
                <a:tc>
                  <a:txBody>
                    <a:bodyPr/>
                    <a:lstStyle/>
                    <a:p>
                      <a:pPr algn="ctr"/>
                      <a:r>
                        <a:rPr lang="en-US" altLang="zh-CN" dirty="0"/>
                        <a:t>f</a:t>
                      </a:r>
                      <a:endParaRPr lang="zh-CN" altLang="en-US" dirty="0"/>
                    </a:p>
                  </a:txBody>
                  <a:tcPr/>
                </a:tc>
                <a:tc>
                  <a:txBody>
                    <a:bodyPr/>
                    <a:lstStyle/>
                    <a:p>
                      <a:pPr algn="ctr"/>
                      <a:r>
                        <a:rPr lang="en-US" altLang="zh-CN" dirty="0"/>
                        <a:t>t</a:t>
                      </a:r>
                      <a:endParaRPr lang="zh-CN" altLang="en-US" dirty="0"/>
                    </a:p>
                  </a:txBody>
                  <a:tcPr/>
                </a:tc>
                <a:tc>
                  <a:txBody>
                    <a:bodyPr/>
                    <a:lstStyle/>
                    <a:p>
                      <a:pPr algn="ctr"/>
                      <a:r>
                        <a:rPr lang="en-US" altLang="zh-CN" dirty="0"/>
                        <a:t>0.05</a:t>
                      </a:r>
                      <a:endParaRPr lang="zh-CN" altLang="en-US" dirty="0"/>
                    </a:p>
                  </a:txBody>
                  <a:tcPr/>
                </a:tc>
              </a:tr>
              <a:tr h="335764">
                <a:tc>
                  <a:txBody>
                    <a:bodyPr/>
                    <a:lstStyle/>
                    <a:p>
                      <a:pPr algn="ctr"/>
                      <a:r>
                        <a:rPr lang="en-US" altLang="zh-CN" dirty="0"/>
                        <a:t>f</a:t>
                      </a:r>
                      <a:endParaRPr lang="zh-CN" altLang="en-US" dirty="0"/>
                    </a:p>
                  </a:txBody>
                  <a:tcPr/>
                </a:tc>
                <a:tc>
                  <a:txBody>
                    <a:bodyPr/>
                    <a:lstStyle/>
                    <a:p>
                      <a:pPr algn="ctr"/>
                      <a:r>
                        <a:rPr lang="en-US" altLang="zh-CN" dirty="0"/>
                        <a:t>f</a:t>
                      </a:r>
                      <a:endParaRPr lang="zh-CN" altLang="en-US" dirty="0"/>
                    </a:p>
                  </a:txBody>
                  <a:tcPr/>
                </a:tc>
                <a:tc>
                  <a:txBody>
                    <a:bodyPr/>
                    <a:lstStyle/>
                    <a:p>
                      <a:pPr algn="ctr"/>
                      <a:r>
                        <a:rPr lang="en-US" altLang="zh-CN" dirty="0"/>
                        <a:t>0.00</a:t>
                      </a:r>
                      <a:endParaRPr lang="zh-CN" altLang="en-US" dirty="0"/>
                    </a:p>
                  </a:txBody>
                  <a:tcPr/>
                </a:tc>
              </a:tr>
            </a:tbl>
          </a:graphicData>
        </a:graphic>
      </p:graphicFrame>
      <p:sp>
        <p:nvSpPr>
          <p:cNvPr id="30" name="标题 1"/>
          <p:cNvSpPr txBox="1"/>
          <p:nvPr/>
        </p:nvSpPr>
        <p:spPr>
          <a:xfrm>
            <a:off x="552342" y="485383"/>
            <a:ext cx="8806446" cy="1144893"/>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3600" dirty="0">
                <a:solidFill>
                  <a:srgbClr val="FF0000"/>
                </a:solidFill>
                <a:latin typeface="宋体" panose="02010600030101010101" pitchFamily="2" charset="-122"/>
                <a:ea typeface="宋体" panose="02010600030101010101" pitchFamily="2" charset="-122"/>
              </a:rPr>
              <a:t>案例：</a:t>
            </a:r>
            <a:r>
              <a:rPr lang="zh-CN" altLang="en-US" sz="4000" dirty="0">
                <a:solidFill>
                  <a:schemeClr val="accent1">
                    <a:lumMod val="75000"/>
                  </a:schemeClr>
                </a:solidFill>
                <a:latin typeface=".AppleSystemUIFont"/>
              </a:rPr>
              <a:t>学生健康风险预测模型</a:t>
            </a:r>
            <a:endParaRPr lang="zh-CN" altLang="en-US" sz="4000" dirty="0">
              <a:solidFill>
                <a:schemeClr val="accent1">
                  <a:lumMod val="75000"/>
                </a:schemeClr>
              </a:solidFill>
              <a:latin typeface=".AppleSystemUIFont"/>
            </a:endParaRPr>
          </a:p>
          <a:p>
            <a:pPr>
              <a:defRPr/>
            </a:pPr>
            <a:endParaRPr lang="zh-CN" altLang="en-US" sz="2700" dirty="0">
              <a:solidFill>
                <a:schemeClr val="accent1">
                  <a:lumMod val="75000"/>
                </a:schemeClr>
              </a:solidFill>
              <a:latin typeface=".AppleSystemUIFont"/>
            </a:endParaRPr>
          </a:p>
          <a:p>
            <a:pPr>
              <a:defRPr/>
            </a:pPr>
            <a:br>
              <a:rPr lang="zh-CN" altLang="en-US" dirty="0">
                <a:solidFill>
                  <a:srgbClr val="0E0E0E"/>
                </a:solidFill>
                <a:latin typeface=".AppleSystemUIFont"/>
              </a:rPr>
            </a:b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552342" y="1272592"/>
            <a:ext cx="2763520" cy="5784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mn-cs"/>
              </a:rPr>
              <a:t>推理过程：</a:t>
            </a:r>
            <a:endParaRPr lang="zh-CN" altLang="zh-CN" sz="200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7" name="标题 1"/>
          <p:cNvSpPr txBox="1"/>
          <p:nvPr/>
        </p:nvSpPr>
        <p:spPr>
          <a:xfrm>
            <a:off x="552342" y="485383"/>
            <a:ext cx="8806446" cy="1144893"/>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3600" dirty="0">
                <a:solidFill>
                  <a:srgbClr val="FF0000"/>
                </a:solidFill>
                <a:latin typeface="宋体" panose="02010600030101010101" pitchFamily="2" charset="-122"/>
                <a:ea typeface="宋体" panose="02010600030101010101" pitchFamily="2" charset="-122"/>
              </a:rPr>
              <a:t>案例：</a:t>
            </a:r>
            <a:r>
              <a:rPr lang="zh-CN" altLang="en-US" sz="4000" dirty="0">
                <a:solidFill>
                  <a:schemeClr val="accent1">
                    <a:lumMod val="75000"/>
                  </a:schemeClr>
                </a:solidFill>
                <a:latin typeface=".AppleSystemUIFont"/>
              </a:rPr>
              <a:t>学生健康风险预测模型</a:t>
            </a:r>
            <a:endParaRPr lang="zh-CN" altLang="en-US" sz="4000" dirty="0">
              <a:solidFill>
                <a:schemeClr val="accent1">
                  <a:lumMod val="75000"/>
                </a:schemeClr>
              </a:solidFill>
              <a:latin typeface=".AppleSystemUIFont"/>
            </a:endParaRPr>
          </a:p>
          <a:p>
            <a:pPr>
              <a:defRPr/>
            </a:pPr>
            <a:endParaRPr lang="zh-CN" altLang="en-US" sz="2700" dirty="0">
              <a:solidFill>
                <a:schemeClr val="accent1">
                  <a:lumMod val="75000"/>
                </a:schemeClr>
              </a:solidFill>
              <a:latin typeface=".AppleSystemUIFont"/>
            </a:endParaRPr>
          </a:p>
          <a:p>
            <a:pPr>
              <a:defRPr/>
            </a:pPr>
            <a:br>
              <a:rPr lang="zh-CN" altLang="en-US" dirty="0">
                <a:solidFill>
                  <a:srgbClr val="0E0E0E"/>
                </a:solidFill>
                <a:latin typeface=".AppleSystemUIFont"/>
              </a:rPr>
            </a:br>
            <a:endParaRPr lang="zh-CN" altLang="en-US" dirty="0"/>
          </a:p>
        </p:txBody>
      </p:sp>
      <p:sp>
        <p:nvSpPr>
          <p:cNvPr id="11" name="Rectangle 3"/>
          <p:cNvSpPr>
            <a:spLocks noChangeArrowheads="1"/>
          </p:cNvSpPr>
          <p:nvPr/>
        </p:nvSpPr>
        <p:spPr bwMode="auto">
          <a:xfrm>
            <a:off x="1020278" y="1755405"/>
            <a:ext cx="11684000" cy="5371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lgn="l">
              <a:defRPr>
                <a:solidFill>
                  <a:schemeClr val="tx1"/>
                </a:solidFill>
                <a:latin typeface="Arial" panose="020B0604020202020204" pitchFamily="34" charset="0"/>
                <a:ea typeface="楷体_GB2312" pitchFamily="49" charset="-122"/>
              </a:defRPr>
            </a:lvl1pPr>
            <a:lvl2pPr marL="990600" indent="-533400" algn="l">
              <a:defRPr>
                <a:solidFill>
                  <a:schemeClr val="tx1"/>
                </a:solidFill>
                <a:latin typeface="Arial" panose="020B0604020202020204" pitchFamily="34" charset="0"/>
                <a:ea typeface="楷体_GB2312" pitchFamily="49" charset="-122"/>
              </a:defRPr>
            </a:lvl2pPr>
            <a:lvl3pPr marL="1371600" indent="-457200" algn="l">
              <a:defRPr>
                <a:solidFill>
                  <a:schemeClr val="tx1"/>
                </a:solidFill>
                <a:latin typeface="Arial" panose="020B0604020202020204" pitchFamily="34" charset="0"/>
                <a:ea typeface="楷体_GB2312" pitchFamily="49" charset="-122"/>
              </a:defRPr>
            </a:lvl3pPr>
            <a:lvl4pPr marL="1752600" indent="-381000" algn="l">
              <a:defRPr>
                <a:solidFill>
                  <a:schemeClr val="tx1"/>
                </a:solidFill>
                <a:latin typeface="Arial" panose="020B0604020202020204" pitchFamily="34" charset="0"/>
                <a:ea typeface="楷体_GB2312" pitchFamily="49" charset="-122"/>
              </a:defRPr>
            </a:lvl4pPr>
            <a:lvl5pPr marL="2209800" indent="-381000" algn="l">
              <a:defRPr>
                <a:solidFill>
                  <a:schemeClr val="tx1"/>
                </a:solidFill>
                <a:latin typeface="Arial" panose="020B0604020202020204" pitchFamily="34" charset="0"/>
                <a:ea typeface="楷体_GB2312" pitchFamily="49" charset="-122"/>
              </a:defRPr>
            </a:lvl5pPr>
            <a:lvl6pPr marL="2667000" indent="-381000" fontAlgn="base">
              <a:spcBef>
                <a:spcPct val="0"/>
              </a:spcBef>
              <a:spcAft>
                <a:spcPct val="0"/>
              </a:spcAft>
              <a:defRPr>
                <a:solidFill>
                  <a:schemeClr val="tx1"/>
                </a:solidFill>
                <a:latin typeface="Arial" panose="020B0604020202020204" pitchFamily="34" charset="0"/>
                <a:ea typeface="楷体_GB2312" pitchFamily="49" charset="-122"/>
              </a:defRPr>
            </a:lvl6pPr>
            <a:lvl7pPr marL="3124200" indent="-381000" fontAlgn="base">
              <a:spcBef>
                <a:spcPct val="0"/>
              </a:spcBef>
              <a:spcAft>
                <a:spcPct val="0"/>
              </a:spcAft>
              <a:defRPr>
                <a:solidFill>
                  <a:schemeClr val="tx1"/>
                </a:solidFill>
                <a:latin typeface="Arial" panose="020B0604020202020204" pitchFamily="34" charset="0"/>
                <a:ea typeface="楷体_GB2312" pitchFamily="49" charset="-122"/>
              </a:defRPr>
            </a:lvl7pPr>
            <a:lvl8pPr marL="3581400" indent="-381000" fontAlgn="base">
              <a:spcBef>
                <a:spcPct val="0"/>
              </a:spcBef>
              <a:spcAft>
                <a:spcPct val="0"/>
              </a:spcAft>
              <a:defRPr>
                <a:solidFill>
                  <a:schemeClr val="tx1"/>
                </a:solidFill>
                <a:latin typeface="Arial" panose="020B0604020202020204" pitchFamily="34" charset="0"/>
                <a:ea typeface="楷体_GB2312" pitchFamily="49" charset="-122"/>
              </a:defRPr>
            </a:lvl8pPr>
            <a:lvl9pPr marL="4038600" indent="-381000" fontAlgn="base">
              <a:spcBef>
                <a:spcPct val="0"/>
              </a:spcBef>
              <a:spcAft>
                <a:spcPct val="0"/>
              </a:spcAft>
              <a:defRPr>
                <a:solidFill>
                  <a:schemeClr val="tx1"/>
                </a:solidFill>
                <a:latin typeface="Arial" panose="020B0604020202020204" pitchFamily="34" charset="0"/>
                <a:ea typeface="楷体_GB2312" pitchFamily="49" charset="-122"/>
              </a:defRPr>
            </a:lvl9pPr>
          </a:lstStyle>
          <a:p>
            <a:pPr>
              <a:lnSpc>
                <a:spcPct val="125000"/>
              </a:lnSpc>
              <a:spcBef>
                <a:spcPct val="20000"/>
              </a:spcBef>
              <a:buClr>
                <a:schemeClr val="bg2"/>
              </a:buClr>
              <a:buSzPct val="75000"/>
              <a:buFont typeface="Wingdings" panose="05000000000000000000" pitchFamily="2" charset="2"/>
              <a:buChar char="n"/>
            </a:pPr>
            <a:r>
              <a:rPr lang="zh-CN" altLang="en-GB" sz="2000" b="0" dirty="0">
                <a:latin typeface="微软雅黑" panose="020B0503020204020204" pitchFamily="34" charset="-122"/>
                <a:ea typeface="微软雅黑" panose="020B0503020204020204" pitchFamily="34" charset="-122"/>
              </a:rPr>
              <a:t>计算</a:t>
            </a:r>
            <a:r>
              <a:rPr lang="en-GB" altLang="zh-CN" sz="2000" b="0" dirty="0">
                <a:latin typeface="微软雅黑" panose="020B0503020204020204" pitchFamily="34" charset="-122"/>
                <a:ea typeface="微软雅黑" panose="020B0503020204020204" pitchFamily="34" charset="-122"/>
              </a:rPr>
              <a:t>P(D=True | U=True, W=True)</a:t>
            </a:r>
            <a:endParaRPr lang="en-GB" altLang="zh-CN" sz="2000" b="0" dirty="0">
              <a:latin typeface="微软雅黑" panose="020B0503020204020204" pitchFamily="34" charset="-122"/>
              <a:ea typeface="微软雅黑" panose="020B0503020204020204" pitchFamily="34" charset="-122"/>
            </a:endParaRPr>
          </a:p>
          <a:p>
            <a:endParaRPr lang="en-US" altLang="zh-CN" sz="2000" b="0" dirty="0">
              <a:latin typeface="微软雅黑" panose="020B0503020204020204" pitchFamily="34" charset="-122"/>
              <a:ea typeface="微软雅黑" panose="020B0503020204020204" pitchFamily="34" charset="-122"/>
            </a:endParaRPr>
          </a:p>
          <a:p>
            <a:r>
              <a:rPr lang="zh-CN" altLang="en-US" sz="2000" b="0" dirty="0">
                <a:latin typeface="微软雅黑" panose="020B0503020204020204" pitchFamily="34" charset="-122"/>
                <a:ea typeface="微软雅黑" panose="020B0503020204020204" pitchFamily="34" charset="-122"/>
              </a:rPr>
              <a:t>解：</a:t>
            </a:r>
            <a:r>
              <a:rPr lang="zh-CN" altLang="en-US" dirty="0">
                <a:latin typeface="微软雅黑" panose="020B0503020204020204" pitchFamily="34" charset="-122"/>
                <a:ea typeface="微软雅黑" panose="020B0503020204020204" pitchFamily="34" charset="-122"/>
              </a:rPr>
              <a:t>步骤 </a:t>
            </a:r>
            <a:r>
              <a:rPr lang="en-US" altLang="zh-CN"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：根据贝叶斯网络公式，需要计算的条件概率为：</a:t>
            </a:r>
            <a:endParaRPr lang="en-US" altLang="zh-CN" sz="20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a:p>
            <a:br>
              <a:rPr lang="en-GB" altLang="zh-CN" sz="2000" dirty="0"/>
            </a:br>
            <a:endParaRPr lang="en-GB" altLang="zh-CN" sz="2000" dirty="0"/>
          </a:p>
          <a:p>
            <a:endParaRPr lang="en-GB" altLang="zh-CN" sz="2000" dirty="0"/>
          </a:p>
        </p:txBody>
      </p:sp>
      <p:sp>
        <p:nvSpPr>
          <p:cNvPr id="17" name="文本框 16"/>
          <p:cNvSpPr txBox="1"/>
          <p:nvPr/>
        </p:nvSpPr>
        <p:spPr>
          <a:xfrm>
            <a:off x="1525605" y="3594985"/>
            <a:ext cx="6381548" cy="369332"/>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步骤 </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a:t>
            </a:r>
            <a:endParaRPr lang="zh-CN" altLang="en-US" dirty="0"/>
          </a:p>
        </p:txBody>
      </p:sp>
      <p:sp>
        <p:nvSpPr>
          <p:cNvPr id="24" name="文本框 23"/>
          <p:cNvSpPr txBox="1"/>
          <p:nvPr/>
        </p:nvSpPr>
        <p:spPr>
          <a:xfrm>
            <a:off x="2433587" y="4130895"/>
            <a:ext cx="6381548" cy="1631216"/>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我们有以下条件概率表：</a:t>
            </a:r>
            <a:endParaRPr lang="zh-CN" altLang="en-US" sz="2000" dirty="0">
              <a:latin typeface="微软雅黑" panose="020B0503020204020204" pitchFamily="34" charset="-122"/>
              <a:ea typeface="微软雅黑" panose="020B0503020204020204" pitchFamily="34" charset="-122"/>
            </a:endParaRPr>
          </a:p>
          <a:p>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P(B = True | U = True) = 0.30 </a:t>
            </a:r>
            <a:endParaRPr lang="en-GB"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P(B = False | U = True) = 0.70 </a:t>
            </a:r>
            <a:endParaRPr lang="en-GB"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P(D = True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 W = True, B = True) = 0.335 </a:t>
            </a:r>
            <a:endParaRPr lang="en-GB"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P(D = True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W = True,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B = False) = 0.30 </a:t>
            </a:r>
            <a:endParaRPr lang="en-GB"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文本框 35"/>
          <p:cNvSpPr txBox="1"/>
          <p:nvPr/>
        </p:nvSpPr>
        <p:spPr>
          <a:xfrm>
            <a:off x="2433587" y="3579377"/>
            <a:ext cx="6381548" cy="400110"/>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根据给定的条件概率计算</a:t>
            </a:r>
            <a:endParaRPr lang="zh-CN" altLang="en-US" sz="20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8" name="文本框 37"/>
              <p:cNvSpPr txBox="1"/>
              <p:nvPr/>
            </p:nvSpPr>
            <p:spPr>
              <a:xfrm>
                <a:off x="2433587" y="2926235"/>
                <a:ext cx="9647720" cy="400110"/>
              </a:xfrm>
              <a:prstGeom prst="rect">
                <a:avLst/>
              </a:prstGeom>
              <a:noFill/>
            </p:spPr>
            <p:txBody>
              <a:bodyPr wrap="square">
                <a:spAutoFit/>
              </a:bodyPr>
              <a:lstStyle/>
              <a:p>
                <a:r>
                  <a:rPr lang="en-GB" altLang="zh-CN" sz="2000" dirty="0">
                    <a:latin typeface="Times New Roman" panose="02020603050405020304" pitchFamily="18" charset="0"/>
                    <a:cs typeface="Times New Roman" panose="02020603050405020304" pitchFamily="18" charset="0"/>
                  </a:rPr>
                  <a:t>P(D = True | U = True, W = True) = </a:t>
                </a:r>
                <a14:m>
                  <m:oMath xmlns:m="http://schemas.openxmlformats.org/officeDocument/2006/math">
                    <m:nary>
                      <m:naryPr>
                        <m:chr m:val="∑"/>
                        <m:supHide m:val="on"/>
                        <m:ctrlPr>
                          <a:rPr lang="en-GB" altLang="zh-CN" sz="2000" i="1" smtClean="0">
                            <a:latin typeface="Cambria Math" panose="02040503050406030204" pitchFamily="18" charset="0"/>
                            <a:cs typeface="Times New Roman" panose="02020603050405020304" pitchFamily="18" charset="0"/>
                          </a:rPr>
                        </m:ctrlPr>
                      </m:naryPr>
                      <m:sub>
                        <m:r>
                          <m:rPr>
                            <m:sty m:val="p"/>
                            <m:brk m:alnAt="7"/>
                          </m:rPr>
                          <a:rPr lang="en-GB" altLang="zh-CN" sz="2000" i="1">
                            <a:latin typeface="Cambria Math" panose="02040503050406030204" pitchFamily="18" charset="0"/>
                            <a:cs typeface="Times New Roman" panose="02020603050405020304" pitchFamily="18" charset="0"/>
                          </a:rPr>
                          <m:t>B</m:t>
                        </m:r>
                      </m:sub>
                      <m:sup/>
                      <m:e>
                        <m:r>
                          <m:rPr>
                            <m:sty m:val="p"/>
                          </m:rPr>
                          <a:rPr lang="en-GB" altLang="zh-CN" sz="2000" i="1">
                            <a:latin typeface="Cambria Math" panose="02040503050406030204" pitchFamily="18" charset="0"/>
                            <a:cs typeface="Times New Roman" panose="02020603050405020304" pitchFamily="18" charset="0"/>
                          </a:rPr>
                          <m:t>P</m:t>
                        </m:r>
                      </m:e>
                    </m:nary>
                  </m:oMath>
                </a14:m>
                <a:r>
                  <a:rPr lang="zh-CN"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(D = True | W = True, B) P(B | U = True)</a:t>
                </a:r>
                <a:endParaRPr lang="en-GB" altLang="zh-CN" sz="2000" dirty="0">
                  <a:latin typeface="Times New Roman" panose="02020603050405020304" pitchFamily="18" charset="0"/>
                  <a:cs typeface="Times New Roman" panose="02020603050405020304" pitchFamily="18" charset="0"/>
                </a:endParaRPr>
              </a:p>
            </p:txBody>
          </p:sp>
        </mc:Choice>
        <mc:Fallback>
          <p:sp>
            <p:nvSpPr>
              <p:cNvPr id="38" name="文本框 37"/>
              <p:cNvSpPr txBox="1">
                <a:spLocks noRot="1" noChangeAspect="1" noMove="1" noResize="1" noEditPoints="1" noAdjustHandles="1" noChangeArrowheads="1" noChangeShapeType="1" noTextEdit="1"/>
              </p:cNvSpPr>
              <p:nvPr/>
            </p:nvSpPr>
            <p:spPr>
              <a:xfrm>
                <a:off x="2433587" y="2926235"/>
                <a:ext cx="9647720" cy="400110"/>
              </a:xfrm>
              <a:prstGeom prst="rect">
                <a:avLst/>
              </a:prstGeom>
              <a:blipFill rotWithShape="1">
                <a:blip r:embed="rId1"/>
                <a:stretch>
                  <a:fillRect l="-3" t="-39" r="4" b="54"/>
                </a:stretch>
              </a:blipFill>
            </p:spPr>
            <p:txBody>
              <a:bodyPr/>
              <a:lstStyle/>
              <a:p>
                <a:r>
                  <a:rPr lang="zh-CN" altLang="en-US">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552342" y="1272592"/>
            <a:ext cx="2763520" cy="5784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mn-cs"/>
              </a:rPr>
              <a:t>推理过程：</a:t>
            </a:r>
            <a:endParaRPr lang="zh-CN" altLang="zh-CN" sz="200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7" name="标题 1"/>
          <p:cNvSpPr txBox="1"/>
          <p:nvPr/>
        </p:nvSpPr>
        <p:spPr>
          <a:xfrm>
            <a:off x="552342" y="485383"/>
            <a:ext cx="8806446" cy="1144893"/>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3600" dirty="0">
                <a:solidFill>
                  <a:srgbClr val="FF0000"/>
                </a:solidFill>
                <a:latin typeface="宋体" panose="02010600030101010101" pitchFamily="2" charset="-122"/>
                <a:ea typeface="宋体" panose="02010600030101010101" pitchFamily="2" charset="-122"/>
              </a:rPr>
              <a:t>案例：</a:t>
            </a:r>
            <a:r>
              <a:rPr lang="zh-CN" altLang="en-US" sz="4000" dirty="0">
                <a:solidFill>
                  <a:schemeClr val="accent1">
                    <a:lumMod val="75000"/>
                  </a:schemeClr>
                </a:solidFill>
                <a:latin typeface=".AppleSystemUIFont"/>
              </a:rPr>
              <a:t>学生健康风险预测模型</a:t>
            </a:r>
            <a:endParaRPr lang="zh-CN" altLang="en-US" sz="4000" dirty="0">
              <a:solidFill>
                <a:schemeClr val="accent1">
                  <a:lumMod val="75000"/>
                </a:schemeClr>
              </a:solidFill>
              <a:latin typeface=".AppleSystemUIFont"/>
            </a:endParaRPr>
          </a:p>
          <a:p>
            <a:pPr>
              <a:defRPr/>
            </a:pPr>
            <a:endParaRPr lang="zh-CN" altLang="en-US" sz="2700" dirty="0">
              <a:solidFill>
                <a:schemeClr val="accent1">
                  <a:lumMod val="75000"/>
                </a:schemeClr>
              </a:solidFill>
              <a:latin typeface=".AppleSystemUIFont"/>
            </a:endParaRPr>
          </a:p>
          <a:p>
            <a:pPr>
              <a:defRPr/>
            </a:pPr>
            <a:br>
              <a:rPr lang="zh-CN" altLang="en-US" dirty="0">
                <a:solidFill>
                  <a:srgbClr val="0E0E0E"/>
                </a:solidFill>
                <a:latin typeface=".AppleSystemUIFont"/>
              </a:rPr>
            </a:br>
            <a:endParaRPr lang="zh-CN" altLang="en-US" dirty="0"/>
          </a:p>
        </p:txBody>
      </p:sp>
      <p:sp>
        <p:nvSpPr>
          <p:cNvPr id="11" name="Rectangle 3"/>
          <p:cNvSpPr>
            <a:spLocks noChangeArrowheads="1"/>
          </p:cNvSpPr>
          <p:nvPr/>
        </p:nvSpPr>
        <p:spPr bwMode="auto">
          <a:xfrm>
            <a:off x="1078029" y="1630276"/>
            <a:ext cx="11684000" cy="5371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lgn="l">
              <a:defRPr>
                <a:solidFill>
                  <a:schemeClr val="tx1"/>
                </a:solidFill>
                <a:latin typeface="Arial" panose="020B0604020202020204" pitchFamily="34" charset="0"/>
                <a:ea typeface="楷体_GB2312" pitchFamily="49" charset="-122"/>
              </a:defRPr>
            </a:lvl1pPr>
            <a:lvl2pPr marL="990600" indent="-533400" algn="l">
              <a:defRPr>
                <a:solidFill>
                  <a:schemeClr val="tx1"/>
                </a:solidFill>
                <a:latin typeface="Arial" panose="020B0604020202020204" pitchFamily="34" charset="0"/>
                <a:ea typeface="楷体_GB2312" pitchFamily="49" charset="-122"/>
              </a:defRPr>
            </a:lvl2pPr>
            <a:lvl3pPr marL="1371600" indent="-457200" algn="l">
              <a:defRPr>
                <a:solidFill>
                  <a:schemeClr val="tx1"/>
                </a:solidFill>
                <a:latin typeface="Arial" panose="020B0604020202020204" pitchFamily="34" charset="0"/>
                <a:ea typeface="楷体_GB2312" pitchFamily="49" charset="-122"/>
              </a:defRPr>
            </a:lvl3pPr>
            <a:lvl4pPr marL="1752600" indent="-381000" algn="l">
              <a:defRPr>
                <a:solidFill>
                  <a:schemeClr val="tx1"/>
                </a:solidFill>
                <a:latin typeface="Arial" panose="020B0604020202020204" pitchFamily="34" charset="0"/>
                <a:ea typeface="楷体_GB2312" pitchFamily="49" charset="-122"/>
              </a:defRPr>
            </a:lvl4pPr>
            <a:lvl5pPr marL="2209800" indent="-381000" algn="l">
              <a:defRPr>
                <a:solidFill>
                  <a:schemeClr val="tx1"/>
                </a:solidFill>
                <a:latin typeface="Arial" panose="020B0604020202020204" pitchFamily="34" charset="0"/>
                <a:ea typeface="楷体_GB2312" pitchFamily="49" charset="-122"/>
              </a:defRPr>
            </a:lvl5pPr>
            <a:lvl6pPr marL="2667000" indent="-381000" fontAlgn="base">
              <a:spcBef>
                <a:spcPct val="0"/>
              </a:spcBef>
              <a:spcAft>
                <a:spcPct val="0"/>
              </a:spcAft>
              <a:defRPr>
                <a:solidFill>
                  <a:schemeClr val="tx1"/>
                </a:solidFill>
                <a:latin typeface="Arial" panose="020B0604020202020204" pitchFamily="34" charset="0"/>
                <a:ea typeface="楷体_GB2312" pitchFamily="49" charset="-122"/>
              </a:defRPr>
            </a:lvl6pPr>
            <a:lvl7pPr marL="3124200" indent="-381000" fontAlgn="base">
              <a:spcBef>
                <a:spcPct val="0"/>
              </a:spcBef>
              <a:spcAft>
                <a:spcPct val="0"/>
              </a:spcAft>
              <a:defRPr>
                <a:solidFill>
                  <a:schemeClr val="tx1"/>
                </a:solidFill>
                <a:latin typeface="Arial" panose="020B0604020202020204" pitchFamily="34" charset="0"/>
                <a:ea typeface="楷体_GB2312" pitchFamily="49" charset="-122"/>
              </a:defRPr>
            </a:lvl7pPr>
            <a:lvl8pPr marL="3581400" indent="-381000" fontAlgn="base">
              <a:spcBef>
                <a:spcPct val="0"/>
              </a:spcBef>
              <a:spcAft>
                <a:spcPct val="0"/>
              </a:spcAft>
              <a:defRPr>
                <a:solidFill>
                  <a:schemeClr val="tx1"/>
                </a:solidFill>
                <a:latin typeface="Arial" panose="020B0604020202020204" pitchFamily="34" charset="0"/>
                <a:ea typeface="楷体_GB2312" pitchFamily="49" charset="-122"/>
              </a:defRPr>
            </a:lvl8pPr>
            <a:lvl9pPr marL="4038600" indent="-381000" fontAlgn="base">
              <a:spcBef>
                <a:spcPct val="0"/>
              </a:spcBef>
              <a:spcAft>
                <a:spcPct val="0"/>
              </a:spcAft>
              <a:defRPr>
                <a:solidFill>
                  <a:schemeClr val="tx1"/>
                </a:solidFill>
                <a:latin typeface="Arial" panose="020B0604020202020204" pitchFamily="34" charset="0"/>
                <a:ea typeface="楷体_GB2312" pitchFamily="49" charset="-122"/>
              </a:defRPr>
            </a:lvl9pPr>
          </a:lstStyle>
          <a:p>
            <a:endParaRPr lang="zh-CN" altLang="en-US" sz="2000" dirty="0">
              <a:latin typeface="微软雅黑" panose="020B0503020204020204" pitchFamily="34" charset="-122"/>
              <a:ea typeface="微软雅黑" panose="020B0503020204020204" pitchFamily="34" charset="-122"/>
            </a:endParaRPr>
          </a:p>
          <a:p>
            <a:br>
              <a:rPr lang="en-GB" altLang="zh-CN" sz="2000" dirty="0"/>
            </a:br>
            <a:endParaRPr lang="en-GB" altLang="zh-CN" sz="2000" dirty="0"/>
          </a:p>
        </p:txBody>
      </p:sp>
      <p:sp>
        <p:nvSpPr>
          <p:cNvPr id="26" name="文本框 25"/>
          <p:cNvSpPr txBox="1"/>
          <p:nvPr/>
        </p:nvSpPr>
        <p:spPr>
          <a:xfrm>
            <a:off x="2151245" y="5054538"/>
            <a:ext cx="6381548" cy="369332"/>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结论：</a:t>
            </a:r>
            <a:endParaRPr lang="zh-CN" altLang="en-US" dirty="0"/>
          </a:p>
        </p:txBody>
      </p:sp>
      <p:sp>
        <p:nvSpPr>
          <p:cNvPr id="32" name="文本框 31"/>
          <p:cNvSpPr txBox="1"/>
          <p:nvPr/>
        </p:nvSpPr>
        <p:spPr>
          <a:xfrm>
            <a:off x="2966183" y="5039149"/>
            <a:ext cx="6381548" cy="400110"/>
          </a:xfrm>
          <a:prstGeom prst="rect">
            <a:avLst/>
          </a:prstGeom>
          <a:noFill/>
        </p:spPr>
        <p:txBody>
          <a:bodyPr wrap="square">
            <a:spAutoFit/>
          </a:bodyPr>
          <a:lstStyle/>
          <a:p>
            <a:r>
              <a:rPr lang="zh-CN" altLang="en-US" sz="2000" dirty="0"/>
              <a:t>学生出现健康问题的概率约为 </a:t>
            </a:r>
            <a:r>
              <a:rPr lang="en-US" altLang="zh-CN" sz="2000" b="1" dirty="0">
                <a:solidFill>
                  <a:srgbClr val="C00000"/>
                </a:solidFill>
              </a:rPr>
              <a:t>31.05%</a:t>
            </a:r>
            <a:r>
              <a:rPr lang="zh-CN" altLang="en-US" sz="2000" dirty="0"/>
              <a:t>。</a:t>
            </a:r>
            <a:endParaRPr lang="zh-CN" altLang="en-US" sz="2000" dirty="0"/>
          </a:p>
        </p:txBody>
      </p:sp>
      <mc:AlternateContent xmlns:mc="http://schemas.openxmlformats.org/markup-compatibility/2006">
        <mc:Choice xmlns:a14="http://schemas.microsoft.com/office/drawing/2010/main" Requires="a14">
          <p:sp>
            <p:nvSpPr>
              <p:cNvPr id="4" name="文本框 3"/>
              <p:cNvSpPr txBox="1"/>
              <p:nvPr/>
            </p:nvSpPr>
            <p:spPr>
              <a:xfrm>
                <a:off x="2137609" y="3458266"/>
                <a:ext cx="7685772" cy="1292662"/>
              </a:xfrm>
              <a:prstGeom prst="rect">
                <a:avLst/>
              </a:prstGeom>
              <a:noFill/>
            </p:spPr>
            <p:txBody>
              <a:bodyPr wrap="square">
                <a:spAutoFit/>
              </a:bodyPr>
              <a:lstStyle/>
              <a:p>
                <a:r>
                  <a:rPr lang="zh-CN" altLang="en-US" dirty="0"/>
                  <a:t>代入已知的值：</a:t>
                </a:r>
                <a:endParaRPr lang="zh-CN" altLang="en-US" dirty="0"/>
              </a:p>
              <a:p>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P(D = True | W = True, U = True) = (0.335 </a:t>
                </a:r>
                <a14:m>
                  <m:oMath xmlns:m="http://schemas.openxmlformats.org/officeDocument/2006/math">
                    <m:r>
                      <a:rPr lang="en-GB"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0.30) + (0.30  </a:t>
                </a:r>
                <a14:m>
                  <m:oMath xmlns:m="http://schemas.openxmlformats.org/officeDocument/2006/math">
                    <m:r>
                      <a:rPr lang="en-GB" altLang="zh-CN" sz="2000" i="1">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0.70)</a:t>
                </a:r>
                <a:endParaRPr lang="en-GB"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0.1005 + 0.21 </a:t>
                </a:r>
                <a:endParaRPr lang="en-GB"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 0.3105</a:t>
                </a:r>
                <a:endParaRPr lang="en-GB"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2137609" y="3458266"/>
                <a:ext cx="7685772" cy="1292662"/>
              </a:xfrm>
              <a:prstGeom prst="rect">
                <a:avLst/>
              </a:prstGeom>
              <a:blipFill rotWithShape="1">
                <a:blip r:embed="rId1"/>
                <a:stretch>
                  <a:fillRect l="-3" t="-4" r="7" b="38"/>
                </a:stretch>
              </a:blipFill>
            </p:spPr>
            <p:txBody>
              <a:bodyPr/>
              <a:lstStyle/>
              <a:p>
                <a:r>
                  <a:rPr lang="zh-CN" altLang="en-US">
                    <a:noFill/>
                  </a:rPr>
                  <a:t> </a:t>
                </a:r>
              </a:p>
            </p:txBody>
          </p:sp>
        </mc:Fallback>
      </mc:AlternateContent>
      <p:sp>
        <p:nvSpPr>
          <p:cNvPr id="5" name="文本框 4"/>
          <p:cNvSpPr txBox="1"/>
          <p:nvPr/>
        </p:nvSpPr>
        <p:spPr>
          <a:xfrm>
            <a:off x="2151245" y="2219110"/>
            <a:ext cx="8962726" cy="984885"/>
          </a:xfrm>
          <a:prstGeom prst="rect">
            <a:avLst/>
          </a:prstGeom>
          <a:noFill/>
        </p:spPr>
        <p:txBody>
          <a:bodyPr wrap="square">
            <a:spAutoFit/>
          </a:bodyPr>
          <a:lstStyle/>
          <a:p>
            <a:br>
              <a:rPr lang="en-GB" altLang="zh-CN" dirty="0"/>
            </a:b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P(D = True | W = True, U = True) = P(D = True | W = True, B = True) P(B = True | U = True) + P(D = True | W = True, B = False) P(B = False | U = True)</a:t>
            </a:r>
            <a:endParaRPr lang="en-GB"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p:cNvSpPr txBox="1"/>
          <p:nvPr/>
        </p:nvSpPr>
        <p:spPr>
          <a:xfrm>
            <a:off x="2228875" y="1881122"/>
            <a:ext cx="6381548" cy="400110"/>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计算  </a:t>
            </a:r>
            <a:r>
              <a:rPr lang="en-GB" altLang="zh-CN" sz="2000" dirty="0">
                <a:latin typeface="Times New Roman" panose="02020603050405020304" pitchFamily="18" charset="0"/>
                <a:ea typeface="微软雅黑" panose="020B0503020204020204" pitchFamily="34" charset="-122"/>
                <a:cs typeface="Times New Roman" panose="02020603050405020304" pitchFamily="18" charset="0"/>
              </a:rPr>
              <a:t>P(D = True | W = True, U = True) </a:t>
            </a:r>
            <a:endParaRPr lang="en-GB"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p:cNvSpPr txBox="1"/>
          <p:nvPr/>
        </p:nvSpPr>
        <p:spPr>
          <a:xfrm>
            <a:off x="1371601" y="1919743"/>
            <a:ext cx="6381548" cy="369332"/>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步骤 </a:t>
            </a:r>
            <a:r>
              <a:rPr lang="en-US" altLang="zh-CN" sz="1800" dirty="0">
                <a:latin typeface="微软雅黑" panose="020B0503020204020204" pitchFamily="34" charset="-122"/>
                <a:ea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rPr>
              <a:t>：</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552342" y="1067180"/>
            <a:ext cx="2763520" cy="5784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mn-cs"/>
              </a:rPr>
              <a:t>代码：</a:t>
            </a:r>
            <a:endParaRPr lang="zh-CN" altLang="zh-CN" sz="2000" dirty="0">
              <a:solidFill>
                <a:schemeClr val="accent1">
                  <a:lumMod val="75000"/>
                </a:schemeClr>
              </a:solidFill>
              <a:latin typeface="微软雅黑" panose="020B0503020204020204" pitchFamily="34" charset="-122"/>
              <a:ea typeface="微软雅黑" panose="020B0503020204020204" pitchFamily="34" charset="-122"/>
              <a:cs typeface="+mn-cs"/>
            </a:endParaRPr>
          </a:p>
        </p:txBody>
      </p:sp>
      <p:sp>
        <p:nvSpPr>
          <p:cNvPr id="7" name="标题 1"/>
          <p:cNvSpPr txBox="1"/>
          <p:nvPr/>
        </p:nvSpPr>
        <p:spPr>
          <a:xfrm>
            <a:off x="552342" y="485383"/>
            <a:ext cx="8806446" cy="1144893"/>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3600" dirty="0">
                <a:solidFill>
                  <a:srgbClr val="FF0000"/>
                </a:solidFill>
                <a:latin typeface="宋体" panose="02010600030101010101" pitchFamily="2" charset="-122"/>
                <a:ea typeface="宋体" panose="02010600030101010101" pitchFamily="2" charset="-122"/>
              </a:rPr>
              <a:t>案例：</a:t>
            </a:r>
            <a:r>
              <a:rPr lang="zh-CN" altLang="en-US" sz="4000" dirty="0">
                <a:solidFill>
                  <a:schemeClr val="accent1">
                    <a:lumMod val="75000"/>
                  </a:schemeClr>
                </a:solidFill>
                <a:latin typeface=".AppleSystemUIFont"/>
              </a:rPr>
              <a:t>学生健康风险预测模型</a:t>
            </a:r>
            <a:endParaRPr lang="zh-CN" altLang="en-US" sz="4000" dirty="0">
              <a:solidFill>
                <a:schemeClr val="accent1">
                  <a:lumMod val="75000"/>
                </a:schemeClr>
              </a:solidFill>
              <a:latin typeface=".AppleSystemUIFont"/>
            </a:endParaRPr>
          </a:p>
          <a:p>
            <a:pPr>
              <a:defRPr/>
            </a:pPr>
            <a:endParaRPr lang="zh-CN" altLang="en-US" sz="2700" dirty="0">
              <a:solidFill>
                <a:schemeClr val="accent1">
                  <a:lumMod val="75000"/>
                </a:schemeClr>
              </a:solidFill>
              <a:latin typeface=".AppleSystemUIFont"/>
            </a:endParaRPr>
          </a:p>
          <a:p>
            <a:pPr>
              <a:defRPr/>
            </a:pPr>
            <a:br>
              <a:rPr lang="zh-CN" altLang="en-US" dirty="0">
                <a:solidFill>
                  <a:srgbClr val="0E0E0E"/>
                </a:solidFill>
                <a:latin typeface=".AppleSystemUIFont"/>
              </a:rPr>
            </a:br>
            <a:endParaRPr lang="zh-CN" altLang="en-US" dirty="0"/>
          </a:p>
        </p:txBody>
      </p:sp>
      <p:sp>
        <p:nvSpPr>
          <p:cNvPr id="11" name="Rectangle 3"/>
          <p:cNvSpPr>
            <a:spLocks noChangeArrowheads="1"/>
          </p:cNvSpPr>
          <p:nvPr/>
        </p:nvSpPr>
        <p:spPr bwMode="auto">
          <a:xfrm>
            <a:off x="1193532" y="2711552"/>
            <a:ext cx="11684000" cy="5371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lgn="l">
              <a:defRPr>
                <a:solidFill>
                  <a:schemeClr val="tx1"/>
                </a:solidFill>
                <a:latin typeface="Arial" panose="020B0604020202020204" pitchFamily="34" charset="0"/>
                <a:ea typeface="楷体_GB2312" pitchFamily="49" charset="-122"/>
              </a:defRPr>
            </a:lvl1pPr>
            <a:lvl2pPr marL="990600" indent="-533400" algn="l">
              <a:defRPr>
                <a:solidFill>
                  <a:schemeClr val="tx1"/>
                </a:solidFill>
                <a:latin typeface="Arial" panose="020B0604020202020204" pitchFamily="34" charset="0"/>
                <a:ea typeface="楷体_GB2312" pitchFamily="49" charset="-122"/>
              </a:defRPr>
            </a:lvl2pPr>
            <a:lvl3pPr marL="1371600" indent="-457200" algn="l">
              <a:defRPr>
                <a:solidFill>
                  <a:schemeClr val="tx1"/>
                </a:solidFill>
                <a:latin typeface="Arial" panose="020B0604020202020204" pitchFamily="34" charset="0"/>
                <a:ea typeface="楷体_GB2312" pitchFamily="49" charset="-122"/>
              </a:defRPr>
            </a:lvl3pPr>
            <a:lvl4pPr marL="1752600" indent="-381000" algn="l">
              <a:defRPr>
                <a:solidFill>
                  <a:schemeClr val="tx1"/>
                </a:solidFill>
                <a:latin typeface="Arial" panose="020B0604020202020204" pitchFamily="34" charset="0"/>
                <a:ea typeface="楷体_GB2312" pitchFamily="49" charset="-122"/>
              </a:defRPr>
            </a:lvl4pPr>
            <a:lvl5pPr marL="2209800" indent="-381000" algn="l">
              <a:defRPr>
                <a:solidFill>
                  <a:schemeClr val="tx1"/>
                </a:solidFill>
                <a:latin typeface="Arial" panose="020B0604020202020204" pitchFamily="34" charset="0"/>
                <a:ea typeface="楷体_GB2312" pitchFamily="49" charset="-122"/>
              </a:defRPr>
            </a:lvl5pPr>
            <a:lvl6pPr marL="2667000" indent="-381000" fontAlgn="base">
              <a:spcBef>
                <a:spcPct val="0"/>
              </a:spcBef>
              <a:spcAft>
                <a:spcPct val="0"/>
              </a:spcAft>
              <a:defRPr>
                <a:solidFill>
                  <a:schemeClr val="tx1"/>
                </a:solidFill>
                <a:latin typeface="Arial" panose="020B0604020202020204" pitchFamily="34" charset="0"/>
                <a:ea typeface="楷体_GB2312" pitchFamily="49" charset="-122"/>
              </a:defRPr>
            </a:lvl6pPr>
            <a:lvl7pPr marL="3124200" indent="-381000" fontAlgn="base">
              <a:spcBef>
                <a:spcPct val="0"/>
              </a:spcBef>
              <a:spcAft>
                <a:spcPct val="0"/>
              </a:spcAft>
              <a:defRPr>
                <a:solidFill>
                  <a:schemeClr val="tx1"/>
                </a:solidFill>
                <a:latin typeface="Arial" panose="020B0604020202020204" pitchFamily="34" charset="0"/>
                <a:ea typeface="楷体_GB2312" pitchFamily="49" charset="-122"/>
              </a:defRPr>
            </a:lvl7pPr>
            <a:lvl8pPr marL="3581400" indent="-381000" fontAlgn="base">
              <a:spcBef>
                <a:spcPct val="0"/>
              </a:spcBef>
              <a:spcAft>
                <a:spcPct val="0"/>
              </a:spcAft>
              <a:defRPr>
                <a:solidFill>
                  <a:schemeClr val="tx1"/>
                </a:solidFill>
                <a:latin typeface="Arial" panose="020B0604020202020204" pitchFamily="34" charset="0"/>
                <a:ea typeface="楷体_GB2312" pitchFamily="49" charset="-122"/>
              </a:defRPr>
            </a:lvl8pPr>
            <a:lvl9pPr marL="4038600" indent="-381000" fontAlgn="base">
              <a:spcBef>
                <a:spcPct val="0"/>
              </a:spcBef>
              <a:spcAft>
                <a:spcPct val="0"/>
              </a:spcAft>
              <a:defRPr>
                <a:solidFill>
                  <a:schemeClr val="tx1"/>
                </a:solidFill>
                <a:latin typeface="Arial" panose="020B0604020202020204" pitchFamily="34" charset="0"/>
                <a:ea typeface="楷体_GB2312" pitchFamily="49" charset="-122"/>
              </a:defRPr>
            </a:lvl9pPr>
          </a:lstStyle>
          <a:p>
            <a:endParaRPr lang="zh-CN" altLang="en-US" sz="2000" dirty="0">
              <a:latin typeface="微软雅黑" panose="020B0503020204020204" pitchFamily="34" charset="-122"/>
              <a:ea typeface="微软雅黑" panose="020B0503020204020204" pitchFamily="34" charset="-122"/>
            </a:endParaRPr>
          </a:p>
          <a:p>
            <a:br>
              <a:rPr lang="en-GB" altLang="zh-CN" sz="2000" dirty="0"/>
            </a:br>
            <a:endParaRPr lang="en-GB" altLang="zh-CN" sz="2000" dirty="0"/>
          </a:p>
        </p:txBody>
      </p:sp>
      <p:sp>
        <p:nvSpPr>
          <p:cNvPr id="26" name="文本框 25"/>
          <p:cNvSpPr txBox="1"/>
          <p:nvPr/>
        </p:nvSpPr>
        <p:spPr>
          <a:xfrm>
            <a:off x="885436" y="1447141"/>
            <a:ext cx="10754222" cy="3416320"/>
          </a:xfrm>
          <a:prstGeom prst="rect">
            <a:avLst/>
          </a:prstGeom>
          <a:noFill/>
        </p:spPr>
        <p:txBody>
          <a:bodyPr wrap="square">
            <a:spAutoFit/>
          </a:bodyPr>
          <a:lstStyle/>
          <a:p>
            <a:br>
              <a:rPr lang="zh-CN" altLang="en-US" dirty="0"/>
            </a:br>
            <a:r>
              <a:rPr lang="en-US" altLang="zh-CN" dirty="0">
                <a:solidFill>
                  <a:srgbClr val="808080"/>
                </a:solidFill>
                <a:effectLst/>
              </a:rPr>
              <a:t># </a:t>
            </a:r>
            <a:r>
              <a:rPr lang="zh-CN" altLang="en-US" dirty="0">
                <a:solidFill>
                  <a:srgbClr val="808080"/>
                </a:solidFill>
                <a:effectLst/>
                <a:latin typeface="Menlo-Regular" panose="020B0609030804020204" pitchFamily="49" charset="0"/>
              </a:rPr>
              <a:t>给定条件概率</a:t>
            </a:r>
            <a:br>
              <a:rPr lang="zh-CN" altLang="en-US" dirty="0">
                <a:solidFill>
                  <a:srgbClr val="808080"/>
                </a:solidFill>
                <a:effectLst/>
                <a:latin typeface="Menlo-Regular" panose="020B0609030804020204" pitchFamily="49" charset="0"/>
              </a:rPr>
            </a:br>
            <a:r>
              <a:rPr lang="en-GB" altLang="zh-CN" dirty="0" err="1"/>
              <a:t>P_B_true_given_U_true</a:t>
            </a:r>
            <a:r>
              <a:rPr lang="en-GB" altLang="zh-CN" dirty="0"/>
              <a:t> = </a:t>
            </a:r>
            <a:r>
              <a:rPr lang="en-GB" altLang="zh-CN" dirty="0">
                <a:solidFill>
                  <a:srgbClr val="6897BB"/>
                </a:solidFill>
                <a:effectLst/>
              </a:rPr>
              <a:t>0.30</a:t>
            </a:r>
            <a:br>
              <a:rPr lang="en-GB" altLang="zh-CN" dirty="0">
                <a:solidFill>
                  <a:srgbClr val="6897BB"/>
                </a:solidFill>
                <a:effectLst/>
              </a:rPr>
            </a:br>
            <a:r>
              <a:rPr lang="en-GB" altLang="zh-CN" dirty="0" err="1"/>
              <a:t>P_B_false_given_U_true</a:t>
            </a:r>
            <a:r>
              <a:rPr lang="en-GB" altLang="zh-CN" dirty="0"/>
              <a:t> = </a:t>
            </a:r>
            <a:r>
              <a:rPr lang="en-GB" altLang="zh-CN" dirty="0">
                <a:solidFill>
                  <a:srgbClr val="6897BB"/>
                </a:solidFill>
                <a:effectLst/>
              </a:rPr>
              <a:t>0.70</a:t>
            </a:r>
            <a:br>
              <a:rPr lang="en-GB" altLang="zh-CN" dirty="0">
                <a:solidFill>
                  <a:srgbClr val="6897BB"/>
                </a:solidFill>
                <a:effectLst/>
              </a:rPr>
            </a:br>
            <a:r>
              <a:rPr lang="en-GB" altLang="zh-CN" dirty="0" err="1"/>
              <a:t>P_D_true_given_W_true_B_true</a:t>
            </a:r>
            <a:r>
              <a:rPr lang="en-GB" altLang="zh-CN" dirty="0"/>
              <a:t> = </a:t>
            </a:r>
            <a:r>
              <a:rPr lang="en-GB" altLang="zh-CN" dirty="0">
                <a:solidFill>
                  <a:srgbClr val="6897BB"/>
                </a:solidFill>
                <a:effectLst/>
              </a:rPr>
              <a:t>0.335</a:t>
            </a:r>
            <a:br>
              <a:rPr lang="en-GB" altLang="zh-CN" dirty="0">
                <a:solidFill>
                  <a:srgbClr val="6897BB"/>
                </a:solidFill>
                <a:effectLst/>
              </a:rPr>
            </a:br>
            <a:r>
              <a:rPr lang="en-GB" altLang="zh-CN" dirty="0" err="1"/>
              <a:t>P_D_true_given_W_true_B_false</a:t>
            </a:r>
            <a:r>
              <a:rPr lang="en-GB" altLang="zh-CN" dirty="0"/>
              <a:t> = </a:t>
            </a:r>
            <a:r>
              <a:rPr lang="en-GB" altLang="zh-CN" dirty="0">
                <a:solidFill>
                  <a:srgbClr val="6897BB"/>
                </a:solidFill>
                <a:effectLst/>
              </a:rPr>
              <a:t>0.30</a:t>
            </a:r>
            <a:br>
              <a:rPr lang="en-GB" altLang="zh-CN" dirty="0">
                <a:solidFill>
                  <a:srgbClr val="6897BB"/>
                </a:solidFill>
                <a:effectLst/>
              </a:rPr>
            </a:br>
            <a:br>
              <a:rPr lang="en-GB" altLang="zh-CN" dirty="0">
                <a:solidFill>
                  <a:srgbClr val="6897BB"/>
                </a:solidFill>
                <a:effectLst/>
              </a:rPr>
            </a:br>
            <a:r>
              <a:rPr lang="en-GB" altLang="zh-CN" dirty="0">
                <a:solidFill>
                  <a:srgbClr val="808080"/>
                </a:solidFill>
                <a:effectLst/>
              </a:rPr>
              <a:t># </a:t>
            </a:r>
            <a:r>
              <a:rPr lang="zh-CN" altLang="en-US" dirty="0">
                <a:solidFill>
                  <a:srgbClr val="808080"/>
                </a:solidFill>
                <a:effectLst/>
                <a:latin typeface="Menlo-Regular" panose="020B0609030804020204" pitchFamily="49" charset="0"/>
              </a:rPr>
              <a:t>计算</a:t>
            </a:r>
            <a:r>
              <a:rPr lang="zh-CN" altLang="en-US" dirty="0">
                <a:solidFill>
                  <a:srgbClr val="808080"/>
                </a:solidFill>
                <a:effectLst/>
              </a:rPr>
              <a:t> </a:t>
            </a:r>
            <a:r>
              <a:rPr lang="en-GB" altLang="zh-CN" dirty="0">
                <a:solidFill>
                  <a:srgbClr val="808080"/>
                </a:solidFill>
                <a:effectLst/>
              </a:rPr>
              <a:t>P(D=True | U=True, W=True)</a:t>
            </a:r>
            <a:br>
              <a:rPr lang="en-GB" altLang="zh-CN" dirty="0">
                <a:solidFill>
                  <a:srgbClr val="808080"/>
                </a:solidFill>
                <a:effectLst/>
              </a:rPr>
            </a:br>
            <a:r>
              <a:rPr lang="en-GB" altLang="zh-CN" dirty="0" err="1"/>
              <a:t>P_D_true_given_U_true_W_true</a:t>
            </a:r>
            <a:r>
              <a:rPr lang="en-GB" altLang="zh-CN" dirty="0"/>
              <a:t> = (</a:t>
            </a:r>
            <a:r>
              <a:rPr lang="en-GB" altLang="zh-CN" dirty="0" err="1"/>
              <a:t>P_D_true_given_W_true_B_true</a:t>
            </a:r>
            <a:r>
              <a:rPr lang="en-GB" altLang="zh-CN" dirty="0"/>
              <a:t> * </a:t>
            </a:r>
            <a:r>
              <a:rPr lang="en-GB" altLang="zh-CN" dirty="0" err="1"/>
              <a:t>P_B_true_given_U_true</a:t>
            </a:r>
            <a:r>
              <a:rPr lang="en-GB" altLang="zh-CN" dirty="0"/>
              <a:t>) + (</a:t>
            </a:r>
            <a:r>
              <a:rPr lang="en-GB" altLang="zh-CN" dirty="0" err="1"/>
              <a:t>P_D_true_given_W_true_B_false</a:t>
            </a:r>
            <a:r>
              <a:rPr lang="en-GB" altLang="zh-CN" dirty="0"/>
              <a:t> * </a:t>
            </a:r>
            <a:r>
              <a:rPr lang="en-GB" altLang="zh-CN" dirty="0" err="1"/>
              <a:t>P_B_false_given_U_true</a:t>
            </a:r>
            <a:r>
              <a:rPr lang="en-GB" altLang="zh-CN" dirty="0"/>
              <a:t>)</a:t>
            </a:r>
            <a:br>
              <a:rPr lang="en-GB" altLang="zh-CN" dirty="0"/>
            </a:br>
            <a:br>
              <a:rPr lang="en-GB" altLang="zh-CN" dirty="0"/>
            </a:br>
            <a:r>
              <a:rPr lang="en-GB" altLang="zh-CN" dirty="0">
                <a:solidFill>
                  <a:srgbClr val="8888C6"/>
                </a:solidFill>
                <a:effectLst/>
              </a:rPr>
              <a:t>print</a:t>
            </a:r>
            <a:r>
              <a:rPr lang="en-GB" altLang="zh-CN" dirty="0"/>
              <a:t>(</a:t>
            </a:r>
            <a:r>
              <a:rPr lang="en-GB" altLang="zh-CN" dirty="0" err="1">
                <a:solidFill>
                  <a:srgbClr val="6A8759"/>
                </a:solidFill>
                <a:effectLst/>
              </a:rPr>
              <a:t>f"P</a:t>
            </a:r>
            <a:r>
              <a:rPr lang="en-GB" altLang="zh-CN" dirty="0">
                <a:solidFill>
                  <a:srgbClr val="6A8759"/>
                </a:solidFill>
                <a:effectLst/>
              </a:rPr>
              <a:t>(D = True | U = True, W = True) = </a:t>
            </a:r>
            <a:r>
              <a:rPr lang="en-GB" altLang="zh-CN" dirty="0">
                <a:solidFill>
                  <a:srgbClr val="CC7832"/>
                </a:solidFill>
                <a:effectLst/>
              </a:rPr>
              <a:t>{</a:t>
            </a:r>
            <a:r>
              <a:rPr lang="en-GB" altLang="zh-CN" dirty="0"/>
              <a:t>P_D_true_given_U_true_W_true</a:t>
            </a:r>
            <a:r>
              <a:rPr lang="en-GB" altLang="zh-CN" dirty="0">
                <a:solidFill>
                  <a:srgbClr val="CC7832"/>
                </a:solidFill>
                <a:effectLst/>
              </a:rPr>
              <a:t>:</a:t>
            </a:r>
            <a:r>
              <a:rPr lang="en-GB" altLang="zh-CN" dirty="0">
                <a:solidFill>
                  <a:srgbClr val="6A8759"/>
                </a:solidFill>
                <a:effectLst/>
              </a:rPr>
              <a:t>.4f</a:t>
            </a:r>
            <a:r>
              <a:rPr lang="en-GB" altLang="zh-CN" dirty="0">
                <a:solidFill>
                  <a:srgbClr val="CC7832"/>
                </a:solidFill>
                <a:effectLst/>
              </a:rPr>
              <a:t>}</a:t>
            </a:r>
            <a:r>
              <a:rPr lang="en-GB" altLang="zh-CN" dirty="0">
                <a:solidFill>
                  <a:srgbClr val="6A8759"/>
                </a:solidFill>
                <a:effectLst/>
              </a:rPr>
              <a:t>"</a:t>
            </a:r>
            <a:r>
              <a:rPr lang="en-GB" altLang="zh-CN" dirty="0"/>
              <a:t>)</a:t>
            </a:r>
            <a:endParaRPr lang="zh-CN" altLang="en-US" dirty="0"/>
          </a:p>
        </p:txBody>
      </p:sp>
      <p:pic>
        <p:nvPicPr>
          <p:cNvPr id="3" name="图片 2"/>
          <p:cNvPicPr>
            <a:picLocks noChangeAspect="1"/>
          </p:cNvPicPr>
          <p:nvPr/>
        </p:nvPicPr>
        <p:blipFill>
          <a:blip r:embed="rId1"/>
          <a:stretch>
            <a:fillRect/>
          </a:stretch>
        </p:blipFill>
        <p:spPr>
          <a:xfrm>
            <a:off x="3693293" y="5397242"/>
            <a:ext cx="4343400" cy="279400"/>
          </a:xfrm>
          <a:prstGeom prst="rect">
            <a:avLst/>
          </a:prstGeom>
        </p:spPr>
      </p:pic>
    </p:spTree>
  </p:cSld>
  <p:clrMapOvr>
    <a:masterClrMapping/>
  </p:clrMapOvr>
</p:sld>
</file>

<file path=ppt/tags/tag1.xml><?xml version="1.0" encoding="utf-8"?>
<p:tagLst xmlns:p="http://schemas.openxmlformats.org/presentationml/2006/main">
  <p:tag name="PA" val="v4.0.0"/>
</p:tagLst>
</file>

<file path=ppt/tags/tag2.xml><?xml version="1.0" encoding="utf-8"?>
<p:tagLst xmlns:p="http://schemas.openxmlformats.org/presentationml/2006/main">
  <p:tag name="SOURCE" val="\documentclass{slides}\pagestyle{empty}&#10;\begin{document}&#10;\[&#10;P(a | b) = \frac{P(a, b)}{P(b)}&#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159"/>
  <p:tag name="PICTUREFILESIZE" val="12487"/>
</p:tagLst>
</file>

<file path=ppt/tags/tag3.xml><?xml version="1.0" encoding="utf-8"?>
<p:tagLst xmlns:p="http://schemas.openxmlformats.org/presentationml/2006/main">
  <p:tag name="PA" val="v4.0.0"/>
</p:tagLst>
</file>

<file path=ppt/tags/tag4.xml><?xml version="1.0" encoding="utf-8"?>
<p:tagLst xmlns:p="http://schemas.openxmlformats.org/presentationml/2006/main">
  <p:tag name="PA" val="v4.0.0"/>
</p:tagLst>
</file>

<file path=ppt/tags/tag5.xml><?xml version="1.0" encoding="utf-8"?>
<p:tagLst xmlns:p="http://schemas.openxmlformats.org/presentationml/2006/main">
  <p:tag name="SOURCE" val="\documentclass{slides}\pagestyle{empty}&#10;\begin{document}&#10;\[&#10;\ldots&#10;\]&#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22"/>
  <p:tag name="PICTUREFILESIZE" val="308"/>
</p:tagLst>
</file>

<file path=ppt/tags/tag6.xml><?xml version="1.0" encoding="utf-8"?>
<p:tagLst xmlns:p="http://schemas.openxmlformats.org/presentationml/2006/main">
  <p:tag name="TEXPOINT" val="latex"/>
  <p:tag name="SOURCE" val="\documentclass{slides}\pagestyle{empty}&#10;\begin{document}&#10;\[&#10;P(X|A_1 \ldots A_n)&#10;\]&#10;\end{document}&#10;"/>
  <p:tag name="FILENAME" val="txp_fig"/>
  <p:tag name="FORMAT" val="pngmono"/>
  <p:tag name="RES" val="1200"/>
  <p:tag name="BLEND" val="0"/>
  <p:tag name="TRANSPARENT" val="0"/>
  <p:tag name="TBUG" val="0"/>
  <p:tag name="ALLOWFS" val="0"/>
  <p:tag name="ORIGWIDTH" val="143"/>
  <p:tag name="PICTUREFILESIZE" val="7032"/>
</p:tagLst>
</file>

<file path=ppt/tags/tag7.xml><?xml version="1.0" encoding="utf-8"?>
<p:tagLst xmlns:p="http://schemas.openxmlformats.org/presentationml/2006/main">
  <p:tag name="SOURCE" val="\documentclass{slides}\pagestyle{empty}&#10;\begin{document}&#10;$X_1, X_2, \ldots X_n$&#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131"/>
  <p:tag name="PICTUREFILESIZE" val="6256"/>
</p:tagLst>
</file>

<file path=ppt/tags/tag8.xml><?xml version="1.0" encoding="utf-8"?>
<p:tagLst xmlns:p="http://schemas.openxmlformats.org/presentationml/2006/main">
  <p:tag name="TEXPOINT" val="latex"/>
  <p:tag name="SOURCE" val="\documentclass{slides}\pagestyle{empty}&#10;\begin{document}&#10;$E_1 \ldots E_k = e_1 \ldots e_k$&#10;\end{document}&#10;"/>
  <p:tag name="FILENAME" val="txp_fig"/>
  <p:tag name="FORMAT" val="pngmono"/>
  <p:tag name="RES" val="1200"/>
  <p:tag name="BLEND" val="0"/>
  <p:tag name="TRANSPARENT" val="0"/>
  <p:tag name="TBUG" val="0"/>
  <p:tag name="ALLOWFS" val="0"/>
  <p:tag name="ORIGWIDTH" val="185"/>
  <p:tag name="PICTUREFILESIZE" val="6092"/>
</p:tagLst>
</file>

<file path=ppt/tags/tag9.xml><?xml version="1.0" encoding="utf-8"?>
<p:tagLst xmlns:p="http://schemas.openxmlformats.org/presentationml/2006/main">
  <p:tag name="TEXPOINT" val="latex"/>
  <p:tag name="SOURCE" val="\documentclass{slides}\pagestyle{empty}&#10;\begin{document}&#10;$Q$&#10;\end{document}&#10;"/>
  <p:tag name="FILENAME" val="txp_fig"/>
  <p:tag name="FORMAT" val="pngmono"/>
  <p:tag name="RES" val="1200"/>
  <p:tag name="BLEND" val="0"/>
  <p:tag name="TRANSPARENT" val="0"/>
  <p:tag name="TBUG" val="0"/>
  <p:tag name="ALLOWFS" val="0"/>
  <p:tag name="ORIGWIDTH" val="15"/>
  <p:tag name="PICTUREFILESIZE" val="1484"/>
</p:tagLst>
</file>

<file path=ppt/tags/tag10.xml><?xml version="1.0" encoding="utf-8"?>
<p:tagLst xmlns:p="http://schemas.openxmlformats.org/presentationml/2006/main">
  <p:tag name="SOURCE" val="\documentclass{slides}\pagestyle{empty}&#10;\begin{document}&#10;$H_1 \ldots H_r$&#10;\end{document}&#10;"/>
  <p:tag name="EXTERNALNAME" val="txp_fig"/>
  <p:tag name="BLEND" val="False"/>
  <p:tag name="TRANSPARENT" val="False"/>
  <p:tag name="KEEPFILES" val="False"/>
  <p:tag name="DEBUGPAUSE" val="False"/>
  <p:tag name="RESOLUTION" val="1200"/>
  <p:tag name="TIMEOUT" val="(none)"/>
  <p:tag name="BOXWIDTH" val="385"/>
  <p:tag name="BOXHEIGHT" val="283"/>
  <p:tag name="BOXFONT" val="10"/>
  <p:tag name="BOXWRAP" val="False"/>
  <p:tag name="WORKAROUNDTRANSPARENCYBUG" val="False"/>
  <p:tag name="ALLOWFONTSUBSTITUTION" val="False"/>
  <p:tag name="BITMAPFORMAT" val="pngmono"/>
  <p:tag name="ORIGWIDTH" val="85"/>
  <p:tag name="PICTUREFILESIZE" val="2327"/>
</p:tagLst>
</file>

<file path=ppt/tags/tag11.xml><?xml version="1.0" encoding="utf-8"?>
<p:tagLst xmlns:p="http://schemas.openxmlformats.org/presentationml/2006/main">
  <p:tag name="TEXPOINT" val="latex"/>
  <p:tag name="SOURCE" val="\documentclass{slides}\pagestyle{empty}&#10;\begin{document}&#10;$P(Q | e_1 \ldots e_k)$&#10;\end{document}&#10;"/>
  <p:tag name="FILENAME" val="txp_fig"/>
  <p:tag name="FORMAT" val="pngmono"/>
  <p:tag name="RES" val="1200"/>
  <p:tag name="BLEND" val="0"/>
  <p:tag name="TRANSPARENT" val="0"/>
  <p:tag name="TBUG" val="0"/>
  <p:tag name="ALLOWFS" val="0"/>
  <p:tag name="ORIGWIDTH" val="128"/>
  <p:tag name="PICTUREFILESIZE" val="6782"/>
</p:tagLst>
</file>

<file path=ppt/tags/tag12.xml><?xml version="1.0" encoding="utf-8"?>
<p:tagLst xmlns:p="http://schemas.openxmlformats.org/presentationml/2006/main">
  <p:tag name="PA" val="v4.0.0"/>
</p:tagLst>
</file>

<file path=ppt/tags/tag13.xml><?xml version="1.0" encoding="utf-8"?>
<p:tagLst xmlns:p="http://schemas.openxmlformats.org/presentationml/2006/main">
  <p:tag name="commondata" val="eyJoZGlkIjoiNGMzNTE1NmViZGY2MDg3ZTQ2NTk3NjgxNGIzZDAxZ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9525">
          <a:solidFill>
            <a:schemeClr val="tx1"/>
          </a:solidFill>
          <a:round/>
        </a:ln>
      </a:spPr>
      <a:bodyPr wrap="none" anchor="ctr"/>
      <a:lstStyle>
        <a:defPPr algn="l">
          <a:defRPr dirty="0" smtClean="0">
            <a:solidFill>
              <a:srgbClr val="FF3300"/>
            </a:solidFill>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12005</Words>
  <Application>WPS 演示</Application>
  <PresentationFormat>宽屏</PresentationFormat>
  <Paragraphs>980</Paragraphs>
  <Slides>56</Slides>
  <Notes>49</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56</vt:i4>
      </vt:variant>
    </vt:vector>
  </HeadingPairs>
  <TitlesOfParts>
    <vt:vector size="79" baseType="lpstr">
      <vt:lpstr>Arial</vt:lpstr>
      <vt:lpstr>宋体</vt:lpstr>
      <vt:lpstr>Wingdings</vt:lpstr>
      <vt:lpstr>Times New Roman</vt:lpstr>
      <vt:lpstr>黑体</vt:lpstr>
      <vt:lpstr>Calibri</vt:lpstr>
      <vt:lpstr>微软雅黑</vt:lpstr>
      <vt:lpstr>Symbol</vt:lpstr>
      <vt:lpstr>Cambria Math</vt:lpstr>
      <vt:lpstr>等线 Light</vt:lpstr>
      <vt:lpstr>Arial Unicode MS</vt:lpstr>
      <vt:lpstr>等线</vt:lpstr>
      <vt:lpstr>Calibri</vt:lpstr>
      <vt:lpstr>Symbol</vt:lpstr>
      <vt:lpstr>MS PGothic</vt:lpstr>
      <vt:lpstr>Wingdings</vt:lpstr>
      <vt:lpstr>Cambria Math</vt:lpstr>
      <vt:lpstr>楷体_GB2312</vt:lpstr>
      <vt:lpstr>新宋体</vt:lpstr>
      <vt:lpstr>.AppleSystemUIFont</vt:lpstr>
      <vt:lpstr>Segoe Print</vt:lpstr>
      <vt:lpstr>Menlo-Regular</vt:lpstr>
      <vt:lpstr>Office 主题​​</vt:lpstr>
      <vt:lpstr>课程《人工智能原理与技术》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WJL</dc:creator>
  <cp:lastModifiedBy>安也</cp:lastModifiedBy>
  <cp:revision>154</cp:revision>
  <dcterms:created xsi:type="dcterms:W3CDTF">2025-03-07T08:38:00Z</dcterms:created>
  <dcterms:modified xsi:type="dcterms:W3CDTF">2025-03-10T16:14:59Z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32C2DC4AA9374ADBBB72F10C47D3FC6A_12</vt:lpwstr>
  </property>
  <property fmtid="{D5CDD505-2E9C-101B-9397-08002B2CF9AE}" pid="3" name="KSOProductBuildVer">
    <vt:lpwstr>2052-12.1.0.15374</vt:lpwstr>
  </property>
</Properties>
</file>