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tags/tag2.xml" ContentType="application/vnd.openxmlformats-officedocument.presentationml.tags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tags/tag3.xml" ContentType="application/vnd.openxmlformats-officedocument.presentationml.tags+xml"/>
  <Override PartName="/ppt/notesSlides/notesSlide15.xml" ContentType="application/vnd.openxmlformats-officedocument.presentationml.notesSlide+xml"/>
  <Override PartName="/ppt/tags/tag4.xml" ContentType="application/vnd.openxmlformats-officedocument.presentationml.tags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8"/>
  </p:notesMasterIdLst>
  <p:sldIdLst>
    <p:sldId id="291" r:id="rId2"/>
    <p:sldId id="294" r:id="rId3"/>
    <p:sldId id="388" r:id="rId4"/>
    <p:sldId id="389" r:id="rId5"/>
    <p:sldId id="495" r:id="rId6"/>
    <p:sldId id="496" r:id="rId7"/>
    <p:sldId id="498" r:id="rId8"/>
    <p:sldId id="499" r:id="rId9"/>
    <p:sldId id="500" r:id="rId10"/>
    <p:sldId id="501" r:id="rId11"/>
    <p:sldId id="502" r:id="rId12"/>
    <p:sldId id="536" r:id="rId13"/>
    <p:sldId id="401" r:id="rId14"/>
    <p:sldId id="402" r:id="rId15"/>
    <p:sldId id="403" r:id="rId16"/>
    <p:sldId id="404" r:id="rId17"/>
    <p:sldId id="405" r:id="rId18"/>
    <p:sldId id="466" r:id="rId19"/>
    <p:sldId id="468" r:id="rId20"/>
    <p:sldId id="469" r:id="rId21"/>
    <p:sldId id="470" r:id="rId22"/>
    <p:sldId id="471" r:id="rId23"/>
    <p:sldId id="537" r:id="rId24"/>
    <p:sldId id="505" r:id="rId25"/>
    <p:sldId id="506" r:id="rId26"/>
    <p:sldId id="507" r:id="rId27"/>
    <p:sldId id="508" r:id="rId28"/>
    <p:sldId id="509" r:id="rId29"/>
    <p:sldId id="510" r:id="rId30"/>
    <p:sldId id="511" r:id="rId31"/>
    <p:sldId id="512" r:id="rId32"/>
    <p:sldId id="513" r:id="rId33"/>
    <p:sldId id="514" r:id="rId34"/>
    <p:sldId id="515" r:id="rId35"/>
    <p:sldId id="516" r:id="rId36"/>
    <p:sldId id="517" r:id="rId37"/>
    <p:sldId id="518" r:id="rId38"/>
    <p:sldId id="519" r:id="rId39"/>
    <p:sldId id="520" r:id="rId40"/>
    <p:sldId id="521" r:id="rId41"/>
    <p:sldId id="522" r:id="rId42"/>
    <p:sldId id="523" r:id="rId43"/>
    <p:sldId id="524" r:id="rId44"/>
    <p:sldId id="525" r:id="rId45"/>
    <p:sldId id="526" r:id="rId46"/>
    <p:sldId id="527" r:id="rId47"/>
    <p:sldId id="529" r:id="rId48"/>
    <p:sldId id="531" r:id="rId49"/>
    <p:sldId id="532" r:id="rId50"/>
    <p:sldId id="533" r:id="rId51"/>
    <p:sldId id="534" r:id="rId52"/>
    <p:sldId id="538" r:id="rId53"/>
    <p:sldId id="541" r:id="rId54"/>
    <p:sldId id="553" r:id="rId55"/>
    <p:sldId id="554" r:id="rId56"/>
    <p:sldId id="555" r:id="rId57"/>
    <p:sldId id="552" r:id="rId58"/>
    <p:sldId id="545" r:id="rId59"/>
    <p:sldId id="556" r:id="rId60"/>
    <p:sldId id="557" r:id="rId61"/>
    <p:sldId id="558" r:id="rId62"/>
    <p:sldId id="559" r:id="rId63"/>
    <p:sldId id="560" r:id="rId64"/>
    <p:sldId id="561" r:id="rId65"/>
    <p:sldId id="562" r:id="rId66"/>
    <p:sldId id="563" r:id="rId6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884" autoAdjust="0"/>
    <p:restoredTop sz="82893" autoAdjust="0"/>
  </p:normalViewPr>
  <p:slideViewPr>
    <p:cSldViewPr snapToGrid="0">
      <p:cViewPr varScale="1">
        <p:scale>
          <a:sx n="95" d="100"/>
          <a:sy n="95" d="100"/>
        </p:scale>
        <p:origin x="208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71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4203F-7AEF-4A7F-94F0-3925A564E5DE}" type="datetimeFigureOut">
              <a:rPr lang="zh-CN" altLang="en-US" smtClean="0"/>
              <a:t>2025/3/2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2F97FE7-9E44-4705-9F7F-2B1202D9D66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7128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F97FE7-9E44-4705-9F7F-2B1202D9D669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912044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正文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C8AECDA-B852-4CA6-98F9-FDA299AD4FD3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2652908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正文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C8AECDA-B852-4CA6-98F9-FDA299AD4FD3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0233526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F97FE7-9E44-4705-9F7F-2B1202D9D669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1687764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解释说明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C8AECDA-B852-4CA6-98F9-FDA299AD4FD3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541673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表格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C8AECDA-B852-4CA6-98F9-FDA299AD4FD3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6769545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表格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C8AECDA-B852-4CA6-98F9-FDA299AD4FD3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0965406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表格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C8AECDA-B852-4CA6-98F9-FDA299AD4FD3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8022587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表格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C8AECDA-B852-4CA6-98F9-FDA299AD4FD3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0206255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解释说明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C8AECDA-B852-4CA6-98F9-FDA299AD4FD3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0950598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表格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C8AECDA-B852-4CA6-98F9-FDA299AD4FD3}" type="slidenum">
              <a:rPr lang="zh-CN" altLang="en-US" smtClean="0"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5444239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表格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C8AECDA-B852-4CA6-98F9-FDA299AD4FD3}" type="slidenum">
              <a:rPr lang="zh-CN" altLang="en-US" smtClean="0"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2075462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表格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C8AECDA-B852-4CA6-98F9-FDA299AD4FD3}" type="slidenum">
              <a:rPr lang="zh-CN" altLang="en-US" smtClean="0"/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0799365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表格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C8AECDA-B852-4CA6-98F9-FDA299AD4FD3}" type="slidenum">
              <a:rPr lang="zh-CN" altLang="en-US" smtClean="0"/>
              <a:t>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8758832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F97FE7-9E44-4705-9F7F-2B1202D9D669}" type="slidenum">
              <a:rPr lang="zh-CN" altLang="en-US" smtClean="0"/>
              <a:t>47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6130493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F97FE7-9E44-4705-9F7F-2B1202D9D669}" type="slidenum">
              <a:rPr lang="zh-CN" altLang="en-US" smtClean="0"/>
              <a:t>57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4975328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F97FE7-9E44-4705-9F7F-2B1202D9D669}" type="slidenum">
              <a:rPr lang="zh-CN" altLang="en-US" smtClean="0"/>
              <a:t>64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6599670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F97FE7-9E44-4705-9F7F-2B1202D9D669}" type="slidenum">
              <a:rPr lang="zh-CN" altLang="en-US" smtClean="0"/>
              <a:t>66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232420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9EC672-A802-4CF9-8EDD-265C5EC38688}" type="datetimeFigureOut">
              <a:rPr lang="zh-CN" altLang="en-US" smtClean="0"/>
              <a:t>2025/3/2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F86DAA-B213-4A1F-9178-18865ABDB11B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7" name="图片 24"/>
          <p:cNvPicPr>
            <a:picLocks noChangeAspect="1" noChangeArrowheads="1"/>
          </p:cNvPicPr>
          <p:nvPr userDrawn="1"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10837" y="1312"/>
            <a:ext cx="3227677" cy="13795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8523041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9EC672-A802-4CF9-8EDD-265C5EC38688}" type="datetimeFigureOut">
              <a:rPr lang="zh-CN" altLang="en-US" smtClean="0"/>
              <a:t>2025/3/2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F86DAA-B213-4A1F-9178-18865ABDB11B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7" name="图片 24"/>
          <p:cNvPicPr>
            <a:picLocks noChangeAspect="1" noChangeArrowheads="1"/>
          </p:cNvPicPr>
          <p:nvPr userDrawn="1"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10837" y="1312"/>
            <a:ext cx="3227677" cy="13795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7451485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9EC672-A802-4CF9-8EDD-265C5EC38688}" type="datetimeFigureOut">
              <a:rPr lang="zh-CN" altLang="en-US" smtClean="0"/>
              <a:t>2025/3/2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F86DAA-B213-4A1F-9178-18865ABDB11B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7" name="图片 24"/>
          <p:cNvPicPr>
            <a:picLocks noChangeAspect="1" noChangeArrowheads="1"/>
          </p:cNvPicPr>
          <p:nvPr userDrawn="1"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10837" y="1312"/>
            <a:ext cx="3227677" cy="13795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5717869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9EC672-A802-4CF9-8EDD-265C5EC38688}" type="datetimeFigureOut">
              <a:rPr lang="zh-CN" altLang="en-US" smtClean="0"/>
              <a:t>2025/3/2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F86DAA-B213-4A1F-9178-18865ABDB11B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8" name="图片 24"/>
          <p:cNvPicPr>
            <a:picLocks noChangeAspect="1" noChangeArrowheads="1"/>
          </p:cNvPicPr>
          <p:nvPr userDrawn="1"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10837" y="1312"/>
            <a:ext cx="3227677" cy="13795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663724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9EC672-A802-4CF9-8EDD-265C5EC38688}" type="datetimeFigureOut">
              <a:rPr lang="zh-CN" altLang="en-US" smtClean="0"/>
              <a:t>2025/3/2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F86DAA-B213-4A1F-9178-18865ABDB11B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10" name="图片 24"/>
          <p:cNvPicPr>
            <a:picLocks noChangeAspect="1" noChangeArrowheads="1"/>
          </p:cNvPicPr>
          <p:nvPr userDrawn="1"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10837" y="1312"/>
            <a:ext cx="3227677" cy="13795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2738556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9EC672-A802-4CF9-8EDD-265C5EC38688}" type="datetimeFigureOut">
              <a:rPr lang="zh-CN" altLang="en-US" smtClean="0"/>
              <a:t>2025/3/2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F86DAA-B213-4A1F-9178-18865ABDB11B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6" name="图片 24"/>
          <p:cNvPicPr>
            <a:picLocks noChangeAspect="1" noChangeArrowheads="1"/>
          </p:cNvPicPr>
          <p:nvPr userDrawn="1"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10837" y="1312"/>
            <a:ext cx="3227677" cy="13795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768677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9EC672-A802-4CF9-8EDD-265C5EC38688}" type="datetimeFigureOut">
              <a:rPr lang="zh-CN" altLang="en-US" smtClean="0"/>
              <a:t>2025/3/2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F86DAA-B213-4A1F-9178-18865ABDB11B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5" name="图片 24"/>
          <p:cNvPicPr>
            <a:picLocks noChangeAspect="1" noChangeArrowheads="1"/>
          </p:cNvPicPr>
          <p:nvPr userDrawn="1"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10837" y="1312"/>
            <a:ext cx="3227677" cy="13795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4580928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9EC672-A802-4CF9-8EDD-265C5EC38688}" type="datetimeFigureOut">
              <a:rPr lang="zh-CN" altLang="en-US" smtClean="0"/>
              <a:t>2025/3/2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F86DAA-B213-4A1F-9178-18865ABDB11B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8" name="图片 24"/>
          <p:cNvPicPr>
            <a:picLocks noChangeAspect="1" noChangeArrowheads="1"/>
          </p:cNvPicPr>
          <p:nvPr userDrawn="1"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10837" y="1312"/>
            <a:ext cx="3227677" cy="13795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0808966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9EC672-A802-4CF9-8EDD-265C5EC38688}" type="datetimeFigureOut">
              <a:rPr lang="zh-CN" altLang="en-US" smtClean="0"/>
              <a:t>2025/3/2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F86DAA-B213-4A1F-9178-18865ABDB11B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8" name="图片 24"/>
          <p:cNvPicPr>
            <a:picLocks noChangeAspect="1" noChangeArrowheads="1"/>
          </p:cNvPicPr>
          <p:nvPr userDrawn="1"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10837" y="1312"/>
            <a:ext cx="3227677" cy="13795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7933913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9EC672-A802-4CF9-8EDD-265C5EC38688}" type="datetimeFigureOut">
              <a:rPr lang="zh-CN" altLang="en-US" smtClean="0"/>
              <a:t>2025/3/2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F86DAA-B213-4A1F-9178-18865ABDB11B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7" name="图片 24"/>
          <p:cNvPicPr>
            <a:picLocks noChangeAspect="1" noChangeArrowheads="1"/>
          </p:cNvPicPr>
          <p:nvPr userDrawn="1"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10837" y="1312"/>
            <a:ext cx="3227677" cy="13795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281853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9EC672-A802-4CF9-8EDD-265C5EC38688}" type="datetimeFigureOut">
              <a:rPr lang="zh-CN" altLang="en-US" smtClean="0"/>
              <a:t>2025/3/2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F86DAA-B213-4A1F-9178-18865ABDB11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8695905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竖排文字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 descr="同济大学logo矢量图(第1页) - 一起扣扣网">
            <a:extLst>
              <a:ext uri="{FF2B5EF4-FFF2-40B4-BE49-F238E27FC236}">
                <a16:creationId xmlns:a16="http://schemas.microsoft.com/office/drawing/2014/main" id="{A0D5012C-67EA-42AC-AC25-27EFC90204A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prstClr val="black"/>
              <a:schemeClr val="accent5">
                <a:lumMod val="60000"/>
                <a:lumOff val="40000"/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91617" y="158401"/>
            <a:ext cx="3088014" cy="8034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9805258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一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24"/>
          <p:cNvPicPr>
            <a:picLocks noChangeAspect="1" noChangeArrowheads="1"/>
          </p:cNvPicPr>
          <p:nvPr userDrawn="1"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10837" y="1312"/>
            <a:ext cx="3227677" cy="13795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620232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9EC672-A802-4CF9-8EDD-265C5EC38688}" type="datetimeFigureOut">
              <a:rPr lang="zh-CN" altLang="en-US" smtClean="0"/>
              <a:t>2025/3/2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1F86DAA-B213-4A1F-9178-18865ABDB11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886773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1" r:id="rId12"/>
    <p:sldLayoutId id="2147483664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5.jpeg"/><Relationship Id="rId4" Type="http://schemas.openxmlformats.org/officeDocument/2006/relationships/image" Target="../media/image4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tags" Target="../tags/tag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7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tags" Target="../tags/tag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tags" Target="../tags/tag4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 txBox="1">
            <a:spLocks/>
          </p:cNvSpPr>
          <p:nvPr/>
        </p:nvSpPr>
        <p:spPr>
          <a:xfrm>
            <a:off x="1707454" y="2843475"/>
            <a:ext cx="8553364" cy="1282576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第二章  知识表达与推理</a:t>
            </a:r>
            <a:endParaRPr lang="zh-CN" altLang="en-US" sz="5300" b="1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8" name="Rectangle 4"/>
          <p:cNvSpPr>
            <a:spLocks noGrp="1" noChangeArrowheads="1"/>
          </p:cNvSpPr>
          <p:nvPr>
            <p:ph type="ctrTitle"/>
          </p:nvPr>
        </p:nvSpPr>
        <p:spPr>
          <a:xfrm>
            <a:off x="498235" y="791671"/>
            <a:ext cx="5410200" cy="589165"/>
          </a:xfrm>
        </p:spPr>
        <p:txBody>
          <a:bodyPr>
            <a:normAutofit/>
          </a:bodyPr>
          <a:lstStyle/>
          <a:p>
            <a:pPr algn="l"/>
            <a:r>
              <a:rPr lang="zh-CN" altLang="en-US" sz="3000" dirty="0">
                <a:ea typeface="宋体" panose="02010600030101010101" pitchFamily="2" charset="-122"/>
              </a:rPr>
              <a:t>课程</a:t>
            </a:r>
            <a:r>
              <a:rPr lang="en-US" altLang="zh-CN" sz="3000" dirty="0">
                <a:ea typeface="宋体" panose="02010600030101010101" pitchFamily="2" charset="-122"/>
              </a:rPr>
              <a:t>《</a:t>
            </a:r>
            <a:r>
              <a:rPr lang="zh-CN" altLang="en-US" sz="32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人工智能原理与技术</a:t>
            </a:r>
            <a:r>
              <a:rPr lang="en-US" altLang="zh-CN" sz="3000" i="0" dirty="0">
                <a:ea typeface="宋体" panose="02010600030101010101" pitchFamily="2" charset="-122"/>
              </a:rPr>
              <a:t>》</a:t>
            </a:r>
          </a:p>
        </p:txBody>
      </p:sp>
      <p:pic>
        <p:nvPicPr>
          <p:cNvPr id="10" name="图片 24"/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10837" y="1312"/>
            <a:ext cx="3227677" cy="13795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5775204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" name="组合 37"/>
          <p:cNvGrpSpPr/>
          <p:nvPr/>
        </p:nvGrpSpPr>
        <p:grpSpPr>
          <a:xfrm>
            <a:off x="3869989" y="1594509"/>
            <a:ext cx="4452022" cy="4487848"/>
            <a:chOff x="3872379" y="1383943"/>
            <a:chExt cx="4452022" cy="4487848"/>
          </a:xfrm>
        </p:grpSpPr>
        <p:sp>
          <p:nvSpPr>
            <p:cNvPr id="3" name="Freeform 5"/>
            <p:cNvSpPr>
              <a:spLocks/>
            </p:cNvSpPr>
            <p:nvPr/>
          </p:nvSpPr>
          <p:spPr bwMode="auto">
            <a:xfrm>
              <a:off x="3872379" y="1383943"/>
              <a:ext cx="2161524" cy="2161524"/>
            </a:xfrm>
            <a:custGeom>
              <a:avLst/>
              <a:gdLst/>
              <a:ahLst/>
              <a:cxnLst>
                <a:cxn ang="0">
                  <a:pos x="673" y="233"/>
                </a:cxn>
                <a:cxn ang="0">
                  <a:pos x="233" y="233"/>
                </a:cxn>
                <a:cxn ang="0">
                  <a:pos x="233" y="673"/>
                </a:cxn>
                <a:cxn ang="0">
                  <a:pos x="0" y="905"/>
                </a:cxn>
                <a:cxn ang="0">
                  <a:pos x="905" y="905"/>
                </a:cxn>
                <a:cxn ang="0">
                  <a:pos x="905" y="0"/>
                </a:cxn>
                <a:cxn ang="0">
                  <a:pos x="673" y="233"/>
                </a:cxn>
              </a:cxnLst>
              <a:rect l="0" t="0" r="r" b="b"/>
              <a:pathLst>
                <a:path w="905" h="905">
                  <a:moveTo>
                    <a:pt x="673" y="233"/>
                  </a:moveTo>
                  <a:lnTo>
                    <a:pt x="233" y="233"/>
                  </a:lnTo>
                  <a:lnTo>
                    <a:pt x="233" y="673"/>
                  </a:lnTo>
                  <a:lnTo>
                    <a:pt x="0" y="905"/>
                  </a:lnTo>
                  <a:lnTo>
                    <a:pt x="905" y="905"/>
                  </a:lnTo>
                  <a:lnTo>
                    <a:pt x="905" y="0"/>
                  </a:lnTo>
                  <a:lnTo>
                    <a:pt x="673" y="233"/>
                  </a:lnTo>
                  <a:close/>
                </a:path>
              </a:pathLst>
            </a:custGeom>
            <a:solidFill>
              <a:srgbClr val="24569D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sym typeface="+mn-lt"/>
              </a:endParaRPr>
            </a:p>
          </p:txBody>
        </p:sp>
        <p:sp>
          <p:nvSpPr>
            <p:cNvPr id="4" name="Freeform 6"/>
            <p:cNvSpPr>
              <a:spLocks/>
            </p:cNvSpPr>
            <p:nvPr/>
          </p:nvSpPr>
          <p:spPr bwMode="auto">
            <a:xfrm>
              <a:off x="6162877" y="1383943"/>
              <a:ext cx="2161524" cy="2161524"/>
            </a:xfrm>
            <a:custGeom>
              <a:avLst/>
              <a:gdLst/>
              <a:ahLst/>
              <a:cxnLst>
                <a:cxn ang="0">
                  <a:pos x="672" y="673"/>
                </a:cxn>
                <a:cxn ang="0">
                  <a:pos x="672" y="233"/>
                </a:cxn>
                <a:cxn ang="0">
                  <a:pos x="232" y="233"/>
                </a:cxn>
                <a:cxn ang="0">
                  <a:pos x="0" y="0"/>
                </a:cxn>
                <a:cxn ang="0">
                  <a:pos x="0" y="905"/>
                </a:cxn>
                <a:cxn ang="0">
                  <a:pos x="905" y="905"/>
                </a:cxn>
                <a:cxn ang="0">
                  <a:pos x="672" y="673"/>
                </a:cxn>
              </a:cxnLst>
              <a:rect l="0" t="0" r="r" b="b"/>
              <a:pathLst>
                <a:path w="905" h="905">
                  <a:moveTo>
                    <a:pt x="672" y="673"/>
                  </a:moveTo>
                  <a:lnTo>
                    <a:pt x="672" y="233"/>
                  </a:lnTo>
                  <a:lnTo>
                    <a:pt x="232" y="233"/>
                  </a:lnTo>
                  <a:lnTo>
                    <a:pt x="0" y="0"/>
                  </a:lnTo>
                  <a:lnTo>
                    <a:pt x="0" y="905"/>
                  </a:lnTo>
                  <a:lnTo>
                    <a:pt x="905" y="905"/>
                  </a:lnTo>
                  <a:lnTo>
                    <a:pt x="672" y="673"/>
                  </a:lnTo>
                  <a:close/>
                </a:path>
              </a:pathLst>
            </a:custGeom>
            <a:solidFill>
              <a:srgbClr val="24569D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sym typeface="+mn-lt"/>
              </a:endParaRPr>
            </a:p>
          </p:txBody>
        </p:sp>
        <p:sp>
          <p:nvSpPr>
            <p:cNvPr id="5" name="Freeform 7"/>
            <p:cNvSpPr>
              <a:spLocks/>
            </p:cNvSpPr>
            <p:nvPr/>
          </p:nvSpPr>
          <p:spPr bwMode="auto">
            <a:xfrm>
              <a:off x="3872379" y="3710267"/>
              <a:ext cx="2161524" cy="2161524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33" y="232"/>
                </a:cxn>
                <a:cxn ang="0">
                  <a:pos x="233" y="672"/>
                </a:cxn>
                <a:cxn ang="0">
                  <a:pos x="673" y="672"/>
                </a:cxn>
                <a:cxn ang="0">
                  <a:pos x="905" y="905"/>
                </a:cxn>
                <a:cxn ang="0">
                  <a:pos x="905" y="0"/>
                </a:cxn>
                <a:cxn ang="0">
                  <a:pos x="0" y="0"/>
                </a:cxn>
              </a:cxnLst>
              <a:rect l="0" t="0" r="r" b="b"/>
              <a:pathLst>
                <a:path w="905" h="905">
                  <a:moveTo>
                    <a:pt x="0" y="0"/>
                  </a:moveTo>
                  <a:lnTo>
                    <a:pt x="233" y="232"/>
                  </a:lnTo>
                  <a:lnTo>
                    <a:pt x="233" y="672"/>
                  </a:lnTo>
                  <a:lnTo>
                    <a:pt x="673" y="672"/>
                  </a:lnTo>
                  <a:lnTo>
                    <a:pt x="905" y="905"/>
                  </a:lnTo>
                  <a:lnTo>
                    <a:pt x="90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4569D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sym typeface="+mn-lt"/>
              </a:endParaRPr>
            </a:p>
          </p:txBody>
        </p:sp>
        <p:sp>
          <p:nvSpPr>
            <p:cNvPr id="6" name="Freeform 8"/>
            <p:cNvSpPr>
              <a:spLocks/>
            </p:cNvSpPr>
            <p:nvPr/>
          </p:nvSpPr>
          <p:spPr bwMode="auto">
            <a:xfrm>
              <a:off x="6162877" y="3710267"/>
              <a:ext cx="2161524" cy="2161524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905"/>
                </a:cxn>
                <a:cxn ang="0">
                  <a:pos x="232" y="672"/>
                </a:cxn>
                <a:cxn ang="0">
                  <a:pos x="672" y="672"/>
                </a:cxn>
                <a:cxn ang="0">
                  <a:pos x="672" y="232"/>
                </a:cxn>
                <a:cxn ang="0">
                  <a:pos x="905" y="0"/>
                </a:cxn>
                <a:cxn ang="0">
                  <a:pos x="0" y="0"/>
                </a:cxn>
              </a:cxnLst>
              <a:rect l="0" t="0" r="r" b="b"/>
              <a:pathLst>
                <a:path w="905" h="905">
                  <a:moveTo>
                    <a:pt x="0" y="0"/>
                  </a:moveTo>
                  <a:lnTo>
                    <a:pt x="0" y="905"/>
                  </a:lnTo>
                  <a:lnTo>
                    <a:pt x="232" y="672"/>
                  </a:lnTo>
                  <a:lnTo>
                    <a:pt x="672" y="672"/>
                  </a:lnTo>
                  <a:lnTo>
                    <a:pt x="672" y="232"/>
                  </a:lnTo>
                  <a:lnTo>
                    <a:pt x="90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4569D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sym typeface="+mn-lt"/>
              </a:endParaRPr>
            </a:p>
          </p:txBody>
        </p:sp>
        <p:grpSp>
          <p:nvGrpSpPr>
            <p:cNvPr id="7" name="Group 44"/>
            <p:cNvGrpSpPr/>
            <p:nvPr/>
          </p:nvGrpSpPr>
          <p:grpSpPr>
            <a:xfrm>
              <a:off x="4569798" y="4627422"/>
              <a:ext cx="527842" cy="535007"/>
              <a:chOff x="3557588" y="3654425"/>
              <a:chExt cx="350838" cy="355600"/>
            </a:xfrm>
          </p:grpSpPr>
          <p:sp>
            <p:nvSpPr>
              <p:cNvPr id="20" name="Freeform 9"/>
              <p:cNvSpPr>
                <a:spLocks noEditPoints="1"/>
              </p:cNvSpPr>
              <p:nvPr/>
            </p:nvSpPr>
            <p:spPr bwMode="auto">
              <a:xfrm>
                <a:off x="3619501" y="3654425"/>
                <a:ext cx="288925" cy="163513"/>
              </a:xfrm>
              <a:custGeom>
                <a:avLst/>
                <a:gdLst/>
                <a:ahLst/>
                <a:cxnLst>
                  <a:cxn ang="0">
                    <a:pos x="40" y="55"/>
                  </a:cxn>
                  <a:cxn ang="0">
                    <a:pos x="41" y="55"/>
                  </a:cxn>
                  <a:cxn ang="0">
                    <a:pos x="95" y="55"/>
                  </a:cxn>
                  <a:cxn ang="0">
                    <a:pos x="97" y="55"/>
                  </a:cxn>
                  <a:cxn ang="0">
                    <a:pos x="97" y="53"/>
                  </a:cxn>
                  <a:cxn ang="0">
                    <a:pos x="78" y="15"/>
                  </a:cxn>
                  <a:cxn ang="0">
                    <a:pos x="38" y="0"/>
                  </a:cxn>
                  <a:cxn ang="0">
                    <a:pos x="1" y="13"/>
                  </a:cxn>
                  <a:cxn ang="0">
                    <a:pos x="0" y="15"/>
                  </a:cxn>
                  <a:cxn ang="0">
                    <a:pos x="1" y="16"/>
                  </a:cxn>
                  <a:cxn ang="0">
                    <a:pos x="40" y="55"/>
                  </a:cxn>
                  <a:cxn ang="0">
                    <a:pos x="32" y="34"/>
                  </a:cxn>
                  <a:cxn ang="0">
                    <a:pos x="48" y="11"/>
                  </a:cxn>
                  <a:cxn ang="0">
                    <a:pos x="53" y="12"/>
                  </a:cxn>
                  <a:cxn ang="0">
                    <a:pos x="36" y="38"/>
                  </a:cxn>
                  <a:cxn ang="0">
                    <a:pos x="32" y="34"/>
                  </a:cxn>
                  <a:cxn ang="0">
                    <a:pos x="38" y="10"/>
                  </a:cxn>
                  <a:cxn ang="0">
                    <a:pos x="40" y="10"/>
                  </a:cxn>
                  <a:cxn ang="0">
                    <a:pos x="27" y="29"/>
                  </a:cxn>
                  <a:cxn ang="0">
                    <a:pos x="23" y="25"/>
                  </a:cxn>
                  <a:cxn ang="0">
                    <a:pos x="33" y="10"/>
                  </a:cxn>
                  <a:cxn ang="0">
                    <a:pos x="38" y="10"/>
                  </a:cxn>
                  <a:cxn ang="0">
                    <a:pos x="23" y="12"/>
                  </a:cxn>
                  <a:cxn ang="0">
                    <a:pos x="18" y="19"/>
                  </a:cxn>
                  <a:cxn ang="0">
                    <a:pos x="14" y="16"/>
                  </a:cxn>
                  <a:cxn ang="0">
                    <a:pos x="21" y="13"/>
                  </a:cxn>
                  <a:cxn ang="0">
                    <a:pos x="23" y="12"/>
                  </a:cxn>
                  <a:cxn ang="0">
                    <a:pos x="69" y="46"/>
                  </a:cxn>
                  <a:cxn ang="0">
                    <a:pos x="79" y="31"/>
                  </a:cxn>
                  <a:cxn ang="0">
                    <a:pos x="81" y="34"/>
                  </a:cxn>
                  <a:cxn ang="0">
                    <a:pos x="73" y="46"/>
                  </a:cxn>
                  <a:cxn ang="0">
                    <a:pos x="69" y="46"/>
                  </a:cxn>
                  <a:cxn ang="0">
                    <a:pos x="82" y="46"/>
                  </a:cxn>
                  <a:cxn ang="0">
                    <a:pos x="85" y="41"/>
                  </a:cxn>
                  <a:cxn ang="0">
                    <a:pos x="86" y="46"/>
                  </a:cxn>
                  <a:cxn ang="0">
                    <a:pos x="82" y="46"/>
                  </a:cxn>
                  <a:cxn ang="0">
                    <a:pos x="54" y="46"/>
                  </a:cxn>
                  <a:cxn ang="0">
                    <a:pos x="70" y="22"/>
                  </a:cxn>
                  <a:cxn ang="0">
                    <a:pos x="72" y="23"/>
                  </a:cxn>
                  <a:cxn ang="0">
                    <a:pos x="74" y="25"/>
                  </a:cxn>
                  <a:cxn ang="0">
                    <a:pos x="60" y="46"/>
                  </a:cxn>
                  <a:cxn ang="0">
                    <a:pos x="54" y="46"/>
                  </a:cxn>
                  <a:cxn ang="0">
                    <a:pos x="46" y="46"/>
                  </a:cxn>
                  <a:cxn ang="0">
                    <a:pos x="44" y="46"/>
                  </a:cxn>
                  <a:cxn ang="0">
                    <a:pos x="41" y="43"/>
                  </a:cxn>
                  <a:cxn ang="0">
                    <a:pos x="60" y="15"/>
                  </a:cxn>
                  <a:cxn ang="0">
                    <a:pos x="65" y="17"/>
                  </a:cxn>
                  <a:cxn ang="0">
                    <a:pos x="46" y="46"/>
                  </a:cxn>
                  <a:cxn ang="0">
                    <a:pos x="46" y="46"/>
                  </a:cxn>
                  <a:cxn ang="0">
                    <a:pos x="46" y="46"/>
                  </a:cxn>
                </a:cxnLst>
                <a:rect l="0" t="0" r="r" b="b"/>
                <a:pathLst>
                  <a:path w="97" h="55">
                    <a:moveTo>
                      <a:pt x="40" y="55"/>
                    </a:moveTo>
                    <a:cubicBezTo>
                      <a:pt x="40" y="55"/>
                      <a:pt x="40" y="55"/>
                      <a:pt x="41" y="55"/>
                    </a:cubicBezTo>
                    <a:cubicBezTo>
                      <a:pt x="95" y="55"/>
                      <a:pt x="95" y="55"/>
                      <a:pt x="95" y="55"/>
                    </a:cubicBezTo>
                    <a:cubicBezTo>
                      <a:pt x="96" y="55"/>
                      <a:pt x="96" y="55"/>
                      <a:pt x="97" y="55"/>
                    </a:cubicBezTo>
                    <a:cubicBezTo>
                      <a:pt x="97" y="54"/>
                      <a:pt x="97" y="54"/>
                      <a:pt x="97" y="53"/>
                    </a:cubicBezTo>
                    <a:cubicBezTo>
                      <a:pt x="96" y="39"/>
                      <a:pt x="89" y="25"/>
                      <a:pt x="78" y="15"/>
                    </a:cubicBezTo>
                    <a:cubicBezTo>
                      <a:pt x="67" y="6"/>
                      <a:pt x="53" y="0"/>
                      <a:pt x="38" y="0"/>
                    </a:cubicBezTo>
                    <a:cubicBezTo>
                      <a:pt x="25" y="0"/>
                      <a:pt x="12" y="5"/>
                      <a:pt x="1" y="13"/>
                    </a:cubicBezTo>
                    <a:cubicBezTo>
                      <a:pt x="1" y="14"/>
                      <a:pt x="0" y="14"/>
                      <a:pt x="0" y="15"/>
                    </a:cubicBezTo>
                    <a:cubicBezTo>
                      <a:pt x="0" y="15"/>
                      <a:pt x="1" y="16"/>
                      <a:pt x="1" y="16"/>
                    </a:cubicBezTo>
                    <a:lnTo>
                      <a:pt x="40" y="55"/>
                    </a:lnTo>
                    <a:close/>
                    <a:moveTo>
                      <a:pt x="32" y="34"/>
                    </a:moveTo>
                    <a:cubicBezTo>
                      <a:pt x="48" y="11"/>
                      <a:pt x="48" y="11"/>
                      <a:pt x="48" y="11"/>
                    </a:cubicBezTo>
                    <a:cubicBezTo>
                      <a:pt x="50" y="11"/>
                      <a:pt x="51" y="12"/>
                      <a:pt x="53" y="12"/>
                    </a:cubicBezTo>
                    <a:cubicBezTo>
                      <a:pt x="36" y="38"/>
                      <a:pt x="36" y="38"/>
                      <a:pt x="36" y="38"/>
                    </a:cubicBezTo>
                    <a:lnTo>
                      <a:pt x="32" y="34"/>
                    </a:lnTo>
                    <a:close/>
                    <a:moveTo>
                      <a:pt x="38" y="10"/>
                    </a:moveTo>
                    <a:cubicBezTo>
                      <a:pt x="39" y="10"/>
                      <a:pt x="39" y="10"/>
                      <a:pt x="40" y="10"/>
                    </a:cubicBezTo>
                    <a:cubicBezTo>
                      <a:pt x="27" y="29"/>
                      <a:pt x="27" y="29"/>
                      <a:pt x="27" y="29"/>
                    </a:cubicBezTo>
                    <a:cubicBezTo>
                      <a:pt x="23" y="25"/>
                      <a:pt x="23" y="25"/>
                      <a:pt x="23" y="25"/>
                    </a:cubicBezTo>
                    <a:cubicBezTo>
                      <a:pt x="33" y="10"/>
                      <a:pt x="33" y="10"/>
                      <a:pt x="33" y="10"/>
                    </a:cubicBezTo>
                    <a:cubicBezTo>
                      <a:pt x="35" y="10"/>
                      <a:pt x="37" y="10"/>
                      <a:pt x="38" y="10"/>
                    </a:cubicBezTo>
                    <a:close/>
                    <a:moveTo>
                      <a:pt x="23" y="12"/>
                    </a:moveTo>
                    <a:cubicBezTo>
                      <a:pt x="18" y="19"/>
                      <a:pt x="18" y="19"/>
                      <a:pt x="18" y="19"/>
                    </a:cubicBezTo>
                    <a:cubicBezTo>
                      <a:pt x="14" y="16"/>
                      <a:pt x="14" y="16"/>
                      <a:pt x="14" y="16"/>
                    </a:cubicBezTo>
                    <a:cubicBezTo>
                      <a:pt x="16" y="15"/>
                      <a:pt x="19" y="14"/>
                      <a:pt x="21" y="13"/>
                    </a:cubicBezTo>
                    <a:cubicBezTo>
                      <a:pt x="22" y="13"/>
                      <a:pt x="22" y="12"/>
                      <a:pt x="23" y="12"/>
                    </a:cubicBezTo>
                    <a:close/>
                    <a:moveTo>
                      <a:pt x="69" y="46"/>
                    </a:moveTo>
                    <a:cubicBezTo>
                      <a:pt x="79" y="31"/>
                      <a:pt x="79" y="31"/>
                      <a:pt x="79" y="31"/>
                    </a:cubicBezTo>
                    <a:cubicBezTo>
                      <a:pt x="80" y="32"/>
                      <a:pt x="80" y="33"/>
                      <a:pt x="81" y="34"/>
                    </a:cubicBezTo>
                    <a:cubicBezTo>
                      <a:pt x="73" y="46"/>
                      <a:pt x="73" y="46"/>
                      <a:pt x="73" y="46"/>
                    </a:cubicBezTo>
                    <a:lnTo>
                      <a:pt x="69" y="46"/>
                    </a:lnTo>
                    <a:close/>
                    <a:moveTo>
                      <a:pt x="82" y="46"/>
                    </a:moveTo>
                    <a:cubicBezTo>
                      <a:pt x="85" y="41"/>
                      <a:pt x="85" y="41"/>
                      <a:pt x="85" y="41"/>
                    </a:cubicBezTo>
                    <a:cubicBezTo>
                      <a:pt x="85" y="43"/>
                      <a:pt x="86" y="44"/>
                      <a:pt x="86" y="46"/>
                    </a:cubicBezTo>
                    <a:lnTo>
                      <a:pt x="82" y="46"/>
                    </a:lnTo>
                    <a:close/>
                    <a:moveTo>
                      <a:pt x="54" y="46"/>
                    </a:moveTo>
                    <a:cubicBezTo>
                      <a:pt x="70" y="22"/>
                      <a:pt x="70" y="22"/>
                      <a:pt x="70" y="22"/>
                    </a:cubicBezTo>
                    <a:cubicBezTo>
                      <a:pt x="71" y="22"/>
                      <a:pt x="71" y="22"/>
                      <a:pt x="72" y="23"/>
                    </a:cubicBezTo>
                    <a:cubicBezTo>
                      <a:pt x="73" y="24"/>
                      <a:pt x="73" y="24"/>
                      <a:pt x="74" y="25"/>
                    </a:cubicBezTo>
                    <a:cubicBezTo>
                      <a:pt x="60" y="46"/>
                      <a:pt x="60" y="46"/>
                      <a:pt x="60" y="46"/>
                    </a:cubicBezTo>
                    <a:lnTo>
                      <a:pt x="54" y="46"/>
                    </a:lnTo>
                    <a:close/>
                    <a:moveTo>
                      <a:pt x="46" y="46"/>
                    </a:moveTo>
                    <a:cubicBezTo>
                      <a:pt x="44" y="46"/>
                      <a:pt x="44" y="46"/>
                      <a:pt x="44" y="46"/>
                    </a:cubicBezTo>
                    <a:cubicBezTo>
                      <a:pt x="41" y="43"/>
                      <a:pt x="41" y="43"/>
                      <a:pt x="41" y="43"/>
                    </a:cubicBezTo>
                    <a:cubicBezTo>
                      <a:pt x="60" y="15"/>
                      <a:pt x="60" y="15"/>
                      <a:pt x="60" y="15"/>
                    </a:cubicBezTo>
                    <a:cubicBezTo>
                      <a:pt x="62" y="16"/>
                      <a:pt x="63" y="16"/>
                      <a:pt x="65" y="17"/>
                    </a:cubicBezTo>
                    <a:lnTo>
                      <a:pt x="46" y="46"/>
                    </a:lnTo>
                    <a:close/>
                    <a:moveTo>
                      <a:pt x="46" y="46"/>
                    </a:moveTo>
                    <a:cubicBezTo>
                      <a:pt x="46" y="46"/>
                      <a:pt x="46" y="46"/>
                      <a:pt x="46" y="46"/>
                    </a:cubicBezTo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4572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sym typeface="+mn-lt"/>
                </a:endParaRPr>
              </a:p>
            </p:txBody>
          </p:sp>
          <p:sp>
            <p:nvSpPr>
              <p:cNvPr id="21" name="Freeform 10"/>
              <p:cNvSpPr>
                <a:spLocks noEditPoints="1"/>
              </p:cNvSpPr>
              <p:nvPr/>
            </p:nvSpPr>
            <p:spPr bwMode="auto">
              <a:xfrm>
                <a:off x="3557588" y="3719513"/>
                <a:ext cx="157163" cy="254000"/>
              </a:xfrm>
              <a:custGeom>
                <a:avLst/>
                <a:gdLst/>
                <a:ahLst/>
                <a:cxnLst>
                  <a:cxn ang="0">
                    <a:pos x="53" y="37"/>
                  </a:cxn>
                  <a:cxn ang="0">
                    <a:pos x="16" y="0"/>
                  </a:cxn>
                  <a:cxn ang="0">
                    <a:pos x="14" y="0"/>
                  </a:cxn>
                  <a:cxn ang="0">
                    <a:pos x="13" y="0"/>
                  </a:cxn>
                  <a:cxn ang="0">
                    <a:pos x="0" y="38"/>
                  </a:cxn>
                  <a:cxn ang="0">
                    <a:pos x="23" y="85"/>
                  </a:cxn>
                  <a:cxn ang="0">
                    <a:pos x="24" y="85"/>
                  </a:cxn>
                  <a:cxn ang="0">
                    <a:pos x="24" y="85"/>
                  </a:cxn>
                  <a:cxn ang="0">
                    <a:pos x="26" y="84"/>
                  </a:cxn>
                  <a:cxn ang="0">
                    <a:pos x="53" y="40"/>
                  </a:cxn>
                  <a:cxn ang="0">
                    <a:pos x="53" y="37"/>
                  </a:cxn>
                  <a:cxn ang="0">
                    <a:pos x="42" y="40"/>
                  </a:cxn>
                  <a:cxn ang="0">
                    <a:pos x="22" y="71"/>
                  </a:cxn>
                  <a:cxn ang="0">
                    <a:pos x="15" y="60"/>
                  </a:cxn>
                  <a:cxn ang="0">
                    <a:pos x="9" y="38"/>
                  </a:cxn>
                  <a:cxn ang="0">
                    <a:pos x="12" y="20"/>
                  </a:cxn>
                  <a:cxn ang="0">
                    <a:pos x="16" y="14"/>
                  </a:cxn>
                  <a:cxn ang="0">
                    <a:pos x="42" y="40"/>
                  </a:cxn>
                  <a:cxn ang="0">
                    <a:pos x="42" y="40"/>
                  </a:cxn>
                  <a:cxn ang="0">
                    <a:pos x="42" y="40"/>
                  </a:cxn>
                </a:cxnLst>
                <a:rect l="0" t="0" r="r" b="b"/>
                <a:pathLst>
                  <a:path w="53" h="85">
                    <a:moveTo>
                      <a:pt x="53" y="37"/>
                    </a:moveTo>
                    <a:cubicBezTo>
                      <a:pt x="16" y="0"/>
                      <a:pt x="16" y="0"/>
                      <a:pt x="16" y="0"/>
                    </a:cubicBezTo>
                    <a:cubicBezTo>
                      <a:pt x="15" y="0"/>
                      <a:pt x="15" y="0"/>
                      <a:pt x="14" y="0"/>
                    </a:cubicBezTo>
                    <a:cubicBezTo>
                      <a:pt x="14" y="0"/>
                      <a:pt x="13" y="0"/>
                      <a:pt x="13" y="0"/>
                    </a:cubicBezTo>
                    <a:cubicBezTo>
                      <a:pt x="5" y="11"/>
                      <a:pt x="0" y="24"/>
                      <a:pt x="0" y="38"/>
                    </a:cubicBezTo>
                    <a:cubicBezTo>
                      <a:pt x="0" y="56"/>
                      <a:pt x="8" y="73"/>
                      <a:pt x="23" y="85"/>
                    </a:cubicBezTo>
                    <a:cubicBezTo>
                      <a:pt x="23" y="85"/>
                      <a:pt x="24" y="85"/>
                      <a:pt x="24" y="85"/>
                    </a:cubicBezTo>
                    <a:cubicBezTo>
                      <a:pt x="24" y="85"/>
                      <a:pt x="24" y="85"/>
                      <a:pt x="24" y="85"/>
                    </a:cubicBezTo>
                    <a:cubicBezTo>
                      <a:pt x="25" y="85"/>
                      <a:pt x="25" y="85"/>
                      <a:pt x="26" y="84"/>
                    </a:cubicBezTo>
                    <a:cubicBezTo>
                      <a:pt x="53" y="40"/>
                      <a:pt x="53" y="40"/>
                      <a:pt x="53" y="40"/>
                    </a:cubicBezTo>
                    <a:cubicBezTo>
                      <a:pt x="53" y="39"/>
                      <a:pt x="53" y="38"/>
                      <a:pt x="53" y="37"/>
                    </a:cubicBezTo>
                    <a:close/>
                    <a:moveTo>
                      <a:pt x="42" y="40"/>
                    </a:moveTo>
                    <a:cubicBezTo>
                      <a:pt x="22" y="71"/>
                      <a:pt x="22" y="71"/>
                      <a:pt x="22" y="71"/>
                    </a:cubicBezTo>
                    <a:cubicBezTo>
                      <a:pt x="19" y="68"/>
                      <a:pt x="17" y="64"/>
                      <a:pt x="15" y="60"/>
                    </a:cubicBezTo>
                    <a:cubicBezTo>
                      <a:pt x="11" y="53"/>
                      <a:pt x="9" y="46"/>
                      <a:pt x="9" y="38"/>
                    </a:cubicBezTo>
                    <a:cubicBezTo>
                      <a:pt x="9" y="32"/>
                      <a:pt x="10" y="26"/>
                      <a:pt x="12" y="20"/>
                    </a:cubicBezTo>
                    <a:cubicBezTo>
                      <a:pt x="13" y="18"/>
                      <a:pt x="14" y="16"/>
                      <a:pt x="16" y="14"/>
                    </a:cubicBezTo>
                    <a:lnTo>
                      <a:pt x="42" y="40"/>
                    </a:lnTo>
                    <a:close/>
                    <a:moveTo>
                      <a:pt x="42" y="40"/>
                    </a:moveTo>
                    <a:cubicBezTo>
                      <a:pt x="42" y="40"/>
                      <a:pt x="42" y="40"/>
                      <a:pt x="42" y="40"/>
                    </a:cubicBezTo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4572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sym typeface="+mn-lt"/>
                </a:endParaRPr>
              </a:p>
            </p:txBody>
          </p:sp>
          <p:sp>
            <p:nvSpPr>
              <p:cNvPr id="22" name="Freeform 11"/>
              <p:cNvSpPr>
                <a:spLocks noEditPoints="1"/>
              </p:cNvSpPr>
              <p:nvPr/>
            </p:nvSpPr>
            <p:spPr bwMode="auto">
              <a:xfrm>
                <a:off x="3656013" y="3844925"/>
                <a:ext cx="252413" cy="165100"/>
              </a:xfrm>
              <a:custGeom>
                <a:avLst/>
                <a:gdLst/>
                <a:ahLst/>
                <a:cxnLst>
                  <a:cxn ang="0">
                    <a:pos x="83" y="0"/>
                  </a:cxn>
                  <a:cxn ang="0">
                    <a:pos x="30" y="0"/>
                  </a:cxn>
                  <a:cxn ang="0">
                    <a:pos x="28" y="1"/>
                  </a:cxn>
                  <a:cxn ang="0">
                    <a:pos x="0" y="47"/>
                  </a:cxn>
                  <a:cxn ang="0">
                    <a:pos x="0" y="48"/>
                  </a:cxn>
                  <a:cxn ang="0">
                    <a:pos x="1" y="49"/>
                  </a:cxn>
                  <a:cxn ang="0">
                    <a:pos x="26" y="55"/>
                  </a:cxn>
                  <a:cxn ang="0">
                    <a:pos x="66" y="40"/>
                  </a:cxn>
                  <a:cxn ang="0">
                    <a:pos x="85" y="2"/>
                  </a:cxn>
                  <a:cxn ang="0">
                    <a:pos x="85" y="1"/>
                  </a:cxn>
                  <a:cxn ang="0">
                    <a:pos x="83" y="0"/>
                  </a:cxn>
                  <a:cxn ang="0">
                    <a:pos x="83" y="0"/>
                  </a:cxn>
                  <a:cxn ang="0">
                    <a:pos x="83" y="0"/>
                  </a:cxn>
                </a:cxnLst>
                <a:rect l="0" t="0" r="r" b="b"/>
                <a:pathLst>
                  <a:path w="85" h="55">
                    <a:moveTo>
                      <a:pt x="83" y="0"/>
                    </a:moveTo>
                    <a:cubicBezTo>
                      <a:pt x="30" y="0"/>
                      <a:pt x="30" y="0"/>
                      <a:pt x="30" y="0"/>
                    </a:cubicBezTo>
                    <a:cubicBezTo>
                      <a:pt x="29" y="0"/>
                      <a:pt x="29" y="0"/>
                      <a:pt x="28" y="1"/>
                    </a:cubicBezTo>
                    <a:cubicBezTo>
                      <a:pt x="0" y="47"/>
                      <a:pt x="0" y="47"/>
                      <a:pt x="0" y="47"/>
                    </a:cubicBezTo>
                    <a:cubicBezTo>
                      <a:pt x="0" y="47"/>
                      <a:pt x="0" y="48"/>
                      <a:pt x="0" y="48"/>
                    </a:cubicBezTo>
                    <a:cubicBezTo>
                      <a:pt x="0" y="49"/>
                      <a:pt x="0" y="49"/>
                      <a:pt x="1" y="49"/>
                    </a:cubicBezTo>
                    <a:cubicBezTo>
                      <a:pt x="9" y="53"/>
                      <a:pt x="17" y="55"/>
                      <a:pt x="26" y="55"/>
                    </a:cubicBezTo>
                    <a:cubicBezTo>
                      <a:pt x="41" y="55"/>
                      <a:pt x="55" y="50"/>
                      <a:pt x="66" y="40"/>
                    </a:cubicBezTo>
                    <a:cubicBezTo>
                      <a:pt x="77" y="30"/>
                      <a:pt x="84" y="17"/>
                      <a:pt x="85" y="2"/>
                    </a:cubicBezTo>
                    <a:cubicBezTo>
                      <a:pt x="85" y="2"/>
                      <a:pt x="85" y="1"/>
                      <a:pt x="85" y="1"/>
                    </a:cubicBezTo>
                    <a:cubicBezTo>
                      <a:pt x="84" y="0"/>
                      <a:pt x="84" y="0"/>
                      <a:pt x="83" y="0"/>
                    </a:cubicBezTo>
                    <a:close/>
                    <a:moveTo>
                      <a:pt x="83" y="0"/>
                    </a:moveTo>
                    <a:cubicBezTo>
                      <a:pt x="83" y="0"/>
                      <a:pt x="83" y="0"/>
                      <a:pt x="83" y="0"/>
                    </a:cubicBezTo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4572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sym typeface="+mn-lt"/>
                </a:endParaRPr>
              </a:p>
            </p:txBody>
          </p:sp>
        </p:grpSp>
        <p:grpSp>
          <p:nvGrpSpPr>
            <p:cNvPr id="8" name="Group 48"/>
            <p:cNvGrpSpPr/>
            <p:nvPr/>
          </p:nvGrpSpPr>
          <p:grpSpPr>
            <a:xfrm>
              <a:off x="7025097" y="2098082"/>
              <a:ext cx="606660" cy="539784"/>
              <a:chOff x="5189538" y="1973263"/>
              <a:chExt cx="403225" cy="358775"/>
            </a:xfrm>
          </p:grpSpPr>
          <p:sp>
            <p:nvSpPr>
              <p:cNvPr id="18" name="Freeform 12"/>
              <p:cNvSpPr>
                <a:spLocks noEditPoints="1"/>
              </p:cNvSpPr>
              <p:nvPr/>
            </p:nvSpPr>
            <p:spPr bwMode="auto">
              <a:xfrm>
                <a:off x="5310188" y="1973263"/>
                <a:ext cx="282575" cy="260350"/>
              </a:xfrm>
              <a:custGeom>
                <a:avLst/>
                <a:gdLst/>
                <a:ahLst/>
                <a:cxnLst>
                  <a:cxn ang="0">
                    <a:pos x="3" y="23"/>
                  </a:cxn>
                  <a:cxn ang="0">
                    <a:pos x="13" y="25"/>
                  </a:cxn>
                  <a:cxn ang="0">
                    <a:pos x="54" y="33"/>
                  </a:cxn>
                  <a:cxn ang="0">
                    <a:pos x="65" y="55"/>
                  </a:cxn>
                  <a:cxn ang="0">
                    <a:pos x="61" y="52"/>
                  </a:cxn>
                  <a:cxn ang="0">
                    <a:pos x="56" y="52"/>
                  </a:cxn>
                  <a:cxn ang="0">
                    <a:pos x="55" y="57"/>
                  </a:cxn>
                  <a:cxn ang="0">
                    <a:pos x="65" y="85"/>
                  </a:cxn>
                  <a:cxn ang="0">
                    <a:pos x="68" y="87"/>
                  </a:cxn>
                  <a:cxn ang="0">
                    <a:pos x="72" y="86"/>
                  </a:cxn>
                  <a:cxn ang="0">
                    <a:pos x="93" y="65"/>
                  </a:cxn>
                  <a:cxn ang="0">
                    <a:pos x="94" y="60"/>
                  </a:cxn>
                  <a:cxn ang="0">
                    <a:pos x="90" y="58"/>
                  </a:cxn>
                  <a:cxn ang="0">
                    <a:pos x="83" y="60"/>
                  </a:cxn>
                  <a:cxn ang="0">
                    <a:pos x="67" y="21"/>
                  </a:cxn>
                  <a:cxn ang="0">
                    <a:pos x="6" y="9"/>
                  </a:cxn>
                  <a:cxn ang="0">
                    <a:pos x="1" y="15"/>
                  </a:cxn>
                  <a:cxn ang="0">
                    <a:pos x="3" y="23"/>
                  </a:cxn>
                  <a:cxn ang="0">
                    <a:pos x="3" y="23"/>
                  </a:cxn>
                  <a:cxn ang="0">
                    <a:pos x="3" y="23"/>
                  </a:cxn>
                </a:cxnLst>
                <a:rect l="0" t="0" r="r" b="b"/>
                <a:pathLst>
                  <a:path w="95" h="87">
                    <a:moveTo>
                      <a:pt x="3" y="23"/>
                    </a:moveTo>
                    <a:cubicBezTo>
                      <a:pt x="6" y="26"/>
                      <a:pt x="10" y="27"/>
                      <a:pt x="13" y="25"/>
                    </a:cubicBezTo>
                    <a:cubicBezTo>
                      <a:pt x="27" y="20"/>
                      <a:pt x="43" y="22"/>
                      <a:pt x="54" y="33"/>
                    </a:cubicBezTo>
                    <a:cubicBezTo>
                      <a:pt x="60" y="39"/>
                      <a:pt x="64" y="47"/>
                      <a:pt x="65" y="55"/>
                    </a:cubicBezTo>
                    <a:cubicBezTo>
                      <a:pt x="61" y="52"/>
                      <a:pt x="61" y="52"/>
                      <a:pt x="61" y="52"/>
                    </a:cubicBezTo>
                    <a:cubicBezTo>
                      <a:pt x="59" y="51"/>
                      <a:pt x="57" y="51"/>
                      <a:pt x="56" y="52"/>
                    </a:cubicBezTo>
                    <a:cubicBezTo>
                      <a:pt x="55" y="53"/>
                      <a:pt x="54" y="55"/>
                      <a:pt x="55" y="57"/>
                    </a:cubicBezTo>
                    <a:cubicBezTo>
                      <a:pt x="65" y="85"/>
                      <a:pt x="65" y="85"/>
                      <a:pt x="65" y="85"/>
                    </a:cubicBezTo>
                    <a:cubicBezTo>
                      <a:pt x="66" y="86"/>
                      <a:pt x="67" y="87"/>
                      <a:pt x="68" y="87"/>
                    </a:cubicBezTo>
                    <a:cubicBezTo>
                      <a:pt x="69" y="87"/>
                      <a:pt x="71" y="87"/>
                      <a:pt x="72" y="86"/>
                    </a:cubicBezTo>
                    <a:cubicBezTo>
                      <a:pt x="93" y="65"/>
                      <a:pt x="93" y="65"/>
                      <a:pt x="93" y="65"/>
                    </a:cubicBezTo>
                    <a:cubicBezTo>
                      <a:pt x="94" y="64"/>
                      <a:pt x="95" y="62"/>
                      <a:pt x="94" y="60"/>
                    </a:cubicBezTo>
                    <a:cubicBezTo>
                      <a:pt x="93" y="59"/>
                      <a:pt x="91" y="58"/>
                      <a:pt x="90" y="58"/>
                    </a:cubicBezTo>
                    <a:cubicBezTo>
                      <a:pt x="83" y="60"/>
                      <a:pt x="83" y="60"/>
                      <a:pt x="83" y="60"/>
                    </a:cubicBezTo>
                    <a:cubicBezTo>
                      <a:pt x="83" y="46"/>
                      <a:pt x="77" y="31"/>
                      <a:pt x="67" y="21"/>
                    </a:cubicBezTo>
                    <a:cubicBezTo>
                      <a:pt x="50" y="4"/>
                      <a:pt x="26" y="0"/>
                      <a:pt x="6" y="9"/>
                    </a:cubicBezTo>
                    <a:cubicBezTo>
                      <a:pt x="4" y="10"/>
                      <a:pt x="1" y="12"/>
                      <a:pt x="1" y="15"/>
                    </a:cubicBezTo>
                    <a:cubicBezTo>
                      <a:pt x="0" y="18"/>
                      <a:pt x="1" y="21"/>
                      <a:pt x="3" y="23"/>
                    </a:cubicBezTo>
                    <a:close/>
                    <a:moveTo>
                      <a:pt x="3" y="23"/>
                    </a:moveTo>
                    <a:cubicBezTo>
                      <a:pt x="3" y="23"/>
                      <a:pt x="3" y="23"/>
                      <a:pt x="3" y="23"/>
                    </a:cubicBezTo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4572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sym typeface="+mn-lt"/>
                </a:endParaRPr>
              </a:p>
            </p:txBody>
          </p:sp>
          <p:sp>
            <p:nvSpPr>
              <p:cNvPr id="19" name="Freeform 13"/>
              <p:cNvSpPr>
                <a:spLocks noEditPoints="1"/>
              </p:cNvSpPr>
              <p:nvPr/>
            </p:nvSpPr>
            <p:spPr bwMode="auto">
              <a:xfrm>
                <a:off x="5189538" y="2071688"/>
                <a:ext cx="280988" cy="260350"/>
              </a:xfrm>
              <a:custGeom>
                <a:avLst/>
                <a:gdLst/>
                <a:ahLst/>
                <a:cxnLst>
                  <a:cxn ang="0">
                    <a:pos x="94" y="72"/>
                  </a:cxn>
                  <a:cxn ang="0">
                    <a:pos x="91" y="64"/>
                  </a:cxn>
                  <a:cxn ang="0">
                    <a:pos x="82" y="62"/>
                  </a:cxn>
                  <a:cxn ang="0">
                    <a:pos x="41" y="54"/>
                  </a:cxn>
                  <a:cxn ang="0">
                    <a:pos x="30" y="32"/>
                  </a:cxn>
                  <a:cxn ang="0">
                    <a:pos x="34" y="35"/>
                  </a:cxn>
                  <a:cxn ang="0">
                    <a:pos x="39" y="35"/>
                  </a:cxn>
                  <a:cxn ang="0">
                    <a:pos x="40" y="31"/>
                  </a:cxn>
                  <a:cxn ang="0">
                    <a:pos x="29" y="2"/>
                  </a:cxn>
                  <a:cxn ang="0">
                    <a:pos x="26" y="0"/>
                  </a:cxn>
                  <a:cxn ang="0">
                    <a:pos x="23" y="1"/>
                  </a:cxn>
                  <a:cxn ang="0">
                    <a:pos x="1" y="22"/>
                  </a:cxn>
                  <a:cxn ang="0">
                    <a:pos x="1" y="27"/>
                  </a:cxn>
                  <a:cxn ang="0">
                    <a:pos x="5" y="29"/>
                  </a:cxn>
                  <a:cxn ang="0">
                    <a:pos x="12" y="28"/>
                  </a:cxn>
                  <a:cxn ang="0">
                    <a:pos x="28" y="66"/>
                  </a:cxn>
                  <a:cxn ang="0">
                    <a:pos x="88" y="79"/>
                  </a:cxn>
                  <a:cxn ang="0">
                    <a:pos x="94" y="72"/>
                  </a:cxn>
                  <a:cxn ang="0">
                    <a:pos x="94" y="72"/>
                  </a:cxn>
                  <a:cxn ang="0">
                    <a:pos x="94" y="72"/>
                  </a:cxn>
                </a:cxnLst>
                <a:rect l="0" t="0" r="r" b="b"/>
                <a:pathLst>
                  <a:path w="94" h="87">
                    <a:moveTo>
                      <a:pt x="94" y="72"/>
                    </a:moveTo>
                    <a:cubicBezTo>
                      <a:pt x="94" y="69"/>
                      <a:pt x="93" y="66"/>
                      <a:pt x="91" y="64"/>
                    </a:cubicBezTo>
                    <a:cubicBezTo>
                      <a:pt x="89" y="61"/>
                      <a:pt x="85" y="61"/>
                      <a:pt x="82" y="62"/>
                    </a:cubicBezTo>
                    <a:cubicBezTo>
                      <a:pt x="68" y="68"/>
                      <a:pt x="52" y="65"/>
                      <a:pt x="41" y="54"/>
                    </a:cubicBezTo>
                    <a:cubicBezTo>
                      <a:pt x="34" y="48"/>
                      <a:pt x="31" y="40"/>
                      <a:pt x="30" y="32"/>
                    </a:cubicBezTo>
                    <a:cubicBezTo>
                      <a:pt x="34" y="35"/>
                      <a:pt x="34" y="35"/>
                      <a:pt x="34" y="35"/>
                    </a:cubicBezTo>
                    <a:cubicBezTo>
                      <a:pt x="35" y="36"/>
                      <a:pt x="37" y="36"/>
                      <a:pt x="39" y="35"/>
                    </a:cubicBezTo>
                    <a:cubicBezTo>
                      <a:pt x="40" y="34"/>
                      <a:pt x="41" y="32"/>
                      <a:pt x="40" y="31"/>
                    </a:cubicBezTo>
                    <a:cubicBezTo>
                      <a:pt x="29" y="2"/>
                      <a:pt x="29" y="2"/>
                      <a:pt x="29" y="2"/>
                    </a:cubicBezTo>
                    <a:cubicBezTo>
                      <a:pt x="29" y="1"/>
                      <a:pt x="28" y="0"/>
                      <a:pt x="26" y="0"/>
                    </a:cubicBezTo>
                    <a:cubicBezTo>
                      <a:pt x="25" y="0"/>
                      <a:pt x="24" y="0"/>
                      <a:pt x="23" y="1"/>
                    </a:cubicBezTo>
                    <a:cubicBezTo>
                      <a:pt x="1" y="22"/>
                      <a:pt x="1" y="22"/>
                      <a:pt x="1" y="22"/>
                    </a:cubicBezTo>
                    <a:cubicBezTo>
                      <a:pt x="0" y="24"/>
                      <a:pt x="0" y="25"/>
                      <a:pt x="1" y="27"/>
                    </a:cubicBezTo>
                    <a:cubicBezTo>
                      <a:pt x="2" y="28"/>
                      <a:pt x="3" y="29"/>
                      <a:pt x="5" y="29"/>
                    </a:cubicBezTo>
                    <a:cubicBezTo>
                      <a:pt x="12" y="28"/>
                      <a:pt x="12" y="28"/>
                      <a:pt x="12" y="28"/>
                    </a:cubicBezTo>
                    <a:cubicBezTo>
                      <a:pt x="12" y="42"/>
                      <a:pt x="17" y="56"/>
                      <a:pt x="28" y="66"/>
                    </a:cubicBezTo>
                    <a:cubicBezTo>
                      <a:pt x="44" y="83"/>
                      <a:pt x="68" y="87"/>
                      <a:pt x="88" y="79"/>
                    </a:cubicBezTo>
                    <a:cubicBezTo>
                      <a:pt x="91" y="77"/>
                      <a:pt x="93" y="75"/>
                      <a:pt x="94" y="72"/>
                    </a:cubicBezTo>
                    <a:close/>
                    <a:moveTo>
                      <a:pt x="94" y="72"/>
                    </a:moveTo>
                    <a:cubicBezTo>
                      <a:pt x="94" y="72"/>
                      <a:pt x="94" y="72"/>
                      <a:pt x="94" y="72"/>
                    </a:cubicBezTo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4572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sym typeface="+mn-lt"/>
                </a:endParaRPr>
              </a:p>
            </p:txBody>
          </p:sp>
        </p:grpSp>
        <p:grpSp>
          <p:nvGrpSpPr>
            <p:cNvPr id="9" name="Group 51"/>
            <p:cNvGrpSpPr/>
            <p:nvPr/>
          </p:nvGrpSpPr>
          <p:grpSpPr>
            <a:xfrm>
              <a:off x="6984495" y="4601150"/>
              <a:ext cx="599495" cy="587552"/>
              <a:chOff x="5162551" y="3636963"/>
              <a:chExt cx="398463" cy="390525"/>
            </a:xfrm>
          </p:grpSpPr>
          <p:sp>
            <p:nvSpPr>
              <p:cNvPr id="15" name="Freeform 14"/>
              <p:cNvSpPr>
                <a:spLocks noEditPoints="1"/>
              </p:cNvSpPr>
              <p:nvPr/>
            </p:nvSpPr>
            <p:spPr bwMode="auto">
              <a:xfrm>
                <a:off x="5162551" y="3636963"/>
                <a:ext cx="233363" cy="234950"/>
              </a:xfrm>
              <a:custGeom>
                <a:avLst/>
                <a:gdLst/>
                <a:ahLst/>
                <a:cxnLst>
                  <a:cxn ang="0">
                    <a:pos x="9" y="48"/>
                  </a:cxn>
                  <a:cxn ang="0">
                    <a:pos x="12" y="55"/>
                  </a:cxn>
                  <a:cxn ang="0">
                    <a:pos x="8" y="59"/>
                  </a:cxn>
                  <a:cxn ang="0">
                    <a:pos x="8" y="64"/>
                  </a:cxn>
                  <a:cxn ang="0">
                    <a:pos x="14" y="70"/>
                  </a:cxn>
                  <a:cxn ang="0">
                    <a:pos x="19" y="70"/>
                  </a:cxn>
                  <a:cxn ang="0">
                    <a:pos x="23" y="67"/>
                  </a:cxn>
                  <a:cxn ang="0">
                    <a:pos x="31" y="70"/>
                  </a:cxn>
                  <a:cxn ang="0">
                    <a:pos x="31" y="75"/>
                  </a:cxn>
                  <a:cxn ang="0">
                    <a:pos x="35" y="79"/>
                  </a:cxn>
                  <a:cxn ang="0">
                    <a:pos x="43" y="79"/>
                  </a:cxn>
                  <a:cxn ang="0">
                    <a:pos x="47" y="75"/>
                  </a:cxn>
                  <a:cxn ang="0">
                    <a:pos x="47" y="70"/>
                  </a:cxn>
                  <a:cxn ang="0">
                    <a:pos x="55" y="67"/>
                  </a:cxn>
                  <a:cxn ang="0">
                    <a:pos x="59" y="70"/>
                  </a:cxn>
                  <a:cxn ang="0">
                    <a:pos x="64" y="70"/>
                  </a:cxn>
                  <a:cxn ang="0">
                    <a:pos x="70" y="64"/>
                  </a:cxn>
                  <a:cxn ang="0">
                    <a:pos x="70" y="59"/>
                  </a:cxn>
                  <a:cxn ang="0">
                    <a:pos x="67" y="55"/>
                  </a:cxn>
                  <a:cxn ang="0">
                    <a:pos x="70" y="48"/>
                  </a:cxn>
                  <a:cxn ang="0">
                    <a:pos x="75" y="47"/>
                  </a:cxn>
                  <a:cxn ang="0">
                    <a:pos x="78" y="43"/>
                  </a:cxn>
                  <a:cxn ang="0">
                    <a:pos x="78" y="35"/>
                  </a:cxn>
                  <a:cxn ang="0">
                    <a:pos x="75" y="31"/>
                  </a:cxn>
                  <a:cxn ang="0">
                    <a:pos x="70" y="31"/>
                  </a:cxn>
                  <a:cxn ang="0">
                    <a:pos x="67" y="23"/>
                  </a:cxn>
                  <a:cxn ang="0">
                    <a:pos x="70" y="20"/>
                  </a:cxn>
                  <a:cxn ang="0">
                    <a:pos x="70" y="15"/>
                  </a:cxn>
                  <a:cxn ang="0">
                    <a:pos x="64" y="9"/>
                  </a:cxn>
                  <a:cxn ang="0">
                    <a:pos x="59" y="8"/>
                  </a:cxn>
                  <a:cxn ang="0">
                    <a:pos x="56" y="11"/>
                  </a:cxn>
                  <a:cxn ang="0">
                    <a:pos x="48" y="8"/>
                  </a:cxn>
                  <a:cxn ang="0">
                    <a:pos x="47" y="3"/>
                  </a:cxn>
                  <a:cxn ang="0">
                    <a:pos x="44" y="0"/>
                  </a:cxn>
                  <a:cxn ang="0">
                    <a:pos x="35" y="0"/>
                  </a:cxn>
                  <a:cxn ang="0">
                    <a:pos x="32" y="3"/>
                  </a:cxn>
                  <a:cxn ang="0">
                    <a:pos x="31" y="8"/>
                  </a:cxn>
                  <a:cxn ang="0">
                    <a:pos x="23" y="12"/>
                  </a:cxn>
                  <a:cxn ang="0">
                    <a:pos x="19" y="8"/>
                  </a:cxn>
                  <a:cxn ang="0">
                    <a:pos x="14" y="9"/>
                  </a:cxn>
                  <a:cxn ang="0">
                    <a:pos x="8" y="15"/>
                  </a:cxn>
                  <a:cxn ang="0">
                    <a:pos x="8" y="20"/>
                  </a:cxn>
                  <a:cxn ang="0">
                    <a:pos x="11" y="24"/>
                  </a:cxn>
                  <a:cxn ang="0">
                    <a:pos x="8" y="31"/>
                  </a:cxn>
                  <a:cxn ang="0">
                    <a:pos x="3" y="32"/>
                  </a:cxn>
                  <a:cxn ang="0">
                    <a:pos x="0" y="35"/>
                  </a:cxn>
                  <a:cxn ang="0">
                    <a:pos x="0" y="44"/>
                  </a:cxn>
                  <a:cxn ang="0">
                    <a:pos x="3" y="47"/>
                  </a:cxn>
                  <a:cxn ang="0">
                    <a:pos x="9" y="48"/>
                  </a:cxn>
                  <a:cxn ang="0">
                    <a:pos x="39" y="25"/>
                  </a:cxn>
                  <a:cxn ang="0">
                    <a:pos x="53" y="39"/>
                  </a:cxn>
                  <a:cxn ang="0">
                    <a:pos x="39" y="53"/>
                  </a:cxn>
                  <a:cxn ang="0">
                    <a:pos x="25" y="39"/>
                  </a:cxn>
                  <a:cxn ang="0">
                    <a:pos x="39" y="25"/>
                  </a:cxn>
                  <a:cxn ang="0">
                    <a:pos x="39" y="25"/>
                  </a:cxn>
                  <a:cxn ang="0">
                    <a:pos x="39" y="25"/>
                  </a:cxn>
                </a:cxnLst>
                <a:rect l="0" t="0" r="r" b="b"/>
                <a:pathLst>
                  <a:path w="78" h="79">
                    <a:moveTo>
                      <a:pt x="9" y="48"/>
                    </a:moveTo>
                    <a:cubicBezTo>
                      <a:pt x="9" y="50"/>
                      <a:pt x="10" y="53"/>
                      <a:pt x="12" y="55"/>
                    </a:cubicBezTo>
                    <a:cubicBezTo>
                      <a:pt x="8" y="59"/>
                      <a:pt x="8" y="59"/>
                      <a:pt x="8" y="59"/>
                    </a:cubicBezTo>
                    <a:cubicBezTo>
                      <a:pt x="7" y="61"/>
                      <a:pt x="7" y="63"/>
                      <a:pt x="8" y="64"/>
                    </a:cubicBezTo>
                    <a:cubicBezTo>
                      <a:pt x="14" y="70"/>
                      <a:pt x="14" y="70"/>
                      <a:pt x="14" y="70"/>
                    </a:cubicBezTo>
                    <a:cubicBezTo>
                      <a:pt x="16" y="71"/>
                      <a:pt x="18" y="71"/>
                      <a:pt x="19" y="70"/>
                    </a:cubicBezTo>
                    <a:cubicBezTo>
                      <a:pt x="23" y="67"/>
                      <a:pt x="23" y="67"/>
                      <a:pt x="23" y="67"/>
                    </a:cubicBezTo>
                    <a:cubicBezTo>
                      <a:pt x="26" y="68"/>
                      <a:pt x="28" y="69"/>
                      <a:pt x="31" y="70"/>
                    </a:cubicBezTo>
                    <a:cubicBezTo>
                      <a:pt x="31" y="75"/>
                      <a:pt x="31" y="75"/>
                      <a:pt x="31" y="75"/>
                    </a:cubicBezTo>
                    <a:cubicBezTo>
                      <a:pt x="31" y="77"/>
                      <a:pt x="33" y="79"/>
                      <a:pt x="35" y="79"/>
                    </a:cubicBezTo>
                    <a:cubicBezTo>
                      <a:pt x="43" y="79"/>
                      <a:pt x="43" y="79"/>
                      <a:pt x="43" y="79"/>
                    </a:cubicBezTo>
                    <a:cubicBezTo>
                      <a:pt x="45" y="79"/>
                      <a:pt x="47" y="77"/>
                      <a:pt x="47" y="75"/>
                    </a:cubicBezTo>
                    <a:cubicBezTo>
                      <a:pt x="47" y="70"/>
                      <a:pt x="47" y="70"/>
                      <a:pt x="47" y="70"/>
                    </a:cubicBezTo>
                    <a:cubicBezTo>
                      <a:pt x="50" y="69"/>
                      <a:pt x="53" y="68"/>
                      <a:pt x="55" y="67"/>
                    </a:cubicBezTo>
                    <a:cubicBezTo>
                      <a:pt x="59" y="70"/>
                      <a:pt x="59" y="70"/>
                      <a:pt x="59" y="70"/>
                    </a:cubicBezTo>
                    <a:cubicBezTo>
                      <a:pt x="61" y="71"/>
                      <a:pt x="63" y="71"/>
                      <a:pt x="64" y="70"/>
                    </a:cubicBezTo>
                    <a:cubicBezTo>
                      <a:pt x="70" y="64"/>
                      <a:pt x="70" y="64"/>
                      <a:pt x="70" y="64"/>
                    </a:cubicBezTo>
                    <a:cubicBezTo>
                      <a:pt x="71" y="63"/>
                      <a:pt x="71" y="61"/>
                      <a:pt x="70" y="59"/>
                    </a:cubicBezTo>
                    <a:cubicBezTo>
                      <a:pt x="67" y="55"/>
                      <a:pt x="67" y="55"/>
                      <a:pt x="67" y="55"/>
                    </a:cubicBezTo>
                    <a:cubicBezTo>
                      <a:pt x="68" y="53"/>
                      <a:pt x="70" y="50"/>
                      <a:pt x="70" y="48"/>
                    </a:cubicBezTo>
                    <a:cubicBezTo>
                      <a:pt x="75" y="47"/>
                      <a:pt x="75" y="47"/>
                      <a:pt x="75" y="47"/>
                    </a:cubicBezTo>
                    <a:cubicBezTo>
                      <a:pt x="77" y="47"/>
                      <a:pt x="78" y="45"/>
                      <a:pt x="78" y="43"/>
                    </a:cubicBezTo>
                    <a:cubicBezTo>
                      <a:pt x="78" y="35"/>
                      <a:pt x="78" y="35"/>
                      <a:pt x="78" y="35"/>
                    </a:cubicBezTo>
                    <a:cubicBezTo>
                      <a:pt x="78" y="33"/>
                      <a:pt x="77" y="32"/>
                      <a:pt x="75" y="31"/>
                    </a:cubicBezTo>
                    <a:cubicBezTo>
                      <a:pt x="70" y="31"/>
                      <a:pt x="70" y="31"/>
                      <a:pt x="70" y="31"/>
                    </a:cubicBezTo>
                    <a:cubicBezTo>
                      <a:pt x="70" y="28"/>
                      <a:pt x="69" y="26"/>
                      <a:pt x="67" y="23"/>
                    </a:cubicBezTo>
                    <a:cubicBezTo>
                      <a:pt x="70" y="20"/>
                      <a:pt x="70" y="20"/>
                      <a:pt x="70" y="20"/>
                    </a:cubicBezTo>
                    <a:cubicBezTo>
                      <a:pt x="71" y="18"/>
                      <a:pt x="71" y="16"/>
                      <a:pt x="70" y="15"/>
                    </a:cubicBezTo>
                    <a:cubicBezTo>
                      <a:pt x="64" y="9"/>
                      <a:pt x="64" y="9"/>
                      <a:pt x="64" y="9"/>
                    </a:cubicBezTo>
                    <a:cubicBezTo>
                      <a:pt x="63" y="7"/>
                      <a:pt x="61" y="7"/>
                      <a:pt x="59" y="8"/>
                    </a:cubicBezTo>
                    <a:cubicBezTo>
                      <a:pt x="56" y="11"/>
                      <a:pt x="56" y="11"/>
                      <a:pt x="56" y="11"/>
                    </a:cubicBezTo>
                    <a:cubicBezTo>
                      <a:pt x="53" y="10"/>
                      <a:pt x="51" y="9"/>
                      <a:pt x="48" y="8"/>
                    </a:cubicBezTo>
                    <a:cubicBezTo>
                      <a:pt x="47" y="3"/>
                      <a:pt x="47" y="3"/>
                      <a:pt x="47" y="3"/>
                    </a:cubicBezTo>
                    <a:cubicBezTo>
                      <a:pt x="47" y="2"/>
                      <a:pt x="45" y="0"/>
                      <a:pt x="44" y="0"/>
                    </a:cubicBezTo>
                    <a:cubicBezTo>
                      <a:pt x="35" y="0"/>
                      <a:pt x="35" y="0"/>
                      <a:pt x="35" y="0"/>
                    </a:cubicBezTo>
                    <a:cubicBezTo>
                      <a:pt x="33" y="0"/>
                      <a:pt x="32" y="2"/>
                      <a:pt x="32" y="3"/>
                    </a:cubicBezTo>
                    <a:cubicBezTo>
                      <a:pt x="31" y="8"/>
                      <a:pt x="31" y="8"/>
                      <a:pt x="31" y="8"/>
                    </a:cubicBezTo>
                    <a:cubicBezTo>
                      <a:pt x="28" y="9"/>
                      <a:pt x="26" y="10"/>
                      <a:pt x="23" y="12"/>
                    </a:cubicBezTo>
                    <a:cubicBezTo>
                      <a:pt x="19" y="8"/>
                      <a:pt x="19" y="8"/>
                      <a:pt x="19" y="8"/>
                    </a:cubicBezTo>
                    <a:cubicBezTo>
                      <a:pt x="18" y="7"/>
                      <a:pt x="16" y="7"/>
                      <a:pt x="14" y="9"/>
                    </a:cubicBezTo>
                    <a:cubicBezTo>
                      <a:pt x="8" y="15"/>
                      <a:pt x="8" y="15"/>
                      <a:pt x="8" y="15"/>
                    </a:cubicBezTo>
                    <a:cubicBezTo>
                      <a:pt x="7" y="16"/>
                      <a:pt x="7" y="18"/>
                      <a:pt x="8" y="20"/>
                    </a:cubicBezTo>
                    <a:cubicBezTo>
                      <a:pt x="11" y="24"/>
                      <a:pt x="11" y="24"/>
                      <a:pt x="11" y="24"/>
                    </a:cubicBezTo>
                    <a:cubicBezTo>
                      <a:pt x="10" y="26"/>
                      <a:pt x="9" y="29"/>
                      <a:pt x="8" y="31"/>
                    </a:cubicBezTo>
                    <a:cubicBezTo>
                      <a:pt x="3" y="32"/>
                      <a:pt x="3" y="32"/>
                      <a:pt x="3" y="32"/>
                    </a:cubicBezTo>
                    <a:cubicBezTo>
                      <a:pt x="1" y="32"/>
                      <a:pt x="0" y="33"/>
                      <a:pt x="0" y="35"/>
                    </a:cubicBezTo>
                    <a:cubicBezTo>
                      <a:pt x="0" y="44"/>
                      <a:pt x="0" y="44"/>
                      <a:pt x="0" y="44"/>
                    </a:cubicBezTo>
                    <a:cubicBezTo>
                      <a:pt x="0" y="46"/>
                      <a:pt x="1" y="47"/>
                      <a:pt x="3" y="47"/>
                    </a:cubicBezTo>
                    <a:lnTo>
                      <a:pt x="9" y="48"/>
                    </a:lnTo>
                    <a:close/>
                    <a:moveTo>
                      <a:pt x="39" y="25"/>
                    </a:moveTo>
                    <a:cubicBezTo>
                      <a:pt x="47" y="25"/>
                      <a:pt x="53" y="31"/>
                      <a:pt x="53" y="39"/>
                    </a:cubicBezTo>
                    <a:cubicBezTo>
                      <a:pt x="53" y="47"/>
                      <a:pt x="47" y="53"/>
                      <a:pt x="39" y="53"/>
                    </a:cubicBezTo>
                    <a:cubicBezTo>
                      <a:pt x="32" y="53"/>
                      <a:pt x="25" y="47"/>
                      <a:pt x="25" y="39"/>
                    </a:cubicBezTo>
                    <a:cubicBezTo>
                      <a:pt x="25" y="31"/>
                      <a:pt x="32" y="25"/>
                      <a:pt x="39" y="25"/>
                    </a:cubicBezTo>
                    <a:close/>
                    <a:moveTo>
                      <a:pt x="39" y="25"/>
                    </a:moveTo>
                    <a:cubicBezTo>
                      <a:pt x="39" y="25"/>
                      <a:pt x="39" y="25"/>
                      <a:pt x="39" y="25"/>
                    </a:cubicBezTo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4572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sym typeface="+mn-lt"/>
                </a:endParaRPr>
              </a:p>
            </p:txBody>
          </p:sp>
          <p:sp>
            <p:nvSpPr>
              <p:cNvPr id="16" name="Freeform 15"/>
              <p:cNvSpPr>
                <a:spLocks noEditPoints="1"/>
              </p:cNvSpPr>
              <p:nvPr/>
            </p:nvSpPr>
            <p:spPr bwMode="auto">
              <a:xfrm>
                <a:off x="5365751" y="3756025"/>
                <a:ext cx="195263" cy="193675"/>
              </a:xfrm>
              <a:custGeom>
                <a:avLst/>
                <a:gdLst/>
                <a:ahLst/>
                <a:cxnLst>
                  <a:cxn ang="0">
                    <a:pos x="55" y="10"/>
                  </a:cxn>
                  <a:cxn ang="0">
                    <a:pos x="51" y="6"/>
                  </a:cxn>
                  <a:cxn ang="0">
                    <a:pos x="46" y="6"/>
                  </a:cxn>
                  <a:cxn ang="0">
                    <a:pos x="44" y="9"/>
                  </a:cxn>
                  <a:cxn ang="0">
                    <a:pos x="37" y="7"/>
                  </a:cxn>
                  <a:cxn ang="0">
                    <a:pos x="36" y="3"/>
                  </a:cxn>
                  <a:cxn ang="0">
                    <a:pos x="32" y="0"/>
                  </a:cxn>
                  <a:cxn ang="0">
                    <a:pos x="27" y="1"/>
                  </a:cxn>
                  <a:cxn ang="0">
                    <a:pos x="23" y="4"/>
                  </a:cxn>
                  <a:cxn ang="0">
                    <a:pos x="23" y="8"/>
                  </a:cxn>
                  <a:cxn ang="0">
                    <a:pos x="17" y="11"/>
                  </a:cxn>
                  <a:cxn ang="0">
                    <a:pos x="14" y="9"/>
                  </a:cxn>
                  <a:cxn ang="0">
                    <a:pos x="9" y="10"/>
                  </a:cxn>
                  <a:cxn ang="0">
                    <a:pos x="6" y="14"/>
                  </a:cxn>
                  <a:cxn ang="0">
                    <a:pos x="6" y="19"/>
                  </a:cxn>
                  <a:cxn ang="0">
                    <a:pos x="8" y="22"/>
                  </a:cxn>
                  <a:cxn ang="0">
                    <a:pos x="6" y="28"/>
                  </a:cxn>
                  <a:cxn ang="0">
                    <a:pos x="3" y="29"/>
                  </a:cxn>
                  <a:cxn ang="0">
                    <a:pos x="0" y="33"/>
                  </a:cxn>
                  <a:cxn ang="0">
                    <a:pos x="0" y="38"/>
                  </a:cxn>
                  <a:cxn ang="0">
                    <a:pos x="4" y="42"/>
                  </a:cxn>
                  <a:cxn ang="0">
                    <a:pos x="8" y="42"/>
                  </a:cxn>
                  <a:cxn ang="0">
                    <a:pos x="11" y="47"/>
                  </a:cxn>
                  <a:cxn ang="0">
                    <a:pos x="8" y="51"/>
                  </a:cxn>
                  <a:cxn ang="0">
                    <a:pos x="9" y="55"/>
                  </a:cxn>
                  <a:cxn ang="0">
                    <a:pos x="14" y="59"/>
                  </a:cxn>
                  <a:cxn ang="0">
                    <a:pos x="18" y="59"/>
                  </a:cxn>
                  <a:cxn ang="0">
                    <a:pos x="21" y="56"/>
                  </a:cxn>
                  <a:cxn ang="0">
                    <a:pos x="27" y="58"/>
                  </a:cxn>
                  <a:cxn ang="0">
                    <a:pos x="28" y="62"/>
                  </a:cxn>
                  <a:cxn ang="0">
                    <a:pos x="32" y="65"/>
                  </a:cxn>
                  <a:cxn ang="0">
                    <a:pos x="38" y="64"/>
                  </a:cxn>
                  <a:cxn ang="0">
                    <a:pos x="41" y="61"/>
                  </a:cxn>
                  <a:cxn ang="0">
                    <a:pos x="41" y="57"/>
                  </a:cxn>
                  <a:cxn ang="0">
                    <a:pos x="47" y="54"/>
                  </a:cxn>
                  <a:cxn ang="0">
                    <a:pos x="50" y="56"/>
                  </a:cxn>
                  <a:cxn ang="0">
                    <a:pos x="55" y="56"/>
                  </a:cxn>
                  <a:cxn ang="0">
                    <a:pos x="59" y="51"/>
                  </a:cxn>
                  <a:cxn ang="0">
                    <a:pos x="59" y="46"/>
                  </a:cxn>
                  <a:cxn ang="0">
                    <a:pos x="56" y="44"/>
                  </a:cxn>
                  <a:cxn ang="0">
                    <a:pos x="58" y="37"/>
                  </a:cxn>
                  <a:cxn ang="0">
                    <a:pos x="62" y="37"/>
                  </a:cxn>
                  <a:cxn ang="0">
                    <a:pos x="64" y="33"/>
                  </a:cxn>
                  <a:cxn ang="0">
                    <a:pos x="64" y="27"/>
                  </a:cxn>
                  <a:cxn ang="0">
                    <a:pos x="60" y="24"/>
                  </a:cxn>
                  <a:cxn ang="0">
                    <a:pos x="57" y="24"/>
                  </a:cxn>
                  <a:cxn ang="0">
                    <a:pos x="54" y="18"/>
                  </a:cxn>
                  <a:cxn ang="0">
                    <a:pos x="56" y="15"/>
                  </a:cxn>
                  <a:cxn ang="0">
                    <a:pos x="55" y="10"/>
                  </a:cxn>
                  <a:cxn ang="0">
                    <a:pos x="33" y="44"/>
                  </a:cxn>
                  <a:cxn ang="0">
                    <a:pos x="21" y="33"/>
                  </a:cxn>
                  <a:cxn ang="0">
                    <a:pos x="31" y="21"/>
                  </a:cxn>
                  <a:cxn ang="0">
                    <a:pos x="44" y="31"/>
                  </a:cxn>
                  <a:cxn ang="0">
                    <a:pos x="33" y="44"/>
                  </a:cxn>
                  <a:cxn ang="0">
                    <a:pos x="33" y="44"/>
                  </a:cxn>
                  <a:cxn ang="0">
                    <a:pos x="33" y="44"/>
                  </a:cxn>
                </a:cxnLst>
                <a:rect l="0" t="0" r="r" b="b"/>
                <a:pathLst>
                  <a:path w="65" h="65">
                    <a:moveTo>
                      <a:pt x="55" y="10"/>
                    </a:moveTo>
                    <a:cubicBezTo>
                      <a:pt x="51" y="6"/>
                      <a:pt x="51" y="6"/>
                      <a:pt x="51" y="6"/>
                    </a:cubicBezTo>
                    <a:cubicBezTo>
                      <a:pt x="49" y="5"/>
                      <a:pt x="47" y="5"/>
                      <a:pt x="46" y="6"/>
                    </a:cubicBezTo>
                    <a:cubicBezTo>
                      <a:pt x="44" y="9"/>
                      <a:pt x="44" y="9"/>
                      <a:pt x="44" y="9"/>
                    </a:cubicBezTo>
                    <a:cubicBezTo>
                      <a:pt x="41" y="8"/>
                      <a:pt x="39" y="7"/>
                      <a:pt x="37" y="7"/>
                    </a:cubicBezTo>
                    <a:cubicBezTo>
                      <a:pt x="36" y="3"/>
                      <a:pt x="36" y="3"/>
                      <a:pt x="36" y="3"/>
                    </a:cubicBezTo>
                    <a:cubicBezTo>
                      <a:pt x="36" y="1"/>
                      <a:pt x="34" y="0"/>
                      <a:pt x="32" y="0"/>
                    </a:cubicBezTo>
                    <a:cubicBezTo>
                      <a:pt x="27" y="1"/>
                      <a:pt x="27" y="1"/>
                      <a:pt x="27" y="1"/>
                    </a:cubicBezTo>
                    <a:cubicBezTo>
                      <a:pt x="25" y="1"/>
                      <a:pt x="23" y="2"/>
                      <a:pt x="23" y="4"/>
                    </a:cubicBezTo>
                    <a:cubicBezTo>
                      <a:pt x="23" y="8"/>
                      <a:pt x="23" y="8"/>
                      <a:pt x="23" y="8"/>
                    </a:cubicBezTo>
                    <a:cubicBezTo>
                      <a:pt x="21" y="9"/>
                      <a:pt x="19" y="10"/>
                      <a:pt x="17" y="11"/>
                    </a:cubicBezTo>
                    <a:cubicBezTo>
                      <a:pt x="14" y="9"/>
                      <a:pt x="14" y="9"/>
                      <a:pt x="14" y="9"/>
                    </a:cubicBezTo>
                    <a:cubicBezTo>
                      <a:pt x="13" y="8"/>
                      <a:pt x="11" y="8"/>
                      <a:pt x="9" y="10"/>
                    </a:cubicBezTo>
                    <a:cubicBezTo>
                      <a:pt x="6" y="14"/>
                      <a:pt x="6" y="14"/>
                      <a:pt x="6" y="14"/>
                    </a:cubicBezTo>
                    <a:cubicBezTo>
                      <a:pt x="4" y="16"/>
                      <a:pt x="4" y="18"/>
                      <a:pt x="6" y="19"/>
                    </a:cubicBezTo>
                    <a:cubicBezTo>
                      <a:pt x="8" y="22"/>
                      <a:pt x="8" y="22"/>
                      <a:pt x="8" y="22"/>
                    </a:cubicBezTo>
                    <a:cubicBezTo>
                      <a:pt x="7" y="24"/>
                      <a:pt x="7" y="26"/>
                      <a:pt x="6" y="28"/>
                    </a:cubicBezTo>
                    <a:cubicBezTo>
                      <a:pt x="3" y="29"/>
                      <a:pt x="3" y="29"/>
                      <a:pt x="3" y="29"/>
                    </a:cubicBezTo>
                    <a:cubicBezTo>
                      <a:pt x="1" y="29"/>
                      <a:pt x="0" y="31"/>
                      <a:pt x="0" y="33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1" y="40"/>
                      <a:pt x="2" y="42"/>
                      <a:pt x="4" y="42"/>
                    </a:cubicBezTo>
                    <a:cubicBezTo>
                      <a:pt x="8" y="42"/>
                      <a:pt x="8" y="42"/>
                      <a:pt x="8" y="42"/>
                    </a:cubicBezTo>
                    <a:cubicBezTo>
                      <a:pt x="9" y="44"/>
                      <a:pt x="9" y="45"/>
                      <a:pt x="11" y="47"/>
                    </a:cubicBezTo>
                    <a:cubicBezTo>
                      <a:pt x="8" y="51"/>
                      <a:pt x="8" y="51"/>
                      <a:pt x="8" y="51"/>
                    </a:cubicBezTo>
                    <a:cubicBezTo>
                      <a:pt x="7" y="52"/>
                      <a:pt x="8" y="54"/>
                      <a:pt x="9" y="55"/>
                    </a:cubicBezTo>
                    <a:cubicBezTo>
                      <a:pt x="14" y="59"/>
                      <a:pt x="14" y="59"/>
                      <a:pt x="14" y="59"/>
                    </a:cubicBezTo>
                    <a:cubicBezTo>
                      <a:pt x="15" y="60"/>
                      <a:pt x="17" y="60"/>
                      <a:pt x="18" y="59"/>
                    </a:cubicBezTo>
                    <a:cubicBezTo>
                      <a:pt x="21" y="56"/>
                      <a:pt x="21" y="56"/>
                      <a:pt x="21" y="56"/>
                    </a:cubicBezTo>
                    <a:cubicBezTo>
                      <a:pt x="23" y="57"/>
                      <a:pt x="25" y="58"/>
                      <a:pt x="27" y="58"/>
                    </a:cubicBezTo>
                    <a:cubicBezTo>
                      <a:pt x="28" y="62"/>
                      <a:pt x="28" y="62"/>
                      <a:pt x="28" y="62"/>
                    </a:cubicBezTo>
                    <a:cubicBezTo>
                      <a:pt x="28" y="64"/>
                      <a:pt x="30" y="65"/>
                      <a:pt x="32" y="65"/>
                    </a:cubicBezTo>
                    <a:cubicBezTo>
                      <a:pt x="38" y="64"/>
                      <a:pt x="38" y="64"/>
                      <a:pt x="38" y="64"/>
                    </a:cubicBezTo>
                    <a:cubicBezTo>
                      <a:pt x="39" y="64"/>
                      <a:pt x="41" y="63"/>
                      <a:pt x="41" y="61"/>
                    </a:cubicBezTo>
                    <a:cubicBezTo>
                      <a:pt x="41" y="57"/>
                      <a:pt x="41" y="57"/>
                      <a:pt x="41" y="57"/>
                    </a:cubicBezTo>
                    <a:cubicBezTo>
                      <a:pt x="43" y="56"/>
                      <a:pt x="45" y="55"/>
                      <a:pt x="47" y="54"/>
                    </a:cubicBezTo>
                    <a:cubicBezTo>
                      <a:pt x="50" y="56"/>
                      <a:pt x="50" y="56"/>
                      <a:pt x="50" y="56"/>
                    </a:cubicBezTo>
                    <a:cubicBezTo>
                      <a:pt x="52" y="57"/>
                      <a:pt x="54" y="57"/>
                      <a:pt x="55" y="56"/>
                    </a:cubicBezTo>
                    <a:cubicBezTo>
                      <a:pt x="59" y="51"/>
                      <a:pt x="59" y="51"/>
                      <a:pt x="59" y="51"/>
                    </a:cubicBezTo>
                    <a:cubicBezTo>
                      <a:pt x="60" y="50"/>
                      <a:pt x="60" y="48"/>
                      <a:pt x="59" y="46"/>
                    </a:cubicBezTo>
                    <a:cubicBezTo>
                      <a:pt x="56" y="44"/>
                      <a:pt x="56" y="44"/>
                      <a:pt x="56" y="44"/>
                    </a:cubicBezTo>
                    <a:cubicBezTo>
                      <a:pt x="57" y="42"/>
                      <a:pt x="58" y="39"/>
                      <a:pt x="58" y="37"/>
                    </a:cubicBezTo>
                    <a:cubicBezTo>
                      <a:pt x="62" y="37"/>
                      <a:pt x="62" y="37"/>
                      <a:pt x="62" y="37"/>
                    </a:cubicBezTo>
                    <a:cubicBezTo>
                      <a:pt x="63" y="36"/>
                      <a:pt x="65" y="35"/>
                      <a:pt x="64" y="33"/>
                    </a:cubicBezTo>
                    <a:cubicBezTo>
                      <a:pt x="64" y="27"/>
                      <a:pt x="64" y="27"/>
                      <a:pt x="64" y="27"/>
                    </a:cubicBezTo>
                    <a:cubicBezTo>
                      <a:pt x="64" y="25"/>
                      <a:pt x="62" y="24"/>
                      <a:pt x="60" y="24"/>
                    </a:cubicBezTo>
                    <a:cubicBezTo>
                      <a:pt x="57" y="24"/>
                      <a:pt x="57" y="24"/>
                      <a:pt x="57" y="24"/>
                    </a:cubicBezTo>
                    <a:cubicBezTo>
                      <a:pt x="56" y="21"/>
                      <a:pt x="55" y="20"/>
                      <a:pt x="54" y="18"/>
                    </a:cubicBezTo>
                    <a:cubicBezTo>
                      <a:pt x="56" y="15"/>
                      <a:pt x="56" y="15"/>
                      <a:pt x="56" y="15"/>
                    </a:cubicBezTo>
                    <a:cubicBezTo>
                      <a:pt x="57" y="13"/>
                      <a:pt x="57" y="11"/>
                      <a:pt x="55" y="10"/>
                    </a:cubicBezTo>
                    <a:close/>
                    <a:moveTo>
                      <a:pt x="33" y="44"/>
                    </a:moveTo>
                    <a:cubicBezTo>
                      <a:pt x="27" y="44"/>
                      <a:pt x="21" y="40"/>
                      <a:pt x="21" y="33"/>
                    </a:cubicBezTo>
                    <a:cubicBezTo>
                      <a:pt x="20" y="27"/>
                      <a:pt x="25" y="21"/>
                      <a:pt x="31" y="21"/>
                    </a:cubicBezTo>
                    <a:cubicBezTo>
                      <a:pt x="38" y="20"/>
                      <a:pt x="43" y="25"/>
                      <a:pt x="44" y="31"/>
                    </a:cubicBezTo>
                    <a:cubicBezTo>
                      <a:pt x="44" y="38"/>
                      <a:pt x="40" y="43"/>
                      <a:pt x="33" y="44"/>
                    </a:cubicBezTo>
                    <a:close/>
                    <a:moveTo>
                      <a:pt x="33" y="44"/>
                    </a:moveTo>
                    <a:cubicBezTo>
                      <a:pt x="33" y="44"/>
                      <a:pt x="33" y="44"/>
                      <a:pt x="33" y="44"/>
                    </a:cubicBezTo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4572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sym typeface="+mn-lt"/>
                </a:endParaRPr>
              </a:p>
            </p:txBody>
          </p:sp>
          <p:sp>
            <p:nvSpPr>
              <p:cNvPr id="17" name="Freeform 16"/>
              <p:cNvSpPr>
                <a:spLocks noEditPoints="1"/>
              </p:cNvSpPr>
              <p:nvPr/>
            </p:nvSpPr>
            <p:spPr bwMode="auto">
              <a:xfrm>
                <a:off x="5240338" y="3871913"/>
                <a:ext cx="155575" cy="155575"/>
              </a:xfrm>
              <a:custGeom>
                <a:avLst/>
                <a:gdLst/>
                <a:ahLst/>
                <a:cxnLst>
                  <a:cxn ang="0">
                    <a:pos x="3" y="21"/>
                  </a:cxn>
                  <a:cxn ang="0">
                    <a:pos x="0" y="24"/>
                  </a:cxn>
                  <a:cxn ang="0">
                    <a:pos x="0" y="28"/>
                  </a:cxn>
                  <a:cxn ang="0">
                    <a:pos x="3" y="31"/>
                  </a:cxn>
                  <a:cxn ang="0">
                    <a:pos x="6" y="32"/>
                  </a:cxn>
                  <a:cxn ang="0">
                    <a:pos x="7" y="36"/>
                  </a:cxn>
                  <a:cxn ang="0">
                    <a:pos x="6" y="38"/>
                  </a:cxn>
                  <a:cxn ang="0">
                    <a:pos x="6" y="43"/>
                  </a:cxn>
                  <a:cxn ang="0">
                    <a:pos x="9" y="45"/>
                  </a:cxn>
                  <a:cxn ang="0">
                    <a:pos x="13" y="46"/>
                  </a:cxn>
                  <a:cxn ang="0">
                    <a:pos x="15" y="44"/>
                  </a:cxn>
                  <a:cxn ang="0">
                    <a:pos x="20" y="46"/>
                  </a:cxn>
                  <a:cxn ang="0">
                    <a:pos x="20" y="49"/>
                  </a:cxn>
                  <a:cxn ang="0">
                    <a:pos x="24" y="52"/>
                  </a:cxn>
                  <a:cxn ang="0">
                    <a:pos x="27" y="52"/>
                  </a:cxn>
                  <a:cxn ang="0">
                    <a:pos x="31" y="49"/>
                  </a:cxn>
                  <a:cxn ang="0">
                    <a:pos x="31" y="47"/>
                  </a:cxn>
                  <a:cxn ang="0">
                    <a:pos x="36" y="45"/>
                  </a:cxn>
                  <a:cxn ang="0">
                    <a:pos x="38" y="46"/>
                  </a:cxn>
                  <a:cxn ang="0">
                    <a:pos x="43" y="46"/>
                  </a:cxn>
                  <a:cxn ang="0">
                    <a:pos x="46" y="43"/>
                  </a:cxn>
                  <a:cxn ang="0">
                    <a:pos x="46" y="39"/>
                  </a:cxn>
                  <a:cxn ang="0">
                    <a:pos x="45" y="37"/>
                  </a:cxn>
                  <a:cxn ang="0">
                    <a:pos x="47" y="32"/>
                  </a:cxn>
                  <a:cxn ang="0">
                    <a:pos x="49" y="32"/>
                  </a:cxn>
                  <a:cxn ang="0">
                    <a:pos x="52" y="28"/>
                  </a:cxn>
                  <a:cxn ang="0">
                    <a:pos x="52" y="24"/>
                  </a:cxn>
                  <a:cxn ang="0">
                    <a:pos x="49" y="21"/>
                  </a:cxn>
                  <a:cxn ang="0">
                    <a:pos x="47" y="21"/>
                  </a:cxn>
                  <a:cxn ang="0">
                    <a:pos x="45" y="16"/>
                  </a:cxn>
                  <a:cxn ang="0">
                    <a:pos x="46" y="14"/>
                  </a:cxn>
                  <a:cxn ang="0">
                    <a:pos x="46" y="9"/>
                  </a:cxn>
                  <a:cxn ang="0">
                    <a:pos x="44" y="7"/>
                  </a:cxn>
                  <a:cxn ang="0">
                    <a:pos x="39" y="6"/>
                  </a:cxn>
                  <a:cxn ang="0">
                    <a:pos x="37" y="8"/>
                  </a:cxn>
                  <a:cxn ang="0">
                    <a:pos x="32" y="5"/>
                  </a:cxn>
                  <a:cxn ang="0">
                    <a:pos x="32" y="3"/>
                  </a:cxn>
                  <a:cxn ang="0">
                    <a:pos x="28" y="0"/>
                  </a:cxn>
                  <a:cxn ang="0">
                    <a:pos x="25" y="0"/>
                  </a:cxn>
                  <a:cxn ang="0">
                    <a:pos x="21" y="3"/>
                  </a:cxn>
                  <a:cxn ang="0">
                    <a:pos x="21" y="5"/>
                  </a:cxn>
                  <a:cxn ang="0">
                    <a:pos x="16" y="7"/>
                  </a:cxn>
                  <a:cxn ang="0">
                    <a:pos x="14" y="6"/>
                  </a:cxn>
                  <a:cxn ang="0">
                    <a:pos x="9" y="6"/>
                  </a:cxn>
                  <a:cxn ang="0">
                    <a:pos x="6" y="9"/>
                  </a:cxn>
                  <a:cxn ang="0">
                    <a:pos x="6" y="13"/>
                  </a:cxn>
                  <a:cxn ang="0">
                    <a:pos x="8" y="15"/>
                  </a:cxn>
                  <a:cxn ang="0">
                    <a:pos x="6" y="20"/>
                  </a:cxn>
                  <a:cxn ang="0">
                    <a:pos x="3" y="21"/>
                  </a:cxn>
                  <a:cxn ang="0">
                    <a:pos x="26" y="16"/>
                  </a:cxn>
                  <a:cxn ang="0">
                    <a:pos x="36" y="26"/>
                  </a:cxn>
                  <a:cxn ang="0">
                    <a:pos x="26" y="35"/>
                  </a:cxn>
                  <a:cxn ang="0">
                    <a:pos x="17" y="26"/>
                  </a:cxn>
                  <a:cxn ang="0">
                    <a:pos x="26" y="16"/>
                  </a:cxn>
                  <a:cxn ang="0">
                    <a:pos x="26" y="16"/>
                  </a:cxn>
                  <a:cxn ang="0">
                    <a:pos x="26" y="16"/>
                  </a:cxn>
                </a:cxnLst>
                <a:rect l="0" t="0" r="r" b="b"/>
                <a:pathLst>
                  <a:path w="52" h="52">
                    <a:moveTo>
                      <a:pt x="3" y="21"/>
                    </a:moveTo>
                    <a:cubicBezTo>
                      <a:pt x="1" y="21"/>
                      <a:pt x="0" y="22"/>
                      <a:pt x="0" y="24"/>
                    </a:cubicBezTo>
                    <a:cubicBezTo>
                      <a:pt x="0" y="28"/>
                      <a:pt x="0" y="28"/>
                      <a:pt x="0" y="28"/>
                    </a:cubicBezTo>
                    <a:cubicBezTo>
                      <a:pt x="0" y="29"/>
                      <a:pt x="1" y="31"/>
                      <a:pt x="3" y="31"/>
                    </a:cubicBezTo>
                    <a:cubicBezTo>
                      <a:pt x="6" y="32"/>
                      <a:pt x="6" y="32"/>
                      <a:pt x="6" y="32"/>
                    </a:cubicBezTo>
                    <a:cubicBezTo>
                      <a:pt x="6" y="33"/>
                      <a:pt x="7" y="35"/>
                      <a:pt x="7" y="36"/>
                    </a:cubicBezTo>
                    <a:cubicBezTo>
                      <a:pt x="6" y="38"/>
                      <a:pt x="6" y="38"/>
                      <a:pt x="6" y="38"/>
                    </a:cubicBezTo>
                    <a:cubicBezTo>
                      <a:pt x="5" y="40"/>
                      <a:pt x="5" y="42"/>
                      <a:pt x="6" y="43"/>
                    </a:cubicBezTo>
                    <a:cubicBezTo>
                      <a:pt x="9" y="45"/>
                      <a:pt x="9" y="45"/>
                      <a:pt x="9" y="45"/>
                    </a:cubicBezTo>
                    <a:cubicBezTo>
                      <a:pt x="10" y="47"/>
                      <a:pt x="12" y="47"/>
                      <a:pt x="13" y="46"/>
                    </a:cubicBezTo>
                    <a:cubicBezTo>
                      <a:pt x="15" y="44"/>
                      <a:pt x="15" y="44"/>
                      <a:pt x="15" y="44"/>
                    </a:cubicBezTo>
                    <a:cubicBezTo>
                      <a:pt x="17" y="45"/>
                      <a:pt x="18" y="46"/>
                      <a:pt x="20" y="46"/>
                    </a:cubicBezTo>
                    <a:cubicBezTo>
                      <a:pt x="20" y="49"/>
                      <a:pt x="20" y="49"/>
                      <a:pt x="20" y="49"/>
                    </a:cubicBezTo>
                    <a:cubicBezTo>
                      <a:pt x="21" y="51"/>
                      <a:pt x="22" y="52"/>
                      <a:pt x="24" y="52"/>
                    </a:cubicBezTo>
                    <a:cubicBezTo>
                      <a:pt x="27" y="52"/>
                      <a:pt x="27" y="52"/>
                      <a:pt x="27" y="52"/>
                    </a:cubicBezTo>
                    <a:cubicBezTo>
                      <a:pt x="29" y="52"/>
                      <a:pt x="31" y="51"/>
                      <a:pt x="31" y="49"/>
                    </a:cubicBezTo>
                    <a:cubicBezTo>
                      <a:pt x="31" y="47"/>
                      <a:pt x="31" y="47"/>
                      <a:pt x="31" y="47"/>
                    </a:cubicBezTo>
                    <a:cubicBezTo>
                      <a:pt x="33" y="46"/>
                      <a:pt x="35" y="45"/>
                      <a:pt x="36" y="45"/>
                    </a:cubicBezTo>
                    <a:cubicBezTo>
                      <a:pt x="38" y="46"/>
                      <a:pt x="38" y="46"/>
                      <a:pt x="38" y="46"/>
                    </a:cubicBezTo>
                    <a:cubicBezTo>
                      <a:pt x="40" y="47"/>
                      <a:pt x="42" y="47"/>
                      <a:pt x="43" y="46"/>
                    </a:cubicBezTo>
                    <a:cubicBezTo>
                      <a:pt x="46" y="43"/>
                      <a:pt x="46" y="43"/>
                      <a:pt x="46" y="43"/>
                    </a:cubicBezTo>
                    <a:cubicBezTo>
                      <a:pt x="47" y="42"/>
                      <a:pt x="47" y="40"/>
                      <a:pt x="46" y="39"/>
                    </a:cubicBezTo>
                    <a:cubicBezTo>
                      <a:pt x="45" y="37"/>
                      <a:pt x="45" y="37"/>
                      <a:pt x="45" y="37"/>
                    </a:cubicBezTo>
                    <a:cubicBezTo>
                      <a:pt x="45" y="35"/>
                      <a:pt x="46" y="33"/>
                      <a:pt x="47" y="32"/>
                    </a:cubicBezTo>
                    <a:cubicBezTo>
                      <a:pt x="49" y="32"/>
                      <a:pt x="49" y="32"/>
                      <a:pt x="49" y="32"/>
                    </a:cubicBezTo>
                    <a:cubicBezTo>
                      <a:pt x="51" y="31"/>
                      <a:pt x="52" y="30"/>
                      <a:pt x="52" y="28"/>
                    </a:cubicBezTo>
                    <a:cubicBezTo>
                      <a:pt x="52" y="24"/>
                      <a:pt x="52" y="24"/>
                      <a:pt x="52" y="24"/>
                    </a:cubicBezTo>
                    <a:cubicBezTo>
                      <a:pt x="52" y="23"/>
                      <a:pt x="51" y="21"/>
                      <a:pt x="49" y="21"/>
                    </a:cubicBezTo>
                    <a:cubicBezTo>
                      <a:pt x="47" y="21"/>
                      <a:pt x="47" y="21"/>
                      <a:pt x="47" y="21"/>
                    </a:cubicBezTo>
                    <a:cubicBezTo>
                      <a:pt x="46" y="19"/>
                      <a:pt x="46" y="17"/>
                      <a:pt x="45" y="16"/>
                    </a:cubicBezTo>
                    <a:cubicBezTo>
                      <a:pt x="46" y="14"/>
                      <a:pt x="46" y="14"/>
                      <a:pt x="46" y="14"/>
                    </a:cubicBezTo>
                    <a:cubicBezTo>
                      <a:pt x="47" y="12"/>
                      <a:pt x="47" y="10"/>
                      <a:pt x="46" y="9"/>
                    </a:cubicBezTo>
                    <a:cubicBezTo>
                      <a:pt x="44" y="7"/>
                      <a:pt x="44" y="7"/>
                      <a:pt x="44" y="7"/>
                    </a:cubicBezTo>
                    <a:cubicBezTo>
                      <a:pt x="42" y="5"/>
                      <a:pt x="40" y="5"/>
                      <a:pt x="39" y="6"/>
                    </a:cubicBezTo>
                    <a:cubicBezTo>
                      <a:pt x="37" y="8"/>
                      <a:pt x="37" y="8"/>
                      <a:pt x="37" y="8"/>
                    </a:cubicBezTo>
                    <a:cubicBezTo>
                      <a:pt x="36" y="7"/>
                      <a:pt x="34" y="6"/>
                      <a:pt x="32" y="5"/>
                    </a:cubicBezTo>
                    <a:cubicBezTo>
                      <a:pt x="32" y="3"/>
                      <a:pt x="32" y="3"/>
                      <a:pt x="32" y="3"/>
                    </a:cubicBezTo>
                    <a:cubicBezTo>
                      <a:pt x="32" y="1"/>
                      <a:pt x="30" y="0"/>
                      <a:pt x="28" y="0"/>
                    </a:cubicBezTo>
                    <a:cubicBezTo>
                      <a:pt x="25" y="0"/>
                      <a:pt x="25" y="0"/>
                      <a:pt x="25" y="0"/>
                    </a:cubicBezTo>
                    <a:cubicBezTo>
                      <a:pt x="23" y="0"/>
                      <a:pt x="21" y="1"/>
                      <a:pt x="21" y="3"/>
                    </a:cubicBezTo>
                    <a:cubicBezTo>
                      <a:pt x="21" y="5"/>
                      <a:pt x="21" y="5"/>
                      <a:pt x="21" y="5"/>
                    </a:cubicBezTo>
                    <a:cubicBezTo>
                      <a:pt x="19" y="6"/>
                      <a:pt x="17" y="6"/>
                      <a:pt x="16" y="7"/>
                    </a:cubicBezTo>
                    <a:cubicBezTo>
                      <a:pt x="14" y="6"/>
                      <a:pt x="14" y="6"/>
                      <a:pt x="14" y="6"/>
                    </a:cubicBezTo>
                    <a:cubicBezTo>
                      <a:pt x="12" y="5"/>
                      <a:pt x="10" y="5"/>
                      <a:pt x="9" y="6"/>
                    </a:cubicBezTo>
                    <a:cubicBezTo>
                      <a:pt x="6" y="9"/>
                      <a:pt x="6" y="9"/>
                      <a:pt x="6" y="9"/>
                    </a:cubicBezTo>
                    <a:cubicBezTo>
                      <a:pt x="5" y="10"/>
                      <a:pt x="5" y="12"/>
                      <a:pt x="6" y="13"/>
                    </a:cubicBezTo>
                    <a:cubicBezTo>
                      <a:pt x="8" y="15"/>
                      <a:pt x="8" y="15"/>
                      <a:pt x="8" y="15"/>
                    </a:cubicBezTo>
                    <a:cubicBezTo>
                      <a:pt x="7" y="17"/>
                      <a:pt x="6" y="19"/>
                      <a:pt x="6" y="20"/>
                    </a:cubicBezTo>
                    <a:lnTo>
                      <a:pt x="3" y="21"/>
                    </a:lnTo>
                    <a:close/>
                    <a:moveTo>
                      <a:pt x="26" y="16"/>
                    </a:moveTo>
                    <a:cubicBezTo>
                      <a:pt x="31" y="17"/>
                      <a:pt x="36" y="21"/>
                      <a:pt x="36" y="26"/>
                    </a:cubicBezTo>
                    <a:cubicBezTo>
                      <a:pt x="35" y="31"/>
                      <a:pt x="31" y="35"/>
                      <a:pt x="26" y="35"/>
                    </a:cubicBezTo>
                    <a:cubicBezTo>
                      <a:pt x="21" y="35"/>
                      <a:pt x="17" y="31"/>
                      <a:pt x="17" y="26"/>
                    </a:cubicBezTo>
                    <a:cubicBezTo>
                      <a:pt x="17" y="21"/>
                      <a:pt x="21" y="16"/>
                      <a:pt x="26" y="16"/>
                    </a:cubicBezTo>
                    <a:close/>
                    <a:moveTo>
                      <a:pt x="26" y="16"/>
                    </a:moveTo>
                    <a:cubicBezTo>
                      <a:pt x="26" y="16"/>
                      <a:pt x="26" y="16"/>
                      <a:pt x="26" y="16"/>
                    </a:cubicBezTo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4572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sym typeface="+mn-lt"/>
                </a:endParaRPr>
              </a:p>
            </p:txBody>
          </p:sp>
        </p:grpSp>
        <p:sp>
          <p:nvSpPr>
            <p:cNvPr id="10" name="Freeform 17"/>
            <p:cNvSpPr>
              <a:spLocks noEditPoints="1"/>
            </p:cNvSpPr>
            <p:nvPr/>
          </p:nvSpPr>
          <p:spPr bwMode="auto">
            <a:xfrm>
              <a:off x="4622344" y="2067032"/>
              <a:ext cx="422752" cy="628156"/>
            </a:xfrm>
            <a:custGeom>
              <a:avLst/>
              <a:gdLst/>
              <a:ahLst/>
              <a:cxnLst>
                <a:cxn ang="0">
                  <a:pos x="47" y="0"/>
                </a:cxn>
                <a:cxn ang="0">
                  <a:pos x="10" y="76"/>
                </a:cxn>
                <a:cxn ang="0">
                  <a:pos x="24" y="124"/>
                </a:cxn>
                <a:cxn ang="0">
                  <a:pos x="34" y="128"/>
                </a:cxn>
                <a:cxn ang="0">
                  <a:pos x="44" y="140"/>
                </a:cxn>
                <a:cxn ang="0">
                  <a:pos x="62" y="130"/>
                </a:cxn>
                <a:cxn ang="0">
                  <a:pos x="67" y="128"/>
                </a:cxn>
                <a:cxn ang="0">
                  <a:pos x="72" y="94"/>
                </a:cxn>
                <a:cxn ang="0">
                  <a:pos x="94" y="46"/>
                </a:cxn>
                <a:cxn ang="0">
                  <a:pos x="32" y="53"/>
                </a:cxn>
                <a:cxn ang="0">
                  <a:pos x="43" y="56"/>
                </a:cxn>
                <a:cxn ang="0">
                  <a:pos x="47" y="56"/>
                </a:cxn>
                <a:cxn ang="0">
                  <a:pos x="55" y="55"/>
                </a:cxn>
                <a:cxn ang="0">
                  <a:pos x="58" y="56"/>
                </a:cxn>
                <a:cxn ang="0">
                  <a:pos x="54" y="89"/>
                </a:cxn>
                <a:cxn ang="0">
                  <a:pos x="62" y="98"/>
                </a:cxn>
                <a:cxn ang="0">
                  <a:pos x="33" y="106"/>
                </a:cxn>
                <a:cxn ang="0">
                  <a:pos x="62" y="98"/>
                </a:cxn>
                <a:cxn ang="0">
                  <a:pos x="33" y="111"/>
                </a:cxn>
                <a:cxn ang="0">
                  <a:pos x="62" y="118"/>
                </a:cxn>
                <a:cxn ang="0">
                  <a:pos x="64" y="88"/>
                </a:cxn>
                <a:cxn ang="0">
                  <a:pos x="70" y="49"/>
                </a:cxn>
                <a:cxn ang="0">
                  <a:pos x="63" y="48"/>
                </a:cxn>
                <a:cxn ang="0">
                  <a:pos x="58" y="51"/>
                </a:cxn>
                <a:cxn ang="0">
                  <a:pos x="52" y="42"/>
                </a:cxn>
                <a:cxn ang="0">
                  <a:pos x="44" y="51"/>
                </a:cxn>
                <a:cxn ang="0">
                  <a:pos x="36" y="45"/>
                </a:cxn>
                <a:cxn ang="0">
                  <a:pos x="31" y="48"/>
                </a:cxn>
                <a:cxn ang="0">
                  <a:pos x="24" y="50"/>
                </a:cxn>
                <a:cxn ang="0">
                  <a:pos x="31" y="89"/>
                </a:cxn>
                <a:cxn ang="0">
                  <a:pos x="9" y="47"/>
                </a:cxn>
                <a:cxn ang="0">
                  <a:pos x="85" y="47"/>
                </a:cxn>
                <a:cxn ang="0">
                  <a:pos x="64" y="88"/>
                </a:cxn>
                <a:cxn ang="0">
                  <a:pos x="64" y="88"/>
                </a:cxn>
              </a:cxnLst>
              <a:rect l="0" t="0" r="r" b="b"/>
              <a:pathLst>
                <a:path w="94" h="140">
                  <a:moveTo>
                    <a:pt x="94" y="46"/>
                  </a:moveTo>
                  <a:cubicBezTo>
                    <a:pt x="94" y="20"/>
                    <a:pt x="73" y="0"/>
                    <a:pt x="47" y="0"/>
                  </a:cubicBezTo>
                  <a:cubicBezTo>
                    <a:pt x="21" y="0"/>
                    <a:pt x="0" y="21"/>
                    <a:pt x="0" y="47"/>
                  </a:cubicBezTo>
                  <a:cubicBezTo>
                    <a:pt x="0" y="58"/>
                    <a:pt x="4" y="68"/>
                    <a:pt x="10" y="76"/>
                  </a:cubicBezTo>
                  <a:cubicBezTo>
                    <a:pt x="15" y="82"/>
                    <a:pt x="20" y="89"/>
                    <a:pt x="23" y="95"/>
                  </a:cubicBezTo>
                  <a:cubicBezTo>
                    <a:pt x="24" y="124"/>
                    <a:pt x="24" y="124"/>
                    <a:pt x="24" y="124"/>
                  </a:cubicBezTo>
                  <a:cubicBezTo>
                    <a:pt x="24" y="126"/>
                    <a:pt x="26" y="128"/>
                    <a:pt x="28" y="128"/>
                  </a:cubicBezTo>
                  <a:cubicBezTo>
                    <a:pt x="34" y="128"/>
                    <a:pt x="34" y="128"/>
                    <a:pt x="34" y="128"/>
                  </a:cubicBezTo>
                  <a:cubicBezTo>
                    <a:pt x="34" y="130"/>
                    <a:pt x="34" y="130"/>
                    <a:pt x="34" y="130"/>
                  </a:cubicBezTo>
                  <a:cubicBezTo>
                    <a:pt x="34" y="136"/>
                    <a:pt x="38" y="140"/>
                    <a:pt x="44" y="140"/>
                  </a:cubicBezTo>
                  <a:cubicBezTo>
                    <a:pt x="52" y="140"/>
                    <a:pt x="52" y="140"/>
                    <a:pt x="52" y="140"/>
                  </a:cubicBezTo>
                  <a:cubicBezTo>
                    <a:pt x="58" y="140"/>
                    <a:pt x="62" y="136"/>
                    <a:pt x="62" y="130"/>
                  </a:cubicBezTo>
                  <a:cubicBezTo>
                    <a:pt x="62" y="128"/>
                    <a:pt x="62" y="128"/>
                    <a:pt x="62" y="128"/>
                  </a:cubicBezTo>
                  <a:cubicBezTo>
                    <a:pt x="67" y="128"/>
                    <a:pt x="67" y="128"/>
                    <a:pt x="67" y="128"/>
                  </a:cubicBezTo>
                  <a:cubicBezTo>
                    <a:pt x="70" y="128"/>
                    <a:pt x="72" y="126"/>
                    <a:pt x="72" y="123"/>
                  </a:cubicBezTo>
                  <a:cubicBezTo>
                    <a:pt x="72" y="94"/>
                    <a:pt x="72" y="94"/>
                    <a:pt x="72" y="94"/>
                  </a:cubicBezTo>
                  <a:cubicBezTo>
                    <a:pt x="75" y="88"/>
                    <a:pt x="80" y="82"/>
                    <a:pt x="84" y="76"/>
                  </a:cubicBezTo>
                  <a:cubicBezTo>
                    <a:pt x="91" y="67"/>
                    <a:pt x="94" y="57"/>
                    <a:pt x="94" y="46"/>
                  </a:cubicBezTo>
                  <a:close/>
                  <a:moveTo>
                    <a:pt x="41" y="89"/>
                  </a:moveTo>
                  <a:cubicBezTo>
                    <a:pt x="32" y="53"/>
                    <a:pt x="32" y="53"/>
                    <a:pt x="32" y="53"/>
                  </a:cubicBezTo>
                  <a:cubicBezTo>
                    <a:pt x="37" y="50"/>
                    <a:pt x="37" y="50"/>
                    <a:pt x="37" y="50"/>
                  </a:cubicBezTo>
                  <a:cubicBezTo>
                    <a:pt x="43" y="56"/>
                    <a:pt x="43" y="56"/>
                    <a:pt x="43" y="56"/>
                  </a:cubicBezTo>
                  <a:cubicBezTo>
                    <a:pt x="44" y="56"/>
                    <a:pt x="44" y="56"/>
                    <a:pt x="45" y="56"/>
                  </a:cubicBezTo>
                  <a:cubicBezTo>
                    <a:pt x="46" y="56"/>
                    <a:pt x="46" y="56"/>
                    <a:pt x="47" y="56"/>
                  </a:cubicBezTo>
                  <a:cubicBezTo>
                    <a:pt x="52" y="49"/>
                    <a:pt x="52" y="49"/>
                    <a:pt x="52" y="49"/>
                  </a:cubicBezTo>
                  <a:cubicBezTo>
                    <a:pt x="55" y="55"/>
                    <a:pt x="55" y="55"/>
                    <a:pt x="55" y="55"/>
                  </a:cubicBezTo>
                  <a:cubicBezTo>
                    <a:pt x="55" y="56"/>
                    <a:pt x="56" y="56"/>
                    <a:pt x="57" y="56"/>
                  </a:cubicBezTo>
                  <a:cubicBezTo>
                    <a:pt x="57" y="56"/>
                    <a:pt x="58" y="56"/>
                    <a:pt x="58" y="56"/>
                  </a:cubicBezTo>
                  <a:cubicBezTo>
                    <a:pt x="62" y="54"/>
                    <a:pt x="62" y="54"/>
                    <a:pt x="62" y="54"/>
                  </a:cubicBezTo>
                  <a:cubicBezTo>
                    <a:pt x="54" y="89"/>
                    <a:pt x="54" y="89"/>
                    <a:pt x="54" y="89"/>
                  </a:cubicBezTo>
                  <a:lnTo>
                    <a:pt x="41" y="89"/>
                  </a:lnTo>
                  <a:close/>
                  <a:moveTo>
                    <a:pt x="62" y="98"/>
                  </a:moveTo>
                  <a:cubicBezTo>
                    <a:pt x="62" y="106"/>
                    <a:pt x="62" y="106"/>
                    <a:pt x="62" y="106"/>
                  </a:cubicBezTo>
                  <a:cubicBezTo>
                    <a:pt x="33" y="106"/>
                    <a:pt x="33" y="106"/>
                    <a:pt x="33" y="106"/>
                  </a:cubicBezTo>
                  <a:cubicBezTo>
                    <a:pt x="33" y="98"/>
                    <a:pt x="33" y="98"/>
                    <a:pt x="33" y="98"/>
                  </a:cubicBezTo>
                  <a:lnTo>
                    <a:pt x="62" y="98"/>
                  </a:lnTo>
                  <a:close/>
                  <a:moveTo>
                    <a:pt x="33" y="119"/>
                  </a:moveTo>
                  <a:cubicBezTo>
                    <a:pt x="33" y="111"/>
                    <a:pt x="33" y="111"/>
                    <a:pt x="33" y="111"/>
                  </a:cubicBezTo>
                  <a:cubicBezTo>
                    <a:pt x="62" y="111"/>
                    <a:pt x="62" y="111"/>
                    <a:pt x="62" y="111"/>
                  </a:cubicBezTo>
                  <a:cubicBezTo>
                    <a:pt x="62" y="118"/>
                    <a:pt x="62" y="118"/>
                    <a:pt x="62" y="118"/>
                  </a:cubicBezTo>
                  <a:lnTo>
                    <a:pt x="33" y="119"/>
                  </a:lnTo>
                  <a:close/>
                  <a:moveTo>
                    <a:pt x="64" y="88"/>
                  </a:moveTo>
                  <a:cubicBezTo>
                    <a:pt x="62" y="88"/>
                    <a:pt x="62" y="88"/>
                    <a:pt x="62" y="88"/>
                  </a:cubicBezTo>
                  <a:cubicBezTo>
                    <a:pt x="70" y="49"/>
                    <a:pt x="70" y="49"/>
                    <a:pt x="70" y="49"/>
                  </a:cubicBezTo>
                  <a:cubicBezTo>
                    <a:pt x="71" y="48"/>
                    <a:pt x="69" y="46"/>
                    <a:pt x="67" y="45"/>
                  </a:cubicBezTo>
                  <a:cubicBezTo>
                    <a:pt x="66" y="45"/>
                    <a:pt x="64" y="46"/>
                    <a:pt x="63" y="48"/>
                  </a:cubicBezTo>
                  <a:cubicBezTo>
                    <a:pt x="63" y="49"/>
                    <a:pt x="63" y="49"/>
                    <a:pt x="63" y="49"/>
                  </a:cubicBezTo>
                  <a:cubicBezTo>
                    <a:pt x="58" y="51"/>
                    <a:pt x="58" y="51"/>
                    <a:pt x="58" y="51"/>
                  </a:cubicBezTo>
                  <a:cubicBezTo>
                    <a:pt x="54" y="44"/>
                    <a:pt x="54" y="44"/>
                    <a:pt x="54" y="44"/>
                  </a:cubicBezTo>
                  <a:cubicBezTo>
                    <a:pt x="54" y="43"/>
                    <a:pt x="53" y="43"/>
                    <a:pt x="52" y="42"/>
                  </a:cubicBezTo>
                  <a:cubicBezTo>
                    <a:pt x="52" y="42"/>
                    <a:pt x="51" y="43"/>
                    <a:pt x="50" y="43"/>
                  </a:cubicBezTo>
                  <a:cubicBezTo>
                    <a:pt x="44" y="51"/>
                    <a:pt x="44" y="51"/>
                    <a:pt x="44" y="51"/>
                  </a:cubicBezTo>
                  <a:cubicBezTo>
                    <a:pt x="39" y="45"/>
                    <a:pt x="39" y="45"/>
                    <a:pt x="39" y="45"/>
                  </a:cubicBezTo>
                  <a:cubicBezTo>
                    <a:pt x="38" y="45"/>
                    <a:pt x="37" y="45"/>
                    <a:pt x="36" y="45"/>
                  </a:cubicBezTo>
                  <a:cubicBezTo>
                    <a:pt x="31" y="48"/>
                    <a:pt x="31" y="48"/>
                    <a:pt x="31" y="48"/>
                  </a:cubicBezTo>
                  <a:cubicBezTo>
                    <a:pt x="31" y="48"/>
                    <a:pt x="31" y="48"/>
                    <a:pt x="31" y="48"/>
                  </a:cubicBezTo>
                  <a:cubicBezTo>
                    <a:pt x="31" y="46"/>
                    <a:pt x="29" y="45"/>
                    <a:pt x="27" y="46"/>
                  </a:cubicBezTo>
                  <a:cubicBezTo>
                    <a:pt x="25" y="46"/>
                    <a:pt x="24" y="48"/>
                    <a:pt x="24" y="50"/>
                  </a:cubicBezTo>
                  <a:cubicBezTo>
                    <a:pt x="33" y="89"/>
                    <a:pt x="33" y="89"/>
                    <a:pt x="33" y="89"/>
                  </a:cubicBezTo>
                  <a:cubicBezTo>
                    <a:pt x="31" y="89"/>
                    <a:pt x="31" y="89"/>
                    <a:pt x="31" y="89"/>
                  </a:cubicBezTo>
                  <a:cubicBezTo>
                    <a:pt x="27" y="82"/>
                    <a:pt x="22" y="76"/>
                    <a:pt x="18" y="70"/>
                  </a:cubicBezTo>
                  <a:cubicBezTo>
                    <a:pt x="12" y="64"/>
                    <a:pt x="10" y="56"/>
                    <a:pt x="9" y="47"/>
                  </a:cubicBezTo>
                  <a:cubicBezTo>
                    <a:pt x="9" y="26"/>
                    <a:pt x="26" y="9"/>
                    <a:pt x="47" y="9"/>
                  </a:cubicBezTo>
                  <a:cubicBezTo>
                    <a:pt x="68" y="9"/>
                    <a:pt x="85" y="26"/>
                    <a:pt x="85" y="47"/>
                  </a:cubicBezTo>
                  <a:cubicBezTo>
                    <a:pt x="85" y="55"/>
                    <a:pt x="82" y="63"/>
                    <a:pt x="77" y="70"/>
                  </a:cubicBezTo>
                  <a:cubicBezTo>
                    <a:pt x="72" y="76"/>
                    <a:pt x="68" y="82"/>
                    <a:pt x="64" y="88"/>
                  </a:cubicBezTo>
                  <a:close/>
                  <a:moveTo>
                    <a:pt x="64" y="88"/>
                  </a:moveTo>
                  <a:cubicBezTo>
                    <a:pt x="64" y="88"/>
                    <a:pt x="64" y="88"/>
                    <a:pt x="64" y="88"/>
                  </a:cubicBezTo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sym typeface="+mn-lt"/>
              </a:endParaRPr>
            </a:p>
          </p:txBody>
        </p:sp>
        <p:sp>
          <p:nvSpPr>
            <p:cNvPr id="11" name="TextBox 56"/>
            <p:cNvSpPr txBox="1"/>
            <p:nvPr/>
          </p:nvSpPr>
          <p:spPr>
            <a:xfrm>
              <a:off x="5281860" y="2496032"/>
              <a:ext cx="550151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800" b="1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sym typeface="+mn-lt"/>
                </a:rPr>
                <a:t>01</a:t>
              </a:r>
              <a:br>
                <a: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sym typeface="+mn-lt"/>
                </a:rPr>
              </a:br>
              <a:endParaRPr kumimoji="0" lang="en-US" sz="12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sym typeface="+mn-lt"/>
              </a:endParaRPr>
            </a:p>
          </p:txBody>
        </p:sp>
        <p:sp>
          <p:nvSpPr>
            <p:cNvPr id="12" name="TextBox 57"/>
            <p:cNvSpPr txBox="1"/>
            <p:nvPr/>
          </p:nvSpPr>
          <p:spPr>
            <a:xfrm>
              <a:off x="6355124" y="2496032"/>
              <a:ext cx="550151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800" b="1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sym typeface="+mn-lt"/>
                </a:rPr>
                <a:t>02</a:t>
              </a:r>
              <a:br>
                <a: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sym typeface="+mn-lt"/>
                </a:rPr>
              </a:br>
              <a:endParaRPr kumimoji="0" lang="en-US" sz="12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sym typeface="+mn-lt"/>
              </a:endParaRPr>
            </a:p>
          </p:txBody>
        </p:sp>
        <p:sp>
          <p:nvSpPr>
            <p:cNvPr id="13" name="TextBox 58"/>
            <p:cNvSpPr txBox="1"/>
            <p:nvPr/>
          </p:nvSpPr>
          <p:spPr>
            <a:xfrm>
              <a:off x="5281860" y="4095994"/>
              <a:ext cx="550151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800" b="1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sym typeface="+mn-lt"/>
                </a:rPr>
                <a:t>03</a:t>
              </a:r>
              <a:br>
                <a: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sym typeface="+mn-lt"/>
                </a:rPr>
              </a:br>
              <a:endParaRPr kumimoji="0" lang="en-US" sz="12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sym typeface="+mn-lt"/>
              </a:endParaRPr>
            </a:p>
          </p:txBody>
        </p:sp>
        <p:sp>
          <p:nvSpPr>
            <p:cNvPr id="14" name="TextBox 59"/>
            <p:cNvSpPr txBox="1"/>
            <p:nvPr/>
          </p:nvSpPr>
          <p:spPr>
            <a:xfrm>
              <a:off x="6355124" y="4095994"/>
              <a:ext cx="550151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800" b="1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sym typeface="+mn-lt"/>
                </a:rPr>
                <a:t>04</a:t>
              </a:r>
              <a:br>
                <a: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sym typeface="+mn-lt"/>
                </a:rPr>
              </a:br>
              <a:endParaRPr kumimoji="0" lang="en-US" sz="12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sym typeface="+mn-lt"/>
              </a:endParaRPr>
            </a:p>
          </p:txBody>
        </p:sp>
      </p:grpSp>
      <p:grpSp>
        <p:nvGrpSpPr>
          <p:cNvPr id="26" name="PA_组合 25"/>
          <p:cNvGrpSpPr/>
          <p:nvPr>
            <p:custDataLst>
              <p:tags r:id="rId1"/>
            </p:custDataLst>
          </p:nvPr>
        </p:nvGrpSpPr>
        <p:grpSpPr>
          <a:xfrm>
            <a:off x="1628282" y="2526644"/>
            <a:ext cx="2855980" cy="823738"/>
            <a:chOff x="656868" y="2381121"/>
            <a:chExt cx="2855980" cy="823738"/>
          </a:xfrm>
        </p:grpSpPr>
        <p:sp>
          <p:nvSpPr>
            <p:cNvPr id="24" name="文本框 23"/>
            <p:cNvSpPr txBox="1"/>
            <p:nvPr/>
          </p:nvSpPr>
          <p:spPr>
            <a:xfrm>
              <a:off x="928440" y="2381121"/>
              <a:ext cx="2031325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400" b="1" dirty="0">
                  <a:solidFill>
                    <a:srgbClr val="FF0000"/>
                  </a:solidFill>
                </a:rPr>
                <a:t>知识表示方法</a:t>
              </a:r>
            </a:p>
          </p:txBody>
        </p:sp>
        <p:sp>
          <p:nvSpPr>
            <p:cNvPr id="25" name="文本框 24"/>
            <p:cNvSpPr txBox="1"/>
            <p:nvPr/>
          </p:nvSpPr>
          <p:spPr>
            <a:xfrm>
              <a:off x="656868" y="2743194"/>
              <a:ext cx="285598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en-US" altLang="zh-CN" sz="2400" dirty="0">
                <a:latin typeface="微软雅黑" panose="020B0503020204020204" pitchFamily="34" charset="-122"/>
              </a:endParaRPr>
            </a:p>
          </p:txBody>
        </p:sp>
      </p:grpSp>
      <p:sp>
        <p:nvSpPr>
          <p:cNvPr id="28" name="文本框 27"/>
          <p:cNvSpPr txBox="1"/>
          <p:nvPr/>
        </p:nvSpPr>
        <p:spPr>
          <a:xfrm>
            <a:off x="8502923" y="4920321"/>
            <a:ext cx="203132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dirty="0">
                <a:solidFill>
                  <a:srgbClr val="24569D"/>
                </a:solidFill>
              </a:rPr>
              <a:t>逻辑推理案例</a:t>
            </a:r>
          </a:p>
        </p:txBody>
      </p:sp>
      <p:sp>
        <p:nvSpPr>
          <p:cNvPr id="2" name="矩形 1"/>
          <p:cNvSpPr/>
          <p:nvPr/>
        </p:nvSpPr>
        <p:spPr>
          <a:xfrm>
            <a:off x="745606" y="902626"/>
            <a:ext cx="902811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dirty="0"/>
              <a:t>目录</a:t>
            </a:r>
          </a:p>
        </p:txBody>
      </p:sp>
      <p:sp>
        <p:nvSpPr>
          <p:cNvPr id="30" name="文本框 29"/>
          <p:cNvSpPr txBox="1"/>
          <p:nvPr/>
        </p:nvSpPr>
        <p:spPr>
          <a:xfrm>
            <a:off x="8441833" y="2411796"/>
            <a:ext cx="295465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dirty="0">
                <a:solidFill>
                  <a:srgbClr val="24569D"/>
                </a:solidFill>
              </a:rPr>
              <a:t>命题逻辑与谓词逻辑</a:t>
            </a:r>
          </a:p>
        </p:txBody>
      </p:sp>
      <p:sp>
        <p:nvSpPr>
          <p:cNvPr id="29" name="矩形 28"/>
          <p:cNvSpPr/>
          <p:nvPr/>
        </p:nvSpPr>
        <p:spPr>
          <a:xfrm>
            <a:off x="1898705" y="4869981"/>
            <a:ext cx="233910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/>
            <a:r>
              <a:rPr lang="zh-CN" altLang="en-US" sz="2400" b="1" dirty="0">
                <a:solidFill>
                  <a:srgbClr val="24569D"/>
                </a:solidFill>
              </a:rPr>
              <a:t>归结原理及应用</a:t>
            </a:r>
          </a:p>
        </p:txBody>
      </p:sp>
    </p:spTree>
    <p:extLst>
      <p:ext uri="{BB962C8B-B14F-4D97-AF65-F5344CB8AC3E}">
        <p14:creationId xmlns:p14="http://schemas.microsoft.com/office/powerpoint/2010/main" val="42490754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合 7"/>
          <p:cNvGrpSpPr/>
          <p:nvPr/>
        </p:nvGrpSpPr>
        <p:grpSpPr>
          <a:xfrm>
            <a:off x="6004933" y="1599260"/>
            <a:ext cx="5598374" cy="4804394"/>
            <a:chOff x="1099312" y="1723345"/>
            <a:chExt cx="10062913" cy="3432863"/>
          </a:xfrm>
        </p:grpSpPr>
        <p:sp>
          <p:nvSpPr>
            <p:cNvPr id="9" name="立方体 8"/>
            <p:cNvSpPr/>
            <p:nvPr/>
          </p:nvSpPr>
          <p:spPr>
            <a:xfrm>
              <a:off x="1099312" y="1723345"/>
              <a:ext cx="10062913" cy="3238795"/>
            </a:xfrm>
            <a:prstGeom prst="cube">
              <a:avLst>
                <a:gd name="adj" fmla="val 1445"/>
              </a:avLst>
            </a:prstGeom>
            <a:gradFill>
              <a:gsLst>
                <a:gs pos="0">
                  <a:srgbClr val="016773"/>
                </a:gs>
                <a:gs pos="100000">
                  <a:srgbClr val="00ABA5"/>
                </a:gs>
              </a:gsLst>
              <a:lin ang="4800000" scaled="0"/>
            </a:gradFill>
            <a:ln>
              <a:noFill/>
            </a:ln>
            <a:effectLst>
              <a:outerShdw blurRad="76200" dir="18900000" sy="23000" kx="-1200000" algn="bl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10" name="直接连接符 9"/>
            <p:cNvCxnSpPr/>
            <p:nvPr/>
          </p:nvCxnSpPr>
          <p:spPr>
            <a:xfrm rot="5400000" flipH="1">
              <a:off x="9209650" y="3470155"/>
              <a:ext cx="3372106" cy="0"/>
            </a:xfrm>
            <a:prstGeom prst="line">
              <a:avLst/>
            </a:prstGeom>
            <a:ln w="12700">
              <a:gradFill>
                <a:gsLst>
                  <a:gs pos="0">
                    <a:srgbClr val="FFFFFF">
                      <a:alpha val="0"/>
                    </a:srgbClr>
                  </a:gs>
                  <a:gs pos="100000">
                    <a:srgbClr val="0093A2"/>
                  </a:gs>
                </a:gsLst>
                <a:lin ang="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1" name="组合 10"/>
            <p:cNvGrpSpPr/>
            <p:nvPr/>
          </p:nvGrpSpPr>
          <p:grpSpPr>
            <a:xfrm>
              <a:off x="1099312" y="1742007"/>
              <a:ext cx="3220132" cy="3220133"/>
              <a:chOff x="1099312" y="2369187"/>
              <a:chExt cx="3220132" cy="3220133"/>
            </a:xfrm>
          </p:grpSpPr>
          <p:cxnSp>
            <p:nvCxnSpPr>
              <p:cNvPr id="13" name="直接连接符 12"/>
              <p:cNvCxnSpPr/>
              <p:nvPr/>
            </p:nvCxnSpPr>
            <p:spPr>
              <a:xfrm flipH="1">
                <a:off x="1099312" y="5408718"/>
                <a:ext cx="3220132" cy="0"/>
              </a:xfrm>
              <a:prstGeom prst="line">
                <a:avLst/>
              </a:prstGeom>
              <a:ln w="12700">
                <a:gradFill>
                  <a:gsLst>
                    <a:gs pos="0">
                      <a:srgbClr val="FFFFFF">
                        <a:alpha val="0"/>
                      </a:srgbClr>
                    </a:gs>
                    <a:gs pos="100000">
                      <a:srgbClr val="0093A2"/>
                    </a:gs>
                  </a:gsLst>
                  <a:lin ang="0" scaled="0"/>
                </a:gra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直接连接符 13"/>
              <p:cNvCxnSpPr/>
              <p:nvPr/>
            </p:nvCxnSpPr>
            <p:spPr>
              <a:xfrm rot="16200000" flipH="1">
                <a:off x="-313770" y="3979254"/>
                <a:ext cx="3220133" cy="0"/>
              </a:xfrm>
              <a:prstGeom prst="line">
                <a:avLst/>
              </a:prstGeom>
              <a:ln w="12700">
                <a:gradFill>
                  <a:gsLst>
                    <a:gs pos="0">
                      <a:srgbClr val="FFFFFF">
                        <a:alpha val="0"/>
                      </a:srgbClr>
                    </a:gs>
                    <a:gs pos="100000">
                      <a:srgbClr val="0093A2"/>
                    </a:gs>
                  </a:gsLst>
                  <a:lin ang="0" scaled="0"/>
                </a:gra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2" name="直接连接符 11"/>
            <p:cNvCxnSpPr/>
            <p:nvPr/>
          </p:nvCxnSpPr>
          <p:spPr>
            <a:xfrm rot="10800000" flipH="1">
              <a:off x="7731987" y="1979513"/>
              <a:ext cx="3372106" cy="0"/>
            </a:xfrm>
            <a:prstGeom prst="line">
              <a:avLst/>
            </a:prstGeom>
            <a:ln w="12700">
              <a:gradFill>
                <a:gsLst>
                  <a:gs pos="0">
                    <a:srgbClr val="FFFFFF">
                      <a:alpha val="0"/>
                    </a:srgbClr>
                  </a:gs>
                  <a:gs pos="100000">
                    <a:srgbClr val="0093A2"/>
                  </a:gs>
                </a:gsLst>
                <a:lin ang="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" name="矩形 14"/>
          <p:cNvSpPr/>
          <p:nvPr/>
        </p:nvSpPr>
        <p:spPr>
          <a:xfrm>
            <a:off x="6004933" y="1977430"/>
            <a:ext cx="5403456" cy="42037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SzPct val="80000"/>
              <a:buFont typeface="Wingdings" panose="05000000000000000000" pitchFamily="2" charset="2"/>
              <a:buChar char="u"/>
            </a:pPr>
            <a:r>
              <a:rPr lang="zh-CN" altLang="zh-CN" sz="16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imSun" panose="02010600030101010101" pitchFamily="2" charset="-122"/>
                <a:ea typeface="SimSun" panose="02010600030101010101" pitchFamily="2" charset="-122"/>
                <a:cs typeface="Times New Roman" panose="02020603050405020304" pitchFamily="18" charset="0"/>
              </a:rPr>
              <a:t>从一个或若干前提出发，是否存在一个有效的论证或推理来支持所得到的结论，也就是说在前提和结论之间架构逻辑结构的桥梁。</a:t>
            </a:r>
            <a:endParaRPr lang="en-US" altLang="zh-CN" sz="16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imSun" panose="02010600030101010101" pitchFamily="2" charset="-122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SzPct val="80000"/>
              <a:buFont typeface="Wingdings" panose="05000000000000000000" pitchFamily="2" charset="2"/>
              <a:buChar char="u"/>
            </a:pPr>
            <a:r>
              <a:rPr lang="zh-CN" altLang="zh-CN" sz="16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imSun" panose="02010600030101010101" pitchFamily="2" charset="-122"/>
                <a:ea typeface="SimSun" panose="02010600030101010101" pitchFamily="2" charset="-122"/>
                <a:cs typeface="Times New Roman" panose="02020603050405020304" pitchFamily="18" charset="0"/>
              </a:rPr>
              <a:t>逻辑是研究推理的一门科学，</a:t>
            </a:r>
            <a:r>
              <a:rPr lang="en-US" altLang="zh-CN" sz="16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imSun" panose="02010600030101010101" pitchFamily="2" charset="-122"/>
                <a:ea typeface="SimSun" panose="02010600030101010101" pitchFamily="2" charset="-122"/>
                <a:cs typeface="Times New Roman" panose="02020603050405020304" pitchFamily="18" charset="0"/>
              </a:rPr>
              <a:t>“</a:t>
            </a:r>
            <a:r>
              <a:rPr lang="zh-CN" altLang="zh-CN" sz="16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imSun" panose="02010600030101010101" pitchFamily="2" charset="-122"/>
                <a:ea typeface="SimSun" panose="02010600030101010101" pitchFamily="2" charset="-122"/>
                <a:cs typeface="Times New Roman" panose="02020603050405020304" pitchFamily="18" charset="0"/>
              </a:rPr>
              <a:t>逻辑</a:t>
            </a:r>
            <a:r>
              <a:rPr lang="en-US" altLang="zh-CN" sz="16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imSun" panose="02010600030101010101" pitchFamily="2" charset="-122"/>
                <a:ea typeface="SimSun" panose="02010600030101010101" pitchFamily="2" charset="-122"/>
                <a:cs typeface="Times New Roman" panose="02020603050405020304" pitchFamily="18" charset="0"/>
              </a:rPr>
              <a:t>”</a:t>
            </a:r>
            <a:r>
              <a:rPr lang="zh-CN" altLang="zh-CN" sz="16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imSun" panose="02010600030101010101" pitchFamily="2" charset="-122"/>
                <a:ea typeface="SimSun" panose="02010600030101010101" pitchFamily="2" charset="-122"/>
                <a:cs typeface="Times New Roman" panose="02020603050405020304" pitchFamily="18" charset="0"/>
              </a:rPr>
              <a:t>这一单词起源于希腊单词</a:t>
            </a:r>
            <a:r>
              <a:rPr lang="en-US" altLang="zh-CN" sz="2000" b="1" dirty="0">
                <a:solidFill>
                  <a:srgbClr val="FFFF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imSun" panose="02010600030101010101" pitchFamily="2" charset="-122"/>
                <a:ea typeface="SimSun" panose="02010600030101010101" pitchFamily="2" charset="-122"/>
                <a:cs typeface="Times New Roman" panose="02020603050405020304" pitchFamily="18" charset="0"/>
              </a:rPr>
              <a:t>“</a:t>
            </a:r>
            <a:r>
              <a:rPr lang="en-US" altLang="zh-CN" sz="2000" b="1" dirty="0">
                <a:solidFill>
                  <a:srgbClr val="FFFF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logos</a:t>
            </a:r>
            <a:r>
              <a:rPr lang="en-US" altLang="zh-CN" sz="2000" b="1" dirty="0">
                <a:solidFill>
                  <a:srgbClr val="FFFF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imSun" panose="02010600030101010101" pitchFamily="2" charset="-122"/>
                <a:ea typeface="SimSun" panose="02010600030101010101" pitchFamily="2" charset="-122"/>
                <a:cs typeface="Times New Roman" panose="02020603050405020304" pitchFamily="18" charset="0"/>
              </a:rPr>
              <a:t>”</a:t>
            </a:r>
            <a:r>
              <a:rPr lang="zh-CN" altLang="zh-CN" sz="16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imSun" panose="02010600030101010101" pitchFamily="2" charset="-122"/>
                <a:ea typeface="SimSun" panose="02010600030101010101" pitchFamily="2" charset="-122"/>
                <a:cs typeface="Times New Roman" panose="02020603050405020304" pitchFamily="18" charset="0"/>
              </a:rPr>
              <a:t>，表示原因、话语和演讲，其内涵非常类似汉语的</a:t>
            </a:r>
            <a:r>
              <a:rPr lang="en-US" altLang="zh-CN" sz="16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imSun" panose="02010600030101010101" pitchFamily="2" charset="-122"/>
                <a:ea typeface="SimSun" panose="02010600030101010101" pitchFamily="2" charset="-122"/>
                <a:cs typeface="Times New Roman" panose="02020603050405020304" pitchFamily="18" charset="0"/>
              </a:rPr>
              <a:t>“</a:t>
            </a:r>
            <a:r>
              <a:rPr lang="zh-CN" altLang="zh-CN" sz="16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imSun" panose="02010600030101010101" pitchFamily="2" charset="-122"/>
                <a:ea typeface="SimSun" panose="02010600030101010101" pitchFamily="2" charset="-122"/>
                <a:cs typeface="Times New Roman" panose="02020603050405020304" pitchFamily="18" charset="0"/>
              </a:rPr>
              <a:t>道</a:t>
            </a:r>
            <a:r>
              <a:rPr lang="en-US" altLang="zh-CN" sz="16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imSun" panose="02010600030101010101" pitchFamily="2" charset="-122"/>
                <a:ea typeface="SimSun" panose="02010600030101010101" pitchFamily="2" charset="-122"/>
                <a:cs typeface="Times New Roman" panose="02020603050405020304" pitchFamily="18" charset="0"/>
              </a:rPr>
              <a:t>”</a:t>
            </a:r>
            <a:r>
              <a:rPr lang="zh-CN" altLang="zh-CN" sz="16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imSun" panose="02010600030101010101" pitchFamily="2" charset="-122"/>
                <a:ea typeface="SimSun" panose="02010600030101010101" pitchFamily="2" charset="-122"/>
                <a:cs typeface="Times New Roman" panose="02020603050405020304" pitchFamily="18" charset="0"/>
              </a:rPr>
              <a:t>，本意都和说话有关，延伸出</a:t>
            </a:r>
            <a:r>
              <a:rPr lang="en-US" altLang="zh-CN" sz="16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imSun" panose="02010600030101010101" pitchFamily="2" charset="-122"/>
                <a:ea typeface="SimSun" panose="02010600030101010101" pitchFamily="2" charset="-122"/>
                <a:cs typeface="Times New Roman" panose="02020603050405020304" pitchFamily="18" charset="0"/>
              </a:rPr>
              <a:t>“</a:t>
            </a:r>
            <a:r>
              <a:rPr lang="zh-CN" altLang="zh-CN" sz="16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imSun" panose="02010600030101010101" pitchFamily="2" charset="-122"/>
                <a:ea typeface="SimSun" panose="02010600030101010101" pitchFamily="2" charset="-122"/>
                <a:cs typeface="Times New Roman" panose="02020603050405020304" pitchFamily="18" charset="0"/>
              </a:rPr>
              <a:t>道理</a:t>
            </a:r>
            <a:r>
              <a:rPr lang="en-US" altLang="zh-CN" sz="16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imSun" panose="02010600030101010101" pitchFamily="2" charset="-122"/>
                <a:ea typeface="SimSun" panose="02010600030101010101" pitchFamily="2" charset="-122"/>
                <a:cs typeface="Times New Roman" panose="02020603050405020304" pitchFamily="18" charset="0"/>
              </a:rPr>
              <a:t>”</a:t>
            </a:r>
            <a:r>
              <a:rPr lang="zh-CN" altLang="zh-CN" sz="16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imSun" panose="02010600030101010101" pitchFamily="2" charset="-122"/>
                <a:ea typeface="SimSun" panose="02010600030101010101" pitchFamily="2" charset="-122"/>
                <a:cs typeface="Times New Roman" panose="02020603050405020304" pitchFamily="18" charset="0"/>
              </a:rPr>
              <a:t>之义。</a:t>
            </a:r>
            <a:endParaRPr lang="en-US" altLang="zh-CN" sz="16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imSun" panose="02010600030101010101" pitchFamily="2" charset="-122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SzPct val="80000"/>
              <a:buFont typeface="Wingdings" panose="05000000000000000000" pitchFamily="2" charset="2"/>
              <a:buChar char="u"/>
            </a:pPr>
            <a:r>
              <a:rPr lang="zh-CN" altLang="zh-CN" sz="16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imSun" panose="02010600030101010101" pitchFamily="2" charset="-122"/>
                <a:ea typeface="SimSun" panose="02010600030101010101" pitchFamily="2" charset="-122"/>
                <a:cs typeface="Times New Roman" panose="02020603050405020304" pitchFamily="18" charset="0"/>
              </a:rPr>
              <a:t>逻辑与推理是人工智能的核心问题。人类思维活动的一个重要功能就是设定一些逻辑规则，然后进行分析，如通过归纳和演绎等手段对现有观测现象由果溯因（归纳）或由因溯果（推理），从观测现象中得到结论。</a:t>
            </a:r>
          </a:p>
        </p:txBody>
      </p:sp>
      <p:sp>
        <p:nvSpPr>
          <p:cNvPr id="16" name="矩形 15"/>
          <p:cNvSpPr/>
          <p:nvPr/>
        </p:nvSpPr>
        <p:spPr>
          <a:xfrm>
            <a:off x="6184231" y="1693452"/>
            <a:ext cx="5340096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000" b="1" dirty="0">
                <a:solidFill>
                  <a:srgbClr val="FFFF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逻辑关心的问题</a:t>
            </a:r>
            <a:endParaRPr lang="zh-CN" altLang="en-US" sz="2000" dirty="0">
              <a:solidFill>
                <a:srgbClr val="FFFFC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AACE4A1F-1919-4ADC-A227-7016E568A363}"/>
              </a:ext>
            </a:extLst>
          </p:cNvPr>
          <p:cNvSpPr/>
          <p:nvPr/>
        </p:nvSpPr>
        <p:spPr>
          <a:xfrm>
            <a:off x="1200926" y="847710"/>
            <a:ext cx="7532876" cy="609273"/>
          </a:xfrm>
          <a:prstGeom prst="rect">
            <a:avLst/>
          </a:prstGeom>
          <a:gradFill>
            <a:gsLst>
              <a:gs pos="37000">
                <a:srgbClr val="019196"/>
              </a:gs>
              <a:gs pos="100000">
                <a:schemeClr val="bg1"/>
              </a:gs>
              <a:gs pos="83000">
                <a:srgbClr val="81C7C9"/>
              </a:gs>
            </a:gsLst>
            <a:lin ang="12000000" scaled="0"/>
          </a:gradFill>
          <a:ln w="22225">
            <a:noFill/>
          </a:ln>
          <a:effectLst>
            <a:outerShdw blurRad="50800" dist="38100" dir="5400000" algn="l" rotWithShape="0">
              <a:schemeClr val="tx1">
                <a:lumMod val="85000"/>
                <a:lumOff val="15000"/>
                <a:alpha val="10000"/>
              </a:schemeClr>
            </a:outerShdw>
          </a:effectLst>
        </p:spPr>
        <p:txBody>
          <a:bodyPr anchor="ctr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</a:pPr>
            <a:endParaRPr lang="zh-CN" altLang="en-US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0" name="组合 19">
            <a:extLst>
              <a:ext uri="{FF2B5EF4-FFF2-40B4-BE49-F238E27FC236}">
                <a16:creationId xmlns:a16="http://schemas.microsoft.com/office/drawing/2014/main" id="{59671535-8F84-4F12-98B0-0B0A75826450}"/>
              </a:ext>
            </a:extLst>
          </p:cNvPr>
          <p:cNvGrpSpPr/>
          <p:nvPr/>
        </p:nvGrpSpPr>
        <p:grpSpPr>
          <a:xfrm>
            <a:off x="1166320" y="670081"/>
            <a:ext cx="818922" cy="818922"/>
            <a:chOff x="4082479" y="2760704"/>
            <a:chExt cx="1485324" cy="1485324"/>
          </a:xfrm>
        </p:grpSpPr>
        <p:sp>
          <p:nvSpPr>
            <p:cNvPr id="21" name="立方体 20">
              <a:extLst>
                <a:ext uri="{FF2B5EF4-FFF2-40B4-BE49-F238E27FC236}">
                  <a16:creationId xmlns:a16="http://schemas.microsoft.com/office/drawing/2014/main" id="{FA252C5D-9383-44D9-B1D1-4B70FD6CEB4D}"/>
                </a:ext>
              </a:extLst>
            </p:cNvPr>
            <p:cNvSpPr/>
            <p:nvPr/>
          </p:nvSpPr>
          <p:spPr>
            <a:xfrm rot="2700000">
              <a:off x="4082479" y="2760704"/>
              <a:ext cx="1485324" cy="1485324"/>
            </a:xfrm>
            <a:prstGeom prst="cube">
              <a:avLst>
                <a:gd name="adj" fmla="val 6189"/>
              </a:avLst>
            </a:prstGeom>
            <a:gradFill>
              <a:gsLst>
                <a:gs pos="0">
                  <a:srgbClr val="016773"/>
                </a:gs>
                <a:gs pos="26000">
                  <a:srgbClr val="007684"/>
                </a:gs>
                <a:gs pos="100000">
                  <a:srgbClr val="81C7C9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grpSp>
          <p:nvGrpSpPr>
            <p:cNvPr id="22" name="组合 21">
              <a:extLst>
                <a:ext uri="{FF2B5EF4-FFF2-40B4-BE49-F238E27FC236}">
                  <a16:creationId xmlns:a16="http://schemas.microsoft.com/office/drawing/2014/main" id="{5DCDDFDA-B20E-45F2-8E69-57C0A1946248}"/>
                </a:ext>
              </a:extLst>
            </p:cNvPr>
            <p:cNvGrpSpPr/>
            <p:nvPr/>
          </p:nvGrpSpPr>
          <p:grpSpPr>
            <a:xfrm>
              <a:off x="4494284" y="2979307"/>
              <a:ext cx="607190" cy="1121821"/>
              <a:chOff x="9632752" y="7542709"/>
              <a:chExt cx="890113" cy="1644542"/>
            </a:xfrm>
          </p:grpSpPr>
          <p:sp>
            <p:nvSpPr>
              <p:cNvPr id="23" name="任意多边形 30">
                <a:extLst>
                  <a:ext uri="{FF2B5EF4-FFF2-40B4-BE49-F238E27FC236}">
                    <a16:creationId xmlns:a16="http://schemas.microsoft.com/office/drawing/2014/main" id="{D980DAB8-F318-4F82-8A16-57D0C380F55F}"/>
                  </a:ext>
                </a:extLst>
              </p:cNvPr>
              <p:cNvSpPr/>
              <p:nvPr/>
            </p:nvSpPr>
            <p:spPr>
              <a:xfrm>
                <a:off x="9632752" y="7542709"/>
                <a:ext cx="890113" cy="1151185"/>
              </a:xfrm>
              <a:custGeom>
                <a:avLst/>
                <a:gdLst/>
                <a:ahLst/>
                <a:cxnLst/>
                <a:rect l="l" t="t" r="r" b="b"/>
                <a:pathLst>
                  <a:path w="890113" h="1151186">
                    <a:moveTo>
                      <a:pt x="393664" y="0"/>
                    </a:moveTo>
                    <a:cubicBezTo>
                      <a:pt x="550582" y="0"/>
                      <a:pt x="672552" y="35975"/>
                      <a:pt x="759577" y="107924"/>
                    </a:cubicBezTo>
                    <a:cubicBezTo>
                      <a:pt x="846601" y="179873"/>
                      <a:pt x="890113" y="277175"/>
                      <a:pt x="890113" y="399832"/>
                    </a:cubicBezTo>
                    <a:cubicBezTo>
                      <a:pt x="890113" y="478633"/>
                      <a:pt x="872297" y="551267"/>
                      <a:pt x="836665" y="617735"/>
                    </a:cubicBezTo>
                    <a:cubicBezTo>
                      <a:pt x="801033" y="684202"/>
                      <a:pt x="739705" y="752725"/>
                      <a:pt x="652681" y="823303"/>
                    </a:cubicBezTo>
                    <a:cubicBezTo>
                      <a:pt x="579361" y="881548"/>
                      <a:pt x="532594" y="927287"/>
                      <a:pt x="512380" y="960520"/>
                    </a:cubicBezTo>
                    <a:cubicBezTo>
                      <a:pt x="492166" y="993754"/>
                      <a:pt x="482059" y="1033669"/>
                      <a:pt x="482059" y="1080264"/>
                    </a:cubicBezTo>
                    <a:lnTo>
                      <a:pt x="482059" y="1151186"/>
                    </a:lnTo>
                    <a:lnTo>
                      <a:pt x="210708" y="1151186"/>
                    </a:lnTo>
                    <a:lnTo>
                      <a:pt x="210708" y="1054568"/>
                    </a:lnTo>
                    <a:cubicBezTo>
                      <a:pt x="210708" y="981249"/>
                      <a:pt x="224070" y="918722"/>
                      <a:pt x="250794" y="866987"/>
                    </a:cubicBezTo>
                    <a:cubicBezTo>
                      <a:pt x="277518" y="815252"/>
                      <a:pt x="322400" y="763346"/>
                      <a:pt x="385441" y="711268"/>
                    </a:cubicBezTo>
                    <a:cubicBezTo>
                      <a:pt x="458076" y="651653"/>
                      <a:pt x="506384" y="602831"/>
                      <a:pt x="530367" y="564801"/>
                    </a:cubicBezTo>
                    <a:cubicBezTo>
                      <a:pt x="554350" y="526770"/>
                      <a:pt x="566342" y="485828"/>
                      <a:pt x="566342" y="441973"/>
                    </a:cubicBezTo>
                    <a:cubicBezTo>
                      <a:pt x="566342" y="391266"/>
                      <a:pt x="548526" y="350838"/>
                      <a:pt x="512894" y="320688"/>
                    </a:cubicBezTo>
                    <a:cubicBezTo>
                      <a:pt x="477262" y="290537"/>
                      <a:pt x="426213" y="275462"/>
                      <a:pt x="359745" y="275462"/>
                    </a:cubicBezTo>
                    <a:cubicBezTo>
                      <a:pt x="230922" y="275462"/>
                      <a:pt x="111007" y="323428"/>
                      <a:pt x="0" y="419361"/>
                    </a:cubicBezTo>
                    <a:lnTo>
                      <a:pt x="0" y="102785"/>
                    </a:lnTo>
                    <a:cubicBezTo>
                      <a:pt x="122656" y="34262"/>
                      <a:pt x="253877" y="0"/>
                      <a:pt x="393664" y="0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ffectLst>
                <a:outerShdw blurRad="63500" dist="25400" dir="2700000" sx="103000" sy="103000" algn="tl" rotWithShape="0">
                  <a:prstClr val="black">
                    <a:alpha val="15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schemeClr val="lt1"/>
                  </a:solidFill>
                </a:endParaRPr>
              </a:p>
            </p:txBody>
          </p:sp>
          <p:sp>
            <p:nvSpPr>
              <p:cNvPr id="25" name="任意多边形 28">
                <a:extLst>
                  <a:ext uri="{FF2B5EF4-FFF2-40B4-BE49-F238E27FC236}">
                    <a16:creationId xmlns:a16="http://schemas.microsoft.com/office/drawing/2014/main" id="{36F0D297-6E17-4FC1-8B17-F41816F83187}"/>
                  </a:ext>
                </a:extLst>
              </p:cNvPr>
              <p:cNvSpPr/>
              <p:nvPr/>
            </p:nvSpPr>
            <p:spPr>
              <a:xfrm>
                <a:off x="9792059" y="8843951"/>
                <a:ext cx="377218" cy="343300"/>
              </a:xfrm>
              <a:custGeom>
                <a:avLst/>
                <a:gdLst/>
                <a:ahLst/>
                <a:cxnLst/>
                <a:rect l="l" t="t" r="r" b="b"/>
                <a:pathLst>
                  <a:path w="377218" h="343300">
                    <a:moveTo>
                      <a:pt x="188095" y="0"/>
                    </a:moveTo>
                    <a:cubicBezTo>
                      <a:pt x="240173" y="0"/>
                      <a:pt x="284713" y="16788"/>
                      <a:pt x="321715" y="50364"/>
                    </a:cubicBezTo>
                    <a:cubicBezTo>
                      <a:pt x="358717" y="83941"/>
                      <a:pt x="377218" y="124711"/>
                      <a:pt x="377218" y="172677"/>
                    </a:cubicBezTo>
                    <a:cubicBezTo>
                      <a:pt x="377218" y="219273"/>
                      <a:pt x="358717" y="259359"/>
                      <a:pt x="321715" y="292935"/>
                    </a:cubicBezTo>
                    <a:cubicBezTo>
                      <a:pt x="284713" y="326512"/>
                      <a:pt x="240173" y="343300"/>
                      <a:pt x="188095" y="343300"/>
                    </a:cubicBezTo>
                    <a:cubicBezTo>
                      <a:pt x="135332" y="343300"/>
                      <a:pt x="90793" y="326340"/>
                      <a:pt x="54475" y="292421"/>
                    </a:cubicBezTo>
                    <a:cubicBezTo>
                      <a:pt x="18158" y="258503"/>
                      <a:pt x="0" y="218588"/>
                      <a:pt x="0" y="172677"/>
                    </a:cubicBezTo>
                    <a:cubicBezTo>
                      <a:pt x="0" y="125397"/>
                      <a:pt x="18158" y="84797"/>
                      <a:pt x="54475" y="50878"/>
                    </a:cubicBezTo>
                    <a:cubicBezTo>
                      <a:pt x="90793" y="16959"/>
                      <a:pt x="135332" y="0"/>
                      <a:pt x="188095" y="0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ffectLst>
                <a:outerShdw blurRad="63500" dist="25400" dir="2700000" sx="103000" sy="103000" algn="tl" rotWithShape="0">
                  <a:prstClr val="black">
                    <a:alpha val="15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schemeClr val="lt1"/>
                  </a:solidFill>
                </a:endParaRPr>
              </a:p>
            </p:txBody>
          </p:sp>
        </p:grpSp>
      </p:grpSp>
      <p:sp>
        <p:nvSpPr>
          <p:cNvPr id="2" name="矩形 1">
            <a:extLst>
              <a:ext uri="{FF2B5EF4-FFF2-40B4-BE49-F238E27FC236}">
                <a16:creationId xmlns:a16="http://schemas.microsoft.com/office/drawing/2014/main" id="{4CE490DE-CC0F-4768-8226-E6A4908D46A6}"/>
              </a:ext>
            </a:extLst>
          </p:cNvPr>
          <p:cNvSpPr/>
          <p:nvPr/>
        </p:nvSpPr>
        <p:spPr>
          <a:xfrm>
            <a:off x="2708119" y="813717"/>
            <a:ext cx="5812038" cy="5078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什么是逻辑：</a:t>
            </a:r>
            <a:r>
              <a:rPr lang="zh-CN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进行正确推理和充分论证的研究</a:t>
            </a:r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endParaRPr lang="zh-CN" altLang="en-US" sz="14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A56FBD7A-492F-4D3A-8E1A-42DABC7C983A}"/>
              </a:ext>
            </a:extLst>
          </p:cNvPr>
          <p:cNvSpPr/>
          <p:nvPr/>
        </p:nvSpPr>
        <p:spPr>
          <a:xfrm>
            <a:off x="241621" y="4898872"/>
            <a:ext cx="1538370" cy="95410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latin typeface="SimSun" panose="02010600030101010101" pitchFamily="2" charset="-122"/>
                <a:ea typeface="SimSun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lang="zh-CN" altLang="zh-CN" sz="1400" dirty="0">
                <a:latin typeface="SimSun" panose="02010600030101010101" pitchFamily="2" charset="-122"/>
                <a:ea typeface="SimSun" panose="02010600030101010101" pitchFamily="2" charset="-122"/>
                <a:cs typeface="Times New Roman" panose="02020603050405020304" pitchFamily="18" charset="0"/>
              </a:rPr>
              <a:t>亚里士多德</a:t>
            </a:r>
            <a:endParaRPr lang="en-US" altLang="zh-CN" sz="1400" dirty="0">
              <a:latin typeface="SimSun" panose="02010600030101010101" pitchFamily="2" charset="-122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pPr algn="ctr"/>
            <a:r>
              <a:rPr lang="zh-CN" altLang="en-US" sz="1400" dirty="0">
                <a:latin typeface="SimSun" panose="02010600030101010101" pitchFamily="2" charset="-122"/>
                <a:ea typeface="SimSun" panose="02010600030101010101" pitchFamily="2" charset="-122"/>
                <a:cs typeface="Times New Roman" panose="02020603050405020304" pitchFamily="18" charset="0"/>
              </a:rPr>
              <a:t>三段论</a:t>
            </a:r>
            <a:endParaRPr lang="en-US" altLang="zh-CN" sz="1400" dirty="0">
              <a:latin typeface="SimSun" panose="02010600030101010101" pitchFamily="2" charset="-122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pPr algn="ctr"/>
            <a:r>
              <a:rPr lang="en-US" altLang="zh-CN" sz="12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Syllogism</a:t>
            </a:r>
          </a:p>
          <a:p>
            <a:pPr algn="ctr"/>
            <a:r>
              <a:rPr lang="en-US" altLang="zh-CN" sz="12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deductive reasoning</a:t>
            </a:r>
            <a:endParaRPr lang="zh-CN" altLang="en-US" sz="12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9941FD44-C50E-42C6-928C-E3BE47210812}"/>
              </a:ext>
            </a:extLst>
          </p:cNvPr>
          <p:cNvSpPr/>
          <p:nvPr/>
        </p:nvSpPr>
        <p:spPr>
          <a:xfrm>
            <a:off x="2058894" y="4898872"/>
            <a:ext cx="1311576" cy="89255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zh-CN" sz="1400" dirty="0">
                <a:latin typeface="SimSun" panose="02010600030101010101" pitchFamily="2" charset="-122"/>
                <a:ea typeface="SimSun" panose="02010600030101010101" pitchFamily="2" charset="-122"/>
                <a:cs typeface="Times New Roman" panose="02020603050405020304" pitchFamily="18" charset="0"/>
              </a:rPr>
              <a:t>布尔</a:t>
            </a:r>
            <a:endParaRPr lang="en-US" altLang="zh-CN" sz="1400" dirty="0">
              <a:latin typeface="SimSun" panose="02010600030101010101" pitchFamily="2" charset="-122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pPr algn="ctr"/>
            <a:r>
              <a:rPr lang="zh-CN" altLang="zh-CN" sz="1400" dirty="0">
                <a:latin typeface="SimSun" panose="02010600030101010101" pitchFamily="2" charset="-122"/>
                <a:ea typeface="SimSun" panose="02010600030101010101" pitchFamily="2" charset="-122"/>
                <a:cs typeface="Times New Roman" panose="02020603050405020304" pitchFamily="18" charset="0"/>
              </a:rPr>
              <a:t>数理逻辑</a:t>
            </a:r>
            <a:endParaRPr lang="en-US" altLang="zh-CN" sz="1400" dirty="0">
              <a:latin typeface="SimSun" panose="02010600030101010101" pitchFamily="2" charset="-122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pPr algn="ctr"/>
            <a:r>
              <a:rPr lang="en-US" altLang="zh-CN" sz="12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algebraic logic</a:t>
            </a:r>
          </a:p>
          <a:p>
            <a:pPr algn="ctr"/>
            <a:r>
              <a:rPr lang="en-US" altLang="zh-CN" sz="12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the law of thought</a:t>
            </a:r>
            <a:endParaRPr lang="zh-CN" altLang="en-US" sz="12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2DCC956C-EBB4-4AEF-9AD2-8D54333C296F}"/>
              </a:ext>
            </a:extLst>
          </p:cNvPr>
          <p:cNvSpPr/>
          <p:nvPr/>
        </p:nvSpPr>
        <p:spPr>
          <a:xfrm>
            <a:off x="4161632" y="4957351"/>
            <a:ext cx="108234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zh-CN" sz="1400" dirty="0">
                <a:latin typeface="SimSun" panose="02010600030101010101" pitchFamily="2" charset="-122"/>
                <a:ea typeface="SimSun" panose="02010600030101010101" pitchFamily="2" charset="-122"/>
                <a:cs typeface="Times New Roman" panose="02020603050405020304" pitchFamily="18" charset="0"/>
              </a:rPr>
              <a:t>墨翟</a:t>
            </a:r>
            <a:endParaRPr lang="en-US" altLang="zh-CN" sz="1400" dirty="0">
              <a:latin typeface="SimSun" panose="02010600030101010101" pitchFamily="2" charset="-122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pPr algn="ctr"/>
            <a:r>
              <a:rPr lang="zh-CN" altLang="zh-CN" sz="1400" dirty="0">
                <a:latin typeface="SimSun" panose="02010600030101010101" pitchFamily="2" charset="-122"/>
                <a:ea typeface="SimSun" panose="02010600030101010101" pitchFamily="2" charset="-122"/>
                <a:cs typeface="Times New Roman" panose="02020603050405020304" pitchFamily="18" charset="0"/>
              </a:rPr>
              <a:t>名、辞、说</a:t>
            </a:r>
            <a:endParaRPr lang="zh-CN" altLang="en-US" sz="1400" dirty="0">
              <a:latin typeface="SimSun" panose="02010600030101010101" pitchFamily="2" charset="-122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2050" name="Picture 2" descr="https://cdn.britannica.com/84/87984-050-7C5547FE/Detail-Roman-copy-portrait-bust-Aristotle-Greek.jpg">
            <a:extLst>
              <a:ext uri="{FF2B5EF4-FFF2-40B4-BE49-F238E27FC236}">
                <a16:creationId xmlns:a16="http://schemas.microsoft.com/office/drawing/2014/main" id="{51893721-EB2B-4DB5-9E3D-E91E87F661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0737" y="3296100"/>
            <a:ext cx="1224225" cy="15351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https://upload.wikimedia.org/wikipedia/commons/thumb/c/ce/George_Boole_color.jpg/220px-George_Boole_color.jpg">
            <a:extLst>
              <a:ext uri="{FF2B5EF4-FFF2-40B4-BE49-F238E27FC236}">
                <a16:creationId xmlns:a16="http://schemas.microsoft.com/office/drawing/2014/main" id="{49268D11-4B15-4187-9409-F3292D3370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67684" y="3268427"/>
            <a:ext cx="1224225" cy="16304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" name="Picture 2" descr="https://bkimg.cdn.bcebos.com/pic/3bf33a87e950352a3b8a4fab5043fbf2b3118bae?x-bce-process=image/watermark,image_d2F0ZXIvYmFpa2U4MA==,g_7,xp_5,yp_5/format,f_auto">
            <a:extLst>
              <a:ext uri="{FF2B5EF4-FFF2-40B4-BE49-F238E27FC236}">
                <a16:creationId xmlns:a16="http://schemas.microsoft.com/office/drawing/2014/main" id="{2007A302-50A7-4990-93C9-233E150CF9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65984" y="3289941"/>
            <a:ext cx="1224225" cy="1591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33" name="组合 32">
            <a:extLst>
              <a:ext uri="{FF2B5EF4-FFF2-40B4-BE49-F238E27FC236}">
                <a16:creationId xmlns:a16="http://schemas.microsoft.com/office/drawing/2014/main" id="{D1EE71C8-CF29-4D5C-BA23-CA971D3B2A51}"/>
              </a:ext>
            </a:extLst>
          </p:cNvPr>
          <p:cNvGrpSpPr/>
          <p:nvPr/>
        </p:nvGrpSpPr>
        <p:grpSpPr>
          <a:xfrm>
            <a:off x="95362" y="1995397"/>
            <a:ext cx="5481415" cy="497934"/>
            <a:chOff x="4099943" y="2819853"/>
            <a:chExt cx="2570275" cy="497934"/>
          </a:xfrm>
        </p:grpSpPr>
        <p:sp>
          <p:nvSpPr>
            <p:cNvPr id="34" name="平行四边形 33">
              <a:extLst>
                <a:ext uri="{FF2B5EF4-FFF2-40B4-BE49-F238E27FC236}">
                  <a16:creationId xmlns:a16="http://schemas.microsoft.com/office/drawing/2014/main" id="{7362C0F4-103B-44EA-BA91-BCFBD8E4B62E}"/>
                </a:ext>
              </a:extLst>
            </p:cNvPr>
            <p:cNvSpPr/>
            <p:nvPr/>
          </p:nvSpPr>
          <p:spPr bwMode="auto">
            <a:xfrm>
              <a:off x="4099943" y="2849787"/>
              <a:ext cx="2547685" cy="468000"/>
            </a:xfrm>
            <a:prstGeom prst="parallelogram">
              <a:avLst/>
            </a:prstGeom>
            <a:solidFill>
              <a:srgbClr val="016773"/>
            </a:solidFill>
            <a:ln w="1905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en-US" dirty="0"/>
            </a:p>
          </p:txBody>
        </p:sp>
        <p:sp>
          <p:nvSpPr>
            <p:cNvPr id="35" name="平行四边形 34">
              <a:extLst>
                <a:ext uri="{FF2B5EF4-FFF2-40B4-BE49-F238E27FC236}">
                  <a16:creationId xmlns:a16="http://schemas.microsoft.com/office/drawing/2014/main" id="{635DE209-7B97-46B6-AAC1-B25369CDE0D2}"/>
                </a:ext>
              </a:extLst>
            </p:cNvPr>
            <p:cNvSpPr/>
            <p:nvPr/>
          </p:nvSpPr>
          <p:spPr bwMode="auto">
            <a:xfrm>
              <a:off x="4122533" y="2819853"/>
              <a:ext cx="2547685" cy="468000"/>
            </a:xfrm>
            <a:prstGeom prst="parallelogram">
              <a:avLst/>
            </a:prstGeom>
            <a:solidFill>
              <a:srgbClr val="FAFAFA"/>
            </a:solidFill>
            <a:ln w="19050">
              <a:gradFill>
                <a:gsLst>
                  <a:gs pos="65000">
                    <a:srgbClr val="81C7C9"/>
                  </a:gs>
                  <a:gs pos="100000">
                    <a:srgbClr val="016773"/>
                  </a:gs>
                </a:gsLst>
                <a:lin ang="17400000" scaled="0"/>
              </a:gradFill>
            </a:ln>
            <a:effectLst>
              <a:outerShdw blurRad="50800" dist="38100" dir="18900000" algn="bl" rotWithShape="0">
                <a:schemeClr val="bg2">
                  <a:lumMod val="75000"/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en-US" dirty="0"/>
            </a:p>
          </p:txBody>
        </p:sp>
        <p:sp>
          <p:nvSpPr>
            <p:cNvPr id="36" name="矩形 35">
              <a:extLst>
                <a:ext uri="{FF2B5EF4-FFF2-40B4-BE49-F238E27FC236}">
                  <a16:creationId xmlns:a16="http://schemas.microsoft.com/office/drawing/2014/main" id="{CCA44F32-797C-46E4-91D0-2B870DA37B85}"/>
                </a:ext>
              </a:extLst>
            </p:cNvPr>
            <p:cNvSpPr/>
            <p:nvPr/>
          </p:nvSpPr>
          <p:spPr>
            <a:xfrm>
              <a:off x="4216534" y="2853798"/>
              <a:ext cx="2359684" cy="33855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zh-CN" altLang="zh-CN" sz="16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SimSun" panose="02010600030101010101" pitchFamily="2" charset="-122"/>
                  <a:ea typeface="SimSun" panose="02010600030101010101" pitchFamily="2" charset="-122"/>
                  <a:cs typeface="Times New Roman" panose="02020603050405020304" pitchFamily="18" charset="0"/>
                </a:rPr>
                <a:t>符号主义人工智能</a:t>
              </a:r>
              <a:r>
                <a:rPr lang="en-US" altLang="zh-CN" sz="16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SimSun" panose="02010600030101010101" pitchFamily="2" charset="-122"/>
                  <a:ea typeface="SimSun" panose="02010600030101010101" pitchFamily="2" charset="-122"/>
                  <a:cs typeface="Times New Roman" panose="02020603050405020304" pitchFamily="18" charset="0"/>
                </a:rPr>
                <a:t>(symbolic AI)</a:t>
              </a:r>
              <a:r>
                <a:rPr lang="zh-CN" altLang="zh-CN" sz="16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SimSun" panose="02010600030101010101" pitchFamily="2" charset="-122"/>
                  <a:ea typeface="SimSun" panose="02010600030101010101" pitchFamily="2" charset="-122"/>
                  <a:cs typeface="Times New Roman" panose="02020603050405020304" pitchFamily="18" charset="0"/>
                </a:rPr>
                <a:t>就是脱胎于</a:t>
              </a:r>
              <a:r>
                <a:rPr lang="zh-CN" altLang="zh-CN" sz="1600" b="1" dirty="0">
                  <a:solidFill>
                    <a:srgbClr val="FF0000"/>
                  </a:solidFill>
                  <a:latin typeface="SimSun" panose="02010600030101010101" pitchFamily="2" charset="-122"/>
                  <a:ea typeface="SimSun" panose="02010600030101010101" pitchFamily="2" charset="-122"/>
                  <a:cs typeface="Times New Roman" panose="02020603050405020304" pitchFamily="18" charset="0"/>
                </a:rPr>
                <a:t>逻辑推理</a:t>
              </a:r>
              <a:endParaRPr lang="zh-CN" altLang="en-US" sz="1600" b="1" dirty="0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4287731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/>
        </p:nvGrpSpPr>
        <p:grpSpPr>
          <a:xfrm>
            <a:off x="1630479" y="566661"/>
            <a:ext cx="7464387" cy="497934"/>
            <a:chOff x="4099943" y="2819853"/>
            <a:chExt cx="2570275" cy="497934"/>
          </a:xfrm>
        </p:grpSpPr>
        <p:sp>
          <p:nvSpPr>
            <p:cNvPr id="4" name="平行四边形 3"/>
            <p:cNvSpPr/>
            <p:nvPr/>
          </p:nvSpPr>
          <p:spPr bwMode="auto">
            <a:xfrm>
              <a:off x="4099943" y="2849787"/>
              <a:ext cx="2547685" cy="468000"/>
            </a:xfrm>
            <a:prstGeom prst="parallelogram">
              <a:avLst/>
            </a:prstGeom>
            <a:solidFill>
              <a:srgbClr val="016773"/>
            </a:solidFill>
            <a:ln w="1905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en-US" dirty="0"/>
            </a:p>
          </p:txBody>
        </p:sp>
        <p:sp>
          <p:nvSpPr>
            <p:cNvPr id="5" name="平行四边形 4"/>
            <p:cNvSpPr/>
            <p:nvPr/>
          </p:nvSpPr>
          <p:spPr bwMode="auto">
            <a:xfrm>
              <a:off x="4122533" y="2819853"/>
              <a:ext cx="2547685" cy="468000"/>
            </a:xfrm>
            <a:prstGeom prst="parallelogram">
              <a:avLst/>
            </a:prstGeom>
            <a:solidFill>
              <a:srgbClr val="FAFAFA"/>
            </a:solidFill>
            <a:ln w="19050">
              <a:gradFill>
                <a:gsLst>
                  <a:gs pos="65000">
                    <a:srgbClr val="81C7C9"/>
                  </a:gs>
                  <a:gs pos="100000">
                    <a:srgbClr val="016773"/>
                  </a:gs>
                </a:gsLst>
                <a:lin ang="17400000" scaled="0"/>
              </a:gradFill>
            </a:ln>
            <a:effectLst>
              <a:outerShdw blurRad="50800" dist="38100" dir="18900000" algn="bl" rotWithShape="0">
                <a:schemeClr val="bg2">
                  <a:lumMod val="75000"/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en-US" dirty="0"/>
            </a:p>
          </p:txBody>
        </p:sp>
        <p:sp>
          <p:nvSpPr>
            <p:cNvPr id="6" name="矩形 5"/>
            <p:cNvSpPr/>
            <p:nvPr/>
          </p:nvSpPr>
          <p:spPr>
            <a:xfrm>
              <a:off x="4216534" y="2853798"/>
              <a:ext cx="2359684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zh-CN" altLang="en-US" sz="2400" b="1" dirty="0">
                  <a:solidFill>
                    <a:schemeClr val="accent1">
                      <a:lumMod val="75000"/>
                    </a:schemeClr>
                  </a:solidFill>
                  <a:latin typeface="宋体" panose="02010600030101010101" pitchFamily="2" charset="-122"/>
                </a:rPr>
                <a:t>认知基石和燃料是</a:t>
              </a:r>
              <a:r>
                <a:rPr lang="zh-CN" altLang="en-US" sz="2400" b="1" dirty="0">
                  <a:solidFill>
                    <a:srgbClr val="FF0000"/>
                  </a:solidFill>
                  <a:latin typeface="宋体" panose="02010600030101010101" pitchFamily="2" charset="-122"/>
                </a:rPr>
                <a:t>规范化的逻辑知识</a:t>
              </a:r>
            </a:p>
          </p:txBody>
        </p:sp>
      </p:grpSp>
      <p:sp>
        <p:nvSpPr>
          <p:cNvPr id="24" name="矩形: 圆角 6">
            <a:extLst>
              <a:ext uri="{FF2B5EF4-FFF2-40B4-BE49-F238E27FC236}">
                <a16:creationId xmlns:a16="http://schemas.microsoft.com/office/drawing/2014/main" id="{15B72201-1606-4C88-8F91-839FBCDACE0A}"/>
              </a:ext>
            </a:extLst>
          </p:cNvPr>
          <p:cNvSpPr/>
          <p:nvPr/>
        </p:nvSpPr>
        <p:spPr>
          <a:xfrm>
            <a:off x="449904" y="1690576"/>
            <a:ext cx="6253924" cy="4678326"/>
          </a:xfrm>
          <a:prstGeom prst="roundRect">
            <a:avLst>
              <a:gd name="adj" fmla="val 0"/>
            </a:avLst>
          </a:prstGeom>
          <a:gradFill>
            <a:gsLst>
              <a:gs pos="22000">
                <a:srgbClr val="016773"/>
              </a:gs>
              <a:gs pos="100000">
                <a:srgbClr val="00ABA5"/>
              </a:gs>
            </a:gsLst>
            <a:lin ang="3000000" scaled="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EABA8736-7A3C-423C-AE5A-BDA9E8807C56}"/>
              </a:ext>
            </a:extLst>
          </p:cNvPr>
          <p:cNvSpPr/>
          <p:nvPr/>
        </p:nvSpPr>
        <p:spPr>
          <a:xfrm>
            <a:off x="358548" y="1746998"/>
            <a:ext cx="6111364" cy="50348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u"/>
            </a:pPr>
            <a:r>
              <a:rPr lang="zh-CN" altLang="en-US" sz="16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imSun" panose="02010600030101010101" pitchFamily="2" charset="-122"/>
                <a:ea typeface="SimSun" panose="02010600030101010101" pitchFamily="2" charset="-122"/>
                <a:cs typeface="Times New Roman" panose="02020603050405020304" pitchFamily="18" charset="0"/>
              </a:rPr>
              <a:t>认知这个单词“</a:t>
            </a:r>
            <a:r>
              <a:rPr lang="en-US" altLang="zh-CN" sz="16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imSun" panose="02010600030101010101" pitchFamily="2" charset="-122"/>
                <a:ea typeface="SimSun" panose="02010600030101010101" pitchFamily="2" charset="-122"/>
                <a:cs typeface="Times New Roman" panose="02020603050405020304" pitchFamily="18" charset="0"/>
              </a:rPr>
              <a:t>cognition”</a:t>
            </a:r>
            <a:r>
              <a:rPr lang="zh-CN" altLang="en-US" sz="16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imSun" panose="02010600030101010101" pitchFamily="2" charset="-122"/>
                <a:ea typeface="SimSun" panose="02010600030101010101" pitchFamily="2" charset="-122"/>
                <a:cs typeface="Times New Roman" panose="02020603050405020304" pitchFamily="18" charset="0"/>
              </a:rPr>
              <a:t>来源于拉丁语“</a:t>
            </a:r>
            <a:r>
              <a:rPr lang="en-US" altLang="zh-CN" sz="160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imSun" panose="02010600030101010101" pitchFamily="2" charset="-122"/>
                <a:ea typeface="SimSun" panose="02010600030101010101" pitchFamily="2" charset="-122"/>
                <a:cs typeface="Times New Roman" panose="02020603050405020304" pitchFamily="18" charset="0"/>
              </a:rPr>
              <a:t>cognitio</a:t>
            </a:r>
            <a:r>
              <a:rPr lang="en-US" altLang="zh-CN" sz="16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imSun" panose="02010600030101010101" pitchFamily="2" charset="-122"/>
                <a:ea typeface="SimSun" panose="02010600030101010101" pitchFamily="2" charset="-122"/>
                <a:cs typeface="Times New Roman" panose="02020603050405020304" pitchFamily="18" charset="0"/>
              </a:rPr>
              <a:t>”</a:t>
            </a:r>
            <a:r>
              <a:rPr lang="zh-CN" altLang="en-US" sz="16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imSun" panose="02010600030101010101" pitchFamily="2" charset="-122"/>
                <a:ea typeface="SimSun" panose="02010600030101010101" pitchFamily="2" charset="-122"/>
                <a:cs typeface="Times New Roman" panose="02020603050405020304" pitchFamily="18" charset="0"/>
              </a:rPr>
              <a:t>，表示学习和知识。古希腊哲学认为人类理解世界的途径源于</a:t>
            </a:r>
            <a:r>
              <a:rPr lang="zh-CN" altLang="en-US" sz="1600" b="1" dirty="0">
                <a:solidFill>
                  <a:srgbClr val="FFFF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imSun" panose="02010600030101010101" pitchFamily="2" charset="-122"/>
                <a:ea typeface="SimSun" panose="02010600030101010101" pitchFamily="2" charset="-122"/>
                <a:cs typeface="Times New Roman" panose="02020603050405020304" pitchFamily="18" charset="0"/>
              </a:rPr>
              <a:t>“学习技能”和“解释已得知识”</a:t>
            </a:r>
            <a:r>
              <a:rPr lang="zh-CN" altLang="en-US" sz="16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imSun" panose="02010600030101010101" pitchFamily="2" charset="-122"/>
                <a:ea typeface="SimSun" panose="02010600030101010101" pitchFamily="2" charset="-122"/>
                <a:cs typeface="Times New Roman" panose="02020603050405020304" pitchFamily="18" charset="0"/>
              </a:rPr>
              <a:t>两种途径，从而“开始知道”。</a:t>
            </a:r>
          </a:p>
          <a:p>
            <a:pPr marL="342900" indent="-342900" algn="just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u"/>
            </a:pPr>
            <a:endParaRPr lang="en-US" altLang="zh-CN" sz="16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imSun" panose="02010600030101010101" pitchFamily="2" charset="-122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u"/>
            </a:pPr>
            <a:r>
              <a:rPr lang="zh-CN" altLang="en-US" sz="16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imSun" panose="02010600030101010101" pitchFamily="2" charset="-122"/>
                <a:ea typeface="SimSun" panose="02010600030101010101" pitchFamily="2" charset="-122"/>
                <a:cs typeface="Times New Roman" panose="02020603050405020304" pitchFamily="18" charset="0"/>
              </a:rPr>
              <a:t>早在</a:t>
            </a:r>
            <a:r>
              <a:rPr lang="en-US" altLang="zh-CN" sz="16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imSun" panose="02010600030101010101" pitchFamily="2" charset="-122"/>
                <a:ea typeface="SimSun" panose="02010600030101010101" pitchFamily="2" charset="-122"/>
                <a:cs typeface="Times New Roman" panose="02020603050405020304" pitchFamily="18" charset="0"/>
              </a:rPr>
              <a:t>13</a:t>
            </a:r>
            <a:r>
              <a:rPr lang="zh-CN" altLang="en-US" sz="16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imSun" panose="02010600030101010101" pitchFamily="2" charset="-122"/>
                <a:ea typeface="SimSun" panose="02010600030101010101" pitchFamily="2" charset="-122"/>
                <a:cs typeface="Times New Roman" panose="02020603050405020304" pitchFamily="18" charset="0"/>
              </a:rPr>
              <a:t>世纪末，加泰罗尼（现西班牙境内）诗人、哲学家、逻辑学家雷蒙</a:t>
            </a:r>
            <a:r>
              <a:rPr lang="en-US" altLang="zh-CN" sz="16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imSun" panose="02010600030101010101" pitchFamily="2" charset="-122"/>
                <a:ea typeface="SimSun" panose="02010600030101010101" pitchFamily="2" charset="-122"/>
                <a:cs typeface="Times New Roman" panose="02020603050405020304" pitchFamily="18" charset="0"/>
              </a:rPr>
              <a:t>·</a:t>
            </a:r>
            <a:r>
              <a:rPr lang="zh-CN" altLang="en-US" sz="16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imSun" panose="02010600030101010101" pitchFamily="2" charset="-122"/>
                <a:ea typeface="SimSun" panose="02010600030101010101" pitchFamily="2" charset="-122"/>
                <a:cs typeface="Times New Roman" panose="02020603050405020304" pitchFamily="18" charset="0"/>
              </a:rPr>
              <a:t>卢尔（</a:t>
            </a:r>
            <a:r>
              <a:rPr lang="en-US" altLang="zh-CN" sz="16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imSun" panose="02010600030101010101" pitchFamily="2" charset="-122"/>
                <a:ea typeface="SimSun" panose="02010600030101010101" pitchFamily="2" charset="-122"/>
                <a:cs typeface="Times New Roman" panose="02020603050405020304" pitchFamily="18" charset="0"/>
              </a:rPr>
              <a:t>Ramon </a:t>
            </a:r>
            <a:r>
              <a:rPr lang="en-US" altLang="zh-CN" sz="160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imSun" panose="02010600030101010101" pitchFamily="2" charset="-122"/>
                <a:ea typeface="SimSun" panose="02010600030101010101" pitchFamily="2" charset="-122"/>
                <a:cs typeface="Times New Roman" panose="02020603050405020304" pitchFamily="18" charset="0"/>
              </a:rPr>
              <a:t>Llull</a:t>
            </a:r>
            <a:r>
              <a:rPr lang="zh-CN" altLang="en-US" sz="16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imSun" panose="02010600030101010101" pitchFamily="2" charset="-122"/>
                <a:ea typeface="SimSun" panose="02010600030101010101" pitchFamily="2" charset="-122"/>
                <a:cs typeface="Times New Roman" panose="02020603050405020304" pitchFamily="18" charset="0"/>
              </a:rPr>
              <a:t>）提出了对知识进行规范化描述的</a:t>
            </a:r>
            <a:r>
              <a:rPr lang="zh-CN" altLang="en-US" sz="1600" b="1" dirty="0">
                <a:solidFill>
                  <a:srgbClr val="FFFF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imSun" panose="02010600030101010101" pitchFamily="2" charset="-122"/>
                <a:ea typeface="SimSun" panose="02010600030101010101" pitchFamily="2" charset="-122"/>
                <a:cs typeface="Times New Roman" panose="02020603050405020304" pitchFamily="18" charset="0"/>
              </a:rPr>
              <a:t>“知识树（</a:t>
            </a:r>
            <a:r>
              <a:rPr lang="en-US" altLang="zh-CN" sz="1600" b="1" dirty="0">
                <a:solidFill>
                  <a:srgbClr val="FFFF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imSun" panose="02010600030101010101" pitchFamily="2" charset="-122"/>
                <a:ea typeface="SimSun" panose="02010600030101010101" pitchFamily="2" charset="-122"/>
                <a:cs typeface="Times New Roman" panose="02020603050405020304" pitchFamily="18" charset="0"/>
              </a:rPr>
              <a:t>Tree of Knowledge</a:t>
            </a:r>
            <a:r>
              <a:rPr lang="zh-CN" altLang="en-US" sz="1600" b="1" dirty="0">
                <a:solidFill>
                  <a:srgbClr val="FFFF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imSun" panose="02010600030101010101" pitchFamily="2" charset="-122"/>
                <a:ea typeface="SimSun" panose="02010600030101010101" pitchFamily="2" charset="-122"/>
                <a:cs typeface="Times New Roman" panose="02020603050405020304" pitchFamily="18" charset="0"/>
              </a:rPr>
              <a:t>）或科学树（</a:t>
            </a:r>
            <a:r>
              <a:rPr lang="en-US" altLang="zh-CN" sz="1600" b="1" dirty="0">
                <a:solidFill>
                  <a:srgbClr val="FFFF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imSun" panose="02010600030101010101" pitchFamily="2" charset="-122"/>
                <a:ea typeface="SimSun" panose="02010600030101010101" pitchFamily="2" charset="-122"/>
                <a:cs typeface="Times New Roman" panose="02020603050405020304" pitchFamily="18" charset="0"/>
              </a:rPr>
              <a:t>Tree of Science</a:t>
            </a:r>
            <a:r>
              <a:rPr lang="zh-CN" altLang="en-US" sz="1600" b="1" dirty="0">
                <a:solidFill>
                  <a:srgbClr val="FFFF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imSun" panose="02010600030101010101" pitchFamily="2" charset="-122"/>
                <a:ea typeface="SimSun" panose="02010600030101010101" pitchFamily="2" charset="-122"/>
                <a:cs typeface="Times New Roman" panose="02020603050405020304" pitchFamily="18" charset="0"/>
              </a:rPr>
              <a:t>）</a:t>
            </a:r>
            <a:r>
              <a:rPr lang="zh-CN" altLang="en-US" sz="16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imSun" panose="02010600030101010101" pitchFamily="2" charset="-122"/>
                <a:ea typeface="SimSun" panose="02010600030101010101" pitchFamily="2" charset="-122"/>
                <a:cs typeface="Times New Roman" panose="02020603050405020304" pitchFamily="18" charset="0"/>
              </a:rPr>
              <a:t>”，这是目前最早的一种对知识进行规范化表示的努力。这种知识树的表示方法深刻影响了莱布尼兹（</a:t>
            </a:r>
            <a:r>
              <a:rPr lang="en-US" altLang="zh-CN" sz="16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imSun" panose="02010600030101010101" pitchFamily="2" charset="-122"/>
                <a:ea typeface="SimSun" panose="02010600030101010101" pitchFamily="2" charset="-122"/>
                <a:cs typeface="Times New Roman" panose="02020603050405020304" pitchFamily="18" charset="0"/>
              </a:rPr>
              <a:t>Leibnitz</a:t>
            </a:r>
            <a:r>
              <a:rPr lang="zh-CN" altLang="en-US" sz="16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imSun" panose="02010600030101010101" pitchFamily="2" charset="-122"/>
                <a:ea typeface="SimSun" panose="02010600030101010101" pitchFamily="2" charset="-122"/>
                <a:cs typeface="Times New Roman" panose="02020603050405020304" pitchFamily="18" charset="0"/>
              </a:rPr>
              <a:t>）所提出的</a:t>
            </a:r>
            <a:r>
              <a:rPr lang="zh-CN" altLang="en-US" sz="1600" b="1" dirty="0">
                <a:solidFill>
                  <a:srgbClr val="FFFF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imSun" panose="02010600030101010101" pitchFamily="2" charset="-122"/>
                <a:ea typeface="SimSun" panose="02010600030101010101" pitchFamily="2" charset="-122"/>
                <a:cs typeface="Times New Roman" panose="02020603050405020304" pitchFamily="18" charset="0"/>
              </a:rPr>
              <a:t>“人类思想字母表（</a:t>
            </a:r>
            <a:r>
              <a:rPr lang="en-US" altLang="zh-CN" sz="1600" b="1" dirty="0">
                <a:solidFill>
                  <a:srgbClr val="FFFF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imSun" panose="02010600030101010101" pitchFamily="2" charset="-122"/>
                <a:ea typeface="SimSun" panose="02010600030101010101" pitchFamily="2" charset="-122"/>
                <a:cs typeface="Times New Roman" panose="02020603050405020304" pitchFamily="18" charset="0"/>
              </a:rPr>
              <a:t>alphabet of human thought</a:t>
            </a:r>
            <a:r>
              <a:rPr lang="zh-CN" altLang="en-US" sz="1600" b="1" dirty="0">
                <a:solidFill>
                  <a:srgbClr val="FFFF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imSun" panose="02010600030101010101" pitchFamily="2" charset="-122"/>
                <a:ea typeface="SimSun" panose="02010600030101010101" pitchFamily="2" charset="-122"/>
                <a:cs typeface="Times New Roman" panose="02020603050405020304" pitchFamily="18" charset="0"/>
              </a:rPr>
              <a:t>）</a:t>
            </a:r>
            <a:r>
              <a:rPr lang="zh-CN" altLang="en-US" sz="16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imSun" panose="02010600030101010101" pitchFamily="2" charset="-122"/>
                <a:ea typeface="SimSun" panose="02010600030101010101" pitchFamily="2" charset="-122"/>
                <a:cs typeface="Times New Roman" panose="02020603050405020304" pitchFamily="18" charset="0"/>
              </a:rPr>
              <a:t>”，即对规范化表达知识按照规则进行组合等操作，就可构造思想机器，实现思维的计算。 </a:t>
            </a:r>
            <a:endParaRPr lang="en-US" altLang="zh-CN" sz="16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imSun" panose="02010600030101010101" pitchFamily="2" charset="-122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Clr>
                <a:schemeClr val="bg1"/>
              </a:buClr>
              <a:buSzPct val="80000"/>
            </a:pPr>
            <a:endParaRPr lang="en-US" altLang="zh-CN" sz="16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1B81D337-A3DD-4A7A-A371-577FE0FC8718}"/>
              </a:ext>
            </a:extLst>
          </p:cNvPr>
          <p:cNvSpPr/>
          <p:nvPr/>
        </p:nvSpPr>
        <p:spPr>
          <a:xfrm>
            <a:off x="7167323" y="2914172"/>
            <a:ext cx="4574773" cy="165474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200000"/>
              </a:lnSpc>
            </a:pPr>
            <a:r>
              <a:rPr lang="zh-CN" altLang="zh-CN" b="1" dirty="0">
                <a:solidFill>
                  <a:schemeClr val="accent1">
                    <a:lumMod val="75000"/>
                  </a:schemeClr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目前代表性知识表达方法有命题逻辑、谓词逻辑、产生式规则（</a:t>
            </a:r>
            <a:r>
              <a:rPr lang="en-US" altLang="zh-CN" b="1" dirty="0">
                <a:solidFill>
                  <a:schemeClr val="accent1">
                    <a:lumMod val="75000"/>
                  </a:schemeClr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production rule</a:t>
            </a:r>
            <a:r>
              <a:rPr lang="zh-CN" altLang="zh-CN" b="1" dirty="0">
                <a:solidFill>
                  <a:schemeClr val="accent1">
                    <a:lumMod val="75000"/>
                  </a:schemeClr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）、框架</a:t>
            </a:r>
            <a:r>
              <a:rPr lang="en-US" altLang="zh-CN" b="1" dirty="0">
                <a:solidFill>
                  <a:schemeClr val="accent1">
                    <a:lumMod val="75000"/>
                  </a:schemeClr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(frame)</a:t>
            </a:r>
            <a:r>
              <a:rPr lang="zh-CN" altLang="zh-CN" b="1" dirty="0">
                <a:solidFill>
                  <a:schemeClr val="accent1">
                    <a:lumMod val="75000"/>
                  </a:schemeClr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表示法以及知识图谱等。</a:t>
            </a:r>
            <a:endParaRPr lang="zh-CN" altLang="en-US" b="1" dirty="0">
              <a:solidFill>
                <a:schemeClr val="accent1">
                  <a:lumMod val="75000"/>
                </a:schemeClr>
              </a:solidFill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1797567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35" name="Picture 5" descr="wumpus-world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1676400"/>
            <a:ext cx="4625379" cy="45304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矩形 2"/>
          <p:cNvSpPr/>
          <p:nvPr/>
        </p:nvSpPr>
        <p:spPr>
          <a:xfrm>
            <a:off x="5720614" y="1807798"/>
            <a:ext cx="6022206" cy="37668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eaLnBrk="1" hangingPunct="1">
              <a:lnSpc>
                <a:spcPct val="150000"/>
              </a:lnSpc>
              <a:defRPr/>
            </a:pPr>
            <a:r>
              <a:rPr lang="en-US" altLang="zh-CN" sz="2400" b="1" dirty="0" err="1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Wumpus</a:t>
            </a:r>
            <a:r>
              <a:rPr lang="zh-CN" altLang="en-US" sz="2400" b="1" dirty="0">
                <a:solidFill>
                  <a:schemeClr val="accent1">
                    <a:lumMod val="75000"/>
                  </a:schemeClr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世界环境</a:t>
            </a:r>
            <a:r>
              <a:rPr lang="zh-CN" altLang="en-US" sz="2400" b="1" dirty="0">
                <a:solidFill>
                  <a:schemeClr val="accent1">
                    <a:lumMod val="75000"/>
                  </a:schemeClr>
                </a:solidFill>
                <a:latin typeface="宋体" panose="02010600030101010101" pitchFamily="2" charset="-122"/>
              </a:rPr>
              <a:t>：</a:t>
            </a:r>
            <a:endParaRPr lang="en-US" altLang="zh-CN" sz="2400" b="1" dirty="0">
              <a:solidFill>
                <a:schemeClr val="accent1">
                  <a:lumMod val="75000"/>
                </a:schemeClr>
              </a:solidFill>
              <a:latin typeface="宋体" panose="02010600030101010101" pitchFamily="2" charset="-122"/>
            </a:endParaRPr>
          </a:p>
          <a:p>
            <a:pPr lvl="1" algn="just">
              <a:lnSpc>
                <a:spcPct val="150000"/>
              </a:lnSpc>
              <a:defRPr/>
            </a:pPr>
            <a:r>
              <a:rPr lang="zh-CN" altLang="en-US" sz="1600" dirty="0">
                <a:latin typeface="SimSun" panose="02010600030101010101" pitchFamily="2" charset="-122"/>
                <a:ea typeface="SimSun" panose="02010600030101010101" pitchFamily="2" charset="-122"/>
              </a:rPr>
              <a:t>由多个房间组成并连接起来的</a:t>
            </a:r>
            <a:r>
              <a:rPr lang="zh-CN" altLang="en-US" sz="1600" b="1" dirty="0">
                <a:latin typeface="SimSun" panose="02010600030101010101" pitchFamily="2" charset="-122"/>
                <a:ea typeface="SimSun" panose="02010600030101010101" pitchFamily="2" charset="-122"/>
              </a:rPr>
              <a:t>山洞</a:t>
            </a:r>
            <a:r>
              <a:rPr lang="zh-CN" altLang="en-US" sz="1600" dirty="0">
                <a:latin typeface="SimSun" panose="02010600030101010101" pitchFamily="2" charset="-122"/>
                <a:ea typeface="SimSun" panose="02010600030101010101" pitchFamily="2" charset="-122"/>
              </a:rPr>
              <a:t>。</a:t>
            </a:r>
            <a:endParaRPr lang="en-US" altLang="zh-CN" sz="1600" dirty="0"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pPr lvl="1" algn="just">
              <a:lnSpc>
                <a:spcPct val="150000"/>
              </a:lnSpc>
              <a:defRPr/>
            </a:pPr>
            <a:r>
              <a:rPr lang="zh-CN" altLang="en-US" sz="1600" dirty="0">
                <a:latin typeface="SimSun" panose="02010600030101010101" pitchFamily="2" charset="-122"/>
                <a:ea typeface="SimSun" panose="02010600030101010101" pitchFamily="2" charset="-122"/>
              </a:rPr>
              <a:t>在洞穴某处隐藏着一只</a:t>
            </a:r>
            <a:r>
              <a:rPr lang="en-US" altLang="zh-CN" sz="1600" b="1" dirty="0" err="1">
                <a:latin typeface="SimSun" panose="02010600030101010101" pitchFamily="2" charset="-122"/>
                <a:ea typeface="SimSun" panose="02010600030101010101" pitchFamily="2" charset="-122"/>
              </a:rPr>
              <a:t>Wumpus</a:t>
            </a:r>
            <a:r>
              <a:rPr lang="zh-CN" altLang="en-US" sz="1600" dirty="0">
                <a:latin typeface="SimSun" panose="02010600030101010101" pitchFamily="2" charset="-122"/>
                <a:ea typeface="SimSun" panose="02010600030101010101" pitchFamily="2" charset="-122"/>
              </a:rPr>
              <a:t>，会吃掉进入它房间的任何人。</a:t>
            </a:r>
            <a:r>
              <a:rPr lang="en-US" altLang="zh-CN" sz="1600" dirty="0" err="1">
                <a:latin typeface="SimSun" panose="02010600030101010101" pitchFamily="2" charset="-122"/>
                <a:ea typeface="SimSun" panose="02010600030101010101" pitchFamily="2" charset="-122"/>
              </a:rPr>
              <a:t>Wumpus</a:t>
            </a:r>
            <a:r>
              <a:rPr lang="zh-CN" altLang="en-US" sz="1600" dirty="0">
                <a:latin typeface="SimSun" panose="02010600030101010101" pitchFamily="2" charset="-122"/>
                <a:ea typeface="SimSun" panose="02010600030101010101" pitchFamily="2" charset="-122"/>
              </a:rPr>
              <a:t>周围有臭气</a:t>
            </a:r>
            <a:r>
              <a:rPr lang="en-US" altLang="zh-CN" sz="1600" b="1" dirty="0">
                <a:latin typeface="SimSun" panose="02010600030101010101" pitchFamily="2" charset="-122"/>
                <a:ea typeface="SimSun" panose="02010600030101010101" pitchFamily="2" charset="-122"/>
              </a:rPr>
              <a:t>Stench</a:t>
            </a:r>
            <a:endParaRPr lang="en-US" altLang="zh-CN" sz="1600" dirty="0"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pPr lvl="1" algn="just">
              <a:lnSpc>
                <a:spcPct val="150000"/>
              </a:lnSpc>
              <a:defRPr/>
            </a:pPr>
            <a:r>
              <a:rPr lang="zh-CN" altLang="en-US" sz="1600" dirty="0">
                <a:latin typeface="SimSun" panose="02010600030101010101" pitchFamily="2" charset="-122"/>
                <a:ea typeface="SimSun" panose="02010600030101010101" pitchFamily="2" charset="-122"/>
              </a:rPr>
              <a:t>某些房间是</a:t>
            </a:r>
            <a:r>
              <a:rPr lang="zh-CN" altLang="en-US" sz="1600" b="1" dirty="0">
                <a:latin typeface="SimSun" panose="02010600030101010101" pitchFamily="2" charset="-122"/>
                <a:ea typeface="SimSun" panose="02010600030101010101" pitchFamily="2" charset="-122"/>
              </a:rPr>
              <a:t>无底洞</a:t>
            </a:r>
            <a:r>
              <a:rPr lang="en-US" altLang="zh-CN" sz="1600" b="1" dirty="0">
                <a:latin typeface="SimSun" panose="02010600030101010101" pitchFamily="2" charset="-122"/>
                <a:ea typeface="SimSun" panose="02010600030101010101" pitchFamily="2" charset="-122"/>
              </a:rPr>
              <a:t>PIT</a:t>
            </a:r>
            <a:r>
              <a:rPr lang="zh-CN" altLang="en-US" sz="1600" dirty="0">
                <a:latin typeface="SimSun" panose="02010600030101010101" pitchFamily="2" charset="-122"/>
                <a:ea typeface="SimSun" panose="02010600030101010101" pitchFamily="2" charset="-122"/>
              </a:rPr>
              <a:t>，任何人漫游到这些房间都会被无底洞吞噬。无底洞周围有微风</a:t>
            </a:r>
            <a:r>
              <a:rPr lang="en-US" altLang="zh-CN" sz="1600" b="1" dirty="0">
                <a:latin typeface="SimSun" panose="02010600030101010101" pitchFamily="2" charset="-122"/>
                <a:ea typeface="SimSun" panose="02010600030101010101" pitchFamily="2" charset="-122"/>
              </a:rPr>
              <a:t>Breeze</a:t>
            </a:r>
          </a:p>
          <a:p>
            <a:pPr lvl="1" algn="just">
              <a:lnSpc>
                <a:spcPct val="150000"/>
              </a:lnSpc>
              <a:defRPr/>
            </a:pPr>
            <a:r>
              <a:rPr lang="zh-CN" altLang="en-US" sz="1600" dirty="0">
                <a:latin typeface="SimSun" panose="02010600030101010101" pitchFamily="2" charset="-122"/>
                <a:ea typeface="SimSun" panose="02010600030101010101" pitchFamily="2" charset="-122"/>
              </a:rPr>
              <a:t>生活在该环境的唯一希望是存在</a:t>
            </a:r>
            <a:r>
              <a:rPr lang="zh-CN" altLang="en-US" sz="1600" b="1" dirty="0">
                <a:latin typeface="SimSun" panose="02010600030101010101" pitchFamily="2" charset="-122"/>
                <a:ea typeface="SimSun" panose="02010600030101010101" pitchFamily="2" charset="-122"/>
              </a:rPr>
              <a:t>发现一堆金子</a:t>
            </a:r>
            <a:r>
              <a:rPr lang="zh-CN" altLang="en-US" sz="1600" dirty="0">
                <a:latin typeface="SimSun" panose="02010600030101010101" pitchFamily="2" charset="-122"/>
                <a:ea typeface="SimSun" panose="02010600030101010101" pitchFamily="2" charset="-122"/>
              </a:rPr>
              <a:t>的可能性。</a:t>
            </a:r>
            <a:endParaRPr lang="en-US" altLang="zh-CN" sz="1600" dirty="0">
              <a:latin typeface="+mn-ea"/>
            </a:endParaRPr>
          </a:p>
          <a:p>
            <a:pPr algn="just">
              <a:lnSpc>
                <a:spcPct val="150000"/>
              </a:lnSpc>
              <a:defRPr/>
            </a:pPr>
            <a:r>
              <a:rPr lang="en-US" altLang="zh-CN" sz="24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Agent</a:t>
            </a:r>
            <a:r>
              <a:rPr lang="zh-CN" altLang="en-US" sz="2400" b="1" dirty="0">
                <a:solidFill>
                  <a:schemeClr val="accent1">
                    <a:lumMod val="75000"/>
                  </a:schemeClr>
                </a:solidFill>
                <a:latin typeface="宋体" panose="02010600030101010101" pitchFamily="2" charset="-122"/>
              </a:rPr>
              <a:t>：</a:t>
            </a:r>
            <a:endParaRPr lang="en-US" altLang="zh-CN" sz="2400" b="1" dirty="0">
              <a:solidFill>
                <a:schemeClr val="accent1">
                  <a:lumMod val="75000"/>
                </a:schemeClr>
              </a:solidFill>
              <a:latin typeface="宋体" panose="02010600030101010101" pitchFamily="2" charset="-122"/>
            </a:endParaRPr>
          </a:p>
          <a:p>
            <a:pPr algn="just">
              <a:lnSpc>
                <a:spcPct val="150000"/>
              </a:lnSpc>
              <a:defRPr/>
            </a:pPr>
            <a:r>
              <a:rPr lang="zh-CN" altLang="en-US" dirty="0">
                <a:latin typeface="SimSun" panose="02010600030101010101" pitchFamily="2" charset="-122"/>
                <a:ea typeface="SimSun" panose="02010600030101010101" pitchFamily="2" charset="-122"/>
              </a:rPr>
              <a:t>可以移动到相邻房间，可以射杀</a:t>
            </a:r>
            <a:r>
              <a:rPr lang="en-US" altLang="zh-CN" dirty="0" err="1">
                <a:latin typeface="SimSun" panose="02010600030101010101" pitchFamily="2" charset="-122"/>
                <a:ea typeface="SimSun" panose="02010600030101010101" pitchFamily="2" charset="-122"/>
              </a:rPr>
              <a:t>Wumpus</a:t>
            </a:r>
            <a:r>
              <a:rPr lang="zh-CN" altLang="en-US" dirty="0">
                <a:latin typeface="SimSun" panose="02010600030101010101" pitchFamily="2" charset="-122"/>
                <a:ea typeface="SimSun" panose="02010600030101010101" pitchFamily="2" charset="-122"/>
              </a:rPr>
              <a:t>，但是只有一支箭。</a:t>
            </a: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B1A9DCE2-7534-7058-C853-B24BEBCF131D}"/>
              </a:ext>
            </a:extLst>
          </p:cNvPr>
          <p:cNvSpPr txBox="1">
            <a:spLocks/>
          </p:cNvSpPr>
          <p:nvPr/>
        </p:nvSpPr>
        <p:spPr>
          <a:xfrm>
            <a:off x="385814" y="47495"/>
            <a:ext cx="325253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altLang="zh-CN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Wumpus world</a:t>
            </a:r>
            <a:endParaRPr lang="zh-CN" altLang="en-US" sz="32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864374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 rotWithShape="1">
          <a:blip r:embed="rId3"/>
          <a:srcRect b="14406"/>
          <a:stretch/>
        </p:blipFill>
        <p:spPr>
          <a:xfrm>
            <a:off x="884833" y="1736477"/>
            <a:ext cx="7307752" cy="4176693"/>
          </a:xfrm>
          <a:prstGeom prst="rect">
            <a:avLst/>
          </a:prstGeom>
        </p:spPr>
      </p:pic>
      <p:sp>
        <p:nvSpPr>
          <p:cNvPr id="2" name="矩形 1"/>
          <p:cNvSpPr/>
          <p:nvPr/>
        </p:nvSpPr>
        <p:spPr>
          <a:xfrm>
            <a:off x="8192585" y="4186618"/>
            <a:ext cx="3683188" cy="646331"/>
          </a:xfrm>
          <a:prstGeom prst="rect">
            <a:avLst/>
          </a:prstGeom>
          <a:ln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pPr>
              <a:defRPr/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percept </a:t>
            </a:r>
          </a:p>
          <a:p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[Stench, Breeze, Glitter,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Crash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Yell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] </a:t>
            </a:r>
          </a:p>
        </p:txBody>
      </p:sp>
      <p:sp>
        <p:nvSpPr>
          <p:cNvPr id="4" name="标题 1">
            <a:extLst>
              <a:ext uri="{FF2B5EF4-FFF2-40B4-BE49-F238E27FC236}">
                <a16:creationId xmlns:a16="http://schemas.microsoft.com/office/drawing/2014/main" id="{71057BBE-A30C-7E73-17D7-A3068D71D2EC}"/>
              </a:ext>
            </a:extLst>
          </p:cNvPr>
          <p:cNvSpPr txBox="1">
            <a:spLocks/>
          </p:cNvSpPr>
          <p:nvPr/>
        </p:nvSpPr>
        <p:spPr>
          <a:xfrm>
            <a:off x="385814" y="47495"/>
            <a:ext cx="7689781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altLang="zh-CN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Wumpus world</a:t>
            </a:r>
            <a:r>
              <a:rPr lang="zh-CN" alt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PEAS</a:t>
            </a:r>
            <a:r>
              <a:rPr lang="zh-CN" alt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description</a:t>
            </a:r>
            <a:endParaRPr lang="zh-CN" altLang="en-US" sz="32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645868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07" name="图片 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74838" y="1777207"/>
            <a:ext cx="6108700" cy="4321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1508" name="Picture 5" descr="wumpus-world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70575" y="3402875"/>
            <a:ext cx="2895600" cy="2835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1509" name="矩形 2"/>
          <p:cNvSpPr>
            <a:spLocks noChangeArrowheads="1"/>
          </p:cNvSpPr>
          <p:nvPr/>
        </p:nvSpPr>
        <p:spPr bwMode="auto">
          <a:xfrm>
            <a:off x="727075" y="6098382"/>
            <a:ext cx="7256463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1800" dirty="0">
                <a:solidFill>
                  <a:srgbClr val="FF0000"/>
                </a:solidFill>
                <a:cs typeface="Times New Roman" panose="02020603050405020304" pitchFamily="18" charset="0"/>
              </a:rPr>
              <a:t>The ﬁrst percept </a:t>
            </a:r>
            <a:r>
              <a:rPr lang="zh-CN" altLang="en-US" sz="1800" dirty="0">
                <a:cs typeface="Times New Roman" panose="02020603050405020304" pitchFamily="18" charset="0"/>
              </a:rPr>
              <a:t>is [None,None,None,None,None</a:t>
            </a:r>
            <a:r>
              <a:rPr lang="en-US" altLang="zh-CN" sz="1800" dirty="0">
                <a:cs typeface="Times New Roman" panose="02020603050405020304" pitchFamily="18" charset="0"/>
              </a:rPr>
              <a:t>]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zh-CN" altLang="en-US" sz="1800" u="sng" dirty="0">
                <a:cs typeface="Times New Roman" panose="02020603050405020304" pitchFamily="18" charset="0"/>
              </a:rPr>
              <a:t>conclude [1,2] and [2,1] are OK</a:t>
            </a:r>
          </a:p>
        </p:txBody>
      </p:sp>
      <p:sp>
        <p:nvSpPr>
          <p:cNvPr id="2" name="矩形 1"/>
          <p:cNvSpPr/>
          <p:nvPr/>
        </p:nvSpPr>
        <p:spPr>
          <a:xfrm>
            <a:off x="1346436" y="1258387"/>
            <a:ext cx="739927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000" dirty="0">
                <a:latin typeface="SimSun" panose="02010600030101010101" pitchFamily="2" charset="-122"/>
                <a:ea typeface="SimSun" panose="02010600030101010101" pitchFamily="2" charset="-122"/>
              </a:rPr>
              <a:t>首先，定义感知</a:t>
            </a:r>
            <a:r>
              <a:rPr lang="en-US" altLang="zh-CN" sz="2000" dirty="0">
                <a:latin typeface="SimSun" panose="02010600030101010101" pitchFamily="2" charset="-122"/>
                <a:ea typeface="SimSun" panose="02010600030101010101" pitchFamily="2" charset="-122"/>
              </a:rPr>
              <a:t>(</a:t>
            </a:r>
            <a:r>
              <a:rPr lang="zh-CN" altLang="en-US" sz="2000" dirty="0">
                <a:latin typeface="SimSun" panose="02010600030101010101" pitchFamily="2" charset="-122"/>
                <a:ea typeface="SimSun" panose="02010600030101010101" pitchFamily="2" charset="-122"/>
              </a:rPr>
              <a:t>状态描述</a:t>
            </a:r>
            <a:r>
              <a:rPr lang="en-US" altLang="zh-CN" sz="2000" dirty="0">
                <a:latin typeface="SimSun" panose="02010600030101010101" pitchFamily="2" charset="-122"/>
                <a:ea typeface="SimSun" panose="02010600030101010101" pitchFamily="2" charset="-122"/>
              </a:rPr>
              <a:t>)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： [Stench, Breeze, Glitter, 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Crash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Yell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] </a:t>
            </a:r>
          </a:p>
        </p:txBody>
      </p:sp>
      <p:sp>
        <p:nvSpPr>
          <p:cNvPr id="3" name="矩形 2"/>
          <p:cNvSpPr/>
          <p:nvPr/>
        </p:nvSpPr>
        <p:spPr>
          <a:xfrm>
            <a:off x="5606143" y="6329590"/>
            <a:ext cx="1882095" cy="430439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rgbClr val="FF0000"/>
                </a:solidFill>
              </a:rPr>
              <a:t>Action</a:t>
            </a:r>
            <a:r>
              <a:rPr lang="zh-CN" altLang="en-US" dirty="0">
                <a:solidFill>
                  <a:srgbClr val="FF0000"/>
                </a:solidFill>
              </a:rPr>
              <a:t>：</a:t>
            </a:r>
            <a:r>
              <a:rPr lang="en-US" altLang="zh-CN" dirty="0">
                <a:solidFill>
                  <a:srgbClr val="FF0000"/>
                </a:solidFill>
              </a:rPr>
              <a:t>[2,1]</a:t>
            </a:r>
            <a:endParaRPr lang="zh-CN" altLang="en-US" dirty="0"/>
          </a:p>
        </p:txBody>
      </p:sp>
      <p:sp>
        <p:nvSpPr>
          <p:cNvPr id="6" name="标题 1">
            <a:extLst>
              <a:ext uri="{FF2B5EF4-FFF2-40B4-BE49-F238E27FC236}">
                <a16:creationId xmlns:a16="http://schemas.microsoft.com/office/drawing/2014/main" id="{4C29DA6A-F1AF-0817-5E66-1B423B087897}"/>
              </a:ext>
            </a:extLst>
          </p:cNvPr>
          <p:cNvSpPr txBox="1">
            <a:spLocks/>
          </p:cNvSpPr>
          <p:nvPr/>
        </p:nvSpPr>
        <p:spPr>
          <a:xfrm>
            <a:off x="385814" y="47495"/>
            <a:ext cx="7689781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altLang="zh-CN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Exploring a </a:t>
            </a:r>
            <a:r>
              <a:rPr lang="en-US" altLang="zh-CN" sz="3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wumpus</a:t>
            </a:r>
            <a:r>
              <a:rPr lang="en-US" altLang="zh-CN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world</a:t>
            </a:r>
            <a:endParaRPr lang="zh-CN" altLang="en-US" sz="32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476030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531" name="Picture 5" descr="wumpus-world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62800" y="2514600"/>
            <a:ext cx="2743200" cy="2686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2532" name="图片 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62139" y="1371600"/>
            <a:ext cx="4300537" cy="4319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533" name="矩形 2"/>
          <p:cNvSpPr>
            <a:spLocks noChangeArrowheads="1"/>
          </p:cNvSpPr>
          <p:nvPr/>
        </p:nvSpPr>
        <p:spPr bwMode="auto">
          <a:xfrm>
            <a:off x="6984732" y="5044857"/>
            <a:ext cx="601980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zh-CN" sz="1800" dirty="0">
              <a:cs typeface="Times New Roman" panose="02020603050405020304" pitchFamily="18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1800" dirty="0">
                <a:cs typeface="Times New Roman" panose="02020603050405020304" pitchFamily="18" charset="0"/>
              </a:rPr>
              <a:t>there must be a pit in [2,2] or [3,1] or both</a:t>
            </a:r>
            <a:endParaRPr lang="zh-CN" altLang="en-US" sz="1800" dirty="0">
              <a:cs typeface="Times New Roman" panose="02020603050405020304" pitchFamily="18" charset="0"/>
            </a:endParaRPr>
          </a:p>
        </p:txBody>
      </p:sp>
      <p:sp>
        <p:nvSpPr>
          <p:cNvPr id="22534" name="矩形 3"/>
          <p:cNvSpPr>
            <a:spLocks noChangeArrowheads="1"/>
          </p:cNvSpPr>
          <p:nvPr/>
        </p:nvSpPr>
        <p:spPr bwMode="auto">
          <a:xfrm>
            <a:off x="1615757" y="5727701"/>
            <a:ext cx="479330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400" dirty="0">
                <a:latin typeface="Arial" panose="020B0604020202020204" pitchFamily="34" charset="0"/>
              </a:rPr>
              <a:t> </a:t>
            </a:r>
            <a:r>
              <a:rPr lang="en-US" altLang="zh-CN" sz="1800" dirty="0">
                <a:solidFill>
                  <a:srgbClr val="FF0000"/>
                </a:solidFill>
                <a:cs typeface="Times New Roman" panose="02020603050405020304" pitchFamily="18" charset="0"/>
              </a:rPr>
              <a:t>percept</a:t>
            </a:r>
            <a:r>
              <a:rPr lang="en-US" altLang="zh-CN" sz="1800" dirty="0">
                <a:cs typeface="Times New Roman" panose="02020603050405020304" pitchFamily="18" charset="0"/>
              </a:rPr>
              <a:t>  </a:t>
            </a:r>
            <a:r>
              <a:rPr lang="zh-CN" altLang="en-US" sz="1800" dirty="0">
                <a:cs typeface="Times New Roman" panose="02020603050405020304" pitchFamily="18" charset="0"/>
              </a:rPr>
              <a:t>[None,Breeze,None,None,None] in [2,1]</a:t>
            </a:r>
          </a:p>
        </p:txBody>
      </p:sp>
      <p:sp>
        <p:nvSpPr>
          <p:cNvPr id="7" name="矩形 6"/>
          <p:cNvSpPr/>
          <p:nvPr/>
        </p:nvSpPr>
        <p:spPr>
          <a:xfrm>
            <a:off x="5666618" y="6342192"/>
            <a:ext cx="1882095" cy="430439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rgbClr val="FF0000"/>
                </a:solidFill>
              </a:rPr>
              <a:t>Action</a:t>
            </a:r>
            <a:r>
              <a:rPr lang="zh-CN" altLang="en-US" dirty="0">
                <a:solidFill>
                  <a:srgbClr val="FF0000"/>
                </a:solidFill>
              </a:rPr>
              <a:t>：</a:t>
            </a:r>
            <a:r>
              <a:rPr lang="en-US" altLang="zh-CN" dirty="0">
                <a:solidFill>
                  <a:srgbClr val="FF0000"/>
                </a:solidFill>
              </a:rPr>
              <a:t>[1,2]</a:t>
            </a:r>
            <a:endParaRPr lang="zh-CN" altLang="en-US" dirty="0"/>
          </a:p>
        </p:txBody>
      </p:sp>
      <p:sp>
        <p:nvSpPr>
          <p:cNvPr id="4" name="标题 1">
            <a:extLst>
              <a:ext uri="{FF2B5EF4-FFF2-40B4-BE49-F238E27FC236}">
                <a16:creationId xmlns:a16="http://schemas.microsoft.com/office/drawing/2014/main" id="{2C8F61C9-6275-3948-A710-888607164526}"/>
              </a:ext>
            </a:extLst>
          </p:cNvPr>
          <p:cNvSpPr txBox="1">
            <a:spLocks/>
          </p:cNvSpPr>
          <p:nvPr/>
        </p:nvSpPr>
        <p:spPr>
          <a:xfrm>
            <a:off x="385814" y="47495"/>
            <a:ext cx="7689781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altLang="zh-CN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Exploring a </a:t>
            </a:r>
            <a:r>
              <a:rPr lang="en-US" altLang="zh-CN" sz="3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wumpus</a:t>
            </a:r>
            <a:r>
              <a:rPr lang="en-US" altLang="zh-CN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world</a:t>
            </a:r>
            <a:endParaRPr lang="zh-CN" altLang="en-US" sz="32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016667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55" name="Picture 5" descr="wumpus-world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39000" y="1752600"/>
            <a:ext cx="2667000" cy="2611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3556" name="图片 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65314" y="1295400"/>
            <a:ext cx="4230687" cy="4319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3557" name="矩形 2"/>
          <p:cNvSpPr>
            <a:spLocks noChangeArrowheads="1"/>
          </p:cNvSpPr>
          <p:nvPr/>
        </p:nvSpPr>
        <p:spPr bwMode="auto">
          <a:xfrm>
            <a:off x="7186061" y="4513530"/>
            <a:ext cx="5005939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800" dirty="0" err="1">
                <a:cs typeface="Times New Roman" panose="02020603050405020304" pitchFamily="18" charset="0"/>
              </a:rPr>
              <a:t>wumpus</a:t>
            </a:r>
            <a:r>
              <a:rPr lang="en-US" altLang="zh-CN" sz="1800" dirty="0">
                <a:cs typeface="Times New Roman" panose="02020603050405020304" pitchFamily="18" charset="0"/>
              </a:rPr>
              <a:t> is in [1,3].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1800" dirty="0">
                <a:cs typeface="Times New Roman" panose="02020603050405020304" pitchFamily="18" charset="0"/>
              </a:rPr>
              <a:t>the lack of a breeze in [1,2] implies no pit in [2,2] 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1800" dirty="0">
                <a:cs typeface="Times New Roman" panose="02020603050405020304" pitchFamily="18" charset="0"/>
              </a:rPr>
              <a:t>neither a pit nor a </a:t>
            </a:r>
            <a:r>
              <a:rPr lang="en-US" altLang="zh-CN" sz="1800" dirty="0" err="1">
                <a:cs typeface="Times New Roman" panose="02020603050405020304" pitchFamily="18" charset="0"/>
              </a:rPr>
              <a:t>wumpus</a:t>
            </a:r>
            <a:r>
              <a:rPr lang="en-US" altLang="zh-CN" sz="1800" dirty="0">
                <a:cs typeface="Times New Roman" panose="02020603050405020304" pitchFamily="18" charset="0"/>
              </a:rPr>
              <a:t> in [2,2], so it is OK 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1800" dirty="0">
                <a:cs typeface="Times New Roman" panose="02020603050405020304" pitchFamily="18" charset="0"/>
              </a:rPr>
              <a:t>pit in [3,1]</a:t>
            </a:r>
            <a:endParaRPr lang="zh-CN" altLang="en-US" sz="1800" dirty="0">
              <a:cs typeface="Times New Roman" panose="02020603050405020304" pitchFamily="18" charset="0"/>
            </a:endParaRPr>
          </a:p>
        </p:txBody>
      </p:sp>
      <p:sp>
        <p:nvSpPr>
          <p:cNvPr id="23558" name="矩形 3"/>
          <p:cNvSpPr>
            <a:spLocks noChangeArrowheads="1"/>
          </p:cNvSpPr>
          <p:nvPr/>
        </p:nvSpPr>
        <p:spPr bwMode="auto">
          <a:xfrm>
            <a:off x="1694657" y="5614988"/>
            <a:ext cx="457200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1800" dirty="0">
                <a:solidFill>
                  <a:srgbClr val="FF0000"/>
                </a:solidFill>
                <a:cs typeface="Times New Roman" panose="02020603050405020304" pitchFamily="18" charset="0"/>
              </a:rPr>
              <a:t>percept</a:t>
            </a:r>
            <a:r>
              <a:rPr lang="zh-CN" altLang="en-US" sz="1800" dirty="0">
                <a:cs typeface="Times New Roman" panose="02020603050405020304" pitchFamily="18" charset="0"/>
              </a:rPr>
              <a:t> [Stench,None,None,None,None] in [1,2] </a:t>
            </a:r>
          </a:p>
        </p:txBody>
      </p:sp>
      <p:sp>
        <p:nvSpPr>
          <p:cNvPr id="7" name="矩形 6"/>
          <p:cNvSpPr/>
          <p:nvPr/>
        </p:nvSpPr>
        <p:spPr>
          <a:xfrm>
            <a:off x="5846774" y="6271413"/>
            <a:ext cx="1882095" cy="430439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rgbClr val="FF0000"/>
                </a:solidFill>
              </a:rPr>
              <a:t>Action</a:t>
            </a:r>
            <a:r>
              <a:rPr lang="zh-CN" altLang="en-US" dirty="0">
                <a:solidFill>
                  <a:srgbClr val="FF0000"/>
                </a:solidFill>
              </a:rPr>
              <a:t>：</a:t>
            </a:r>
            <a:r>
              <a:rPr lang="en-US" altLang="zh-CN" dirty="0">
                <a:solidFill>
                  <a:srgbClr val="FF0000"/>
                </a:solidFill>
              </a:rPr>
              <a:t>[2,2]</a:t>
            </a:r>
            <a:endParaRPr lang="zh-CN" altLang="en-US" dirty="0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A39BE475-082A-6ABB-E244-08281597FD73}"/>
              </a:ext>
            </a:extLst>
          </p:cNvPr>
          <p:cNvSpPr txBox="1">
            <a:spLocks/>
          </p:cNvSpPr>
          <p:nvPr/>
        </p:nvSpPr>
        <p:spPr>
          <a:xfrm>
            <a:off x="385814" y="47495"/>
            <a:ext cx="7689781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altLang="zh-CN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Exploring a </a:t>
            </a:r>
            <a:r>
              <a:rPr lang="en-US" altLang="zh-CN" sz="3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wumpus</a:t>
            </a:r>
            <a:r>
              <a:rPr lang="en-US" altLang="zh-CN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world</a:t>
            </a:r>
            <a:endParaRPr lang="zh-CN" altLang="en-US" sz="32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858602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579" name="Picture 5" descr="wumpus-world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39000" y="1752600"/>
            <a:ext cx="2667000" cy="2611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4580" name="矩形 2"/>
          <p:cNvSpPr>
            <a:spLocks noChangeArrowheads="1"/>
          </p:cNvSpPr>
          <p:nvPr/>
        </p:nvSpPr>
        <p:spPr bwMode="auto">
          <a:xfrm>
            <a:off x="8190280" y="4692447"/>
            <a:ext cx="1715703" cy="9233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800" dirty="0">
                <a:cs typeface="Times New Roman" panose="02020603050405020304" pitchFamily="18" charset="0"/>
              </a:rPr>
              <a:t>[2,3] is OK 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zh-CN" sz="1800" dirty="0">
              <a:cs typeface="Times New Roman" panose="02020603050405020304" pitchFamily="18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1800" dirty="0">
                <a:cs typeface="Times New Roman" panose="02020603050405020304" pitchFamily="18" charset="0"/>
              </a:rPr>
              <a:t>[3,2] is OK </a:t>
            </a:r>
          </a:p>
        </p:txBody>
      </p:sp>
      <p:sp>
        <p:nvSpPr>
          <p:cNvPr id="24581" name="矩形 3"/>
          <p:cNvSpPr>
            <a:spLocks noChangeArrowheads="1"/>
          </p:cNvSpPr>
          <p:nvPr/>
        </p:nvSpPr>
        <p:spPr bwMode="auto">
          <a:xfrm>
            <a:off x="1871278" y="5674241"/>
            <a:ext cx="4718852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1800" dirty="0">
                <a:solidFill>
                  <a:srgbClr val="FF0000"/>
                </a:solidFill>
                <a:ea typeface="SimSun" panose="02010600030101010101" pitchFamily="2" charset="-122"/>
                <a:cs typeface="Times New Roman" panose="02020603050405020304" pitchFamily="18" charset="0"/>
              </a:rPr>
              <a:t>percept</a:t>
            </a:r>
            <a:r>
              <a:rPr lang="zh-CN" altLang="en-US" sz="1800" dirty="0">
                <a:ea typeface="SimSun" panose="02010600030101010101" pitchFamily="2" charset="-122"/>
                <a:cs typeface="Times New Roman" panose="02020603050405020304" pitchFamily="18" charset="0"/>
              </a:rPr>
              <a:t> [None,None,None,None,None] in [</a:t>
            </a:r>
            <a:r>
              <a:rPr lang="en-US" altLang="zh-CN" sz="1800" dirty="0">
                <a:ea typeface="SimSun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en-US" sz="1800" dirty="0">
                <a:ea typeface="SimSun" panose="02010600030101010101" pitchFamily="2" charset="-122"/>
                <a:cs typeface="Times New Roman" panose="02020603050405020304" pitchFamily="18" charset="0"/>
              </a:rPr>
              <a:t>,2] </a:t>
            </a:r>
          </a:p>
        </p:txBody>
      </p:sp>
      <p:pic>
        <p:nvPicPr>
          <p:cNvPr id="24582" name="图片 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5964" y="1319214"/>
            <a:ext cx="4219575" cy="4219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矩形 6"/>
          <p:cNvSpPr/>
          <p:nvPr/>
        </p:nvSpPr>
        <p:spPr>
          <a:xfrm>
            <a:off x="5559035" y="6179025"/>
            <a:ext cx="1882095" cy="430439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Action</a:t>
            </a: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：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[2,3]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标题 1">
            <a:extLst>
              <a:ext uri="{FF2B5EF4-FFF2-40B4-BE49-F238E27FC236}">
                <a16:creationId xmlns:a16="http://schemas.microsoft.com/office/drawing/2014/main" id="{430FE113-8F2D-CD51-B07A-D04EB6050081}"/>
              </a:ext>
            </a:extLst>
          </p:cNvPr>
          <p:cNvSpPr txBox="1">
            <a:spLocks/>
          </p:cNvSpPr>
          <p:nvPr/>
        </p:nvSpPr>
        <p:spPr>
          <a:xfrm>
            <a:off x="385814" y="47495"/>
            <a:ext cx="7689781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altLang="zh-CN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Exploring a </a:t>
            </a:r>
            <a:r>
              <a:rPr lang="en-US" altLang="zh-CN" sz="3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wumpus</a:t>
            </a:r>
            <a:r>
              <a:rPr lang="en-US" altLang="zh-CN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world</a:t>
            </a:r>
            <a:endParaRPr lang="zh-CN" altLang="en-US" sz="32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567231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603" name="Picture 5" descr="wumpus-world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46963" y="2489200"/>
            <a:ext cx="2438400" cy="2387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5604" name="图片 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57389" y="1319214"/>
            <a:ext cx="4300537" cy="43195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5605" name="矩形 2"/>
          <p:cNvSpPr>
            <a:spLocks noChangeArrowheads="1"/>
          </p:cNvSpPr>
          <p:nvPr/>
        </p:nvSpPr>
        <p:spPr bwMode="auto">
          <a:xfrm>
            <a:off x="7201535" y="4992470"/>
            <a:ext cx="4487703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1800" dirty="0">
                <a:cs typeface="Times New Roman" panose="02020603050405020304" pitchFamily="18" charset="0"/>
              </a:rPr>
              <a:t>the agent detects a glitter, so it should</a:t>
            </a:r>
            <a:endParaRPr lang="en-US" altLang="zh-CN" sz="1800" dirty="0">
              <a:cs typeface="Times New Roman" panose="02020603050405020304" pitchFamily="18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zh-CN" altLang="en-US" sz="1800" dirty="0">
                <a:cs typeface="Times New Roman" panose="02020603050405020304" pitchFamily="18" charset="0"/>
              </a:rPr>
              <a:t> grab the gold and then return home.</a:t>
            </a:r>
          </a:p>
        </p:txBody>
      </p:sp>
      <p:sp>
        <p:nvSpPr>
          <p:cNvPr id="25606" name="矩形 3"/>
          <p:cNvSpPr>
            <a:spLocks noChangeArrowheads="1"/>
          </p:cNvSpPr>
          <p:nvPr/>
        </p:nvSpPr>
        <p:spPr bwMode="auto">
          <a:xfrm>
            <a:off x="1485265" y="5733617"/>
            <a:ext cx="571627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1800" dirty="0">
                <a:cs typeface="Times New Roman" panose="02020603050405020304" pitchFamily="18" charset="0"/>
              </a:rPr>
              <a:t> </a:t>
            </a:r>
            <a:r>
              <a:rPr lang="zh-CN" altLang="en-US" sz="1800" dirty="0">
                <a:solidFill>
                  <a:srgbClr val="FF0000"/>
                </a:solidFill>
                <a:ea typeface="SimSun" panose="02010600030101010101" pitchFamily="2" charset="-122"/>
                <a:cs typeface="Times New Roman" panose="02020603050405020304" pitchFamily="18" charset="0"/>
              </a:rPr>
              <a:t>percept</a:t>
            </a:r>
            <a:r>
              <a:rPr lang="zh-CN" altLang="en-US" sz="1800" dirty="0">
                <a:ea typeface="SimSun" panose="02010600030101010101" pitchFamily="2" charset="-122"/>
                <a:cs typeface="Times New Roman" panose="02020603050405020304" pitchFamily="18" charset="0"/>
              </a:rPr>
              <a:t> [Stench,Breeze,Glitter,None,None] In [2,3]</a:t>
            </a:r>
          </a:p>
        </p:txBody>
      </p:sp>
      <p:pic>
        <p:nvPicPr>
          <p:cNvPr id="25607" name="图片 1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43400" y="4191001"/>
            <a:ext cx="419100" cy="257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5608" name="图片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24200" y="3124201"/>
            <a:ext cx="419100" cy="257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ED3179F3-3207-755A-D28B-A6D27430585B}"/>
              </a:ext>
            </a:extLst>
          </p:cNvPr>
          <p:cNvSpPr txBox="1">
            <a:spLocks/>
          </p:cNvSpPr>
          <p:nvPr/>
        </p:nvSpPr>
        <p:spPr>
          <a:xfrm>
            <a:off x="385814" y="47495"/>
            <a:ext cx="7689781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altLang="zh-CN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Exploring a </a:t>
            </a:r>
            <a:r>
              <a:rPr lang="en-US" altLang="zh-CN" sz="3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wumpus</a:t>
            </a:r>
            <a:r>
              <a:rPr lang="en-US" altLang="zh-CN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world</a:t>
            </a:r>
            <a:endParaRPr lang="zh-CN" altLang="en-US" sz="32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159716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" name="组合 37"/>
          <p:cNvGrpSpPr/>
          <p:nvPr/>
        </p:nvGrpSpPr>
        <p:grpSpPr>
          <a:xfrm>
            <a:off x="3869989" y="1594509"/>
            <a:ext cx="4452022" cy="4487848"/>
            <a:chOff x="3872379" y="1383943"/>
            <a:chExt cx="4452022" cy="4487848"/>
          </a:xfrm>
        </p:grpSpPr>
        <p:sp>
          <p:nvSpPr>
            <p:cNvPr id="3" name="Freeform 5"/>
            <p:cNvSpPr>
              <a:spLocks/>
            </p:cNvSpPr>
            <p:nvPr/>
          </p:nvSpPr>
          <p:spPr bwMode="auto">
            <a:xfrm>
              <a:off x="3872379" y="1383943"/>
              <a:ext cx="2161524" cy="2161524"/>
            </a:xfrm>
            <a:custGeom>
              <a:avLst/>
              <a:gdLst/>
              <a:ahLst/>
              <a:cxnLst>
                <a:cxn ang="0">
                  <a:pos x="673" y="233"/>
                </a:cxn>
                <a:cxn ang="0">
                  <a:pos x="233" y="233"/>
                </a:cxn>
                <a:cxn ang="0">
                  <a:pos x="233" y="673"/>
                </a:cxn>
                <a:cxn ang="0">
                  <a:pos x="0" y="905"/>
                </a:cxn>
                <a:cxn ang="0">
                  <a:pos x="905" y="905"/>
                </a:cxn>
                <a:cxn ang="0">
                  <a:pos x="905" y="0"/>
                </a:cxn>
                <a:cxn ang="0">
                  <a:pos x="673" y="233"/>
                </a:cxn>
              </a:cxnLst>
              <a:rect l="0" t="0" r="r" b="b"/>
              <a:pathLst>
                <a:path w="905" h="905">
                  <a:moveTo>
                    <a:pt x="673" y="233"/>
                  </a:moveTo>
                  <a:lnTo>
                    <a:pt x="233" y="233"/>
                  </a:lnTo>
                  <a:lnTo>
                    <a:pt x="233" y="673"/>
                  </a:lnTo>
                  <a:lnTo>
                    <a:pt x="0" y="905"/>
                  </a:lnTo>
                  <a:lnTo>
                    <a:pt x="905" y="905"/>
                  </a:lnTo>
                  <a:lnTo>
                    <a:pt x="905" y="0"/>
                  </a:lnTo>
                  <a:lnTo>
                    <a:pt x="673" y="233"/>
                  </a:lnTo>
                  <a:close/>
                </a:path>
              </a:pathLst>
            </a:custGeom>
            <a:solidFill>
              <a:srgbClr val="24569D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sym typeface="+mn-lt"/>
              </a:endParaRPr>
            </a:p>
          </p:txBody>
        </p:sp>
        <p:sp>
          <p:nvSpPr>
            <p:cNvPr id="4" name="Freeform 6"/>
            <p:cNvSpPr>
              <a:spLocks/>
            </p:cNvSpPr>
            <p:nvPr/>
          </p:nvSpPr>
          <p:spPr bwMode="auto">
            <a:xfrm>
              <a:off x="6162877" y="1383943"/>
              <a:ext cx="2161524" cy="2161524"/>
            </a:xfrm>
            <a:custGeom>
              <a:avLst/>
              <a:gdLst/>
              <a:ahLst/>
              <a:cxnLst>
                <a:cxn ang="0">
                  <a:pos x="672" y="673"/>
                </a:cxn>
                <a:cxn ang="0">
                  <a:pos x="672" y="233"/>
                </a:cxn>
                <a:cxn ang="0">
                  <a:pos x="232" y="233"/>
                </a:cxn>
                <a:cxn ang="0">
                  <a:pos x="0" y="0"/>
                </a:cxn>
                <a:cxn ang="0">
                  <a:pos x="0" y="905"/>
                </a:cxn>
                <a:cxn ang="0">
                  <a:pos x="905" y="905"/>
                </a:cxn>
                <a:cxn ang="0">
                  <a:pos x="672" y="673"/>
                </a:cxn>
              </a:cxnLst>
              <a:rect l="0" t="0" r="r" b="b"/>
              <a:pathLst>
                <a:path w="905" h="905">
                  <a:moveTo>
                    <a:pt x="672" y="673"/>
                  </a:moveTo>
                  <a:lnTo>
                    <a:pt x="672" y="233"/>
                  </a:lnTo>
                  <a:lnTo>
                    <a:pt x="232" y="233"/>
                  </a:lnTo>
                  <a:lnTo>
                    <a:pt x="0" y="0"/>
                  </a:lnTo>
                  <a:lnTo>
                    <a:pt x="0" y="905"/>
                  </a:lnTo>
                  <a:lnTo>
                    <a:pt x="905" y="905"/>
                  </a:lnTo>
                  <a:lnTo>
                    <a:pt x="672" y="673"/>
                  </a:lnTo>
                  <a:close/>
                </a:path>
              </a:pathLst>
            </a:custGeom>
            <a:solidFill>
              <a:srgbClr val="24569D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sym typeface="+mn-lt"/>
              </a:endParaRPr>
            </a:p>
          </p:txBody>
        </p:sp>
        <p:sp>
          <p:nvSpPr>
            <p:cNvPr id="5" name="Freeform 7"/>
            <p:cNvSpPr>
              <a:spLocks/>
            </p:cNvSpPr>
            <p:nvPr/>
          </p:nvSpPr>
          <p:spPr bwMode="auto">
            <a:xfrm>
              <a:off x="3872379" y="3710267"/>
              <a:ext cx="2161524" cy="2161524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33" y="232"/>
                </a:cxn>
                <a:cxn ang="0">
                  <a:pos x="233" y="672"/>
                </a:cxn>
                <a:cxn ang="0">
                  <a:pos x="673" y="672"/>
                </a:cxn>
                <a:cxn ang="0">
                  <a:pos x="905" y="905"/>
                </a:cxn>
                <a:cxn ang="0">
                  <a:pos x="905" y="0"/>
                </a:cxn>
                <a:cxn ang="0">
                  <a:pos x="0" y="0"/>
                </a:cxn>
              </a:cxnLst>
              <a:rect l="0" t="0" r="r" b="b"/>
              <a:pathLst>
                <a:path w="905" h="905">
                  <a:moveTo>
                    <a:pt x="0" y="0"/>
                  </a:moveTo>
                  <a:lnTo>
                    <a:pt x="233" y="232"/>
                  </a:lnTo>
                  <a:lnTo>
                    <a:pt x="233" y="672"/>
                  </a:lnTo>
                  <a:lnTo>
                    <a:pt x="673" y="672"/>
                  </a:lnTo>
                  <a:lnTo>
                    <a:pt x="905" y="905"/>
                  </a:lnTo>
                  <a:lnTo>
                    <a:pt x="90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4569D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sym typeface="+mn-lt"/>
              </a:endParaRPr>
            </a:p>
          </p:txBody>
        </p:sp>
        <p:sp>
          <p:nvSpPr>
            <p:cNvPr id="6" name="Freeform 8"/>
            <p:cNvSpPr>
              <a:spLocks/>
            </p:cNvSpPr>
            <p:nvPr/>
          </p:nvSpPr>
          <p:spPr bwMode="auto">
            <a:xfrm>
              <a:off x="6162877" y="3710267"/>
              <a:ext cx="2161524" cy="2161524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905"/>
                </a:cxn>
                <a:cxn ang="0">
                  <a:pos x="232" y="672"/>
                </a:cxn>
                <a:cxn ang="0">
                  <a:pos x="672" y="672"/>
                </a:cxn>
                <a:cxn ang="0">
                  <a:pos x="672" y="232"/>
                </a:cxn>
                <a:cxn ang="0">
                  <a:pos x="905" y="0"/>
                </a:cxn>
                <a:cxn ang="0">
                  <a:pos x="0" y="0"/>
                </a:cxn>
              </a:cxnLst>
              <a:rect l="0" t="0" r="r" b="b"/>
              <a:pathLst>
                <a:path w="905" h="905">
                  <a:moveTo>
                    <a:pt x="0" y="0"/>
                  </a:moveTo>
                  <a:lnTo>
                    <a:pt x="0" y="905"/>
                  </a:lnTo>
                  <a:lnTo>
                    <a:pt x="232" y="672"/>
                  </a:lnTo>
                  <a:lnTo>
                    <a:pt x="672" y="672"/>
                  </a:lnTo>
                  <a:lnTo>
                    <a:pt x="672" y="232"/>
                  </a:lnTo>
                  <a:lnTo>
                    <a:pt x="90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4569D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sym typeface="+mn-lt"/>
              </a:endParaRPr>
            </a:p>
          </p:txBody>
        </p:sp>
        <p:grpSp>
          <p:nvGrpSpPr>
            <p:cNvPr id="7" name="Group 44"/>
            <p:cNvGrpSpPr/>
            <p:nvPr/>
          </p:nvGrpSpPr>
          <p:grpSpPr>
            <a:xfrm>
              <a:off x="4569798" y="4627422"/>
              <a:ext cx="527842" cy="535007"/>
              <a:chOff x="3557588" y="3654425"/>
              <a:chExt cx="350838" cy="355600"/>
            </a:xfrm>
          </p:grpSpPr>
          <p:sp>
            <p:nvSpPr>
              <p:cNvPr id="20" name="Freeform 9"/>
              <p:cNvSpPr>
                <a:spLocks noEditPoints="1"/>
              </p:cNvSpPr>
              <p:nvPr/>
            </p:nvSpPr>
            <p:spPr bwMode="auto">
              <a:xfrm>
                <a:off x="3619501" y="3654425"/>
                <a:ext cx="288925" cy="163513"/>
              </a:xfrm>
              <a:custGeom>
                <a:avLst/>
                <a:gdLst/>
                <a:ahLst/>
                <a:cxnLst>
                  <a:cxn ang="0">
                    <a:pos x="40" y="55"/>
                  </a:cxn>
                  <a:cxn ang="0">
                    <a:pos x="41" y="55"/>
                  </a:cxn>
                  <a:cxn ang="0">
                    <a:pos x="95" y="55"/>
                  </a:cxn>
                  <a:cxn ang="0">
                    <a:pos x="97" y="55"/>
                  </a:cxn>
                  <a:cxn ang="0">
                    <a:pos x="97" y="53"/>
                  </a:cxn>
                  <a:cxn ang="0">
                    <a:pos x="78" y="15"/>
                  </a:cxn>
                  <a:cxn ang="0">
                    <a:pos x="38" y="0"/>
                  </a:cxn>
                  <a:cxn ang="0">
                    <a:pos x="1" y="13"/>
                  </a:cxn>
                  <a:cxn ang="0">
                    <a:pos x="0" y="15"/>
                  </a:cxn>
                  <a:cxn ang="0">
                    <a:pos x="1" y="16"/>
                  </a:cxn>
                  <a:cxn ang="0">
                    <a:pos x="40" y="55"/>
                  </a:cxn>
                  <a:cxn ang="0">
                    <a:pos x="32" y="34"/>
                  </a:cxn>
                  <a:cxn ang="0">
                    <a:pos x="48" y="11"/>
                  </a:cxn>
                  <a:cxn ang="0">
                    <a:pos x="53" y="12"/>
                  </a:cxn>
                  <a:cxn ang="0">
                    <a:pos x="36" y="38"/>
                  </a:cxn>
                  <a:cxn ang="0">
                    <a:pos x="32" y="34"/>
                  </a:cxn>
                  <a:cxn ang="0">
                    <a:pos x="38" y="10"/>
                  </a:cxn>
                  <a:cxn ang="0">
                    <a:pos x="40" y="10"/>
                  </a:cxn>
                  <a:cxn ang="0">
                    <a:pos x="27" y="29"/>
                  </a:cxn>
                  <a:cxn ang="0">
                    <a:pos x="23" y="25"/>
                  </a:cxn>
                  <a:cxn ang="0">
                    <a:pos x="33" y="10"/>
                  </a:cxn>
                  <a:cxn ang="0">
                    <a:pos x="38" y="10"/>
                  </a:cxn>
                  <a:cxn ang="0">
                    <a:pos x="23" y="12"/>
                  </a:cxn>
                  <a:cxn ang="0">
                    <a:pos x="18" y="19"/>
                  </a:cxn>
                  <a:cxn ang="0">
                    <a:pos x="14" y="16"/>
                  </a:cxn>
                  <a:cxn ang="0">
                    <a:pos x="21" y="13"/>
                  </a:cxn>
                  <a:cxn ang="0">
                    <a:pos x="23" y="12"/>
                  </a:cxn>
                  <a:cxn ang="0">
                    <a:pos x="69" y="46"/>
                  </a:cxn>
                  <a:cxn ang="0">
                    <a:pos x="79" y="31"/>
                  </a:cxn>
                  <a:cxn ang="0">
                    <a:pos x="81" y="34"/>
                  </a:cxn>
                  <a:cxn ang="0">
                    <a:pos x="73" y="46"/>
                  </a:cxn>
                  <a:cxn ang="0">
                    <a:pos x="69" y="46"/>
                  </a:cxn>
                  <a:cxn ang="0">
                    <a:pos x="82" y="46"/>
                  </a:cxn>
                  <a:cxn ang="0">
                    <a:pos x="85" y="41"/>
                  </a:cxn>
                  <a:cxn ang="0">
                    <a:pos x="86" y="46"/>
                  </a:cxn>
                  <a:cxn ang="0">
                    <a:pos x="82" y="46"/>
                  </a:cxn>
                  <a:cxn ang="0">
                    <a:pos x="54" y="46"/>
                  </a:cxn>
                  <a:cxn ang="0">
                    <a:pos x="70" y="22"/>
                  </a:cxn>
                  <a:cxn ang="0">
                    <a:pos x="72" y="23"/>
                  </a:cxn>
                  <a:cxn ang="0">
                    <a:pos x="74" y="25"/>
                  </a:cxn>
                  <a:cxn ang="0">
                    <a:pos x="60" y="46"/>
                  </a:cxn>
                  <a:cxn ang="0">
                    <a:pos x="54" y="46"/>
                  </a:cxn>
                  <a:cxn ang="0">
                    <a:pos x="46" y="46"/>
                  </a:cxn>
                  <a:cxn ang="0">
                    <a:pos x="44" y="46"/>
                  </a:cxn>
                  <a:cxn ang="0">
                    <a:pos x="41" y="43"/>
                  </a:cxn>
                  <a:cxn ang="0">
                    <a:pos x="60" y="15"/>
                  </a:cxn>
                  <a:cxn ang="0">
                    <a:pos x="65" y="17"/>
                  </a:cxn>
                  <a:cxn ang="0">
                    <a:pos x="46" y="46"/>
                  </a:cxn>
                  <a:cxn ang="0">
                    <a:pos x="46" y="46"/>
                  </a:cxn>
                  <a:cxn ang="0">
                    <a:pos x="46" y="46"/>
                  </a:cxn>
                </a:cxnLst>
                <a:rect l="0" t="0" r="r" b="b"/>
                <a:pathLst>
                  <a:path w="97" h="55">
                    <a:moveTo>
                      <a:pt x="40" y="55"/>
                    </a:moveTo>
                    <a:cubicBezTo>
                      <a:pt x="40" y="55"/>
                      <a:pt x="40" y="55"/>
                      <a:pt x="41" y="55"/>
                    </a:cubicBezTo>
                    <a:cubicBezTo>
                      <a:pt x="95" y="55"/>
                      <a:pt x="95" y="55"/>
                      <a:pt x="95" y="55"/>
                    </a:cubicBezTo>
                    <a:cubicBezTo>
                      <a:pt x="96" y="55"/>
                      <a:pt x="96" y="55"/>
                      <a:pt x="97" y="55"/>
                    </a:cubicBezTo>
                    <a:cubicBezTo>
                      <a:pt x="97" y="54"/>
                      <a:pt x="97" y="54"/>
                      <a:pt x="97" y="53"/>
                    </a:cubicBezTo>
                    <a:cubicBezTo>
                      <a:pt x="96" y="39"/>
                      <a:pt x="89" y="25"/>
                      <a:pt x="78" y="15"/>
                    </a:cubicBezTo>
                    <a:cubicBezTo>
                      <a:pt x="67" y="6"/>
                      <a:pt x="53" y="0"/>
                      <a:pt x="38" y="0"/>
                    </a:cubicBezTo>
                    <a:cubicBezTo>
                      <a:pt x="25" y="0"/>
                      <a:pt x="12" y="5"/>
                      <a:pt x="1" y="13"/>
                    </a:cubicBezTo>
                    <a:cubicBezTo>
                      <a:pt x="1" y="14"/>
                      <a:pt x="0" y="14"/>
                      <a:pt x="0" y="15"/>
                    </a:cubicBezTo>
                    <a:cubicBezTo>
                      <a:pt x="0" y="15"/>
                      <a:pt x="1" y="16"/>
                      <a:pt x="1" y="16"/>
                    </a:cubicBezTo>
                    <a:lnTo>
                      <a:pt x="40" y="55"/>
                    </a:lnTo>
                    <a:close/>
                    <a:moveTo>
                      <a:pt x="32" y="34"/>
                    </a:moveTo>
                    <a:cubicBezTo>
                      <a:pt x="48" y="11"/>
                      <a:pt x="48" y="11"/>
                      <a:pt x="48" y="11"/>
                    </a:cubicBezTo>
                    <a:cubicBezTo>
                      <a:pt x="50" y="11"/>
                      <a:pt x="51" y="12"/>
                      <a:pt x="53" y="12"/>
                    </a:cubicBezTo>
                    <a:cubicBezTo>
                      <a:pt x="36" y="38"/>
                      <a:pt x="36" y="38"/>
                      <a:pt x="36" y="38"/>
                    </a:cubicBezTo>
                    <a:lnTo>
                      <a:pt x="32" y="34"/>
                    </a:lnTo>
                    <a:close/>
                    <a:moveTo>
                      <a:pt x="38" y="10"/>
                    </a:moveTo>
                    <a:cubicBezTo>
                      <a:pt x="39" y="10"/>
                      <a:pt x="39" y="10"/>
                      <a:pt x="40" y="10"/>
                    </a:cubicBezTo>
                    <a:cubicBezTo>
                      <a:pt x="27" y="29"/>
                      <a:pt x="27" y="29"/>
                      <a:pt x="27" y="29"/>
                    </a:cubicBezTo>
                    <a:cubicBezTo>
                      <a:pt x="23" y="25"/>
                      <a:pt x="23" y="25"/>
                      <a:pt x="23" y="25"/>
                    </a:cubicBezTo>
                    <a:cubicBezTo>
                      <a:pt x="33" y="10"/>
                      <a:pt x="33" y="10"/>
                      <a:pt x="33" y="10"/>
                    </a:cubicBezTo>
                    <a:cubicBezTo>
                      <a:pt x="35" y="10"/>
                      <a:pt x="37" y="10"/>
                      <a:pt x="38" y="10"/>
                    </a:cubicBezTo>
                    <a:close/>
                    <a:moveTo>
                      <a:pt x="23" y="12"/>
                    </a:moveTo>
                    <a:cubicBezTo>
                      <a:pt x="18" y="19"/>
                      <a:pt x="18" y="19"/>
                      <a:pt x="18" y="19"/>
                    </a:cubicBezTo>
                    <a:cubicBezTo>
                      <a:pt x="14" y="16"/>
                      <a:pt x="14" y="16"/>
                      <a:pt x="14" y="16"/>
                    </a:cubicBezTo>
                    <a:cubicBezTo>
                      <a:pt x="16" y="15"/>
                      <a:pt x="19" y="14"/>
                      <a:pt x="21" y="13"/>
                    </a:cubicBezTo>
                    <a:cubicBezTo>
                      <a:pt x="22" y="13"/>
                      <a:pt x="22" y="12"/>
                      <a:pt x="23" y="12"/>
                    </a:cubicBezTo>
                    <a:close/>
                    <a:moveTo>
                      <a:pt x="69" y="46"/>
                    </a:moveTo>
                    <a:cubicBezTo>
                      <a:pt x="79" y="31"/>
                      <a:pt x="79" y="31"/>
                      <a:pt x="79" y="31"/>
                    </a:cubicBezTo>
                    <a:cubicBezTo>
                      <a:pt x="80" y="32"/>
                      <a:pt x="80" y="33"/>
                      <a:pt x="81" y="34"/>
                    </a:cubicBezTo>
                    <a:cubicBezTo>
                      <a:pt x="73" y="46"/>
                      <a:pt x="73" y="46"/>
                      <a:pt x="73" y="46"/>
                    </a:cubicBezTo>
                    <a:lnTo>
                      <a:pt x="69" y="46"/>
                    </a:lnTo>
                    <a:close/>
                    <a:moveTo>
                      <a:pt x="82" y="46"/>
                    </a:moveTo>
                    <a:cubicBezTo>
                      <a:pt x="85" y="41"/>
                      <a:pt x="85" y="41"/>
                      <a:pt x="85" y="41"/>
                    </a:cubicBezTo>
                    <a:cubicBezTo>
                      <a:pt x="85" y="43"/>
                      <a:pt x="86" y="44"/>
                      <a:pt x="86" y="46"/>
                    </a:cubicBezTo>
                    <a:lnTo>
                      <a:pt x="82" y="46"/>
                    </a:lnTo>
                    <a:close/>
                    <a:moveTo>
                      <a:pt x="54" y="46"/>
                    </a:moveTo>
                    <a:cubicBezTo>
                      <a:pt x="70" y="22"/>
                      <a:pt x="70" y="22"/>
                      <a:pt x="70" y="22"/>
                    </a:cubicBezTo>
                    <a:cubicBezTo>
                      <a:pt x="71" y="22"/>
                      <a:pt x="71" y="22"/>
                      <a:pt x="72" y="23"/>
                    </a:cubicBezTo>
                    <a:cubicBezTo>
                      <a:pt x="73" y="24"/>
                      <a:pt x="73" y="24"/>
                      <a:pt x="74" y="25"/>
                    </a:cubicBezTo>
                    <a:cubicBezTo>
                      <a:pt x="60" y="46"/>
                      <a:pt x="60" y="46"/>
                      <a:pt x="60" y="46"/>
                    </a:cubicBezTo>
                    <a:lnTo>
                      <a:pt x="54" y="46"/>
                    </a:lnTo>
                    <a:close/>
                    <a:moveTo>
                      <a:pt x="46" y="46"/>
                    </a:moveTo>
                    <a:cubicBezTo>
                      <a:pt x="44" y="46"/>
                      <a:pt x="44" y="46"/>
                      <a:pt x="44" y="46"/>
                    </a:cubicBezTo>
                    <a:cubicBezTo>
                      <a:pt x="41" y="43"/>
                      <a:pt x="41" y="43"/>
                      <a:pt x="41" y="43"/>
                    </a:cubicBezTo>
                    <a:cubicBezTo>
                      <a:pt x="60" y="15"/>
                      <a:pt x="60" y="15"/>
                      <a:pt x="60" y="15"/>
                    </a:cubicBezTo>
                    <a:cubicBezTo>
                      <a:pt x="62" y="16"/>
                      <a:pt x="63" y="16"/>
                      <a:pt x="65" y="17"/>
                    </a:cubicBezTo>
                    <a:lnTo>
                      <a:pt x="46" y="46"/>
                    </a:lnTo>
                    <a:close/>
                    <a:moveTo>
                      <a:pt x="46" y="46"/>
                    </a:moveTo>
                    <a:cubicBezTo>
                      <a:pt x="46" y="46"/>
                      <a:pt x="46" y="46"/>
                      <a:pt x="46" y="46"/>
                    </a:cubicBezTo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4572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sym typeface="+mn-lt"/>
                </a:endParaRPr>
              </a:p>
            </p:txBody>
          </p:sp>
          <p:sp>
            <p:nvSpPr>
              <p:cNvPr id="21" name="Freeform 10"/>
              <p:cNvSpPr>
                <a:spLocks noEditPoints="1"/>
              </p:cNvSpPr>
              <p:nvPr/>
            </p:nvSpPr>
            <p:spPr bwMode="auto">
              <a:xfrm>
                <a:off x="3557588" y="3719513"/>
                <a:ext cx="157163" cy="254000"/>
              </a:xfrm>
              <a:custGeom>
                <a:avLst/>
                <a:gdLst/>
                <a:ahLst/>
                <a:cxnLst>
                  <a:cxn ang="0">
                    <a:pos x="53" y="37"/>
                  </a:cxn>
                  <a:cxn ang="0">
                    <a:pos x="16" y="0"/>
                  </a:cxn>
                  <a:cxn ang="0">
                    <a:pos x="14" y="0"/>
                  </a:cxn>
                  <a:cxn ang="0">
                    <a:pos x="13" y="0"/>
                  </a:cxn>
                  <a:cxn ang="0">
                    <a:pos x="0" y="38"/>
                  </a:cxn>
                  <a:cxn ang="0">
                    <a:pos x="23" y="85"/>
                  </a:cxn>
                  <a:cxn ang="0">
                    <a:pos x="24" y="85"/>
                  </a:cxn>
                  <a:cxn ang="0">
                    <a:pos x="24" y="85"/>
                  </a:cxn>
                  <a:cxn ang="0">
                    <a:pos x="26" y="84"/>
                  </a:cxn>
                  <a:cxn ang="0">
                    <a:pos x="53" y="40"/>
                  </a:cxn>
                  <a:cxn ang="0">
                    <a:pos x="53" y="37"/>
                  </a:cxn>
                  <a:cxn ang="0">
                    <a:pos x="42" y="40"/>
                  </a:cxn>
                  <a:cxn ang="0">
                    <a:pos x="22" y="71"/>
                  </a:cxn>
                  <a:cxn ang="0">
                    <a:pos x="15" y="60"/>
                  </a:cxn>
                  <a:cxn ang="0">
                    <a:pos x="9" y="38"/>
                  </a:cxn>
                  <a:cxn ang="0">
                    <a:pos x="12" y="20"/>
                  </a:cxn>
                  <a:cxn ang="0">
                    <a:pos x="16" y="14"/>
                  </a:cxn>
                  <a:cxn ang="0">
                    <a:pos x="42" y="40"/>
                  </a:cxn>
                  <a:cxn ang="0">
                    <a:pos x="42" y="40"/>
                  </a:cxn>
                  <a:cxn ang="0">
                    <a:pos x="42" y="40"/>
                  </a:cxn>
                </a:cxnLst>
                <a:rect l="0" t="0" r="r" b="b"/>
                <a:pathLst>
                  <a:path w="53" h="85">
                    <a:moveTo>
                      <a:pt x="53" y="37"/>
                    </a:moveTo>
                    <a:cubicBezTo>
                      <a:pt x="16" y="0"/>
                      <a:pt x="16" y="0"/>
                      <a:pt x="16" y="0"/>
                    </a:cubicBezTo>
                    <a:cubicBezTo>
                      <a:pt x="15" y="0"/>
                      <a:pt x="15" y="0"/>
                      <a:pt x="14" y="0"/>
                    </a:cubicBezTo>
                    <a:cubicBezTo>
                      <a:pt x="14" y="0"/>
                      <a:pt x="13" y="0"/>
                      <a:pt x="13" y="0"/>
                    </a:cubicBezTo>
                    <a:cubicBezTo>
                      <a:pt x="5" y="11"/>
                      <a:pt x="0" y="24"/>
                      <a:pt x="0" y="38"/>
                    </a:cubicBezTo>
                    <a:cubicBezTo>
                      <a:pt x="0" y="56"/>
                      <a:pt x="8" y="73"/>
                      <a:pt x="23" y="85"/>
                    </a:cubicBezTo>
                    <a:cubicBezTo>
                      <a:pt x="23" y="85"/>
                      <a:pt x="24" y="85"/>
                      <a:pt x="24" y="85"/>
                    </a:cubicBezTo>
                    <a:cubicBezTo>
                      <a:pt x="24" y="85"/>
                      <a:pt x="24" y="85"/>
                      <a:pt x="24" y="85"/>
                    </a:cubicBezTo>
                    <a:cubicBezTo>
                      <a:pt x="25" y="85"/>
                      <a:pt x="25" y="85"/>
                      <a:pt x="26" y="84"/>
                    </a:cubicBezTo>
                    <a:cubicBezTo>
                      <a:pt x="53" y="40"/>
                      <a:pt x="53" y="40"/>
                      <a:pt x="53" y="40"/>
                    </a:cubicBezTo>
                    <a:cubicBezTo>
                      <a:pt x="53" y="39"/>
                      <a:pt x="53" y="38"/>
                      <a:pt x="53" y="37"/>
                    </a:cubicBezTo>
                    <a:close/>
                    <a:moveTo>
                      <a:pt x="42" y="40"/>
                    </a:moveTo>
                    <a:cubicBezTo>
                      <a:pt x="22" y="71"/>
                      <a:pt x="22" y="71"/>
                      <a:pt x="22" y="71"/>
                    </a:cubicBezTo>
                    <a:cubicBezTo>
                      <a:pt x="19" y="68"/>
                      <a:pt x="17" y="64"/>
                      <a:pt x="15" y="60"/>
                    </a:cubicBezTo>
                    <a:cubicBezTo>
                      <a:pt x="11" y="53"/>
                      <a:pt x="9" y="46"/>
                      <a:pt x="9" y="38"/>
                    </a:cubicBezTo>
                    <a:cubicBezTo>
                      <a:pt x="9" y="32"/>
                      <a:pt x="10" y="26"/>
                      <a:pt x="12" y="20"/>
                    </a:cubicBezTo>
                    <a:cubicBezTo>
                      <a:pt x="13" y="18"/>
                      <a:pt x="14" y="16"/>
                      <a:pt x="16" y="14"/>
                    </a:cubicBezTo>
                    <a:lnTo>
                      <a:pt x="42" y="40"/>
                    </a:lnTo>
                    <a:close/>
                    <a:moveTo>
                      <a:pt x="42" y="40"/>
                    </a:moveTo>
                    <a:cubicBezTo>
                      <a:pt x="42" y="40"/>
                      <a:pt x="42" y="40"/>
                      <a:pt x="42" y="40"/>
                    </a:cubicBezTo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4572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sym typeface="+mn-lt"/>
                </a:endParaRPr>
              </a:p>
            </p:txBody>
          </p:sp>
          <p:sp>
            <p:nvSpPr>
              <p:cNvPr id="22" name="Freeform 11"/>
              <p:cNvSpPr>
                <a:spLocks noEditPoints="1"/>
              </p:cNvSpPr>
              <p:nvPr/>
            </p:nvSpPr>
            <p:spPr bwMode="auto">
              <a:xfrm>
                <a:off x="3656013" y="3844925"/>
                <a:ext cx="252413" cy="165100"/>
              </a:xfrm>
              <a:custGeom>
                <a:avLst/>
                <a:gdLst/>
                <a:ahLst/>
                <a:cxnLst>
                  <a:cxn ang="0">
                    <a:pos x="83" y="0"/>
                  </a:cxn>
                  <a:cxn ang="0">
                    <a:pos x="30" y="0"/>
                  </a:cxn>
                  <a:cxn ang="0">
                    <a:pos x="28" y="1"/>
                  </a:cxn>
                  <a:cxn ang="0">
                    <a:pos x="0" y="47"/>
                  </a:cxn>
                  <a:cxn ang="0">
                    <a:pos x="0" y="48"/>
                  </a:cxn>
                  <a:cxn ang="0">
                    <a:pos x="1" y="49"/>
                  </a:cxn>
                  <a:cxn ang="0">
                    <a:pos x="26" y="55"/>
                  </a:cxn>
                  <a:cxn ang="0">
                    <a:pos x="66" y="40"/>
                  </a:cxn>
                  <a:cxn ang="0">
                    <a:pos x="85" y="2"/>
                  </a:cxn>
                  <a:cxn ang="0">
                    <a:pos x="85" y="1"/>
                  </a:cxn>
                  <a:cxn ang="0">
                    <a:pos x="83" y="0"/>
                  </a:cxn>
                  <a:cxn ang="0">
                    <a:pos x="83" y="0"/>
                  </a:cxn>
                  <a:cxn ang="0">
                    <a:pos x="83" y="0"/>
                  </a:cxn>
                </a:cxnLst>
                <a:rect l="0" t="0" r="r" b="b"/>
                <a:pathLst>
                  <a:path w="85" h="55">
                    <a:moveTo>
                      <a:pt x="83" y="0"/>
                    </a:moveTo>
                    <a:cubicBezTo>
                      <a:pt x="30" y="0"/>
                      <a:pt x="30" y="0"/>
                      <a:pt x="30" y="0"/>
                    </a:cubicBezTo>
                    <a:cubicBezTo>
                      <a:pt x="29" y="0"/>
                      <a:pt x="29" y="0"/>
                      <a:pt x="28" y="1"/>
                    </a:cubicBezTo>
                    <a:cubicBezTo>
                      <a:pt x="0" y="47"/>
                      <a:pt x="0" y="47"/>
                      <a:pt x="0" y="47"/>
                    </a:cubicBezTo>
                    <a:cubicBezTo>
                      <a:pt x="0" y="47"/>
                      <a:pt x="0" y="48"/>
                      <a:pt x="0" y="48"/>
                    </a:cubicBezTo>
                    <a:cubicBezTo>
                      <a:pt x="0" y="49"/>
                      <a:pt x="0" y="49"/>
                      <a:pt x="1" y="49"/>
                    </a:cubicBezTo>
                    <a:cubicBezTo>
                      <a:pt x="9" y="53"/>
                      <a:pt x="17" y="55"/>
                      <a:pt x="26" y="55"/>
                    </a:cubicBezTo>
                    <a:cubicBezTo>
                      <a:pt x="41" y="55"/>
                      <a:pt x="55" y="50"/>
                      <a:pt x="66" y="40"/>
                    </a:cubicBezTo>
                    <a:cubicBezTo>
                      <a:pt x="77" y="30"/>
                      <a:pt x="84" y="17"/>
                      <a:pt x="85" y="2"/>
                    </a:cubicBezTo>
                    <a:cubicBezTo>
                      <a:pt x="85" y="2"/>
                      <a:pt x="85" y="1"/>
                      <a:pt x="85" y="1"/>
                    </a:cubicBezTo>
                    <a:cubicBezTo>
                      <a:pt x="84" y="0"/>
                      <a:pt x="84" y="0"/>
                      <a:pt x="83" y="0"/>
                    </a:cubicBezTo>
                    <a:close/>
                    <a:moveTo>
                      <a:pt x="83" y="0"/>
                    </a:moveTo>
                    <a:cubicBezTo>
                      <a:pt x="83" y="0"/>
                      <a:pt x="83" y="0"/>
                      <a:pt x="83" y="0"/>
                    </a:cubicBezTo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4572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sym typeface="+mn-lt"/>
                </a:endParaRPr>
              </a:p>
            </p:txBody>
          </p:sp>
        </p:grpSp>
        <p:grpSp>
          <p:nvGrpSpPr>
            <p:cNvPr id="8" name="Group 48"/>
            <p:cNvGrpSpPr/>
            <p:nvPr/>
          </p:nvGrpSpPr>
          <p:grpSpPr>
            <a:xfrm>
              <a:off x="7025097" y="2098082"/>
              <a:ext cx="606660" cy="539784"/>
              <a:chOff x="5189538" y="1973263"/>
              <a:chExt cx="403225" cy="358775"/>
            </a:xfrm>
          </p:grpSpPr>
          <p:sp>
            <p:nvSpPr>
              <p:cNvPr id="18" name="Freeform 12"/>
              <p:cNvSpPr>
                <a:spLocks noEditPoints="1"/>
              </p:cNvSpPr>
              <p:nvPr/>
            </p:nvSpPr>
            <p:spPr bwMode="auto">
              <a:xfrm>
                <a:off x="5310188" y="1973263"/>
                <a:ext cx="282575" cy="260350"/>
              </a:xfrm>
              <a:custGeom>
                <a:avLst/>
                <a:gdLst/>
                <a:ahLst/>
                <a:cxnLst>
                  <a:cxn ang="0">
                    <a:pos x="3" y="23"/>
                  </a:cxn>
                  <a:cxn ang="0">
                    <a:pos x="13" y="25"/>
                  </a:cxn>
                  <a:cxn ang="0">
                    <a:pos x="54" y="33"/>
                  </a:cxn>
                  <a:cxn ang="0">
                    <a:pos x="65" y="55"/>
                  </a:cxn>
                  <a:cxn ang="0">
                    <a:pos x="61" y="52"/>
                  </a:cxn>
                  <a:cxn ang="0">
                    <a:pos x="56" y="52"/>
                  </a:cxn>
                  <a:cxn ang="0">
                    <a:pos x="55" y="57"/>
                  </a:cxn>
                  <a:cxn ang="0">
                    <a:pos x="65" y="85"/>
                  </a:cxn>
                  <a:cxn ang="0">
                    <a:pos x="68" y="87"/>
                  </a:cxn>
                  <a:cxn ang="0">
                    <a:pos x="72" y="86"/>
                  </a:cxn>
                  <a:cxn ang="0">
                    <a:pos x="93" y="65"/>
                  </a:cxn>
                  <a:cxn ang="0">
                    <a:pos x="94" y="60"/>
                  </a:cxn>
                  <a:cxn ang="0">
                    <a:pos x="90" y="58"/>
                  </a:cxn>
                  <a:cxn ang="0">
                    <a:pos x="83" y="60"/>
                  </a:cxn>
                  <a:cxn ang="0">
                    <a:pos x="67" y="21"/>
                  </a:cxn>
                  <a:cxn ang="0">
                    <a:pos x="6" y="9"/>
                  </a:cxn>
                  <a:cxn ang="0">
                    <a:pos x="1" y="15"/>
                  </a:cxn>
                  <a:cxn ang="0">
                    <a:pos x="3" y="23"/>
                  </a:cxn>
                  <a:cxn ang="0">
                    <a:pos x="3" y="23"/>
                  </a:cxn>
                  <a:cxn ang="0">
                    <a:pos x="3" y="23"/>
                  </a:cxn>
                </a:cxnLst>
                <a:rect l="0" t="0" r="r" b="b"/>
                <a:pathLst>
                  <a:path w="95" h="87">
                    <a:moveTo>
                      <a:pt x="3" y="23"/>
                    </a:moveTo>
                    <a:cubicBezTo>
                      <a:pt x="6" y="26"/>
                      <a:pt x="10" y="27"/>
                      <a:pt x="13" y="25"/>
                    </a:cubicBezTo>
                    <a:cubicBezTo>
                      <a:pt x="27" y="20"/>
                      <a:pt x="43" y="22"/>
                      <a:pt x="54" y="33"/>
                    </a:cubicBezTo>
                    <a:cubicBezTo>
                      <a:pt x="60" y="39"/>
                      <a:pt x="64" y="47"/>
                      <a:pt x="65" y="55"/>
                    </a:cubicBezTo>
                    <a:cubicBezTo>
                      <a:pt x="61" y="52"/>
                      <a:pt x="61" y="52"/>
                      <a:pt x="61" y="52"/>
                    </a:cubicBezTo>
                    <a:cubicBezTo>
                      <a:pt x="59" y="51"/>
                      <a:pt x="57" y="51"/>
                      <a:pt x="56" y="52"/>
                    </a:cubicBezTo>
                    <a:cubicBezTo>
                      <a:pt x="55" y="53"/>
                      <a:pt x="54" y="55"/>
                      <a:pt x="55" y="57"/>
                    </a:cubicBezTo>
                    <a:cubicBezTo>
                      <a:pt x="65" y="85"/>
                      <a:pt x="65" y="85"/>
                      <a:pt x="65" y="85"/>
                    </a:cubicBezTo>
                    <a:cubicBezTo>
                      <a:pt x="66" y="86"/>
                      <a:pt x="67" y="87"/>
                      <a:pt x="68" y="87"/>
                    </a:cubicBezTo>
                    <a:cubicBezTo>
                      <a:pt x="69" y="87"/>
                      <a:pt x="71" y="87"/>
                      <a:pt x="72" y="86"/>
                    </a:cubicBezTo>
                    <a:cubicBezTo>
                      <a:pt x="93" y="65"/>
                      <a:pt x="93" y="65"/>
                      <a:pt x="93" y="65"/>
                    </a:cubicBezTo>
                    <a:cubicBezTo>
                      <a:pt x="94" y="64"/>
                      <a:pt x="95" y="62"/>
                      <a:pt x="94" y="60"/>
                    </a:cubicBezTo>
                    <a:cubicBezTo>
                      <a:pt x="93" y="59"/>
                      <a:pt x="91" y="58"/>
                      <a:pt x="90" y="58"/>
                    </a:cubicBezTo>
                    <a:cubicBezTo>
                      <a:pt x="83" y="60"/>
                      <a:pt x="83" y="60"/>
                      <a:pt x="83" y="60"/>
                    </a:cubicBezTo>
                    <a:cubicBezTo>
                      <a:pt x="83" y="46"/>
                      <a:pt x="77" y="31"/>
                      <a:pt x="67" y="21"/>
                    </a:cubicBezTo>
                    <a:cubicBezTo>
                      <a:pt x="50" y="4"/>
                      <a:pt x="26" y="0"/>
                      <a:pt x="6" y="9"/>
                    </a:cubicBezTo>
                    <a:cubicBezTo>
                      <a:pt x="4" y="10"/>
                      <a:pt x="1" y="12"/>
                      <a:pt x="1" y="15"/>
                    </a:cubicBezTo>
                    <a:cubicBezTo>
                      <a:pt x="0" y="18"/>
                      <a:pt x="1" y="21"/>
                      <a:pt x="3" y="23"/>
                    </a:cubicBezTo>
                    <a:close/>
                    <a:moveTo>
                      <a:pt x="3" y="23"/>
                    </a:moveTo>
                    <a:cubicBezTo>
                      <a:pt x="3" y="23"/>
                      <a:pt x="3" y="23"/>
                      <a:pt x="3" y="23"/>
                    </a:cubicBezTo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4572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sym typeface="+mn-lt"/>
                </a:endParaRPr>
              </a:p>
            </p:txBody>
          </p:sp>
          <p:sp>
            <p:nvSpPr>
              <p:cNvPr id="19" name="Freeform 13"/>
              <p:cNvSpPr>
                <a:spLocks noEditPoints="1"/>
              </p:cNvSpPr>
              <p:nvPr/>
            </p:nvSpPr>
            <p:spPr bwMode="auto">
              <a:xfrm>
                <a:off x="5189538" y="2071688"/>
                <a:ext cx="280988" cy="260350"/>
              </a:xfrm>
              <a:custGeom>
                <a:avLst/>
                <a:gdLst/>
                <a:ahLst/>
                <a:cxnLst>
                  <a:cxn ang="0">
                    <a:pos x="94" y="72"/>
                  </a:cxn>
                  <a:cxn ang="0">
                    <a:pos x="91" y="64"/>
                  </a:cxn>
                  <a:cxn ang="0">
                    <a:pos x="82" y="62"/>
                  </a:cxn>
                  <a:cxn ang="0">
                    <a:pos x="41" y="54"/>
                  </a:cxn>
                  <a:cxn ang="0">
                    <a:pos x="30" y="32"/>
                  </a:cxn>
                  <a:cxn ang="0">
                    <a:pos x="34" y="35"/>
                  </a:cxn>
                  <a:cxn ang="0">
                    <a:pos x="39" y="35"/>
                  </a:cxn>
                  <a:cxn ang="0">
                    <a:pos x="40" y="31"/>
                  </a:cxn>
                  <a:cxn ang="0">
                    <a:pos x="29" y="2"/>
                  </a:cxn>
                  <a:cxn ang="0">
                    <a:pos x="26" y="0"/>
                  </a:cxn>
                  <a:cxn ang="0">
                    <a:pos x="23" y="1"/>
                  </a:cxn>
                  <a:cxn ang="0">
                    <a:pos x="1" y="22"/>
                  </a:cxn>
                  <a:cxn ang="0">
                    <a:pos x="1" y="27"/>
                  </a:cxn>
                  <a:cxn ang="0">
                    <a:pos x="5" y="29"/>
                  </a:cxn>
                  <a:cxn ang="0">
                    <a:pos x="12" y="28"/>
                  </a:cxn>
                  <a:cxn ang="0">
                    <a:pos x="28" y="66"/>
                  </a:cxn>
                  <a:cxn ang="0">
                    <a:pos x="88" y="79"/>
                  </a:cxn>
                  <a:cxn ang="0">
                    <a:pos x="94" y="72"/>
                  </a:cxn>
                  <a:cxn ang="0">
                    <a:pos x="94" y="72"/>
                  </a:cxn>
                  <a:cxn ang="0">
                    <a:pos x="94" y="72"/>
                  </a:cxn>
                </a:cxnLst>
                <a:rect l="0" t="0" r="r" b="b"/>
                <a:pathLst>
                  <a:path w="94" h="87">
                    <a:moveTo>
                      <a:pt x="94" y="72"/>
                    </a:moveTo>
                    <a:cubicBezTo>
                      <a:pt x="94" y="69"/>
                      <a:pt x="93" y="66"/>
                      <a:pt x="91" y="64"/>
                    </a:cubicBezTo>
                    <a:cubicBezTo>
                      <a:pt x="89" y="61"/>
                      <a:pt x="85" y="61"/>
                      <a:pt x="82" y="62"/>
                    </a:cubicBezTo>
                    <a:cubicBezTo>
                      <a:pt x="68" y="68"/>
                      <a:pt x="52" y="65"/>
                      <a:pt x="41" y="54"/>
                    </a:cubicBezTo>
                    <a:cubicBezTo>
                      <a:pt x="34" y="48"/>
                      <a:pt x="31" y="40"/>
                      <a:pt x="30" y="32"/>
                    </a:cubicBezTo>
                    <a:cubicBezTo>
                      <a:pt x="34" y="35"/>
                      <a:pt x="34" y="35"/>
                      <a:pt x="34" y="35"/>
                    </a:cubicBezTo>
                    <a:cubicBezTo>
                      <a:pt x="35" y="36"/>
                      <a:pt x="37" y="36"/>
                      <a:pt x="39" y="35"/>
                    </a:cubicBezTo>
                    <a:cubicBezTo>
                      <a:pt x="40" y="34"/>
                      <a:pt x="41" y="32"/>
                      <a:pt x="40" y="31"/>
                    </a:cubicBezTo>
                    <a:cubicBezTo>
                      <a:pt x="29" y="2"/>
                      <a:pt x="29" y="2"/>
                      <a:pt x="29" y="2"/>
                    </a:cubicBezTo>
                    <a:cubicBezTo>
                      <a:pt x="29" y="1"/>
                      <a:pt x="28" y="0"/>
                      <a:pt x="26" y="0"/>
                    </a:cubicBezTo>
                    <a:cubicBezTo>
                      <a:pt x="25" y="0"/>
                      <a:pt x="24" y="0"/>
                      <a:pt x="23" y="1"/>
                    </a:cubicBezTo>
                    <a:cubicBezTo>
                      <a:pt x="1" y="22"/>
                      <a:pt x="1" y="22"/>
                      <a:pt x="1" y="22"/>
                    </a:cubicBezTo>
                    <a:cubicBezTo>
                      <a:pt x="0" y="24"/>
                      <a:pt x="0" y="25"/>
                      <a:pt x="1" y="27"/>
                    </a:cubicBezTo>
                    <a:cubicBezTo>
                      <a:pt x="2" y="28"/>
                      <a:pt x="3" y="29"/>
                      <a:pt x="5" y="29"/>
                    </a:cubicBezTo>
                    <a:cubicBezTo>
                      <a:pt x="12" y="28"/>
                      <a:pt x="12" y="28"/>
                      <a:pt x="12" y="28"/>
                    </a:cubicBezTo>
                    <a:cubicBezTo>
                      <a:pt x="12" y="42"/>
                      <a:pt x="17" y="56"/>
                      <a:pt x="28" y="66"/>
                    </a:cubicBezTo>
                    <a:cubicBezTo>
                      <a:pt x="44" y="83"/>
                      <a:pt x="68" y="87"/>
                      <a:pt x="88" y="79"/>
                    </a:cubicBezTo>
                    <a:cubicBezTo>
                      <a:pt x="91" y="77"/>
                      <a:pt x="93" y="75"/>
                      <a:pt x="94" y="72"/>
                    </a:cubicBezTo>
                    <a:close/>
                    <a:moveTo>
                      <a:pt x="94" y="72"/>
                    </a:moveTo>
                    <a:cubicBezTo>
                      <a:pt x="94" y="72"/>
                      <a:pt x="94" y="72"/>
                      <a:pt x="94" y="72"/>
                    </a:cubicBezTo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4572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sym typeface="+mn-lt"/>
                </a:endParaRPr>
              </a:p>
            </p:txBody>
          </p:sp>
        </p:grpSp>
        <p:grpSp>
          <p:nvGrpSpPr>
            <p:cNvPr id="9" name="Group 51"/>
            <p:cNvGrpSpPr/>
            <p:nvPr/>
          </p:nvGrpSpPr>
          <p:grpSpPr>
            <a:xfrm>
              <a:off x="6984495" y="4601150"/>
              <a:ext cx="599495" cy="587552"/>
              <a:chOff x="5162551" y="3636963"/>
              <a:chExt cx="398463" cy="390525"/>
            </a:xfrm>
          </p:grpSpPr>
          <p:sp>
            <p:nvSpPr>
              <p:cNvPr id="15" name="Freeform 14"/>
              <p:cNvSpPr>
                <a:spLocks noEditPoints="1"/>
              </p:cNvSpPr>
              <p:nvPr/>
            </p:nvSpPr>
            <p:spPr bwMode="auto">
              <a:xfrm>
                <a:off x="5162551" y="3636963"/>
                <a:ext cx="233363" cy="234950"/>
              </a:xfrm>
              <a:custGeom>
                <a:avLst/>
                <a:gdLst/>
                <a:ahLst/>
                <a:cxnLst>
                  <a:cxn ang="0">
                    <a:pos x="9" y="48"/>
                  </a:cxn>
                  <a:cxn ang="0">
                    <a:pos x="12" y="55"/>
                  </a:cxn>
                  <a:cxn ang="0">
                    <a:pos x="8" y="59"/>
                  </a:cxn>
                  <a:cxn ang="0">
                    <a:pos x="8" y="64"/>
                  </a:cxn>
                  <a:cxn ang="0">
                    <a:pos x="14" y="70"/>
                  </a:cxn>
                  <a:cxn ang="0">
                    <a:pos x="19" y="70"/>
                  </a:cxn>
                  <a:cxn ang="0">
                    <a:pos x="23" y="67"/>
                  </a:cxn>
                  <a:cxn ang="0">
                    <a:pos x="31" y="70"/>
                  </a:cxn>
                  <a:cxn ang="0">
                    <a:pos x="31" y="75"/>
                  </a:cxn>
                  <a:cxn ang="0">
                    <a:pos x="35" y="79"/>
                  </a:cxn>
                  <a:cxn ang="0">
                    <a:pos x="43" y="79"/>
                  </a:cxn>
                  <a:cxn ang="0">
                    <a:pos x="47" y="75"/>
                  </a:cxn>
                  <a:cxn ang="0">
                    <a:pos x="47" y="70"/>
                  </a:cxn>
                  <a:cxn ang="0">
                    <a:pos x="55" y="67"/>
                  </a:cxn>
                  <a:cxn ang="0">
                    <a:pos x="59" y="70"/>
                  </a:cxn>
                  <a:cxn ang="0">
                    <a:pos x="64" y="70"/>
                  </a:cxn>
                  <a:cxn ang="0">
                    <a:pos x="70" y="64"/>
                  </a:cxn>
                  <a:cxn ang="0">
                    <a:pos x="70" y="59"/>
                  </a:cxn>
                  <a:cxn ang="0">
                    <a:pos x="67" y="55"/>
                  </a:cxn>
                  <a:cxn ang="0">
                    <a:pos x="70" y="48"/>
                  </a:cxn>
                  <a:cxn ang="0">
                    <a:pos x="75" y="47"/>
                  </a:cxn>
                  <a:cxn ang="0">
                    <a:pos x="78" y="43"/>
                  </a:cxn>
                  <a:cxn ang="0">
                    <a:pos x="78" y="35"/>
                  </a:cxn>
                  <a:cxn ang="0">
                    <a:pos x="75" y="31"/>
                  </a:cxn>
                  <a:cxn ang="0">
                    <a:pos x="70" y="31"/>
                  </a:cxn>
                  <a:cxn ang="0">
                    <a:pos x="67" y="23"/>
                  </a:cxn>
                  <a:cxn ang="0">
                    <a:pos x="70" y="20"/>
                  </a:cxn>
                  <a:cxn ang="0">
                    <a:pos x="70" y="15"/>
                  </a:cxn>
                  <a:cxn ang="0">
                    <a:pos x="64" y="9"/>
                  </a:cxn>
                  <a:cxn ang="0">
                    <a:pos x="59" y="8"/>
                  </a:cxn>
                  <a:cxn ang="0">
                    <a:pos x="56" y="11"/>
                  </a:cxn>
                  <a:cxn ang="0">
                    <a:pos x="48" y="8"/>
                  </a:cxn>
                  <a:cxn ang="0">
                    <a:pos x="47" y="3"/>
                  </a:cxn>
                  <a:cxn ang="0">
                    <a:pos x="44" y="0"/>
                  </a:cxn>
                  <a:cxn ang="0">
                    <a:pos x="35" y="0"/>
                  </a:cxn>
                  <a:cxn ang="0">
                    <a:pos x="32" y="3"/>
                  </a:cxn>
                  <a:cxn ang="0">
                    <a:pos x="31" y="8"/>
                  </a:cxn>
                  <a:cxn ang="0">
                    <a:pos x="23" y="12"/>
                  </a:cxn>
                  <a:cxn ang="0">
                    <a:pos x="19" y="8"/>
                  </a:cxn>
                  <a:cxn ang="0">
                    <a:pos x="14" y="9"/>
                  </a:cxn>
                  <a:cxn ang="0">
                    <a:pos x="8" y="15"/>
                  </a:cxn>
                  <a:cxn ang="0">
                    <a:pos x="8" y="20"/>
                  </a:cxn>
                  <a:cxn ang="0">
                    <a:pos x="11" y="24"/>
                  </a:cxn>
                  <a:cxn ang="0">
                    <a:pos x="8" y="31"/>
                  </a:cxn>
                  <a:cxn ang="0">
                    <a:pos x="3" y="32"/>
                  </a:cxn>
                  <a:cxn ang="0">
                    <a:pos x="0" y="35"/>
                  </a:cxn>
                  <a:cxn ang="0">
                    <a:pos x="0" y="44"/>
                  </a:cxn>
                  <a:cxn ang="0">
                    <a:pos x="3" y="47"/>
                  </a:cxn>
                  <a:cxn ang="0">
                    <a:pos x="9" y="48"/>
                  </a:cxn>
                  <a:cxn ang="0">
                    <a:pos x="39" y="25"/>
                  </a:cxn>
                  <a:cxn ang="0">
                    <a:pos x="53" y="39"/>
                  </a:cxn>
                  <a:cxn ang="0">
                    <a:pos x="39" y="53"/>
                  </a:cxn>
                  <a:cxn ang="0">
                    <a:pos x="25" y="39"/>
                  </a:cxn>
                  <a:cxn ang="0">
                    <a:pos x="39" y="25"/>
                  </a:cxn>
                  <a:cxn ang="0">
                    <a:pos x="39" y="25"/>
                  </a:cxn>
                  <a:cxn ang="0">
                    <a:pos x="39" y="25"/>
                  </a:cxn>
                </a:cxnLst>
                <a:rect l="0" t="0" r="r" b="b"/>
                <a:pathLst>
                  <a:path w="78" h="79">
                    <a:moveTo>
                      <a:pt x="9" y="48"/>
                    </a:moveTo>
                    <a:cubicBezTo>
                      <a:pt x="9" y="50"/>
                      <a:pt x="10" y="53"/>
                      <a:pt x="12" y="55"/>
                    </a:cubicBezTo>
                    <a:cubicBezTo>
                      <a:pt x="8" y="59"/>
                      <a:pt x="8" y="59"/>
                      <a:pt x="8" y="59"/>
                    </a:cubicBezTo>
                    <a:cubicBezTo>
                      <a:pt x="7" y="61"/>
                      <a:pt x="7" y="63"/>
                      <a:pt x="8" y="64"/>
                    </a:cubicBezTo>
                    <a:cubicBezTo>
                      <a:pt x="14" y="70"/>
                      <a:pt x="14" y="70"/>
                      <a:pt x="14" y="70"/>
                    </a:cubicBezTo>
                    <a:cubicBezTo>
                      <a:pt x="16" y="71"/>
                      <a:pt x="18" y="71"/>
                      <a:pt x="19" y="70"/>
                    </a:cubicBezTo>
                    <a:cubicBezTo>
                      <a:pt x="23" y="67"/>
                      <a:pt x="23" y="67"/>
                      <a:pt x="23" y="67"/>
                    </a:cubicBezTo>
                    <a:cubicBezTo>
                      <a:pt x="26" y="68"/>
                      <a:pt x="28" y="69"/>
                      <a:pt x="31" y="70"/>
                    </a:cubicBezTo>
                    <a:cubicBezTo>
                      <a:pt x="31" y="75"/>
                      <a:pt x="31" y="75"/>
                      <a:pt x="31" y="75"/>
                    </a:cubicBezTo>
                    <a:cubicBezTo>
                      <a:pt x="31" y="77"/>
                      <a:pt x="33" y="79"/>
                      <a:pt x="35" y="79"/>
                    </a:cubicBezTo>
                    <a:cubicBezTo>
                      <a:pt x="43" y="79"/>
                      <a:pt x="43" y="79"/>
                      <a:pt x="43" y="79"/>
                    </a:cubicBezTo>
                    <a:cubicBezTo>
                      <a:pt x="45" y="79"/>
                      <a:pt x="47" y="77"/>
                      <a:pt x="47" y="75"/>
                    </a:cubicBezTo>
                    <a:cubicBezTo>
                      <a:pt x="47" y="70"/>
                      <a:pt x="47" y="70"/>
                      <a:pt x="47" y="70"/>
                    </a:cubicBezTo>
                    <a:cubicBezTo>
                      <a:pt x="50" y="69"/>
                      <a:pt x="53" y="68"/>
                      <a:pt x="55" y="67"/>
                    </a:cubicBezTo>
                    <a:cubicBezTo>
                      <a:pt x="59" y="70"/>
                      <a:pt x="59" y="70"/>
                      <a:pt x="59" y="70"/>
                    </a:cubicBezTo>
                    <a:cubicBezTo>
                      <a:pt x="61" y="71"/>
                      <a:pt x="63" y="71"/>
                      <a:pt x="64" y="70"/>
                    </a:cubicBezTo>
                    <a:cubicBezTo>
                      <a:pt x="70" y="64"/>
                      <a:pt x="70" y="64"/>
                      <a:pt x="70" y="64"/>
                    </a:cubicBezTo>
                    <a:cubicBezTo>
                      <a:pt x="71" y="63"/>
                      <a:pt x="71" y="61"/>
                      <a:pt x="70" y="59"/>
                    </a:cubicBezTo>
                    <a:cubicBezTo>
                      <a:pt x="67" y="55"/>
                      <a:pt x="67" y="55"/>
                      <a:pt x="67" y="55"/>
                    </a:cubicBezTo>
                    <a:cubicBezTo>
                      <a:pt x="68" y="53"/>
                      <a:pt x="70" y="50"/>
                      <a:pt x="70" y="48"/>
                    </a:cubicBezTo>
                    <a:cubicBezTo>
                      <a:pt x="75" y="47"/>
                      <a:pt x="75" y="47"/>
                      <a:pt x="75" y="47"/>
                    </a:cubicBezTo>
                    <a:cubicBezTo>
                      <a:pt x="77" y="47"/>
                      <a:pt x="78" y="45"/>
                      <a:pt x="78" y="43"/>
                    </a:cubicBezTo>
                    <a:cubicBezTo>
                      <a:pt x="78" y="35"/>
                      <a:pt x="78" y="35"/>
                      <a:pt x="78" y="35"/>
                    </a:cubicBezTo>
                    <a:cubicBezTo>
                      <a:pt x="78" y="33"/>
                      <a:pt x="77" y="32"/>
                      <a:pt x="75" y="31"/>
                    </a:cubicBezTo>
                    <a:cubicBezTo>
                      <a:pt x="70" y="31"/>
                      <a:pt x="70" y="31"/>
                      <a:pt x="70" y="31"/>
                    </a:cubicBezTo>
                    <a:cubicBezTo>
                      <a:pt x="70" y="28"/>
                      <a:pt x="69" y="26"/>
                      <a:pt x="67" y="23"/>
                    </a:cubicBezTo>
                    <a:cubicBezTo>
                      <a:pt x="70" y="20"/>
                      <a:pt x="70" y="20"/>
                      <a:pt x="70" y="20"/>
                    </a:cubicBezTo>
                    <a:cubicBezTo>
                      <a:pt x="71" y="18"/>
                      <a:pt x="71" y="16"/>
                      <a:pt x="70" y="15"/>
                    </a:cubicBezTo>
                    <a:cubicBezTo>
                      <a:pt x="64" y="9"/>
                      <a:pt x="64" y="9"/>
                      <a:pt x="64" y="9"/>
                    </a:cubicBezTo>
                    <a:cubicBezTo>
                      <a:pt x="63" y="7"/>
                      <a:pt x="61" y="7"/>
                      <a:pt x="59" y="8"/>
                    </a:cubicBezTo>
                    <a:cubicBezTo>
                      <a:pt x="56" y="11"/>
                      <a:pt x="56" y="11"/>
                      <a:pt x="56" y="11"/>
                    </a:cubicBezTo>
                    <a:cubicBezTo>
                      <a:pt x="53" y="10"/>
                      <a:pt x="51" y="9"/>
                      <a:pt x="48" y="8"/>
                    </a:cubicBezTo>
                    <a:cubicBezTo>
                      <a:pt x="47" y="3"/>
                      <a:pt x="47" y="3"/>
                      <a:pt x="47" y="3"/>
                    </a:cubicBezTo>
                    <a:cubicBezTo>
                      <a:pt x="47" y="2"/>
                      <a:pt x="45" y="0"/>
                      <a:pt x="44" y="0"/>
                    </a:cubicBezTo>
                    <a:cubicBezTo>
                      <a:pt x="35" y="0"/>
                      <a:pt x="35" y="0"/>
                      <a:pt x="35" y="0"/>
                    </a:cubicBezTo>
                    <a:cubicBezTo>
                      <a:pt x="33" y="0"/>
                      <a:pt x="32" y="2"/>
                      <a:pt x="32" y="3"/>
                    </a:cubicBezTo>
                    <a:cubicBezTo>
                      <a:pt x="31" y="8"/>
                      <a:pt x="31" y="8"/>
                      <a:pt x="31" y="8"/>
                    </a:cubicBezTo>
                    <a:cubicBezTo>
                      <a:pt x="28" y="9"/>
                      <a:pt x="26" y="10"/>
                      <a:pt x="23" y="12"/>
                    </a:cubicBezTo>
                    <a:cubicBezTo>
                      <a:pt x="19" y="8"/>
                      <a:pt x="19" y="8"/>
                      <a:pt x="19" y="8"/>
                    </a:cubicBezTo>
                    <a:cubicBezTo>
                      <a:pt x="18" y="7"/>
                      <a:pt x="16" y="7"/>
                      <a:pt x="14" y="9"/>
                    </a:cubicBezTo>
                    <a:cubicBezTo>
                      <a:pt x="8" y="15"/>
                      <a:pt x="8" y="15"/>
                      <a:pt x="8" y="15"/>
                    </a:cubicBezTo>
                    <a:cubicBezTo>
                      <a:pt x="7" y="16"/>
                      <a:pt x="7" y="18"/>
                      <a:pt x="8" y="20"/>
                    </a:cubicBezTo>
                    <a:cubicBezTo>
                      <a:pt x="11" y="24"/>
                      <a:pt x="11" y="24"/>
                      <a:pt x="11" y="24"/>
                    </a:cubicBezTo>
                    <a:cubicBezTo>
                      <a:pt x="10" y="26"/>
                      <a:pt x="9" y="29"/>
                      <a:pt x="8" y="31"/>
                    </a:cubicBezTo>
                    <a:cubicBezTo>
                      <a:pt x="3" y="32"/>
                      <a:pt x="3" y="32"/>
                      <a:pt x="3" y="32"/>
                    </a:cubicBezTo>
                    <a:cubicBezTo>
                      <a:pt x="1" y="32"/>
                      <a:pt x="0" y="33"/>
                      <a:pt x="0" y="35"/>
                    </a:cubicBezTo>
                    <a:cubicBezTo>
                      <a:pt x="0" y="44"/>
                      <a:pt x="0" y="44"/>
                      <a:pt x="0" y="44"/>
                    </a:cubicBezTo>
                    <a:cubicBezTo>
                      <a:pt x="0" y="46"/>
                      <a:pt x="1" y="47"/>
                      <a:pt x="3" y="47"/>
                    </a:cubicBezTo>
                    <a:lnTo>
                      <a:pt x="9" y="48"/>
                    </a:lnTo>
                    <a:close/>
                    <a:moveTo>
                      <a:pt x="39" y="25"/>
                    </a:moveTo>
                    <a:cubicBezTo>
                      <a:pt x="47" y="25"/>
                      <a:pt x="53" y="31"/>
                      <a:pt x="53" y="39"/>
                    </a:cubicBezTo>
                    <a:cubicBezTo>
                      <a:pt x="53" y="47"/>
                      <a:pt x="47" y="53"/>
                      <a:pt x="39" y="53"/>
                    </a:cubicBezTo>
                    <a:cubicBezTo>
                      <a:pt x="32" y="53"/>
                      <a:pt x="25" y="47"/>
                      <a:pt x="25" y="39"/>
                    </a:cubicBezTo>
                    <a:cubicBezTo>
                      <a:pt x="25" y="31"/>
                      <a:pt x="32" y="25"/>
                      <a:pt x="39" y="25"/>
                    </a:cubicBezTo>
                    <a:close/>
                    <a:moveTo>
                      <a:pt x="39" y="25"/>
                    </a:moveTo>
                    <a:cubicBezTo>
                      <a:pt x="39" y="25"/>
                      <a:pt x="39" y="25"/>
                      <a:pt x="39" y="25"/>
                    </a:cubicBezTo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4572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sym typeface="+mn-lt"/>
                </a:endParaRPr>
              </a:p>
            </p:txBody>
          </p:sp>
          <p:sp>
            <p:nvSpPr>
              <p:cNvPr id="16" name="Freeform 15"/>
              <p:cNvSpPr>
                <a:spLocks noEditPoints="1"/>
              </p:cNvSpPr>
              <p:nvPr/>
            </p:nvSpPr>
            <p:spPr bwMode="auto">
              <a:xfrm>
                <a:off x="5365751" y="3756025"/>
                <a:ext cx="195263" cy="193675"/>
              </a:xfrm>
              <a:custGeom>
                <a:avLst/>
                <a:gdLst/>
                <a:ahLst/>
                <a:cxnLst>
                  <a:cxn ang="0">
                    <a:pos x="55" y="10"/>
                  </a:cxn>
                  <a:cxn ang="0">
                    <a:pos x="51" y="6"/>
                  </a:cxn>
                  <a:cxn ang="0">
                    <a:pos x="46" y="6"/>
                  </a:cxn>
                  <a:cxn ang="0">
                    <a:pos x="44" y="9"/>
                  </a:cxn>
                  <a:cxn ang="0">
                    <a:pos x="37" y="7"/>
                  </a:cxn>
                  <a:cxn ang="0">
                    <a:pos x="36" y="3"/>
                  </a:cxn>
                  <a:cxn ang="0">
                    <a:pos x="32" y="0"/>
                  </a:cxn>
                  <a:cxn ang="0">
                    <a:pos x="27" y="1"/>
                  </a:cxn>
                  <a:cxn ang="0">
                    <a:pos x="23" y="4"/>
                  </a:cxn>
                  <a:cxn ang="0">
                    <a:pos x="23" y="8"/>
                  </a:cxn>
                  <a:cxn ang="0">
                    <a:pos x="17" y="11"/>
                  </a:cxn>
                  <a:cxn ang="0">
                    <a:pos x="14" y="9"/>
                  </a:cxn>
                  <a:cxn ang="0">
                    <a:pos x="9" y="10"/>
                  </a:cxn>
                  <a:cxn ang="0">
                    <a:pos x="6" y="14"/>
                  </a:cxn>
                  <a:cxn ang="0">
                    <a:pos x="6" y="19"/>
                  </a:cxn>
                  <a:cxn ang="0">
                    <a:pos x="8" y="22"/>
                  </a:cxn>
                  <a:cxn ang="0">
                    <a:pos x="6" y="28"/>
                  </a:cxn>
                  <a:cxn ang="0">
                    <a:pos x="3" y="29"/>
                  </a:cxn>
                  <a:cxn ang="0">
                    <a:pos x="0" y="33"/>
                  </a:cxn>
                  <a:cxn ang="0">
                    <a:pos x="0" y="38"/>
                  </a:cxn>
                  <a:cxn ang="0">
                    <a:pos x="4" y="42"/>
                  </a:cxn>
                  <a:cxn ang="0">
                    <a:pos x="8" y="42"/>
                  </a:cxn>
                  <a:cxn ang="0">
                    <a:pos x="11" y="47"/>
                  </a:cxn>
                  <a:cxn ang="0">
                    <a:pos x="8" y="51"/>
                  </a:cxn>
                  <a:cxn ang="0">
                    <a:pos x="9" y="55"/>
                  </a:cxn>
                  <a:cxn ang="0">
                    <a:pos x="14" y="59"/>
                  </a:cxn>
                  <a:cxn ang="0">
                    <a:pos x="18" y="59"/>
                  </a:cxn>
                  <a:cxn ang="0">
                    <a:pos x="21" y="56"/>
                  </a:cxn>
                  <a:cxn ang="0">
                    <a:pos x="27" y="58"/>
                  </a:cxn>
                  <a:cxn ang="0">
                    <a:pos x="28" y="62"/>
                  </a:cxn>
                  <a:cxn ang="0">
                    <a:pos x="32" y="65"/>
                  </a:cxn>
                  <a:cxn ang="0">
                    <a:pos x="38" y="64"/>
                  </a:cxn>
                  <a:cxn ang="0">
                    <a:pos x="41" y="61"/>
                  </a:cxn>
                  <a:cxn ang="0">
                    <a:pos x="41" y="57"/>
                  </a:cxn>
                  <a:cxn ang="0">
                    <a:pos x="47" y="54"/>
                  </a:cxn>
                  <a:cxn ang="0">
                    <a:pos x="50" y="56"/>
                  </a:cxn>
                  <a:cxn ang="0">
                    <a:pos x="55" y="56"/>
                  </a:cxn>
                  <a:cxn ang="0">
                    <a:pos x="59" y="51"/>
                  </a:cxn>
                  <a:cxn ang="0">
                    <a:pos x="59" y="46"/>
                  </a:cxn>
                  <a:cxn ang="0">
                    <a:pos x="56" y="44"/>
                  </a:cxn>
                  <a:cxn ang="0">
                    <a:pos x="58" y="37"/>
                  </a:cxn>
                  <a:cxn ang="0">
                    <a:pos x="62" y="37"/>
                  </a:cxn>
                  <a:cxn ang="0">
                    <a:pos x="64" y="33"/>
                  </a:cxn>
                  <a:cxn ang="0">
                    <a:pos x="64" y="27"/>
                  </a:cxn>
                  <a:cxn ang="0">
                    <a:pos x="60" y="24"/>
                  </a:cxn>
                  <a:cxn ang="0">
                    <a:pos x="57" y="24"/>
                  </a:cxn>
                  <a:cxn ang="0">
                    <a:pos x="54" y="18"/>
                  </a:cxn>
                  <a:cxn ang="0">
                    <a:pos x="56" y="15"/>
                  </a:cxn>
                  <a:cxn ang="0">
                    <a:pos x="55" y="10"/>
                  </a:cxn>
                  <a:cxn ang="0">
                    <a:pos x="33" y="44"/>
                  </a:cxn>
                  <a:cxn ang="0">
                    <a:pos x="21" y="33"/>
                  </a:cxn>
                  <a:cxn ang="0">
                    <a:pos x="31" y="21"/>
                  </a:cxn>
                  <a:cxn ang="0">
                    <a:pos x="44" y="31"/>
                  </a:cxn>
                  <a:cxn ang="0">
                    <a:pos x="33" y="44"/>
                  </a:cxn>
                  <a:cxn ang="0">
                    <a:pos x="33" y="44"/>
                  </a:cxn>
                  <a:cxn ang="0">
                    <a:pos x="33" y="44"/>
                  </a:cxn>
                </a:cxnLst>
                <a:rect l="0" t="0" r="r" b="b"/>
                <a:pathLst>
                  <a:path w="65" h="65">
                    <a:moveTo>
                      <a:pt x="55" y="10"/>
                    </a:moveTo>
                    <a:cubicBezTo>
                      <a:pt x="51" y="6"/>
                      <a:pt x="51" y="6"/>
                      <a:pt x="51" y="6"/>
                    </a:cubicBezTo>
                    <a:cubicBezTo>
                      <a:pt x="49" y="5"/>
                      <a:pt x="47" y="5"/>
                      <a:pt x="46" y="6"/>
                    </a:cubicBezTo>
                    <a:cubicBezTo>
                      <a:pt x="44" y="9"/>
                      <a:pt x="44" y="9"/>
                      <a:pt x="44" y="9"/>
                    </a:cubicBezTo>
                    <a:cubicBezTo>
                      <a:pt x="41" y="8"/>
                      <a:pt x="39" y="7"/>
                      <a:pt x="37" y="7"/>
                    </a:cubicBezTo>
                    <a:cubicBezTo>
                      <a:pt x="36" y="3"/>
                      <a:pt x="36" y="3"/>
                      <a:pt x="36" y="3"/>
                    </a:cubicBezTo>
                    <a:cubicBezTo>
                      <a:pt x="36" y="1"/>
                      <a:pt x="34" y="0"/>
                      <a:pt x="32" y="0"/>
                    </a:cubicBezTo>
                    <a:cubicBezTo>
                      <a:pt x="27" y="1"/>
                      <a:pt x="27" y="1"/>
                      <a:pt x="27" y="1"/>
                    </a:cubicBezTo>
                    <a:cubicBezTo>
                      <a:pt x="25" y="1"/>
                      <a:pt x="23" y="2"/>
                      <a:pt x="23" y="4"/>
                    </a:cubicBezTo>
                    <a:cubicBezTo>
                      <a:pt x="23" y="8"/>
                      <a:pt x="23" y="8"/>
                      <a:pt x="23" y="8"/>
                    </a:cubicBezTo>
                    <a:cubicBezTo>
                      <a:pt x="21" y="9"/>
                      <a:pt x="19" y="10"/>
                      <a:pt x="17" y="11"/>
                    </a:cubicBezTo>
                    <a:cubicBezTo>
                      <a:pt x="14" y="9"/>
                      <a:pt x="14" y="9"/>
                      <a:pt x="14" y="9"/>
                    </a:cubicBezTo>
                    <a:cubicBezTo>
                      <a:pt x="13" y="8"/>
                      <a:pt x="11" y="8"/>
                      <a:pt x="9" y="10"/>
                    </a:cubicBezTo>
                    <a:cubicBezTo>
                      <a:pt x="6" y="14"/>
                      <a:pt x="6" y="14"/>
                      <a:pt x="6" y="14"/>
                    </a:cubicBezTo>
                    <a:cubicBezTo>
                      <a:pt x="4" y="16"/>
                      <a:pt x="4" y="18"/>
                      <a:pt x="6" y="19"/>
                    </a:cubicBezTo>
                    <a:cubicBezTo>
                      <a:pt x="8" y="22"/>
                      <a:pt x="8" y="22"/>
                      <a:pt x="8" y="22"/>
                    </a:cubicBezTo>
                    <a:cubicBezTo>
                      <a:pt x="7" y="24"/>
                      <a:pt x="7" y="26"/>
                      <a:pt x="6" y="28"/>
                    </a:cubicBezTo>
                    <a:cubicBezTo>
                      <a:pt x="3" y="29"/>
                      <a:pt x="3" y="29"/>
                      <a:pt x="3" y="29"/>
                    </a:cubicBezTo>
                    <a:cubicBezTo>
                      <a:pt x="1" y="29"/>
                      <a:pt x="0" y="31"/>
                      <a:pt x="0" y="33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1" y="40"/>
                      <a:pt x="2" y="42"/>
                      <a:pt x="4" y="42"/>
                    </a:cubicBezTo>
                    <a:cubicBezTo>
                      <a:pt x="8" y="42"/>
                      <a:pt x="8" y="42"/>
                      <a:pt x="8" y="42"/>
                    </a:cubicBezTo>
                    <a:cubicBezTo>
                      <a:pt x="9" y="44"/>
                      <a:pt x="9" y="45"/>
                      <a:pt x="11" y="47"/>
                    </a:cubicBezTo>
                    <a:cubicBezTo>
                      <a:pt x="8" y="51"/>
                      <a:pt x="8" y="51"/>
                      <a:pt x="8" y="51"/>
                    </a:cubicBezTo>
                    <a:cubicBezTo>
                      <a:pt x="7" y="52"/>
                      <a:pt x="8" y="54"/>
                      <a:pt x="9" y="55"/>
                    </a:cubicBezTo>
                    <a:cubicBezTo>
                      <a:pt x="14" y="59"/>
                      <a:pt x="14" y="59"/>
                      <a:pt x="14" y="59"/>
                    </a:cubicBezTo>
                    <a:cubicBezTo>
                      <a:pt x="15" y="60"/>
                      <a:pt x="17" y="60"/>
                      <a:pt x="18" y="59"/>
                    </a:cubicBezTo>
                    <a:cubicBezTo>
                      <a:pt x="21" y="56"/>
                      <a:pt x="21" y="56"/>
                      <a:pt x="21" y="56"/>
                    </a:cubicBezTo>
                    <a:cubicBezTo>
                      <a:pt x="23" y="57"/>
                      <a:pt x="25" y="58"/>
                      <a:pt x="27" y="58"/>
                    </a:cubicBezTo>
                    <a:cubicBezTo>
                      <a:pt x="28" y="62"/>
                      <a:pt x="28" y="62"/>
                      <a:pt x="28" y="62"/>
                    </a:cubicBezTo>
                    <a:cubicBezTo>
                      <a:pt x="28" y="64"/>
                      <a:pt x="30" y="65"/>
                      <a:pt x="32" y="65"/>
                    </a:cubicBezTo>
                    <a:cubicBezTo>
                      <a:pt x="38" y="64"/>
                      <a:pt x="38" y="64"/>
                      <a:pt x="38" y="64"/>
                    </a:cubicBezTo>
                    <a:cubicBezTo>
                      <a:pt x="39" y="64"/>
                      <a:pt x="41" y="63"/>
                      <a:pt x="41" y="61"/>
                    </a:cubicBezTo>
                    <a:cubicBezTo>
                      <a:pt x="41" y="57"/>
                      <a:pt x="41" y="57"/>
                      <a:pt x="41" y="57"/>
                    </a:cubicBezTo>
                    <a:cubicBezTo>
                      <a:pt x="43" y="56"/>
                      <a:pt x="45" y="55"/>
                      <a:pt x="47" y="54"/>
                    </a:cubicBezTo>
                    <a:cubicBezTo>
                      <a:pt x="50" y="56"/>
                      <a:pt x="50" y="56"/>
                      <a:pt x="50" y="56"/>
                    </a:cubicBezTo>
                    <a:cubicBezTo>
                      <a:pt x="52" y="57"/>
                      <a:pt x="54" y="57"/>
                      <a:pt x="55" y="56"/>
                    </a:cubicBezTo>
                    <a:cubicBezTo>
                      <a:pt x="59" y="51"/>
                      <a:pt x="59" y="51"/>
                      <a:pt x="59" y="51"/>
                    </a:cubicBezTo>
                    <a:cubicBezTo>
                      <a:pt x="60" y="50"/>
                      <a:pt x="60" y="48"/>
                      <a:pt x="59" y="46"/>
                    </a:cubicBezTo>
                    <a:cubicBezTo>
                      <a:pt x="56" y="44"/>
                      <a:pt x="56" y="44"/>
                      <a:pt x="56" y="44"/>
                    </a:cubicBezTo>
                    <a:cubicBezTo>
                      <a:pt x="57" y="42"/>
                      <a:pt x="58" y="39"/>
                      <a:pt x="58" y="37"/>
                    </a:cubicBezTo>
                    <a:cubicBezTo>
                      <a:pt x="62" y="37"/>
                      <a:pt x="62" y="37"/>
                      <a:pt x="62" y="37"/>
                    </a:cubicBezTo>
                    <a:cubicBezTo>
                      <a:pt x="63" y="36"/>
                      <a:pt x="65" y="35"/>
                      <a:pt x="64" y="33"/>
                    </a:cubicBezTo>
                    <a:cubicBezTo>
                      <a:pt x="64" y="27"/>
                      <a:pt x="64" y="27"/>
                      <a:pt x="64" y="27"/>
                    </a:cubicBezTo>
                    <a:cubicBezTo>
                      <a:pt x="64" y="25"/>
                      <a:pt x="62" y="24"/>
                      <a:pt x="60" y="24"/>
                    </a:cubicBezTo>
                    <a:cubicBezTo>
                      <a:pt x="57" y="24"/>
                      <a:pt x="57" y="24"/>
                      <a:pt x="57" y="24"/>
                    </a:cubicBezTo>
                    <a:cubicBezTo>
                      <a:pt x="56" y="21"/>
                      <a:pt x="55" y="20"/>
                      <a:pt x="54" y="18"/>
                    </a:cubicBezTo>
                    <a:cubicBezTo>
                      <a:pt x="56" y="15"/>
                      <a:pt x="56" y="15"/>
                      <a:pt x="56" y="15"/>
                    </a:cubicBezTo>
                    <a:cubicBezTo>
                      <a:pt x="57" y="13"/>
                      <a:pt x="57" y="11"/>
                      <a:pt x="55" y="10"/>
                    </a:cubicBezTo>
                    <a:close/>
                    <a:moveTo>
                      <a:pt x="33" y="44"/>
                    </a:moveTo>
                    <a:cubicBezTo>
                      <a:pt x="27" y="44"/>
                      <a:pt x="21" y="40"/>
                      <a:pt x="21" y="33"/>
                    </a:cubicBezTo>
                    <a:cubicBezTo>
                      <a:pt x="20" y="27"/>
                      <a:pt x="25" y="21"/>
                      <a:pt x="31" y="21"/>
                    </a:cubicBezTo>
                    <a:cubicBezTo>
                      <a:pt x="38" y="20"/>
                      <a:pt x="43" y="25"/>
                      <a:pt x="44" y="31"/>
                    </a:cubicBezTo>
                    <a:cubicBezTo>
                      <a:pt x="44" y="38"/>
                      <a:pt x="40" y="43"/>
                      <a:pt x="33" y="44"/>
                    </a:cubicBezTo>
                    <a:close/>
                    <a:moveTo>
                      <a:pt x="33" y="44"/>
                    </a:moveTo>
                    <a:cubicBezTo>
                      <a:pt x="33" y="44"/>
                      <a:pt x="33" y="44"/>
                      <a:pt x="33" y="44"/>
                    </a:cubicBezTo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4572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sym typeface="+mn-lt"/>
                </a:endParaRPr>
              </a:p>
            </p:txBody>
          </p:sp>
          <p:sp>
            <p:nvSpPr>
              <p:cNvPr id="17" name="Freeform 16"/>
              <p:cNvSpPr>
                <a:spLocks noEditPoints="1"/>
              </p:cNvSpPr>
              <p:nvPr/>
            </p:nvSpPr>
            <p:spPr bwMode="auto">
              <a:xfrm>
                <a:off x="5240338" y="3871913"/>
                <a:ext cx="155575" cy="155575"/>
              </a:xfrm>
              <a:custGeom>
                <a:avLst/>
                <a:gdLst/>
                <a:ahLst/>
                <a:cxnLst>
                  <a:cxn ang="0">
                    <a:pos x="3" y="21"/>
                  </a:cxn>
                  <a:cxn ang="0">
                    <a:pos x="0" y="24"/>
                  </a:cxn>
                  <a:cxn ang="0">
                    <a:pos x="0" y="28"/>
                  </a:cxn>
                  <a:cxn ang="0">
                    <a:pos x="3" y="31"/>
                  </a:cxn>
                  <a:cxn ang="0">
                    <a:pos x="6" y="32"/>
                  </a:cxn>
                  <a:cxn ang="0">
                    <a:pos x="7" y="36"/>
                  </a:cxn>
                  <a:cxn ang="0">
                    <a:pos x="6" y="38"/>
                  </a:cxn>
                  <a:cxn ang="0">
                    <a:pos x="6" y="43"/>
                  </a:cxn>
                  <a:cxn ang="0">
                    <a:pos x="9" y="45"/>
                  </a:cxn>
                  <a:cxn ang="0">
                    <a:pos x="13" y="46"/>
                  </a:cxn>
                  <a:cxn ang="0">
                    <a:pos x="15" y="44"/>
                  </a:cxn>
                  <a:cxn ang="0">
                    <a:pos x="20" y="46"/>
                  </a:cxn>
                  <a:cxn ang="0">
                    <a:pos x="20" y="49"/>
                  </a:cxn>
                  <a:cxn ang="0">
                    <a:pos x="24" y="52"/>
                  </a:cxn>
                  <a:cxn ang="0">
                    <a:pos x="27" y="52"/>
                  </a:cxn>
                  <a:cxn ang="0">
                    <a:pos x="31" y="49"/>
                  </a:cxn>
                  <a:cxn ang="0">
                    <a:pos x="31" y="47"/>
                  </a:cxn>
                  <a:cxn ang="0">
                    <a:pos x="36" y="45"/>
                  </a:cxn>
                  <a:cxn ang="0">
                    <a:pos x="38" y="46"/>
                  </a:cxn>
                  <a:cxn ang="0">
                    <a:pos x="43" y="46"/>
                  </a:cxn>
                  <a:cxn ang="0">
                    <a:pos x="46" y="43"/>
                  </a:cxn>
                  <a:cxn ang="0">
                    <a:pos x="46" y="39"/>
                  </a:cxn>
                  <a:cxn ang="0">
                    <a:pos x="45" y="37"/>
                  </a:cxn>
                  <a:cxn ang="0">
                    <a:pos x="47" y="32"/>
                  </a:cxn>
                  <a:cxn ang="0">
                    <a:pos x="49" y="32"/>
                  </a:cxn>
                  <a:cxn ang="0">
                    <a:pos x="52" y="28"/>
                  </a:cxn>
                  <a:cxn ang="0">
                    <a:pos x="52" y="24"/>
                  </a:cxn>
                  <a:cxn ang="0">
                    <a:pos x="49" y="21"/>
                  </a:cxn>
                  <a:cxn ang="0">
                    <a:pos x="47" y="21"/>
                  </a:cxn>
                  <a:cxn ang="0">
                    <a:pos x="45" y="16"/>
                  </a:cxn>
                  <a:cxn ang="0">
                    <a:pos x="46" y="14"/>
                  </a:cxn>
                  <a:cxn ang="0">
                    <a:pos x="46" y="9"/>
                  </a:cxn>
                  <a:cxn ang="0">
                    <a:pos x="44" y="7"/>
                  </a:cxn>
                  <a:cxn ang="0">
                    <a:pos x="39" y="6"/>
                  </a:cxn>
                  <a:cxn ang="0">
                    <a:pos x="37" y="8"/>
                  </a:cxn>
                  <a:cxn ang="0">
                    <a:pos x="32" y="5"/>
                  </a:cxn>
                  <a:cxn ang="0">
                    <a:pos x="32" y="3"/>
                  </a:cxn>
                  <a:cxn ang="0">
                    <a:pos x="28" y="0"/>
                  </a:cxn>
                  <a:cxn ang="0">
                    <a:pos x="25" y="0"/>
                  </a:cxn>
                  <a:cxn ang="0">
                    <a:pos x="21" y="3"/>
                  </a:cxn>
                  <a:cxn ang="0">
                    <a:pos x="21" y="5"/>
                  </a:cxn>
                  <a:cxn ang="0">
                    <a:pos x="16" y="7"/>
                  </a:cxn>
                  <a:cxn ang="0">
                    <a:pos x="14" y="6"/>
                  </a:cxn>
                  <a:cxn ang="0">
                    <a:pos x="9" y="6"/>
                  </a:cxn>
                  <a:cxn ang="0">
                    <a:pos x="6" y="9"/>
                  </a:cxn>
                  <a:cxn ang="0">
                    <a:pos x="6" y="13"/>
                  </a:cxn>
                  <a:cxn ang="0">
                    <a:pos x="8" y="15"/>
                  </a:cxn>
                  <a:cxn ang="0">
                    <a:pos x="6" y="20"/>
                  </a:cxn>
                  <a:cxn ang="0">
                    <a:pos x="3" y="21"/>
                  </a:cxn>
                  <a:cxn ang="0">
                    <a:pos x="26" y="16"/>
                  </a:cxn>
                  <a:cxn ang="0">
                    <a:pos x="36" y="26"/>
                  </a:cxn>
                  <a:cxn ang="0">
                    <a:pos x="26" y="35"/>
                  </a:cxn>
                  <a:cxn ang="0">
                    <a:pos x="17" y="26"/>
                  </a:cxn>
                  <a:cxn ang="0">
                    <a:pos x="26" y="16"/>
                  </a:cxn>
                  <a:cxn ang="0">
                    <a:pos x="26" y="16"/>
                  </a:cxn>
                  <a:cxn ang="0">
                    <a:pos x="26" y="16"/>
                  </a:cxn>
                </a:cxnLst>
                <a:rect l="0" t="0" r="r" b="b"/>
                <a:pathLst>
                  <a:path w="52" h="52">
                    <a:moveTo>
                      <a:pt x="3" y="21"/>
                    </a:moveTo>
                    <a:cubicBezTo>
                      <a:pt x="1" y="21"/>
                      <a:pt x="0" y="22"/>
                      <a:pt x="0" y="24"/>
                    </a:cubicBezTo>
                    <a:cubicBezTo>
                      <a:pt x="0" y="28"/>
                      <a:pt x="0" y="28"/>
                      <a:pt x="0" y="28"/>
                    </a:cubicBezTo>
                    <a:cubicBezTo>
                      <a:pt x="0" y="29"/>
                      <a:pt x="1" y="31"/>
                      <a:pt x="3" y="31"/>
                    </a:cubicBezTo>
                    <a:cubicBezTo>
                      <a:pt x="6" y="32"/>
                      <a:pt x="6" y="32"/>
                      <a:pt x="6" y="32"/>
                    </a:cubicBezTo>
                    <a:cubicBezTo>
                      <a:pt x="6" y="33"/>
                      <a:pt x="7" y="35"/>
                      <a:pt x="7" y="36"/>
                    </a:cubicBezTo>
                    <a:cubicBezTo>
                      <a:pt x="6" y="38"/>
                      <a:pt x="6" y="38"/>
                      <a:pt x="6" y="38"/>
                    </a:cubicBezTo>
                    <a:cubicBezTo>
                      <a:pt x="5" y="40"/>
                      <a:pt x="5" y="42"/>
                      <a:pt x="6" y="43"/>
                    </a:cubicBezTo>
                    <a:cubicBezTo>
                      <a:pt x="9" y="45"/>
                      <a:pt x="9" y="45"/>
                      <a:pt x="9" y="45"/>
                    </a:cubicBezTo>
                    <a:cubicBezTo>
                      <a:pt x="10" y="47"/>
                      <a:pt x="12" y="47"/>
                      <a:pt x="13" y="46"/>
                    </a:cubicBezTo>
                    <a:cubicBezTo>
                      <a:pt x="15" y="44"/>
                      <a:pt x="15" y="44"/>
                      <a:pt x="15" y="44"/>
                    </a:cubicBezTo>
                    <a:cubicBezTo>
                      <a:pt x="17" y="45"/>
                      <a:pt x="18" y="46"/>
                      <a:pt x="20" y="46"/>
                    </a:cubicBezTo>
                    <a:cubicBezTo>
                      <a:pt x="20" y="49"/>
                      <a:pt x="20" y="49"/>
                      <a:pt x="20" y="49"/>
                    </a:cubicBezTo>
                    <a:cubicBezTo>
                      <a:pt x="21" y="51"/>
                      <a:pt x="22" y="52"/>
                      <a:pt x="24" y="52"/>
                    </a:cubicBezTo>
                    <a:cubicBezTo>
                      <a:pt x="27" y="52"/>
                      <a:pt x="27" y="52"/>
                      <a:pt x="27" y="52"/>
                    </a:cubicBezTo>
                    <a:cubicBezTo>
                      <a:pt x="29" y="52"/>
                      <a:pt x="31" y="51"/>
                      <a:pt x="31" y="49"/>
                    </a:cubicBezTo>
                    <a:cubicBezTo>
                      <a:pt x="31" y="47"/>
                      <a:pt x="31" y="47"/>
                      <a:pt x="31" y="47"/>
                    </a:cubicBezTo>
                    <a:cubicBezTo>
                      <a:pt x="33" y="46"/>
                      <a:pt x="35" y="45"/>
                      <a:pt x="36" y="45"/>
                    </a:cubicBezTo>
                    <a:cubicBezTo>
                      <a:pt x="38" y="46"/>
                      <a:pt x="38" y="46"/>
                      <a:pt x="38" y="46"/>
                    </a:cubicBezTo>
                    <a:cubicBezTo>
                      <a:pt x="40" y="47"/>
                      <a:pt x="42" y="47"/>
                      <a:pt x="43" y="46"/>
                    </a:cubicBezTo>
                    <a:cubicBezTo>
                      <a:pt x="46" y="43"/>
                      <a:pt x="46" y="43"/>
                      <a:pt x="46" y="43"/>
                    </a:cubicBezTo>
                    <a:cubicBezTo>
                      <a:pt x="47" y="42"/>
                      <a:pt x="47" y="40"/>
                      <a:pt x="46" y="39"/>
                    </a:cubicBezTo>
                    <a:cubicBezTo>
                      <a:pt x="45" y="37"/>
                      <a:pt x="45" y="37"/>
                      <a:pt x="45" y="37"/>
                    </a:cubicBezTo>
                    <a:cubicBezTo>
                      <a:pt x="45" y="35"/>
                      <a:pt x="46" y="33"/>
                      <a:pt x="47" y="32"/>
                    </a:cubicBezTo>
                    <a:cubicBezTo>
                      <a:pt x="49" y="32"/>
                      <a:pt x="49" y="32"/>
                      <a:pt x="49" y="32"/>
                    </a:cubicBezTo>
                    <a:cubicBezTo>
                      <a:pt x="51" y="31"/>
                      <a:pt x="52" y="30"/>
                      <a:pt x="52" y="28"/>
                    </a:cubicBezTo>
                    <a:cubicBezTo>
                      <a:pt x="52" y="24"/>
                      <a:pt x="52" y="24"/>
                      <a:pt x="52" y="24"/>
                    </a:cubicBezTo>
                    <a:cubicBezTo>
                      <a:pt x="52" y="23"/>
                      <a:pt x="51" y="21"/>
                      <a:pt x="49" y="21"/>
                    </a:cubicBezTo>
                    <a:cubicBezTo>
                      <a:pt x="47" y="21"/>
                      <a:pt x="47" y="21"/>
                      <a:pt x="47" y="21"/>
                    </a:cubicBezTo>
                    <a:cubicBezTo>
                      <a:pt x="46" y="19"/>
                      <a:pt x="46" y="17"/>
                      <a:pt x="45" y="16"/>
                    </a:cubicBezTo>
                    <a:cubicBezTo>
                      <a:pt x="46" y="14"/>
                      <a:pt x="46" y="14"/>
                      <a:pt x="46" y="14"/>
                    </a:cubicBezTo>
                    <a:cubicBezTo>
                      <a:pt x="47" y="12"/>
                      <a:pt x="47" y="10"/>
                      <a:pt x="46" y="9"/>
                    </a:cubicBezTo>
                    <a:cubicBezTo>
                      <a:pt x="44" y="7"/>
                      <a:pt x="44" y="7"/>
                      <a:pt x="44" y="7"/>
                    </a:cubicBezTo>
                    <a:cubicBezTo>
                      <a:pt x="42" y="5"/>
                      <a:pt x="40" y="5"/>
                      <a:pt x="39" y="6"/>
                    </a:cubicBezTo>
                    <a:cubicBezTo>
                      <a:pt x="37" y="8"/>
                      <a:pt x="37" y="8"/>
                      <a:pt x="37" y="8"/>
                    </a:cubicBezTo>
                    <a:cubicBezTo>
                      <a:pt x="36" y="7"/>
                      <a:pt x="34" y="6"/>
                      <a:pt x="32" y="5"/>
                    </a:cubicBezTo>
                    <a:cubicBezTo>
                      <a:pt x="32" y="3"/>
                      <a:pt x="32" y="3"/>
                      <a:pt x="32" y="3"/>
                    </a:cubicBezTo>
                    <a:cubicBezTo>
                      <a:pt x="32" y="1"/>
                      <a:pt x="30" y="0"/>
                      <a:pt x="28" y="0"/>
                    </a:cubicBezTo>
                    <a:cubicBezTo>
                      <a:pt x="25" y="0"/>
                      <a:pt x="25" y="0"/>
                      <a:pt x="25" y="0"/>
                    </a:cubicBezTo>
                    <a:cubicBezTo>
                      <a:pt x="23" y="0"/>
                      <a:pt x="21" y="1"/>
                      <a:pt x="21" y="3"/>
                    </a:cubicBezTo>
                    <a:cubicBezTo>
                      <a:pt x="21" y="5"/>
                      <a:pt x="21" y="5"/>
                      <a:pt x="21" y="5"/>
                    </a:cubicBezTo>
                    <a:cubicBezTo>
                      <a:pt x="19" y="6"/>
                      <a:pt x="17" y="6"/>
                      <a:pt x="16" y="7"/>
                    </a:cubicBezTo>
                    <a:cubicBezTo>
                      <a:pt x="14" y="6"/>
                      <a:pt x="14" y="6"/>
                      <a:pt x="14" y="6"/>
                    </a:cubicBezTo>
                    <a:cubicBezTo>
                      <a:pt x="12" y="5"/>
                      <a:pt x="10" y="5"/>
                      <a:pt x="9" y="6"/>
                    </a:cubicBezTo>
                    <a:cubicBezTo>
                      <a:pt x="6" y="9"/>
                      <a:pt x="6" y="9"/>
                      <a:pt x="6" y="9"/>
                    </a:cubicBezTo>
                    <a:cubicBezTo>
                      <a:pt x="5" y="10"/>
                      <a:pt x="5" y="12"/>
                      <a:pt x="6" y="13"/>
                    </a:cubicBezTo>
                    <a:cubicBezTo>
                      <a:pt x="8" y="15"/>
                      <a:pt x="8" y="15"/>
                      <a:pt x="8" y="15"/>
                    </a:cubicBezTo>
                    <a:cubicBezTo>
                      <a:pt x="7" y="17"/>
                      <a:pt x="6" y="19"/>
                      <a:pt x="6" y="20"/>
                    </a:cubicBezTo>
                    <a:lnTo>
                      <a:pt x="3" y="21"/>
                    </a:lnTo>
                    <a:close/>
                    <a:moveTo>
                      <a:pt x="26" y="16"/>
                    </a:moveTo>
                    <a:cubicBezTo>
                      <a:pt x="31" y="17"/>
                      <a:pt x="36" y="21"/>
                      <a:pt x="36" y="26"/>
                    </a:cubicBezTo>
                    <a:cubicBezTo>
                      <a:pt x="35" y="31"/>
                      <a:pt x="31" y="35"/>
                      <a:pt x="26" y="35"/>
                    </a:cubicBezTo>
                    <a:cubicBezTo>
                      <a:pt x="21" y="35"/>
                      <a:pt x="17" y="31"/>
                      <a:pt x="17" y="26"/>
                    </a:cubicBezTo>
                    <a:cubicBezTo>
                      <a:pt x="17" y="21"/>
                      <a:pt x="21" y="16"/>
                      <a:pt x="26" y="16"/>
                    </a:cubicBezTo>
                    <a:close/>
                    <a:moveTo>
                      <a:pt x="26" y="16"/>
                    </a:moveTo>
                    <a:cubicBezTo>
                      <a:pt x="26" y="16"/>
                      <a:pt x="26" y="16"/>
                      <a:pt x="26" y="16"/>
                    </a:cubicBezTo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4572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sym typeface="+mn-lt"/>
                </a:endParaRPr>
              </a:p>
            </p:txBody>
          </p:sp>
        </p:grpSp>
        <p:sp>
          <p:nvSpPr>
            <p:cNvPr id="10" name="Freeform 17"/>
            <p:cNvSpPr>
              <a:spLocks noEditPoints="1"/>
            </p:cNvSpPr>
            <p:nvPr/>
          </p:nvSpPr>
          <p:spPr bwMode="auto">
            <a:xfrm>
              <a:off x="4622344" y="2067032"/>
              <a:ext cx="422752" cy="628156"/>
            </a:xfrm>
            <a:custGeom>
              <a:avLst/>
              <a:gdLst/>
              <a:ahLst/>
              <a:cxnLst>
                <a:cxn ang="0">
                  <a:pos x="47" y="0"/>
                </a:cxn>
                <a:cxn ang="0">
                  <a:pos x="10" y="76"/>
                </a:cxn>
                <a:cxn ang="0">
                  <a:pos x="24" y="124"/>
                </a:cxn>
                <a:cxn ang="0">
                  <a:pos x="34" y="128"/>
                </a:cxn>
                <a:cxn ang="0">
                  <a:pos x="44" y="140"/>
                </a:cxn>
                <a:cxn ang="0">
                  <a:pos x="62" y="130"/>
                </a:cxn>
                <a:cxn ang="0">
                  <a:pos x="67" y="128"/>
                </a:cxn>
                <a:cxn ang="0">
                  <a:pos x="72" y="94"/>
                </a:cxn>
                <a:cxn ang="0">
                  <a:pos x="94" y="46"/>
                </a:cxn>
                <a:cxn ang="0">
                  <a:pos x="32" y="53"/>
                </a:cxn>
                <a:cxn ang="0">
                  <a:pos x="43" y="56"/>
                </a:cxn>
                <a:cxn ang="0">
                  <a:pos x="47" y="56"/>
                </a:cxn>
                <a:cxn ang="0">
                  <a:pos x="55" y="55"/>
                </a:cxn>
                <a:cxn ang="0">
                  <a:pos x="58" y="56"/>
                </a:cxn>
                <a:cxn ang="0">
                  <a:pos x="54" y="89"/>
                </a:cxn>
                <a:cxn ang="0">
                  <a:pos x="62" y="98"/>
                </a:cxn>
                <a:cxn ang="0">
                  <a:pos x="33" y="106"/>
                </a:cxn>
                <a:cxn ang="0">
                  <a:pos x="62" y="98"/>
                </a:cxn>
                <a:cxn ang="0">
                  <a:pos x="33" y="111"/>
                </a:cxn>
                <a:cxn ang="0">
                  <a:pos x="62" y="118"/>
                </a:cxn>
                <a:cxn ang="0">
                  <a:pos x="64" y="88"/>
                </a:cxn>
                <a:cxn ang="0">
                  <a:pos x="70" y="49"/>
                </a:cxn>
                <a:cxn ang="0">
                  <a:pos x="63" y="48"/>
                </a:cxn>
                <a:cxn ang="0">
                  <a:pos x="58" y="51"/>
                </a:cxn>
                <a:cxn ang="0">
                  <a:pos x="52" y="42"/>
                </a:cxn>
                <a:cxn ang="0">
                  <a:pos x="44" y="51"/>
                </a:cxn>
                <a:cxn ang="0">
                  <a:pos x="36" y="45"/>
                </a:cxn>
                <a:cxn ang="0">
                  <a:pos x="31" y="48"/>
                </a:cxn>
                <a:cxn ang="0">
                  <a:pos x="24" y="50"/>
                </a:cxn>
                <a:cxn ang="0">
                  <a:pos x="31" y="89"/>
                </a:cxn>
                <a:cxn ang="0">
                  <a:pos x="9" y="47"/>
                </a:cxn>
                <a:cxn ang="0">
                  <a:pos x="85" y="47"/>
                </a:cxn>
                <a:cxn ang="0">
                  <a:pos x="64" y="88"/>
                </a:cxn>
                <a:cxn ang="0">
                  <a:pos x="64" y="88"/>
                </a:cxn>
              </a:cxnLst>
              <a:rect l="0" t="0" r="r" b="b"/>
              <a:pathLst>
                <a:path w="94" h="140">
                  <a:moveTo>
                    <a:pt x="94" y="46"/>
                  </a:moveTo>
                  <a:cubicBezTo>
                    <a:pt x="94" y="20"/>
                    <a:pt x="73" y="0"/>
                    <a:pt x="47" y="0"/>
                  </a:cubicBezTo>
                  <a:cubicBezTo>
                    <a:pt x="21" y="0"/>
                    <a:pt x="0" y="21"/>
                    <a:pt x="0" y="47"/>
                  </a:cubicBezTo>
                  <a:cubicBezTo>
                    <a:pt x="0" y="58"/>
                    <a:pt x="4" y="68"/>
                    <a:pt x="10" y="76"/>
                  </a:cubicBezTo>
                  <a:cubicBezTo>
                    <a:pt x="15" y="82"/>
                    <a:pt x="20" y="89"/>
                    <a:pt x="23" y="95"/>
                  </a:cubicBezTo>
                  <a:cubicBezTo>
                    <a:pt x="24" y="124"/>
                    <a:pt x="24" y="124"/>
                    <a:pt x="24" y="124"/>
                  </a:cubicBezTo>
                  <a:cubicBezTo>
                    <a:pt x="24" y="126"/>
                    <a:pt x="26" y="128"/>
                    <a:pt x="28" y="128"/>
                  </a:cubicBezTo>
                  <a:cubicBezTo>
                    <a:pt x="34" y="128"/>
                    <a:pt x="34" y="128"/>
                    <a:pt x="34" y="128"/>
                  </a:cubicBezTo>
                  <a:cubicBezTo>
                    <a:pt x="34" y="130"/>
                    <a:pt x="34" y="130"/>
                    <a:pt x="34" y="130"/>
                  </a:cubicBezTo>
                  <a:cubicBezTo>
                    <a:pt x="34" y="136"/>
                    <a:pt x="38" y="140"/>
                    <a:pt x="44" y="140"/>
                  </a:cubicBezTo>
                  <a:cubicBezTo>
                    <a:pt x="52" y="140"/>
                    <a:pt x="52" y="140"/>
                    <a:pt x="52" y="140"/>
                  </a:cubicBezTo>
                  <a:cubicBezTo>
                    <a:pt x="58" y="140"/>
                    <a:pt x="62" y="136"/>
                    <a:pt x="62" y="130"/>
                  </a:cubicBezTo>
                  <a:cubicBezTo>
                    <a:pt x="62" y="128"/>
                    <a:pt x="62" y="128"/>
                    <a:pt x="62" y="128"/>
                  </a:cubicBezTo>
                  <a:cubicBezTo>
                    <a:pt x="67" y="128"/>
                    <a:pt x="67" y="128"/>
                    <a:pt x="67" y="128"/>
                  </a:cubicBezTo>
                  <a:cubicBezTo>
                    <a:pt x="70" y="128"/>
                    <a:pt x="72" y="126"/>
                    <a:pt x="72" y="123"/>
                  </a:cubicBezTo>
                  <a:cubicBezTo>
                    <a:pt x="72" y="94"/>
                    <a:pt x="72" y="94"/>
                    <a:pt x="72" y="94"/>
                  </a:cubicBezTo>
                  <a:cubicBezTo>
                    <a:pt x="75" y="88"/>
                    <a:pt x="80" y="82"/>
                    <a:pt x="84" y="76"/>
                  </a:cubicBezTo>
                  <a:cubicBezTo>
                    <a:pt x="91" y="67"/>
                    <a:pt x="94" y="57"/>
                    <a:pt x="94" y="46"/>
                  </a:cubicBezTo>
                  <a:close/>
                  <a:moveTo>
                    <a:pt x="41" y="89"/>
                  </a:moveTo>
                  <a:cubicBezTo>
                    <a:pt x="32" y="53"/>
                    <a:pt x="32" y="53"/>
                    <a:pt x="32" y="53"/>
                  </a:cubicBezTo>
                  <a:cubicBezTo>
                    <a:pt x="37" y="50"/>
                    <a:pt x="37" y="50"/>
                    <a:pt x="37" y="50"/>
                  </a:cubicBezTo>
                  <a:cubicBezTo>
                    <a:pt x="43" y="56"/>
                    <a:pt x="43" y="56"/>
                    <a:pt x="43" y="56"/>
                  </a:cubicBezTo>
                  <a:cubicBezTo>
                    <a:pt x="44" y="56"/>
                    <a:pt x="44" y="56"/>
                    <a:pt x="45" y="56"/>
                  </a:cubicBezTo>
                  <a:cubicBezTo>
                    <a:pt x="46" y="56"/>
                    <a:pt x="46" y="56"/>
                    <a:pt x="47" y="56"/>
                  </a:cubicBezTo>
                  <a:cubicBezTo>
                    <a:pt x="52" y="49"/>
                    <a:pt x="52" y="49"/>
                    <a:pt x="52" y="49"/>
                  </a:cubicBezTo>
                  <a:cubicBezTo>
                    <a:pt x="55" y="55"/>
                    <a:pt x="55" y="55"/>
                    <a:pt x="55" y="55"/>
                  </a:cubicBezTo>
                  <a:cubicBezTo>
                    <a:pt x="55" y="56"/>
                    <a:pt x="56" y="56"/>
                    <a:pt x="57" y="56"/>
                  </a:cubicBezTo>
                  <a:cubicBezTo>
                    <a:pt x="57" y="56"/>
                    <a:pt x="58" y="56"/>
                    <a:pt x="58" y="56"/>
                  </a:cubicBezTo>
                  <a:cubicBezTo>
                    <a:pt x="62" y="54"/>
                    <a:pt x="62" y="54"/>
                    <a:pt x="62" y="54"/>
                  </a:cubicBezTo>
                  <a:cubicBezTo>
                    <a:pt x="54" y="89"/>
                    <a:pt x="54" y="89"/>
                    <a:pt x="54" y="89"/>
                  </a:cubicBezTo>
                  <a:lnTo>
                    <a:pt x="41" y="89"/>
                  </a:lnTo>
                  <a:close/>
                  <a:moveTo>
                    <a:pt x="62" y="98"/>
                  </a:moveTo>
                  <a:cubicBezTo>
                    <a:pt x="62" y="106"/>
                    <a:pt x="62" y="106"/>
                    <a:pt x="62" y="106"/>
                  </a:cubicBezTo>
                  <a:cubicBezTo>
                    <a:pt x="33" y="106"/>
                    <a:pt x="33" y="106"/>
                    <a:pt x="33" y="106"/>
                  </a:cubicBezTo>
                  <a:cubicBezTo>
                    <a:pt x="33" y="98"/>
                    <a:pt x="33" y="98"/>
                    <a:pt x="33" y="98"/>
                  </a:cubicBezTo>
                  <a:lnTo>
                    <a:pt x="62" y="98"/>
                  </a:lnTo>
                  <a:close/>
                  <a:moveTo>
                    <a:pt x="33" y="119"/>
                  </a:moveTo>
                  <a:cubicBezTo>
                    <a:pt x="33" y="111"/>
                    <a:pt x="33" y="111"/>
                    <a:pt x="33" y="111"/>
                  </a:cubicBezTo>
                  <a:cubicBezTo>
                    <a:pt x="62" y="111"/>
                    <a:pt x="62" y="111"/>
                    <a:pt x="62" y="111"/>
                  </a:cubicBezTo>
                  <a:cubicBezTo>
                    <a:pt x="62" y="118"/>
                    <a:pt x="62" y="118"/>
                    <a:pt x="62" y="118"/>
                  </a:cubicBezTo>
                  <a:lnTo>
                    <a:pt x="33" y="119"/>
                  </a:lnTo>
                  <a:close/>
                  <a:moveTo>
                    <a:pt x="64" y="88"/>
                  </a:moveTo>
                  <a:cubicBezTo>
                    <a:pt x="62" y="88"/>
                    <a:pt x="62" y="88"/>
                    <a:pt x="62" y="88"/>
                  </a:cubicBezTo>
                  <a:cubicBezTo>
                    <a:pt x="70" y="49"/>
                    <a:pt x="70" y="49"/>
                    <a:pt x="70" y="49"/>
                  </a:cubicBezTo>
                  <a:cubicBezTo>
                    <a:pt x="71" y="48"/>
                    <a:pt x="69" y="46"/>
                    <a:pt x="67" y="45"/>
                  </a:cubicBezTo>
                  <a:cubicBezTo>
                    <a:pt x="66" y="45"/>
                    <a:pt x="64" y="46"/>
                    <a:pt x="63" y="48"/>
                  </a:cubicBezTo>
                  <a:cubicBezTo>
                    <a:pt x="63" y="49"/>
                    <a:pt x="63" y="49"/>
                    <a:pt x="63" y="49"/>
                  </a:cubicBezTo>
                  <a:cubicBezTo>
                    <a:pt x="58" y="51"/>
                    <a:pt x="58" y="51"/>
                    <a:pt x="58" y="51"/>
                  </a:cubicBezTo>
                  <a:cubicBezTo>
                    <a:pt x="54" y="44"/>
                    <a:pt x="54" y="44"/>
                    <a:pt x="54" y="44"/>
                  </a:cubicBezTo>
                  <a:cubicBezTo>
                    <a:pt x="54" y="43"/>
                    <a:pt x="53" y="43"/>
                    <a:pt x="52" y="42"/>
                  </a:cubicBezTo>
                  <a:cubicBezTo>
                    <a:pt x="52" y="42"/>
                    <a:pt x="51" y="43"/>
                    <a:pt x="50" y="43"/>
                  </a:cubicBezTo>
                  <a:cubicBezTo>
                    <a:pt x="44" y="51"/>
                    <a:pt x="44" y="51"/>
                    <a:pt x="44" y="51"/>
                  </a:cubicBezTo>
                  <a:cubicBezTo>
                    <a:pt x="39" y="45"/>
                    <a:pt x="39" y="45"/>
                    <a:pt x="39" y="45"/>
                  </a:cubicBezTo>
                  <a:cubicBezTo>
                    <a:pt x="38" y="45"/>
                    <a:pt x="37" y="45"/>
                    <a:pt x="36" y="45"/>
                  </a:cubicBezTo>
                  <a:cubicBezTo>
                    <a:pt x="31" y="48"/>
                    <a:pt x="31" y="48"/>
                    <a:pt x="31" y="48"/>
                  </a:cubicBezTo>
                  <a:cubicBezTo>
                    <a:pt x="31" y="48"/>
                    <a:pt x="31" y="48"/>
                    <a:pt x="31" y="48"/>
                  </a:cubicBezTo>
                  <a:cubicBezTo>
                    <a:pt x="31" y="46"/>
                    <a:pt x="29" y="45"/>
                    <a:pt x="27" y="46"/>
                  </a:cubicBezTo>
                  <a:cubicBezTo>
                    <a:pt x="25" y="46"/>
                    <a:pt x="24" y="48"/>
                    <a:pt x="24" y="50"/>
                  </a:cubicBezTo>
                  <a:cubicBezTo>
                    <a:pt x="33" y="89"/>
                    <a:pt x="33" y="89"/>
                    <a:pt x="33" y="89"/>
                  </a:cubicBezTo>
                  <a:cubicBezTo>
                    <a:pt x="31" y="89"/>
                    <a:pt x="31" y="89"/>
                    <a:pt x="31" y="89"/>
                  </a:cubicBezTo>
                  <a:cubicBezTo>
                    <a:pt x="27" y="82"/>
                    <a:pt x="22" y="76"/>
                    <a:pt x="18" y="70"/>
                  </a:cubicBezTo>
                  <a:cubicBezTo>
                    <a:pt x="12" y="64"/>
                    <a:pt x="10" y="56"/>
                    <a:pt x="9" y="47"/>
                  </a:cubicBezTo>
                  <a:cubicBezTo>
                    <a:pt x="9" y="26"/>
                    <a:pt x="26" y="9"/>
                    <a:pt x="47" y="9"/>
                  </a:cubicBezTo>
                  <a:cubicBezTo>
                    <a:pt x="68" y="9"/>
                    <a:pt x="85" y="26"/>
                    <a:pt x="85" y="47"/>
                  </a:cubicBezTo>
                  <a:cubicBezTo>
                    <a:pt x="85" y="55"/>
                    <a:pt x="82" y="63"/>
                    <a:pt x="77" y="70"/>
                  </a:cubicBezTo>
                  <a:cubicBezTo>
                    <a:pt x="72" y="76"/>
                    <a:pt x="68" y="82"/>
                    <a:pt x="64" y="88"/>
                  </a:cubicBezTo>
                  <a:close/>
                  <a:moveTo>
                    <a:pt x="64" y="88"/>
                  </a:moveTo>
                  <a:cubicBezTo>
                    <a:pt x="64" y="88"/>
                    <a:pt x="64" y="88"/>
                    <a:pt x="64" y="88"/>
                  </a:cubicBezTo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sym typeface="+mn-lt"/>
              </a:endParaRPr>
            </a:p>
          </p:txBody>
        </p:sp>
        <p:sp>
          <p:nvSpPr>
            <p:cNvPr id="11" name="TextBox 56"/>
            <p:cNvSpPr txBox="1"/>
            <p:nvPr/>
          </p:nvSpPr>
          <p:spPr>
            <a:xfrm>
              <a:off x="5281860" y="2496032"/>
              <a:ext cx="550151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800" b="1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sym typeface="+mn-lt"/>
                </a:rPr>
                <a:t>01</a:t>
              </a:r>
              <a:br>
                <a: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sym typeface="+mn-lt"/>
                </a:rPr>
              </a:br>
              <a:endParaRPr kumimoji="0" lang="en-US" sz="12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sym typeface="+mn-lt"/>
              </a:endParaRPr>
            </a:p>
          </p:txBody>
        </p:sp>
        <p:sp>
          <p:nvSpPr>
            <p:cNvPr id="12" name="TextBox 57"/>
            <p:cNvSpPr txBox="1"/>
            <p:nvPr/>
          </p:nvSpPr>
          <p:spPr>
            <a:xfrm>
              <a:off x="6355124" y="2496032"/>
              <a:ext cx="550151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800" b="1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sym typeface="+mn-lt"/>
                </a:rPr>
                <a:t>02</a:t>
              </a:r>
              <a:br>
                <a: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sym typeface="+mn-lt"/>
                </a:rPr>
              </a:br>
              <a:endParaRPr kumimoji="0" lang="en-US" sz="12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sym typeface="+mn-lt"/>
              </a:endParaRPr>
            </a:p>
          </p:txBody>
        </p:sp>
        <p:sp>
          <p:nvSpPr>
            <p:cNvPr id="13" name="TextBox 58"/>
            <p:cNvSpPr txBox="1"/>
            <p:nvPr/>
          </p:nvSpPr>
          <p:spPr>
            <a:xfrm>
              <a:off x="5281860" y="4095994"/>
              <a:ext cx="550151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800" b="1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sym typeface="+mn-lt"/>
                </a:rPr>
                <a:t>03</a:t>
              </a:r>
              <a:br>
                <a: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sym typeface="+mn-lt"/>
                </a:rPr>
              </a:br>
              <a:endParaRPr kumimoji="0" lang="en-US" sz="12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sym typeface="+mn-lt"/>
              </a:endParaRPr>
            </a:p>
          </p:txBody>
        </p:sp>
        <p:sp>
          <p:nvSpPr>
            <p:cNvPr id="14" name="TextBox 59"/>
            <p:cNvSpPr txBox="1"/>
            <p:nvPr/>
          </p:nvSpPr>
          <p:spPr>
            <a:xfrm>
              <a:off x="6355124" y="4095994"/>
              <a:ext cx="550151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800" b="1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sym typeface="+mn-lt"/>
                </a:rPr>
                <a:t>04</a:t>
              </a:r>
              <a:br>
                <a: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sym typeface="+mn-lt"/>
                </a:rPr>
              </a:br>
              <a:endParaRPr kumimoji="0" lang="en-US" sz="12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sym typeface="+mn-lt"/>
              </a:endParaRPr>
            </a:p>
          </p:txBody>
        </p:sp>
      </p:grpSp>
      <p:grpSp>
        <p:nvGrpSpPr>
          <p:cNvPr id="26" name="PA_组合 25"/>
          <p:cNvGrpSpPr/>
          <p:nvPr>
            <p:custDataLst>
              <p:tags r:id="rId1"/>
            </p:custDataLst>
          </p:nvPr>
        </p:nvGrpSpPr>
        <p:grpSpPr>
          <a:xfrm>
            <a:off x="1628282" y="2526644"/>
            <a:ext cx="2855980" cy="823738"/>
            <a:chOff x="656868" y="2381121"/>
            <a:chExt cx="2855980" cy="823738"/>
          </a:xfrm>
        </p:grpSpPr>
        <p:sp>
          <p:nvSpPr>
            <p:cNvPr id="24" name="文本框 23"/>
            <p:cNvSpPr txBox="1"/>
            <p:nvPr/>
          </p:nvSpPr>
          <p:spPr>
            <a:xfrm>
              <a:off x="928440" y="2381121"/>
              <a:ext cx="2031325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400" b="1" dirty="0">
                  <a:solidFill>
                    <a:srgbClr val="24569D"/>
                  </a:solidFill>
                </a:rPr>
                <a:t>知识表示方法</a:t>
              </a:r>
            </a:p>
          </p:txBody>
        </p:sp>
        <p:sp>
          <p:nvSpPr>
            <p:cNvPr id="25" name="文本框 24"/>
            <p:cNvSpPr txBox="1"/>
            <p:nvPr/>
          </p:nvSpPr>
          <p:spPr>
            <a:xfrm>
              <a:off x="656868" y="2743194"/>
              <a:ext cx="285598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en-US" altLang="zh-CN" sz="2400" dirty="0">
                <a:latin typeface="微软雅黑" panose="020B0503020204020204" pitchFamily="34" charset="-122"/>
              </a:endParaRPr>
            </a:p>
          </p:txBody>
        </p:sp>
      </p:grpSp>
      <p:sp>
        <p:nvSpPr>
          <p:cNvPr id="28" name="文本框 27"/>
          <p:cNvSpPr txBox="1"/>
          <p:nvPr/>
        </p:nvSpPr>
        <p:spPr>
          <a:xfrm>
            <a:off x="8502923" y="4920321"/>
            <a:ext cx="203132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dirty="0">
                <a:solidFill>
                  <a:srgbClr val="24569D"/>
                </a:solidFill>
              </a:rPr>
              <a:t>逻辑推理案例</a:t>
            </a:r>
          </a:p>
        </p:txBody>
      </p:sp>
      <p:sp>
        <p:nvSpPr>
          <p:cNvPr id="30" name="文本框 29"/>
          <p:cNvSpPr txBox="1"/>
          <p:nvPr/>
        </p:nvSpPr>
        <p:spPr>
          <a:xfrm>
            <a:off x="8441833" y="2411796"/>
            <a:ext cx="295465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dirty="0">
                <a:solidFill>
                  <a:srgbClr val="FF0000"/>
                </a:solidFill>
              </a:rPr>
              <a:t>命题逻辑与谓词逻辑</a:t>
            </a:r>
          </a:p>
        </p:txBody>
      </p:sp>
      <p:sp>
        <p:nvSpPr>
          <p:cNvPr id="29" name="矩形 28"/>
          <p:cNvSpPr/>
          <p:nvPr/>
        </p:nvSpPr>
        <p:spPr>
          <a:xfrm>
            <a:off x="1898705" y="4869981"/>
            <a:ext cx="233910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/>
            <a:r>
              <a:rPr lang="zh-CN" altLang="en-US" sz="2400" b="1" dirty="0">
                <a:solidFill>
                  <a:srgbClr val="24569D"/>
                </a:solidFill>
              </a:rPr>
              <a:t>归结原理及应用</a:t>
            </a:r>
          </a:p>
        </p:txBody>
      </p:sp>
    </p:spTree>
    <p:extLst>
      <p:ext uri="{BB962C8B-B14F-4D97-AF65-F5344CB8AC3E}">
        <p14:creationId xmlns:p14="http://schemas.microsoft.com/office/powerpoint/2010/main" val="129590920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: 圆角 6"/>
          <p:cNvSpPr/>
          <p:nvPr/>
        </p:nvSpPr>
        <p:spPr>
          <a:xfrm>
            <a:off x="520995" y="1748968"/>
            <a:ext cx="7836196" cy="4631124"/>
          </a:xfrm>
          <a:prstGeom prst="roundRect">
            <a:avLst>
              <a:gd name="adj" fmla="val 0"/>
            </a:avLst>
          </a:prstGeom>
          <a:gradFill>
            <a:gsLst>
              <a:gs pos="22000">
                <a:srgbClr val="016773"/>
              </a:gs>
              <a:gs pos="100000">
                <a:srgbClr val="00ABA5"/>
              </a:gs>
            </a:gsLst>
            <a:lin ang="3000000" scaled="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矩形: 圆角 6"/>
          <p:cNvSpPr/>
          <p:nvPr/>
        </p:nvSpPr>
        <p:spPr>
          <a:xfrm>
            <a:off x="8767935" y="2126618"/>
            <a:ext cx="2897135" cy="3339925"/>
          </a:xfrm>
          <a:prstGeom prst="roundRect">
            <a:avLst>
              <a:gd name="adj" fmla="val 0"/>
            </a:avLst>
          </a:prstGeom>
          <a:gradFill>
            <a:gsLst>
              <a:gs pos="22000">
                <a:srgbClr val="016773"/>
              </a:gs>
              <a:gs pos="100000">
                <a:srgbClr val="00ABA5"/>
              </a:gs>
            </a:gsLst>
            <a:lin ang="3000000" scaled="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8998959" y="2775308"/>
            <a:ext cx="2672046" cy="204254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zh-CN" b="1" dirty="0">
                <a:solidFill>
                  <a:srgbClr val="FFFF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imSun" panose="02010600030101010101" pitchFamily="2" charset="-122"/>
                <a:ea typeface="SimSun" panose="02010600030101010101" pitchFamily="2" charset="-122"/>
                <a:cs typeface="Times New Roman" panose="02020603050405020304" pitchFamily="18" charset="0"/>
              </a:rPr>
              <a:t>原子命题</a:t>
            </a:r>
            <a:r>
              <a:rPr lang="zh-CN" altLang="zh-CN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imSun" panose="02010600030101010101" pitchFamily="2" charset="-122"/>
                <a:ea typeface="SimSun" panose="02010600030101010101" pitchFamily="2" charset="-122"/>
                <a:cs typeface="Times New Roman" panose="02020603050405020304" pitchFamily="18" charset="0"/>
              </a:rPr>
              <a:t>：不包含其他命题作为其组成部分的命题，又称简单命题。</a:t>
            </a:r>
          </a:p>
          <a:p>
            <a:pPr algn="just">
              <a:lnSpc>
                <a:spcPct val="120000"/>
              </a:lnSpc>
            </a:pPr>
            <a:endParaRPr lang="zh-CN" altLang="en-US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矩形 2"/>
              <p:cNvSpPr/>
              <p:nvPr/>
            </p:nvSpPr>
            <p:spPr>
              <a:xfrm>
                <a:off x="643568" y="1805870"/>
                <a:ext cx="7836195" cy="509094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  <a:buClr>
                    <a:schemeClr val="bg1"/>
                  </a:buClr>
                  <a:buSzPct val="80000"/>
                </a:pPr>
                <a:r>
                  <a:rPr lang="zh-CN" altLang="zh-CN" dirty="0"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SimSun" panose="02010600030101010101" pitchFamily="2" charset="-122"/>
                    <a:ea typeface="SimSun" panose="02010600030101010101" pitchFamily="2" charset="-122"/>
                    <a:cs typeface="Times New Roman" panose="02020603050405020304" pitchFamily="18" charset="0"/>
                  </a:rPr>
                  <a:t>命题通常用小写符号来表示，如</a:t>
                </a:r>
                <a14:m>
                  <m:oMath xmlns:m="http://schemas.openxmlformats.org/officeDocument/2006/math">
                    <m:r>
                      <a:rPr lang="en-US" altLang="zh-CN">
                        <a:solidFill>
                          <a:schemeClr val="bg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𝑝</m:t>
                    </m:r>
                  </m:oMath>
                </a14:m>
                <a:r>
                  <a:rPr lang="zh-CN" altLang="zh-CN" dirty="0"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SimSun" panose="02010600030101010101" pitchFamily="2" charset="-122"/>
                    <a:ea typeface="SimSun" panose="02010600030101010101" pitchFamily="2" charset="-122"/>
                    <a:cs typeface="Times New Roman" panose="02020603050405020304" pitchFamily="18" charset="0"/>
                  </a:rPr>
                  <a:t>或者</a:t>
                </a:r>
                <a14:m>
                  <m:oMath xmlns:m="http://schemas.openxmlformats.org/officeDocument/2006/math">
                    <m:r>
                      <a:rPr lang="zh-CN" altLang="zh-CN">
                        <a:solidFill>
                          <a:schemeClr val="bg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altLang="zh-CN">
                        <a:solidFill>
                          <a:schemeClr val="bg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𝑞</m:t>
                    </m:r>
                  </m:oMath>
                </a14:m>
                <a:r>
                  <a:rPr lang="zh-CN" altLang="zh-CN" dirty="0"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SimSun" panose="02010600030101010101" pitchFamily="2" charset="-122"/>
                    <a:ea typeface="SimSun" panose="02010600030101010101" pitchFamily="2" charset="-122"/>
                    <a:cs typeface="Times New Roman" panose="02020603050405020304" pitchFamily="18" charset="0"/>
                  </a:rPr>
                  <a:t>。命题总是具有一个</a:t>
                </a:r>
                <a:r>
                  <a:rPr lang="en-US" altLang="zh-CN" dirty="0"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SimSun" panose="02010600030101010101" pitchFamily="2" charset="-122"/>
                    <a:ea typeface="SimSun" panose="02010600030101010101" pitchFamily="2" charset="-122"/>
                    <a:cs typeface="Times New Roman" panose="02020603050405020304" pitchFamily="18" charset="0"/>
                  </a:rPr>
                  <a:t>“</a:t>
                </a:r>
                <a:r>
                  <a:rPr lang="zh-CN" altLang="zh-CN" dirty="0"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SimSun" panose="02010600030101010101" pitchFamily="2" charset="-122"/>
                    <a:ea typeface="SimSun" panose="02010600030101010101" pitchFamily="2" charset="-122"/>
                    <a:cs typeface="Times New Roman" panose="02020603050405020304" pitchFamily="18" charset="0"/>
                  </a:rPr>
                  <a:t>真值</a:t>
                </a:r>
                <a:r>
                  <a:rPr lang="en-US" altLang="zh-CN" dirty="0"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SimSun" panose="02010600030101010101" pitchFamily="2" charset="-122"/>
                    <a:ea typeface="SimSun" panose="02010600030101010101" pitchFamily="2" charset="-122"/>
                    <a:cs typeface="Times New Roman" panose="02020603050405020304" pitchFamily="18" charset="0"/>
                  </a:rPr>
                  <a:t>”</a:t>
                </a:r>
                <a:r>
                  <a:rPr lang="zh-CN" altLang="zh-CN" dirty="0"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SimSun" panose="02010600030101010101" pitchFamily="2" charset="-122"/>
                    <a:ea typeface="SimSun" panose="02010600030101010101" pitchFamily="2" charset="-122"/>
                    <a:cs typeface="Times New Roman" panose="02020603050405020304" pitchFamily="18" charset="0"/>
                  </a:rPr>
                  <a:t>，它只有两种可能性：真或假，分别用符号</a:t>
                </a:r>
                <a:r>
                  <a:rPr lang="en-US" altLang="zh-CN" dirty="0"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SimSun" panose="02010600030101010101" pitchFamily="2" charset="-122"/>
                    <a:ea typeface="SimSun" panose="02010600030101010101" pitchFamily="2" charset="-122"/>
                    <a:cs typeface="Times New Roman" panose="02020603050405020304" pitchFamily="18" charset="0"/>
                  </a:rPr>
                  <a:t>T</a:t>
                </a:r>
                <a:r>
                  <a:rPr lang="zh-CN" altLang="zh-CN" dirty="0"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SimSun" panose="02010600030101010101" pitchFamily="2" charset="-122"/>
                    <a:ea typeface="SimSun" panose="02010600030101010101" pitchFamily="2" charset="-122"/>
                    <a:cs typeface="Times New Roman" panose="02020603050405020304" pitchFamily="18" charset="0"/>
                  </a:rPr>
                  <a:t>（</a:t>
                </a:r>
                <a:r>
                  <a:rPr lang="en-US" altLang="zh-CN" dirty="0"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SimSun" panose="02010600030101010101" pitchFamily="2" charset="-122"/>
                    <a:ea typeface="SimSun" panose="02010600030101010101" pitchFamily="2" charset="-122"/>
                    <a:cs typeface="Times New Roman" panose="02020603050405020304" pitchFamily="18" charset="0"/>
                  </a:rPr>
                  <a:t>True</a:t>
                </a:r>
                <a:r>
                  <a:rPr lang="zh-CN" altLang="zh-CN" dirty="0"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SimSun" panose="02010600030101010101" pitchFamily="2" charset="-122"/>
                    <a:ea typeface="SimSun" panose="02010600030101010101" pitchFamily="2" charset="-122"/>
                    <a:cs typeface="Times New Roman" panose="02020603050405020304" pitchFamily="18" charset="0"/>
                  </a:rPr>
                  <a:t>）和</a:t>
                </a:r>
                <a:r>
                  <a:rPr lang="en-US" altLang="zh-CN" dirty="0"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SimSun" panose="02010600030101010101" pitchFamily="2" charset="-122"/>
                    <a:ea typeface="SimSun" panose="02010600030101010101" pitchFamily="2" charset="-122"/>
                    <a:cs typeface="Times New Roman" panose="02020603050405020304" pitchFamily="18" charset="0"/>
                  </a:rPr>
                  <a:t>F</a:t>
                </a:r>
                <a:r>
                  <a:rPr lang="zh-CN" altLang="zh-CN" dirty="0"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SimSun" panose="02010600030101010101" pitchFamily="2" charset="-122"/>
                    <a:ea typeface="SimSun" panose="02010600030101010101" pitchFamily="2" charset="-122"/>
                    <a:cs typeface="Times New Roman" panose="02020603050405020304" pitchFamily="18" charset="0"/>
                  </a:rPr>
                  <a:t>（</a:t>
                </a:r>
                <a:r>
                  <a:rPr lang="en-US" altLang="zh-CN" dirty="0"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SimSun" panose="02010600030101010101" pitchFamily="2" charset="-122"/>
                    <a:ea typeface="SimSun" panose="02010600030101010101" pitchFamily="2" charset="-122"/>
                    <a:cs typeface="Times New Roman" panose="02020603050405020304" pitchFamily="18" charset="0"/>
                  </a:rPr>
                  <a:t>False</a:t>
                </a:r>
                <a:r>
                  <a:rPr lang="zh-CN" altLang="zh-CN" dirty="0"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SimSun" panose="02010600030101010101" pitchFamily="2" charset="-122"/>
                    <a:ea typeface="SimSun" panose="02010600030101010101" pitchFamily="2" charset="-122"/>
                    <a:cs typeface="Times New Roman" panose="02020603050405020304" pitchFamily="18" charset="0"/>
                  </a:rPr>
                  <a:t>）表示。只有具有确定真值的陈述句才是命题，无法判断真或假的描述性句子不能作为命题</a:t>
                </a:r>
                <a:r>
                  <a:rPr lang="en-US" altLang="zh-CN" dirty="0"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SimSun" panose="02010600030101010101" pitchFamily="2" charset="-122"/>
                    <a:ea typeface="SimSun" panose="02010600030101010101" pitchFamily="2" charset="-122"/>
                    <a:cs typeface="Times New Roman" panose="02020603050405020304" pitchFamily="18" charset="0"/>
                  </a:rPr>
                  <a:t> </a:t>
                </a:r>
              </a:p>
              <a:p>
                <a:pPr marL="342900" indent="-342900">
                  <a:lnSpc>
                    <a:spcPct val="200000"/>
                  </a:lnSpc>
                  <a:buClr>
                    <a:schemeClr val="bg1"/>
                  </a:buClr>
                  <a:buSzPct val="80000"/>
                  <a:buFont typeface="Wingdings" panose="05000000000000000000" pitchFamily="2" charset="2"/>
                  <a:buChar char="u"/>
                </a:pPr>
                <a:r>
                  <a:rPr lang="zh-CN" altLang="zh-CN" b="1" dirty="0">
                    <a:solidFill>
                      <a:srgbClr val="FFFFCC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SimSun" panose="02010600030101010101" pitchFamily="2" charset="-122"/>
                    <a:ea typeface="SimSun" panose="02010600030101010101" pitchFamily="2" charset="-122"/>
                    <a:cs typeface="Times New Roman" panose="02020603050405020304" pitchFamily="18" charset="0"/>
                  </a:rPr>
                  <a:t>北京是中国的首都</a:t>
                </a:r>
                <a:r>
                  <a:rPr lang="en-US" altLang="zh-CN" b="1" dirty="0">
                    <a:solidFill>
                      <a:srgbClr val="FFFFCC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SimSun" panose="02010600030101010101" pitchFamily="2" charset="-122"/>
                    <a:ea typeface="SimSun" panose="02010600030101010101" pitchFamily="2" charset="-122"/>
                    <a:cs typeface="Times New Roman" panose="02020603050405020304" pitchFamily="18" charset="0"/>
                  </a:rPr>
                  <a:t>  </a:t>
                </a:r>
                <a:r>
                  <a:rPr lang="zh-CN" altLang="en-US" b="1" dirty="0">
                    <a:solidFill>
                      <a:srgbClr val="FFFFCC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SimSun" panose="02010600030101010101" pitchFamily="2" charset="-122"/>
                    <a:ea typeface="SimSun" panose="02010600030101010101" pitchFamily="2" charset="-122"/>
                    <a:cs typeface="Times New Roman" panose="02020603050405020304" pitchFamily="18" charset="0"/>
                  </a:rPr>
                  <a:t>（</a:t>
                </a:r>
                <a:r>
                  <a:rPr lang="zh-CN" altLang="en-US" b="1" dirty="0">
                    <a:solidFill>
                      <a:srgbClr val="FFFFCC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SimSun" panose="02010600030101010101" pitchFamily="2" charset="-122"/>
                    <a:ea typeface="SimSun" panose="02010600030101010101" pitchFamily="2" charset="-122"/>
                    <a:cs typeface="Times New Roman" panose="02020603050405020304" pitchFamily="18" charset="0"/>
                    <a:sym typeface="Wingdings 2" panose="05020102010507070707" pitchFamily="18" charset="2"/>
                  </a:rPr>
                  <a:t></a:t>
                </a:r>
                <a:r>
                  <a:rPr lang="zh-CN" altLang="en-US" b="1" dirty="0">
                    <a:solidFill>
                      <a:srgbClr val="FFFFCC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SimSun" panose="02010600030101010101" pitchFamily="2" charset="-122"/>
                    <a:ea typeface="SimSun" panose="02010600030101010101" pitchFamily="2" charset="-122"/>
                    <a:cs typeface="Times New Roman" panose="02020603050405020304" pitchFamily="18" charset="0"/>
                  </a:rPr>
                  <a:t>，真命题）</a:t>
                </a:r>
                <a:endParaRPr lang="en-US" altLang="zh-CN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SimSun" panose="02010600030101010101" pitchFamily="2" charset="-122"/>
                  <a:ea typeface="SimSun" panose="02010600030101010101" pitchFamily="2" charset="-122"/>
                  <a:cs typeface="Times New Roman" panose="02020603050405020304" pitchFamily="18" charset="0"/>
                </a:endParaRPr>
              </a:p>
              <a:p>
                <a:pPr marL="342900" indent="-342900">
                  <a:lnSpc>
                    <a:spcPct val="200000"/>
                  </a:lnSpc>
                  <a:buClr>
                    <a:schemeClr val="bg1"/>
                  </a:buClr>
                  <a:buSzPct val="80000"/>
                  <a:buFont typeface="Wingdings" panose="05000000000000000000" pitchFamily="2" charset="2"/>
                  <a:buChar char="u"/>
                </a:pPr>
                <a:r>
                  <a:rPr lang="zh-CN" altLang="zh-CN" b="1" dirty="0"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SimSun" panose="02010600030101010101" pitchFamily="2" charset="-122"/>
                    <a:ea typeface="SimSun" panose="02010600030101010101" pitchFamily="2" charset="-122"/>
                    <a:cs typeface="Times New Roman" panose="02020603050405020304" pitchFamily="18" charset="0"/>
                  </a:rPr>
                  <a:t>请出去</a:t>
                </a:r>
                <a:r>
                  <a:rPr lang="en-US" altLang="zh-CN" b="1" dirty="0"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SimSun" panose="02010600030101010101" pitchFamily="2" charset="-122"/>
                    <a:ea typeface="SimSun" panose="02010600030101010101" pitchFamily="2" charset="-122"/>
                    <a:cs typeface="Times New Roman" panose="02020603050405020304" pitchFamily="18" charset="0"/>
                  </a:rPr>
                  <a:t>  </a:t>
                </a:r>
                <a:r>
                  <a:rPr lang="zh-CN" altLang="en-US" b="1" dirty="0"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SimSun" panose="02010600030101010101" pitchFamily="2" charset="-122"/>
                    <a:ea typeface="SimSun" panose="02010600030101010101" pitchFamily="2" charset="-122"/>
                    <a:cs typeface="Times New Roman" panose="02020603050405020304" pitchFamily="18" charset="0"/>
                  </a:rPr>
                  <a:t>（</a:t>
                </a:r>
                <a:r>
                  <a:rPr lang="zh-CN" altLang="en-US" sz="2000" b="1" dirty="0">
                    <a:solidFill>
                      <a:srgbClr val="FFFFCC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SimSun" panose="02010600030101010101" pitchFamily="2" charset="-122"/>
                    <a:ea typeface="SimSun" panose="02010600030101010101" pitchFamily="2" charset="-122"/>
                    <a:cs typeface="Times New Roman" panose="02020603050405020304" pitchFamily="18" charset="0"/>
                    <a:sym typeface="Wingdings 2" panose="05020102010507070707" pitchFamily="18" charset="2"/>
                  </a:rPr>
                  <a:t></a:t>
                </a:r>
                <a:r>
                  <a:rPr lang="zh-CN" altLang="en-US" b="1" dirty="0"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SimSun" panose="02010600030101010101" pitchFamily="2" charset="-122"/>
                    <a:ea typeface="SimSun" panose="02010600030101010101" pitchFamily="2" charset="-122"/>
                    <a:cs typeface="Times New Roman" panose="02020603050405020304" pitchFamily="18" charset="0"/>
                    <a:sym typeface="Wingdings 2" panose="05020102010507070707" pitchFamily="18" charset="2"/>
                  </a:rPr>
                  <a:t>，</a:t>
                </a:r>
                <a:r>
                  <a:rPr lang="zh-CN" altLang="en-US" b="1" dirty="0"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SimSun" panose="02010600030101010101" pitchFamily="2" charset="-122"/>
                    <a:ea typeface="SimSun" panose="02010600030101010101" pitchFamily="2" charset="-122"/>
                    <a:cs typeface="Times New Roman" panose="02020603050405020304" pitchFamily="18" charset="0"/>
                  </a:rPr>
                  <a:t>祈使句）</a:t>
                </a:r>
                <a:endParaRPr lang="en-US" altLang="zh-CN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SimSun" panose="02010600030101010101" pitchFamily="2" charset="-122"/>
                  <a:ea typeface="SimSun" panose="02010600030101010101" pitchFamily="2" charset="-122"/>
                  <a:cs typeface="Times New Roman" panose="02020603050405020304" pitchFamily="18" charset="0"/>
                </a:endParaRPr>
              </a:p>
              <a:p>
                <a:pPr marL="342900" indent="-342900">
                  <a:lnSpc>
                    <a:spcPct val="200000"/>
                  </a:lnSpc>
                  <a:buClr>
                    <a:schemeClr val="bg1"/>
                  </a:buClr>
                  <a:buSzPct val="80000"/>
                  <a:buFont typeface="Wingdings" panose="05000000000000000000" pitchFamily="2" charset="2"/>
                  <a:buChar char="u"/>
                </a:pPr>
                <a:r>
                  <a:rPr lang="zh-CN" altLang="zh-CN" b="1" dirty="0"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SimSun" panose="02010600030101010101" pitchFamily="2" charset="-122"/>
                    <a:ea typeface="SimSun" panose="02010600030101010101" pitchFamily="2" charset="-122"/>
                    <a:cs typeface="Times New Roman" panose="02020603050405020304" pitchFamily="18" charset="0"/>
                  </a:rPr>
                  <a:t>您去开会吗</a:t>
                </a:r>
                <a:r>
                  <a:rPr lang="en-US" altLang="zh-CN" b="1" dirty="0"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SimSun" panose="02010600030101010101" pitchFamily="2" charset="-122"/>
                    <a:ea typeface="SimSun" panose="02010600030101010101" pitchFamily="2" charset="-122"/>
                    <a:cs typeface="Times New Roman" panose="02020603050405020304" pitchFamily="18" charset="0"/>
                  </a:rPr>
                  <a:t>?  </a:t>
                </a:r>
                <a:r>
                  <a:rPr lang="zh-CN" altLang="en-US" b="1" dirty="0"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SimSun" panose="02010600030101010101" pitchFamily="2" charset="-122"/>
                    <a:ea typeface="SimSun" panose="02010600030101010101" pitchFamily="2" charset="-122"/>
                    <a:cs typeface="Times New Roman" panose="02020603050405020304" pitchFamily="18" charset="0"/>
                  </a:rPr>
                  <a:t>（</a:t>
                </a:r>
                <a:r>
                  <a:rPr lang="zh-CN" altLang="en-US" b="1" dirty="0">
                    <a:solidFill>
                      <a:srgbClr val="FFFFCC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SimSun" panose="02010600030101010101" pitchFamily="2" charset="-122"/>
                    <a:ea typeface="SimSun" panose="02010600030101010101" pitchFamily="2" charset="-122"/>
                    <a:cs typeface="Times New Roman" panose="02020603050405020304" pitchFamily="18" charset="0"/>
                    <a:sym typeface="Wingdings 2" panose="05020102010507070707" pitchFamily="18" charset="2"/>
                  </a:rPr>
                  <a:t> </a:t>
                </a:r>
                <a:r>
                  <a:rPr lang="zh-CN" altLang="en-US" b="1" dirty="0"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SimSun" panose="02010600030101010101" pitchFamily="2" charset="-122"/>
                    <a:ea typeface="SimSun" panose="02010600030101010101" pitchFamily="2" charset="-122"/>
                    <a:cs typeface="Times New Roman" panose="02020603050405020304" pitchFamily="18" charset="0"/>
                    <a:sym typeface="Wingdings 2" panose="05020102010507070707" pitchFamily="18" charset="2"/>
                  </a:rPr>
                  <a:t>，</a:t>
                </a:r>
                <a:r>
                  <a:rPr lang="zh-CN" altLang="en-US" b="1" dirty="0"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SimSun" panose="02010600030101010101" pitchFamily="2" charset="-122"/>
                    <a:ea typeface="SimSun" panose="02010600030101010101" pitchFamily="2" charset="-122"/>
                    <a:cs typeface="Times New Roman" panose="02020603050405020304" pitchFamily="18" charset="0"/>
                  </a:rPr>
                  <a:t>疑问句）</a:t>
                </a:r>
                <a:endParaRPr lang="en-US" altLang="zh-CN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SimSun" panose="02010600030101010101" pitchFamily="2" charset="-122"/>
                  <a:ea typeface="SimSun" panose="02010600030101010101" pitchFamily="2" charset="-122"/>
                  <a:cs typeface="Times New Roman" panose="02020603050405020304" pitchFamily="18" charset="0"/>
                </a:endParaRPr>
              </a:p>
              <a:p>
                <a:pPr marL="342900" indent="-342900">
                  <a:lnSpc>
                    <a:spcPct val="200000"/>
                  </a:lnSpc>
                  <a:buClr>
                    <a:schemeClr val="bg1"/>
                  </a:buClr>
                  <a:buSzPct val="80000"/>
                  <a:buFont typeface="Wingdings" panose="05000000000000000000" pitchFamily="2" charset="2"/>
                  <a:buChar char="u"/>
                </a:pPr>
                <a:r>
                  <a:rPr lang="en-US" altLang="zh-CN" b="1" dirty="0">
                    <a:solidFill>
                      <a:srgbClr val="FFFFCC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SimSun" panose="02010600030101010101" pitchFamily="2" charset="-122"/>
                    <a:ea typeface="SimSun" panose="02010600030101010101" pitchFamily="2" charset="-122"/>
                    <a:cs typeface="Times New Roman" panose="02020603050405020304" pitchFamily="18" charset="0"/>
                  </a:rPr>
                  <a:t>13</a:t>
                </a:r>
                <a:r>
                  <a:rPr lang="zh-CN" altLang="zh-CN" b="1" dirty="0">
                    <a:solidFill>
                      <a:srgbClr val="FFFFCC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SimSun" panose="02010600030101010101" pitchFamily="2" charset="-122"/>
                    <a:ea typeface="SimSun" panose="02010600030101010101" pitchFamily="2" charset="-122"/>
                    <a:cs typeface="Times New Roman" panose="02020603050405020304" pitchFamily="18" charset="0"/>
                  </a:rPr>
                  <a:t>能被</a:t>
                </a:r>
                <a:r>
                  <a:rPr lang="en-US" altLang="zh-CN" b="1" dirty="0">
                    <a:solidFill>
                      <a:srgbClr val="FFFFCC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SimSun" panose="02010600030101010101" pitchFamily="2" charset="-122"/>
                    <a:ea typeface="SimSun" panose="02010600030101010101" pitchFamily="2" charset="-122"/>
                    <a:cs typeface="Times New Roman" panose="02020603050405020304" pitchFamily="18" charset="0"/>
                  </a:rPr>
                  <a:t>6</a:t>
                </a:r>
                <a:r>
                  <a:rPr lang="zh-CN" altLang="zh-CN" b="1" dirty="0">
                    <a:solidFill>
                      <a:srgbClr val="FFFFCC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SimSun" panose="02010600030101010101" pitchFamily="2" charset="-122"/>
                    <a:ea typeface="SimSun" panose="02010600030101010101" pitchFamily="2" charset="-122"/>
                    <a:cs typeface="Times New Roman" panose="02020603050405020304" pitchFamily="18" charset="0"/>
                  </a:rPr>
                  <a:t>整除</a:t>
                </a:r>
                <a:r>
                  <a:rPr lang="en-US" altLang="zh-CN" b="1" dirty="0">
                    <a:solidFill>
                      <a:srgbClr val="FFFFCC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SimSun" panose="02010600030101010101" pitchFamily="2" charset="-122"/>
                    <a:ea typeface="SimSun" panose="02010600030101010101" pitchFamily="2" charset="-122"/>
                    <a:cs typeface="Times New Roman" panose="02020603050405020304" pitchFamily="18" charset="0"/>
                  </a:rPr>
                  <a:t> </a:t>
                </a:r>
                <a:r>
                  <a:rPr lang="zh-CN" altLang="en-US" b="1" dirty="0">
                    <a:solidFill>
                      <a:srgbClr val="FFFFCC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SimSun" panose="02010600030101010101" pitchFamily="2" charset="-122"/>
                    <a:ea typeface="SimSun" panose="02010600030101010101" pitchFamily="2" charset="-122"/>
                    <a:cs typeface="Times New Roman" panose="02020603050405020304" pitchFamily="18" charset="0"/>
                  </a:rPr>
                  <a:t>（</a:t>
                </a:r>
                <a:r>
                  <a:rPr lang="zh-CN" altLang="en-US" b="1" dirty="0">
                    <a:solidFill>
                      <a:srgbClr val="FFFFCC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SimSun" panose="02010600030101010101" pitchFamily="2" charset="-122"/>
                    <a:ea typeface="SimSun" panose="02010600030101010101" pitchFamily="2" charset="-122"/>
                    <a:cs typeface="Times New Roman" panose="02020603050405020304" pitchFamily="18" charset="0"/>
                    <a:sym typeface="Wingdings 2" panose="05020102010507070707" pitchFamily="18" charset="2"/>
                  </a:rPr>
                  <a:t> </a:t>
                </a:r>
                <a:r>
                  <a:rPr lang="zh-CN" altLang="en-US" b="1" dirty="0">
                    <a:solidFill>
                      <a:srgbClr val="FFFFCC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SimSun" panose="02010600030101010101" pitchFamily="2" charset="-122"/>
                    <a:ea typeface="SimSun" panose="02010600030101010101" pitchFamily="2" charset="-122"/>
                    <a:cs typeface="Times New Roman" panose="02020603050405020304" pitchFamily="18" charset="0"/>
                  </a:rPr>
                  <a:t>， 假命题）</a:t>
                </a:r>
                <a:endParaRPr lang="en-US" altLang="zh-CN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SimSun" panose="02010600030101010101" pitchFamily="2" charset="-122"/>
                  <a:ea typeface="SimSun" panose="02010600030101010101" pitchFamily="2" charset="-122"/>
                  <a:cs typeface="Times New Roman" panose="02020603050405020304" pitchFamily="18" charset="0"/>
                </a:endParaRPr>
              </a:p>
              <a:p>
                <a:pPr marL="342900" indent="-342900">
                  <a:lnSpc>
                    <a:spcPct val="200000"/>
                  </a:lnSpc>
                  <a:buClr>
                    <a:schemeClr val="bg1"/>
                  </a:buClr>
                  <a:buSzPct val="80000"/>
                  <a:buFont typeface="Wingdings" panose="05000000000000000000" pitchFamily="2" charset="2"/>
                  <a:buChar char="u"/>
                </a:pPr>
                <a:r>
                  <a:rPr lang="zh-CN" altLang="zh-CN" b="1" dirty="0"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SimSun" panose="02010600030101010101" pitchFamily="2" charset="-122"/>
                    <a:ea typeface="SimSun" panose="02010600030101010101" pitchFamily="2" charset="-122"/>
                    <a:cs typeface="Times New Roman" panose="02020603050405020304" pitchFamily="18" charset="0"/>
                  </a:rPr>
                  <a:t>这座山真高啊！</a:t>
                </a:r>
                <a:r>
                  <a:rPr lang="zh-CN" altLang="en-US" b="1" dirty="0"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SimSun" panose="02010600030101010101" pitchFamily="2" charset="-122"/>
                    <a:ea typeface="SimSun" panose="02010600030101010101" pitchFamily="2" charset="-122"/>
                    <a:cs typeface="Times New Roman" panose="02020603050405020304" pitchFamily="18" charset="0"/>
                  </a:rPr>
                  <a:t>（</a:t>
                </a:r>
                <a:r>
                  <a:rPr lang="zh-CN" altLang="en-US" b="1" dirty="0">
                    <a:solidFill>
                      <a:srgbClr val="FFFFCC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SimSun" panose="02010600030101010101" pitchFamily="2" charset="-122"/>
                    <a:ea typeface="SimSun" panose="02010600030101010101" pitchFamily="2" charset="-122"/>
                    <a:cs typeface="Times New Roman" panose="02020603050405020304" pitchFamily="18" charset="0"/>
                    <a:sym typeface="Wingdings 2" panose="05020102010507070707" pitchFamily="18" charset="2"/>
                  </a:rPr>
                  <a:t> </a:t>
                </a:r>
                <a:r>
                  <a:rPr lang="zh-CN" altLang="en-US" b="1" dirty="0"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SimSun" panose="02010600030101010101" pitchFamily="2" charset="-122"/>
                    <a:ea typeface="SimSun" panose="02010600030101010101" pitchFamily="2" charset="-122"/>
                    <a:cs typeface="Times New Roman" panose="02020603050405020304" pitchFamily="18" charset="0"/>
                    <a:sym typeface="Wingdings 2" panose="05020102010507070707" pitchFamily="18" charset="2"/>
                  </a:rPr>
                  <a:t>，</a:t>
                </a:r>
                <a:r>
                  <a:rPr lang="zh-CN" altLang="en-US" b="1" dirty="0"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SimSun" panose="02010600030101010101" pitchFamily="2" charset="-122"/>
                    <a:ea typeface="SimSun" panose="02010600030101010101" pitchFamily="2" charset="-122"/>
                    <a:cs typeface="Times New Roman" panose="02020603050405020304" pitchFamily="18" charset="0"/>
                  </a:rPr>
                  <a:t>感叹句）</a:t>
                </a:r>
                <a:endParaRPr lang="en-US" altLang="zh-CN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SimSun" panose="02010600030101010101" pitchFamily="2" charset="-122"/>
                  <a:ea typeface="SimSun" panose="02010600030101010101" pitchFamily="2" charset="-122"/>
                  <a:cs typeface="Times New Roman" panose="02020603050405020304" pitchFamily="18" charset="0"/>
                </a:endParaRPr>
              </a:p>
              <a:p>
                <a:pPr marL="342900" indent="-342900">
                  <a:lnSpc>
                    <a:spcPct val="200000"/>
                  </a:lnSpc>
                  <a:buClr>
                    <a:schemeClr val="bg1"/>
                  </a:buClr>
                  <a:buSzPct val="80000"/>
                  <a:buFont typeface="Wingdings" panose="05000000000000000000" pitchFamily="2" charset="2"/>
                  <a:buChar char="u"/>
                </a:pPr>
                <a:r>
                  <a:rPr lang="zh-CN" altLang="zh-CN" b="1" dirty="0"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SimSun" panose="02010600030101010101" pitchFamily="2" charset="-122"/>
                    <a:ea typeface="SimSun" panose="02010600030101010101" pitchFamily="2" charset="-122"/>
                    <a:cs typeface="Times New Roman" panose="02020603050405020304" pitchFamily="18" charset="0"/>
                  </a:rPr>
                  <a:t>我正在说谎</a:t>
                </a:r>
                <a:r>
                  <a:rPr lang="en-US" altLang="zh-CN" b="1" dirty="0"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SimSun" panose="02010600030101010101" pitchFamily="2" charset="-122"/>
                    <a:ea typeface="SimSun" panose="02010600030101010101" pitchFamily="2" charset="-122"/>
                    <a:cs typeface="Times New Roman" panose="02020603050405020304" pitchFamily="18" charset="0"/>
                  </a:rPr>
                  <a:t>  </a:t>
                </a:r>
                <a:r>
                  <a:rPr lang="zh-CN" altLang="en-US" b="1" dirty="0"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SimSun" panose="02010600030101010101" pitchFamily="2" charset="-122"/>
                    <a:ea typeface="SimSun" panose="02010600030101010101" pitchFamily="2" charset="-122"/>
                    <a:cs typeface="Times New Roman" panose="02020603050405020304" pitchFamily="18" charset="0"/>
                  </a:rPr>
                  <a:t>（</a:t>
                </a:r>
                <a:r>
                  <a:rPr lang="zh-CN" altLang="en-US" b="1" dirty="0">
                    <a:solidFill>
                      <a:srgbClr val="FFFFCC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SimSun" panose="02010600030101010101" pitchFamily="2" charset="-122"/>
                    <a:ea typeface="SimSun" panose="02010600030101010101" pitchFamily="2" charset="-122"/>
                    <a:cs typeface="Times New Roman" panose="02020603050405020304" pitchFamily="18" charset="0"/>
                    <a:sym typeface="Wingdings 2" panose="05020102010507070707" pitchFamily="18" charset="2"/>
                  </a:rPr>
                  <a:t> </a:t>
                </a:r>
                <a:r>
                  <a:rPr lang="zh-CN" altLang="en-US" b="1" dirty="0"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SimSun" panose="02010600030101010101" pitchFamily="2" charset="-122"/>
                    <a:ea typeface="SimSun" panose="02010600030101010101" pitchFamily="2" charset="-122"/>
                    <a:cs typeface="Times New Roman" panose="02020603050405020304" pitchFamily="18" charset="0"/>
                    <a:sym typeface="Wingdings 2" panose="05020102010507070707" pitchFamily="18" charset="2"/>
                  </a:rPr>
                  <a:t>，</a:t>
                </a:r>
                <a:r>
                  <a:rPr lang="zh-CN" altLang="en-US" b="1" dirty="0"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SimSun" panose="02010600030101010101" pitchFamily="2" charset="-122"/>
                    <a:ea typeface="SimSun" panose="02010600030101010101" pitchFamily="2" charset="-122"/>
                    <a:cs typeface="Times New Roman" panose="02020603050405020304" pitchFamily="18" charset="0"/>
                  </a:rPr>
                  <a:t>悖论）</a:t>
                </a:r>
                <a:endParaRPr lang="zh-CN" altLang="zh-CN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SimSun" panose="02010600030101010101" pitchFamily="2" charset="-122"/>
                  <a:ea typeface="SimSun" panose="02010600030101010101" pitchFamily="2" charset="-122"/>
                  <a:cs typeface="Times New Roman" panose="02020603050405020304" pitchFamily="18" charset="0"/>
                </a:endParaRPr>
              </a:p>
              <a:p>
                <a:pPr marL="342900" indent="-342900">
                  <a:lnSpc>
                    <a:spcPct val="150000"/>
                  </a:lnSpc>
                  <a:buClr>
                    <a:schemeClr val="bg1"/>
                  </a:buClr>
                  <a:buSzPct val="80000"/>
                  <a:buFont typeface="Wingdings" panose="05000000000000000000" pitchFamily="2" charset="2"/>
                  <a:buChar char="u"/>
                </a:pPr>
                <a:endParaRPr lang="en-US" altLang="zh-CN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矩形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3568" y="1805870"/>
                <a:ext cx="7836195" cy="5090945"/>
              </a:xfrm>
              <a:prstGeom prst="rect">
                <a:avLst/>
              </a:prstGeom>
              <a:blipFill>
                <a:blip r:embed="rId3"/>
                <a:stretch>
                  <a:fillRect l="-647" r="-64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4" name="矩形 33"/>
          <p:cNvSpPr/>
          <p:nvPr/>
        </p:nvSpPr>
        <p:spPr>
          <a:xfrm>
            <a:off x="8880480" y="2429540"/>
            <a:ext cx="2672047" cy="2806930"/>
          </a:xfrm>
          <a:prstGeom prst="rect">
            <a:avLst/>
          </a:prstGeom>
          <a:noFill/>
          <a:ln w="19050">
            <a:solidFill>
              <a:srgbClr val="81C7C9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0E312C41-FB15-49C7-88BB-FFCC7F6E77F2}"/>
              </a:ext>
            </a:extLst>
          </p:cNvPr>
          <p:cNvGrpSpPr/>
          <p:nvPr/>
        </p:nvGrpSpPr>
        <p:grpSpPr>
          <a:xfrm>
            <a:off x="1720044" y="870020"/>
            <a:ext cx="7538508" cy="724449"/>
            <a:chOff x="2533789" y="2808160"/>
            <a:chExt cx="4078899" cy="724449"/>
          </a:xfrm>
        </p:grpSpPr>
        <p:sp>
          <p:nvSpPr>
            <p:cNvPr id="14" name="平行四边形 13">
              <a:extLst>
                <a:ext uri="{FF2B5EF4-FFF2-40B4-BE49-F238E27FC236}">
                  <a16:creationId xmlns:a16="http://schemas.microsoft.com/office/drawing/2014/main" id="{1C6C856E-B3C2-424F-981D-D5F636BD87F0}"/>
                </a:ext>
              </a:extLst>
            </p:cNvPr>
            <p:cNvSpPr/>
            <p:nvPr/>
          </p:nvSpPr>
          <p:spPr bwMode="auto">
            <a:xfrm>
              <a:off x="4065003" y="3064609"/>
              <a:ext cx="2547685" cy="468000"/>
            </a:xfrm>
            <a:prstGeom prst="parallelogram">
              <a:avLst/>
            </a:prstGeom>
            <a:solidFill>
              <a:srgbClr val="016773"/>
            </a:solidFill>
            <a:ln w="1905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en-US" dirty="0"/>
            </a:p>
          </p:txBody>
        </p:sp>
        <p:sp>
          <p:nvSpPr>
            <p:cNvPr id="15" name="平行四边形 14">
              <a:extLst>
                <a:ext uri="{FF2B5EF4-FFF2-40B4-BE49-F238E27FC236}">
                  <a16:creationId xmlns:a16="http://schemas.microsoft.com/office/drawing/2014/main" id="{F1AC1F93-E07C-4987-B309-B16146D428A9}"/>
                </a:ext>
              </a:extLst>
            </p:cNvPr>
            <p:cNvSpPr/>
            <p:nvPr/>
          </p:nvSpPr>
          <p:spPr bwMode="auto">
            <a:xfrm>
              <a:off x="2533789" y="2966855"/>
              <a:ext cx="4078899" cy="468000"/>
            </a:xfrm>
            <a:prstGeom prst="parallelogram">
              <a:avLst/>
            </a:prstGeom>
            <a:solidFill>
              <a:srgbClr val="FAFAFA"/>
            </a:solidFill>
            <a:ln w="19050">
              <a:gradFill>
                <a:gsLst>
                  <a:gs pos="65000">
                    <a:srgbClr val="81C7C9"/>
                  </a:gs>
                  <a:gs pos="100000">
                    <a:srgbClr val="016773"/>
                  </a:gs>
                </a:gsLst>
                <a:lin ang="17400000" scaled="0"/>
              </a:gradFill>
            </a:ln>
            <a:effectLst>
              <a:outerShdw blurRad="50800" dist="38100" dir="18900000" algn="bl" rotWithShape="0">
                <a:schemeClr val="bg2">
                  <a:lumMod val="75000"/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en-US" dirty="0"/>
            </a:p>
          </p:txBody>
        </p:sp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73439096-1F2D-449F-BFB4-3575FBC66090}"/>
                </a:ext>
              </a:extLst>
            </p:cNvPr>
            <p:cNvSpPr/>
            <p:nvPr/>
          </p:nvSpPr>
          <p:spPr>
            <a:xfrm>
              <a:off x="2800804" y="2808160"/>
              <a:ext cx="3726001" cy="58105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zh-CN" altLang="en-US" sz="2400" b="1" dirty="0">
                  <a:solidFill>
                    <a:schemeClr val="accent1">
                      <a:lumMod val="75000"/>
                    </a:schemeClr>
                  </a:solidFill>
                  <a:latin typeface="宋体" panose="02010600030101010101" pitchFamily="2" charset="-122"/>
                </a:rPr>
                <a:t>定义 </a:t>
              </a:r>
              <a:r>
                <a:rPr lang="zh-CN" altLang="zh-CN" sz="2400" b="1" dirty="0">
                  <a:solidFill>
                    <a:schemeClr val="accent1">
                      <a:lumMod val="75000"/>
                    </a:schemeClr>
                  </a:solidFill>
                  <a:latin typeface="宋体" panose="02010600030101010101" pitchFamily="2" charset="-122"/>
                </a:rPr>
                <a:t>命题</a:t>
              </a:r>
              <a:r>
                <a:rPr lang="zh-CN" altLang="en-US" sz="2400" b="1" dirty="0">
                  <a:solidFill>
                    <a:schemeClr val="accent1">
                      <a:lumMod val="75000"/>
                    </a:schemeClr>
                  </a:solidFill>
                  <a:latin typeface="宋体" panose="02010600030101010101" pitchFamily="2" charset="-122"/>
                </a:rPr>
                <a:t>：</a:t>
              </a:r>
              <a:r>
                <a:rPr lang="zh-CN" altLang="zh-CN" sz="2400" b="1" dirty="0">
                  <a:solidFill>
                    <a:schemeClr val="accent1">
                      <a:lumMod val="75000"/>
                    </a:schemeClr>
                  </a:solidFill>
                  <a:latin typeface="宋体" panose="02010600030101010101" pitchFamily="2" charset="-122"/>
                </a:rPr>
                <a:t>确定为</a:t>
              </a:r>
              <a:r>
                <a:rPr lang="zh-CN" altLang="zh-CN" sz="2400" b="1" dirty="0">
                  <a:solidFill>
                    <a:srgbClr val="FF0000"/>
                  </a:solidFill>
                  <a:latin typeface="宋体" panose="02010600030101010101" pitchFamily="2" charset="-122"/>
                </a:rPr>
                <a:t>真</a:t>
              </a:r>
              <a:r>
                <a:rPr lang="zh-CN" altLang="zh-CN" sz="2400" b="1" dirty="0">
                  <a:solidFill>
                    <a:schemeClr val="accent1">
                      <a:lumMod val="75000"/>
                    </a:schemeClr>
                  </a:solidFill>
                  <a:latin typeface="宋体" panose="02010600030101010101" pitchFamily="2" charset="-122"/>
                </a:rPr>
                <a:t>或为</a:t>
              </a:r>
              <a:r>
                <a:rPr lang="zh-CN" altLang="zh-CN" sz="2400" b="1" dirty="0">
                  <a:solidFill>
                    <a:srgbClr val="FF0000"/>
                  </a:solidFill>
                  <a:latin typeface="宋体" panose="02010600030101010101" pitchFamily="2" charset="-122"/>
                </a:rPr>
                <a:t>假</a:t>
              </a:r>
              <a:r>
                <a:rPr lang="zh-CN" altLang="zh-CN" sz="2400" b="1" dirty="0">
                  <a:solidFill>
                    <a:schemeClr val="accent1">
                      <a:lumMod val="75000"/>
                    </a:schemeClr>
                  </a:solidFill>
                  <a:latin typeface="宋体" panose="02010600030101010101" pitchFamily="2" charset="-122"/>
                </a:rPr>
                <a:t>的陈述句</a:t>
              </a:r>
              <a:endParaRPr lang="en-US" altLang="zh-CN" sz="2400" b="1" dirty="0">
                <a:solidFill>
                  <a:schemeClr val="accent1">
                    <a:lumMod val="75000"/>
                  </a:schemeClr>
                </a:solidFill>
                <a:latin typeface="宋体" panose="02010600030101010101" pitchFamily="2" charset="-122"/>
              </a:endParaRPr>
            </a:p>
          </p:txBody>
        </p:sp>
      </p:grpSp>
      <p:sp>
        <p:nvSpPr>
          <p:cNvPr id="2" name="标题 1">
            <a:extLst>
              <a:ext uri="{FF2B5EF4-FFF2-40B4-BE49-F238E27FC236}">
                <a16:creationId xmlns:a16="http://schemas.microsoft.com/office/drawing/2014/main" id="{09D2DAAD-EBF4-426E-B929-57EBF517A08C}"/>
              </a:ext>
            </a:extLst>
          </p:cNvPr>
          <p:cNvSpPr txBox="1">
            <a:spLocks/>
          </p:cNvSpPr>
          <p:nvPr/>
        </p:nvSpPr>
        <p:spPr>
          <a:xfrm>
            <a:off x="385815" y="47495"/>
            <a:ext cx="4080309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zh-CN" altLang="en-US" sz="3200" dirty="0">
                <a:solidFill>
                  <a:srgbClr val="FF0000"/>
                </a:solidFill>
                <a:latin typeface=".AppleSystemUIFont"/>
              </a:rPr>
              <a:t>命题逻辑</a:t>
            </a:r>
          </a:p>
        </p:txBody>
      </p:sp>
    </p:spTree>
    <p:extLst>
      <p:ext uri="{BB962C8B-B14F-4D97-AF65-F5344CB8AC3E}">
        <p14:creationId xmlns:p14="http://schemas.microsoft.com/office/powerpoint/2010/main" val="120694725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2018505" y="1094824"/>
            <a:ext cx="7742461" cy="497934"/>
            <a:chOff x="2480965" y="2819853"/>
            <a:chExt cx="4189253" cy="497934"/>
          </a:xfrm>
        </p:grpSpPr>
        <p:sp>
          <p:nvSpPr>
            <p:cNvPr id="3" name="平行四边形 2"/>
            <p:cNvSpPr/>
            <p:nvPr/>
          </p:nvSpPr>
          <p:spPr bwMode="auto">
            <a:xfrm>
              <a:off x="4099943" y="2849787"/>
              <a:ext cx="2547685" cy="468000"/>
            </a:xfrm>
            <a:prstGeom prst="parallelogram">
              <a:avLst/>
            </a:prstGeom>
            <a:solidFill>
              <a:srgbClr val="016773"/>
            </a:solidFill>
            <a:ln w="1905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en-US" dirty="0"/>
            </a:p>
          </p:txBody>
        </p:sp>
        <p:sp>
          <p:nvSpPr>
            <p:cNvPr id="4" name="平行四边形 3"/>
            <p:cNvSpPr/>
            <p:nvPr/>
          </p:nvSpPr>
          <p:spPr bwMode="auto">
            <a:xfrm>
              <a:off x="2591319" y="2819853"/>
              <a:ext cx="4078899" cy="468000"/>
            </a:xfrm>
            <a:prstGeom prst="parallelogram">
              <a:avLst/>
            </a:prstGeom>
            <a:solidFill>
              <a:srgbClr val="FAFAFA"/>
            </a:solidFill>
            <a:ln w="19050">
              <a:gradFill>
                <a:gsLst>
                  <a:gs pos="65000">
                    <a:srgbClr val="81C7C9"/>
                  </a:gs>
                  <a:gs pos="100000">
                    <a:srgbClr val="016773"/>
                  </a:gs>
                </a:gsLst>
                <a:lin ang="17400000" scaled="0"/>
              </a:gradFill>
            </a:ln>
            <a:effectLst>
              <a:outerShdw blurRad="50800" dist="38100" dir="18900000" algn="bl" rotWithShape="0">
                <a:schemeClr val="bg2">
                  <a:lumMod val="75000"/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en-US" dirty="0"/>
            </a:p>
          </p:txBody>
        </p:sp>
        <p:sp>
          <p:nvSpPr>
            <p:cNvPr id="5" name="矩形 4"/>
            <p:cNvSpPr/>
            <p:nvPr/>
          </p:nvSpPr>
          <p:spPr>
            <a:xfrm>
              <a:off x="2480965" y="2852954"/>
              <a:ext cx="4189253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zh-CN" altLang="en-US" sz="2400" b="1" dirty="0">
                  <a:solidFill>
                    <a:schemeClr val="accent1">
                      <a:lumMod val="75000"/>
                    </a:schemeClr>
                  </a:solidFill>
                  <a:latin typeface="宋体" panose="02010600030101010101" pitchFamily="2" charset="-122"/>
                </a:rPr>
                <a:t>定义 </a:t>
              </a:r>
              <a:r>
                <a:rPr lang="zh-CN" altLang="zh-CN" sz="2400" b="1" dirty="0">
                  <a:solidFill>
                    <a:schemeClr val="accent1">
                      <a:lumMod val="75000"/>
                    </a:schemeClr>
                  </a:solidFill>
                  <a:latin typeface="宋体" panose="02010600030101010101" pitchFamily="2" charset="-122"/>
                </a:rPr>
                <a:t>复合命题：包含其他命题作为其组成部分的命题</a:t>
              </a:r>
              <a:endParaRPr lang="zh-CN" altLang="en-US" sz="2400" b="1" dirty="0">
                <a:solidFill>
                  <a:schemeClr val="accent1">
                    <a:lumMod val="75000"/>
                  </a:schemeClr>
                </a:solidFill>
                <a:latin typeface="宋体" panose="02010600030101010101" pitchFamily="2" charset="-122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表格 5">
                <a:extLst>
                  <a:ext uri="{FF2B5EF4-FFF2-40B4-BE49-F238E27FC236}">
                    <a16:creationId xmlns:a16="http://schemas.microsoft.com/office/drawing/2014/main" id="{DB61BDD0-A3CC-4B3B-B1DA-AB1450A8868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784572930"/>
                  </p:ext>
                </p:extLst>
              </p:nvPr>
            </p:nvGraphicFramePr>
            <p:xfrm>
              <a:off x="838199" y="2046767"/>
              <a:ext cx="10910777" cy="361507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214315">
                      <a:extLst>
                        <a:ext uri="{9D8B030D-6E8A-4147-A177-3AD203B41FA5}">
                          <a16:colId xmlns:a16="http://schemas.microsoft.com/office/drawing/2014/main" val="1315336471"/>
                        </a:ext>
                      </a:extLst>
                    </a:gridCol>
                    <a:gridCol w="1483866">
                      <a:extLst>
                        <a:ext uri="{9D8B030D-6E8A-4147-A177-3AD203B41FA5}">
                          <a16:colId xmlns:a16="http://schemas.microsoft.com/office/drawing/2014/main" val="1383698265"/>
                        </a:ext>
                      </a:extLst>
                    </a:gridCol>
                    <a:gridCol w="6212596">
                      <a:extLst>
                        <a:ext uri="{9D8B030D-6E8A-4147-A177-3AD203B41FA5}">
                          <a16:colId xmlns:a16="http://schemas.microsoft.com/office/drawing/2014/main" val="617529282"/>
                        </a:ext>
                      </a:extLst>
                    </a:gridCol>
                  </a:tblGrid>
                  <a:tr h="455171"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zh-CN" sz="1800" kern="0" dirty="0">
                              <a:effectLst/>
                              <a:latin typeface="SimSun" panose="02010600030101010101" pitchFamily="2" charset="-122"/>
                              <a:ea typeface="SimSun" panose="02010600030101010101" pitchFamily="2" charset="-122"/>
                              <a:cs typeface="Times New Roman" panose="02020603050405020304" pitchFamily="18" charset="0"/>
                            </a:rPr>
                            <a:t>命题联结词</a:t>
                          </a:r>
                          <a:endParaRPr lang="zh-CN" sz="1800" kern="100" dirty="0">
                            <a:effectLst/>
                            <a:latin typeface="SimSun" panose="02010600030101010101" pitchFamily="2" charset="-122"/>
                            <a:ea typeface="SimSun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T="34290" marB="3429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zh-CN" sz="1800" kern="0" dirty="0">
                              <a:effectLst/>
                              <a:latin typeface="SimSun" panose="02010600030101010101" pitchFamily="2" charset="-122"/>
                              <a:ea typeface="SimSun" panose="02010600030101010101" pitchFamily="2" charset="-122"/>
                              <a:cs typeface="Times New Roman" panose="02020603050405020304" pitchFamily="18" charset="0"/>
                            </a:rPr>
                            <a:t>表示形式</a:t>
                          </a:r>
                          <a:endParaRPr lang="zh-CN" sz="1800" kern="100" dirty="0">
                            <a:effectLst/>
                            <a:latin typeface="SimSun" panose="02010600030101010101" pitchFamily="2" charset="-122"/>
                            <a:ea typeface="SimSun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T="34290" marB="3429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zh-CN" sz="1800" kern="0">
                              <a:effectLst/>
                              <a:latin typeface="SimSun" panose="02010600030101010101" pitchFamily="2" charset="-122"/>
                              <a:ea typeface="SimSun" panose="02010600030101010101" pitchFamily="2" charset="-122"/>
                              <a:cs typeface="Times New Roman" panose="02020603050405020304" pitchFamily="18" charset="0"/>
                            </a:rPr>
                            <a:t>意义</a:t>
                          </a:r>
                          <a:endParaRPr lang="zh-CN" sz="1800" kern="100">
                            <a:effectLst/>
                            <a:latin typeface="SimSun" panose="02010600030101010101" pitchFamily="2" charset="-122"/>
                            <a:ea typeface="SimSun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T="34290" marB="34290" anchor="ctr"/>
                    </a:tc>
                    <a:extLst>
                      <a:ext uri="{0D108BD9-81ED-4DB2-BD59-A6C34878D82A}">
                        <a16:rowId xmlns:a16="http://schemas.microsoft.com/office/drawing/2014/main" val="1399890933"/>
                      </a:ext>
                    </a:extLst>
                  </a:tr>
                  <a:tr h="692871">
                    <a:tc>
                      <a:txBody>
                        <a:bodyPr/>
                        <a:lstStyle/>
                        <a:p>
                          <a:pPr indent="127000" algn="ctr">
                            <a:lnSpc>
                              <a:spcPts val="22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zh-CN" sz="1800" kern="100">
                              <a:effectLst/>
                              <a:latin typeface="SimSun" panose="02010600030101010101" pitchFamily="2" charset="-122"/>
                              <a:ea typeface="SimSun" panose="02010600030101010101" pitchFamily="2" charset="-122"/>
                              <a:cs typeface="Times New Roman" panose="02020603050405020304" pitchFamily="18" charset="0"/>
                            </a:rPr>
                            <a:t>与</a:t>
                          </a:r>
                          <a:r>
                            <a:rPr lang="en-US" sz="1800" kern="100">
                              <a:effectLst/>
                              <a:latin typeface="SimSun" panose="02010600030101010101" pitchFamily="2" charset="-122"/>
                              <a:ea typeface="SimSun" panose="02010600030101010101" pitchFamily="2" charset="-122"/>
                              <a:cs typeface="Times New Roman" panose="02020603050405020304" pitchFamily="18" charset="0"/>
                            </a:rPr>
                            <a:t>(and)</a:t>
                          </a:r>
                          <a:endParaRPr lang="zh-CN" sz="1800" kern="100">
                            <a:solidFill>
                              <a:srgbClr val="000000"/>
                            </a:solidFill>
                            <a:effectLst/>
                            <a:latin typeface="SimSun" panose="02010600030101010101" pitchFamily="2" charset="-122"/>
                            <a:ea typeface="SimSun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T="34290" marB="34290" anchor="ctr"/>
                    </a:tc>
                    <a:tc>
                      <a:txBody>
                        <a:bodyPr/>
                        <a:lstStyle/>
                        <a:p>
                          <a:pPr indent="266700" algn="ctr">
                            <a:lnSpc>
                              <a:spcPts val="2200"/>
                            </a:lnSpc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kern="100">
                                    <a:effectLst/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  <m:r>
                                  <a:rPr lang="en-US" sz="1800" kern="100">
                                    <a:effectLst/>
                                    <a:latin typeface="Cambria Math" panose="02040503050406030204" pitchFamily="18" charset="0"/>
                                  </a:rPr>
                                  <m:t>∧</m:t>
                                </m:r>
                                <m:r>
                                  <a:rPr lang="en-US" sz="1800" kern="100">
                                    <a:effectLst/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</m:oMath>
                            </m:oMathPara>
                          </a14:m>
                          <a:endParaRPr lang="zh-CN" sz="1800" kern="100">
                            <a:solidFill>
                              <a:srgbClr val="000000"/>
                            </a:solidFill>
                            <a:effectLst/>
                            <a:latin typeface="SimSun" panose="02010600030101010101" pitchFamily="2" charset="-122"/>
                            <a:ea typeface="SimSun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T="34290" marB="34290" anchor="ctr"/>
                    </a:tc>
                    <a:tc>
                      <a:txBody>
                        <a:bodyPr/>
                        <a:lstStyle/>
                        <a:p>
                          <a:pPr indent="127000" algn="ctr">
                            <a:lnSpc>
                              <a:spcPts val="22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zh-CN" sz="1800" kern="100" dirty="0">
                              <a:effectLst/>
                              <a:latin typeface="SimSun" panose="02010600030101010101" pitchFamily="2" charset="-122"/>
                              <a:ea typeface="SimSun" panose="02010600030101010101" pitchFamily="2" charset="-122"/>
                              <a:cs typeface="Times New Roman" panose="02020603050405020304" pitchFamily="18" charset="0"/>
                            </a:rPr>
                            <a:t>命题合取</a:t>
                          </a:r>
                          <a:r>
                            <a:rPr lang="en-US" sz="1800" kern="100" dirty="0">
                              <a:effectLst/>
                              <a:latin typeface="SimSun" panose="02010600030101010101" pitchFamily="2" charset="-122"/>
                              <a:ea typeface="SimSun" panose="02010600030101010101" pitchFamily="2" charset="-122"/>
                              <a:cs typeface="Times New Roman" panose="02020603050405020304" pitchFamily="18" charset="0"/>
                            </a:rPr>
                            <a:t>(conjunction)</a:t>
                          </a:r>
                          <a:r>
                            <a:rPr lang="zh-CN" sz="1800" kern="100" dirty="0">
                              <a:effectLst/>
                              <a:latin typeface="SimSun" panose="02010600030101010101" pitchFamily="2" charset="-122"/>
                              <a:ea typeface="SimSun" panose="02010600030101010101" pitchFamily="2" charset="-122"/>
                              <a:cs typeface="Times New Roman" panose="02020603050405020304" pitchFamily="18" charset="0"/>
                            </a:rPr>
                            <a:t>，即</a:t>
                          </a:r>
                          <a:r>
                            <a:rPr lang="en-US" sz="1800" kern="100" dirty="0">
                              <a:effectLst/>
                              <a:latin typeface="SimSun" panose="02010600030101010101" pitchFamily="2" charset="-122"/>
                              <a:ea typeface="SimSun" panose="02010600030101010101" pitchFamily="2" charset="-122"/>
                              <a:cs typeface="Times New Roman" panose="02020603050405020304" pitchFamily="18" charset="0"/>
                            </a:rPr>
                            <a:t>“</a:t>
                          </a:r>
                          <a14:m>
                            <m:oMath xmlns:m="http://schemas.openxmlformats.org/officeDocument/2006/math">
                              <m:r>
                                <a:rPr lang="en-US" sz="1800" kern="100">
                                  <a:effectLst/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oMath>
                          </a14:m>
                          <a:r>
                            <a:rPr lang="zh-CN" sz="1800" kern="100" dirty="0">
                              <a:effectLst/>
                              <a:latin typeface="SimSun" panose="02010600030101010101" pitchFamily="2" charset="-122"/>
                              <a:ea typeface="SimSun" panose="02010600030101010101" pitchFamily="2" charset="-122"/>
                              <a:cs typeface="Times New Roman" panose="02020603050405020304" pitchFamily="18" charset="0"/>
                            </a:rPr>
                            <a:t>且</a:t>
                          </a:r>
                          <a14:m>
                            <m:oMath xmlns:m="http://schemas.openxmlformats.org/officeDocument/2006/math">
                              <m:r>
                                <a:rPr lang="en-US" sz="1800" kern="100">
                                  <a:effectLst/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oMath>
                          </a14:m>
                          <a:r>
                            <a:rPr lang="en-US" sz="1800" kern="100" dirty="0">
                              <a:effectLst/>
                              <a:latin typeface="SimSun" panose="02010600030101010101" pitchFamily="2" charset="-122"/>
                              <a:ea typeface="SimSun" panose="02010600030101010101" pitchFamily="2" charset="-122"/>
                              <a:cs typeface="Times New Roman" panose="02020603050405020304" pitchFamily="18" charset="0"/>
                            </a:rPr>
                            <a:t>”</a:t>
                          </a:r>
                          <a:endParaRPr lang="zh-CN" sz="1800" kern="100" dirty="0">
                            <a:solidFill>
                              <a:srgbClr val="000000"/>
                            </a:solidFill>
                            <a:effectLst/>
                            <a:latin typeface="SimSun" panose="02010600030101010101" pitchFamily="2" charset="-122"/>
                            <a:ea typeface="SimSun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T="34290" marB="34290" anchor="ctr"/>
                    </a:tc>
                    <a:extLst>
                      <a:ext uri="{0D108BD9-81ED-4DB2-BD59-A6C34878D82A}">
                        <a16:rowId xmlns:a16="http://schemas.microsoft.com/office/drawing/2014/main" val="1554261827"/>
                      </a:ext>
                    </a:extLst>
                  </a:tr>
                  <a:tr h="616757">
                    <a:tc>
                      <a:txBody>
                        <a:bodyPr/>
                        <a:lstStyle/>
                        <a:p>
                          <a:pPr indent="127000" algn="ctr">
                            <a:lnSpc>
                              <a:spcPts val="22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zh-CN" sz="1800" kern="100">
                              <a:effectLst/>
                              <a:latin typeface="SimSun" panose="02010600030101010101" pitchFamily="2" charset="-122"/>
                              <a:ea typeface="SimSun" panose="02010600030101010101" pitchFamily="2" charset="-122"/>
                              <a:cs typeface="Times New Roman" panose="02020603050405020304" pitchFamily="18" charset="0"/>
                            </a:rPr>
                            <a:t>或</a:t>
                          </a:r>
                          <a:r>
                            <a:rPr lang="en-US" sz="1800" kern="100">
                              <a:effectLst/>
                              <a:latin typeface="SimSun" panose="02010600030101010101" pitchFamily="2" charset="-122"/>
                              <a:ea typeface="SimSun" panose="02010600030101010101" pitchFamily="2" charset="-122"/>
                              <a:cs typeface="Times New Roman" panose="02020603050405020304" pitchFamily="18" charset="0"/>
                            </a:rPr>
                            <a:t>(or)</a:t>
                          </a:r>
                          <a:endParaRPr lang="zh-CN" sz="1800" kern="100">
                            <a:solidFill>
                              <a:srgbClr val="000000"/>
                            </a:solidFill>
                            <a:effectLst/>
                            <a:latin typeface="SimSun" panose="02010600030101010101" pitchFamily="2" charset="-122"/>
                            <a:ea typeface="SimSun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T="34290" marB="3429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3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kern="0">
                                    <a:effectLst/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  <m:r>
                                  <a:rPr lang="en-US" sz="1800" kern="0">
                                    <a:effectLst/>
                                    <a:latin typeface="Cambria Math" panose="02040503050406030204" pitchFamily="18" charset="0"/>
                                  </a:rPr>
                                  <m:t>∨</m:t>
                                </m:r>
                                <m:r>
                                  <a:rPr lang="en-US" sz="1800" kern="0">
                                    <a:effectLst/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</m:oMath>
                            </m:oMathPara>
                          </a14:m>
                          <a:endParaRPr lang="zh-CN" sz="1800" kern="100">
                            <a:effectLst/>
                            <a:latin typeface="SimSun" panose="02010600030101010101" pitchFamily="2" charset="-122"/>
                            <a:ea typeface="SimSun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T="34290" marB="34290" anchor="ctr"/>
                    </a:tc>
                    <a:tc>
                      <a:txBody>
                        <a:bodyPr/>
                        <a:lstStyle/>
                        <a:p>
                          <a:pPr indent="127000" algn="ctr">
                            <a:lnSpc>
                              <a:spcPts val="22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zh-CN" sz="1800" kern="100" dirty="0">
                              <a:effectLst/>
                              <a:latin typeface="SimSun" panose="02010600030101010101" pitchFamily="2" charset="-122"/>
                              <a:ea typeface="SimSun" panose="02010600030101010101" pitchFamily="2" charset="-122"/>
                              <a:cs typeface="Times New Roman" panose="02020603050405020304" pitchFamily="18" charset="0"/>
                            </a:rPr>
                            <a:t>命题析取</a:t>
                          </a:r>
                          <a:r>
                            <a:rPr lang="en-US" sz="1800" kern="100" dirty="0">
                              <a:effectLst/>
                              <a:latin typeface="SimSun" panose="02010600030101010101" pitchFamily="2" charset="-122"/>
                              <a:ea typeface="SimSun" panose="02010600030101010101" pitchFamily="2" charset="-122"/>
                              <a:cs typeface="Times New Roman" panose="02020603050405020304" pitchFamily="18" charset="0"/>
                            </a:rPr>
                            <a:t>(disjunction)</a:t>
                          </a:r>
                          <a:r>
                            <a:rPr lang="zh-CN" sz="1800" kern="100" dirty="0">
                              <a:effectLst/>
                              <a:latin typeface="SimSun" panose="02010600030101010101" pitchFamily="2" charset="-122"/>
                              <a:ea typeface="SimSun" panose="02010600030101010101" pitchFamily="2" charset="-122"/>
                              <a:cs typeface="Times New Roman" panose="02020603050405020304" pitchFamily="18" charset="0"/>
                            </a:rPr>
                            <a:t>，即</a:t>
                          </a:r>
                          <a:r>
                            <a:rPr lang="en-US" sz="1800" kern="100" dirty="0">
                              <a:effectLst/>
                              <a:latin typeface="SimSun" panose="02010600030101010101" pitchFamily="2" charset="-122"/>
                              <a:ea typeface="SimSun" panose="02010600030101010101" pitchFamily="2" charset="-122"/>
                              <a:cs typeface="Times New Roman" panose="02020603050405020304" pitchFamily="18" charset="0"/>
                            </a:rPr>
                            <a:t>“</a:t>
                          </a:r>
                          <a14:m>
                            <m:oMath xmlns:m="http://schemas.openxmlformats.org/officeDocument/2006/math">
                              <m:r>
                                <a:rPr lang="en-US" sz="1800" kern="100">
                                  <a:effectLst/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oMath>
                          </a14:m>
                          <a:r>
                            <a:rPr lang="zh-CN" sz="1800" kern="100" dirty="0">
                              <a:effectLst/>
                              <a:latin typeface="SimSun" panose="02010600030101010101" pitchFamily="2" charset="-122"/>
                              <a:ea typeface="SimSun" panose="02010600030101010101" pitchFamily="2" charset="-122"/>
                              <a:cs typeface="Times New Roman" panose="02020603050405020304" pitchFamily="18" charset="0"/>
                            </a:rPr>
                            <a:t>或</a:t>
                          </a:r>
                          <a14:m>
                            <m:oMath xmlns:m="http://schemas.openxmlformats.org/officeDocument/2006/math">
                              <m:r>
                                <a:rPr lang="en-US" sz="1800" kern="100">
                                  <a:effectLst/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1800" kern="100">
                                  <a:effectLst/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oMath>
                          </a14:m>
                          <a:r>
                            <a:rPr lang="en-US" sz="1800" kern="100" dirty="0">
                              <a:effectLst/>
                              <a:latin typeface="SimSun" panose="02010600030101010101" pitchFamily="2" charset="-122"/>
                              <a:ea typeface="SimSun" panose="02010600030101010101" pitchFamily="2" charset="-122"/>
                              <a:cs typeface="Times New Roman" panose="02020603050405020304" pitchFamily="18" charset="0"/>
                            </a:rPr>
                            <a:t>”</a:t>
                          </a:r>
                          <a:endParaRPr lang="zh-CN" sz="1800" kern="100" dirty="0">
                            <a:solidFill>
                              <a:srgbClr val="000000"/>
                            </a:solidFill>
                            <a:effectLst/>
                            <a:latin typeface="SimSun" panose="02010600030101010101" pitchFamily="2" charset="-122"/>
                            <a:ea typeface="SimSun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T="34290" marB="34290" anchor="ctr"/>
                    </a:tc>
                    <a:extLst>
                      <a:ext uri="{0D108BD9-81ED-4DB2-BD59-A6C34878D82A}">
                        <a16:rowId xmlns:a16="http://schemas.microsoft.com/office/drawing/2014/main" val="515716141"/>
                      </a:ext>
                    </a:extLst>
                  </a:tr>
                  <a:tr h="616757">
                    <a:tc>
                      <a:txBody>
                        <a:bodyPr/>
                        <a:lstStyle/>
                        <a:p>
                          <a:pPr indent="127000" algn="ctr">
                            <a:lnSpc>
                              <a:spcPts val="22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zh-CN" sz="1800" kern="100">
                              <a:effectLst/>
                              <a:latin typeface="SimSun" panose="02010600030101010101" pitchFamily="2" charset="-122"/>
                              <a:ea typeface="SimSun" panose="02010600030101010101" pitchFamily="2" charset="-122"/>
                              <a:cs typeface="Times New Roman" panose="02020603050405020304" pitchFamily="18" charset="0"/>
                            </a:rPr>
                            <a:t>非</a:t>
                          </a:r>
                          <a:r>
                            <a:rPr lang="en-US" sz="1800" kern="100">
                              <a:effectLst/>
                              <a:latin typeface="SimSun" panose="02010600030101010101" pitchFamily="2" charset="-122"/>
                              <a:ea typeface="SimSun" panose="02010600030101010101" pitchFamily="2" charset="-122"/>
                              <a:cs typeface="Times New Roman" panose="02020603050405020304" pitchFamily="18" charset="0"/>
                            </a:rPr>
                            <a:t>(not)</a:t>
                          </a:r>
                          <a:endParaRPr lang="zh-CN" sz="1800" kern="100">
                            <a:solidFill>
                              <a:srgbClr val="000000"/>
                            </a:solidFill>
                            <a:effectLst/>
                            <a:latin typeface="SimSun" panose="02010600030101010101" pitchFamily="2" charset="-122"/>
                            <a:ea typeface="SimSun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T="34290" marB="3429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3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kern="0">
                                    <a:effectLst/>
                                    <a:latin typeface="Cambria Math" panose="02040503050406030204" pitchFamily="18" charset="0"/>
                                  </a:rPr>
                                  <m:t>¬</m:t>
                                </m:r>
                                <m:r>
                                  <a:rPr lang="en-US" sz="1800" kern="0">
                                    <a:effectLst/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oMath>
                            </m:oMathPara>
                          </a14:m>
                          <a:endParaRPr lang="zh-CN" sz="1800" kern="100">
                            <a:effectLst/>
                            <a:latin typeface="SimSun" panose="02010600030101010101" pitchFamily="2" charset="-122"/>
                            <a:ea typeface="SimSun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T="34290" marB="34290" anchor="ctr"/>
                    </a:tc>
                    <a:tc>
                      <a:txBody>
                        <a:bodyPr/>
                        <a:lstStyle/>
                        <a:p>
                          <a:pPr indent="127000" algn="ctr">
                            <a:lnSpc>
                              <a:spcPts val="22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zh-CN" sz="1800" kern="100" dirty="0">
                              <a:effectLst/>
                              <a:latin typeface="SimSun" panose="02010600030101010101" pitchFamily="2" charset="-122"/>
                              <a:ea typeface="SimSun" panose="02010600030101010101" pitchFamily="2" charset="-122"/>
                              <a:cs typeface="Times New Roman" panose="02020603050405020304" pitchFamily="18" charset="0"/>
                            </a:rPr>
                            <a:t>命题否定</a:t>
                          </a:r>
                          <a:r>
                            <a:rPr lang="en-US" sz="1800" kern="100" dirty="0">
                              <a:effectLst/>
                              <a:latin typeface="SimSun" panose="02010600030101010101" pitchFamily="2" charset="-122"/>
                              <a:ea typeface="SimSun" panose="02010600030101010101" pitchFamily="2" charset="-122"/>
                              <a:cs typeface="Times New Roman" panose="02020603050405020304" pitchFamily="18" charset="0"/>
                            </a:rPr>
                            <a:t>(negation)</a:t>
                          </a:r>
                          <a:r>
                            <a:rPr lang="zh-CN" sz="1800" kern="100" dirty="0">
                              <a:effectLst/>
                              <a:latin typeface="SimSun" panose="02010600030101010101" pitchFamily="2" charset="-122"/>
                              <a:ea typeface="SimSun" panose="02010600030101010101" pitchFamily="2" charset="-122"/>
                              <a:cs typeface="Times New Roman" panose="02020603050405020304" pitchFamily="18" charset="0"/>
                            </a:rPr>
                            <a:t>，即</a:t>
                          </a:r>
                          <a:r>
                            <a:rPr lang="en-US" sz="1800" kern="100" dirty="0">
                              <a:effectLst/>
                              <a:latin typeface="SimSun" panose="02010600030101010101" pitchFamily="2" charset="-122"/>
                              <a:ea typeface="SimSun" panose="02010600030101010101" pitchFamily="2" charset="-122"/>
                              <a:cs typeface="Times New Roman" panose="02020603050405020304" pitchFamily="18" charset="0"/>
                            </a:rPr>
                            <a:t>“</a:t>
                          </a:r>
                          <a:r>
                            <a:rPr lang="zh-CN" sz="1800" kern="100" dirty="0">
                              <a:effectLst/>
                              <a:latin typeface="SimSun" panose="02010600030101010101" pitchFamily="2" charset="-122"/>
                              <a:ea typeface="SimSun" panose="02010600030101010101" pitchFamily="2" charset="-122"/>
                              <a:cs typeface="Times New Roman" panose="02020603050405020304" pitchFamily="18" charset="0"/>
                            </a:rPr>
                            <a:t>非</a:t>
                          </a:r>
                          <a14:m>
                            <m:oMath xmlns:m="http://schemas.openxmlformats.org/officeDocument/2006/math">
                              <m:r>
                                <a:rPr lang="en-US" sz="1800" kern="100">
                                  <a:effectLst/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oMath>
                          </a14:m>
                          <a:r>
                            <a:rPr lang="en-US" sz="1800" kern="100" dirty="0">
                              <a:effectLst/>
                              <a:latin typeface="SimSun" panose="02010600030101010101" pitchFamily="2" charset="-122"/>
                              <a:ea typeface="SimSun" panose="02010600030101010101" pitchFamily="2" charset="-122"/>
                              <a:cs typeface="Times New Roman" panose="02020603050405020304" pitchFamily="18" charset="0"/>
                            </a:rPr>
                            <a:t>”</a:t>
                          </a:r>
                          <a:endParaRPr lang="zh-CN" sz="1800" kern="100" dirty="0">
                            <a:solidFill>
                              <a:srgbClr val="000000"/>
                            </a:solidFill>
                            <a:effectLst/>
                            <a:latin typeface="SimSun" panose="02010600030101010101" pitchFamily="2" charset="-122"/>
                            <a:ea typeface="SimSun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T="34290" marB="34290" anchor="ctr"/>
                    </a:tc>
                    <a:extLst>
                      <a:ext uri="{0D108BD9-81ED-4DB2-BD59-A6C34878D82A}">
                        <a16:rowId xmlns:a16="http://schemas.microsoft.com/office/drawing/2014/main" val="3094432710"/>
                      </a:ext>
                    </a:extLst>
                  </a:tr>
                  <a:tr h="616757">
                    <a:tc>
                      <a:txBody>
                        <a:bodyPr/>
                        <a:lstStyle/>
                        <a:p>
                          <a:pPr indent="127000" algn="ctr">
                            <a:lnSpc>
                              <a:spcPts val="22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zh-CN" sz="1800" kern="100" dirty="0">
                              <a:effectLst/>
                              <a:latin typeface="SimSun" panose="02010600030101010101" pitchFamily="2" charset="-122"/>
                              <a:ea typeface="SimSun" panose="02010600030101010101" pitchFamily="2" charset="-122"/>
                              <a:cs typeface="Times New Roman" panose="02020603050405020304" pitchFamily="18" charset="0"/>
                            </a:rPr>
                            <a:t>条件</a:t>
                          </a:r>
                          <a:r>
                            <a:rPr lang="en-US" sz="1800" kern="100" dirty="0">
                              <a:effectLst/>
                              <a:latin typeface="SimSun" panose="02010600030101010101" pitchFamily="2" charset="-122"/>
                              <a:ea typeface="SimSun" panose="02010600030101010101" pitchFamily="2" charset="-122"/>
                              <a:cs typeface="Times New Roman" panose="02020603050405020304" pitchFamily="18" charset="0"/>
                            </a:rPr>
                            <a:t>(conditional)</a:t>
                          </a:r>
                          <a:endParaRPr lang="zh-CN" sz="1800" kern="100" dirty="0">
                            <a:solidFill>
                              <a:srgbClr val="000000"/>
                            </a:solidFill>
                            <a:effectLst/>
                            <a:latin typeface="SimSun" panose="02010600030101010101" pitchFamily="2" charset="-122"/>
                            <a:ea typeface="SimSun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T="34290" marB="3429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3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kern="0">
                                    <a:effectLst/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  <m:r>
                                  <a:rPr lang="en-US" sz="1800" kern="0">
                                    <a:effectLst/>
                                    <a:latin typeface="Cambria Math" panose="02040503050406030204" pitchFamily="18" charset="0"/>
                                  </a:rPr>
                                  <m:t>→</m:t>
                                </m:r>
                                <m:r>
                                  <a:rPr lang="en-US" sz="1800" kern="0">
                                    <a:effectLst/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</m:oMath>
                            </m:oMathPara>
                          </a14:m>
                          <a:endParaRPr lang="zh-CN" sz="1800" kern="100">
                            <a:effectLst/>
                            <a:latin typeface="SimSun" panose="02010600030101010101" pitchFamily="2" charset="-122"/>
                            <a:ea typeface="SimSun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T="34290" marB="34290" anchor="ctr"/>
                    </a:tc>
                    <a:tc>
                      <a:txBody>
                        <a:bodyPr/>
                        <a:lstStyle/>
                        <a:p>
                          <a:pPr indent="127000" algn="ctr">
                            <a:lnSpc>
                              <a:spcPts val="22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zh-CN" sz="1800" kern="100" dirty="0">
                              <a:effectLst/>
                              <a:latin typeface="SimSun" panose="02010600030101010101" pitchFamily="2" charset="-122"/>
                              <a:ea typeface="SimSun" panose="02010600030101010101" pitchFamily="2" charset="-122"/>
                              <a:cs typeface="Times New Roman" panose="02020603050405020304" pitchFamily="18" charset="0"/>
                            </a:rPr>
                            <a:t>命题蕴含</a:t>
                          </a:r>
                          <a:r>
                            <a:rPr lang="en-US" sz="1800" kern="100" dirty="0">
                              <a:effectLst/>
                              <a:latin typeface="SimSun" panose="02010600030101010101" pitchFamily="2" charset="-122"/>
                              <a:ea typeface="SimSun" panose="02010600030101010101" pitchFamily="2" charset="-122"/>
                              <a:cs typeface="Times New Roman" panose="02020603050405020304" pitchFamily="18" charset="0"/>
                            </a:rPr>
                            <a:t>(implication)</a:t>
                          </a:r>
                          <a:r>
                            <a:rPr lang="zh-CN" sz="1800" kern="100" dirty="0">
                              <a:effectLst/>
                              <a:latin typeface="SimSun" panose="02010600030101010101" pitchFamily="2" charset="-122"/>
                              <a:ea typeface="SimSun" panose="02010600030101010101" pitchFamily="2" charset="-122"/>
                              <a:cs typeface="Times New Roman" panose="02020603050405020304" pitchFamily="18" charset="0"/>
                            </a:rPr>
                            <a:t>，</a:t>
                          </a:r>
                          <a14:m>
                            <m:oMath xmlns:m="http://schemas.openxmlformats.org/officeDocument/2006/math">
                              <m:r>
                                <a:rPr lang="en-US" sz="1800" kern="100">
                                  <a:effectLst/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oMath>
                          </a14:m>
                          <a:r>
                            <a:rPr lang="zh-CN" sz="1800" kern="100" dirty="0">
                              <a:effectLst/>
                              <a:latin typeface="SimSun" panose="02010600030101010101" pitchFamily="2" charset="-122"/>
                              <a:ea typeface="SimSun" panose="02010600030101010101" pitchFamily="2" charset="-122"/>
                              <a:cs typeface="Times New Roman" panose="02020603050405020304" pitchFamily="18" charset="0"/>
                            </a:rPr>
                            <a:t>称为前件，</a:t>
                          </a:r>
                          <a14:m>
                            <m:oMath xmlns:m="http://schemas.openxmlformats.org/officeDocument/2006/math">
                              <m:r>
                                <a:rPr lang="en-US" sz="1800" kern="100">
                                  <a:effectLst/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oMath>
                          </a14:m>
                          <a:r>
                            <a:rPr lang="zh-CN" sz="1800" kern="100" dirty="0">
                              <a:effectLst/>
                              <a:latin typeface="SimSun" panose="02010600030101010101" pitchFamily="2" charset="-122"/>
                              <a:ea typeface="SimSun" panose="02010600030101010101" pitchFamily="2" charset="-122"/>
                              <a:cs typeface="Times New Roman" panose="02020603050405020304" pitchFamily="18" charset="0"/>
                            </a:rPr>
                            <a:t>称为后件，即</a:t>
                          </a:r>
                          <a:r>
                            <a:rPr lang="en-US" sz="1800" kern="100" dirty="0">
                              <a:effectLst/>
                              <a:latin typeface="SimSun" panose="02010600030101010101" pitchFamily="2" charset="-122"/>
                              <a:ea typeface="SimSun" panose="02010600030101010101" pitchFamily="2" charset="-122"/>
                              <a:cs typeface="Times New Roman" panose="02020603050405020304" pitchFamily="18" charset="0"/>
                            </a:rPr>
                            <a:t>“</a:t>
                          </a:r>
                          <a:r>
                            <a:rPr lang="zh-CN" sz="1800" kern="100" dirty="0">
                              <a:effectLst/>
                              <a:latin typeface="SimSun" panose="02010600030101010101" pitchFamily="2" charset="-122"/>
                              <a:ea typeface="SimSun" panose="02010600030101010101" pitchFamily="2" charset="-122"/>
                              <a:cs typeface="Times New Roman" panose="02020603050405020304" pitchFamily="18" charset="0"/>
                            </a:rPr>
                            <a:t>如果</a:t>
                          </a:r>
                          <a14:m>
                            <m:oMath xmlns:m="http://schemas.openxmlformats.org/officeDocument/2006/math">
                              <m:r>
                                <a:rPr lang="en-US" sz="1800" kern="100">
                                  <a:effectLst/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oMath>
                          </a14:m>
                          <a:r>
                            <a:rPr lang="zh-CN" sz="1800" kern="100" dirty="0">
                              <a:effectLst/>
                              <a:latin typeface="SimSun" panose="02010600030101010101" pitchFamily="2" charset="-122"/>
                              <a:ea typeface="SimSun" panose="02010600030101010101" pitchFamily="2" charset="-122"/>
                              <a:cs typeface="Times New Roman" panose="02020603050405020304" pitchFamily="18" charset="0"/>
                            </a:rPr>
                            <a:t>，则</a:t>
                          </a:r>
                          <a14:m>
                            <m:oMath xmlns:m="http://schemas.openxmlformats.org/officeDocument/2006/math">
                              <m:r>
                                <a:rPr lang="en-US" sz="1800" kern="100">
                                  <a:effectLst/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oMath>
                          </a14:m>
                          <a:r>
                            <a:rPr lang="en-US" sz="1800" kern="100" dirty="0">
                              <a:effectLst/>
                              <a:latin typeface="SimSun" panose="02010600030101010101" pitchFamily="2" charset="-122"/>
                              <a:ea typeface="SimSun" panose="02010600030101010101" pitchFamily="2" charset="-122"/>
                              <a:cs typeface="Times New Roman" panose="02020603050405020304" pitchFamily="18" charset="0"/>
                            </a:rPr>
                            <a:t>”</a:t>
                          </a:r>
                          <a:endParaRPr lang="zh-CN" sz="1800" kern="100" dirty="0">
                            <a:solidFill>
                              <a:srgbClr val="000000"/>
                            </a:solidFill>
                            <a:effectLst/>
                            <a:latin typeface="SimSun" panose="02010600030101010101" pitchFamily="2" charset="-122"/>
                            <a:ea typeface="SimSun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T="34290" marB="34290" anchor="ctr"/>
                    </a:tc>
                    <a:extLst>
                      <a:ext uri="{0D108BD9-81ED-4DB2-BD59-A6C34878D82A}">
                        <a16:rowId xmlns:a16="http://schemas.microsoft.com/office/drawing/2014/main" val="1044330547"/>
                      </a:ext>
                    </a:extLst>
                  </a:tr>
                  <a:tr h="616757">
                    <a:tc>
                      <a:txBody>
                        <a:bodyPr/>
                        <a:lstStyle/>
                        <a:p>
                          <a:pPr indent="127000" algn="ctr">
                            <a:lnSpc>
                              <a:spcPts val="22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zh-CN" sz="1800" kern="100">
                              <a:effectLst/>
                              <a:latin typeface="SimSun" panose="02010600030101010101" pitchFamily="2" charset="-122"/>
                              <a:ea typeface="SimSun" panose="02010600030101010101" pitchFamily="2" charset="-122"/>
                              <a:cs typeface="Times New Roman" panose="02020603050405020304" pitchFamily="18" charset="0"/>
                            </a:rPr>
                            <a:t>双向条件</a:t>
                          </a:r>
                          <a:r>
                            <a:rPr lang="en-US" sz="1800" kern="100">
                              <a:effectLst/>
                              <a:latin typeface="SimSun" panose="02010600030101010101" pitchFamily="2" charset="-122"/>
                              <a:ea typeface="SimSun" panose="02010600030101010101" pitchFamily="2" charset="-122"/>
                              <a:cs typeface="Times New Roman" panose="02020603050405020304" pitchFamily="18" charset="0"/>
                            </a:rPr>
                            <a:t>(bi-conditional)</a:t>
                          </a:r>
                          <a:endParaRPr lang="zh-CN" sz="1800" kern="100">
                            <a:solidFill>
                              <a:srgbClr val="000000"/>
                            </a:solidFill>
                            <a:effectLst/>
                            <a:latin typeface="SimSun" panose="02010600030101010101" pitchFamily="2" charset="-122"/>
                            <a:ea typeface="SimSun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T="34290" marB="3429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3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kern="0">
                                    <a:effectLst/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  <m:r>
                                  <a:rPr lang="en-US" sz="1800" kern="0">
                                    <a:effectLst/>
                                    <a:latin typeface="Cambria Math" panose="02040503050406030204" pitchFamily="18" charset="0"/>
                                  </a:rPr>
                                  <m:t>↔</m:t>
                                </m:r>
                                <m:r>
                                  <a:rPr lang="en-US" sz="1800" kern="0">
                                    <a:effectLst/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</m:oMath>
                            </m:oMathPara>
                          </a14:m>
                          <a:endParaRPr lang="zh-CN" sz="1800" kern="100">
                            <a:effectLst/>
                            <a:latin typeface="SimSun" panose="02010600030101010101" pitchFamily="2" charset="-122"/>
                            <a:ea typeface="SimSun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T="34290" marB="34290" anchor="ctr"/>
                    </a:tc>
                    <a:tc>
                      <a:txBody>
                        <a:bodyPr/>
                        <a:lstStyle/>
                        <a:p>
                          <a:pPr indent="127000" algn="ctr">
                            <a:lnSpc>
                              <a:spcPts val="22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zh-CN" sz="1800" kern="100" dirty="0">
                              <a:effectLst/>
                              <a:latin typeface="SimSun" panose="02010600030101010101" pitchFamily="2" charset="-122"/>
                              <a:ea typeface="SimSun" panose="02010600030101010101" pitchFamily="2" charset="-122"/>
                              <a:cs typeface="Times New Roman" panose="02020603050405020304" pitchFamily="18" charset="0"/>
                            </a:rPr>
                            <a:t>命题双向蕴含</a:t>
                          </a:r>
                          <a:r>
                            <a:rPr lang="en-US" sz="1800" kern="100" dirty="0">
                              <a:effectLst/>
                              <a:latin typeface="SimSun" panose="02010600030101010101" pitchFamily="2" charset="-122"/>
                              <a:ea typeface="SimSun" panose="02010600030101010101" pitchFamily="2" charset="-122"/>
                              <a:cs typeface="Times New Roman" panose="02020603050405020304" pitchFamily="18" charset="0"/>
                            </a:rPr>
                            <a:t>(bi-implication)</a:t>
                          </a:r>
                          <a:r>
                            <a:rPr lang="zh-CN" sz="1800" kern="100" dirty="0">
                              <a:effectLst/>
                              <a:latin typeface="SimSun" panose="02010600030101010101" pitchFamily="2" charset="-122"/>
                              <a:ea typeface="SimSun" panose="02010600030101010101" pitchFamily="2" charset="-122"/>
                              <a:cs typeface="Times New Roman" panose="02020603050405020304" pitchFamily="18" charset="0"/>
                            </a:rPr>
                            <a:t>，即</a:t>
                          </a:r>
                          <a:r>
                            <a:rPr lang="en-US" sz="1800" kern="100" dirty="0">
                              <a:effectLst/>
                              <a:latin typeface="SimSun" panose="02010600030101010101" pitchFamily="2" charset="-122"/>
                              <a:ea typeface="SimSun" panose="02010600030101010101" pitchFamily="2" charset="-122"/>
                              <a:cs typeface="Times New Roman" panose="02020603050405020304" pitchFamily="18" charset="0"/>
                            </a:rPr>
                            <a:t>“</a:t>
                          </a:r>
                          <a14:m>
                            <m:oMath xmlns:m="http://schemas.openxmlformats.org/officeDocument/2006/math">
                              <m:r>
                                <a:rPr lang="en-US" sz="1800" kern="100">
                                  <a:effectLst/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oMath>
                          </a14:m>
                          <a:r>
                            <a:rPr lang="zh-CN" sz="1800" kern="100" dirty="0">
                              <a:effectLst/>
                              <a:latin typeface="SimSun" panose="02010600030101010101" pitchFamily="2" charset="-122"/>
                              <a:ea typeface="SimSun" panose="02010600030101010101" pitchFamily="2" charset="-122"/>
                              <a:cs typeface="Times New Roman" panose="02020603050405020304" pitchFamily="18" charset="0"/>
                            </a:rPr>
                            <a:t>当且仅当</a:t>
                          </a:r>
                          <a14:m>
                            <m:oMath xmlns:m="http://schemas.openxmlformats.org/officeDocument/2006/math">
                              <m:r>
                                <a:rPr lang="en-US" sz="1800" kern="100">
                                  <a:effectLst/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1800" kern="100">
                                  <a:effectLst/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oMath>
                          </a14:m>
                          <a:r>
                            <a:rPr lang="en-US" sz="1800" kern="100" dirty="0">
                              <a:effectLst/>
                              <a:latin typeface="SimSun" panose="02010600030101010101" pitchFamily="2" charset="-122"/>
                              <a:ea typeface="SimSun" panose="02010600030101010101" pitchFamily="2" charset="-122"/>
                              <a:cs typeface="Times New Roman" panose="02020603050405020304" pitchFamily="18" charset="0"/>
                            </a:rPr>
                            <a:t>”</a:t>
                          </a:r>
                          <a:endParaRPr lang="zh-CN" sz="1800" kern="100" dirty="0">
                            <a:solidFill>
                              <a:srgbClr val="000000"/>
                            </a:solidFill>
                            <a:effectLst/>
                            <a:latin typeface="SimSun" panose="02010600030101010101" pitchFamily="2" charset="-122"/>
                            <a:ea typeface="SimSun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T="34290" marB="34290" anchor="ctr"/>
                    </a:tc>
                    <a:extLst>
                      <a:ext uri="{0D108BD9-81ED-4DB2-BD59-A6C34878D82A}">
                        <a16:rowId xmlns:a16="http://schemas.microsoft.com/office/drawing/2014/main" val="156344552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表格 5">
                <a:extLst>
                  <a:ext uri="{FF2B5EF4-FFF2-40B4-BE49-F238E27FC236}">
                    <a16:creationId xmlns:a16="http://schemas.microsoft.com/office/drawing/2014/main" id="{DB61BDD0-A3CC-4B3B-B1DA-AB1450A8868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784572930"/>
                  </p:ext>
                </p:extLst>
              </p:nvPr>
            </p:nvGraphicFramePr>
            <p:xfrm>
              <a:off x="838199" y="2046767"/>
              <a:ext cx="10910777" cy="361507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214315">
                      <a:extLst>
                        <a:ext uri="{9D8B030D-6E8A-4147-A177-3AD203B41FA5}">
                          <a16:colId xmlns:a16="http://schemas.microsoft.com/office/drawing/2014/main" val="1315336471"/>
                        </a:ext>
                      </a:extLst>
                    </a:gridCol>
                    <a:gridCol w="1483866">
                      <a:extLst>
                        <a:ext uri="{9D8B030D-6E8A-4147-A177-3AD203B41FA5}">
                          <a16:colId xmlns:a16="http://schemas.microsoft.com/office/drawing/2014/main" val="1383698265"/>
                        </a:ext>
                      </a:extLst>
                    </a:gridCol>
                    <a:gridCol w="6212596">
                      <a:extLst>
                        <a:ext uri="{9D8B030D-6E8A-4147-A177-3AD203B41FA5}">
                          <a16:colId xmlns:a16="http://schemas.microsoft.com/office/drawing/2014/main" val="617529282"/>
                        </a:ext>
                      </a:extLst>
                    </a:gridCol>
                  </a:tblGrid>
                  <a:tr h="455171"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zh-CN" sz="1800" kern="0" dirty="0">
                              <a:effectLst/>
                              <a:latin typeface="SimSun" panose="02010600030101010101" pitchFamily="2" charset="-122"/>
                              <a:ea typeface="SimSun" panose="02010600030101010101" pitchFamily="2" charset="-122"/>
                              <a:cs typeface="Times New Roman" panose="02020603050405020304" pitchFamily="18" charset="0"/>
                            </a:rPr>
                            <a:t>命题联结词</a:t>
                          </a:r>
                          <a:endParaRPr lang="zh-CN" sz="1800" kern="100" dirty="0">
                            <a:effectLst/>
                            <a:latin typeface="SimSun" panose="02010600030101010101" pitchFamily="2" charset="-122"/>
                            <a:ea typeface="SimSun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T="34290" marB="3429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zh-CN" sz="1800" kern="0" dirty="0">
                              <a:effectLst/>
                              <a:latin typeface="SimSun" panose="02010600030101010101" pitchFamily="2" charset="-122"/>
                              <a:ea typeface="SimSun" panose="02010600030101010101" pitchFamily="2" charset="-122"/>
                              <a:cs typeface="Times New Roman" panose="02020603050405020304" pitchFamily="18" charset="0"/>
                            </a:rPr>
                            <a:t>表示形式</a:t>
                          </a:r>
                          <a:endParaRPr lang="zh-CN" sz="1800" kern="100" dirty="0">
                            <a:effectLst/>
                            <a:latin typeface="SimSun" panose="02010600030101010101" pitchFamily="2" charset="-122"/>
                            <a:ea typeface="SimSun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T="34290" marB="3429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zh-CN" sz="1800" kern="0">
                              <a:effectLst/>
                              <a:latin typeface="SimSun" panose="02010600030101010101" pitchFamily="2" charset="-122"/>
                              <a:ea typeface="SimSun" panose="02010600030101010101" pitchFamily="2" charset="-122"/>
                              <a:cs typeface="Times New Roman" panose="02020603050405020304" pitchFamily="18" charset="0"/>
                            </a:rPr>
                            <a:t>意义</a:t>
                          </a:r>
                          <a:endParaRPr lang="zh-CN" sz="1800" kern="100">
                            <a:effectLst/>
                            <a:latin typeface="SimSun" panose="02010600030101010101" pitchFamily="2" charset="-122"/>
                            <a:ea typeface="SimSun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T="34290" marB="34290" anchor="ctr"/>
                    </a:tc>
                    <a:extLst>
                      <a:ext uri="{0D108BD9-81ED-4DB2-BD59-A6C34878D82A}">
                        <a16:rowId xmlns:a16="http://schemas.microsoft.com/office/drawing/2014/main" val="1399890933"/>
                      </a:ext>
                    </a:extLst>
                  </a:tr>
                  <a:tr h="692871">
                    <a:tc>
                      <a:txBody>
                        <a:bodyPr/>
                        <a:lstStyle/>
                        <a:p>
                          <a:pPr indent="127000" algn="ctr">
                            <a:lnSpc>
                              <a:spcPts val="22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zh-CN" sz="1800" kern="100">
                              <a:effectLst/>
                              <a:latin typeface="SimSun" panose="02010600030101010101" pitchFamily="2" charset="-122"/>
                              <a:ea typeface="SimSun" panose="02010600030101010101" pitchFamily="2" charset="-122"/>
                              <a:cs typeface="Times New Roman" panose="02020603050405020304" pitchFamily="18" charset="0"/>
                            </a:rPr>
                            <a:t>与</a:t>
                          </a:r>
                          <a:r>
                            <a:rPr lang="en-US" sz="1800" kern="100">
                              <a:effectLst/>
                              <a:latin typeface="SimSun" panose="02010600030101010101" pitchFamily="2" charset="-122"/>
                              <a:ea typeface="SimSun" panose="02010600030101010101" pitchFamily="2" charset="-122"/>
                              <a:cs typeface="Times New Roman" panose="02020603050405020304" pitchFamily="18" charset="0"/>
                            </a:rPr>
                            <a:t>(and)</a:t>
                          </a:r>
                          <a:endParaRPr lang="zh-CN" sz="1800" kern="100">
                            <a:solidFill>
                              <a:srgbClr val="000000"/>
                            </a:solidFill>
                            <a:effectLst/>
                            <a:latin typeface="SimSun" panose="02010600030101010101" pitchFamily="2" charset="-122"/>
                            <a:ea typeface="SimSun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T="34290" marB="34290" anchor="ctr"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T="34290" marB="34290" anchor="ctr">
                        <a:blipFill>
                          <a:blip r:embed="rId3"/>
                          <a:stretch>
                            <a:fillRect l="-217094" t="-67273" r="-420513" b="-35454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T="34290" marB="34290" anchor="ctr">
                        <a:blipFill>
                          <a:blip r:embed="rId3"/>
                          <a:stretch>
                            <a:fillRect l="-75714" t="-67273" r="-408" b="-35454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54261827"/>
                      </a:ext>
                    </a:extLst>
                  </a:tr>
                  <a:tr h="616757">
                    <a:tc>
                      <a:txBody>
                        <a:bodyPr/>
                        <a:lstStyle/>
                        <a:p>
                          <a:pPr indent="127000" algn="ctr">
                            <a:lnSpc>
                              <a:spcPts val="22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zh-CN" sz="1800" kern="100">
                              <a:effectLst/>
                              <a:latin typeface="SimSun" panose="02010600030101010101" pitchFamily="2" charset="-122"/>
                              <a:ea typeface="SimSun" panose="02010600030101010101" pitchFamily="2" charset="-122"/>
                              <a:cs typeface="Times New Roman" panose="02020603050405020304" pitchFamily="18" charset="0"/>
                            </a:rPr>
                            <a:t>或</a:t>
                          </a:r>
                          <a:r>
                            <a:rPr lang="en-US" sz="1800" kern="100">
                              <a:effectLst/>
                              <a:latin typeface="SimSun" panose="02010600030101010101" pitchFamily="2" charset="-122"/>
                              <a:ea typeface="SimSun" panose="02010600030101010101" pitchFamily="2" charset="-122"/>
                              <a:cs typeface="Times New Roman" panose="02020603050405020304" pitchFamily="18" charset="0"/>
                            </a:rPr>
                            <a:t>(or)</a:t>
                          </a:r>
                          <a:endParaRPr lang="zh-CN" sz="1800" kern="100">
                            <a:solidFill>
                              <a:srgbClr val="000000"/>
                            </a:solidFill>
                            <a:effectLst/>
                            <a:latin typeface="SimSun" panose="02010600030101010101" pitchFamily="2" charset="-122"/>
                            <a:ea typeface="SimSun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T="34290" marB="34290" anchor="ctr"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T="34290" marB="34290" anchor="ctr">
                        <a:blipFill>
                          <a:blip r:embed="rId3"/>
                          <a:stretch>
                            <a:fillRect l="-217094" t="-191667" r="-420513" b="-30625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T="34290" marB="34290" anchor="ctr">
                        <a:blipFill>
                          <a:blip r:embed="rId3"/>
                          <a:stretch>
                            <a:fillRect l="-75714" t="-191667" r="-408" b="-30625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515716141"/>
                      </a:ext>
                    </a:extLst>
                  </a:tr>
                  <a:tr h="616757">
                    <a:tc>
                      <a:txBody>
                        <a:bodyPr/>
                        <a:lstStyle/>
                        <a:p>
                          <a:pPr indent="127000" algn="ctr">
                            <a:lnSpc>
                              <a:spcPts val="22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zh-CN" sz="1800" kern="100">
                              <a:effectLst/>
                              <a:latin typeface="SimSun" panose="02010600030101010101" pitchFamily="2" charset="-122"/>
                              <a:ea typeface="SimSun" panose="02010600030101010101" pitchFamily="2" charset="-122"/>
                              <a:cs typeface="Times New Roman" panose="02020603050405020304" pitchFamily="18" charset="0"/>
                            </a:rPr>
                            <a:t>非</a:t>
                          </a:r>
                          <a:r>
                            <a:rPr lang="en-US" sz="1800" kern="100">
                              <a:effectLst/>
                              <a:latin typeface="SimSun" panose="02010600030101010101" pitchFamily="2" charset="-122"/>
                              <a:ea typeface="SimSun" panose="02010600030101010101" pitchFamily="2" charset="-122"/>
                              <a:cs typeface="Times New Roman" panose="02020603050405020304" pitchFamily="18" charset="0"/>
                            </a:rPr>
                            <a:t>(not)</a:t>
                          </a:r>
                          <a:endParaRPr lang="zh-CN" sz="1800" kern="100">
                            <a:solidFill>
                              <a:srgbClr val="000000"/>
                            </a:solidFill>
                            <a:effectLst/>
                            <a:latin typeface="SimSun" panose="02010600030101010101" pitchFamily="2" charset="-122"/>
                            <a:ea typeface="SimSun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T="34290" marB="34290" anchor="ctr"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T="34290" marB="34290" anchor="ctr">
                        <a:blipFill>
                          <a:blip r:embed="rId3"/>
                          <a:stretch>
                            <a:fillRect l="-217094" t="-285714" r="-420513" b="-2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T="34290" marB="34290" anchor="ctr">
                        <a:blipFill>
                          <a:blip r:embed="rId3"/>
                          <a:stretch>
                            <a:fillRect l="-75714" t="-285714" r="-408" b="-20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094432710"/>
                      </a:ext>
                    </a:extLst>
                  </a:tr>
                  <a:tr h="616757">
                    <a:tc>
                      <a:txBody>
                        <a:bodyPr/>
                        <a:lstStyle/>
                        <a:p>
                          <a:pPr indent="127000" algn="ctr">
                            <a:lnSpc>
                              <a:spcPts val="22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zh-CN" sz="1800" kern="100" dirty="0">
                              <a:effectLst/>
                              <a:latin typeface="SimSun" panose="02010600030101010101" pitchFamily="2" charset="-122"/>
                              <a:ea typeface="SimSun" panose="02010600030101010101" pitchFamily="2" charset="-122"/>
                              <a:cs typeface="Times New Roman" panose="02020603050405020304" pitchFamily="18" charset="0"/>
                            </a:rPr>
                            <a:t>条件</a:t>
                          </a:r>
                          <a:r>
                            <a:rPr lang="en-US" sz="1800" kern="100" dirty="0">
                              <a:effectLst/>
                              <a:latin typeface="SimSun" panose="02010600030101010101" pitchFamily="2" charset="-122"/>
                              <a:ea typeface="SimSun" panose="02010600030101010101" pitchFamily="2" charset="-122"/>
                              <a:cs typeface="Times New Roman" panose="02020603050405020304" pitchFamily="18" charset="0"/>
                            </a:rPr>
                            <a:t>(conditional)</a:t>
                          </a:r>
                          <a:endParaRPr lang="zh-CN" sz="1800" kern="100" dirty="0">
                            <a:solidFill>
                              <a:srgbClr val="000000"/>
                            </a:solidFill>
                            <a:effectLst/>
                            <a:latin typeface="SimSun" panose="02010600030101010101" pitchFamily="2" charset="-122"/>
                            <a:ea typeface="SimSun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T="34290" marB="34290" anchor="ctr"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T="34290" marB="34290" anchor="ctr">
                        <a:blipFill>
                          <a:blip r:embed="rId3"/>
                          <a:stretch>
                            <a:fillRect l="-217094" t="-393750" r="-420513" b="-1041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T="34290" marB="34290" anchor="ctr">
                        <a:blipFill>
                          <a:blip r:embed="rId3"/>
                          <a:stretch>
                            <a:fillRect l="-75714" t="-393750" r="-408" b="-1041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44330547"/>
                      </a:ext>
                    </a:extLst>
                  </a:tr>
                  <a:tr h="616757">
                    <a:tc>
                      <a:txBody>
                        <a:bodyPr/>
                        <a:lstStyle/>
                        <a:p>
                          <a:pPr indent="127000" algn="ctr">
                            <a:lnSpc>
                              <a:spcPts val="22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zh-CN" sz="1800" kern="100">
                              <a:effectLst/>
                              <a:latin typeface="SimSun" panose="02010600030101010101" pitchFamily="2" charset="-122"/>
                              <a:ea typeface="SimSun" panose="02010600030101010101" pitchFamily="2" charset="-122"/>
                              <a:cs typeface="Times New Roman" panose="02020603050405020304" pitchFamily="18" charset="0"/>
                            </a:rPr>
                            <a:t>双向条件</a:t>
                          </a:r>
                          <a:r>
                            <a:rPr lang="en-US" sz="1800" kern="100">
                              <a:effectLst/>
                              <a:latin typeface="SimSun" panose="02010600030101010101" pitchFamily="2" charset="-122"/>
                              <a:ea typeface="SimSun" panose="02010600030101010101" pitchFamily="2" charset="-122"/>
                              <a:cs typeface="Times New Roman" panose="02020603050405020304" pitchFamily="18" charset="0"/>
                            </a:rPr>
                            <a:t>(bi-conditional)</a:t>
                          </a:r>
                          <a:endParaRPr lang="zh-CN" sz="1800" kern="100">
                            <a:solidFill>
                              <a:srgbClr val="000000"/>
                            </a:solidFill>
                            <a:effectLst/>
                            <a:latin typeface="SimSun" panose="02010600030101010101" pitchFamily="2" charset="-122"/>
                            <a:ea typeface="SimSun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T="34290" marB="34290" anchor="ctr"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T="34290" marB="34290" anchor="ctr">
                        <a:blipFill>
                          <a:blip r:embed="rId3"/>
                          <a:stretch>
                            <a:fillRect l="-217094" t="-483673" r="-420513" b="-204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T="34290" marB="34290" anchor="ctr">
                        <a:blipFill>
                          <a:blip r:embed="rId3"/>
                          <a:stretch>
                            <a:fillRect l="-75714" t="-483673" r="-408" b="-204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63445524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7" name="矩形 6">
            <a:extLst>
              <a:ext uri="{FF2B5EF4-FFF2-40B4-BE49-F238E27FC236}">
                <a16:creationId xmlns:a16="http://schemas.microsoft.com/office/drawing/2014/main" id="{26D3270A-14BB-477B-8785-390C5279E091}"/>
              </a:ext>
            </a:extLst>
          </p:cNvPr>
          <p:cNvSpPr/>
          <p:nvPr/>
        </p:nvSpPr>
        <p:spPr>
          <a:xfrm>
            <a:off x="4464784" y="5867299"/>
            <a:ext cx="326243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sz="2400" b="1" dirty="0">
                <a:solidFill>
                  <a:schemeClr val="accent1">
                    <a:lumMod val="75000"/>
                  </a:schemeClr>
                </a:solidFill>
                <a:latin typeface="宋体" panose="02010600030101010101" pitchFamily="2" charset="-122"/>
              </a:rPr>
              <a:t>五种主要的命题联结词</a:t>
            </a:r>
            <a:endParaRPr lang="zh-CN" altLang="en-US" sz="2400" b="1" dirty="0">
              <a:solidFill>
                <a:schemeClr val="accent1">
                  <a:lumMod val="75000"/>
                </a:schemeClr>
              </a:solidFill>
              <a:latin typeface="宋体" panose="02010600030101010101" pitchFamily="2" charset="-122"/>
            </a:endParaRPr>
          </a:p>
        </p:txBody>
      </p:sp>
      <p:sp>
        <p:nvSpPr>
          <p:cNvPr id="8" name="标题 1">
            <a:extLst>
              <a:ext uri="{FF2B5EF4-FFF2-40B4-BE49-F238E27FC236}">
                <a16:creationId xmlns:a16="http://schemas.microsoft.com/office/drawing/2014/main" id="{85051BA2-2333-BD0E-212B-1324C35A2974}"/>
              </a:ext>
            </a:extLst>
          </p:cNvPr>
          <p:cNvSpPr txBox="1">
            <a:spLocks/>
          </p:cNvSpPr>
          <p:nvPr/>
        </p:nvSpPr>
        <p:spPr>
          <a:xfrm>
            <a:off x="385815" y="47495"/>
            <a:ext cx="4080309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zh-CN" altLang="en-US" sz="3200" dirty="0">
                <a:solidFill>
                  <a:srgbClr val="FF0000"/>
                </a:solidFill>
                <a:latin typeface=".AppleSystemUIFont"/>
              </a:rPr>
              <a:t>命题逻辑</a:t>
            </a:r>
          </a:p>
        </p:txBody>
      </p:sp>
    </p:spTree>
    <p:extLst>
      <p:ext uri="{BB962C8B-B14F-4D97-AF65-F5344CB8AC3E}">
        <p14:creationId xmlns:p14="http://schemas.microsoft.com/office/powerpoint/2010/main" val="31407280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2174334" y="1094823"/>
            <a:ext cx="7616479" cy="497934"/>
            <a:chOff x="2591319" y="2819853"/>
            <a:chExt cx="4121087" cy="497934"/>
          </a:xfrm>
        </p:grpSpPr>
        <p:sp>
          <p:nvSpPr>
            <p:cNvPr id="3" name="平行四边形 2"/>
            <p:cNvSpPr/>
            <p:nvPr/>
          </p:nvSpPr>
          <p:spPr bwMode="auto">
            <a:xfrm>
              <a:off x="4099943" y="2849787"/>
              <a:ext cx="2547685" cy="468000"/>
            </a:xfrm>
            <a:prstGeom prst="parallelogram">
              <a:avLst/>
            </a:prstGeom>
            <a:solidFill>
              <a:srgbClr val="016773"/>
            </a:solidFill>
            <a:ln w="1905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en-US" dirty="0"/>
            </a:p>
          </p:txBody>
        </p:sp>
        <p:sp>
          <p:nvSpPr>
            <p:cNvPr id="4" name="平行四边形 3"/>
            <p:cNvSpPr/>
            <p:nvPr/>
          </p:nvSpPr>
          <p:spPr bwMode="auto">
            <a:xfrm>
              <a:off x="2591319" y="2819853"/>
              <a:ext cx="4078899" cy="468000"/>
            </a:xfrm>
            <a:prstGeom prst="parallelogram">
              <a:avLst/>
            </a:prstGeom>
            <a:solidFill>
              <a:srgbClr val="FAFAFA"/>
            </a:solidFill>
            <a:ln w="19050">
              <a:gradFill>
                <a:gsLst>
                  <a:gs pos="65000">
                    <a:srgbClr val="81C7C9"/>
                  </a:gs>
                  <a:gs pos="100000">
                    <a:srgbClr val="016773"/>
                  </a:gs>
                </a:gsLst>
                <a:lin ang="17400000" scaled="0"/>
              </a:gradFill>
            </a:ln>
            <a:effectLst>
              <a:outerShdw blurRad="50800" dist="38100" dir="18900000" algn="bl" rotWithShape="0">
                <a:schemeClr val="bg2">
                  <a:lumMod val="75000"/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en-US" dirty="0"/>
            </a:p>
          </p:txBody>
        </p:sp>
        <p:sp>
          <p:nvSpPr>
            <p:cNvPr id="5" name="矩形 4"/>
            <p:cNvSpPr/>
            <p:nvPr/>
          </p:nvSpPr>
          <p:spPr>
            <a:xfrm>
              <a:off x="2727472" y="2852954"/>
              <a:ext cx="3984934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zh-CN" altLang="zh-CN" sz="2400" b="1" dirty="0">
                  <a:solidFill>
                    <a:schemeClr val="accent1">
                      <a:lumMod val="75000"/>
                    </a:schemeClr>
                  </a:solidFill>
                  <a:latin typeface="宋体" panose="02010600030101010101" pitchFamily="2" charset="-122"/>
                </a:rPr>
                <a:t>主要联结词构成的复合命题的真值表</a:t>
              </a:r>
              <a:r>
                <a:rPr lang="zh-CN" altLang="en-US" sz="2400" b="1" dirty="0">
                  <a:solidFill>
                    <a:schemeClr val="accent1">
                      <a:lumMod val="75000"/>
                    </a:schemeClr>
                  </a:solidFill>
                  <a:latin typeface="宋体" panose="02010600030101010101" pitchFamily="2" charset="-122"/>
                </a:rPr>
                <a:t>及其涵义说明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表格 6">
                <a:extLst>
                  <a:ext uri="{FF2B5EF4-FFF2-40B4-BE49-F238E27FC236}">
                    <a16:creationId xmlns:a16="http://schemas.microsoft.com/office/drawing/2014/main" id="{ED74294D-537E-462F-BCC5-27AB35B6685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687873948"/>
                  </p:ext>
                </p:extLst>
              </p:nvPr>
            </p:nvGraphicFramePr>
            <p:xfrm>
              <a:off x="4524152" y="2613368"/>
              <a:ext cx="6826105" cy="221912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29716">
                      <a:extLst>
                        <a:ext uri="{9D8B030D-6E8A-4147-A177-3AD203B41FA5}">
                          <a16:colId xmlns:a16="http://schemas.microsoft.com/office/drawing/2014/main" val="2393218707"/>
                        </a:ext>
                      </a:extLst>
                    </a:gridCol>
                    <a:gridCol w="929716">
                      <a:extLst>
                        <a:ext uri="{9D8B030D-6E8A-4147-A177-3AD203B41FA5}">
                          <a16:colId xmlns:a16="http://schemas.microsoft.com/office/drawing/2014/main" val="2343854319"/>
                        </a:ext>
                      </a:extLst>
                    </a:gridCol>
                    <a:gridCol w="929716">
                      <a:extLst>
                        <a:ext uri="{9D8B030D-6E8A-4147-A177-3AD203B41FA5}">
                          <a16:colId xmlns:a16="http://schemas.microsoft.com/office/drawing/2014/main" val="1018136525"/>
                        </a:ext>
                      </a:extLst>
                    </a:gridCol>
                    <a:gridCol w="929716">
                      <a:extLst>
                        <a:ext uri="{9D8B030D-6E8A-4147-A177-3AD203B41FA5}">
                          <a16:colId xmlns:a16="http://schemas.microsoft.com/office/drawing/2014/main" val="2253780037"/>
                        </a:ext>
                      </a:extLst>
                    </a:gridCol>
                    <a:gridCol w="947463">
                      <a:extLst>
                        <a:ext uri="{9D8B030D-6E8A-4147-A177-3AD203B41FA5}">
                          <a16:colId xmlns:a16="http://schemas.microsoft.com/office/drawing/2014/main" val="383044308"/>
                        </a:ext>
                      </a:extLst>
                    </a:gridCol>
                    <a:gridCol w="1056680">
                      <a:extLst>
                        <a:ext uri="{9D8B030D-6E8A-4147-A177-3AD203B41FA5}">
                          <a16:colId xmlns:a16="http://schemas.microsoft.com/office/drawing/2014/main" val="3416074888"/>
                        </a:ext>
                      </a:extLst>
                    </a:gridCol>
                    <a:gridCol w="1103098">
                      <a:extLst>
                        <a:ext uri="{9D8B030D-6E8A-4147-A177-3AD203B41FA5}">
                          <a16:colId xmlns:a16="http://schemas.microsoft.com/office/drawing/2014/main" val="163211765"/>
                        </a:ext>
                      </a:extLst>
                    </a:gridCol>
                  </a:tblGrid>
                  <a:tr h="498378"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3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kern="0">
                                    <a:effectLst/>
                                    <a:latin typeface="Cambria Math" panose="02040503050406030204" pitchFamily="18" charset="0"/>
                                  </a:rPr>
                                  <m:t>𝒑</m:t>
                                </m:r>
                              </m:oMath>
                            </m:oMathPara>
                          </a14:m>
                          <a:endParaRPr lang="zh-CN" sz="1800" kern="100" dirty="0">
                            <a:effectLst/>
                            <a:latin typeface="SimSun" panose="02010600030101010101" pitchFamily="2" charset="-122"/>
                            <a:ea typeface="SimSun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T="34290" marB="3429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3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kern="0">
                                    <a:effectLst/>
                                    <a:latin typeface="Cambria Math" panose="02040503050406030204" pitchFamily="18" charset="0"/>
                                  </a:rPr>
                                  <m:t>𝒒</m:t>
                                </m:r>
                              </m:oMath>
                            </m:oMathPara>
                          </a14:m>
                          <a:endParaRPr lang="zh-CN" sz="1800" kern="100" dirty="0">
                            <a:effectLst/>
                            <a:latin typeface="SimSun" panose="02010600030101010101" pitchFamily="2" charset="-122"/>
                            <a:ea typeface="SimSun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T="34290" marB="3429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3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kern="0">
                                    <a:effectLst/>
                                    <a:latin typeface="Cambria Math" panose="02040503050406030204" pitchFamily="18" charset="0"/>
                                  </a:rPr>
                                  <m:t>¬</m:t>
                                </m:r>
                                <m:r>
                                  <a:rPr lang="en-US" sz="1800" kern="0">
                                    <a:effectLst/>
                                    <a:latin typeface="Cambria Math" panose="02040503050406030204" pitchFamily="18" charset="0"/>
                                  </a:rPr>
                                  <m:t>𝒑</m:t>
                                </m:r>
                              </m:oMath>
                            </m:oMathPara>
                          </a14:m>
                          <a:endParaRPr lang="zh-CN" sz="1800" kern="100" dirty="0">
                            <a:effectLst/>
                            <a:latin typeface="SimSun" panose="02010600030101010101" pitchFamily="2" charset="-122"/>
                            <a:ea typeface="SimSun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T="34290" marB="3429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3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kern="0">
                                    <a:effectLst/>
                                    <a:latin typeface="Cambria Math" panose="02040503050406030204" pitchFamily="18" charset="0"/>
                                  </a:rPr>
                                  <m:t>𝒑</m:t>
                                </m:r>
                                <m:r>
                                  <a:rPr lang="en-US" sz="1800" kern="0">
                                    <a:effectLst/>
                                    <a:latin typeface="Cambria Math" panose="02040503050406030204" pitchFamily="18" charset="0"/>
                                  </a:rPr>
                                  <m:t>∧</m:t>
                                </m:r>
                                <m:r>
                                  <a:rPr lang="en-US" sz="1800" kern="0">
                                    <a:effectLst/>
                                    <a:latin typeface="Cambria Math" panose="02040503050406030204" pitchFamily="18" charset="0"/>
                                  </a:rPr>
                                  <m:t>𝒒</m:t>
                                </m:r>
                              </m:oMath>
                            </m:oMathPara>
                          </a14:m>
                          <a:endParaRPr lang="zh-CN" sz="1800" kern="100" dirty="0">
                            <a:effectLst/>
                            <a:latin typeface="SimSun" panose="02010600030101010101" pitchFamily="2" charset="-122"/>
                            <a:ea typeface="SimSun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T="34290" marB="3429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3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kern="0">
                                    <a:effectLst/>
                                    <a:latin typeface="Cambria Math" panose="02040503050406030204" pitchFamily="18" charset="0"/>
                                  </a:rPr>
                                  <m:t>𝒑</m:t>
                                </m:r>
                                <m:r>
                                  <a:rPr lang="en-US" sz="1800" kern="0">
                                    <a:effectLst/>
                                    <a:latin typeface="Cambria Math" panose="02040503050406030204" pitchFamily="18" charset="0"/>
                                  </a:rPr>
                                  <m:t>∨</m:t>
                                </m:r>
                                <m:r>
                                  <a:rPr lang="en-US" sz="1800" kern="0">
                                    <a:effectLst/>
                                    <a:latin typeface="Cambria Math" panose="02040503050406030204" pitchFamily="18" charset="0"/>
                                  </a:rPr>
                                  <m:t>𝒒</m:t>
                                </m:r>
                              </m:oMath>
                            </m:oMathPara>
                          </a14:m>
                          <a:endParaRPr lang="zh-CN" sz="1800" kern="100">
                            <a:effectLst/>
                            <a:latin typeface="SimSun" panose="02010600030101010101" pitchFamily="2" charset="-122"/>
                            <a:ea typeface="SimSun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T="34290" marB="3429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3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kern="0">
                                    <a:effectLst/>
                                    <a:latin typeface="Cambria Math" panose="02040503050406030204" pitchFamily="18" charset="0"/>
                                  </a:rPr>
                                  <m:t>𝒑</m:t>
                                </m:r>
                                <m:r>
                                  <a:rPr lang="en-US" sz="1800" kern="0">
                                    <a:effectLst/>
                                    <a:latin typeface="Cambria Math" panose="02040503050406030204" pitchFamily="18" charset="0"/>
                                  </a:rPr>
                                  <m:t>→</m:t>
                                </m:r>
                                <m:r>
                                  <a:rPr lang="en-US" sz="1800" kern="0">
                                    <a:effectLst/>
                                    <a:latin typeface="Cambria Math" panose="02040503050406030204" pitchFamily="18" charset="0"/>
                                  </a:rPr>
                                  <m:t>𝒒</m:t>
                                </m:r>
                              </m:oMath>
                            </m:oMathPara>
                          </a14:m>
                          <a:endParaRPr lang="zh-CN" sz="1800" kern="100">
                            <a:effectLst/>
                            <a:latin typeface="SimSun" panose="02010600030101010101" pitchFamily="2" charset="-122"/>
                            <a:ea typeface="SimSun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T="34290" marB="3429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3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kern="0">
                                    <a:effectLst/>
                                    <a:latin typeface="Cambria Math" panose="02040503050406030204" pitchFamily="18" charset="0"/>
                                  </a:rPr>
                                  <m:t>𝒑</m:t>
                                </m:r>
                                <m:r>
                                  <a:rPr lang="en-US" sz="1800" kern="0">
                                    <a:effectLst/>
                                    <a:latin typeface="Cambria Math" panose="02040503050406030204" pitchFamily="18" charset="0"/>
                                  </a:rPr>
                                  <m:t>↔</m:t>
                                </m:r>
                                <m:r>
                                  <a:rPr lang="en-US" sz="1800" kern="0">
                                    <a:effectLst/>
                                    <a:latin typeface="Cambria Math" panose="02040503050406030204" pitchFamily="18" charset="0"/>
                                  </a:rPr>
                                  <m:t>𝒒</m:t>
                                </m:r>
                              </m:oMath>
                            </m:oMathPara>
                          </a14:m>
                          <a:endParaRPr lang="zh-CN" sz="1800" kern="100">
                            <a:effectLst/>
                            <a:latin typeface="SimSun" panose="02010600030101010101" pitchFamily="2" charset="-122"/>
                            <a:ea typeface="SimSun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T="34290" marB="34290" anchor="ctr"/>
                    </a:tc>
                    <a:extLst>
                      <a:ext uri="{0D108BD9-81ED-4DB2-BD59-A6C34878D82A}">
                        <a16:rowId xmlns:a16="http://schemas.microsoft.com/office/drawing/2014/main" val="3338190968"/>
                      </a:ext>
                    </a:extLst>
                  </a:tr>
                  <a:tr h="508480"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1800" kern="0">
                              <a:effectLst/>
                              <a:latin typeface="SimSun" panose="02010600030101010101" pitchFamily="2" charset="-122"/>
                              <a:ea typeface="SimSun" panose="02010600030101010101" pitchFamily="2" charset="-122"/>
                              <a:cs typeface="Times New Roman" panose="02020603050405020304" pitchFamily="18" charset="0"/>
                            </a:rPr>
                            <a:t>F</a:t>
                          </a:r>
                          <a:endParaRPr lang="zh-CN" sz="1800" kern="100">
                            <a:effectLst/>
                            <a:latin typeface="SimSun" panose="02010600030101010101" pitchFamily="2" charset="-122"/>
                            <a:ea typeface="SimSun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T="34290" marB="3429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1800" kern="0">
                              <a:effectLst/>
                              <a:latin typeface="SimSun" panose="02010600030101010101" pitchFamily="2" charset="-122"/>
                              <a:ea typeface="SimSun" panose="02010600030101010101" pitchFamily="2" charset="-122"/>
                              <a:cs typeface="Times New Roman" panose="02020603050405020304" pitchFamily="18" charset="0"/>
                            </a:rPr>
                            <a:t>F</a:t>
                          </a:r>
                          <a:endParaRPr lang="zh-CN" sz="1800" kern="100">
                            <a:effectLst/>
                            <a:latin typeface="SimSun" panose="02010600030101010101" pitchFamily="2" charset="-122"/>
                            <a:ea typeface="SimSun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T="34290" marB="3429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1800" kern="0">
                              <a:effectLst/>
                              <a:latin typeface="SimSun" panose="02010600030101010101" pitchFamily="2" charset="-122"/>
                              <a:ea typeface="SimSun" panose="02010600030101010101" pitchFamily="2" charset="-122"/>
                              <a:cs typeface="Times New Roman" panose="02020603050405020304" pitchFamily="18" charset="0"/>
                            </a:rPr>
                            <a:t>T</a:t>
                          </a:r>
                          <a:endParaRPr lang="zh-CN" sz="1800" kern="100">
                            <a:effectLst/>
                            <a:latin typeface="SimSun" panose="02010600030101010101" pitchFamily="2" charset="-122"/>
                            <a:ea typeface="SimSun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T="34290" marB="3429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1800" kern="0" dirty="0">
                              <a:effectLst/>
                              <a:latin typeface="SimSun" panose="02010600030101010101" pitchFamily="2" charset="-122"/>
                              <a:ea typeface="SimSun" panose="02010600030101010101" pitchFamily="2" charset="-122"/>
                              <a:cs typeface="Times New Roman" panose="02020603050405020304" pitchFamily="18" charset="0"/>
                            </a:rPr>
                            <a:t>F</a:t>
                          </a:r>
                          <a:endParaRPr lang="zh-CN" sz="1800" kern="100" dirty="0">
                            <a:effectLst/>
                            <a:latin typeface="SimSun" panose="02010600030101010101" pitchFamily="2" charset="-122"/>
                            <a:ea typeface="SimSun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T="34290" marB="3429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1800" kern="0" dirty="0">
                              <a:effectLst/>
                              <a:latin typeface="SimSun" panose="02010600030101010101" pitchFamily="2" charset="-122"/>
                              <a:ea typeface="SimSun" panose="02010600030101010101" pitchFamily="2" charset="-122"/>
                              <a:cs typeface="Times New Roman" panose="02020603050405020304" pitchFamily="18" charset="0"/>
                            </a:rPr>
                            <a:t>F</a:t>
                          </a:r>
                          <a:endParaRPr lang="zh-CN" sz="1800" kern="100" dirty="0">
                            <a:effectLst/>
                            <a:latin typeface="SimSun" panose="02010600030101010101" pitchFamily="2" charset="-122"/>
                            <a:ea typeface="SimSun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T="34290" marB="3429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1800" kern="0" dirty="0">
                              <a:effectLst/>
                              <a:latin typeface="SimSun" panose="02010600030101010101" pitchFamily="2" charset="-122"/>
                              <a:ea typeface="SimSun" panose="02010600030101010101" pitchFamily="2" charset="-122"/>
                              <a:cs typeface="Times New Roman" panose="02020603050405020304" pitchFamily="18" charset="0"/>
                            </a:rPr>
                            <a:t>T</a:t>
                          </a:r>
                          <a:endParaRPr lang="zh-CN" sz="1800" kern="100" dirty="0">
                            <a:effectLst/>
                            <a:latin typeface="SimSun" panose="02010600030101010101" pitchFamily="2" charset="-122"/>
                            <a:ea typeface="SimSun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T="34290" marB="3429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1800" kern="0">
                              <a:effectLst/>
                              <a:latin typeface="SimSun" panose="02010600030101010101" pitchFamily="2" charset="-122"/>
                              <a:ea typeface="SimSun" panose="02010600030101010101" pitchFamily="2" charset="-122"/>
                              <a:cs typeface="Times New Roman" panose="02020603050405020304" pitchFamily="18" charset="0"/>
                            </a:rPr>
                            <a:t>T</a:t>
                          </a:r>
                          <a:endParaRPr lang="zh-CN" sz="1800" kern="100">
                            <a:effectLst/>
                            <a:latin typeface="SimSun" panose="02010600030101010101" pitchFamily="2" charset="-122"/>
                            <a:ea typeface="SimSun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T="34290" marB="34290" anchor="ctr"/>
                    </a:tc>
                    <a:extLst>
                      <a:ext uri="{0D108BD9-81ED-4DB2-BD59-A6C34878D82A}">
                        <a16:rowId xmlns:a16="http://schemas.microsoft.com/office/drawing/2014/main" val="3338652469"/>
                      </a:ext>
                    </a:extLst>
                  </a:tr>
                  <a:tr h="404090"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1800" kern="0">
                              <a:effectLst/>
                              <a:latin typeface="SimSun" panose="02010600030101010101" pitchFamily="2" charset="-122"/>
                              <a:ea typeface="SimSun" panose="02010600030101010101" pitchFamily="2" charset="-122"/>
                              <a:cs typeface="Times New Roman" panose="02020603050405020304" pitchFamily="18" charset="0"/>
                            </a:rPr>
                            <a:t>F</a:t>
                          </a:r>
                          <a:endParaRPr lang="zh-CN" sz="1800" kern="100">
                            <a:effectLst/>
                            <a:latin typeface="SimSun" panose="02010600030101010101" pitchFamily="2" charset="-122"/>
                            <a:ea typeface="SimSun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T="34290" marB="3429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1800" kern="0">
                              <a:effectLst/>
                              <a:latin typeface="SimSun" panose="02010600030101010101" pitchFamily="2" charset="-122"/>
                              <a:ea typeface="SimSun" panose="02010600030101010101" pitchFamily="2" charset="-122"/>
                              <a:cs typeface="Times New Roman" panose="02020603050405020304" pitchFamily="18" charset="0"/>
                            </a:rPr>
                            <a:t>T</a:t>
                          </a:r>
                          <a:endParaRPr lang="zh-CN" sz="1800" kern="100">
                            <a:effectLst/>
                            <a:latin typeface="SimSun" panose="02010600030101010101" pitchFamily="2" charset="-122"/>
                            <a:ea typeface="SimSun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T="34290" marB="3429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1800" kern="0">
                              <a:effectLst/>
                              <a:latin typeface="SimSun" panose="02010600030101010101" pitchFamily="2" charset="-122"/>
                              <a:ea typeface="SimSun" panose="02010600030101010101" pitchFamily="2" charset="-122"/>
                              <a:cs typeface="Times New Roman" panose="02020603050405020304" pitchFamily="18" charset="0"/>
                            </a:rPr>
                            <a:t>T</a:t>
                          </a:r>
                          <a:endParaRPr lang="zh-CN" sz="1800" kern="100">
                            <a:effectLst/>
                            <a:latin typeface="SimSun" panose="02010600030101010101" pitchFamily="2" charset="-122"/>
                            <a:ea typeface="SimSun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T="34290" marB="3429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1800" kern="0">
                              <a:effectLst/>
                              <a:latin typeface="SimSun" panose="02010600030101010101" pitchFamily="2" charset="-122"/>
                              <a:ea typeface="SimSun" panose="02010600030101010101" pitchFamily="2" charset="-122"/>
                              <a:cs typeface="Times New Roman" panose="02020603050405020304" pitchFamily="18" charset="0"/>
                            </a:rPr>
                            <a:t>F</a:t>
                          </a:r>
                          <a:endParaRPr lang="zh-CN" sz="1800" kern="100">
                            <a:effectLst/>
                            <a:latin typeface="SimSun" panose="02010600030101010101" pitchFamily="2" charset="-122"/>
                            <a:ea typeface="SimSun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T="34290" marB="3429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1800" kern="0">
                              <a:effectLst/>
                              <a:latin typeface="SimSun" panose="02010600030101010101" pitchFamily="2" charset="-122"/>
                              <a:ea typeface="SimSun" panose="02010600030101010101" pitchFamily="2" charset="-122"/>
                              <a:cs typeface="Times New Roman" panose="02020603050405020304" pitchFamily="18" charset="0"/>
                            </a:rPr>
                            <a:t>T</a:t>
                          </a:r>
                          <a:endParaRPr lang="zh-CN" sz="1800" kern="100">
                            <a:effectLst/>
                            <a:latin typeface="SimSun" panose="02010600030101010101" pitchFamily="2" charset="-122"/>
                            <a:ea typeface="SimSun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T="34290" marB="3429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1800" kern="0" dirty="0">
                              <a:effectLst/>
                              <a:latin typeface="SimSun" panose="02010600030101010101" pitchFamily="2" charset="-122"/>
                              <a:ea typeface="SimSun" panose="02010600030101010101" pitchFamily="2" charset="-122"/>
                              <a:cs typeface="Times New Roman" panose="02020603050405020304" pitchFamily="18" charset="0"/>
                            </a:rPr>
                            <a:t>T</a:t>
                          </a:r>
                          <a:endParaRPr lang="zh-CN" sz="1800" kern="100" dirty="0">
                            <a:effectLst/>
                            <a:latin typeface="SimSun" panose="02010600030101010101" pitchFamily="2" charset="-122"/>
                            <a:ea typeface="SimSun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T="34290" marB="3429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1800" kern="0">
                              <a:effectLst/>
                              <a:latin typeface="SimSun" panose="02010600030101010101" pitchFamily="2" charset="-122"/>
                              <a:ea typeface="SimSun" panose="02010600030101010101" pitchFamily="2" charset="-122"/>
                              <a:cs typeface="Times New Roman" panose="02020603050405020304" pitchFamily="18" charset="0"/>
                            </a:rPr>
                            <a:t>F</a:t>
                          </a:r>
                          <a:endParaRPr lang="zh-CN" sz="1800" kern="100">
                            <a:effectLst/>
                            <a:latin typeface="SimSun" panose="02010600030101010101" pitchFamily="2" charset="-122"/>
                            <a:ea typeface="SimSun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T="34290" marB="34290" anchor="ctr"/>
                    </a:tc>
                    <a:extLst>
                      <a:ext uri="{0D108BD9-81ED-4DB2-BD59-A6C34878D82A}">
                        <a16:rowId xmlns:a16="http://schemas.microsoft.com/office/drawing/2014/main" val="1160342609"/>
                      </a:ext>
                    </a:extLst>
                  </a:tr>
                  <a:tr h="404090"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1800" kern="0">
                              <a:effectLst/>
                              <a:latin typeface="SimSun" panose="02010600030101010101" pitchFamily="2" charset="-122"/>
                              <a:ea typeface="SimSun" panose="02010600030101010101" pitchFamily="2" charset="-122"/>
                              <a:cs typeface="Times New Roman" panose="02020603050405020304" pitchFamily="18" charset="0"/>
                            </a:rPr>
                            <a:t>T</a:t>
                          </a:r>
                          <a:endParaRPr lang="zh-CN" sz="1800" kern="100">
                            <a:effectLst/>
                            <a:latin typeface="SimSun" panose="02010600030101010101" pitchFamily="2" charset="-122"/>
                            <a:ea typeface="SimSun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T="34290" marB="3429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1800" kern="0">
                              <a:effectLst/>
                              <a:latin typeface="SimSun" panose="02010600030101010101" pitchFamily="2" charset="-122"/>
                              <a:ea typeface="SimSun" panose="02010600030101010101" pitchFamily="2" charset="-122"/>
                              <a:cs typeface="Times New Roman" panose="02020603050405020304" pitchFamily="18" charset="0"/>
                            </a:rPr>
                            <a:t>F</a:t>
                          </a:r>
                          <a:endParaRPr lang="zh-CN" sz="1800" kern="100">
                            <a:effectLst/>
                            <a:latin typeface="SimSun" panose="02010600030101010101" pitchFamily="2" charset="-122"/>
                            <a:ea typeface="SimSun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T="34290" marB="3429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1800" kern="0">
                              <a:effectLst/>
                              <a:latin typeface="SimSun" panose="02010600030101010101" pitchFamily="2" charset="-122"/>
                              <a:ea typeface="SimSun" panose="02010600030101010101" pitchFamily="2" charset="-122"/>
                              <a:cs typeface="Times New Roman" panose="02020603050405020304" pitchFamily="18" charset="0"/>
                            </a:rPr>
                            <a:t>F</a:t>
                          </a:r>
                          <a:endParaRPr lang="zh-CN" sz="1800" kern="100">
                            <a:effectLst/>
                            <a:latin typeface="SimSun" panose="02010600030101010101" pitchFamily="2" charset="-122"/>
                            <a:ea typeface="SimSun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T="34290" marB="3429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1800" kern="0">
                              <a:effectLst/>
                              <a:latin typeface="SimSun" panose="02010600030101010101" pitchFamily="2" charset="-122"/>
                              <a:ea typeface="SimSun" panose="02010600030101010101" pitchFamily="2" charset="-122"/>
                              <a:cs typeface="Times New Roman" panose="02020603050405020304" pitchFamily="18" charset="0"/>
                            </a:rPr>
                            <a:t>F</a:t>
                          </a:r>
                          <a:endParaRPr lang="zh-CN" sz="1800" kern="100">
                            <a:effectLst/>
                            <a:latin typeface="SimSun" panose="02010600030101010101" pitchFamily="2" charset="-122"/>
                            <a:ea typeface="SimSun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T="34290" marB="3429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1800" kern="0">
                              <a:effectLst/>
                              <a:latin typeface="SimSun" panose="02010600030101010101" pitchFamily="2" charset="-122"/>
                              <a:ea typeface="SimSun" panose="02010600030101010101" pitchFamily="2" charset="-122"/>
                              <a:cs typeface="Times New Roman" panose="02020603050405020304" pitchFamily="18" charset="0"/>
                            </a:rPr>
                            <a:t>T</a:t>
                          </a:r>
                          <a:endParaRPr lang="zh-CN" sz="1800" kern="100">
                            <a:effectLst/>
                            <a:latin typeface="SimSun" panose="02010600030101010101" pitchFamily="2" charset="-122"/>
                            <a:ea typeface="SimSun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T="34290" marB="3429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1800" kern="0" dirty="0">
                              <a:effectLst/>
                              <a:latin typeface="SimSun" panose="02010600030101010101" pitchFamily="2" charset="-122"/>
                              <a:ea typeface="SimSun" panose="02010600030101010101" pitchFamily="2" charset="-122"/>
                              <a:cs typeface="Times New Roman" panose="02020603050405020304" pitchFamily="18" charset="0"/>
                            </a:rPr>
                            <a:t>F</a:t>
                          </a:r>
                          <a:endParaRPr lang="zh-CN" sz="1800" kern="100" dirty="0">
                            <a:effectLst/>
                            <a:latin typeface="SimSun" panose="02010600030101010101" pitchFamily="2" charset="-122"/>
                            <a:ea typeface="SimSun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T="34290" marB="3429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1800" kern="0" dirty="0">
                              <a:effectLst/>
                              <a:latin typeface="SimSun" panose="02010600030101010101" pitchFamily="2" charset="-122"/>
                              <a:ea typeface="SimSun" panose="02010600030101010101" pitchFamily="2" charset="-122"/>
                              <a:cs typeface="Times New Roman" panose="02020603050405020304" pitchFamily="18" charset="0"/>
                            </a:rPr>
                            <a:t>F</a:t>
                          </a:r>
                          <a:endParaRPr lang="zh-CN" sz="1800" kern="100" dirty="0">
                            <a:effectLst/>
                            <a:latin typeface="SimSun" panose="02010600030101010101" pitchFamily="2" charset="-122"/>
                            <a:ea typeface="SimSun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T="34290" marB="34290" anchor="ctr"/>
                    </a:tc>
                    <a:extLst>
                      <a:ext uri="{0D108BD9-81ED-4DB2-BD59-A6C34878D82A}">
                        <a16:rowId xmlns:a16="http://schemas.microsoft.com/office/drawing/2014/main" val="92405091"/>
                      </a:ext>
                    </a:extLst>
                  </a:tr>
                  <a:tr h="404090"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1800" kern="0">
                              <a:effectLst/>
                              <a:latin typeface="SimSun" panose="02010600030101010101" pitchFamily="2" charset="-122"/>
                              <a:ea typeface="SimSun" panose="02010600030101010101" pitchFamily="2" charset="-122"/>
                              <a:cs typeface="Times New Roman" panose="02020603050405020304" pitchFamily="18" charset="0"/>
                            </a:rPr>
                            <a:t>T</a:t>
                          </a:r>
                          <a:endParaRPr lang="zh-CN" sz="1800" kern="100">
                            <a:effectLst/>
                            <a:latin typeface="SimSun" panose="02010600030101010101" pitchFamily="2" charset="-122"/>
                            <a:ea typeface="SimSun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T="34290" marB="3429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1800" kern="0">
                              <a:effectLst/>
                              <a:latin typeface="SimSun" panose="02010600030101010101" pitchFamily="2" charset="-122"/>
                              <a:ea typeface="SimSun" panose="02010600030101010101" pitchFamily="2" charset="-122"/>
                              <a:cs typeface="Times New Roman" panose="02020603050405020304" pitchFamily="18" charset="0"/>
                            </a:rPr>
                            <a:t>T</a:t>
                          </a:r>
                          <a:endParaRPr lang="zh-CN" sz="1800" kern="100">
                            <a:effectLst/>
                            <a:latin typeface="SimSun" panose="02010600030101010101" pitchFamily="2" charset="-122"/>
                            <a:ea typeface="SimSun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T="34290" marB="3429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1800" kern="0">
                              <a:effectLst/>
                              <a:latin typeface="SimSun" panose="02010600030101010101" pitchFamily="2" charset="-122"/>
                              <a:ea typeface="SimSun" panose="02010600030101010101" pitchFamily="2" charset="-122"/>
                              <a:cs typeface="Times New Roman" panose="02020603050405020304" pitchFamily="18" charset="0"/>
                            </a:rPr>
                            <a:t>F</a:t>
                          </a:r>
                          <a:endParaRPr lang="zh-CN" sz="1800" kern="100">
                            <a:effectLst/>
                            <a:latin typeface="SimSun" panose="02010600030101010101" pitchFamily="2" charset="-122"/>
                            <a:ea typeface="SimSun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T="34290" marB="3429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1800" kern="0">
                              <a:effectLst/>
                              <a:latin typeface="SimSun" panose="02010600030101010101" pitchFamily="2" charset="-122"/>
                              <a:ea typeface="SimSun" panose="02010600030101010101" pitchFamily="2" charset="-122"/>
                              <a:cs typeface="Times New Roman" panose="02020603050405020304" pitchFamily="18" charset="0"/>
                            </a:rPr>
                            <a:t>T</a:t>
                          </a:r>
                          <a:endParaRPr lang="zh-CN" sz="1800" kern="100">
                            <a:effectLst/>
                            <a:latin typeface="SimSun" panose="02010600030101010101" pitchFamily="2" charset="-122"/>
                            <a:ea typeface="SimSun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T="34290" marB="3429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1800" kern="0">
                              <a:effectLst/>
                              <a:latin typeface="SimSun" panose="02010600030101010101" pitchFamily="2" charset="-122"/>
                              <a:ea typeface="SimSun" panose="02010600030101010101" pitchFamily="2" charset="-122"/>
                              <a:cs typeface="Times New Roman" panose="02020603050405020304" pitchFamily="18" charset="0"/>
                            </a:rPr>
                            <a:t>T</a:t>
                          </a:r>
                          <a:endParaRPr lang="zh-CN" sz="1800" kern="100">
                            <a:effectLst/>
                            <a:latin typeface="SimSun" panose="02010600030101010101" pitchFamily="2" charset="-122"/>
                            <a:ea typeface="SimSun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T="34290" marB="3429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1800" kern="0">
                              <a:effectLst/>
                              <a:latin typeface="SimSun" panose="02010600030101010101" pitchFamily="2" charset="-122"/>
                              <a:ea typeface="SimSun" panose="02010600030101010101" pitchFamily="2" charset="-122"/>
                              <a:cs typeface="Times New Roman" panose="02020603050405020304" pitchFamily="18" charset="0"/>
                            </a:rPr>
                            <a:t>T</a:t>
                          </a:r>
                          <a:endParaRPr lang="zh-CN" sz="1800" kern="100">
                            <a:effectLst/>
                            <a:latin typeface="SimSun" panose="02010600030101010101" pitchFamily="2" charset="-122"/>
                            <a:ea typeface="SimSun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T="34290" marB="3429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1800" kern="0" dirty="0">
                              <a:effectLst/>
                              <a:latin typeface="SimSun" panose="02010600030101010101" pitchFamily="2" charset="-122"/>
                              <a:ea typeface="SimSun" panose="02010600030101010101" pitchFamily="2" charset="-122"/>
                              <a:cs typeface="Times New Roman" panose="02020603050405020304" pitchFamily="18" charset="0"/>
                            </a:rPr>
                            <a:t>T</a:t>
                          </a:r>
                          <a:endParaRPr lang="zh-CN" sz="1800" kern="100" dirty="0">
                            <a:effectLst/>
                            <a:latin typeface="SimSun" panose="02010600030101010101" pitchFamily="2" charset="-122"/>
                            <a:ea typeface="SimSun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T="34290" marB="34290" anchor="ctr"/>
                    </a:tc>
                    <a:extLst>
                      <a:ext uri="{0D108BD9-81ED-4DB2-BD59-A6C34878D82A}">
                        <a16:rowId xmlns:a16="http://schemas.microsoft.com/office/drawing/2014/main" val="157870305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表格 6">
                <a:extLst>
                  <a:ext uri="{FF2B5EF4-FFF2-40B4-BE49-F238E27FC236}">
                    <a16:creationId xmlns:a16="http://schemas.microsoft.com/office/drawing/2014/main" id="{ED74294D-537E-462F-BCC5-27AB35B6685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687873948"/>
                  </p:ext>
                </p:extLst>
              </p:nvPr>
            </p:nvGraphicFramePr>
            <p:xfrm>
              <a:off x="4524152" y="2613368"/>
              <a:ext cx="6826105" cy="221912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29716">
                      <a:extLst>
                        <a:ext uri="{9D8B030D-6E8A-4147-A177-3AD203B41FA5}">
                          <a16:colId xmlns:a16="http://schemas.microsoft.com/office/drawing/2014/main" val="2393218707"/>
                        </a:ext>
                      </a:extLst>
                    </a:gridCol>
                    <a:gridCol w="929716">
                      <a:extLst>
                        <a:ext uri="{9D8B030D-6E8A-4147-A177-3AD203B41FA5}">
                          <a16:colId xmlns:a16="http://schemas.microsoft.com/office/drawing/2014/main" val="2343854319"/>
                        </a:ext>
                      </a:extLst>
                    </a:gridCol>
                    <a:gridCol w="929716">
                      <a:extLst>
                        <a:ext uri="{9D8B030D-6E8A-4147-A177-3AD203B41FA5}">
                          <a16:colId xmlns:a16="http://schemas.microsoft.com/office/drawing/2014/main" val="1018136525"/>
                        </a:ext>
                      </a:extLst>
                    </a:gridCol>
                    <a:gridCol w="929716">
                      <a:extLst>
                        <a:ext uri="{9D8B030D-6E8A-4147-A177-3AD203B41FA5}">
                          <a16:colId xmlns:a16="http://schemas.microsoft.com/office/drawing/2014/main" val="2253780037"/>
                        </a:ext>
                      </a:extLst>
                    </a:gridCol>
                    <a:gridCol w="947463">
                      <a:extLst>
                        <a:ext uri="{9D8B030D-6E8A-4147-A177-3AD203B41FA5}">
                          <a16:colId xmlns:a16="http://schemas.microsoft.com/office/drawing/2014/main" val="383044308"/>
                        </a:ext>
                      </a:extLst>
                    </a:gridCol>
                    <a:gridCol w="1056680">
                      <a:extLst>
                        <a:ext uri="{9D8B030D-6E8A-4147-A177-3AD203B41FA5}">
                          <a16:colId xmlns:a16="http://schemas.microsoft.com/office/drawing/2014/main" val="3416074888"/>
                        </a:ext>
                      </a:extLst>
                    </a:gridCol>
                    <a:gridCol w="1103098">
                      <a:extLst>
                        <a:ext uri="{9D8B030D-6E8A-4147-A177-3AD203B41FA5}">
                          <a16:colId xmlns:a16="http://schemas.microsoft.com/office/drawing/2014/main" val="163211765"/>
                        </a:ext>
                      </a:extLst>
                    </a:gridCol>
                  </a:tblGrid>
                  <a:tr h="498378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T="34290" marB="34290" anchor="ctr">
                        <a:blipFill>
                          <a:blip r:embed="rId3"/>
                          <a:stretch>
                            <a:fillRect l="-1370" t="-2500" r="-641096" b="-35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T="34290" marB="34290" anchor="ctr">
                        <a:blipFill>
                          <a:blip r:embed="rId3"/>
                          <a:stretch>
                            <a:fillRect l="-100000" t="-2500" r="-532432" b="-35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T="34290" marB="34290" anchor="ctr">
                        <a:blipFill>
                          <a:blip r:embed="rId3"/>
                          <a:stretch>
                            <a:fillRect l="-202740" t="-2500" r="-439726" b="-35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T="34290" marB="34290" anchor="ctr">
                        <a:blipFill>
                          <a:blip r:embed="rId3"/>
                          <a:stretch>
                            <a:fillRect l="-302740" t="-2500" r="-339726" b="-35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T="34290" marB="34290" anchor="ctr">
                        <a:blipFill>
                          <a:blip r:embed="rId3"/>
                          <a:stretch>
                            <a:fillRect l="-392000" t="-2500" r="-230667" b="-35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T="34290" marB="34290" anchor="ctr">
                        <a:blipFill>
                          <a:blip r:embed="rId3"/>
                          <a:stretch>
                            <a:fillRect l="-444578" t="-2500" r="-108434" b="-35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T="34290" marB="34290" anchor="ctr">
                        <a:blipFill>
                          <a:blip r:embed="rId3"/>
                          <a:stretch>
                            <a:fillRect l="-519540" t="-2500" r="-3448" b="-355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38190968"/>
                      </a:ext>
                    </a:extLst>
                  </a:tr>
                  <a:tr h="508480"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1800" kern="0">
                              <a:effectLst/>
                              <a:latin typeface="SimSun" panose="02010600030101010101" pitchFamily="2" charset="-122"/>
                              <a:ea typeface="SimSun" panose="02010600030101010101" pitchFamily="2" charset="-122"/>
                              <a:cs typeface="Times New Roman" panose="02020603050405020304" pitchFamily="18" charset="0"/>
                            </a:rPr>
                            <a:t>F</a:t>
                          </a:r>
                          <a:endParaRPr lang="zh-CN" sz="1800" kern="100">
                            <a:effectLst/>
                            <a:latin typeface="SimSun" panose="02010600030101010101" pitchFamily="2" charset="-122"/>
                            <a:ea typeface="SimSun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T="34290" marB="3429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1800" kern="0">
                              <a:effectLst/>
                              <a:latin typeface="SimSun" panose="02010600030101010101" pitchFamily="2" charset="-122"/>
                              <a:ea typeface="SimSun" panose="02010600030101010101" pitchFamily="2" charset="-122"/>
                              <a:cs typeface="Times New Roman" panose="02020603050405020304" pitchFamily="18" charset="0"/>
                            </a:rPr>
                            <a:t>F</a:t>
                          </a:r>
                          <a:endParaRPr lang="zh-CN" sz="1800" kern="100">
                            <a:effectLst/>
                            <a:latin typeface="SimSun" panose="02010600030101010101" pitchFamily="2" charset="-122"/>
                            <a:ea typeface="SimSun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T="34290" marB="3429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1800" kern="0">
                              <a:effectLst/>
                              <a:latin typeface="SimSun" panose="02010600030101010101" pitchFamily="2" charset="-122"/>
                              <a:ea typeface="SimSun" panose="02010600030101010101" pitchFamily="2" charset="-122"/>
                              <a:cs typeface="Times New Roman" panose="02020603050405020304" pitchFamily="18" charset="0"/>
                            </a:rPr>
                            <a:t>T</a:t>
                          </a:r>
                          <a:endParaRPr lang="zh-CN" sz="1800" kern="100">
                            <a:effectLst/>
                            <a:latin typeface="SimSun" panose="02010600030101010101" pitchFamily="2" charset="-122"/>
                            <a:ea typeface="SimSun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T="34290" marB="3429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1800" kern="0" dirty="0">
                              <a:effectLst/>
                              <a:latin typeface="SimSun" panose="02010600030101010101" pitchFamily="2" charset="-122"/>
                              <a:ea typeface="SimSun" panose="02010600030101010101" pitchFamily="2" charset="-122"/>
                              <a:cs typeface="Times New Roman" panose="02020603050405020304" pitchFamily="18" charset="0"/>
                            </a:rPr>
                            <a:t>F</a:t>
                          </a:r>
                          <a:endParaRPr lang="zh-CN" sz="1800" kern="100" dirty="0">
                            <a:effectLst/>
                            <a:latin typeface="SimSun" panose="02010600030101010101" pitchFamily="2" charset="-122"/>
                            <a:ea typeface="SimSun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T="34290" marB="3429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1800" kern="0" dirty="0">
                              <a:effectLst/>
                              <a:latin typeface="SimSun" panose="02010600030101010101" pitchFamily="2" charset="-122"/>
                              <a:ea typeface="SimSun" panose="02010600030101010101" pitchFamily="2" charset="-122"/>
                              <a:cs typeface="Times New Roman" panose="02020603050405020304" pitchFamily="18" charset="0"/>
                            </a:rPr>
                            <a:t>F</a:t>
                          </a:r>
                          <a:endParaRPr lang="zh-CN" sz="1800" kern="100" dirty="0">
                            <a:effectLst/>
                            <a:latin typeface="SimSun" panose="02010600030101010101" pitchFamily="2" charset="-122"/>
                            <a:ea typeface="SimSun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T="34290" marB="3429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1800" kern="0" dirty="0">
                              <a:effectLst/>
                              <a:latin typeface="SimSun" panose="02010600030101010101" pitchFamily="2" charset="-122"/>
                              <a:ea typeface="SimSun" panose="02010600030101010101" pitchFamily="2" charset="-122"/>
                              <a:cs typeface="Times New Roman" panose="02020603050405020304" pitchFamily="18" charset="0"/>
                            </a:rPr>
                            <a:t>T</a:t>
                          </a:r>
                          <a:endParaRPr lang="zh-CN" sz="1800" kern="100" dirty="0">
                            <a:effectLst/>
                            <a:latin typeface="SimSun" panose="02010600030101010101" pitchFamily="2" charset="-122"/>
                            <a:ea typeface="SimSun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T="34290" marB="3429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1800" kern="0">
                              <a:effectLst/>
                              <a:latin typeface="SimSun" panose="02010600030101010101" pitchFamily="2" charset="-122"/>
                              <a:ea typeface="SimSun" panose="02010600030101010101" pitchFamily="2" charset="-122"/>
                              <a:cs typeface="Times New Roman" panose="02020603050405020304" pitchFamily="18" charset="0"/>
                            </a:rPr>
                            <a:t>T</a:t>
                          </a:r>
                          <a:endParaRPr lang="zh-CN" sz="1800" kern="100">
                            <a:effectLst/>
                            <a:latin typeface="SimSun" panose="02010600030101010101" pitchFamily="2" charset="-122"/>
                            <a:ea typeface="SimSun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T="34290" marB="34290" anchor="ctr"/>
                    </a:tc>
                    <a:extLst>
                      <a:ext uri="{0D108BD9-81ED-4DB2-BD59-A6C34878D82A}">
                        <a16:rowId xmlns:a16="http://schemas.microsoft.com/office/drawing/2014/main" val="3338652469"/>
                      </a:ext>
                    </a:extLst>
                  </a:tr>
                  <a:tr h="404090"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1800" kern="0">
                              <a:effectLst/>
                              <a:latin typeface="SimSun" panose="02010600030101010101" pitchFamily="2" charset="-122"/>
                              <a:ea typeface="SimSun" panose="02010600030101010101" pitchFamily="2" charset="-122"/>
                              <a:cs typeface="Times New Roman" panose="02020603050405020304" pitchFamily="18" charset="0"/>
                            </a:rPr>
                            <a:t>F</a:t>
                          </a:r>
                          <a:endParaRPr lang="zh-CN" sz="1800" kern="100">
                            <a:effectLst/>
                            <a:latin typeface="SimSun" panose="02010600030101010101" pitchFamily="2" charset="-122"/>
                            <a:ea typeface="SimSun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T="34290" marB="3429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1800" kern="0">
                              <a:effectLst/>
                              <a:latin typeface="SimSun" panose="02010600030101010101" pitchFamily="2" charset="-122"/>
                              <a:ea typeface="SimSun" panose="02010600030101010101" pitchFamily="2" charset="-122"/>
                              <a:cs typeface="Times New Roman" panose="02020603050405020304" pitchFamily="18" charset="0"/>
                            </a:rPr>
                            <a:t>T</a:t>
                          </a:r>
                          <a:endParaRPr lang="zh-CN" sz="1800" kern="100">
                            <a:effectLst/>
                            <a:latin typeface="SimSun" panose="02010600030101010101" pitchFamily="2" charset="-122"/>
                            <a:ea typeface="SimSun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T="34290" marB="3429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1800" kern="0">
                              <a:effectLst/>
                              <a:latin typeface="SimSun" panose="02010600030101010101" pitchFamily="2" charset="-122"/>
                              <a:ea typeface="SimSun" panose="02010600030101010101" pitchFamily="2" charset="-122"/>
                              <a:cs typeface="Times New Roman" panose="02020603050405020304" pitchFamily="18" charset="0"/>
                            </a:rPr>
                            <a:t>T</a:t>
                          </a:r>
                          <a:endParaRPr lang="zh-CN" sz="1800" kern="100">
                            <a:effectLst/>
                            <a:latin typeface="SimSun" panose="02010600030101010101" pitchFamily="2" charset="-122"/>
                            <a:ea typeface="SimSun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T="34290" marB="3429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1800" kern="0">
                              <a:effectLst/>
                              <a:latin typeface="SimSun" panose="02010600030101010101" pitchFamily="2" charset="-122"/>
                              <a:ea typeface="SimSun" panose="02010600030101010101" pitchFamily="2" charset="-122"/>
                              <a:cs typeface="Times New Roman" panose="02020603050405020304" pitchFamily="18" charset="0"/>
                            </a:rPr>
                            <a:t>F</a:t>
                          </a:r>
                          <a:endParaRPr lang="zh-CN" sz="1800" kern="100">
                            <a:effectLst/>
                            <a:latin typeface="SimSun" panose="02010600030101010101" pitchFamily="2" charset="-122"/>
                            <a:ea typeface="SimSun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T="34290" marB="3429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1800" kern="0">
                              <a:effectLst/>
                              <a:latin typeface="SimSun" panose="02010600030101010101" pitchFamily="2" charset="-122"/>
                              <a:ea typeface="SimSun" panose="02010600030101010101" pitchFamily="2" charset="-122"/>
                              <a:cs typeface="Times New Roman" panose="02020603050405020304" pitchFamily="18" charset="0"/>
                            </a:rPr>
                            <a:t>T</a:t>
                          </a:r>
                          <a:endParaRPr lang="zh-CN" sz="1800" kern="100">
                            <a:effectLst/>
                            <a:latin typeface="SimSun" panose="02010600030101010101" pitchFamily="2" charset="-122"/>
                            <a:ea typeface="SimSun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T="34290" marB="3429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1800" kern="0" dirty="0">
                              <a:effectLst/>
                              <a:latin typeface="SimSun" panose="02010600030101010101" pitchFamily="2" charset="-122"/>
                              <a:ea typeface="SimSun" panose="02010600030101010101" pitchFamily="2" charset="-122"/>
                              <a:cs typeface="Times New Roman" panose="02020603050405020304" pitchFamily="18" charset="0"/>
                            </a:rPr>
                            <a:t>T</a:t>
                          </a:r>
                          <a:endParaRPr lang="zh-CN" sz="1800" kern="100" dirty="0">
                            <a:effectLst/>
                            <a:latin typeface="SimSun" panose="02010600030101010101" pitchFamily="2" charset="-122"/>
                            <a:ea typeface="SimSun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T="34290" marB="3429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1800" kern="0">
                              <a:effectLst/>
                              <a:latin typeface="SimSun" panose="02010600030101010101" pitchFamily="2" charset="-122"/>
                              <a:ea typeface="SimSun" panose="02010600030101010101" pitchFamily="2" charset="-122"/>
                              <a:cs typeface="Times New Roman" panose="02020603050405020304" pitchFamily="18" charset="0"/>
                            </a:rPr>
                            <a:t>F</a:t>
                          </a:r>
                          <a:endParaRPr lang="zh-CN" sz="1800" kern="100">
                            <a:effectLst/>
                            <a:latin typeface="SimSun" panose="02010600030101010101" pitchFamily="2" charset="-122"/>
                            <a:ea typeface="SimSun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T="34290" marB="34290" anchor="ctr"/>
                    </a:tc>
                    <a:extLst>
                      <a:ext uri="{0D108BD9-81ED-4DB2-BD59-A6C34878D82A}">
                        <a16:rowId xmlns:a16="http://schemas.microsoft.com/office/drawing/2014/main" val="1160342609"/>
                      </a:ext>
                    </a:extLst>
                  </a:tr>
                  <a:tr h="404090"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1800" kern="0">
                              <a:effectLst/>
                              <a:latin typeface="SimSun" panose="02010600030101010101" pitchFamily="2" charset="-122"/>
                              <a:ea typeface="SimSun" panose="02010600030101010101" pitchFamily="2" charset="-122"/>
                              <a:cs typeface="Times New Roman" panose="02020603050405020304" pitchFamily="18" charset="0"/>
                            </a:rPr>
                            <a:t>T</a:t>
                          </a:r>
                          <a:endParaRPr lang="zh-CN" sz="1800" kern="100">
                            <a:effectLst/>
                            <a:latin typeface="SimSun" panose="02010600030101010101" pitchFamily="2" charset="-122"/>
                            <a:ea typeface="SimSun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T="34290" marB="3429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1800" kern="0">
                              <a:effectLst/>
                              <a:latin typeface="SimSun" panose="02010600030101010101" pitchFamily="2" charset="-122"/>
                              <a:ea typeface="SimSun" panose="02010600030101010101" pitchFamily="2" charset="-122"/>
                              <a:cs typeface="Times New Roman" panose="02020603050405020304" pitchFamily="18" charset="0"/>
                            </a:rPr>
                            <a:t>F</a:t>
                          </a:r>
                          <a:endParaRPr lang="zh-CN" sz="1800" kern="100">
                            <a:effectLst/>
                            <a:latin typeface="SimSun" panose="02010600030101010101" pitchFamily="2" charset="-122"/>
                            <a:ea typeface="SimSun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T="34290" marB="3429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1800" kern="0">
                              <a:effectLst/>
                              <a:latin typeface="SimSun" panose="02010600030101010101" pitchFamily="2" charset="-122"/>
                              <a:ea typeface="SimSun" panose="02010600030101010101" pitchFamily="2" charset="-122"/>
                              <a:cs typeface="Times New Roman" panose="02020603050405020304" pitchFamily="18" charset="0"/>
                            </a:rPr>
                            <a:t>F</a:t>
                          </a:r>
                          <a:endParaRPr lang="zh-CN" sz="1800" kern="100">
                            <a:effectLst/>
                            <a:latin typeface="SimSun" panose="02010600030101010101" pitchFamily="2" charset="-122"/>
                            <a:ea typeface="SimSun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T="34290" marB="3429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1800" kern="0">
                              <a:effectLst/>
                              <a:latin typeface="SimSun" panose="02010600030101010101" pitchFamily="2" charset="-122"/>
                              <a:ea typeface="SimSun" panose="02010600030101010101" pitchFamily="2" charset="-122"/>
                              <a:cs typeface="Times New Roman" panose="02020603050405020304" pitchFamily="18" charset="0"/>
                            </a:rPr>
                            <a:t>F</a:t>
                          </a:r>
                          <a:endParaRPr lang="zh-CN" sz="1800" kern="100">
                            <a:effectLst/>
                            <a:latin typeface="SimSun" panose="02010600030101010101" pitchFamily="2" charset="-122"/>
                            <a:ea typeface="SimSun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T="34290" marB="3429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1800" kern="0">
                              <a:effectLst/>
                              <a:latin typeface="SimSun" panose="02010600030101010101" pitchFamily="2" charset="-122"/>
                              <a:ea typeface="SimSun" panose="02010600030101010101" pitchFamily="2" charset="-122"/>
                              <a:cs typeface="Times New Roman" panose="02020603050405020304" pitchFamily="18" charset="0"/>
                            </a:rPr>
                            <a:t>T</a:t>
                          </a:r>
                          <a:endParaRPr lang="zh-CN" sz="1800" kern="100">
                            <a:effectLst/>
                            <a:latin typeface="SimSun" panose="02010600030101010101" pitchFamily="2" charset="-122"/>
                            <a:ea typeface="SimSun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T="34290" marB="3429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1800" kern="0" dirty="0">
                              <a:effectLst/>
                              <a:latin typeface="SimSun" panose="02010600030101010101" pitchFamily="2" charset="-122"/>
                              <a:ea typeface="SimSun" panose="02010600030101010101" pitchFamily="2" charset="-122"/>
                              <a:cs typeface="Times New Roman" panose="02020603050405020304" pitchFamily="18" charset="0"/>
                            </a:rPr>
                            <a:t>F</a:t>
                          </a:r>
                          <a:endParaRPr lang="zh-CN" sz="1800" kern="100" dirty="0">
                            <a:effectLst/>
                            <a:latin typeface="SimSun" panose="02010600030101010101" pitchFamily="2" charset="-122"/>
                            <a:ea typeface="SimSun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T="34290" marB="3429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1800" kern="0" dirty="0">
                              <a:effectLst/>
                              <a:latin typeface="SimSun" panose="02010600030101010101" pitchFamily="2" charset="-122"/>
                              <a:ea typeface="SimSun" panose="02010600030101010101" pitchFamily="2" charset="-122"/>
                              <a:cs typeface="Times New Roman" panose="02020603050405020304" pitchFamily="18" charset="0"/>
                            </a:rPr>
                            <a:t>F</a:t>
                          </a:r>
                          <a:endParaRPr lang="zh-CN" sz="1800" kern="100" dirty="0">
                            <a:effectLst/>
                            <a:latin typeface="SimSun" panose="02010600030101010101" pitchFamily="2" charset="-122"/>
                            <a:ea typeface="SimSun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T="34290" marB="34290" anchor="ctr"/>
                    </a:tc>
                    <a:extLst>
                      <a:ext uri="{0D108BD9-81ED-4DB2-BD59-A6C34878D82A}">
                        <a16:rowId xmlns:a16="http://schemas.microsoft.com/office/drawing/2014/main" val="92405091"/>
                      </a:ext>
                    </a:extLst>
                  </a:tr>
                  <a:tr h="404090"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1800" kern="0">
                              <a:effectLst/>
                              <a:latin typeface="SimSun" panose="02010600030101010101" pitchFamily="2" charset="-122"/>
                              <a:ea typeface="SimSun" panose="02010600030101010101" pitchFamily="2" charset="-122"/>
                              <a:cs typeface="Times New Roman" panose="02020603050405020304" pitchFamily="18" charset="0"/>
                            </a:rPr>
                            <a:t>T</a:t>
                          </a:r>
                          <a:endParaRPr lang="zh-CN" sz="1800" kern="100">
                            <a:effectLst/>
                            <a:latin typeface="SimSun" panose="02010600030101010101" pitchFamily="2" charset="-122"/>
                            <a:ea typeface="SimSun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T="34290" marB="3429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1800" kern="0">
                              <a:effectLst/>
                              <a:latin typeface="SimSun" panose="02010600030101010101" pitchFamily="2" charset="-122"/>
                              <a:ea typeface="SimSun" panose="02010600030101010101" pitchFamily="2" charset="-122"/>
                              <a:cs typeface="Times New Roman" panose="02020603050405020304" pitchFamily="18" charset="0"/>
                            </a:rPr>
                            <a:t>T</a:t>
                          </a:r>
                          <a:endParaRPr lang="zh-CN" sz="1800" kern="100">
                            <a:effectLst/>
                            <a:latin typeface="SimSun" panose="02010600030101010101" pitchFamily="2" charset="-122"/>
                            <a:ea typeface="SimSun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T="34290" marB="3429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1800" kern="0">
                              <a:effectLst/>
                              <a:latin typeface="SimSun" panose="02010600030101010101" pitchFamily="2" charset="-122"/>
                              <a:ea typeface="SimSun" panose="02010600030101010101" pitchFamily="2" charset="-122"/>
                              <a:cs typeface="Times New Roman" panose="02020603050405020304" pitchFamily="18" charset="0"/>
                            </a:rPr>
                            <a:t>F</a:t>
                          </a:r>
                          <a:endParaRPr lang="zh-CN" sz="1800" kern="100">
                            <a:effectLst/>
                            <a:latin typeface="SimSun" panose="02010600030101010101" pitchFamily="2" charset="-122"/>
                            <a:ea typeface="SimSun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T="34290" marB="3429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1800" kern="0">
                              <a:effectLst/>
                              <a:latin typeface="SimSun" panose="02010600030101010101" pitchFamily="2" charset="-122"/>
                              <a:ea typeface="SimSun" panose="02010600030101010101" pitchFamily="2" charset="-122"/>
                              <a:cs typeface="Times New Roman" panose="02020603050405020304" pitchFamily="18" charset="0"/>
                            </a:rPr>
                            <a:t>T</a:t>
                          </a:r>
                          <a:endParaRPr lang="zh-CN" sz="1800" kern="100">
                            <a:effectLst/>
                            <a:latin typeface="SimSun" panose="02010600030101010101" pitchFamily="2" charset="-122"/>
                            <a:ea typeface="SimSun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T="34290" marB="3429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1800" kern="0">
                              <a:effectLst/>
                              <a:latin typeface="SimSun" panose="02010600030101010101" pitchFamily="2" charset="-122"/>
                              <a:ea typeface="SimSun" panose="02010600030101010101" pitchFamily="2" charset="-122"/>
                              <a:cs typeface="Times New Roman" panose="02020603050405020304" pitchFamily="18" charset="0"/>
                            </a:rPr>
                            <a:t>T</a:t>
                          </a:r>
                          <a:endParaRPr lang="zh-CN" sz="1800" kern="100">
                            <a:effectLst/>
                            <a:latin typeface="SimSun" panose="02010600030101010101" pitchFamily="2" charset="-122"/>
                            <a:ea typeface="SimSun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T="34290" marB="3429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1800" kern="0">
                              <a:effectLst/>
                              <a:latin typeface="SimSun" panose="02010600030101010101" pitchFamily="2" charset="-122"/>
                              <a:ea typeface="SimSun" panose="02010600030101010101" pitchFamily="2" charset="-122"/>
                              <a:cs typeface="Times New Roman" panose="02020603050405020304" pitchFamily="18" charset="0"/>
                            </a:rPr>
                            <a:t>T</a:t>
                          </a:r>
                          <a:endParaRPr lang="zh-CN" sz="1800" kern="100">
                            <a:effectLst/>
                            <a:latin typeface="SimSun" panose="02010600030101010101" pitchFamily="2" charset="-122"/>
                            <a:ea typeface="SimSun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T="34290" marB="3429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1800" kern="0" dirty="0">
                              <a:effectLst/>
                              <a:latin typeface="SimSun" panose="02010600030101010101" pitchFamily="2" charset="-122"/>
                              <a:ea typeface="SimSun" panose="02010600030101010101" pitchFamily="2" charset="-122"/>
                              <a:cs typeface="Times New Roman" panose="02020603050405020304" pitchFamily="18" charset="0"/>
                            </a:rPr>
                            <a:t>T</a:t>
                          </a:r>
                          <a:endParaRPr lang="zh-CN" sz="1800" kern="100" dirty="0">
                            <a:effectLst/>
                            <a:latin typeface="SimSun" panose="02010600030101010101" pitchFamily="2" charset="-122"/>
                            <a:ea typeface="SimSun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T="34290" marB="34290" anchor="ctr"/>
                    </a:tc>
                    <a:extLst>
                      <a:ext uri="{0D108BD9-81ED-4DB2-BD59-A6C34878D82A}">
                        <a16:rowId xmlns:a16="http://schemas.microsoft.com/office/drawing/2014/main" val="1578703054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9" name="矩形: 圆角 6">
            <a:extLst>
              <a:ext uri="{FF2B5EF4-FFF2-40B4-BE49-F238E27FC236}">
                <a16:creationId xmlns:a16="http://schemas.microsoft.com/office/drawing/2014/main" id="{F3333A19-58C5-4E46-8E66-1F2581F6F77F}"/>
              </a:ext>
            </a:extLst>
          </p:cNvPr>
          <p:cNvSpPr/>
          <p:nvPr/>
        </p:nvSpPr>
        <p:spPr>
          <a:xfrm>
            <a:off x="127226" y="1850066"/>
            <a:ext cx="4205176" cy="4385930"/>
          </a:xfrm>
          <a:prstGeom prst="roundRect">
            <a:avLst>
              <a:gd name="adj" fmla="val 0"/>
            </a:avLst>
          </a:prstGeom>
          <a:gradFill>
            <a:gsLst>
              <a:gs pos="22000">
                <a:srgbClr val="016773"/>
              </a:gs>
              <a:gs pos="100000">
                <a:srgbClr val="00ABA5"/>
              </a:gs>
            </a:gsLst>
            <a:lin ang="3000000" scaled="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矩形 9">
                <a:extLst>
                  <a:ext uri="{FF2B5EF4-FFF2-40B4-BE49-F238E27FC236}">
                    <a16:creationId xmlns:a16="http://schemas.microsoft.com/office/drawing/2014/main" id="{C3B721F5-CC09-4648-8E74-AC3004F75BE8}"/>
                  </a:ext>
                </a:extLst>
              </p:cNvPr>
              <p:cNvSpPr/>
              <p:nvPr/>
            </p:nvSpPr>
            <p:spPr>
              <a:xfrm>
                <a:off x="98351" y="1775514"/>
                <a:ext cx="4117458" cy="489089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342900" indent="-342900">
                  <a:lnSpc>
                    <a:spcPct val="200000"/>
                  </a:lnSpc>
                  <a:buClr>
                    <a:schemeClr val="bg1"/>
                  </a:buClr>
                  <a:buSzPct val="80000"/>
                  <a:buFont typeface="Wingdings" panose="05000000000000000000" pitchFamily="2" charset="2"/>
                  <a:buChar char="u"/>
                </a:pPr>
                <a:r>
                  <a:rPr lang="zh-CN" altLang="zh-CN" sz="1600" b="1" dirty="0">
                    <a:solidFill>
                      <a:srgbClr val="FFFFCC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SimSun" panose="02010600030101010101" pitchFamily="2" charset="-122"/>
                    <a:ea typeface="SimSun" panose="02010600030101010101" pitchFamily="2" charset="-122"/>
                    <a:cs typeface="Times New Roman" panose="02020603050405020304" pitchFamily="18" charset="0"/>
                  </a:rPr>
                  <a:t>条件命题联结词中前件为假时，无论后件取值如何，复合命题均为真。</a:t>
                </a:r>
                <a:endParaRPr lang="en-US" altLang="zh-CN" sz="1600" b="1" dirty="0">
                  <a:solidFill>
                    <a:srgbClr val="FFFFCC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SimSun" panose="02010600030101010101" pitchFamily="2" charset="-122"/>
                  <a:ea typeface="SimSun" panose="02010600030101010101" pitchFamily="2" charset="-122"/>
                  <a:cs typeface="Times New Roman" panose="02020603050405020304" pitchFamily="18" charset="0"/>
                </a:endParaRPr>
              </a:p>
              <a:p>
                <a:pPr marL="342900" indent="-342900">
                  <a:lnSpc>
                    <a:spcPct val="200000"/>
                  </a:lnSpc>
                  <a:buClr>
                    <a:schemeClr val="bg1"/>
                  </a:buClr>
                  <a:buSzPct val="80000"/>
                  <a:buFont typeface="Wingdings" panose="05000000000000000000" pitchFamily="2" charset="2"/>
                  <a:buChar char="u"/>
                </a:pPr>
                <a:endParaRPr lang="en-US" altLang="zh-CN" sz="1600" b="1" dirty="0">
                  <a:solidFill>
                    <a:srgbClr val="FFFFCC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SimSun" panose="02010600030101010101" pitchFamily="2" charset="-122"/>
                  <a:ea typeface="SimSun" panose="02010600030101010101" pitchFamily="2" charset="-122"/>
                  <a:cs typeface="Times New Roman" panose="02020603050405020304" pitchFamily="18" charset="0"/>
                </a:endParaRPr>
              </a:p>
              <a:p>
                <a:pPr marL="342900" indent="-342900">
                  <a:lnSpc>
                    <a:spcPct val="200000"/>
                  </a:lnSpc>
                  <a:buClr>
                    <a:schemeClr val="bg1"/>
                  </a:buClr>
                  <a:buSzPct val="80000"/>
                  <a:buFont typeface="Wingdings" panose="05000000000000000000" pitchFamily="2" charset="2"/>
                  <a:buChar char="u"/>
                </a:pPr>
                <a:r>
                  <a:rPr lang="en-US" altLang="zh-CN" sz="1600" b="1" dirty="0"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SimSun" panose="02010600030101010101" pitchFamily="2" charset="-122"/>
                    <a:ea typeface="SimSun" panose="02010600030101010101" pitchFamily="2" charset="-122"/>
                    <a:cs typeface="Times New Roman" panose="02020603050405020304" pitchFamily="18" charset="0"/>
                  </a:rPr>
                  <a:t>“</a:t>
                </a:r>
                <a:r>
                  <a:rPr lang="zh-CN" altLang="zh-CN" sz="1600" b="1" dirty="0"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SimSun" panose="02010600030101010101" pitchFamily="2" charset="-122"/>
                    <a:ea typeface="SimSun" panose="02010600030101010101" pitchFamily="2" charset="-122"/>
                    <a:cs typeface="Times New Roman" panose="02020603050405020304" pitchFamily="18" charset="0"/>
                  </a:rPr>
                  <a:t>如果</a:t>
                </a:r>
                <a14:m>
                  <m:oMath xmlns:m="http://schemas.openxmlformats.org/officeDocument/2006/math">
                    <m:r>
                      <a:rPr lang="en-US" altLang="zh-CN" sz="1600" b="1">
                        <a:solidFill>
                          <a:schemeClr val="bg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𝑝</m:t>
                    </m:r>
                  </m:oMath>
                </a14:m>
                <a:r>
                  <a:rPr lang="zh-CN" altLang="zh-CN" sz="1600" b="1" dirty="0"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SimSun" panose="02010600030101010101" pitchFamily="2" charset="-122"/>
                    <a:ea typeface="SimSun" panose="02010600030101010101" pitchFamily="2" charset="-122"/>
                    <a:cs typeface="Times New Roman" panose="02020603050405020304" pitchFamily="18" charset="0"/>
                  </a:rPr>
                  <a:t>，则</a:t>
                </a:r>
                <a14:m>
                  <m:oMath xmlns:m="http://schemas.openxmlformats.org/officeDocument/2006/math">
                    <m:r>
                      <a:rPr lang="en-US" altLang="zh-CN" sz="1600" b="1">
                        <a:solidFill>
                          <a:schemeClr val="bg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𝑞</m:t>
                    </m:r>
                  </m:oMath>
                </a14:m>
                <a:r>
                  <a:rPr lang="zh-CN" altLang="zh-CN" sz="1600" b="1" dirty="0"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SimSun" panose="02010600030101010101" pitchFamily="2" charset="-122"/>
                    <a:ea typeface="SimSun" panose="02010600030101010101" pitchFamily="2" charset="-122"/>
                    <a:cs typeface="Times New Roman" panose="02020603050405020304" pitchFamily="18" charset="0"/>
                  </a:rPr>
                  <a:t>（</a:t>
                </a:r>
                <a14:m>
                  <m:oMath xmlns:m="http://schemas.openxmlformats.org/officeDocument/2006/math">
                    <m:r>
                      <a:rPr lang="en-US" altLang="zh-CN" sz="1600" b="1">
                        <a:solidFill>
                          <a:schemeClr val="bg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𝑝</m:t>
                    </m:r>
                    <m:r>
                      <a:rPr lang="en-US" altLang="zh-CN" sz="1600" b="1">
                        <a:solidFill>
                          <a:schemeClr val="bg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→</m:t>
                    </m:r>
                    <m:r>
                      <a:rPr lang="en-US" altLang="zh-CN" sz="1600" b="1">
                        <a:solidFill>
                          <a:schemeClr val="bg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𝑞</m:t>
                    </m:r>
                  </m:oMath>
                </a14:m>
                <a:r>
                  <a:rPr lang="zh-CN" altLang="zh-CN" sz="1600" b="1" dirty="0"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SimSun" panose="02010600030101010101" pitchFamily="2" charset="-122"/>
                    <a:ea typeface="SimSun" panose="02010600030101010101" pitchFamily="2" charset="-122"/>
                    <a:cs typeface="Times New Roman" panose="02020603050405020304" pitchFamily="18" charset="0"/>
                  </a:rPr>
                  <a:t>）</a:t>
                </a:r>
                <a:r>
                  <a:rPr lang="en-US" altLang="zh-CN" sz="1600" b="1" dirty="0"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SimSun" panose="02010600030101010101" pitchFamily="2" charset="-122"/>
                    <a:ea typeface="SimSun" panose="02010600030101010101" pitchFamily="2" charset="-122"/>
                    <a:cs typeface="Times New Roman" panose="02020603050405020304" pitchFamily="18" charset="0"/>
                  </a:rPr>
                  <a:t>”</a:t>
                </a:r>
                <a:r>
                  <a:rPr lang="zh-CN" altLang="zh-CN" sz="1600" b="1" dirty="0"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SimSun" panose="02010600030101010101" pitchFamily="2" charset="-122"/>
                    <a:ea typeface="SimSun" panose="02010600030101010101" pitchFamily="2" charset="-122"/>
                    <a:cs typeface="Times New Roman" panose="02020603050405020304" pitchFamily="18" charset="0"/>
                  </a:rPr>
                  <a:t>定义的是一种蕴含关系，也就是命题</a:t>
                </a:r>
                <a14:m>
                  <m:oMath xmlns:m="http://schemas.openxmlformats.org/officeDocument/2006/math">
                    <m:r>
                      <a:rPr lang="en-US" altLang="zh-CN" sz="1600" b="1">
                        <a:solidFill>
                          <a:schemeClr val="bg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𝑞</m:t>
                    </m:r>
                  </m:oMath>
                </a14:m>
                <a:r>
                  <a:rPr lang="zh-CN" altLang="zh-CN" sz="1600" b="1" dirty="0"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SimSun" panose="02010600030101010101" pitchFamily="2" charset="-122"/>
                    <a:ea typeface="SimSun" panose="02010600030101010101" pitchFamily="2" charset="-122"/>
                    <a:cs typeface="Times New Roman" panose="02020603050405020304" pitchFamily="18" charset="0"/>
                  </a:rPr>
                  <a:t>包含命题</a:t>
                </a:r>
                <a14:m>
                  <m:oMath xmlns:m="http://schemas.openxmlformats.org/officeDocument/2006/math">
                    <m:r>
                      <a:rPr lang="en-US" altLang="zh-CN" sz="1600" b="1">
                        <a:solidFill>
                          <a:schemeClr val="bg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𝑝</m:t>
                    </m:r>
                  </m:oMath>
                </a14:m>
                <a:r>
                  <a:rPr lang="zh-CN" altLang="zh-CN" sz="1600" b="1" dirty="0"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SimSun" panose="02010600030101010101" pitchFamily="2" charset="-122"/>
                    <a:ea typeface="SimSun" panose="02010600030101010101" pitchFamily="2" charset="-122"/>
                    <a:cs typeface="Times New Roman" panose="02020603050405020304" pitchFamily="18" charset="0"/>
                  </a:rPr>
                  <a:t>（</a:t>
                </a:r>
                <a14:m>
                  <m:oMath xmlns:m="http://schemas.openxmlformats.org/officeDocument/2006/math">
                    <m:r>
                      <a:rPr lang="en-US" altLang="zh-CN" sz="1600" b="1">
                        <a:solidFill>
                          <a:schemeClr val="bg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𝑝</m:t>
                    </m:r>
                  </m:oMath>
                </a14:m>
                <a:r>
                  <a:rPr lang="zh-CN" altLang="zh-CN" sz="1600" b="1" dirty="0"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SimSun" panose="02010600030101010101" pitchFamily="2" charset="-122"/>
                    <a:ea typeface="SimSun" panose="02010600030101010101" pitchFamily="2" charset="-122"/>
                    <a:cs typeface="Times New Roman" panose="02020603050405020304" pitchFamily="18" charset="0"/>
                  </a:rPr>
                  <a:t>是</a:t>
                </a:r>
                <a14:m>
                  <m:oMath xmlns:m="http://schemas.openxmlformats.org/officeDocument/2006/math">
                    <m:r>
                      <a:rPr lang="en-US" altLang="zh-CN" sz="1600" b="1">
                        <a:solidFill>
                          <a:schemeClr val="bg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𝑞</m:t>
                    </m:r>
                  </m:oMath>
                </a14:m>
                <a:r>
                  <a:rPr lang="zh-CN" altLang="zh-CN" sz="1600" b="1" dirty="0"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SimSun" panose="02010600030101010101" pitchFamily="2" charset="-122"/>
                    <a:ea typeface="SimSun" panose="02010600030101010101" pitchFamily="2" charset="-122"/>
                    <a:cs typeface="Times New Roman" panose="02020603050405020304" pitchFamily="18" charset="0"/>
                  </a:rPr>
                  <a:t>的子集）。</a:t>
                </a:r>
                <a14:m>
                  <m:oMath xmlns:m="http://schemas.openxmlformats.org/officeDocument/2006/math">
                    <m:r>
                      <a:rPr lang="en-US" altLang="zh-CN" sz="1600" b="1">
                        <a:solidFill>
                          <a:schemeClr val="bg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𝑝</m:t>
                    </m:r>
                  </m:oMath>
                </a14:m>
                <a:r>
                  <a:rPr lang="zh-CN" altLang="zh-CN" sz="1600" b="1" dirty="0"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SimSun" panose="02010600030101010101" pitchFamily="2" charset="-122"/>
                    <a:ea typeface="SimSun" panose="02010600030101010101" pitchFamily="2" charset="-122"/>
                    <a:cs typeface="Times New Roman" panose="02020603050405020304" pitchFamily="18" charset="0"/>
                  </a:rPr>
                  <a:t>不成立相当于</a:t>
                </a:r>
                <a14:m>
                  <m:oMath xmlns:m="http://schemas.openxmlformats.org/officeDocument/2006/math">
                    <m:r>
                      <a:rPr lang="en-US" altLang="zh-CN" sz="1600" b="1">
                        <a:solidFill>
                          <a:schemeClr val="bg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𝑝</m:t>
                    </m:r>
                  </m:oMath>
                </a14:m>
                <a:r>
                  <a:rPr lang="zh-CN" altLang="zh-CN" sz="1600" b="1" dirty="0"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SimSun" panose="02010600030101010101" pitchFamily="2" charset="-122"/>
                    <a:ea typeface="SimSun" panose="02010600030101010101" pitchFamily="2" charset="-122"/>
                    <a:cs typeface="Times New Roman" panose="02020603050405020304" pitchFamily="18" charset="0"/>
                  </a:rPr>
                  <a:t>是一个空集，而空集是任何集合的子集。因此，当</a:t>
                </a:r>
                <a14:m>
                  <m:oMath xmlns:m="http://schemas.openxmlformats.org/officeDocument/2006/math">
                    <m:r>
                      <a:rPr lang="en-US" altLang="zh-CN" sz="1600" b="1">
                        <a:solidFill>
                          <a:schemeClr val="bg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𝑝</m:t>
                    </m:r>
                  </m:oMath>
                </a14:m>
                <a:r>
                  <a:rPr lang="zh-CN" altLang="zh-CN" sz="1600" b="1" dirty="0"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SimSun" panose="02010600030101010101" pitchFamily="2" charset="-122"/>
                    <a:ea typeface="SimSun" panose="02010600030101010101" pitchFamily="2" charset="-122"/>
                    <a:cs typeface="Times New Roman" panose="02020603050405020304" pitchFamily="18" charset="0"/>
                  </a:rPr>
                  <a:t>不成立时，</a:t>
                </a:r>
                <a:r>
                  <a:rPr lang="en-US" altLang="zh-CN" sz="1600" b="1" dirty="0"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SimSun" panose="02010600030101010101" pitchFamily="2" charset="-122"/>
                    <a:ea typeface="SimSun" panose="02010600030101010101" pitchFamily="2" charset="-122"/>
                    <a:cs typeface="Times New Roman" panose="02020603050405020304" pitchFamily="18" charset="0"/>
                  </a:rPr>
                  <a:t>“</a:t>
                </a:r>
                <a:r>
                  <a:rPr lang="zh-CN" altLang="zh-CN" sz="1600" b="1" dirty="0"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SimSun" panose="02010600030101010101" pitchFamily="2" charset="-122"/>
                    <a:ea typeface="SimSun" panose="02010600030101010101" pitchFamily="2" charset="-122"/>
                    <a:cs typeface="Times New Roman" panose="02020603050405020304" pitchFamily="18" charset="0"/>
                  </a:rPr>
                  <a:t>如果</a:t>
                </a:r>
                <a14:m>
                  <m:oMath xmlns:m="http://schemas.openxmlformats.org/officeDocument/2006/math">
                    <m:r>
                      <a:rPr lang="en-US" altLang="zh-CN" sz="1600" b="1">
                        <a:solidFill>
                          <a:schemeClr val="bg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𝑝</m:t>
                    </m:r>
                  </m:oMath>
                </a14:m>
                <a:r>
                  <a:rPr lang="zh-CN" altLang="zh-CN" sz="1600" b="1" dirty="0"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SimSun" panose="02010600030101010101" pitchFamily="2" charset="-122"/>
                    <a:ea typeface="SimSun" panose="02010600030101010101" pitchFamily="2" charset="-122"/>
                    <a:cs typeface="Times New Roman" panose="02020603050405020304" pitchFamily="18" charset="0"/>
                  </a:rPr>
                  <a:t>，则</a:t>
                </a:r>
                <a14:m>
                  <m:oMath xmlns:m="http://schemas.openxmlformats.org/officeDocument/2006/math">
                    <m:r>
                      <a:rPr lang="en-US" altLang="zh-CN" sz="1600" b="1">
                        <a:solidFill>
                          <a:schemeClr val="bg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𝑞</m:t>
                    </m:r>
                  </m:oMath>
                </a14:m>
                <a:r>
                  <a:rPr lang="zh-CN" altLang="zh-CN" sz="1600" b="1" dirty="0"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SimSun" panose="02010600030101010101" pitchFamily="2" charset="-122"/>
                    <a:ea typeface="SimSun" panose="02010600030101010101" pitchFamily="2" charset="-122"/>
                    <a:cs typeface="Times New Roman" panose="02020603050405020304" pitchFamily="18" charset="0"/>
                  </a:rPr>
                  <a:t>（</a:t>
                </a:r>
                <a14:m>
                  <m:oMath xmlns:m="http://schemas.openxmlformats.org/officeDocument/2006/math">
                    <m:r>
                      <a:rPr lang="en-US" altLang="zh-CN" sz="1600" b="1">
                        <a:solidFill>
                          <a:schemeClr val="bg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𝑝</m:t>
                    </m:r>
                    <m:r>
                      <a:rPr lang="en-US" altLang="zh-CN" sz="1600" b="1">
                        <a:solidFill>
                          <a:schemeClr val="bg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→</m:t>
                    </m:r>
                    <m:r>
                      <a:rPr lang="en-US" altLang="zh-CN" sz="1600" b="1">
                        <a:solidFill>
                          <a:schemeClr val="bg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𝑞</m:t>
                    </m:r>
                  </m:oMath>
                </a14:m>
                <a:r>
                  <a:rPr lang="zh-CN" altLang="zh-CN" sz="1600" b="1" dirty="0"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SimSun" panose="02010600030101010101" pitchFamily="2" charset="-122"/>
                    <a:ea typeface="SimSun" panose="02010600030101010101" pitchFamily="2" charset="-122"/>
                    <a:cs typeface="Times New Roman" panose="02020603050405020304" pitchFamily="18" charset="0"/>
                  </a:rPr>
                  <a:t>）</a:t>
                </a:r>
                <a:r>
                  <a:rPr lang="en-US" altLang="zh-CN" sz="1600" b="1" dirty="0"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SimSun" panose="02010600030101010101" pitchFamily="2" charset="-122"/>
                    <a:ea typeface="SimSun" panose="02010600030101010101" pitchFamily="2" charset="-122"/>
                    <a:cs typeface="Times New Roman" panose="02020603050405020304" pitchFamily="18" charset="0"/>
                  </a:rPr>
                  <a:t>”</a:t>
                </a:r>
                <a:r>
                  <a:rPr lang="zh-CN" altLang="zh-CN" sz="1600" b="1" dirty="0"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SimSun" panose="02010600030101010101" pitchFamily="2" charset="-122"/>
                    <a:ea typeface="SimSun" panose="02010600030101010101" pitchFamily="2" charset="-122"/>
                    <a:cs typeface="Times New Roman" panose="02020603050405020304" pitchFamily="18" charset="0"/>
                  </a:rPr>
                  <a:t>恒为真。</a:t>
                </a:r>
              </a:p>
              <a:p>
                <a:pPr marL="342900" indent="-342900">
                  <a:lnSpc>
                    <a:spcPct val="150000"/>
                  </a:lnSpc>
                  <a:buClr>
                    <a:schemeClr val="bg1"/>
                  </a:buClr>
                  <a:buSzPct val="80000"/>
                  <a:buFont typeface="Wingdings" panose="05000000000000000000" pitchFamily="2" charset="2"/>
                  <a:buChar char="u"/>
                </a:pPr>
                <a:endParaRPr lang="en-US" altLang="zh-CN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0" name="矩形 9">
                <a:extLst>
                  <a:ext uri="{FF2B5EF4-FFF2-40B4-BE49-F238E27FC236}">
                    <a16:creationId xmlns:a16="http://schemas.microsoft.com/office/drawing/2014/main" id="{C3B721F5-CC09-4648-8E74-AC3004F75BE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351" y="1775514"/>
                <a:ext cx="4117458" cy="489089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矩形 7">
            <a:extLst>
              <a:ext uri="{FF2B5EF4-FFF2-40B4-BE49-F238E27FC236}">
                <a16:creationId xmlns:a16="http://schemas.microsoft.com/office/drawing/2014/main" id="{3F5DE3D4-1DE1-4095-9AA7-C458C10B98DC}"/>
              </a:ext>
            </a:extLst>
          </p:cNvPr>
          <p:cNvSpPr/>
          <p:nvPr/>
        </p:nvSpPr>
        <p:spPr>
          <a:xfrm>
            <a:off x="5163942" y="5268411"/>
            <a:ext cx="572464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sz="2400" b="1" dirty="0">
                <a:solidFill>
                  <a:schemeClr val="accent1">
                    <a:lumMod val="75000"/>
                  </a:schemeClr>
                </a:solidFill>
                <a:latin typeface="宋体" panose="02010600030101010101" pitchFamily="2" charset="-122"/>
              </a:rPr>
              <a:t>五种主要联结词构成的复合命题的真值表</a:t>
            </a:r>
            <a:endParaRPr lang="zh-CN" altLang="en-US" sz="2400" b="1" dirty="0">
              <a:solidFill>
                <a:schemeClr val="accent1">
                  <a:lumMod val="75000"/>
                </a:schemeClr>
              </a:solidFill>
              <a:latin typeface="宋体" panose="02010600030101010101" pitchFamily="2" charset="-122"/>
            </a:endParaRPr>
          </a:p>
        </p:txBody>
      </p:sp>
      <p:sp>
        <p:nvSpPr>
          <p:cNvPr id="6" name="标题 1">
            <a:extLst>
              <a:ext uri="{FF2B5EF4-FFF2-40B4-BE49-F238E27FC236}">
                <a16:creationId xmlns:a16="http://schemas.microsoft.com/office/drawing/2014/main" id="{3CC570CF-5E2D-908A-D12E-0BC6E54B6C69}"/>
              </a:ext>
            </a:extLst>
          </p:cNvPr>
          <p:cNvSpPr txBox="1">
            <a:spLocks/>
          </p:cNvSpPr>
          <p:nvPr/>
        </p:nvSpPr>
        <p:spPr>
          <a:xfrm>
            <a:off x="385815" y="47495"/>
            <a:ext cx="4080309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zh-CN" altLang="en-US" sz="3200" dirty="0">
                <a:solidFill>
                  <a:srgbClr val="FF0000"/>
                </a:solidFill>
                <a:latin typeface=".AppleSystemUIFont"/>
              </a:rPr>
              <a:t>命题逻辑</a:t>
            </a:r>
          </a:p>
        </p:txBody>
      </p:sp>
    </p:spTree>
    <p:extLst>
      <p:ext uri="{BB962C8B-B14F-4D97-AF65-F5344CB8AC3E}">
        <p14:creationId xmlns:p14="http://schemas.microsoft.com/office/powerpoint/2010/main" val="388270464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2029042" y="1085198"/>
            <a:ext cx="7829091" cy="497934"/>
            <a:chOff x="2512705" y="2819853"/>
            <a:chExt cx="4236126" cy="497934"/>
          </a:xfrm>
        </p:grpSpPr>
        <p:sp>
          <p:nvSpPr>
            <p:cNvPr id="3" name="平行四边形 2"/>
            <p:cNvSpPr/>
            <p:nvPr/>
          </p:nvSpPr>
          <p:spPr bwMode="auto">
            <a:xfrm>
              <a:off x="4099943" y="2849787"/>
              <a:ext cx="2547685" cy="468000"/>
            </a:xfrm>
            <a:prstGeom prst="parallelogram">
              <a:avLst/>
            </a:prstGeom>
            <a:solidFill>
              <a:srgbClr val="016773"/>
            </a:solidFill>
            <a:ln w="1905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en-US" dirty="0"/>
            </a:p>
          </p:txBody>
        </p:sp>
        <p:sp>
          <p:nvSpPr>
            <p:cNvPr id="4" name="平行四边形 3"/>
            <p:cNvSpPr/>
            <p:nvPr/>
          </p:nvSpPr>
          <p:spPr bwMode="auto">
            <a:xfrm>
              <a:off x="2591319" y="2819853"/>
              <a:ext cx="4078899" cy="468000"/>
            </a:xfrm>
            <a:prstGeom prst="parallelogram">
              <a:avLst/>
            </a:prstGeom>
            <a:solidFill>
              <a:srgbClr val="FAFAFA"/>
            </a:solidFill>
            <a:ln w="19050">
              <a:gradFill>
                <a:gsLst>
                  <a:gs pos="65000">
                    <a:srgbClr val="81C7C9"/>
                  </a:gs>
                  <a:gs pos="100000">
                    <a:srgbClr val="016773"/>
                  </a:gs>
                </a:gsLst>
                <a:lin ang="17400000" scaled="0"/>
              </a:gradFill>
            </a:ln>
            <a:effectLst>
              <a:outerShdw blurRad="50800" dist="38100" dir="18900000" algn="bl" rotWithShape="0">
                <a:schemeClr val="bg2">
                  <a:lumMod val="75000"/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矩形 4"/>
                <p:cNvSpPr/>
                <p:nvPr/>
              </p:nvSpPr>
              <p:spPr>
                <a:xfrm>
                  <a:off x="2512705" y="2846067"/>
                  <a:ext cx="4236126" cy="461665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zh-CN" altLang="en-US" sz="2400" b="1" dirty="0">
                      <a:solidFill>
                        <a:schemeClr val="accent1">
                          <a:lumMod val="75000"/>
                        </a:schemeClr>
                      </a:solidFill>
                      <a:latin typeface="宋体" panose="02010600030101010101" pitchFamily="2" charset="-122"/>
                    </a:rPr>
                    <a:t>定义逻辑等价</a:t>
                  </a:r>
                  <a:r>
                    <a:rPr lang="zh-CN" altLang="zh-CN" sz="2400" b="1" dirty="0">
                      <a:solidFill>
                        <a:schemeClr val="accent1">
                          <a:lumMod val="75000"/>
                        </a:schemeClr>
                      </a:solidFill>
                      <a:latin typeface="宋体" panose="02010600030101010101" pitchFamily="2" charset="-122"/>
                    </a:rPr>
                    <a:t>：具有相同的真假结果，一般用</a:t>
                  </a:r>
                  <a14:m>
                    <m:oMath xmlns:m="http://schemas.openxmlformats.org/officeDocument/2006/math">
                      <m:r>
                        <a:rPr lang="en-US" altLang="zh-CN" sz="2400" b="1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≡</m:t>
                      </m:r>
                    </m:oMath>
                  </a14:m>
                  <a:r>
                    <a:rPr lang="zh-CN" altLang="zh-CN" sz="2400" b="1" dirty="0">
                      <a:solidFill>
                        <a:schemeClr val="accent1">
                          <a:lumMod val="75000"/>
                        </a:schemeClr>
                      </a:solidFill>
                      <a:latin typeface="宋体" panose="02010600030101010101" pitchFamily="2" charset="-122"/>
                    </a:rPr>
                    <a:t>来表示</a:t>
                  </a:r>
                  <a:endParaRPr lang="zh-CN" altLang="en-US" sz="2400" b="1" dirty="0">
                    <a:solidFill>
                      <a:schemeClr val="accent1">
                        <a:lumMod val="75000"/>
                      </a:schemeClr>
                    </a:solidFill>
                    <a:latin typeface="宋体" panose="02010600030101010101" pitchFamily="2" charset="-122"/>
                  </a:endParaRPr>
                </a:p>
              </p:txBody>
            </p:sp>
          </mc:Choice>
          <mc:Fallback xmlns="">
            <p:sp>
              <p:nvSpPr>
                <p:cNvPr id="5" name="矩形 4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12705" y="2846067"/>
                  <a:ext cx="4236126" cy="461665"/>
                </a:xfrm>
                <a:prstGeom prst="rect">
                  <a:avLst/>
                </a:prstGeom>
                <a:blipFill>
                  <a:blip r:embed="rId3"/>
                  <a:stretch>
                    <a:fillRect t="-8108" b="-2973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0" name="矩形: 圆角 6">
            <a:extLst>
              <a:ext uri="{FF2B5EF4-FFF2-40B4-BE49-F238E27FC236}">
                <a16:creationId xmlns:a16="http://schemas.microsoft.com/office/drawing/2014/main" id="{C7DFEA35-C47B-45D2-8F92-EEFC90DE3FA2}"/>
              </a:ext>
            </a:extLst>
          </p:cNvPr>
          <p:cNvSpPr/>
          <p:nvPr/>
        </p:nvSpPr>
        <p:spPr>
          <a:xfrm>
            <a:off x="178095" y="1906949"/>
            <a:ext cx="3899491" cy="4561367"/>
          </a:xfrm>
          <a:prstGeom prst="roundRect">
            <a:avLst>
              <a:gd name="adj" fmla="val 0"/>
            </a:avLst>
          </a:prstGeom>
          <a:gradFill>
            <a:gsLst>
              <a:gs pos="22000">
                <a:srgbClr val="016773"/>
              </a:gs>
              <a:gs pos="100000">
                <a:srgbClr val="00ABA5"/>
              </a:gs>
            </a:gsLst>
            <a:lin ang="3000000" scaled="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矩形 10">
                <a:extLst>
                  <a:ext uri="{FF2B5EF4-FFF2-40B4-BE49-F238E27FC236}">
                    <a16:creationId xmlns:a16="http://schemas.microsoft.com/office/drawing/2014/main" id="{18AAC8E2-F248-4123-A9A0-F401BBE33663}"/>
                  </a:ext>
                </a:extLst>
              </p:cNvPr>
              <p:cNvSpPr/>
              <p:nvPr/>
            </p:nvSpPr>
            <p:spPr>
              <a:xfrm>
                <a:off x="178095" y="1906949"/>
                <a:ext cx="3825063" cy="538333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342900" indent="-342900">
                  <a:lnSpc>
                    <a:spcPct val="200000"/>
                  </a:lnSpc>
                  <a:buClr>
                    <a:schemeClr val="bg1"/>
                  </a:buClr>
                  <a:buSzPct val="80000"/>
                  <a:buFont typeface="Wingdings" panose="05000000000000000000" pitchFamily="2" charset="2"/>
                  <a:buChar char="u"/>
                </a:pPr>
                <a:r>
                  <a:rPr lang="zh-CN" altLang="zh-CN" sz="1600" b="1" dirty="0"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SimSun" panose="02010600030101010101" pitchFamily="2" charset="-122"/>
                    <a:ea typeface="SimSun" panose="02010600030101010101" pitchFamily="2" charset="-122"/>
                    <a:cs typeface="Times New Roman" panose="02020603050405020304" pitchFamily="18" charset="0"/>
                  </a:rPr>
                  <a:t>给定命题</a:t>
                </a:r>
                <a14:m>
                  <m:oMath xmlns:m="http://schemas.openxmlformats.org/officeDocument/2006/math">
                    <m:r>
                      <a:rPr lang="en-US" altLang="zh-CN" sz="1600" b="1">
                        <a:solidFill>
                          <a:schemeClr val="bg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𝑝</m:t>
                    </m:r>
                  </m:oMath>
                </a14:m>
                <a:r>
                  <a:rPr lang="zh-CN" altLang="zh-CN" sz="1600" b="1" dirty="0"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SimSun" panose="02010600030101010101" pitchFamily="2" charset="-122"/>
                    <a:ea typeface="SimSun" panose="02010600030101010101" pitchFamily="2" charset="-122"/>
                    <a:cs typeface="Times New Roman" panose="02020603050405020304" pitchFamily="18" charset="0"/>
                  </a:rPr>
                  <a:t>和命题</a:t>
                </a:r>
                <a14:m>
                  <m:oMath xmlns:m="http://schemas.openxmlformats.org/officeDocument/2006/math">
                    <m:r>
                      <a:rPr lang="en-US" altLang="zh-CN" sz="1600" b="1">
                        <a:solidFill>
                          <a:schemeClr val="bg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𝑞</m:t>
                    </m:r>
                  </m:oMath>
                </a14:m>
                <a:r>
                  <a:rPr lang="zh-CN" altLang="zh-CN" sz="1600" b="1" dirty="0"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SimSun" panose="02010600030101010101" pitchFamily="2" charset="-122"/>
                    <a:ea typeface="SimSun" panose="02010600030101010101" pitchFamily="2" charset="-122"/>
                    <a:cs typeface="Times New Roman" panose="02020603050405020304" pitchFamily="18" charset="0"/>
                  </a:rPr>
                  <a:t>，如果</a:t>
                </a:r>
                <a14:m>
                  <m:oMath xmlns:m="http://schemas.openxmlformats.org/officeDocument/2006/math">
                    <m:r>
                      <a:rPr lang="en-US" altLang="zh-CN" sz="1600" b="1">
                        <a:solidFill>
                          <a:schemeClr val="bg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𝑝</m:t>
                    </m:r>
                  </m:oMath>
                </a14:m>
                <a:r>
                  <a:rPr lang="zh-CN" altLang="zh-CN" sz="1600" b="1" dirty="0"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SimSun" panose="02010600030101010101" pitchFamily="2" charset="-122"/>
                    <a:ea typeface="SimSun" panose="02010600030101010101" pitchFamily="2" charset="-122"/>
                    <a:cs typeface="Times New Roman" panose="02020603050405020304" pitchFamily="18" charset="0"/>
                  </a:rPr>
                  <a:t>和</a:t>
                </a:r>
                <a14:m>
                  <m:oMath xmlns:m="http://schemas.openxmlformats.org/officeDocument/2006/math">
                    <m:r>
                      <a:rPr lang="en-US" altLang="zh-CN" sz="1600" b="1">
                        <a:solidFill>
                          <a:schemeClr val="bg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𝑞</m:t>
                    </m:r>
                  </m:oMath>
                </a14:m>
                <a:r>
                  <a:rPr lang="zh-CN" altLang="zh-CN" sz="1600" b="1" dirty="0"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SimSun" panose="02010600030101010101" pitchFamily="2" charset="-122"/>
                    <a:ea typeface="SimSun" panose="02010600030101010101" pitchFamily="2" charset="-122"/>
                    <a:cs typeface="Times New Roman" panose="02020603050405020304" pitchFamily="18" charset="0"/>
                  </a:rPr>
                  <a:t>在所有情况下都具有相同的真假结果，那么</a:t>
                </a:r>
                <a14:m>
                  <m:oMath xmlns:m="http://schemas.openxmlformats.org/officeDocument/2006/math">
                    <m:r>
                      <a:rPr lang="en-US" altLang="zh-CN" sz="1600" b="1">
                        <a:solidFill>
                          <a:srgbClr val="FFFFCC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𝑝</m:t>
                    </m:r>
                  </m:oMath>
                </a14:m>
                <a:r>
                  <a:rPr lang="zh-CN" altLang="zh-CN" sz="1600" b="1" dirty="0">
                    <a:solidFill>
                      <a:srgbClr val="FFFFCC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SimSun" panose="02010600030101010101" pitchFamily="2" charset="-122"/>
                    <a:ea typeface="SimSun" panose="02010600030101010101" pitchFamily="2" charset="-122"/>
                    <a:cs typeface="Times New Roman" panose="02020603050405020304" pitchFamily="18" charset="0"/>
                  </a:rPr>
                  <a:t>和</a:t>
                </a:r>
                <a14:m>
                  <m:oMath xmlns:m="http://schemas.openxmlformats.org/officeDocument/2006/math">
                    <m:r>
                      <a:rPr lang="en-US" altLang="zh-CN" sz="1600" b="1">
                        <a:solidFill>
                          <a:srgbClr val="FFFFCC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𝑞</m:t>
                    </m:r>
                  </m:oMath>
                </a14:m>
                <a:r>
                  <a:rPr lang="zh-CN" altLang="zh-CN" sz="1600" b="1" dirty="0">
                    <a:solidFill>
                      <a:srgbClr val="FFFFCC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SimSun" panose="02010600030101010101" pitchFamily="2" charset="-122"/>
                    <a:ea typeface="SimSun" panose="02010600030101010101" pitchFamily="2" charset="-122"/>
                    <a:cs typeface="Times New Roman" panose="02020603050405020304" pitchFamily="18" charset="0"/>
                  </a:rPr>
                  <a:t>在逻辑上等价</a:t>
                </a:r>
                <a:r>
                  <a:rPr lang="zh-CN" altLang="zh-CN" sz="1600" b="1" dirty="0"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SimSun" panose="02010600030101010101" pitchFamily="2" charset="-122"/>
                    <a:ea typeface="SimSun" panose="02010600030101010101" pitchFamily="2" charset="-122"/>
                    <a:cs typeface="Times New Roman" panose="02020603050405020304" pitchFamily="18" charset="0"/>
                  </a:rPr>
                  <a:t>，一般用</a:t>
                </a:r>
                <a14:m>
                  <m:oMath xmlns:m="http://schemas.openxmlformats.org/officeDocument/2006/math">
                    <m:r>
                      <a:rPr lang="en-US" altLang="zh-CN" sz="1600" b="1">
                        <a:solidFill>
                          <a:schemeClr val="bg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≡</m:t>
                    </m:r>
                  </m:oMath>
                </a14:m>
                <a:r>
                  <a:rPr lang="zh-CN" altLang="zh-CN" sz="1600" b="1" dirty="0"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SimSun" panose="02010600030101010101" pitchFamily="2" charset="-122"/>
                    <a:ea typeface="SimSun" panose="02010600030101010101" pitchFamily="2" charset="-122"/>
                    <a:cs typeface="Times New Roman" panose="02020603050405020304" pitchFamily="18" charset="0"/>
                  </a:rPr>
                  <a:t>来表示，即</a:t>
                </a:r>
                <a14:m>
                  <m:oMath xmlns:m="http://schemas.openxmlformats.org/officeDocument/2006/math">
                    <m:r>
                      <a:rPr lang="en-US" altLang="zh-CN" sz="1600" b="1">
                        <a:solidFill>
                          <a:schemeClr val="bg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𝑝</m:t>
                    </m:r>
                    <m:r>
                      <a:rPr lang="en-US" altLang="zh-CN" sz="1600" b="1">
                        <a:solidFill>
                          <a:schemeClr val="bg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≡</m:t>
                    </m:r>
                    <m:r>
                      <a:rPr lang="en-US" altLang="zh-CN" sz="1600" b="1">
                        <a:solidFill>
                          <a:schemeClr val="bg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𝑞</m:t>
                    </m:r>
                  </m:oMath>
                </a14:m>
                <a:r>
                  <a:rPr lang="zh-CN" altLang="zh-CN" sz="1600" b="1" dirty="0"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SimSun" panose="02010600030101010101" pitchFamily="2" charset="-122"/>
                    <a:ea typeface="SimSun" panose="02010600030101010101" pitchFamily="2" charset="-122"/>
                    <a:cs typeface="Times New Roman" panose="02020603050405020304" pitchFamily="18" charset="0"/>
                  </a:rPr>
                  <a:t>。</a:t>
                </a:r>
                <a:endParaRPr lang="en-US" altLang="zh-CN" sz="16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SimSun" panose="02010600030101010101" pitchFamily="2" charset="-122"/>
                  <a:ea typeface="SimSun" panose="02010600030101010101" pitchFamily="2" charset="-122"/>
                  <a:cs typeface="Times New Roman" panose="02020603050405020304" pitchFamily="18" charset="0"/>
                </a:endParaRPr>
              </a:p>
              <a:p>
                <a:pPr marL="342900" indent="-342900">
                  <a:lnSpc>
                    <a:spcPct val="200000"/>
                  </a:lnSpc>
                  <a:buClr>
                    <a:schemeClr val="bg1"/>
                  </a:buClr>
                  <a:buSzPct val="80000"/>
                  <a:buFont typeface="Wingdings" panose="05000000000000000000" pitchFamily="2" charset="2"/>
                  <a:buChar char="u"/>
                </a:pPr>
                <a:r>
                  <a:rPr lang="zh-CN" altLang="zh-CN" sz="1600" dirty="0">
                    <a:solidFill>
                      <a:schemeClr val="bg1"/>
                    </a:solidFill>
                    <a:latin typeface="SimSun" panose="02010600030101010101" pitchFamily="2" charset="-122"/>
                    <a:ea typeface="SimSun" panose="02010600030101010101" pitchFamily="2" charset="-122"/>
                    <a:cs typeface="Times New Roman" panose="02020603050405020304" pitchFamily="18" charset="0"/>
                  </a:rPr>
                  <a:t>逻辑等价为命题进行形式转换带来了可能。基于命题转换，我们不再需要逐一列出 </a:t>
                </a:r>
                <a14:m>
                  <m:oMath xmlns:m="http://schemas.openxmlformats.org/officeDocument/2006/math">
                    <m:r>
                      <a:rPr lang="en-US" altLang="zh-CN" sz="16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楷体_GB2312"/>
                        <a:cs typeface="Times New Roman" panose="02020603050405020304" pitchFamily="18" charset="0"/>
                      </a:rPr>
                      <m:t>𝑝</m:t>
                    </m:r>
                  </m:oMath>
                </a14:m>
                <a:r>
                  <a:rPr lang="zh-CN" altLang="zh-CN" sz="1600" dirty="0">
                    <a:solidFill>
                      <a:schemeClr val="bg1"/>
                    </a:solidFill>
                    <a:latin typeface="SimSun" panose="02010600030101010101" pitchFamily="2" charset="-122"/>
                    <a:ea typeface="SimSun" panose="02010600030101010101" pitchFamily="2" charset="-122"/>
                    <a:cs typeface="Times New Roman" panose="02020603050405020304" pitchFamily="18" charset="0"/>
                  </a:rPr>
                  <a:t>和</a:t>
                </a:r>
                <a14:m>
                  <m:oMath xmlns:m="http://schemas.openxmlformats.org/officeDocument/2006/math">
                    <m:r>
                      <a:rPr lang="en-US" altLang="zh-CN" sz="16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楷体_GB2312"/>
                        <a:cs typeface="Times New Roman" panose="02020603050405020304" pitchFamily="18" charset="0"/>
                      </a:rPr>
                      <m:t>𝑞</m:t>
                    </m:r>
                  </m:oMath>
                </a14:m>
                <a:r>
                  <a:rPr lang="zh-CN" altLang="zh-CN" sz="1600" dirty="0">
                    <a:solidFill>
                      <a:schemeClr val="bg1"/>
                    </a:solidFill>
                    <a:latin typeface="SimSun" panose="02010600030101010101" pitchFamily="2" charset="-122"/>
                    <a:ea typeface="SimSun" panose="02010600030101010101" pitchFamily="2" charset="-122"/>
                    <a:cs typeface="Times New Roman" panose="02020603050405020304" pitchFamily="18" charset="0"/>
                  </a:rPr>
                  <a:t>的真值表来判断两者是否在逻辑上等价，而是可直接根据已有逻辑等价公式来判断</a:t>
                </a:r>
                <a14:m>
                  <m:oMath xmlns:m="http://schemas.openxmlformats.org/officeDocument/2006/math">
                    <m:r>
                      <a:rPr lang="en-US" altLang="zh-CN" sz="16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楷体_GB2312"/>
                        <a:cs typeface="Times New Roman" panose="02020603050405020304" pitchFamily="18" charset="0"/>
                      </a:rPr>
                      <m:t>𝑝</m:t>
                    </m:r>
                  </m:oMath>
                </a14:m>
                <a:r>
                  <a:rPr lang="zh-CN" altLang="zh-CN" sz="1600" dirty="0">
                    <a:solidFill>
                      <a:schemeClr val="bg1"/>
                    </a:solidFill>
                    <a:latin typeface="SimSun" panose="02010600030101010101" pitchFamily="2" charset="-122"/>
                    <a:ea typeface="SimSun" panose="02010600030101010101" pitchFamily="2" charset="-122"/>
                    <a:cs typeface="Times New Roman" panose="02020603050405020304" pitchFamily="18" charset="0"/>
                  </a:rPr>
                  <a:t>和</a:t>
                </a:r>
                <a14:m>
                  <m:oMath xmlns:m="http://schemas.openxmlformats.org/officeDocument/2006/math">
                    <m:r>
                      <a:rPr lang="en-US" altLang="zh-CN" sz="16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楷体_GB2312"/>
                        <a:cs typeface="Times New Roman" panose="02020603050405020304" pitchFamily="18" charset="0"/>
                      </a:rPr>
                      <m:t>𝑞</m:t>
                    </m:r>
                  </m:oMath>
                </a14:m>
                <a:r>
                  <a:rPr lang="zh-CN" altLang="zh-CN" sz="1600" dirty="0">
                    <a:solidFill>
                      <a:schemeClr val="bg1"/>
                    </a:solidFill>
                    <a:latin typeface="SimSun" panose="02010600030101010101" pitchFamily="2" charset="-122"/>
                    <a:ea typeface="SimSun" panose="02010600030101010101" pitchFamily="2" charset="-122"/>
                    <a:cs typeface="Times New Roman" panose="02020603050405020304" pitchFamily="18" charset="0"/>
                  </a:rPr>
                  <a:t>在逻辑</a:t>
                </a:r>
                <a:r>
                  <a:rPr lang="zh-CN" altLang="zh-CN" sz="160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楷体_GB2312"/>
                    <a:cs typeface="Times New Roman" panose="02020603050405020304" pitchFamily="18" charset="0"/>
                  </a:rPr>
                  <a:t>上是否等价。</a:t>
                </a:r>
              </a:p>
              <a:p>
                <a:pPr marL="342900" indent="-342900">
                  <a:lnSpc>
                    <a:spcPct val="150000"/>
                  </a:lnSpc>
                  <a:buClr>
                    <a:schemeClr val="bg1"/>
                  </a:buClr>
                  <a:buSzPct val="80000"/>
                  <a:buFont typeface="Wingdings" panose="05000000000000000000" pitchFamily="2" charset="2"/>
                  <a:buChar char="u"/>
                </a:pPr>
                <a:endParaRPr lang="en-US" altLang="zh-CN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1" name="矩形 10">
                <a:extLst>
                  <a:ext uri="{FF2B5EF4-FFF2-40B4-BE49-F238E27FC236}">
                    <a16:creationId xmlns:a16="http://schemas.microsoft.com/office/drawing/2014/main" id="{18AAC8E2-F248-4123-A9A0-F401BBE3366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8095" y="1906949"/>
                <a:ext cx="3825063" cy="5383333"/>
              </a:xfrm>
              <a:prstGeom prst="rect">
                <a:avLst/>
              </a:prstGeom>
              <a:blipFill>
                <a:blip r:embed="rId4"/>
                <a:stretch>
                  <a:fillRect r="-99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9" name="表格 8">
                <a:extLst>
                  <a:ext uri="{FF2B5EF4-FFF2-40B4-BE49-F238E27FC236}">
                    <a16:creationId xmlns:a16="http://schemas.microsoft.com/office/drawing/2014/main" id="{58B90A18-EB8D-4EF7-92B6-1327D245D3F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799583352"/>
                  </p:ext>
                </p:extLst>
              </p:nvPr>
            </p:nvGraphicFramePr>
            <p:xfrm>
              <a:off x="4210494" y="2325108"/>
              <a:ext cx="7724552" cy="332077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442059">
                      <a:extLst>
                        <a:ext uri="{9D8B030D-6E8A-4147-A177-3AD203B41FA5}">
                          <a16:colId xmlns:a16="http://schemas.microsoft.com/office/drawing/2014/main" val="3604322212"/>
                        </a:ext>
                      </a:extLst>
                    </a:gridCol>
                    <a:gridCol w="4282493">
                      <a:extLst>
                        <a:ext uri="{9D8B030D-6E8A-4147-A177-3AD203B41FA5}">
                          <a16:colId xmlns:a16="http://schemas.microsoft.com/office/drawing/2014/main" val="2958094604"/>
                        </a:ext>
                      </a:extLst>
                    </a:gridCol>
                  </a:tblGrid>
                  <a:tr h="553463"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200000"/>
                            </a:lnSpc>
                            <a:spcBef>
                              <a:spcPts val="1000"/>
                            </a:spcBef>
                            <a:spcAft>
                              <a:spcPts val="300"/>
                            </a:spcAft>
                          </a:pPr>
                          <a14:m>
                            <m:oMath xmlns:m="http://schemas.openxmlformats.org/officeDocument/2006/math">
                              <m:r>
                                <a:rPr lang="en-US" sz="1400" kern="0">
                                  <a:effectLst/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  <m:r>
                                <a:rPr lang="en-US" sz="1400" kern="0">
                                  <a:effectLst/>
                                  <a:latin typeface="Cambria Math" panose="02040503050406030204" pitchFamily="18" charset="0"/>
                                </a:rPr>
                                <m:t>∧</m:t>
                              </m:r>
                              <m:r>
                                <a:rPr lang="en-US" sz="1400" kern="0">
                                  <a:effectLst/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  <m:r>
                                <a:rPr lang="en-US" sz="1400" kern="0">
                                  <a:effectLst/>
                                  <a:latin typeface="Cambria Math" panose="02040503050406030204" pitchFamily="18" charset="0"/>
                                </a:rPr>
                                <m:t>≡</m:t>
                              </m:r>
                              <m:r>
                                <a:rPr lang="en-US" sz="1400" kern="0">
                                  <a:effectLst/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  <m:r>
                                <a:rPr lang="en-US" sz="1400" kern="0">
                                  <a:effectLst/>
                                  <a:latin typeface="Cambria Math" panose="02040503050406030204" pitchFamily="18" charset="0"/>
                                </a:rPr>
                                <m:t>∧</m:t>
                              </m:r>
                              <m:r>
                                <a:rPr lang="en-US" sz="1400" kern="0">
                                  <a:effectLst/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oMath>
                          </a14:m>
                          <a:r>
                            <a:rPr lang="en-US" sz="1400" kern="0" dirty="0">
                              <a:effectLst/>
                              <a:latin typeface="SimSun" panose="02010600030101010101" pitchFamily="2" charset="-122"/>
                              <a:ea typeface="SimSun" panose="02010600030101010101" pitchFamily="2" charset="-122"/>
                              <a:cs typeface="Times New Roman" panose="02020603050405020304" pitchFamily="18" charset="0"/>
                            </a:rPr>
                            <a:t> (</a:t>
                          </a:r>
                          <a14:m>
                            <m:oMath xmlns:m="http://schemas.openxmlformats.org/officeDocument/2006/math">
                              <m:r>
                                <a:rPr lang="en-US" sz="1400" kern="0">
                                  <a:effectLst/>
                                  <a:latin typeface="Cambria Math" panose="02040503050406030204" pitchFamily="18" charset="0"/>
                                </a:rPr>
                                <m:t>∧</m:t>
                              </m:r>
                            </m:oMath>
                          </a14:m>
                          <a:r>
                            <a:rPr lang="zh-CN" sz="1400" kern="0" dirty="0">
                              <a:effectLst/>
                              <a:latin typeface="SimSun" panose="02010600030101010101" pitchFamily="2" charset="-122"/>
                              <a:ea typeface="SimSun" panose="02010600030101010101" pitchFamily="2" charset="-122"/>
                              <a:cs typeface="Times New Roman" panose="02020603050405020304" pitchFamily="18" charset="0"/>
                            </a:rPr>
                            <a:t>的交换律</a:t>
                          </a:r>
                          <a:r>
                            <a:rPr lang="en-US" sz="1400" kern="0" dirty="0">
                              <a:effectLst/>
                              <a:latin typeface="SimSun" panose="02010600030101010101" pitchFamily="2" charset="-122"/>
                              <a:ea typeface="SimSun" panose="02010600030101010101" pitchFamily="2" charset="-122"/>
                              <a:cs typeface="Times New Roman" panose="02020603050405020304" pitchFamily="18" charset="0"/>
                            </a:rPr>
                            <a:t>)</a:t>
                          </a:r>
                          <a:endParaRPr lang="zh-CN" sz="1400" kern="100" dirty="0">
                            <a:effectLst/>
                            <a:latin typeface="SimSun" panose="02010600030101010101" pitchFamily="2" charset="-122"/>
                            <a:ea typeface="SimSun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T="34290" marB="34290" anchor="ctr"/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200000"/>
                            </a:lnSpc>
                            <a:spcBef>
                              <a:spcPts val="1000"/>
                            </a:spcBef>
                            <a:spcAft>
                              <a:spcPts val="300"/>
                            </a:spcAft>
                          </a:pPr>
                          <a14:m>
                            <m:oMath xmlns:m="http://schemas.openxmlformats.org/officeDocument/2006/math">
                              <m:r>
                                <a:rPr lang="en-US" sz="1400" kern="0">
                                  <a:effectLst/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1400" kern="0">
                                  <a:effectLst/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  <m:r>
                                <a:rPr lang="en-US" sz="1400" kern="0">
                                  <a:effectLst/>
                                  <a:latin typeface="Cambria Math" panose="02040503050406030204" pitchFamily="18" charset="0"/>
                                </a:rPr>
                                <m:t>→</m:t>
                              </m:r>
                              <m:r>
                                <a:rPr lang="en-US" sz="1400" kern="0">
                                  <a:effectLst/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  <m:r>
                                <a:rPr lang="en-US" sz="1400" kern="0">
                                  <a:effectLst/>
                                  <a:latin typeface="Cambria Math" panose="02040503050406030204" pitchFamily="18" charset="0"/>
                                </a:rPr>
                                <m:t>)≡¬</m:t>
                              </m:r>
                              <m:r>
                                <m:rPr>
                                  <m:sty m:val="p"/>
                                </m:rPr>
                                <a:rPr lang="en-US" sz="1400" kern="0">
                                  <a:effectLst/>
                                  <a:latin typeface="Cambria Math" panose="02040503050406030204" pitchFamily="18" charset="0"/>
                                </a:rPr>
                                <m:t>α</m:t>
                              </m:r>
                              <m:r>
                                <a:rPr lang="en-US" sz="1400" kern="0">
                                  <a:effectLst/>
                                  <a:latin typeface="Cambria Math" panose="02040503050406030204" pitchFamily="18" charset="0"/>
                                </a:rPr>
                                <m:t>∨</m:t>
                              </m:r>
                              <m:r>
                                <m:rPr>
                                  <m:sty m:val="p"/>
                                </m:rPr>
                                <a:rPr lang="en-US" sz="1400" kern="0">
                                  <a:effectLst/>
                                  <a:latin typeface="Cambria Math" panose="02040503050406030204" pitchFamily="18" charset="0"/>
                                </a:rPr>
                                <m:t>β</m:t>
                              </m:r>
                              <m:r>
                                <a:rPr lang="en-US" sz="1400" kern="0">
                                  <a:effectLst/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oMath>
                          </a14:m>
                          <a:r>
                            <a:rPr lang="en-US" sz="1400" kern="0">
                              <a:effectLst/>
                              <a:latin typeface="SimSun" panose="02010600030101010101" pitchFamily="2" charset="-122"/>
                              <a:ea typeface="SimSun" panose="02010600030101010101" pitchFamily="2" charset="-122"/>
                              <a:cs typeface="Times New Roman" panose="02020603050405020304" pitchFamily="18" charset="0"/>
                            </a:rPr>
                            <a:t> (</a:t>
                          </a:r>
                          <a:r>
                            <a:rPr lang="zh-CN" sz="1400" kern="0">
                              <a:effectLst/>
                              <a:latin typeface="SimSun" panose="02010600030101010101" pitchFamily="2" charset="-122"/>
                              <a:ea typeface="SimSun" panose="02010600030101010101" pitchFamily="2" charset="-122"/>
                              <a:cs typeface="Times New Roman" panose="02020603050405020304" pitchFamily="18" charset="0"/>
                            </a:rPr>
                            <a:t>蕴涵消除</a:t>
                          </a:r>
                          <a:r>
                            <a:rPr lang="en-US" sz="1400" kern="0">
                              <a:effectLst/>
                              <a:latin typeface="SimSun" panose="02010600030101010101" pitchFamily="2" charset="-122"/>
                              <a:ea typeface="SimSun" panose="02010600030101010101" pitchFamily="2" charset="-122"/>
                              <a:cs typeface="Times New Roman" panose="02020603050405020304" pitchFamily="18" charset="0"/>
                            </a:rPr>
                            <a:t>)</a:t>
                          </a:r>
                          <a:endParaRPr lang="zh-CN" sz="1400" kern="100">
                            <a:effectLst/>
                            <a:latin typeface="SimSun" panose="02010600030101010101" pitchFamily="2" charset="-122"/>
                            <a:ea typeface="SimSun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T="34290" marB="34290" anchor="ctr"/>
                    </a:tc>
                    <a:extLst>
                      <a:ext uri="{0D108BD9-81ED-4DB2-BD59-A6C34878D82A}">
                        <a16:rowId xmlns:a16="http://schemas.microsoft.com/office/drawing/2014/main" val="238095847"/>
                      </a:ext>
                    </a:extLst>
                  </a:tr>
                  <a:tr h="553463"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200000"/>
                            </a:lnSpc>
                            <a:spcBef>
                              <a:spcPts val="1000"/>
                            </a:spcBef>
                            <a:spcAft>
                              <a:spcPts val="300"/>
                            </a:spcAft>
                          </a:pPr>
                          <a14:m>
                            <m:oMath xmlns:m="http://schemas.openxmlformats.org/officeDocument/2006/math">
                              <m:r>
                                <a:rPr lang="en-US" sz="1400" kern="0">
                                  <a:effectLst/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  <m:r>
                                <a:rPr lang="en-US" sz="1400" kern="0">
                                  <a:effectLst/>
                                  <a:latin typeface="Cambria Math" panose="02040503050406030204" pitchFamily="18" charset="0"/>
                                </a:rPr>
                                <m:t>∨</m:t>
                              </m:r>
                              <m:r>
                                <a:rPr lang="en-US" sz="1400" kern="0">
                                  <a:effectLst/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  <m:r>
                                <a:rPr lang="en-US" sz="1400" kern="0">
                                  <a:effectLst/>
                                  <a:latin typeface="Cambria Math" panose="02040503050406030204" pitchFamily="18" charset="0"/>
                                </a:rPr>
                                <m:t>≡</m:t>
                              </m:r>
                              <m:r>
                                <a:rPr lang="en-US" sz="1400" kern="0">
                                  <a:effectLst/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  <m:r>
                                <a:rPr lang="en-US" sz="1400" kern="0">
                                  <a:effectLst/>
                                  <a:latin typeface="Cambria Math" panose="02040503050406030204" pitchFamily="18" charset="0"/>
                                </a:rPr>
                                <m:t>∨</m:t>
                              </m:r>
                              <m:r>
                                <a:rPr lang="en-US" sz="1400" kern="0">
                                  <a:effectLst/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oMath>
                          </a14:m>
                          <a:r>
                            <a:rPr lang="en-US" sz="1400" kern="0">
                              <a:effectLst/>
                              <a:latin typeface="SimSun" panose="02010600030101010101" pitchFamily="2" charset="-122"/>
                              <a:ea typeface="SimSun" panose="02010600030101010101" pitchFamily="2" charset="-122"/>
                              <a:cs typeface="Times New Roman" panose="02020603050405020304" pitchFamily="18" charset="0"/>
                            </a:rPr>
                            <a:t> (</a:t>
                          </a:r>
                          <a14:m>
                            <m:oMath xmlns:m="http://schemas.openxmlformats.org/officeDocument/2006/math">
                              <m:r>
                                <a:rPr lang="en-US" sz="1400" kern="0">
                                  <a:effectLst/>
                                  <a:latin typeface="Cambria Math" panose="02040503050406030204" pitchFamily="18" charset="0"/>
                                </a:rPr>
                                <m:t>∨</m:t>
                              </m:r>
                            </m:oMath>
                          </a14:m>
                          <a:r>
                            <a:rPr lang="zh-CN" sz="1400" kern="0">
                              <a:effectLst/>
                              <a:latin typeface="SimSun" panose="02010600030101010101" pitchFamily="2" charset="-122"/>
                              <a:ea typeface="SimSun" panose="02010600030101010101" pitchFamily="2" charset="-122"/>
                              <a:cs typeface="Times New Roman" panose="02020603050405020304" pitchFamily="18" charset="0"/>
                            </a:rPr>
                            <a:t>的交换律</a:t>
                          </a:r>
                          <a:r>
                            <a:rPr lang="en-US" sz="1400" kern="0">
                              <a:effectLst/>
                              <a:latin typeface="SimSun" panose="02010600030101010101" pitchFamily="2" charset="-122"/>
                              <a:ea typeface="SimSun" panose="02010600030101010101" pitchFamily="2" charset="-122"/>
                              <a:cs typeface="Times New Roman" panose="02020603050405020304" pitchFamily="18" charset="0"/>
                            </a:rPr>
                            <a:t>)</a:t>
                          </a:r>
                          <a:endParaRPr lang="zh-CN" sz="1400" kern="100">
                            <a:effectLst/>
                            <a:latin typeface="SimSun" panose="02010600030101010101" pitchFamily="2" charset="-122"/>
                            <a:ea typeface="SimSun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T="34290" marB="34290" anchor="ctr"/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200000"/>
                            </a:lnSpc>
                            <a:spcBef>
                              <a:spcPts val="1000"/>
                            </a:spcBef>
                            <a:spcAft>
                              <a:spcPts val="300"/>
                            </a:spcAft>
                          </a:pPr>
                          <a14:m>
                            <m:oMath xmlns:m="http://schemas.openxmlformats.org/officeDocument/2006/math">
                              <m:r>
                                <a:rPr lang="en-US" sz="1400" kern="0">
                                  <a:effectLst/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1400" kern="0">
                                  <a:effectLst/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  <m:r>
                                <a:rPr lang="en-US" sz="1400" kern="0">
                                  <a:effectLst/>
                                  <a:latin typeface="Cambria Math" panose="02040503050406030204" pitchFamily="18" charset="0"/>
                                </a:rPr>
                                <m:t>↔</m:t>
                              </m:r>
                              <m:r>
                                <a:rPr lang="en-US" sz="1400" kern="0">
                                  <a:effectLst/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  <m:r>
                                <a:rPr lang="en-US" sz="1400" kern="0">
                                  <a:effectLst/>
                                  <a:latin typeface="Cambria Math" panose="02040503050406030204" pitchFamily="18" charset="0"/>
                                </a:rPr>
                                <m:t>)≡(</m:t>
                              </m:r>
                              <m:r>
                                <a:rPr lang="en-US" sz="1400" kern="0">
                                  <a:effectLst/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  <m:r>
                                <a:rPr lang="en-US" sz="1400" kern="0">
                                  <a:effectLst/>
                                  <a:latin typeface="Cambria Math" panose="02040503050406030204" pitchFamily="18" charset="0"/>
                                </a:rPr>
                                <m:t>→</m:t>
                              </m:r>
                              <m:r>
                                <a:rPr lang="en-US" sz="1400" kern="0">
                                  <a:effectLst/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  <m:r>
                                <a:rPr lang="en-US" sz="1400" kern="0">
                                  <a:effectLst/>
                                  <a:latin typeface="Cambria Math" panose="02040503050406030204" pitchFamily="18" charset="0"/>
                                </a:rPr>
                                <m:t>)∧(</m:t>
                              </m:r>
                              <m:r>
                                <a:rPr lang="en-US" sz="1400" kern="0">
                                  <a:effectLst/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  <m:r>
                                <a:rPr lang="en-US" sz="1400" kern="0">
                                  <a:effectLst/>
                                  <a:latin typeface="Cambria Math" panose="02040503050406030204" pitchFamily="18" charset="0"/>
                                </a:rPr>
                                <m:t>→</m:t>
                              </m:r>
                              <m:r>
                                <a:rPr lang="en-US" sz="1400" kern="0">
                                  <a:effectLst/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  <m:r>
                                <a:rPr lang="en-US" sz="1400" kern="0">
                                  <a:effectLst/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oMath>
                          </a14:m>
                          <a:r>
                            <a:rPr lang="en-US" sz="1400" kern="0">
                              <a:effectLst/>
                              <a:latin typeface="SimSun" panose="02010600030101010101" pitchFamily="2" charset="-122"/>
                              <a:ea typeface="SimSun" panose="02010600030101010101" pitchFamily="2" charset="-122"/>
                              <a:cs typeface="Times New Roman" panose="02020603050405020304" pitchFamily="18" charset="0"/>
                            </a:rPr>
                            <a:t> (</a:t>
                          </a:r>
                          <a:r>
                            <a:rPr lang="zh-CN" sz="1400" kern="0">
                              <a:effectLst/>
                              <a:latin typeface="SimSun" panose="02010600030101010101" pitchFamily="2" charset="-122"/>
                              <a:ea typeface="SimSun" panose="02010600030101010101" pitchFamily="2" charset="-122"/>
                              <a:cs typeface="Times New Roman" panose="02020603050405020304" pitchFamily="18" charset="0"/>
                            </a:rPr>
                            <a:t>双向消除</a:t>
                          </a:r>
                          <a:r>
                            <a:rPr lang="en-US" sz="1400" kern="0">
                              <a:effectLst/>
                              <a:latin typeface="SimSun" panose="02010600030101010101" pitchFamily="2" charset="-122"/>
                              <a:ea typeface="SimSun" panose="02010600030101010101" pitchFamily="2" charset="-122"/>
                              <a:cs typeface="Times New Roman" panose="02020603050405020304" pitchFamily="18" charset="0"/>
                            </a:rPr>
                            <a:t>)</a:t>
                          </a:r>
                          <a:endParaRPr lang="zh-CN" sz="1400" kern="100">
                            <a:effectLst/>
                            <a:latin typeface="SimSun" panose="02010600030101010101" pitchFamily="2" charset="-122"/>
                            <a:ea typeface="SimSun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T="34290" marB="34290" anchor="ctr"/>
                    </a:tc>
                    <a:extLst>
                      <a:ext uri="{0D108BD9-81ED-4DB2-BD59-A6C34878D82A}">
                        <a16:rowId xmlns:a16="http://schemas.microsoft.com/office/drawing/2014/main" val="2971866772"/>
                      </a:ext>
                    </a:extLst>
                  </a:tr>
                  <a:tr h="553463"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200000"/>
                            </a:lnSpc>
                            <a:spcBef>
                              <a:spcPts val="1000"/>
                            </a:spcBef>
                            <a:spcAft>
                              <a:spcPts val="300"/>
                            </a:spcAft>
                          </a:pPr>
                          <a14:m>
                            <m:oMath xmlns:m="http://schemas.openxmlformats.org/officeDocument/2006/math">
                              <m:r>
                                <a:rPr lang="en-US" sz="1400" kern="0">
                                  <a:effectLst/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1400" kern="0">
                                  <a:effectLst/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  <m:r>
                                <a:rPr lang="en-US" sz="1400" kern="0">
                                  <a:effectLst/>
                                  <a:latin typeface="Cambria Math" panose="02040503050406030204" pitchFamily="18" charset="0"/>
                                </a:rPr>
                                <m:t>∧</m:t>
                              </m:r>
                              <m:r>
                                <a:rPr lang="en-US" sz="1400" kern="0">
                                  <a:effectLst/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  <m:r>
                                <a:rPr lang="en-US" sz="1400" kern="0">
                                  <a:effectLst/>
                                  <a:latin typeface="Cambria Math" panose="02040503050406030204" pitchFamily="18" charset="0"/>
                                </a:rPr>
                                <m:t>)∧</m:t>
                              </m:r>
                              <m:r>
                                <a:rPr lang="en-US" sz="1400" kern="0">
                                  <a:effectLst/>
                                  <a:latin typeface="Cambria Math" panose="02040503050406030204" pitchFamily="18" charset="0"/>
                                </a:rPr>
                                <m:t>𝛾</m:t>
                              </m:r>
                              <m:r>
                                <a:rPr lang="en-US" sz="1400" kern="0">
                                  <a:effectLst/>
                                  <a:latin typeface="Cambria Math" panose="02040503050406030204" pitchFamily="18" charset="0"/>
                                </a:rPr>
                                <m:t>≡</m:t>
                              </m:r>
                              <m:r>
                                <a:rPr lang="en-US" sz="1400" kern="0">
                                  <a:effectLst/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  <m:r>
                                <a:rPr lang="en-US" sz="1400" kern="0">
                                  <a:effectLst/>
                                  <a:latin typeface="Cambria Math" panose="02040503050406030204" pitchFamily="18" charset="0"/>
                                </a:rPr>
                                <m:t>∧(</m:t>
                              </m:r>
                              <m:r>
                                <a:rPr lang="en-US" sz="1400" kern="0">
                                  <a:effectLst/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  <m:r>
                                <a:rPr lang="en-US" sz="1400" kern="0">
                                  <a:effectLst/>
                                  <a:latin typeface="Cambria Math" panose="02040503050406030204" pitchFamily="18" charset="0"/>
                                </a:rPr>
                                <m:t>∧</m:t>
                              </m:r>
                              <m:r>
                                <a:rPr lang="en-US" sz="1400" kern="0">
                                  <a:effectLst/>
                                  <a:latin typeface="Cambria Math" panose="02040503050406030204" pitchFamily="18" charset="0"/>
                                </a:rPr>
                                <m:t>𝛾</m:t>
                              </m:r>
                              <m:r>
                                <a:rPr lang="en-US" sz="1400" kern="0">
                                  <a:effectLst/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oMath>
                          </a14:m>
                          <a:r>
                            <a:rPr lang="en-US" sz="1400" kern="0">
                              <a:effectLst/>
                              <a:latin typeface="SimSun" panose="02010600030101010101" pitchFamily="2" charset="-122"/>
                              <a:ea typeface="SimSun" panose="02010600030101010101" pitchFamily="2" charset="-122"/>
                              <a:cs typeface="Times New Roman" panose="02020603050405020304" pitchFamily="18" charset="0"/>
                            </a:rPr>
                            <a:t> (</a:t>
                          </a:r>
                          <a14:m>
                            <m:oMath xmlns:m="http://schemas.openxmlformats.org/officeDocument/2006/math">
                              <m:r>
                                <a:rPr lang="en-US" sz="1400" kern="0">
                                  <a:effectLst/>
                                  <a:latin typeface="Cambria Math" panose="02040503050406030204" pitchFamily="18" charset="0"/>
                                </a:rPr>
                                <m:t>∧</m:t>
                              </m:r>
                            </m:oMath>
                          </a14:m>
                          <a:r>
                            <a:rPr lang="zh-CN" sz="1400" kern="0">
                              <a:effectLst/>
                              <a:latin typeface="SimSun" panose="02010600030101010101" pitchFamily="2" charset="-122"/>
                              <a:ea typeface="SimSun" panose="02010600030101010101" pitchFamily="2" charset="-122"/>
                              <a:cs typeface="Times New Roman" panose="02020603050405020304" pitchFamily="18" charset="0"/>
                            </a:rPr>
                            <a:t>的结合律</a:t>
                          </a:r>
                          <a:r>
                            <a:rPr lang="en-US" sz="1400" kern="0">
                              <a:effectLst/>
                              <a:latin typeface="SimSun" panose="02010600030101010101" pitchFamily="2" charset="-122"/>
                              <a:ea typeface="SimSun" panose="02010600030101010101" pitchFamily="2" charset="-122"/>
                              <a:cs typeface="Times New Roman" panose="02020603050405020304" pitchFamily="18" charset="0"/>
                            </a:rPr>
                            <a:t>)</a:t>
                          </a:r>
                          <a:endParaRPr lang="zh-CN" sz="1400" kern="100">
                            <a:effectLst/>
                            <a:latin typeface="SimSun" panose="02010600030101010101" pitchFamily="2" charset="-122"/>
                            <a:ea typeface="SimSun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T="34290" marB="34290" anchor="ctr"/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200000"/>
                            </a:lnSpc>
                            <a:spcBef>
                              <a:spcPts val="1000"/>
                            </a:spcBef>
                            <a:spcAft>
                              <a:spcPts val="300"/>
                            </a:spcAft>
                          </a:pPr>
                          <a14:m>
                            <m:oMath xmlns:m="http://schemas.openxmlformats.org/officeDocument/2006/math">
                              <m:r>
                                <a:rPr lang="en-US" sz="1400" kern="0">
                                  <a:effectLst/>
                                  <a:latin typeface="Cambria Math" panose="02040503050406030204" pitchFamily="18" charset="0"/>
                                </a:rPr>
                                <m:t>¬</m:t>
                              </m:r>
                              <m:d>
                                <m:dPr>
                                  <m:ctrlPr>
                                    <a:rPr lang="zh-CN" sz="1400" i="1" kern="0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400" kern="0">
                                      <a:effectLst/>
                                      <a:latin typeface="Cambria Math" panose="02040503050406030204" pitchFamily="18" charset="0"/>
                                    </a:rPr>
                                    <m:t>𝛼</m:t>
                                  </m:r>
                                  <m:r>
                                    <a:rPr lang="en-US" sz="1400" kern="0">
                                      <a:effectLst/>
                                      <a:latin typeface="Cambria Math" panose="02040503050406030204" pitchFamily="18" charset="0"/>
                                    </a:rPr>
                                    <m:t>∧</m:t>
                                  </m:r>
                                  <m:r>
                                    <a:rPr lang="en-US" sz="1400" kern="0">
                                      <a:effectLst/>
                                      <a:latin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</m:d>
                              <m:r>
                                <a:rPr lang="en-US" sz="1400" kern="0">
                                  <a:effectLst/>
                                  <a:latin typeface="Cambria Math" panose="02040503050406030204" pitchFamily="18" charset="0"/>
                                </a:rPr>
                                <m:t>≡(¬</m:t>
                              </m:r>
                              <m:r>
                                <a:rPr lang="en-US" sz="1400" kern="0">
                                  <a:effectLst/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  <m:r>
                                <a:rPr lang="en-US" sz="1400" kern="0">
                                  <a:effectLst/>
                                  <a:latin typeface="Cambria Math" panose="02040503050406030204" pitchFamily="18" charset="0"/>
                                </a:rPr>
                                <m:t>∨¬</m:t>
                              </m:r>
                              <m:r>
                                <a:rPr lang="en-US" sz="1400" kern="0">
                                  <a:effectLst/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  <m:r>
                                <a:rPr lang="en-US" sz="1400" kern="0">
                                  <a:effectLst/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oMath>
                          </a14:m>
                          <a:r>
                            <a:rPr lang="en-US" sz="1400" kern="0">
                              <a:effectLst/>
                              <a:latin typeface="SimSun" panose="02010600030101010101" pitchFamily="2" charset="-122"/>
                              <a:ea typeface="SimSun" panose="02010600030101010101" pitchFamily="2" charset="-122"/>
                              <a:cs typeface="Times New Roman" panose="02020603050405020304" pitchFamily="18" charset="0"/>
                            </a:rPr>
                            <a:t> (De Morgan</a:t>
                          </a:r>
                          <a:r>
                            <a:rPr lang="zh-CN" sz="1400" kern="0">
                              <a:effectLst/>
                              <a:latin typeface="SimSun" panose="02010600030101010101" pitchFamily="2" charset="-122"/>
                              <a:ea typeface="SimSun" panose="02010600030101010101" pitchFamily="2" charset="-122"/>
                              <a:cs typeface="Times New Roman" panose="02020603050405020304" pitchFamily="18" charset="0"/>
                            </a:rPr>
                            <a:t>定律</a:t>
                          </a:r>
                          <a:r>
                            <a:rPr lang="en-US" sz="1400" kern="0">
                              <a:effectLst/>
                              <a:latin typeface="SimSun" panose="02010600030101010101" pitchFamily="2" charset="-122"/>
                              <a:ea typeface="SimSun" panose="02010600030101010101" pitchFamily="2" charset="-122"/>
                              <a:cs typeface="Times New Roman" panose="02020603050405020304" pitchFamily="18" charset="0"/>
                            </a:rPr>
                            <a:t>)</a:t>
                          </a:r>
                          <a:endParaRPr lang="zh-CN" sz="1400" kern="100">
                            <a:effectLst/>
                            <a:latin typeface="SimSun" panose="02010600030101010101" pitchFamily="2" charset="-122"/>
                            <a:ea typeface="SimSun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T="34290" marB="34290" anchor="ctr"/>
                    </a:tc>
                    <a:extLst>
                      <a:ext uri="{0D108BD9-81ED-4DB2-BD59-A6C34878D82A}">
                        <a16:rowId xmlns:a16="http://schemas.microsoft.com/office/drawing/2014/main" val="2395828156"/>
                      </a:ext>
                    </a:extLst>
                  </a:tr>
                  <a:tr h="553463"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200000"/>
                            </a:lnSpc>
                            <a:spcBef>
                              <a:spcPts val="1000"/>
                            </a:spcBef>
                            <a:spcAft>
                              <a:spcPts val="300"/>
                            </a:spcAft>
                          </a:pPr>
                          <a14:m>
                            <m:oMath xmlns:m="http://schemas.openxmlformats.org/officeDocument/2006/math">
                              <m:r>
                                <a:rPr lang="en-US" sz="1400" kern="0">
                                  <a:effectLst/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1400" kern="0">
                                  <a:effectLst/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  <m:r>
                                <a:rPr lang="en-US" sz="1400" kern="0">
                                  <a:effectLst/>
                                  <a:latin typeface="Cambria Math" panose="02040503050406030204" pitchFamily="18" charset="0"/>
                                </a:rPr>
                                <m:t>∨</m:t>
                              </m:r>
                              <m:r>
                                <a:rPr lang="en-US" sz="1400" kern="0">
                                  <a:effectLst/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  <m:r>
                                <a:rPr lang="en-US" sz="1400" kern="0">
                                  <a:effectLst/>
                                  <a:latin typeface="Cambria Math" panose="02040503050406030204" pitchFamily="18" charset="0"/>
                                </a:rPr>
                                <m:t>)∨</m:t>
                              </m:r>
                              <m:r>
                                <a:rPr lang="en-US" sz="1400" kern="0">
                                  <a:effectLst/>
                                  <a:latin typeface="Cambria Math" panose="02040503050406030204" pitchFamily="18" charset="0"/>
                                </a:rPr>
                                <m:t>𝛾</m:t>
                              </m:r>
                              <m:r>
                                <a:rPr lang="en-US" sz="1400" kern="0">
                                  <a:effectLst/>
                                  <a:latin typeface="Cambria Math" panose="02040503050406030204" pitchFamily="18" charset="0"/>
                                </a:rPr>
                                <m:t>≡</m:t>
                              </m:r>
                              <m:r>
                                <a:rPr lang="en-US" sz="1400" kern="0">
                                  <a:effectLst/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  <m:r>
                                <a:rPr lang="en-US" sz="1400" kern="0">
                                  <a:effectLst/>
                                  <a:latin typeface="Cambria Math" panose="02040503050406030204" pitchFamily="18" charset="0"/>
                                </a:rPr>
                                <m:t>∨(</m:t>
                              </m:r>
                              <m:r>
                                <a:rPr lang="en-US" sz="1400" kern="0">
                                  <a:effectLst/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  <m:r>
                                <a:rPr lang="en-US" sz="1400" kern="0">
                                  <a:effectLst/>
                                  <a:latin typeface="Cambria Math" panose="02040503050406030204" pitchFamily="18" charset="0"/>
                                </a:rPr>
                                <m:t>∨</m:t>
                              </m:r>
                              <m:r>
                                <a:rPr lang="en-US" sz="1400" kern="0">
                                  <a:effectLst/>
                                  <a:latin typeface="Cambria Math" panose="02040503050406030204" pitchFamily="18" charset="0"/>
                                </a:rPr>
                                <m:t>𝛾</m:t>
                              </m:r>
                              <m:r>
                                <a:rPr lang="en-US" sz="1400" kern="0">
                                  <a:effectLst/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oMath>
                          </a14:m>
                          <a:r>
                            <a:rPr lang="en-US" sz="1400" kern="0">
                              <a:effectLst/>
                              <a:latin typeface="SimSun" panose="02010600030101010101" pitchFamily="2" charset="-122"/>
                              <a:ea typeface="SimSun" panose="02010600030101010101" pitchFamily="2" charset="-122"/>
                              <a:cs typeface="Times New Roman" panose="02020603050405020304" pitchFamily="18" charset="0"/>
                            </a:rPr>
                            <a:t> (</a:t>
                          </a:r>
                          <a14:m>
                            <m:oMath xmlns:m="http://schemas.openxmlformats.org/officeDocument/2006/math">
                              <m:r>
                                <a:rPr lang="en-US" sz="1400" kern="0">
                                  <a:effectLst/>
                                  <a:latin typeface="Cambria Math" panose="02040503050406030204" pitchFamily="18" charset="0"/>
                                </a:rPr>
                                <m:t>∨</m:t>
                              </m:r>
                            </m:oMath>
                          </a14:m>
                          <a:r>
                            <a:rPr lang="zh-CN" sz="1400" kern="0">
                              <a:effectLst/>
                              <a:latin typeface="SimSun" panose="02010600030101010101" pitchFamily="2" charset="-122"/>
                              <a:ea typeface="SimSun" panose="02010600030101010101" pitchFamily="2" charset="-122"/>
                              <a:cs typeface="Times New Roman" panose="02020603050405020304" pitchFamily="18" charset="0"/>
                            </a:rPr>
                            <a:t>的结合律</a:t>
                          </a:r>
                          <a:r>
                            <a:rPr lang="en-US" sz="1400" kern="0">
                              <a:effectLst/>
                              <a:latin typeface="SimSun" panose="02010600030101010101" pitchFamily="2" charset="-122"/>
                              <a:ea typeface="SimSun" panose="02010600030101010101" pitchFamily="2" charset="-122"/>
                              <a:cs typeface="Times New Roman" panose="02020603050405020304" pitchFamily="18" charset="0"/>
                            </a:rPr>
                            <a:t>)</a:t>
                          </a:r>
                          <a:endParaRPr lang="zh-CN" sz="1400" kern="100">
                            <a:effectLst/>
                            <a:latin typeface="SimSun" panose="02010600030101010101" pitchFamily="2" charset="-122"/>
                            <a:ea typeface="SimSun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T="34290" marB="34290" anchor="ctr"/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200000"/>
                            </a:lnSpc>
                            <a:spcBef>
                              <a:spcPts val="1000"/>
                            </a:spcBef>
                            <a:spcAft>
                              <a:spcPts val="300"/>
                            </a:spcAft>
                          </a:pPr>
                          <a14:m>
                            <m:oMath xmlns:m="http://schemas.openxmlformats.org/officeDocument/2006/math">
                              <m:r>
                                <a:rPr lang="en-US" sz="1400" kern="0">
                                  <a:effectLst/>
                                  <a:latin typeface="Cambria Math" panose="02040503050406030204" pitchFamily="18" charset="0"/>
                                </a:rPr>
                                <m:t>¬</m:t>
                              </m:r>
                              <m:d>
                                <m:dPr>
                                  <m:ctrlPr>
                                    <a:rPr lang="zh-CN" sz="1400" i="1" kern="0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400" kern="0">
                                      <a:effectLst/>
                                      <a:latin typeface="Cambria Math" panose="02040503050406030204" pitchFamily="18" charset="0"/>
                                    </a:rPr>
                                    <m:t>𝛼</m:t>
                                  </m:r>
                                  <m:r>
                                    <a:rPr lang="en-US" sz="1400" kern="0">
                                      <a:effectLst/>
                                      <a:latin typeface="Cambria Math" panose="02040503050406030204" pitchFamily="18" charset="0"/>
                                    </a:rPr>
                                    <m:t>∨</m:t>
                                  </m:r>
                                  <m:r>
                                    <a:rPr lang="en-US" sz="1400" kern="0">
                                      <a:effectLst/>
                                      <a:latin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</m:d>
                              <m:r>
                                <a:rPr lang="en-US" sz="1400" kern="0">
                                  <a:effectLst/>
                                  <a:latin typeface="Cambria Math" panose="02040503050406030204" pitchFamily="18" charset="0"/>
                                </a:rPr>
                                <m:t>≡(¬</m:t>
                              </m:r>
                              <m:r>
                                <a:rPr lang="en-US" sz="1400" kern="0">
                                  <a:effectLst/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  <m:r>
                                <a:rPr lang="en-US" sz="1400" kern="0">
                                  <a:effectLst/>
                                  <a:latin typeface="Cambria Math" panose="02040503050406030204" pitchFamily="18" charset="0"/>
                                </a:rPr>
                                <m:t>∧¬</m:t>
                              </m:r>
                              <m:r>
                                <a:rPr lang="en-US" sz="1400" kern="0">
                                  <a:effectLst/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  <m:r>
                                <a:rPr lang="en-US" sz="1400" kern="0">
                                  <a:effectLst/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oMath>
                          </a14:m>
                          <a:r>
                            <a:rPr lang="en-US" sz="1400" kern="0">
                              <a:effectLst/>
                              <a:latin typeface="SimSun" panose="02010600030101010101" pitchFamily="2" charset="-122"/>
                              <a:ea typeface="SimSun" panose="02010600030101010101" pitchFamily="2" charset="-122"/>
                              <a:cs typeface="Times New Roman" panose="02020603050405020304" pitchFamily="18" charset="0"/>
                            </a:rPr>
                            <a:t> (De Morgan</a:t>
                          </a:r>
                          <a:r>
                            <a:rPr lang="zh-CN" sz="1400" kern="0">
                              <a:effectLst/>
                              <a:latin typeface="SimSun" panose="02010600030101010101" pitchFamily="2" charset="-122"/>
                              <a:ea typeface="SimSun" panose="02010600030101010101" pitchFamily="2" charset="-122"/>
                              <a:cs typeface="Times New Roman" panose="02020603050405020304" pitchFamily="18" charset="0"/>
                            </a:rPr>
                            <a:t>定律</a:t>
                          </a:r>
                          <a:r>
                            <a:rPr lang="en-US" sz="1400" kern="0">
                              <a:effectLst/>
                              <a:latin typeface="SimSun" panose="02010600030101010101" pitchFamily="2" charset="-122"/>
                              <a:ea typeface="SimSun" panose="02010600030101010101" pitchFamily="2" charset="-122"/>
                              <a:cs typeface="Times New Roman" panose="02020603050405020304" pitchFamily="18" charset="0"/>
                            </a:rPr>
                            <a:t>)</a:t>
                          </a:r>
                          <a:endParaRPr lang="zh-CN" sz="1400" kern="100">
                            <a:effectLst/>
                            <a:latin typeface="SimSun" panose="02010600030101010101" pitchFamily="2" charset="-122"/>
                            <a:ea typeface="SimSun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T="34290" marB="34290" anchor="ctr"/>
                    </a:tc>
                    <a:extLst>
                      <a:ext uri="{0D108BD9-81ED-4DB2-BD59-A6C34878D82A}">
                        <a16:rowId xmlns:a16="http://schemas.microsoft.com/office/drawing/2014/main" val="1344717129"/>
                      </a:ext>
                    </a:extLst>
                  </a:tr>
                  <a:tr h="553463"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200000"/>
                            </a:lnSpc>
                            <a:spcBef>
                              <a:spcPts val="1000"/>
                            </a:spcBef>
                            <a:spcAft>
                              <a:spcPts val="300"/>
                            </a:spcAft>
                          </a:pPr>
                          <a14:m>
                            <m:oMath xmlns:m="http://schemas.openxmlformats.org/officeDocument/2006/math">
                              <m:r>
                                <a:rPr lang="en-US" sz="1400" kern="0">
                                  <a:effectLst/>
                                  <a:latin typeface="Cambria Math" panose="02040503050406030204" pitchFamily="18" charset="0"/>
                                </a:rPr>
                                <m:t>¬</m:t>
                              </m:r>
                              <m:d>
                                <m:dPr>
                                  <m:ctrlPr>
                                    <a:rPr lang="zh-CN" sz="1400" i="1" kern="0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400" kern="0">
                                      <a:effectLst/>
                                      <a:latin typeface="Cambria Math" panose="02040503050406030204" pitchFamily="18" charset="0"/>
                                    </a:rPr>
                                    <m:t>¬</m:t>
                                  </m:r>
                                  <m:r>
                                    <a:rPr lang="en-US" sz="1400" kern="0">
                                      <a:effectLst/>
                                      <a:latin typeface="Cambria Math" panose="02040503050406030204" pitchFamily="18" charset="0"/>
                                    </a:rPr>
                                    <m:t>𝛼</m:t>
                                  </m:r>
                                </m:e>
                              </m:d>
                              <m:r>
                                <a:rPr lang="en-US" sz="1400" kern="0">
                                  <a:effectLst/>
                                  <a:latin typeface="Cambria Math" panose="02040503050406030204" pitchFamily="18" charset="0"/>
                                </a:rPr>
                                <m:t>≡</m:t>
                              </m:r>
                              <m:r>
                                <a:rPr lang="en-US" sz="1400" kern="0">
                                  <a:effectLst/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oMath>
                          </a14:m>
                          <a:r>
                            <a:rPr lang="en-US" sz="1400" kern="0">
                              <a:effectLst/>
                              <a:latin typeface="SimSun" panose="02010600030101010101" pitchFamily="2" charset="-122"/>
                              <a:ea typeface="SimSun" panose="02010600030101010101" pitchFamily="2" charset="-122"/>
                              <a:cs typeface="Times New Roman" panose="02020603050405020304" pitchFamily="18" charset="0"/>
                            </a:rPr>
                            <a:t> (</a:t>
                          </a:r>
                          <a:r>
                            <a:rPr lang="zh-CN" sz="1400" kern="0">
                              <a:effectLst/>
                              <a:latin typeface="SimSun" panose="02010600030101010101" pitchFamily="2" charset="-122"/>
                              <a:ea typeface="SimSun" panose="02010600030101010101" pitchFamily="2" charset="-122"/>
                              <a:cs typeface="Times New Roman" panose="02020603050405020304" pitchFamily="18" charset="0"/>
                            </a:rPr>
                            <a:t>双重否定</a:t>
                          </a:r>
                          <a:r>
                            <a:rPr lang="en-US" sz="1400" kern="0">
                              <a:effectLst/>
                              <a:latin typeface="SimSun" panose="02010600030101010101" pitchFamily="2" charset="-122"/>
                              <a:ea typeface="SimSun" panose="02010600030101010101" pitchFamily="2" charset="-122"/>
                              <a:cs typeface="Times New Roman" panose="02020603050405020304" pitchFamily="18" charset="0"/>
                            </a:rPr>
                            <a:t>)</a:t>
                          </a:r>
                          <a:endParaRPr lang="zh-CN" sz="1400" kern="100">
                            <a:effectLst/>
                            <a:latin typeface="SimSun" panose="02010600030101010101" pitchFamily="2" charset="-122"/>
                            <a:ea typeface="SimSun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T="34290" marB="34290" anchor="ctr"/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200000"/>
                            </a:lnSpc>
                            <a:spcBef>
                              <a:spcPts val="1000"/>
                            </a:spcBef>
                            <a:spcAft>
                              <a:spcPts val="300"/>
                            </a:spcAft>
                          </a:pPr>
                          <a14:m>
                            <m:oMath xmlns:m="http://schemas.openxmlformats.org/officeDocument/2006/math">
                              <m:r>
                                <a:rPr lang="en-US" sz="1400" kern="0">
                                  <a:effectLst/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1400" kern="0">
                                  <a:effectLst/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  <m:r>
                                <a:rPr lang="en-US" sz="1400" kern="0">
                                  <a:effectLst/>
                                  <a:latin typeface="Cambria Math" panose="02040503050406030204" pitchFamily="18" charset="0"/>
                                </a:rPr>
                                <m:t>∧</m:t>
                              </m:r>
                              <m:d>
                                <m:dPr>
                                  <m:ctrlPr>
                                    <a:rPr lang="zh-CN" sz="1400" i="1" kern="0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400" kern="0">
                                      <a:effectLst/>
                                      <a:latin typeface="Cambria Math" panose="02040503050406030204" pitchFamily="18" charset="0"/>
                                    </a:rPr>
                                    <m:t>𝛽</m:t>
                                  </m:r>
                                  <m:r>
                                    <a:rPr lang="en-US" sz="1400" kern="0">
                                      <a:effectLst/>
                                      <a:latin typeface="Cambria Math" panose="02040503050406030204" pitchFamily="18" charset="0"/>
                                    </a:rPr>
                                    <m:t>∨</m:t>
                                  </m:r>
                                  <m:r>
                                    <a:rPr lang="en-US" sz="1400" kern="0">
                                      <a:effectLst/>
                                      <a:latin typeface="Cambria Math" panose="02040503050406030204" pitchFamily="18" charset="0"/>
                                    </a:rPr>
                                    <m:t>𝛾</m:t>
                                  </m:r>
                                </m:e>
                              </m:d>
                              <m:r>
                                <a:rPr lang="en-US" sz="1400" kern="0">
                                  <a:effectLst/>
                                  <a:latin typeface="Cambria Math" panose="02040503050406030204" pitchFamily="18" charset="0"/>
                                </a:rPr>
                                <m:t>)≡(</m:t>
                              </m:r>
                              <m:r>
                                <a:rPr lang="en-US" sz="1400" kern="0">
                                  <a:effectLst/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  <m:r>
                                <a:rPr lang="en-US" sz="1400" kern="0">
                                  <a:effectLst/>
                                  <a:latin typeface="Cambria Math" panose="02040503050406030204" pitchFamily="18" charset="0"/>
                                </a:rPr>
                                <m:t>∧</m:t>
                              </m:r>
                              <m:r>
                                <a:rPr lang="en-US" sz="1400" kern="0">
                                  <a:effectLst/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  <m:r>
                                <a:rPr lang="en-US" sz="1400" kern="0">
                                  <a:effectLst/>
                                  <a:latin typeface="Cambria Math" panose="02040503050406030204" pitchFamily="18" charset="0"/>
                                </a:rPr>
                                <m:t>)∨(</m:t>
                              </m:r>
                              <m:r>
                                <a:rPr lang="en-US" sz="1400" kern="0">
                                  <a:effectLst/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  <m:r>
                                <a:rPr lang="en-US" sz="1400" kern="0">
                                  <a:effectLst/>
                                  <a:latin typeface="Cambria Math" panose="02040503050406030204" pitchFamily="18" charset="0"/>
                                </a:rPr>
                                <m:t>∧</m:t>
                              </m:r>
                              <m:r>
                                <a:rPr lang="en-US" sz="1400" kern="0">
                                  <a:effectLst/>
                                  <a:latin typeface="Cambria Math" panose="02040503050406030204" pitchFamily="18" charset="0"/>
                                </a:rPr>
                                <m:t>𝛾</m:t>
                              </m:r>
                              <m:r>
                                <a:rPr lang="en-US" sz="1400" kern="0">
                                  <a:effectLst/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oMath>
                          </a14:m>
                          <a:r>
                            <a:rPr lang="en-US" sz="1400" kern="0">
                              <a:effectLst/>
                              <a:latin typeface="SimSun" panose="02010600030101010101" pitchFamily="2" charset="-122"/>
                              <a:ea typeface="SimSun" panose="02010600030101010101" pitchFamily="2" charset="-122"/>
                              <a:cs typeface="Times New Roman" panose="02020603050405020304" pitchFamily="18" charset="0"/>
                            </a:rPr>
                            <a:t> (</a:t>
                          </a:r>
                          <a14:m>
                            <m:oMath xmlns:m="http://schemas.openxmlformats.org/officeDocument/2006/math">
                              <m:r>
                                <a:rPr lang="en-US" sz="1400" kern="0">
                                  <a:effectLst/>
                                  <a:latin typeface="Cambria Math" panose="02040503050406030204" pitchFamily="18" charset="0"/>
                                </a:rPr>
                                <m:t>∧</m:t>
                              </m:r>
                            </m:oMath>
                          </a14:m>
                          <a:r>
                            <a:rPr lang="zh-CN" sz="1400" kern="0">
                              <a:effectLst/>
                              <a:latin typeface="SimSun" panose="02010600030101010101" pitchFamily="2" charset="-122"/>
                              <a:ea typeface="SimSun" panose="02010600030101010101" pitchFamily="2" charset="-122"/>
                              <a:cs typeface="Times New Roman" panose="02020603050405020304" pitchFamily="18" charset="0"/>
                            </a:rPr>
                            <a:t>对</a:t>
                          </a:r>
                          <a14:m>
                            <m:oMath xmlns:m="http://schemas.openxmlformats.org/officeDocument/2006/math">
                              <m:r>
                                <a:rPr lang="en-US" sz="1400" kern="0">
                                  <a:effectLst/>
                                  <a:latin typeface="Cambria Math" panose="02040503050406030204" pitchFamily="18" charset="0"/>
                                </a:rPr>
                                <m:t>∨</m:t>
                              </m:r>
                            </m:oMath>
                          </a14:m>
                          <a:r>
                            <a:rPr lang="zh-CN" sz="1400" kern="0">
                              <a:effectLst/>
                              <a:latin typeface="SimSun" panose="02010600030101010101" pitchFamily="2" charset="-122"/>
                              <a:ea typeface="SimSun" panose="02010600030101010101" pitchFamily="2" charset="-122"/>
                              <a:cs typeface="Times New Roman" panose="02020603050405020304" pitchFamily="18" charset="0"/>
                            </a:rPr>
                            <a:t>的分配律</a:t>
                          </a:r>
                          <a:r>
                            <a:rPr lang="en-US" sz="1400" kern="0">
                              <a:effectLst/>
                              <a:latin typeface="SimSun" panose="02010600030101010101" pitchFamily="2" charset="-122"/>
                              <a:ea typeface="SimSun" panose="02010600030101010101" pitchFamily="2" charset="-122"/>
                              <a:cs typeface="Times New Roman" panose="02020603050405020304" pitchFamily="18" charset="0"/>
                            </a:rPr>
                            <a:t>)</a:t>
                          </a:r>
                          <a:endParaRPr lang="zh-CN" sz="1400" kern="100">
                            <a:effectLst/>
                            <a:latin typeface="SimSun" panose="02010600030101010101" pitchFamily="2" charset="-122"/>
                            <a:ea typeface="SimSun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T="34290" marB="34290" anchor="ctr"/>
                    </a:tc>
                    <a:extLst>
                      <a:ext uri="{0D108BD9-81ED-4DB2-BD59-A6C34878D82A}">
                        <a16:rowId xmlns:a16="http://schemas.microsoft.com/office/drawing/2014/main" val="3149375750"/>
                      </a:ext>
                    </a:extLst>
                  </a:tr>
                  <a:tr h="553463"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200000"/>
                            </a:lnSpc>
                            <a:spcBef>
                              <a:spcPts val="1000"/>
                            </a:spcBef>
                            <a:spcAft>
                              <a:spcPts val="300"/>
                            </a:spcAft>
                          </a:pPr>
                          <a14:m>
                            <m:oMath xmlns:m="http://schemas.openxmlformats.org/officeDocument/2006/math">
                              <m:r>
                                <a:rPr lang="en-US" sz="1400" kern="0">
                                  <a:effectLst/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1400" kern="0">
                                  <a:effectLst/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  <m:r>
                                <a:rPr lang="en-US" sz="1400" kern="0">
                                  <a:effectLst/>
                                  <a:latin typeface="Cambria Math" panose="02040503050406030204" pitchFamily="18" charset="0"/>
                                </a:rPr>
                                <m:t>→</m:t>
                              </m:r>
                              <m:r>
                                <a:rPr lang="en-US" sz="1400" kern="0">
                                  <a:effectLst/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  <m:r>
                                <a:rPr lang="en-US" sz="1400" kern="0">
                                  <a:effectLst/>
                                  <a:latin typeface="Cambria Math" panose="02040503050406030204" pitchFamily="18" charset="0"/>
                                </a:rPr>
                                <m:t>)≡¬</m:t>
                              </m:r>
                              <m:r>
                                <a:rPr lang="en-US" sz="1400" kern="0">
                                  <a:effectLst/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  <m:r>
                                <a:rPr lang="en-US" sz="1400" kern="0">
                                  <a:effectLst/>
                                  <a:latin typeface="Cambria Math" panose="02040503050406030204" pitchFamily="18" charset="0"/>
                                </a:rPr>
                                <m:t>→¬</m:t>
                              </m:r>
                              <m:r>
                                <a:rPr lang="en-US" sz="1400" kern="0">
                                  <a:effectLst/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oMath>
                          </a14:m>
                          <a:r>
                            <a:rPr lang="en-US" sz="1400" kern="0">
                              <a:effectLst/>
                              <a:latin typeface="SimSun" panose="02010600030101010101" pitchFamily="2" charset="-122"/>
                              <a:ea typeface="SimSun" panose="02010600030101010101" pitchFamily="2" charset="-122"/>
                              <a:cs typeface="Times New Roman" panose="02020603050405020304" pitchFamily="18" charset="0"/>
                            </a:rPr>
                            <a:t> (</a:t>
                          </a:r>
                          <a:r>
                            <a:rPr lang="zh-CN" sz="1400" kern="0">
                              <a:effectLst/>
                              <a:latin typeface="SimSun" panose="02010600030101010101" pitchFamily="2" charset="-122"/>
                              <a:ea typeface="SimSun" panose="02010600030101010101" pitchFamily="2" charset="-122"/>
                              <a:cs typeface="Times New Roman" panose="02020603050405020304" pitchFamily="18" charset="0"/>
                            </a:rPr>
                            <a:t>逆否命题</a:t>
                          </a:r>
                          <a:r>
                            <a:rPr lang="en-US" sz="1400" kern="0">
                              <a:effectLst/>
                              <a:latin typeface="SimSun" panose="02010600030101010101" pitchFamily="2" charset="-122"/>
                              <a:ea typeface="SimSun" panose="02010600030101010101" pitchFamily="2" charset="-122"/>
                              <a:cs typeface="Times New Roman" panose="02020603050405020304" pitchFamily="18" charset="0"/>
                            </a:rPr>
                            <a:t>)</a:t>
                          </a:r>
                          <a:endParaRPr lang="zh-CN" sz="1400" kern="100">
                            <a:effectLst/>
                            <a:latin typeface="SimSun" panose="02010600030101010101" pitchFamily="2" charset="-122"/>
                            <a:ea typeface="SimSun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T="34290" marB="34290" anchor="ctr"/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200000"/>
                            </a:lnSpc>
                            <a:spcBef>
                              <a:spcPts val="1000"/>
                            </a:spcBef>
                            <a:spcAft>
                              <a:spcPts val="300"/>
                            </a:spcAft>
                          </a:pPr>
                          <a14:m>
                            <m:oMath xmlns:m="http://schemas.openxmlformats.org/officeDocument/2006/math">
                              <m:r>
                                <a:rPr lang="en-US" sz="1400" kern="0">
                                  <a:effectLst/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1400" kern="0">
                                  <a:effectLst/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  <m:r>
                                <a:rPr lang="en-US" sz="1400" kern="0">
                                  <a:effectLst/>
                                  <a:latin typeface="Cambria Math" panose="02040503050406030204" pitchFamily="18" charset="0"/>
                                </a:rPr>
                                <m:t>∨</m:t>
                              </m:r>
                              <m:d>
                                <m:dPr>
                                  <m:ctrlPr>
                                    <a:rPr lang="zh-CN" sz="1400" i="1" kern="0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400" kern="0">
                                      <a:effectLst/>
                                      <a:latin typeface="Cambria Math" panose="02040503050406030204" pitchFamily="18" charset="0"/>
                                    </a:rPr>
                                    <m:t>𝛽</m:t>
                                  </m:r>
                                  <m:r>
                                    <a:rPr lang="en-US" sz="1400" kern="0">
                                      <a:effectLst/>
                                      <a:latin typeface="Cambria Math" panose="02040503050406030204" pitchFamily="18" charset="0"/>
                                    </a:rPr>
                                    <m:t>∧</m:t>
                                  </m:r>
                                  <m:r>
                                    <a:rPr lang="en-US" sz="1400" kern="0">
                                      <a:effectLst/>
                                      <a:latin typeface="Cambria Math" panose="02040503050406030204" pitchFamily="18" charset="0"/>
                                    </a:rPr>
                                    <m:t>𝛾</m:t>
                                  </m:r>
                                </m:e>
                              </m:d>
                              <m:r>
                                <a:rPr lang="en-US" sz="1400" kern="0">
                                  <a:effectLst/>
                                  <a:latin typeface="Cambria Math" panose="02040503050406030204" pitchFamily="18" charset="0"/>
                                </a:rPr>
                                <m:t>)≡(</m:t>
                              </m:r>
                              <m:r>
                                <a:rPr lang="en-US" sz="1400" kern="0">
                                  <a:effectLst/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  <m:r>
                                <a:rPr lang="en-US" sz="1400" kern="0">
                                  <a:effectLst/>
                                  <a:latin typeface="Cambria Math" panose="02040503050406030204" pitchFamily="18" charset="0"/>
                                </a:rPr>
                                <m:t>∨</m:t>
                              </m:r>
                              <m:r>
                                <a:rPr lang="en-US" sz="1400" kern="0">
                                  <a:effectLst/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  <m:r>
                                <a:rPr lang="en-US" sz="1400" kern="0">
                                  <a:effectLst/>
                                  <a:latin typeface="Cambria Math" panose="02040503050406030204" pitchFamily="18" charset="0"/>
                                </a:rPr>
                                <m:t>)∧(</m:t>
                              </m:r>
                              <m:r>
                                <a:rPr lang="en-US" sz="1400" kern="0">
                                  <a:effectLst/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  <m:r>
                                <a:rPr lang="en-US" sz="1400" kern="0">
                                  <a:effectLst/>
                                  <a:latin typeface="Cambria Math" panose="02040503050406030204" pitchFamily="18" charset="0"/>
                                </a:rPr>
                                <m:t>∨</m:t>
                              </m:r>
                              <m:r>
                                <a:rPr lang="en-US" sz="1400" kern="0">
                                  <a:effectLst/>
                                  <a:latin typeface="Cambria Math" panose="02040503050406030204" pitchFamily="18" charset="0"/>
                                </a:rPr>
                                <m:t>𝛾</m:t>
                              </m:r>
                              <m:r>
                                <a:rPr lang="en-US" sz="1400" kern="0">
                                  <a:effectLst/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oMath>
                          </a14:m>
                          <a:r>
                            <a:rPr lang="en-US" sz="1400" kern="0" dirty="0">
                              <a:effectLst/>
                              <a:latin typeface="SimSun" panose="02010600030101010101" pitchFamily="2" charset="-122"/>
                              <a:ea typeface="SimSun" panose="02010600030101010101" pitchFamily="2" charset="-122"/>
                              <a:cs typeface="Times New Roman" panose="02020603050405020304" pitchFamily="18" charset="0"/>
                            </a:rPr>
                            <a:t> (</a:t>
                          </a:r>
                          <a14:m>
                            <m:oMath xmlns:m="http://schemas.openxmlformats.org/officeDocument/2006/math">
                              <m:r>
                                <a:rPr lang="en-US" sz="1400" kern="0">
                                  <a:effectLst/>
                                  <a:latin typeface="Cambria Math" panose="02040503050406030204" pitchFamily="18" charset="0"/>
                                </a:rPr>
                                <m:t>∨</m:t>
                              </m:r>
                            </m:oMath>
                          </a14:m>
                          <a:r>
                            <a:rPr lang="zh-CN" sz="1400" kern="0" dirty="0">
                              <a:effectLst/>
                              <a:latin typeface="SimSun" panose="02010600030101010101" pitchFamily="2" charset="-122"/>
                              <a:ea typeface="SimSun" panose="02010600030101010101" pitchFamily="2" charset="-122"/>
                              <a:cs typeface="Times New Roman" panose="02020603050405020304" pitchFamily="18" charset="0"/>
                            </a:rPr>
                            <a:t>对</a:t>
                          </a:r>
                          <a14:m>
                            <m:oMath xmlns:m="http://schemas.openxmlformats.org/officeDocument/2006/math">
                              <m:r>
                                <a:rPr lang="en-US" sz="1400" kern="0">
                                  <a:effectLst/>
                                  <a:latin typeface="Cambria Math" panose="02040503050406030204" pitchFamily="18" charset="0"/>
                                </a:rPr>
                                <m:t>∧</m:t>
                              </m:r>
                            </m:oMath>
                          </a14:m>
                          <a:r>
                            <a:rPr lang="zh-CN" sz="1400" kern="0" dirty="0">
                              <a:effectLst/>
                              <a:latin typeface="SimSun" panose="02010600030101010101" pitchFamily="2" charset="-122"/>
                              <a:ea typeface="SimSun" panose="02010600030101010101" pitchFamily="2" charset="-122"/>
                              <a:cs typeface="Times New Roman" panose="02020603050405020304" pitchFamily="18" charset="0"/>
                            </a:rPr>
                            <a:t>的分配律</a:t>
                          </a:r>
                          <a:r>
                            <a:rPr lang="en-US" sz="1400" kern="0" dirty="0">
                              <a:effectLst/>
                              <a:latin typeface="SimSun" panose="02010600030101010101" pitchFamily="2" charset="-122"/>
                              <a:ea typeface="SimSun" panose="02010600030101010101" pitchFamily="2" charset="-122"/>
                              <a:cs typeface="Times New Roman" panose="02020603050405020304" pitchFamily="18" charset="0"/>
                            </a:rPr>
                            <a:t>)</a:t>
                          </a:r>
                          <a:endParaRPr lang="zh-CN" sz="1400" kern="100" dirty="0">
                            <a:effectLst/>
                            <a:latin typeface="SimSun" panose="02010600030101010101" pitchFamily="2" charset="-122"/>
                            <a:ea typeface="SimSun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T="34290" marB="34290" anchor="ctr"/>
                    </a:tc>
                    <a:extLst>
                      <a:ext uri="{0D108BD9-81ED-4DB2-BD59-A6C34878D82A}">
                        <a16:rowId xmlns:a16="http://schemas.microsoft.com/office/drawing/2014/main" val="116543104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9" name="表格 8">
                <a:extLst>
                  <a:ext uri="{FF2B5EF4-FFF2-40B4-BE49-F238E27FC236}">
                    <a16:creationId xmlns:a16="http://schemas.microsoft.com/office/drawing/2014/main" id="{58B90A18-EB8D-4EF7-92B6-1327D245D3F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799583352"/>
                  </p:ext>
                </p:extLst>
              </p:nvPr>
            </p:nvGraphicFramePr>
            <p:xfrm>
              <a:off x="4210494" y="2325108"/>
              <a:ext cx="7724552" cy="332077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442059">
                      <a:extLst>
                        <a:ext uri="{9D8B030D-6E8A-4147-A177-3AD203B41FA5}">
                          <a16:colId xmlns:a16="http://schemas.microsoft.com/office/drawing/2014/main" val="3604322212"/>
                        </a:ext>
                      </a:extLst>
                    </a:gridCol>
                    <a:gridCol w="4282493">
                      <a:extLst>
                        <a:ext uri="{9D8B030D-6E8A-4147-A177-3AD203B41FA5}">
                          <a16:colId xmlns:a16="http://schemas.microsoft.com/office/drawing/2014/main" val="2958094604"/>
                        </a:ext>
                      </a:extLst>
                    </a:gridCol>
                  </a:tblGrid>
                  <a:tr h="553463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T="34290" marB="34290" anchor="ctr">
                        <a:blipFill>
                          <a:blip r:embed="rId5"/>
                          <a:stretch>
                            <a:fillRect l="-369" t="-2273" r="-125830" b="-49772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T="34290" marB="34290" anchor="ctr">
                        <a:blipFill>
                          <a:blip r:embed="rId5"/>
                          <a:stretch>
                            <a:fillRect l="-80473" t="-2273" r="-888" b="-49772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8095847"/>
                      </a:ext>
                    </a:extLst>
                  </a:tr>
                  <a:tr h="553463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T="34290" marB="34290" anchor="ctr">
                        <a:blipFill>
                          <a:blip r:embed="rId5"/>
                          <a:stretch>
                            <a:fillRect l="-369" t="-104651" r="-125830" b="-40930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T="34290" marB="34290" anchor="ctr">
                        <a:blipFill>
                          <a:blip r:embed="rId5"/>
                          <a:stretch>
                            <a:fillRect l="-80473" t="-104651" r="-888" b="-40930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71866772"/>
                      </a:ext>
                    </a:extLst>
                  </a:tr>
                  <a:tr h="553463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T="34290" marB="34290" anchor="ctr">
                        <a:blipFill>
                          <a:blip r:embed="rId5"/>
                          <a:stretch>
                            <a:fillRect l="-369" t="-200000" r="-125830" b="-3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T="34290" marB="34290" anchor="ctr">
                        <a:blipFill>
                          <a:blip r:embed="rId5"/>
                          <a:stretch>
                            <a:fillRect l="-80473" t="-200000" r="-888" b="-30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95828156"/>
                      </a:ext>
                    </a:extLst>
                  </a:tr>
                  <a:tr h="553463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T="34290" marB="34290" anchor="ctr">
                        <a:blipFill>
                          <a:blip r:embed="rId5"/>
                          <a:stretch>
                            <a:fillRect l="-369" t="-300000" r="-125830" b="-2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T="34290" marB="34290" anchor="ctr">
                        <a:blipFill>
                          <a:blip r:embed="rId5"/>
                          <a:stretch>
                            <a:fillRect l="-80473" t="-300000" r="-888" b="-20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344717129"/>
                      </a:ext>
                    </a:extLst>
                  </a:tr>
                  <a:tr h="553463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T="34290" marB="34290" anchor="ctr">
                        <a:blipFill>
                          <a:blip r:embed="rId5"/>
                          <a:stretch>
                            <a:fillRect l="-369" t="-409302" r="-125830" b="-1046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T="34290" marB="34290" anchor="ctr">
                        <a:blipFill>
                          <a:blip r:embed="rId5"/>
                          <a:stretch>
                            <a:fillRect l="-80473" t="-409302" r="-888" b="-1046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49375750"/>
                      </a:ext>
                    </a:extLst>
                  </a:tr>
                  <a:tr h="553463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T="34290" marB="34290" anchor="ctr">
                        <a:blipFill>
                          <a:blip r:embed="rId5"/>
                          <a:stretch>
                            <a:fillRect l="-369" t="-497727" r="-125830" b="-227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T="34290" marB="34290" anchor="ctr">
                        <a:blipFill>
                          <a:blip r:embed="rId5"/>
                          <a:stretch>
                            <a:fillRect l="-80473" t="-497727" r="-888" b="-227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65431041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2" name="Rectangle 1">
            <a:extLst>
              <a:ext uri="{FF2B5EF4-FFF2-40B4-BE49-F238E27FC236}">
                <a16:creationId xmlns:a16="http://schemas.microsoft.com/office/drawing/2014/main" id="{D3EB26C9-A387-4185-A41F-0B7F9DA11F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3030538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86E021EC-9749-4C0A-91F7-A5F36D64F94A}"/>
              </a:ext>
            </a:extLst>
          </p:cNvPr>
          <p:cNvSpPr/>
          <p:nvPr/>
        </p:nvSpPr>
        <p:spPr>
          <a:xfrm>
            <a:off x="6788405" y="5812896"/>
            <a:ext cx="249299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sz="2000" b="1" dirty="0">
                <a:solidFill>
                  <a:schemeClr val="accent1">
                    <a:lumMod val="75000"/>
                  </a:schemeClr>
                </a:solidFill>
                <a:latin typeface="宋体" panose="02010600030101010101" pitchFamily="2" charset="-122"/>
              </a:rPr>
              <a:t>一些逻辑等价的例子</a:t>
            </a:r>
            <a:endParaRPr lang="zh-CN" altLang="en-US" sz="2000" b="1" dirty="0">
              <a:solidFill>
                <a:schemeClr val="accent1">
                  <a:lumMod val="75000"/>
                </a:schemeClr>
              </a:solidFill>
              <a:latin typeface="宋体" panose="02010600030101010101" pitchFamily="2" charset="-122"/>
            </a:endParaRPr>
          </a:p>
        </p:txBody>
      </p:sp>
      <p:sp>
        <p:nvSpPr>
          <p:cNvPr id="6" name="标题 1">
            <a:extLst>
              <a:ext uri="{FF2B5EF4-FFF2-40B4-BE49-F238E27FC236}">
                <a16:creationId xmlns:a16="http://schemas.microsoft.com/office/drawing/2014/main" id="{4F81C5F6-A77E-F237-1F7D-091B986E4E42}"/>
              </a:ext>
            </a:extLst>
          </p:cNvPr>
          <p:cNvSpPr txBox="1">
            <a:spLocks/>
          </p:cNvSpPr>
          <p:nvPr/>
        </p:nvSpPr>
        <p:spPr>
          <a:xfrm>
            <a:off x="385815" y="47495"/>
            <a:ext cx="4080309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zh-CN" altLang="en-US" sz="3200" dirty="0">
                <a:solidFill>
                  <a:srgbClr val="FF0000"/>
                </a:solidFill>
                <a:latin typeface=".AppleSystemUIFont"/>
              </a:rPr>
              <a:t>命题逻辑</a:t>
            </a:r>
          </a:p>
        </p:txBody>
      </p:sp>
    </p:spTree>
    <p:extLst>
      <p:ext uri="{BB962C8B-B14F-4D97-AF65-F5344CB8AC3E}">
        <p14:creationId xmlns:p14="http://schemas.microsoft.com/office/powerpoint/2010/main" val="355992774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>
            <a:extLst>
              <a:ext uri="{FF2B5EF4-FFF2-40B4-BE49-F238E27FC236}">
                <a16:creationId xmlns:a16="http://schemas.microsoft.com/office/drawing/2014/main" id="{FB3C5D3D-CF37-434E-9C0E-CF10582CDC0F}"/>
              </a:ext>
            </a:extLst>
          </p:cNvPr>
          <p:cNvSpPr/>
          <p:nvPr/>
        </p:nvSpPr>
        <p:spPr>
          <a:xfrm>
            <a:off x="8938903" y="3577856"/>
            <a:ext cx="295465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spcBef>
                <a:spcPts val="1000"/>
              </a:spcBef>
              <a:spcAft>
                <a:spcPts val="300"/>
              </a:spcAft>
            </a:pPr>
            <a:r>
              <a:rPr lang="zh-CN" altLang="zh-CN" sz="2400" b="1" dirty="0">
                <a:solidFill>
                  <a:schemeClr val="accent1">
                    <a:lumMod val="75000"/>
                  </a:schemeClr>
                </a:solidFill>
                <a:latin typeface="宋体" panose="02010600030101010101" pitchFamily="2" charset="-122"/>
              </a:rPr>
              <a:t>若干逻辑等价的解释</a:t>
            </a:r>
          </a:p>
        </p:txBody>
      </p:sp>
      <p:sp>
        <p:nvSpPr>
          <p:cNvPr id="48" name="右大括号 47">
            <a:extLst>
              <a:ext uri="{FF2B5EF4-FFF2-40B4-BE49-F238E27FC236}">
                <a16:creationId xmlns:a16="http://schemas.microsoft.com/office/drawing/2014/main" id="{BA4FD9D7-787B-4BE2-8FD7-060F17C208C6}"/>
              </a:ext>
            </a:extLst>
          </p:cNvPr>
          <p:cNvSpPr/>
          <p:nvPr/>
        </p:nvSpPr>
        <p:spPr>
          <a:xfrm>
            <a:off x="7332713" y="2264735"/>
            <a:ext cx="1677524" cy="3051545"/>
          </a:xfrm>
          <a:prstGeom prst="rightBrac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0E4A4079-97F6-4D77-B565-7F35F72FFB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7191" y="1183886"/>
            <a:ext cx="7065147" cy="4978799"/>
          </a:xfrm>
          <a:prstGeom prst="rect">
            <a:avLst/>
          </a:prstGeom>
        </p:spPr>
      </p:pic>
      <p:sp>
        <p:nvSpPr>
          <p:cNvPr id="3" name="标题 1">
            <a:extLst>
              <a:ext uri="{FF2B5EF4-FFF2-40B4-BE49-F238E27FC236}">
                <a16:creationId xmlns:a16="http://schemas.microsoft.com/office/drawing/2014/main" id="{4353BFED-0AC5-ABB5-C0EA-F6132D6431D3}"/>
              </a:ext>
            </a:extLst>
          </p:cNvPr>
          <p:cNvSpPr txBox="1">
            <a:spLocks/>
          </p:cNvSpPr>
          <p:nvPr/>
        </p:nvSpPr>
        <p:spPr>
          <a:xfrm>
            <a:off x="385815" y="47495"/>
            <a:ext cx="4080309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zh-CN" altLang="en-US" sz="3200" dirty="0">
                <a:solidFill>
                  <a:srgbClr val="FF0000"/>
                </a:solidFill>
                <a:latin typeface=".AppleSystemUIFont"/>
              </a:rPr>
              <a:t>命题逻辑</a:t>
            </a:r>
          </a:p>
        </p:txBody>
      </p:sp>
    </p:spTree>
    <p:extLst>
      <p:ext uri="{BB962C8B-B14F-4D97-AF65-F5344CB8AC3E}">
        <p14:creationId xmlns:p14="http://schemas.microsoft.com/office/powerpoint/2010/main" val="257638358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圆角矩形 11"/>
          <p:cNvSpPr/>
          <p:nvPr/>
        </p:nvSpPr>
        <p:spPr>
          <a:xfrm>
            <a:off x="732976" y="1051274"/>
            <a:ext cx="10913053" cy="2017675"/>
          </a:xfrm>
          <a:prstGeom prst="roundRect">
            <a:avLst>
              <a:gd name="adj" fmla="val 0"/>
            </a:avLst>
          </a:prstGeom>
          <a:solidFill>
            <a:srgbClr val="014D53">
              <a:alpha val="39000"/>
            </a:srgbClr>
          </a:solidFill>
          <a:ln>
            <a:noFill/>
          </a:ln>
          <a:effectLst>
            <a:outerShdw blurRad="381000" dist="381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矩形: 圆角 6"/>
              <p:cNvSpPr/>
              <p:nvPr/>
            </p:nvSpPr>
            <p:spPr>
              <a:xfrm>
                <a:off x="1216184" y="3588487"/>
                <a:ext cx="3648212" cy="1552355"/>
              </a:xfrm>
              <a:prstGeom prst="roundRect">
                <a:avLst>
                  <a:gd name="adj" fmla="val 0"/>
                </a:avLst>
              </a:prstGeom>
              <a:gradFill>
                <a:gsLst>
                  <a:gs pos="22000">
                    <a:srgbClr val="016773"/>
                  </a:gs>
                  <a:gs pos="100000">
                    <a:srgbClr val="00ABA5"/>
                  </a:gs>
                </a:gsLst>
                <a:lin ang="3000000" scaled="0"/>
              </a:gra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zh-CN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zh-CN" altLang="zh-CN" dirty="0">
                    <a:solidFill>
                      <a:schemeClr val="bg1"/>
                    </a:solidFill>
                    <a:latin typeface="SimSun" panose="02010600030101010101" pitchFamily="2" charset="-122"/>
                    <a:ea typeface="SimSun" panose="02010600030101010101" pitchFamily="2" charset="-122"/>
                    <a:cs typeface="Times New Roman" panose="02020603050405020304" pitchFamily="18" charset="0"/>
                  </a:rPr>
                  <a:t>：所有的人都是要死的</a:t>
                </a:r>
              </a:p>
              <a:p>
                <a:pPr algn="ctr"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zh-CN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𝛽</m:t>
                    </m:r>
                  </m:oMath>
                </a14:m>
                <a:r>
                  <a:rPr lang="zh-CN" altLang="zh-CN" dirty="0">
                    <a:solidFill>
                      <a:schemeClr val="bg1"/>
                    </a:solidFill>
                    <a:latin typeface="SimSun" panose="02010600030101010101" pitchFamily="2" charset="-122"/>
                    <a:ea typeface="SimSun" panose="02010600030101010101" pitchFamily="2" charset="-122"/>
                    <a:cs typeface="Times New Roman" panose="02020603050405020304" pitchFamily="18" charset="0"/>
                  </a:rPr>
                  <a:t>：苏格拉底是人</a:t>
                </a:r>
              </a:p>
              <a:p>
                <a:pPr algn="ctr"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zh-CN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𝛾</m:t>
                    </m:r>
                  </m:oMath>
                </a14:m>
                <a:r>
                  <a:rPr lang="zh-CN" altLang="zh-CN" dirty="0">
                    <a:solidFill>
                      <a:schemeClr val="bg1"/>
                    </a:solidFill>
                    <a:latin typeface="SimSun" panose="02010600030101010101" pitchFamily="2" charset="-122"/>
                    <a:ea typeface="SimSun" panose="02010600030101010101" pitchFamily="2" charset="-122"/>
                    <a:cs typeface="Times New Roman" panose="02020603050405020304" pitchFamily="18" charset="0"/>
                  </a:rPr>
                  <a:t>：所以苏格拉底是要死的</a:t>
                </a:r>
              </a:p>
            </p:txBody>
          </p:sp>
        </mc:Choice>
        <mc:Fallback xmlns="">
          <p:sp>
            <p:nvSpPr>
              <p:cNvPr id="11" name="矩形: 圆角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16184" y="3588487"/>
                <a:ext cx="3648212" cy="1552355"/>
              </a:xfrm>
              <a:prstGeom prst="roundRect">
                <a:avLst>
                  <a:gd name="adj" fmla="val 0"/>
                </a:avLst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矩形 1"/>
          <p:cNvSpPr/>
          <p:nvPr/>
        </p:nvSpPr>
        <p:spPr>
          <a:xfrm>
            <a:off x="732976" y="1092692"/>
            <a:ext cx="10707908" cy="18278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2400" b="1" dirty="0">
                <a:solidFill>
                  <a:schemeClr val="accent1">
                    <a:lumMod val="75000"/>
                  </a:schemeClr>
                </a:solidFill>
                <a:latin typeface="宋体" panose="02010600030101010101" pitchFamily="2" charset="-122"/>
              </a:rPr>
              <a:t>为什么要从命题逻辑到谓词逻辑</a:t>
            </a:r>
            <a:endParaRPr lang="en-US" altLang="zh-CN" sz="2400" b="1" dirty="0">
              <a:solidFill>
                <a:schemeClr val="accent1">
                  <a:lumMod val="75000"/>
                </a:schemeClr>
              </a:solidFill>
              <a:latin typeface="宋体" panose="02010600030101010101" pitchFamily="2" charset="-122"/>
            </a:endParaRPr>
          </a:p>
          <a:p>
            <a:pPr algn="ctr">
              <a:lnSpc>
                <a:spcPct val="150000"/>
              </a:lnSpc>
            </a:pPr>
            <a:r>
              <a:rPr lang="zh-CN" altLang="zh-CN" dirty="0">
                <a:latin typeface="SimSun" panose="02010600030101010101" pitchFamily="2" charset="-122"/>
                <a:ea typeface="SimSun" panose="02010600030101010101" pitchFamily="2" charset="-122"/>
                <a:cs typeface="Times New Roman" panose="02020603050405020304" pitchFamily="18" charset="0"/>
              </a:rPr>
              <a:t>在命题逻辑中，原子命题是最基本的单位。由原子命题出发，通过使用命题联结词，构成复合命题。命题逻辑只能把复合命题分解为简单命题（即原子命题），无法对原子命题所包含的丰富语义（如个体、部分或全体等）进行刻画。因此，命题逻辑无法表达局部与整体、一般与个别的关系</a:t>
            </a:r>
            <a:endParaRPr lang="en-US" altLang="zh-CN" dirty="0">
              <a:latin typeface="SimSun" panose="02010600030101010101" pitchFamily="2" charset="-122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0BE4FC0-9D4B-49F5-A88C-382F623F0A92}"/>
              </a:ext>
            </a:extLst>
          </p:cNvPr>
          <p:cNvSpPr/>
          <p:nvPr/>
        </p:nvSpPr>
        <p:spPr>
          <a:xfrm>
            <a:off x="2016618" y="5365529"/>
            <a:ext cx="180049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b="1" dirty="0">
                <a:solidFill>
                  <a:schemeClr val="accent1">
                    <a:lumMod val="75000"/>
                  </a:schemeClr>
                </a:solidFill>
                <a:latin typeface="宋体" panose="02010600030101010101" pitchFamily="2" charset="-122"/>
              </a:rPr>
              <a:t>苏格拉底三段论</a:t>
            </a:r>
            <a:endParaRPr lang="zh-CN" altLang="en-US" b="1" dirty="0">
              <a:solidFill>
                <a:schemeClr val="accent1">
                  <a:lumMod val="75000"/>
                </a:schemeClr>
              </a:solidFill>
              <a:latin typeface="宋体" panose="02010600030101010101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89EC8B3A-982A-4DEF-BA02-C43A20939E2A}"/>
              </a:ext>
            </a:extLst>
          </p:cNvPr>
          <p:cNvSpPr/>
          <p:nvPr/>
        </p:nvSpPr>
        <p:spPr>
          <a:xfrm>
            <a:off x="6592583" y="6031233"/>
            <a:ext cx="410881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宋体" panose="02010600030101010101" pitchFamily="2" charset="-122"/>
              </a:rPr>
              <a:t>无法用命题逻辑来表示</a:t>
            </a:r>
            <a:r>
              <a:rPr lang="zh-CN" altLang="zh-CN" b="1" dirty="0">
                <a:solidFill>
                  <a:schemeClr val="accent1">
                    <a:lumMod val="75000"/>
                  </a:schemeClr>
                </a:solidFill>
                <a:latin typeface="宋体" panose="02010600030101010101" pitchFamily="2" charset="-122"/>
              </a:rPr>
              <a:t>苏格拉底三段论</a:t>
            </a:r>
            <a:endParaRPr lang="zh-CN" altLang="en-US" b="1" dirty="0">
              <a:solidFill>
                <a:schemeClr val="accent1">
                  <a:lumMod val="75000"/>
                </a:schemeClr>
              </a:solidFill>
              <a:latin typeface="宋体" panose="02010600030101010101" pitchFamily="2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矩形 3">
                <a:extLst>
                  <a:ext uri="{FF2B5EF4-FFF2-40B4-BE49-F238E27FC236}">
                    <a16:creationId xmlns:a16="http://schemas.microsoft.com/office/drawing/2014/main" id="{A3E30BE4-A6DD-410B-BBAE-3DCE73AB85ED}"/>
                  </a:ext>
                </a:extLst>
              </p:cNvPr>
              <p:cNvSpPr/>
              <p:nvPr/>
            </p:nvSpPr>
            <p:spPr>
              <a:xfrm>
                <a:off x="5328347" y="3511487"/>
                <a:ext cx="6560287" cy="2332946"/>
              </a:xfrm>
              <a:prstGeom prst="rect">
                <a:avLst/>
              </a:prstGeom>
              <a:ln>
                <a:solidFill>
                  <a:schemeClr val="accent1">
                    <a:shade val="50000"/>
                  </a:schemeClr>
                </a:solidFill>
                <a:prstDash val="sysDash"/>
              </a:ln>
            </p:spPr>
            <p:txBody>
              <a:bodyPr wrap="square">
                <a:spAutoFit/>
              </a:bodyPr>
              <a:lstStyle/>
              <a:p>
                <a:pPr indent="266700" algn="just">
                  <a:lnSpc>
                    <a:spcPts val="2200"/>
                  </a:lnSpc>
                  <a:spcAft>
                    <a:spcPts val="0"/>
                  </a:spcAft>
                </a:pPr>
                <a:endParaRPr lang="en-US" altLang="zh-CN" dirty="0">
                  <a:solidFill>
                    <a:srgbClr val="000000"/>
                  </a:solidFill>
                  <a:latin typeface="SimSun" panose="02010600030101010101" pitchFamily="2" charset="-122"/>
                  <a:ea typeface="SimSun" panose="02010600030101010101" pitchFamily="2" charset="-122"/>
                  <a:cs typeface="Times New Roman" panose="02020603050405020304" pitchFamily="18" charset="0"/>
                </a:endParaRPr>
              </a:p>
              <a:p>
                <a:pPr indent="266700" algn="just">
                  <a:lnSpc>
                    <a:spcPts val="2200"/>
                  </a:lnSpc>
                  <a:spcAft>
                    <a:spcPts val="0"/>
                  </a:spcAft>
                </a:pPr>
                <a:r>
                  <a:rPr lang="zh-CN" altLang="zh-CN" dirty="0">
                    <a:solidFill>
                      <a:srgbClr val="000000"/>
                    </a:solidFill>
                    <a:latin typeface="SimSun" panose="02010600030101010101" pitchFamily="2" charset="-122"/>
                    <a:ea typeface="SimSun" panose="02010600030101010101" pitchFamily="2" charset="-122"/>
                    <a:cs typeface="Times New Roman" panose="02020603050405020304" pitchFamily="18" charset="0"/>
                  </a:rPr>
                  <a:t>虽然苏格拉底</a:t>
                </a:r>
                <a:r>
                  <a:rPr lang="zh-CN" altLang="en-US" dirty="0">
                    <a:solidFill>
                      <a:srgbClr val="000000"/>
                    </a:solidFill>
                    <a:latin typeface="SimSun" panose="02010600030101010101" pitchFamily="2" charset="-122"/>
                    <a:ea typeface="SimSun" panose="02010600030101010101" pitchFamily="2" charset="-122"/>
                    <a:cs typeface="Times New Roman" panose="02020603050405020304" pitchFamily="18" charset="0"/>
                  </a:rPr>
                  <a:t>三段论</a:t>
                </a:r>
                <a:r>
                  <a:rPr lang="zh-CN" altLang="zh-CN" dirty="0">
                    <a:solidFill>
                      <a:srgbClr val="000000"/>
                    </a:solidFill>
                    <a:latin typeface="SimSun" panose="02010600030101010101" pitchFamily="2" charset="-122"/>
                    <a:ea typeface="SimSun" panose="02010600030101010101" pitchFamily="2" charset="-122"/>
                    <a:cs typeface="Times New Roman" panose="02020603050405020304" pitchFamily="18" charset="0"/>
                  </a:rPr>
                  <a:t>是正确的，但无法通过命题逻辑来进行推理判断（</a:t>
                </a:r>
                <a14:m>
                  <m:oMath xmlns:m="http://schemas.openxmlformats.org/officeDocument/2006/math">
                    <m:r>
                      <a:rPr lang="en-US" altLang="zh-CN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楷体_GB2312"/>
                        <a:cs typeface="Times New Roman" panose="02020603050405020304" pitchFamily="18" charset="0"/>
                      </a:rPr>
                      <m:t>𝛼</m:t>
                    </m:r>
                    <m:r>
                      <a:rPr lang="en-US" altLang="zh-CN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楷体_GB2312"/>
                        <a:cs typeface="Times New Roman" panose="02020603050405020304" pitchFamily="18" charset="0"/>
                      </a:rPr>
                      <m:t>∧</m:t>
                    </m:r>
                    <m:r>
                      <a:rPr lang="en-US" altLang="zh-CN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楷体_GB2312"/>
                        <a:cs typeface="Times New Roman" panose="02020603050405020304" pitchFamily="18" charset="0"/>
                      </a:rPr>
                      <m:t>𝛽</m:t>
                    </m:r>
                    <m:r>
                      <a:rPr lang="en-US" altLang="zh-CN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楷体_GB2312"/>
                        <a:cs typeface="Times New Roman" panose="02020603050405020304" pitchFamily="18" charset="0"/>
                      </a:rPr>
                      <m:t>→</m:t>
                    </m:r>
                    <m:r>
                      <a:rPr lang="en-US" altLang="zh-CN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楷体_GB2312"/>
                        <a:cs typeface="Times New Roman" panose="02020603050405020304" pitchFamily="18" charset="0"/>
                      </a:rPr>
                      <m:t>𝛾</m:t>
                    </m:r>
                  </m:oMath>
                </a14:m>
                <a:r>
                  <a:rPr lang="zh-CN" altLang="zh-CN" dirty="0">
                    <a:solidFill>
                      <a:srgbClr val="000000"/>
                    </a:solidFill>
                    <a:latin typeface="SimSun" panose="02010600030101010101" pitchFamily="2" charset="-122"/>
                    <a:ea typeface="SimSun" panose="02010600030101010101" pitchFamily="2" charset="-122"/>
                    <a:cs typeface="Times New Roman" panose="02020603050405020304" pitchFamily="18" charset="0"/>
                  </a:rPr>
                  <a:t>）。其中的原因是上述的原子命题蕴涵了个体（苏格拉底）、群体（所有的人）和关系（都是要死的）等内在丰富语义，命题逻辑无法表现这种内在丰富语义。因此，需要引入更加强大的逻辑表示方法，分离其主语（个体或群体）和谓语（关系），这就是谓词逻辑。</a:t>
                </a:r>
                <a:endParaRPr lang="en-US" altLang="zh-CN" dirty="0">
                  <a:solidFill>
                    <a:srgbClr val="000000"/>
                  </a:solidFill>
                  <a:latin typeface="SimSun" panose="02010600030101010101" pitchFamily="2" charset="-122"/>
                  <a:ea typeface="SimSun" panose="02010600030101010101" pitchFamily="2" charset="-122"/>
                  <a:cs typeface="Times New Roman" panose="02020603050405020304" pitchFamily="18" charset="0"/>
                </a:endParaRPr>
              </a:p>
              <a:p>
                <a:pPr indent="266700" algn="just">
                  <a:lnSpc>
                    <a:spcPts val="2200"/>
                  </a:lnSpc>
                  <a:spcAft>
                    <a:spcPts val="0"/>
                  </a:spcAft>
                </a:pPr>
                <a:endParaRPr lang="zh-CN" altLang="zh-CN" dirty="0">
                  <a:solidFill>
                    <a:srgbClr val="000000"/>
                  </a:solidFill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" name="矩形 3">
                <a:extLst>
                  <a:ext uri="{FF2B5EF4-FFF2-40B4-BE49-F238E27FC236}">
                    <a16:creationId xmlns:a16="http://schemas.microsoft.com/office/drawing/2014/main" id="{A3E30BE4-A6DD-410B-BBAE-3DCE73AB85E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28347" y="3511487"/>
                <a:ext cx="6560287" cy="2332946"/>
              </a:xfrm>
              <a:prstGeom prst="rect">
                <a:avLst/>
              </a:prstGeom>
              <a:blipFill>
                <a:blip r:embed="rId4"/>
                <a:stretch>
                  <a:fillRect l="-772" r="-4247"/>
                </a:stretch>
              </a:blipFill>
              <a:ln>
                <a:solidFill>
                  <a:schemeClr val="accent1">
                    <a:shade val="50000"/>
                  </a:schemeClr>
                </a:solidFill>
                <a:prstDash val="sysDash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0558965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1504507" y="1133323"/>
            <a:ext cx="8952614" cy="497934"/>
            <a:chOff x="2228892" y="2819853"/>
            <a:chExt cx="4844036" cy="497934"/>
          </a:xfrm>
        </p:grpSpPr>
        <p:sp>
          <p:nvSpPr>
            <p:cNvPr id="3" name="平行四边形 2"/>
            <p:cNvSpPr/>
            <p:nvPr/>
          </p:nvSpPr>
          <p:spPr bwMode="auto">
            <a:xfrm>
              <a:off x="4099943" y="2849787"/>
              <a:ext cx="2547685" cy="468000"/>
            </a:xfrm>
            <a:prstGeom prst="parallelogram">
              <a:avLst/>
            </a:prstGeom>
            <a:solidFill>
              <a:srgbClr val="016773"/>
            </a:solidFill>
            <a:ln w="1905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en-US" dirty="0"/>
            </a:p>
          </p:txBody>
        </p:sp>
        <p:sp>
          <p:nvSpPr>
            <p:cNvPr id="4" name="平行四边形 3"/>
            <p:cNvSpPr/>
            <p:nvPr/>
          </p:nvSpPr>
          <p:spPr bwMode="auto">
            <a:xfrm>
              <a:off x="2228892" y="2819853"/>
              <a:ext cx="4786506" cy="468000"/>
            </a:xfrm>
            <a:prstGeom prst="parallelogram">
              <a:avLst/>
            </a:prstGeom>
            <a:solidFill>
              <a:srgbClr val="FAFAFA"/>
            </a:solidFill>
            <a:ln w="19050">
              <a:gradFill>
                <a:gsLst>
                  <a:gs pos="65000">
                    <a:srgbClr val="81C7C9"/>
                  </a:gs>
                  <a:gs pos="100000">
                    <a:srgbClr val="016773"/>
                  </a:gs>
                </a:gsLst>
                <a:lin ang="17400000" scaled="0"/>
              </a:gradFill>
            </a:ln>
            <a:effectLst>
              <a:outerShdw blurRad="50800" dist="38100" dir="18900000" algn="bl" rotWithShape="0">
                <a:schemeClr val="bg2">
                  <a:lumMod val="75000"/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en-US" dirty="0"/>
            </a:p>
          </p:txBody>
        </p:sp>
        <p:sp>
          <p:nvSpPr>
            <p:cNvPr id="5" name="矩形 4"/>
            <p:cNvSpPr/>
            <p:nvPr/>
          </p:nvSpPr>
          <p:spPr>
            <a:xfrm>
              <a:off x="2286423" y="2826188"/>
              <a:ext cx="4786505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zh-CN" altLang="en-US" sz="2400" b="1" dirty="0">
                  <a:solidFill>
                    <a:schemeClr val="accent1">
                      <a:lumMod val="75000"/>
                    </a:schemeClr>
                  </a:solidFill>
                  <a:latin typeface="宋体" panose="02010600030101010101" pitchFamily="2" charset="-122"/>
                </a:rPr>
                <a:t>定义 谓词逻辑</a:t>
              </a:r>
              <a:r>
                <a:rPr lang="zh-CN" altLang="zh-CN" sz="2400" b="1" dirty="0">
                  <a:solidFill>
                    <a:schemeClr val="accent1">
                      <a:lumMod val="75000"/>
                    </a:schemeClr>
                  </a:solidFill>
                  <a:latin typeface="宋体" panose="02010600030101010101" pitchFamily="2" charset="-122"/>
                </a:rPr>
                <a:t>：</a:t>
              </a:r>
              <a:r>
                <a:rPr lang="zh-CN" altLang="en-US" sz="2400" b="1" dirty="0">
                  <a:solidFill>
                    <a:schemeClr val="accent1">
                      <a:lumMod val="75000"/>
                    </a:schemeClr>
                  </a:solidFill>
                  <a:latin typeface="宋体" panose="02010600030101010101" pitchFamily="2" charset="-122"/>
                </a:rPr>
                <a:t>刻画主体（个体和群体）之间逻辑关系的方法</a:t>
              </a:r>
            </a:p>
          </p:txBody>
        </p:sp>
      </p:grpSp>
      <p:sp>
        <p:nvSpPr>
          <p:cNvPr id="8" name="矩形 7">
            <a:extLst>
              <a:ext uri="{FF2B5EF4-FFF2-40B4-BE49-F238E27FC236}">
                <a16:creationId xmlns:a16="http://schemas.microsoft.com/office/drawing/2014/main" id="{BCF1BBCC-0E11-4FEE-80C1-5C59A188F0D0}"/>
              </a:ext>
            </a:extLst>
          </p:cNvPr>
          <p:cNvSpPr/>
          <p:nvPr/>
        </p:nvSpPr>
        <p:spPr>
          <a:xfrm>
            <a:off x="1057941" y="1807851"/>
            <a:ext cx="9230832" cy="6565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266700" algn="ctr">
              <a:lnSpc>
                <a:spcPts val="2200"/>
              </a:lnSpc>
              <a:spcAft>
                <a:spcPts val="0"/>
              </a:spcAft>
            </a:pPr>
            <a:r>
              <a:rPr lang="zh-CN" altLang="zh-CN" sz="200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  <a:cs typeface="Times New Roman" panose="02020603050405020304" pitchFamily="18" charset="0"/>
              </a:rPr>
              <a:t>在谓词逻辑中，将原子命题进一步细化，分解出个体、谓词和量词，来表达个体与总体的内在联系和数量关系，这就是谓词逻辑的研究内容。</a:t>
            </a:r>
          </a:p>
        </p:txBody>
      </p:sp>
      <p:sp>
        <p:nvSpPr>
          <p:cNvPr id="10" name="矩形: 圆角 6">
            <a:extLst>
              <a:ext uri="{FF2B5EF4-FFF2-40B4-BE49-F238E27FC236}">
                <a16:creationId xmlns:a16="http://schemas.microsoft.com/office/drawing/2014/main" id="{9AD4C5F3-5354-4A38-80CB-FCFD482969E7}"/>
              </a:ext>
            </a:extLst>
          </p:cNvPr>
          <p:cNvSpPr/>
          <p:nvPr/>
        </p:nvSpPr>
        <p:spPr>
          <a:xfrm>
            <a:off x="1610834" y="2732473"/>
            <a:ext cx="9431080" cy="1648142"/>
          </a:xfrm>
          <a:prstGeom prst="roundRect">
            <a:avLst>
              <a:gd name="adj" fmla="val 0"/>
            </a:avLst>
          </a:prstGeom>
          <a:gradFill>
            <a:gsLst>
              <a:gs pos="22000">
                <a:srgbClr val="016773"/>
              </a:gs>
              <a:gs pos="100000">
                <a:srgbClr val="00ABA5"/>
              </a:gs>
            </a:gsLst>
            <a:lin ang="3000000" scaled="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F8F1DBAB-1A40-4B79-9BD2-F204657EA225}"/>
              </a:ext>
            </a:extLst>
          </p:cNvPr>
          <p:cNvSpPr/>
          <p:nvPr/>
        </p:nvSpPr>
        <p:spPr>
          <a:xfrm>
            <a:off x="1711843" y="2070509"/>
            <a:ext cx="9851064" cy="20356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2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u"/>
            </a:pPr>
            <a:endParaRPr lang="en-US" altLang="zh-CN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342900" indent="-342900">
              <a:lnSpc>
                <a:spcPct val="2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u"/>
            </a:pPr>
            <a:r>
              <a:rPr lang="zh-CN" altLang="en-US" b="1" dirty="0">
                <a:solidFill>
                  <a:srgbClr val="FFFF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imSun" panose="02010600030101010101" pitchFamily="2" charset="-122"/>
                <a:ea typeface="SimSun" panose="02010600030101010101" pitchFamily="2" charset="-122"/>
                <a:cs typeface="Times New Roman" panose="02020603050405020304" pitchFamily="18" charset="0"/>
              </a:rPr>
              <a:t>个体：个体是指所研究领域中可以独立存在的具体或抽象的概念。</a:t>
            </a:r>
          </a:p>
          <a:p>
            <a:pPr marL="342900" indent="-342900">
              <a:lnSpc>
                <a:spcPct val="2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u"/>
            </a:pPr>
            <a:r>
              <a:rPr lang="zh-CN" altLang="en-US" b="1" dirty="0">
                <a:solidFill>
                  <a:srgbClr val="FFFF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imSun" panose="02010600030101010101" pitchFamily="2" charset="-122"/>
                <a:ea typeface="SimSun" panose="02010600030101010101" pitchFamily="2" charset="-122"/>
                <a:cs typeface="Times New Roman" panose="02020603050405020304" pitchFamily="18" charset="0"/>
              </a:rPr>
              <a:t>谓词：谓词是用来刻画个体属性或者描述个体之间关系存在性的元素，其值为真或为假</a:t>
            </a:r>
            <a:endParaRPr lang="zh-CN" altLang="zh-CN" b="1" dirty="0">
              <a:solidFill>
                <a:srgbClr val="FFFFC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imSun" panose="02010600030101010101" pitchFamily="2" charset="-122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矩形 8">
                <a:extLst>
                  <a:ext uri="{FF2B5EF4-FFF2-40B4-BE49-F238E27FC236}">
                    <a16:creationId xmlns:a16="http://schemas.microsoft.com/office/drawing/2014/main" id="{51418B65-8F0D-4B5A-B4CA-54B9807F5768}"/>
                  </a:ext>
                </a:extLst>
              </p:cNvPr>
              <p:cNvSpPr/>
              <p:nvPr/>
            </p:nvSpPr>
            <p:spPr>
              <a:xfrm>
                <a:off x="775473" y="4530402"/>
                <a:ext cx="11201305" cy="187846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285750" indent="-285750">
                  <a:lnSpc>
                    <a:spcPct val="150000"/>
                  </a:lnSpc>
                  <a:buFont typeface="Wingdings" panose="05000000000000000000" pitchFamily="2" charset="2"/>
                  <a:buChar char="l"/>
                </a:pPr>
                <a:r>
                  <a:rPr lang="zh-CN" altLang="zh-CN" sz="2000" dirty="0">
                    <a:latin typeface="SimSun" panose="02010600030101010101" pitchFamily="2" charset="-122"/>
                    <a:ea typeface="SimSun" panose="02010600030101010101" pitchFamily="2" charset="-122"/>
                    <a:cs typeface="Times New Roman" panose="02020603050405020304" pitchFamily="18" charset="0"/>
                  </a:rPr>
                  <a:t>包含一个参数的谓词称为一元谓词，表示一元关系，通常用于刻画个体是否包含特定的属性，如</a:t>
                </a:r>
                <a14:m>
                  <m:oMath xmlns:m="http://schemas.openxmlformats.org/officeDocument/2006/math">
                    <m:r>
                      <a:rPr lang="en-US" altLang="zh-CN" sz="2000" i="1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𝑃</m:t>
                    </m:r>
                    <m:d>
                      <m:dPr>
                        <m:ctrlPr>
                          <a:rPr lang="zh-CN" altLang="zh-CN" sz="20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</m:d>
                    <m:r>
                      <a:rPr lang="en-US" altLang="zh-CN" sz="2000" i="1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zh-CN" altLang="zh-CN" sz="2000" dirty="0">
                    <a:latin typeface="SimSun" panose="02010600030101010101" pitchFamily="2" charset="-122"/>
                    <a:ea typeface="SimSun" panose="02010600030101010101" pitchFamily="2" charset="-122"/>
                    <a:cs typeface="Times New Roman" panose="02020603050405020304" pitchFamily="18" charset="0"/>
                  </a:rPr>
                  <a:t>：</a:t>
                </a:r>
                <a14:m>
                  <m:oMath xmlns:m="http://schemas.openxmlformats.org/officeDocument/2006/math">
                    <m:r>
                      <a:rPr lang="en-US" altLang="zh-CN" sz="2000" i="1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𝑥</m:t>
                    </m:r>
                  </m:oMath>
                </a14:m>
                <a:r>
                  <a:rPr lang="zh-CN" altLang="zh-CN" sz="2000" dirty="0">
                    <a:latin typeface="SimSun" panose="02010600030101010101" pitchFamily="2" charset="-122"/>
                    <a:ea typeface="SimSun" panose="02010600030101010101" pitchFamily="2" charset="-122"/>
                    <a:cs typeface="Times New Roman" panose="02020603050405020304" pitchFamily="18" charset="0"/>
                  </a:rPr>
                  <a:t>是质数，表示某个数是否是质数；包含多个参数的谓词称为多元谓词，用于表示个体之间的多元关系，通常用于描述个体之间是否存在特定的关联，如</a:t>
                </a:r>
                <a14:m>
                  <m:oMath xmlns:m="http://schemas.openxmlformats.org/officeDocument/2006/math">
                    <m:r>
                      <a:rPr lang="en-US" altLang="zh-CN" sz="2000" i="1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𝐹𝑎𝑡h𝑒𝑟</m:t>
                    </m:r>
                    <m:d>
                      <m:dPr>
                        <m:ctrlPr>
                          <a:rPr lang="zh-CN" altLang="zh-CN" sz="20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𝑥</m:t>
                        </m:r>
                        <m:r>
                          <a:rPr lang="en-US" altLang="zh-CN" sz="2000" i="1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,  </m:t>
                        </m:r>
                        <m:r>
                          <a:rPr lang="en-US" altLang="zh-CN" sz="2000" i="1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𝑦</m:t>
                        </m:r>
                      </m:e>
                    </m:d>
                  </m:oMath>
                </a14:m>
                <a:r>
                  <a:rPr lang="zh-CN" altLang="zh-CN" sz="2000" dirty="0">
                    <a:latin typeface="SimSun" panose="02010600030101010101" pitchFamily="2" charset="-122"/>
                    <a:ea typeface="SimSun" panose="02010600030101010101" pitchFamily="2" charset="-122"/>
                    <a:cs typeface="Times New Roman" panose="02020603050405020304" pitchFamily="18" charset="0"/>
                  </a:rPr>
                  <a:t>表示</a:t>
                </a:r>
                <a14:m>
                  <m:oMath xmlns:m="http://schemas.openxmlformats.org/officeDocument/2006/math">
                    <m:r>
                      <a:rPr lang="zh-CN" altLang="zh-CN" sz="20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altLang="zh-CN" sz="20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𝑥</m:t>
                    </m:r>
                  </m:oMath>
                </a14:m>
                <a:r>
                  <a:rPr lang="zh-CN" altLang="zh-CN" sz="2000" dirty="0">
                    <a:latin typeface="SimSun" panose="02010600030101010101" pitchFamily="2" charset="-122"/>
                    <a:ea typeface="SimSun" panose="02010600030101010101" pitchFamily="2" charset="-122"/>
                    <a:cs typeface="Times New Roman" panose="02020603050405020304" pitchFamily="18" charset="0"/>
                  </a:rPr>
                  <a:t>是</a:t>
                </a:r>
                <a14:m>
                  <m:oMath xmlns:m="http://schemas.openxmlformats.org/officeDocument/2006/math">
                    <m:r>
                      <a:rPr lang="en-US" altLang="zh-CN" sz="2000" i="1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𝑦</m:t>
                    </m:r>
                  </m:oMath>
                </a14:m>
                <a:r>
                  <a:rPr lang="zh-CN" altLang="zh-CN" sz="2000" dirty="0">
                    <a:latin typeface="SimSun" panose="02010600030101010101" pitchFamily="2" charset="-122"/>
                    <a:ea typeface="SimSun" panose="02010600030101010101" pitchFamily="2" charset="-122"/>
                    <a:cs typeface="Times New Roman" panose="02020603050405020304" pitchFamily="18" charset="0"/>
                  </a:rPr>
                  <a:t>的父亲。</a:t>
                </a:r>
                <a:endParaRPr lang="en-US" altLang="zh-CN" sz="2000" dirty="0">
                  <a:latin typeface="SimSun" panose="02010600030101010101" pitchFamily="2" charset="-122"/>
                  <a:ea typeface="SimSun" panose="02010600030101010101" pitchFamily="2" charset="-122"/>
                  <a:cs typeface="Times New Roman" panose="02020603050405020304" pitchFamily="18" charset="0"/>
                </a:endParaRPr>
              </a:p>
              <a:p>
                <a:pPr marL="285750" indent="-285750">
                  <a:lnSpc>
                    <a:spcPct val="150000"/>
                  </a:lnSpc>
                  <a:buFont typeface="Wingdings" panose="05000000000000000000" pitchFamily="2" charset="2"/>
                  <a:buChar char="l"/>
                </a:pPr>
                <a:r>
                  <a:rPr lang="zh-CN" altLang="zh-CN" sz="2000" dirty="0">
                    <a:latin typeface="SimSun" panose="02010600030101010101" pitchFamily="2" charset="-122"/>
                    <a:ea typeface="SimSun" panose="02010600030101010101" pitchFamily="2" charset="-122"/>
                    <a:cs typeface="Times New Roman" panose="02020603050405020304" pitchFamily="18" charset="0"/>
                  </a:rPr>
                  <a:t>函数是从定义域到值域的映射；谓词是从定义域到</a:t>
                </a:r>
                <a14:m>
                  <m:oMath xmlns:m="http://schemas.openxmlformats.org/officeDocument/2006/math">
                    <m:r>
                      <a:rPr lang="en-US" altLang="zh-CN" sz="2000" i="1">
                        <a:latin typeface="Cambria Math" panose="02040503050406030204" pitchFamily="18" charset="0"/>
                      </a:rPr>
                      <m:t>{</m:t>
                    </m:r>
                    <m:r>
                      <a:rPr lang="en-US" altLang="zh-CN" sz="2000" i="1">
                        <a:latin typeface="Cambria Math" panose="02040503050406030204" pitchFamily="18" charset="0"/>
                      </a:rPr>
                      <m:t>𝑇𝑟𝑢𝑒</m:t>
                    </m:r>
                    <m:r>
                      <a:rPr lang="en-US" altLang="zh-CN" sz="2000" i="1">
                        <a:latin typeface="Cambria Math" panose="02040503050406030204" pitchFamily="18" charset="0"/>
                      </a:rPr>
                      <m:t>,  </m:t>
                    </m:r>
                    <m:r>
                      <a:rPr lang="en-US" altLang="zh-CN" sz="2000" i="1">
                        <a:latin typeface="Cambria Math" panose="02040503050406030204" pitchFamily="18" charset="0"/>
                      </a:rPr>
                      <m:t>𝐹𝑎𝑙𝑠𝑒</m:t>
                    </m:r>
                    <m:r>
                      <a:rPr lang="en-US" altLang="zh-CN" sz="2000" i="1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zh-CN" altLang="zh-CN" sz="2000" dirty="0">
                    <a:latin typeface="SimSun" panose="02010600030101010101" pitchFamily="2" charset="-122"/>
                    <a:ea typeface="SimSun" panose="02010600030101010101" pitchFamily="2" charset="-122"/>
                    <a:cs typeface="Times New Roman" panose="02020603050405020304" pitchFamily="18" charset="0"/>
                  </a:rPr>
                  <a:t>的映射。</a:t>
                </a:r>
                <a:endParaRPr lang="zh-CN" altLang="en-US" sz="2000" dirty="0">
                  <a:latin typeface="SimSun" panose="02010600030101010101" pitchFamily="2" charset="-122"/>
                  <a:ea typeface="SimSun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9" name="矩形 8">
                <a:extLst>
                  <a:ext uri="{FF2B5EF4-FFF2-40B4-BE49-F238E27FC236}">
                    <a16:creationId xmlns:a16="http://schemas.microsoft.com/office/drawing/2014/main" id="{51418B65-8F0D-4B5A-B4CA-54B9807F576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5473" y="4530402"/>
                <a:ext cx="11201305" cy="1878463"/>
              </a:xfrm>
              <a:prstGeom prst="rect">
                <a:avLst/>
              </a:prstGeom>
              <a:blipFill>
                <a:blip r:embed="rId3"/>
                <a:stretch>
                  <a:fillRect l="-339" r="-339" b="-402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标题 1">
            <a:extLst>
              <a:ext uri="{FF2B5EF4-FFF2-40B4-BE49-F238E27FC236}">
                <a16:creationId xmlns:a16="http://schemas.microsoft.com/office/drawing/2014/main" id="{4D593DC1-E06E-FF10-F2FA-E9C3B0F277A8}"/>
              </a:ext>
            </a:extLst>
          </p:cNvPr>
          <p:cNvSpPr txBox="1">
            <a:spLocks/>
          </p:cNvSpPr>
          <p:nvPr/>
        </p:nvSpPr>
        <p:spPr>
          <a:xfrm>
            <a:off x="385815" y="47495"/>
            <a:ext cx="4080309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zh-CN" altLang="en-US" sz="3200" dirty="0">
                <a:solidFill>
                  <a:srgbClr val="FF0000"/>
                </a:solidFill>
                <a:latin typeface=".AppleSystemUIFont"/>
              </a:rPr>
              <a:t>谓词逻辑</a:t>
            </a:r>
          </a:p>
        </p:txBody>
      </p:sp>
    </p:spTree>
    <p:extLst>
      <p:ext uri="{BB962C8B-B14F-4D97-AF65-F5344CB8AC3E}">
        <p14:creationId xmlns:p14="http://schemas.microsoft.com/office/powerpoint/2010/main" val="344308460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2174334" y="1152573"/>
            <a:ext cx="7538508" cy="497934"/>
            <a:chOff x="2591319" y="2819853"/>
            <a:chExt cx="4078899" cy="497934"/>
          </a:xfrm>
        </p:grpSpPr>
        <p:sp>
          <p:nvSpPr>
            <p:cNvPr id="3" name="平行四边形 2"/>
            <p:cNvSpPr/>
            <p:nvPr/>
          </p:nvSpPr>
          <p:spPr bwMode="auto">
            <a:xfrm>
              <a:off x="4099943" y="2849787"/>
              <a:ext cx="2547685" cy="468000"/>
            </a:xfrm>
            <a:prstGeom prst="parallelogram">
              <a:avLst/>
            </a:prstGeom>
            <a:solidFill>
              <a:srgbClr val="016773"/>
            </a:solidFill>
            <a:ln w="1905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en-US" dirty="0"/>
            </a:p>
          </p:txBody>
        </p:sp>
        <p:sp>
          <p:nvSpPr>
            <p:cNvPr id="4" name="平行四边形 3"/>
            <p:cNvSpPr/>
            <p:nvPr/>
          </p:nvSpPr>
          <p:spPr bwMode="auto">
            <a:xfrm>
              <a:off x="2591319" y="2819853"/>
              <a:ext cx="4078899" cy="468000"/>
            </a:xfrm>
            <a:prstGeom prst="parallelogram">
              <a:avLst/>
            </a:prstGeom>
            <a:solidFill>
              <a:srgbClr val="FAFAFA"/>
            </a:solidFill>
            <a:ln w="19050">
              <a:gradFill>
                <a:gsLst>
                  <a:gs pos="65000">
                    <a:srgbClr val="81C7C9"/>
                  </a:gs>
                  <a:gs pos="100000">
                    <a:srgbClr val="016773"/>
                  </a:gs>
                </a:gsLst>
                <a:lin ang="17400000" scaled="0"/>
              </a:gradFill>
            </a:ln>
            <a:effectLst>
              <a:outerShdw blurRad="50800" dist="38100" dir="18900000" algn="bl" rotWithShape="0">
                <a:schemeClr val="bg2">
                  <a:lumMod val="75000"/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en-US" dirty="0"/>
            </a:p>
          </p:txBody>
        </p:sp>
        <p:sp>
          <p:nvSpPr>
            <p:cNvPr id="5" name="矩形 4"/>
            <p:cNvSpPr/>
            <p:nvPr/>
          </p:nvSpPr>
          <p:spPr>
            <a:xfrm>
              <a:off x="2850217" y="2853798"/>
              <a:ext cx="3726001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zh-CN" altLang="en-US" sz="2400" b="1" dirty="0">
                  <a:solidFill>
                    <a:schemeClr val="accent1">
                      <a:lumMod val="75000"/>
                    </a:schemeClr>
                  </a:solidFill>
                  <a:latin typeface="宋体" panose="02010600030101010101" pitchFamily="2" charset="-122"/>
                </a:rPr>
                <a:t>  从自然语言描述到谓词描述</a:t>
              </a:r>
            </a:p>
          </p:txBody>
        </p:sp>
      </p:grpSp>
      <p:sp>
        <p:nvSpPr>
          <p:cNvPr id="6" name="矩形 5">
            <a:extLst>
              <a:ext uri="{FF2B5EF4-FFF2-40B4-BE49-F238E27FC236}">
                <a16:creationId xmlns:a16="http://schemas.microsoft.com/office/drawing/2014/main" id="{298DDD25-87D0-4A6F-B83A-07A69F1FEF39}"/>
              </a:ext>
            </a:extLst>
          </p:cNvPr>
          <p:cNvSpPr/>
          <p:nvPr/>
        </p:nvSpPr>
        <p:spPr>
          <a:xfrm>
            <a:off x="798673" y="2743409"/>
            <a:ext cx="2948763" cy="225157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>
              <a:lnSpc>
                <a:spcPct val="250000"/>
              </a:lnSpc>
              <a:buFont typeface="+mj-ea"/>
              <a:buAutoNum type="circleNumDbPlain"/>
            </a:pPr>
            <a:r>
              <a:rPr lang="en-US" altLang="zh-CN" sz="200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  <a:cs typeface="Times New Roman" panose="02020603050405020304" pitchFamily="18" charset="0"/>
              </a:rPr>
              <a:t>Richard</a:t>
            </a:r>
            <a:r>
              <a:rPr lang="zh-CN" altLang="zh-CN" sz="200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  <a:cs typeface="Times New Roman" panose="02020603050405020304" pitchFamily="18" charset="0"/>
              </a:rPr>
              <a:t>是国王</a:t>
            </a:r>
            <a:r>
              <a:rPr lang="en-US" altLang="zh-CN" sz="200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  <a:cs typeface="Times New Roman" panose="02020603050405020304" pitchFamily="18" charset="0"/>
              </a:rPr>
              <a:t> </a:t>
            </a:r>
            <a:endParaRPr lang="zh-CN" altLang="zh-CN" sz="2000" dirty="0">
              <a:solidFill>
                <a:srgbClr val="000000"/>
              </a:solidFill>
              <a:latin typeface="SimSun" panose="02010600030101010101" pitchFamily="2" charset="-122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250000"/>
              </a:lnSpc>
              <a:buFont typeface="+mj-ea"/>
              <a:buAutoNum type="circleNumDbPlain"/>
            </a:pPr>
            <a:r>
              <a:rPr lang="en-US" altLang="zh-CN" sz="200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  <a:cs typeface="Times New Roman" panose="02020603050405020304" pitchFamily="18" charset="0"/>
              </a:rPr>
              <a:t>Lucy</a:t>
            </a:r>
            <a:r>
              <a:rPr lang="zh-CN" altLang="zh-CN" sz="200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  <a:cs typeface="Times New Roman" panose="02020603050405020304" pitchFamily="18" charset="0"/>
              </a:rPr>
              <a:t>和</a:t>
            </a:r>
            <a:r>
              <a:rPr lang="en-US" altLang="zh-CN" sz="200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  <a:cs typeface="Times New Roman" panose="02020603050405020304" pitchFamily="18" charset="0"/>
              </a:rPr>
              <a:t>Lily</a:t>
            </a:r>
            <a:r>
              <a:rPr lang="zh-CN" altLang="zh-CN" sz="200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  <a:cs typeface="Times New Roman" panose="02020603050405020304" pitchFamily="18" charset="0"/>
              </a:rPr>
              <a:t>是姐妹</a:t>
            </a:r>
            <a:r>
              <a:rPr lang="en-US" altLang="zh-CN" sz="200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  <a:cs typeface="Times New Roman" panose="02020603050405020304" pitchFamily="18" charset="0"/>
              </a:rPr>
              <a:t> </a:t>
            </a:r>
            <a:endParaRPr lang="zh-CN" altLang="zh-CN" sz="2000" dirty="0">
              <a:solidFill>
                <a:srgbClr val="000000"/>
              </a:solidFill>
              <a:latin typeface="SimSun" panose="02010600030101010101" pitchFamily="2" charset="-122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250000"/>
              </a:lnSpc>
              <a:buFont typeface="+mj-ea"/>
              <a:buAutoNum type="circleNumDbPlain"/>
            </a:pPr>
            <a:r>
              <a:rPr lang="zh-CN" altLang="zh-CN" sz="200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  <a:cs typeface="Times New Roman" panose="02020603050405020304" pitchFamily="18" charset="0"/>
              </a:rPr>
              <a:t>北京是中国的首都</a:t>
            </a:r>
            <a:r>
              <a:rPr lang="en-US" altLang="zh-CN" sz="200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  <a:cs typeface="Times New Roman" panose="02020603050405020304" pitchFamily="18" charset="0"/>
              </a:rPr>
              <a:t> </a:t>
            </a:r>
            <a:endParaRPr lang="zh-CN" altLang="zh-CN" sz="2000" dirty="0">
              <a:solidFill>
                <a:srgbClr val="000000"/>
              </a:solidFill>
              <a:latin typeface="SimSun" panose="02010600030101010101" pitchFamily="2" charset="-122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矩形 11">
                <a:extLst>
                  <a:ext uri="{FF2B5EF4-FFF2-40B4-BE49-F238E27FC236}">
                    <a16:creationId xmlns:a16="http://schemas.microsoft.com/office/drawing/2014/main" id="{B3DBB06E-88B5-4306-93DF-E23F197A2DA2}"/>
                  </a:ext>
                </a:extLst>
              </p:cNvPr>
              <p:cNvSpPr/>
              <p:nvPr/>
            </p:nvSpPr>
            <p:spPr>
              <a:xfrm>
                <a:off x="3939363" y="2743409"/>
                <a:ext cx="7628861" cy="280147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342900" indent="-342900" algn="just">
                  <a:lnSpc>
                    <a:spcPct val="150000"/>
                  </a:lnSpc>
                  <a:spcAft>
                    <a:spcPts val="0"/>
                  </a:spcAft>
                  <a:buFont typeface="+mj-ea"/>
                  <a:buAutoNum type="circleNumDbPlain"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000" i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楷体_GB2312"/>
                        <a:cs typeface="Times New Roman" panose="02020603050405020304" pitchFamily="18" charset="0"/>
                      </a:rPr>
                      <m:t>King</m:t>
                    </m:r>
                  </m:oMath>
                </a14:m>
                <a:r>
                  <a:rPr lang="en-US" altLang="zh-CN" sz="2000" dirty="0">
                    <a:solidFill>
                      <a:srgbClr val="000000"/>
                    </a:solidFill>
                    <a:latin typeface="SimSun" panose="02010600030101010101" pitchFamily="2" charset="-122"/>
                    <a:ea typeface="SimSun" panose="02010600030101010101" pitchFamily="2" charset="-122"/>
                    <a:cs typeface="Times New Roman" panose="02020603050405020304" pitchFamily="18" charset="0"/>
                  </a:rPr>
                  <a:t>(Richard)</a:t>
                </a:r>
                <a:r>
                  <a:rPr lang="zh-CN" altLang="zh-CN" sz="2000" dirty="0">
                    <a:solidFill>
                      <a:srgbClr val="000000"/>
                    </a:solidFill>
                    <a:latin typeface="SimSun" panose="02010600030101010101" pitchFamily="2" charset="-122"/>
                    <a:ea typeface="SimSun" panose="02010600030101010101" pitchFamily="2" charset="-122"/>
                    <a:cs typeface="Times New Roman" panose="02020603050405020304" pitchFamily="18" charset="0"/>
                  </a:rPr>
                  <a:t>。其中，</a:t>
                </a:r>
                <a:r>
                  <a:rPr lang="en-US" altLang="zh-CN" sz="2000" dirty="0">
                    <a:solidFill>
                      <a:srgbClr val="000000"/>
                    </a:solidFill>
                    <a:latin typeface="SimSun" panose="02010600030101010101" pitchFamily="2" charset="-122"/>
                    <a:ea typeface="SimSun" panose="02010600030101010101" pitchFamily="2" charset="-122"/>
                    <a:cs typeface="Times New Roman" panose="02020603050405020304" pitchFamily="18" charset="0"/>
                  </a:rPr>
                  <a:t>Richard</a:t>
                </a:r>
                <a:r>
                  <a:rPr lang="zh-CN" altLang="zh-CN" sz="2000" dirty="0">
                    <a:solidFill>
                      <a:srgbClr val="000000"/>
                    </a:solidFill>
                    <a:latin typeface="SimSun" panose="02010600030101010101" pitchFamily="2" charset="-122"/>
                    <a:ea typeface="SimSun" panose="02010600030101010101" pitchFamily="2" charset="-122"/>
                    <a:cs typeface="Times New Roman" panose="02020603050405020304" pitchFamily="18" charset="0"/>
                  </a:rPr>
                  <a:t>是一个个体常量，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000" i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楷体_GB2312"/>
                        <a:cs typeface="Times New Roman" panose="02020603050405020304" pitchFamily="18" charset="0"/>
                      </a:rPr>
                      <m:t>King</m:t>
                    </m:r>
                  </m:oMath>
                </a14:m>
                <a:r>
                  <a:rPr lang="zh-CN" altLang="zh-CN" sz="2000" dirty="0">
                    <a:solidFill>
                      <a:srgbClr val="000000"/>
                    </a:solidFill>
                    <a:latin typeface="SimSun" panose="02010600030101010101" pitchFamily="2" charset="-122"/>
                    <a:ea typeface="SimSun" panose="02010600030101010101" pitchFamily="2" charset="-122"/>
                    <a:cs typeface="Times New Roman" panose="02020603050405020304" pitchFamily="18" charset="0"/>
                  </a:rPr>
                  <a:t>是一个描述</a:t>
                </a:r>
                <a:r>
                  <a:rPr lang="en-US" altLang="zh-CN" sz="2000" dirty="0">
                    <a:solidFill>
                      <a:srgbClr val="000000"/>
                    </a:solidFill>
                    <a:latin typeface="SimSun" panose="02010600030101010101" pitchFamily="2" charset="-122"/>
                    <a:ea typeface="SimSun" panose="02010600030101010101" pitchFamily="2" charset="-122"/>
                    <a:cs typeface="Times New Roman" panose="02020603050405020304" pitchFamily="18" charset="0"/>
                  </a:rPr>
                  <a:t>“</a:t>
                </a:r>
                <a:r>
                  <a:rPr lang="zh-CN" altLang="zh-CN" sz="2000" dirty="0">
                    <a:solidFill>
                      <a:srgbClr val="000000"/>
                    </a:solidFill>
                    <a:latin typeface="SimSun" panose="02010600030101010101" pitchFamily="2" charset="-122"/>
                    <a:ea typeface="SimSun" panose="02010600030101010101" pitchFamily="2" charset="-122"/>
                    <a:cs typeface="Times New Roman" panose="02020603050405020304" pitchFamily="18" charset="0"/>
                  </a:rPr>
                  <a:t>国王</a:t>
                </a:r>
                <a:r>
                  <a:rPr lang="en-US" altLang="zh-CN" sz="2000" dirty="0">
                    <a:solidFill>
                      <a:srgbClr val="000000"/>
                    </a:solidFill>
                    <a:latin typeface="SimSun" panose="02010600030101010101" pitchFamily="2" charset="-122"/>
                    <a:ea typeface="SimSun" panose="02010600030101010101" pitchFamily="2" charset="-122"/>
                    <a:cs typeface="Times New Roman" panose="02020603050405020304" pitchFamily="18" charset="0"/>
                  </a:rPr>
                  <a:t>”</a:t>
                </a:r>
                <a:r>
                  <a:rPr lang="zh-CN" altLang="zh-CN" sz="2000" dirty="0">
                    <a:solidFill>
                      <a:srgbClr val="000000"/>
                    </a:solidFill>
                    <a:latin typeface="SimSun" panose="02010600030101010101" pitchFamily="2" charset="-122"/>
                    <a:ea typeface="SimSun" panose="02010600030101010101" pitchFamily="2" charset="-122"/>
                    <a:cs typeface="Times New Roman" panose="02020603050405020304" pitchFamily="18" charset="0"/>
                  </a:rPr>
                  <a:t>这个一元关系的谓词。</a:t>
                </a:r>
              </a:p>
              <a:p>
                <a:pPr marL="342900" indent="-342900" algn="just">
                  <a:lnSpc>
                    <a:spcPct val="150000"/>
                  </a:lnSpc>
                  <a:spcAft>
                    <a:spcPts val="0"/>
                  </a:spcAft>
                  <a:buFont typeface="+mj-ea"/>
                  <a:buAutoNum type="circleNumDbPlain"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000" i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楷体_GB2312"/>
                        <a:cs typeface="Times New Roman" panose="02020603050405020304" pitchFamily="18" charset="0"/>
                      </a:rPr>
                      <m:t>Sister</m:t>
                    </m:r>
                  </m:oMath>
                </a14:m>
                <a:r>
                  <a:rPr lang="en-US" altLang="zh-CN" sz="2000" dirty="0">
                    <a:solidFill>
                      <a:srgbClr val="000000"/>
                    </a:solidFill>
                    <a:latin typeface="SimSun" panose="02010600030101010101" pitchFamily="2" charset="-122"/>
                    <a:ea typeface="SimSun" panose="02010600030101010101" pitchFamily="2" charset="-122"/>
                    <a:cs typeface="Times New Roman" panose="02020603050405020304" pitchFamily="18" charset="0"/>
                  </a:rPr>
                  <a:t>(Lucy, Lily)</a:t>
                </a:r>
                <a:r>
                  <a:rPr lang="zh-CN" altLang="zh-CN" sz="2000" dirty="0">
                    <a:solidFill>
                      <a:srgbClr val="000000"/>
                    </a:solidFill>
                    <a:latin typeface="SimSun" panose="02010600030101010101" pitchFamily="2" charset="-122"/>
                    <a:ea typeface="SimSun" panose="02010600030101010101" pitchFamily="2" charset="-122"/>
                    <a:cs typeface="Times New Roman" panose="02020603050405020304" pitchFamily="18" charset="0"/>
                  </a:rPr>
                  <a:t>。其中，</a:t>
                </a:r>
                <a:r>
                  <a:rPr lang="en-US" altLang="zh-CN" sz="2000" dirty="0">
                    <a:solidFill>
                      <a:srgbClr val="000000"/>
                    </a:solidFill>
                    <a:latin typeface="SimSun" panose="02010600030101010101" pitchFamily="2" charset="-122"/>
                    <a:ea typeface="SimSun" panose="02010600030101010101" pitchFamily="2" charset="-122"/>
                    <a:cs typeface="Times New Roman" panose="02020603050405020304" pitchFamily="18" charset="0"/>
                  </a:rPr>
                  <a:t>Lucy</a:t>
                </a:r>
                <a:r>
                  <a:rPr lang="zh-CN" altLang="zh-CN" sz="2000" dirty="0">
                    <a:solidFill>
                      <a:srgbClr val="000000"/>
                    </a:solidFill>
                    <a:latin typeface="SimSun" panose="02010600030101010101" pitchFamily="2" charset="-122"/>
                    <a:ea typeface="SimSun" panose="02010600030101010101" pitchFamily="2" charset="-122"/>
                    <a:cs typeface="Times New Roman" panose="02020603050405020304" pitchFamily="18" charset="0"/>
                  </a:rPr>
                  <a:t>和</a:t>
                </a:r>
                <a:r>
                  <a:rPr lang="en-US" altLang="zh-CN" sz="2000" dirty="0">
                    <a:solidFill>
                      <a:srgbClr val="000000"/>
                    </a:solidFill>
                    <a:latin typeface="SimSun" panose="02010600030101010101" pitchFamily="2" charset="-122"/>
                    <a:ea typeface="SimSun" panose="02010600030101010101" pitchFamily="2" charset="-122"/>
                    <a:cs typeface="Times New Roman" panose="02020603050405020304" pitchFamily="18" charset="0"/>
                  </a:rPr>
                  <a:t>Lily</a:t>
                </a:r>
                <a:r>
                  <a:rPr lang="zh-CN" altLang="zh-CN" sz="2000" dirty="0">
                    <a:solidFill>
                      <a:srgbClr val="000000"/>
                    </a:solidFill>
                    <a:latin typeface="SimSun" panose="02010600030101010101" pitchFamily="2" charset="-122"/>
                    <a:ea typeface="SimSun" panose="02010600030101010101" pitchFamily="2" charset="-122"/>
                    <a:cs typeface="Times New Roman" panose="02020603050405020304" pitchFamily="18" charset="0"/>
                  </a:rPr>
                  <a:t>是两个个体常量，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000" i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楷体_GB2312"/>
                        <a:cs typeface="Times New Roman" panose="02020603050405020304" pitchFamily="18" charset="0"/>
                      </a:rPr>
                      <m:t>Sister</m:t>
                    </m:r>
                  </m:oMath>
                </a14:m>
                <a:r>
                  <a:rPr lang="zh-CN" altLang="zh-CN" sz="2000" dirty="0">
                    <a:solidFill>
                      <a:srgbClr val="000000"/>
                    </a:solidFill>
                    <a:latin typeface="SimSun" panose="02010600030101010101" pitchFamily="2" charset="-122"/>
                    <a:ea typeface="SimSun" panose="02010600030101010101" pitchFamily="2" charset="-122"/>
                    <a:cs typeface="Times New Roman" panose="02020603050405020304" pitchFamily="18" charset="0"/>
                  </a:rPr>
                  <a:t>是一个描述</a:t>
                </a:r>
                <a:r>
                  <a:rPr lang="en-US" altLang="zh-CN" sz="2000" dirty="0">
                    <a:solidFill>
                      <a:srgbClr val="000000"/>
                    </a:solidFill>
                    <a:latin typeface="SimSun" panose="02010600030101010101" pitchFamily="2" charset="-122"/>
                    <a:ea typeface="SimSun" panose="02010600030101010101" pitchFamily="2" charset="-122"/>
                    <a:cs typeface="Times New Roman" panose="02020603050405020304" pitchFamily="18" charset="0"/>
                  </a:rPr>
                  <a:t>“</a:t>
                </a:r>
                <a:r>
                  <a:rPr lang="zh-CN" altLang="zh-CN" sz="2000" dirty="0">
                    <a:solidFill>
                      <a:srgbClr val="000000"/>
                    </a:solidFill>
                    <a:latin typeface="SimSun" panose="02010600030101010101" pitchFamily="2" charset="-122"/>
                    <a:ea typeface="SimSun" panose="02010600030101010101" pitchFamily="2" charset="-122"/>
                    <a:cs typeface="Times New Roman" panose="02020603050405020304" pitchFamily="18" charset="0"/>
                  </a:rPr>
                  <a:t>姐妹</a:t>
                </a:r>
                <a:r>
                  <a:rPr lang="en-US" altLang="zh-CN" sz="2000" dirty="0">
                    <a:solidFill>
                      <a:srgbClr val="000000"/>
                    </a:solidFill>
                    <a:latin typeface="SimSun" panose="02010600030101010101" pitchFamily="2" charset="-122"/>
                    <a:ea typeface="SimSun" panose="02010600030101010101" pitchFamily="2" charset="-122"/>
                    <a:cs typeface="Times New Roman" panose="02020603050405020304" pitchFamily="18" charset="0"/>
                  </a:rPr>
                  <a:t>”</a:t>
                </a:r>
                <a:r>
                  <a:rPr lang="zh-CN" altLang="zh-CN" sz="2000" dirty="0">
                    <a:solidFill>
                      <a:srgbClr val="000000"/>
                    </a:solidFill>
                    <a:latin typeface="SimSun" panose="02010600030101010101" pitchFamily="2" charset="-122"/>
                    <a:ea typeface="SimSun" panose="02010600030101010101" pitchFamily="2" charset="-122"/>
                    <a:cs typeface="Times New Roman" panose="02020603050405020304" pitchFamily="18" charset="0"/>
                  </a:rPr>
                  <a:t>这个二元关系的谓词。</a:t>
                </a:r>
              </a:p>
              <a:p>
                <a:pPr marL="342900" indent="-342900" algn="just">
                  <a:lnSpc>
                    <a:spcPct val="150000"/>
                  </a:lnSpc>
                  <a:spcAft>
                    <a:spcPts val="0"/>
                  </a:spcAft>
                  <a:buFont typeface="+mj-ea"/>
                  <a:buAutoNum type="circleNumDbPlain"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000" i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楷体_GB2312"/>
                        <a:cs typeface="Times New Roman" panose="02020603050405020304" pitchFamily="18" charset="0"/>
                      </a:rPr>
                      <m:t>Capital</m:t>
                    </m:r>
                  </m:oMath>
                </a14:m>
                <a:r>
                  <a:rPr lang="en-US" altLang="zh-CN" sz="2000" dirty="0">
                    <a:solidFill>
                      <a:srgbClr val="000000"/>
                    </a:solidFill>
                    <a:latin typeface="SimSun" panose="02010600030101010101" pitchFamily="2" charset="-122"/>
                    <a:ea typeface="SimSun" panose="02010600030101010101" pitchFamily="2" charset="-122"/>
                    <a:cs typeface="Times New Roman" panose="02020603050405020304" pitchFamily="18" charset="0"/>
                  </a:rPr>
                  <a:t>(</a:t>
                </a:r>
                <a:r>
                  <a:rPr lang="zh-CN" altLang="zh-CN" sz="2000" dirty="0">
                    <a:solidFill>
                      <a:srgbClr val="000000"/>
                    </a:solidFill>
                    <a:latin typeface="SimSun" panose="02010600030101010101" pitchFamily="2" charset="-122"/>
                    <a:ea typeface="SimSun" panose="02010600030101010101" pitchFamily="2" charset="-122"/>
                    <a:cs typeface="Times New Roman" panose="02020603050405020304" pitchFamily="18" charset="0"/>
                  </a:rPr>
                  <a:t>北京</a:t>
                </a:r>
                <a:r>
                  <a:rPr lang="en-US" altLang="zh-CN" sz="2000" dirty="0">
                    <a:solidFill>
                      <a:srgbClr val="000000"/>
                    </a:solidFill>
                    <a:latin typeface="SimSun" panose="02010600030101010101" pitchFamily="2" charset="-122"/>
                    <a:ea typeface="SimSun" panose="02010600030101010101" pitchFamily="2" charset="-122"/>
                    <a:cs typeface="Times New Roman" panose="02020603050405020304" pitchFamily="18" charset="0"/>
                  </a:rPr>
                  <a:t>, </a:t>
                </a:r>
                <a:r>
                  <a:rPr lang="zh-CN" altLang="zh-CN" sz="2000" dirty="0">
                    <a:solidFill>
                      <a:srgbClr val="000000"/>
                    </a:solidFill>
                    <a:latin typeface="SimSun" panose="02010600030101010101" pitchFamily="2" charset="-122"/>
                    <a:ea typeface="SimSun" panose="02010600030101010101" pitchFamily="2" charset="-122"/>
                    <a:cs typeface="Times New Roman" panose="02020603050405020304" pitchFamily="18" charset="0"/>
                  </a:rPr>
                  <a:t>中国</a:t>
                </a:r>
                <a:r>
                  <a:rPr lang="en-US" altLang="zh-CN" sz="2000" dirty="0">
                    <a:solidFill>
                      <a:srgbClr val="000000"/>
                    </a:solidFill>
                    <a:latin typeface="SimSun" panose="02010600030101010101" pitchFamily="2" charset="-122"/>
                    <a:ea typeface="SimSun" panose="02010600030101010101" pitchFamily="2" charset="-122"/>
                    <a:cs typeface="Times New Roman" panose="02020603050405020304" pitchFamily="18" charset="0"/>
                  </a:rPr>
                  <a:t>)</a:t>
                </a:r>
                <a:r>
                  <a:rPr lang="zh-CN" altLang="zh-CN" sz="2000" dirty="0">
                    <a:solidFill>
                      <a:srgbClr val="000000"/>
                    </a:solidFill>
                    <a:latin typeface="SimSun" panose="02010600030101010101" pitchFamily="2" charset="-122"/>
                    <a:ea typeface="SimSun" panose="02010600030101010101" pitchFamily="2" charset="-122"/>
                    <a:cs typeface="Times New Roman" panose="02020603050405020304" pitchFamily="18" charset="0"/>
                  </a:rPr>
                  <a:t>。其中，北京和中国是两个个体常量，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000" i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楷体_GB2312"/>
                        <a:cs typeface="Times New Roman" panose="02020603050405020304" pitchFamily="18" charset="0"/>
                      </a:rPr>
                      <m:t>Capital</m:t>
                    </m:r>
                  </m:oMath>
                </a14:m>
                <a:r>
                  <a:rPr lang="zh-CN" altLang="zh-CN" sz="2000" dirty="0">
                    <a:solidFill>
                      <a:srgbClr val="000000"/>
                    </a:solidFill>
                    <a:latin typeface="SimSun" panose="02010600030101010101" pitchFamily="2" charset="-122"/>
                    <a:ea typeface="SimSun" panose="02010600030101010101" pitchFamily="2" charset="-122"/>
                    <a:cs typeface="Times New Roman" panose="02020603050405020304" pitchFamily="18" charset="0"/>
                  </a:rPr>
                  <a:t>是一个描述</a:t>
                </a:r>
                <a:r>
                  <a:rPr lang="en-US" altLang="zh-CN" sz="2000" dirty="0">
                    <a:solidFill>
                      <a:srgbClr val="000000"/>
                    </a:solidFill>
                    <a:latin typeface="SimSun" panose="02010600030101010101" pitchFamily="2" charset="-122"/>
                    <a:ea typeface="SimSun" panose="02010600030101010101" pitchFamily="2" charset="-122"/>
                    <a:cs typeface="Times New Roman" panose="02020603050405020304" pitchFamily="18" charset="0"/>
                  </a:rPr>
                  <a:t>“</a:t>
                </a:r>
                <a:r>
                  <a:rPr lang="zh-CN" altLang="zh-CN" sz="2000" dirty="0">
                    <a:solidFill>
                      <a:srgbClr val="000000"/>
                    </a:solidFill>
                    <a:latin typeface="SimSun" panose="02010600030101010101" pitchFamily="2" charset="-122"/>
                    <a:ea typeface="SimSun" panose="02010600030101010101" pitchFamily="2" charset="-122"/>
                    <a:cs typeface="Times New Roman" panose="02020603050405020304" pitchFamily="18" charset="0"/>
                  </a:rPr>
                  <a:t>首都</a:t>
                </a:r>
                <a:r>
                  <a:rPr lang="en-US" altLang="zh-CN" sz="2000" dirty="0">
                    <a:solidFill>
                      <a:srgbClr val="000000"/>
                    </a:solidFill>
                    <a:latin typeface="SimSun" panose="02010600030101010101" pitchFamily="2" charset="-122"/>
                    <a:ea typeface="SimSun" panose="02010600030101010101" pitchFamily="2" charset="-122"/>
                    <a:cs typeface="Times New Roman" panose="02020603050405020304" pitchFamily="18" charset="0"/>
                  </a:rPr>
                  <a:t>”</a:t>
                </a:r>
                <a:r>
                  <a:rPr lang="zh-CN" altLang="zh-CN" sz="2000" dirty="0">
                    <a:solidFill>
                      <a:srgbClr val="000000"/>
                    </a:solidFill>
                    <a:latin typeface="SimSun" panose="02010600030101010101" pitchFamily="2" charset="-122"/>
                    <a:ea typeface="SimSun" panose="02010600030101010101" pitchFamily="2" charset="-122"/>
                    <a:cs typeface="Times New Roman" panose="02020603050405020304" pitchFamily="18" charset="0"/>
                  </a:rPr>
                  <a:t>这个二元关系的谓词。</a:t>
                </a:r>
              </a:p>
            </p:txBody>
          </p:sp>
        </mc:Choice>
        <mc:Fallback xmlns="">
          <p:sp>
            <p:nvSpPr>
              <p:cNvPr id="12" name="矩形 11">
                <a:extLst>
                  <a:ext uri="{FF2B5EF4-FFF2-40B4-BE49-F238E27FC236}">
                    <a16:creationId xmlns:a16="http://schemas.microsoft.com/office/drawing/2014/main" id="{B3DBB06E-88B5-4306-93DF-E23F197A2DA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9363" y="2743409"/>
                <a:ext cx="7628861" cy="2801473"/>
              </a:xfrm>
              <a:prstGeom prst="rect">
                <a:avLst/>
              </a:prstGeom>
              <a:blipFill>
                <a:blip r:embed="rId3"/>
                <a:stretch>
                  <a:fillRect l="-997" r="-664" b="-271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标题 1">
            <a:extLst>
              <a:ext uri="{FF2B5EF4-FFF2-40B4-BE49-F238E27FC236}">
                <a16:creationId xmlns:a16="http://schemas.microsoft.com/office/drawing/2014/main" id="{2C6AB5E5-7FA2-F4F9-AADB-49EE74DD9F86}"/>
              </a:ext>
            </a:extLst>
          </p:cNvPr>
          <p:cNvSpPr txBox="1">
            <a:spLocks/>
          </p:cNvSpPr>
          <p:nvPr/>
        </p:nvSpPr>
        <p:spPr>
          <a:xfrm>
            <a:off x="385815" y="47495"/>
            <a:ext cx="4080309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zh-CN" altLang="en-US" sz="3200" dirty="0">
                <a:solidFill>
                  <a:srgbClr val="FF0000"/>
                </a:solidFill>
                <a:latin typeface=".AppleSystemUIFont"/>
              </a:rPr>
              <a:t>谓词逻辑</a:t>
            </a:r>
          </a:p>
        </p:txBody>
      </p:sp>
    </p:spTree>
    <p:extLst>
      <p:ext uri="{BB962C8B-B14F-4D97-AF65-F5344CB8AC3E}">
        <p14:creationId xmlns:p14="http://schemas.microsoft.com/office/powerpoint/2010/main" val="130873248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1639257" y="1085198"/>
            <a:ext cx="8846288" cy="497934"/>
            <a:chOff x="2228892" y="2819853"/>
            <a:chExt cx="4786506" cy="497934"/>
          </a:xfrm>
        </p:grpSpPr>
        <p:sp>
          <p:nvSpPr>
            <p:cNvPr id="3" name="平行四边形 2"/>
            <p:cNvSpPr/>
            <p:nvPr/>
          </p:nvSpPr>
          <p:spPr bwMode="auto">
            <a:xfrm>
              <a:off x="4099943" y="2849787"/>
              <a:ext cx="2547685" cy="468000"/>
            </a:xfrm>
            <a:prstGeom prst="parallelogram">
              <a:avLst/>
            </a:prstGeom>
            <a:solidFill>
              <a:srgbClr val="016773"/>
            </a:solidFill>
            <a:ln w="1905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en-US" dirty="0"/>
            </a:p>
          </p:txBody>
        </p:sp>
        <p:sp>
          <p:nvSpPr>
            <p:cNvPr id="4" name="平行四边形 3"/>
            <p:cNvSpPr/>
            <p:nvPr/>
          </p:nvSpPr>
          <p:spPr bwMode="auto">
            <a:xfrm>
              <a:off x="2228892" y="2819853"/>
              <a:ext cx="4786506" cy="468000"/>
            </a:xfrm>
            <a:prstGeom prst="parallelogram">
              <a:avLst/>
            </a:prstGeom>
            <a:solidFill>
              <a:srgbClr val="FAFAFA"/>
            </a:solidFill>
            <a:ln w="19050">
              <a:gradFill>
                <a:gsLst>
                  <a:gs pos="65000">
                    <a:srgbClr val="81C7C9"/>
                  </a:gs>
                  <a:gs pos="100000">
                    <a:srgbClr val="016773"/>
                  </a:gs>
                </a:gsLst>
                <a:lin ang="17400000" scaled="0"/>
              </a:gradFill>
            </a:ln>
            <a:effectLst>
              <a:outerShdw blurRad="50800" dist="38100" dir="18900000" algn="bl" rotWithShape="0">
                <a:schemeClr val="bg2">
                  <a:lumMod val="75000"/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en-US" dirty="0"/>
            </a:p>
          </p:txBody>
        </p:sp>
        <p:sp>
          <p:nvSpPr>
            <p:cNvPr id="5" name="矩形 4"/>
            <p:cNvSpPr/>
            <p:nvPr/>
          </p:nvSpPr>
          <p:spPr>
            <a:xfrm>
              <a:off x="2591332" y="2826188"/>
              <a:ext cx="4133539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zh-CN" altLang="en-US" sz="2400" b="1" dirty="0">
                  <a:solidFill>
                    <a:schemeClr val="accent1">
                      <a:lumMod val="75000"/>
                    </a:schemeClr>
                  </a:solidFill>
                  <a:latin typeface="宋体" panose="02010600030101010101" pitchFamily="2" charset="-122"/>
                </a:rPr>
                <a:t>定义 全称量词和存在量词</a:t>
              </a:r>
            </a:p>
          </p:txBody>
        </p:sp>
      </p:grpSp>
      <p:sp>
        <p:nvSpPr>
          <p:cNvPr id="10" name="矩形: 圆角 6">
            <a:extLst>
              <a:ext uri="{FF2B5EF4-FFF2-40B4-BE49-F238E27FC236}">
                <a16:creationId xmlns:a16="http://schemas.microsoft.com/office/drawing/2014/main" id="{9AD4C5F3-5354-4A38-80CB-FCFD482969E7}"/>
              </a:ext>
            </a:extLst>
          </p:cNvPr>
          <p:cNvSpPr/>
          <p:nvPr/>
        </p:nvSpPr>
        <p:spPr>
          <a:xfrm>
            <a:off x="1440713" y="1914373"/>
            <a:ext cx="9431080" cy="1648142"/>
          </a:xfrm>
          <a:prstGeom prst="roundRect">
            <a:avLst>
              <a:gd name="adj" fmla="val 0"/>
            </a:avLst>
          </a:prstGeom>
          <a:gradFill>
            <a:gsLst>
              <a:gs pos="22000">
                <a:srgbClr val="016773"/>
              </a:gs>
              <a:gs pos="100000">
                <a:srgbClr val="00ABA5"/>
              </a:gs>
            </a:gsLst>
            <a:lin ang="3000000" scaled="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F8F1DBAB-1A40-4B79-9BD2-F204657EA225}"/>
              </a:ext>
            </a:extLst>
          </p:cNvPr>
          <p:cNvSpPr/>
          <p:nvPr/>
        </p:nvSpPr>
        <p:spPr>
          <a:xfrm>
            <a:off x="1645419" y="1884439"/>
            <a:ext cx="8705376" cy="13591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2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u"/>
            </a:pPr>
            <a:r>
              <a:rPr lang="zh-CN" altLang="en-US" b="1" dirty="0">
                <a:solidFill>
                  <a:srgbClr val="FFFF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imSun" panose="02010600030101010101" pitchFamily="2" charset="-122"/>
                <a:ea typeface="SimSun" panose="02010600030101010101" pitchFamily="2" charset="-122"/>
                <a:cs typeface="Times New Roman" panose="02020603050405020304" pitchFamily="18" charset="0"/>
              </a:rPr>
              <a:t>全称量词：全称量词表示一切的、所有的、凡是、每一个等，用符号∀表示</a:t>
            </a:r>
          </a:p>
          <a:p>
            <a:pPr marL="342900" indent="-342900">
              <a:lnSpc>
                <a:spcPct val="2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u"/>
            </a:pPr>
            <a:r>
              <a:rPr lang="zh-CN" altLang="en-US" b="1" dirty="0">
                <a:solidFill>
                  <a:srgbClr val="FFFF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imSun" panose="02010600030101010101" pitchFamily="2" charset="-122"/>
                <a:ea typeface="SimSun" panose="02010600030101010101" pitchFamily="2" charset="-122"/>
                <a:cs typeface="Times New Roman" panose="02020603050405020304" pitchFamily="18" charset="0"/>
              </a:rPr>
              <a:t>存在量词：存在量词表示存在、有一个、某些等，用符号∃表示</a:t>
            </a:r>
            <a:endParaRPr lang="zh-CN" altLang="zh-CN" b="1" dirty="0">
              <a:solidFill>
                <a:srgbClr val="FFFFC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imSun" panose="02010600030101010101" pitchFamily="2" charset="-122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矩形 8">
                <a:extLst>
                  <a:ext uri="{FF2B5EF4-FFF2-40B4-BE49-F238E27FC236}">
                    <a16:creationId xmlns:a16="http://schemas.microsoft.com/office/drawing/2014/main" id="{51418B65-8F0D-4B5A-B4CA-54B9807F5768}"/>
                  </a:ext>
                </a:extLst>
              </p:cNvPr>
              <p:cNvSpPr/>
              <p:nvPr/>
            </p:nvSpPr>
            <p:spPr>
              <a:xfrm>
                <a:off x="1384892" y="3592449"/>
                <a:ext cx="10213549" cy="95481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zh-CN" sz="200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∀</m:t>
                    </m:r>
                    <m:r>
                      <a:rPr lang="en-US" altLang="zh-CN" sz="200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𝑥</m:t>
                    </m:r>
                  </m:oMath>
                </a14:m>
                <a:r>
                  <a:rPr lang="zh-CN" altLang="zh-CN" sz="2000" dirty="0">
                    <a:latin typeface="SimSun" panose="02010600030101010101" pitchFamily="2" charset="-122"/>
                    <a:ea typeface="SimSun" panose="02010600030101010101" pitchFamily="2" charset="-122"/>
                    <a:cs typeface="Times New Roman" panose="02020603050405020304" pitchFamily="18" charset="0"/>
                  </a:rPr>
                  <a:t>表示定义域中的所有个体，</a:t>
                </a:r>
                <a14:m>
                  <m:oMath xmlns:m="http://schemas.openxmlformats.org/officeDocument/2006/math">
                    <m:r>
                      <a:rPr lang="en-US" altLang="zh-CN" sz="200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(∀</m:t>
                    </m:r>
                    <m:r>
                      <a:rPr lang="en-US" altLang="zh-CN" sz="200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altLang="zh-CN" sz="200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)</m:t>
                    </m:r>
                    <m:r>
                      <a:rPr lang="en-US" altLang="zh-CN" sz="200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𝑃</m:t>
                    </m:r>
                    <m:r>
                      <a:rPr lang="en-US" altLang="zh-CN" sz="200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zh-CN" sz="200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altLang="zh-CN" sz="200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zh-CN" altLang="zh-CN" sz="2000" dirty="0">
                    <a:latin typeface="SimSun" panose="02010600030101010101" pitchFamily="2" charset="-122"/>
                    <a:ea typeface="SimSun" panose="02010600030101010101" pitchFamily="2" charset="-122"/>
                    <a:cs typeface="Times New Roman" panose="02020603050405020304" pitchFamily="18" charset="0"/>
                  </a:rPr>
                  <a:t>表示定义域中的所有个体具有性质</a:t>
                </a:r>
                <a14:m>
                  <m:oMath xmlns:m="http://schemas.openxmlformats.org/officeDocument/2006/math">
                    <m:r>
                      <a:rPr lang="en-US" altLang="zh-CN" sz="200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𝑃</m:t>
                    </m:r>
                  </m:oMath>
                </a14:m>
                <a:r>
                  <a:rPr lang="zh-CN" altLang="zh-CN" sz="2000" dirty="0">
                    <a:latin typeface="SimSun" panose="02010600030101010101" pitchFamily="2" charset="-122"/>
                    <a:ea typeface="SimSun" panose="02010600030101010101" pitchFamily="2" charset="-122"/>
                    <a:cs typeface="Times New Roman" panose="02020603050405020304" pitchFamily="18" charset="0"/>
                  </a:rPr>
                  <a:t>；</a:t>
                </a:r>
                <a14:m>
                  <m:oMath xmlns:m="http://schemas.openxmlformats.org/officeDocument/2006/math">
                    <m:r>
                      <a:rPr lang="en-US" altLang="zh-CN" sz="200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∃</m:t>
                    </m:r>
                    <m:r>
                      <a:rPr lang="en-US" altLang="zh-CN" sz="200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𝑥</m:t>
                    </m:r>
                  </m:oMath>
                </a14:m>
                <a:r>
                  <a:rPr lang="zh-CN" altLang="zh-CN" sz="2000" dirty="0">
                    <a:latin typeface="SimSun" panose="02010600030101010101" pitchFamily="2" charset="-122"/>
                    <a:ea typeface="SimSun" panose="02010600030101010101" pitchFamily="2" charset="-122"/>
                    <a:cs typeface="Times New Roman" panose="02020603050405020304" pitchFamily="18" charset="0"/>
                  </a:rPr>
                  <a:t>表示定义域中存在一个或若干个个体，</a:t>
                </a:r>
                <a14:m>
                  <m:oMath xmlns:m="http://schemas.openxmlformats.org/officeDocument/2006/math">
                    <m:r>
                      <a:rPr lang="en-US" altLang="zh-CN" sz="200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(∃</m:t>
                    </m:r>
                    <m:r>
                      <a:rPr lang="en-US" altLang="zh-CN" sz="200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altLang="zh-CN" sz="200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)</m:t>
                    </m:r>
                    <m:r>
                      <a:rPr lang="en-US" altLang="zh-CN" sz="200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𝑃</m:t>
                    </m:r>
                    <m:r>
                      <a:rPr lang="en-US" altLang="zh-CN" sz="200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zh-CN" sz="200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altLang="zh-CN" sz="200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zh-CN" altLang="zh-CN" sz="2000" dirty="0">
                    <a:latin typeface="SimSun" panose="02010600030101010101" pitchFamily="2" charset="-122"/>
                    <a:ea typeface="SimSun" panose="02010600030101010101" pitchFamily="2" charset="-122"/>
                    <a:cs typeface="Times New Roman" panose="02020603050405020304" pitchFamily="18" charset="0"/>
                  </a:rPr>
                  <a:t>表示定义域中存在一个个体或若干个体具有性质</a:t>
                </a:r>
                <a14:m>
                  <m:oMath xmlns:m="http://schemas.openxmlformats.org/officeDocument/2006/math">
                    <m:r>
                      <a:rPr lang="en-US" altLang="zh-CN" sz="200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𝑃</m:t>
                    </m:r>
                  </m:oMath>
                </a14:m>
                <a:r>
                  <a:rPr lang="zh-CN" altLang="zh-CN" sz="2000" dirty="0">
                    <a:latin typeface="SimSun" panose="02010600030101010101" pitchFamily="2" charset="-122"/>
                    <a:ea typeface="SimSun" panose="02010600030101010101" pitchFamily="2" charset="-122"/>
                    <a:cs typeface="Times New Roman" panose="02020603050405020304" pitchFamily="18" charset="0"/>
                  </a:rPr>
                  <a:t>。</a:t>
                </a:r>
                <a:endParaRPr lang="zh-CN" altLang="en-US" sz="2000" dirty="0">
                  <a:latin typeface="SimSun" panose="02010600030101010101" pitchFamily="2" charset="-122"/>
                  <a:ea typeface="SimSun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9" name="矩形 8">
                <a:extLst>
                  <a:ext uri="{FF2B5EF4-FFF2-40B4-BE49-F238E27FC236}">
                    <a16:creationId xmlns:a16="http://schemas.microsoft.com/office/drawing/2014/main" id="{51418B65-8F0D-4B5A-B4CA-54B9807F576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84892" y="3592449"/>
                <a:ext cx="10213549" cy="954813"/>
              </a:xfrm>
              <a:prstGeom prst="rect">
                <a:avLst/>
              </a:prstGeom>
              <a:blipFill>
                <a:blip r:embed="rId3"/>
                <a:stretch>
                  <a:fillRect l="-496" r="-3102" b="-779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矩形 5">
                <a:extLst>
                  <a:ext uri="{FF2B5EF4-FFF2-40B4-BE49-F238E27FC236}">
                    <a16:creationId xmlns:a16="http://schemas.microsoft.com/office/drawing/2014/main" id="{75B04111-F0DD-4D83-8792-85DF0ADEC20C}"/>
                  </a:ext>
                </a:extLst>
              </p:cNvPr>
              <p:cNvSpPr/>
              <p:nvPr/>
            </p:nvSpPr>
            <p:spPr>
              <a:xfrm>
                <a:off x="3243199" y="4554347"/>
                <a:ext cx="6032870" cy="221220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342900" lvl="0" indent="-342900">
                  <a:lnSpc>
                    <a:spcPct val="150000"/>
                  </a:lnSpc>
                  <a:spcAft>
                    <a:spcPts val="0"/>
                  </a:spcAft>
                  <a:buFont typeface="+mj-ea"/>
                  <a:buAutoNum type="circleNumDbPlain"/>
                  <a:tabLst>
                    <a:tab pos="228600" algn="l"/>
                  </a:tabLst>
                </a:pPr>
                <a14:m>
                  <m:oMath xmlns:m="http://schemas.openxmlformats.org/officeDocument/2006/math">
                    <m:r>
                      <a:rPr lang="en-US" altLang="zh-CN" sz="2000" i="1" kern="0">
                        <a:latin typeface="Cambria Math" panose="02040503050406030204" pitchFamily="18" charset="0"/>
                        <a:ea typeface="楷体" panose="02010609060101010101" pitchFamily="49" charset="-122"/>
                        <a:cs typeface="Times New Roman" panose="02020603050405020304" pitchFamily="18" charset="0"/>
                      </a:rPr>
                      <m:t>(∀</m:t>
                    </m:r>
                    <m:r>
                      <a:rPr lang="en-US" altLang="zh-CN" sz="2000" i="1" kern="0">
                        <a:latin typeface="Cambria Math" panose="02040503050406030204" pitchFamily="18" charset="0"/>
                        <a:ea typeface="楷体" panose="02010609060101010101" pitchFamily="49" charset="-122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altLang="zh-CN" sz="2000" i="1" kern="0">
                        <a:latin typeface="Cambria Math" panose="02040503050406030204" pitchFamily="18" charset="0"/>
                        <a:ea typeface="楷体" panose="02010609060101010101" pitchFamily="49" charset="-122"/>
                        <a:cs typeface="Times New Roman" panose="02020603050405020304" pitchFamily="18" charset="0"/>
                      </a:rPr>
                      <m:t>)(</m:t>
                    </m:r>
                    <m:r>
                      <a:rPr lang="en-US" altLang="zh-CN" sz="2000" i="1" kern="0">
                        <a:latin typeface="Cambria Math" panose="02040503050406030204" pitchFamily="18" charset="0"/>
                        <a:ea typeface="楷体" panose="02010609060101010101" pitchFamily="49" charset="-122"/>
                        <a:cs typeface="Times New Roman" panose="02020603050405020304" pitchFamily="18" charset="0"/>
                      </a:rPr>
                      <m:t>𝐴</m:t>
                    </m:r>
                    <m:d>
                      <m:dPr>
                        <m:ctrlPr>
                          <a:rPr lang="zh-CN" altLang="zh-CN" sz="2000" i="1" ker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CN" sz="2000" i="1" kern="0">
                            <a:latin typeface="Cambria Math" panose="02040503050406030204" pitchFamily="18" charset="0"/>
                            <a:ea typeface="楷体" panose="02010609060101010101" pitchFamily="49" charset="-122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</m:d>
                    <m:r>
                      <a:rPr lang="en-US" altLang="zh-CN" sz="2000" i="1" kern="0">
                        <a:latin typeface="Cambria Math" panose="02040503050406030204" pitchFamily="18" charset="0"/>
                        <a:ea typeface="楷体" panose="02010609060101010101" pitchFamily="49" charset="-122"/>
                        <a:cs typeface="Times New Roman" panose="02020603050405020304" pitchFamily="18" charset="0"/>
                      </a:rPr>
                      <m:t>∨</m:t>
                    </m:r>
                    <m:r>
                      <a:rPr lang="en-US" altLang="zh-CN" sz="2000" i="1" kern="0">
                        <a:latin typeface="Cambria Math" panose="02040503050406030204" pitchFamily="18" charset="0"/>
                        <a:ea typeface="楷体" panose="02010609060101010101" pitchFamily="49" charset="-122"/>
                        <a:cs typeface="Times New Roman" panose="02020603050405020304" pitchFamily="18" charset="0"/>
                      </a:rPr>
                      <m:t>𝐵</m:t>
                    </m:r>
                    <m:r>
                      <a:rPr lang="en-US" altLang="zh-CN" sz="2000" i="1" kern="0">
                        <a:latin typeface="Cambria Math" panose="02040503050406030204" pitchFamily="18" charset="0"/>
                        <a:ea typeface="楷体" panose="02010609060101010101" pitchFamily="49" charset="-122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zh-CN" sz="2000" i="1" kern="0">
                        <a:latin typeface="Cambria Math" panose="02040503050406030204" pitchFamily="18" charset="0"/>
                        <a:ea typeface="楷体" panose="02010609060101010101" pitchFamily="49" charset="-122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altLang="zh-CN" sz="2000" i="1" kern="0">
                        <a:latin typeface="Cambria Math" panose="02040503050406030204" pitchFamily="18" charset="0"/>
                        <a:ea typeface="楷体" panose="02010609060101010101" pitchFamily="49" charset="-122"/>
                        <a:cs typeface="Times New Roman" panose="02020603050405020304" pitchFamily="18" charset="0"/>
                      </a:rPr>
                      <m:t>))≡(∀</m:t>
                    </m:r>
                    <m:r>
                      <a:rPr lang="en-US" altLang="zh-CN" sz="2000" i="1" kern="0">
                        <a:latin typeface="Cambria Math" panose="02040503050406030204" pitchFamily="18" charset="0"/>
                        <a:ea typeface="楷体" panose="02010609060101010101" pitchFamily="49" charset="-122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altLang="zh-CN" sz="2000" i="1" kern="0">
                        <a:latin typeface="Cambria Math" panose="02040503050406030204" pitchFamily="18" charset="0"/>
                        <a:ea typeface="楷体" panose="02010609060101010101" pitchFamily="49" charset="-122"/>
                        <a:cs typeface="Times New Roman" panose="02020603050405020304" pitchFamily="18" charset="0"/>
                      </a:rPr>
                      <m:t>)</m:t>
                    </m:r>
                    <m:r>
                      <a:rPr lang="en-US" altLang="zh-CN" sz="2000" i="1" kern="0">
                        <a:latin typeface="Cambria Math" panose="02040503050406030204" pitchFamily="18" charset="0"/>
                        <a:ea typeface="楷体" panose="02010609060101010101" pitchFamily="49" charset="-122"/>
                        <a:cs typeface="Times New Roman" panose="02020603050405020304" pitchFamily="18" charset="0"/>
                      </a:rPr>
                      <m:t>𝐴</m:t>
                    </m:r>
                    <m:d>
                      <m:dPr>
                        <m:ctrlPr>
                          <a:rPr lang="zh-CN" altLang="zh-CN" sz="2000" i="1" ker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CN" sz="2000" i="1" kern="0">
                            <a:latin typeface="Cambria Math" panose="02040503050406030204" pitchFamily="18" charset="0"/>
                            <a:ea typeface="楷体" panose="02010609060101010101" pitchFamily="49" charset="-122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</m:d>
                    <m:r>
                      <a:rPr lang="en-US" altLang="zh-CN" sz="2000" i="1" kern="0">
                        <a:latin typeface="Cambria Math" panose="02040503050406030204" pitchFamily="18" charset="0"/>
                        <a:ea typeface="楷体" panose="02010609060101010101" pitchFamily="49" charset="-122"/>
                        <a:cs typeface="Times New Roman" panose="02020603050405020304" pitchFamily="18" charset="0"/>
                      </a:rPr>
                      <m:t>∨(∀</m:t>
                    </m:r>
                    <m:r>
                      <a:rPr lang="en-US" altLang="zh-CN" sz="2000" i="1" kern="0">
                        <a:latin typeface="Cambria Math" panose="02040503050406030204" pitchFamily="18" charset="0"/>
                        <a:ea typeface="楷体" panose="02010609060101010101" pitchFamily="49" charset="-122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altLang="zh-CN" sz="2000" i="1" kern="0">
                        <a:latin typeface="Cambria Math" panose="02040503050406030204" pitchFamily="18" charset="0"/>
                        <a:ea typeface="楷体" panose="02010609060101010101" pitchFamily="49" charset="-122"/>
                        <a:cs typeface="Times New Roman" panose="02020603050405020304" pitchFamily="18" charset="0"/>
                      </a:rPr>
                      <m:t>)</m:t>
                    </m:r>
                    <m:r>
                      <a:rPr lang="en-US" altLang="zh-CN" sz="2000" i="1" kern="0">
                        <a:latin typeface="Cambria Math" panose="02040503050406030204" pitchFamily="18" charset="0"/>
                        <a:ea typeface="楷体" panose="02010609060101010101" pitchFamily="49" charset="-122"/>
                        <a:cs typeface="Times New Roman" panose="02020603050405020304" pitchFamily="18" charset="0"/>
                      </a:rPr>
                      <m:t>𝐵</m:t>
                    </m:r>
                    <m:r>
                      <a:rPr lang="en-US" altLang="zh-CN" sz="2000" i="1" kern="0">
                        <a:latin typeface="Cambria Math" panose="02040503050406030204" pitchFamily="18" charset="0"/>
                        <a:ea typeface="楷体" panose="02010609060101010101" pitchFamily="49" charset="-122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zh-CN" sz="2000" i="1" kern="0">
                        <a:latin typeface="Cambria Math" panose="02040503050406030204" pitchFamily="18" charset="0"/>
                        <a:ea typeface="楷体" panose="02010609060101010101" pitchFamily="49" charset="-122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altLang="zh-CN" sz="2000" i="1" kern="0">
                        <a:latin typeface="Cambria Math" panose="02040503050406030204" pitchFamily="18" charset="0"/>
                        <a:ea typeface="楷体" panose="02010609060101010101" pitchFamily="49" charset="-122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zh-CN" altLang="zh-CN" sz="2000" kern="0" dirty="0">
                    <a:latin typeface="SimSun" panose="02010600030101010101" pitchFamily="2" charset="-122"/>
                    <a:ea typeface="SimSun" panose="02010600030101010101" pitchFamily="2" charset="-122"/>
                    <a:cs typeface="Times New Roman" panose="02020603050405020304" pitchFamily="18" charset="0"/>
                  </a:rPr>
                  <a:t>不成立</a:t>
                </a:r>
                <a:endParaRPr lang="en-US" altLang="zh-CN" sz="2000" kern="0" dirty="0">
                  <a:latin typeface="SimSun" panose="02010600030101010101" pitchFamily="2" charset="-122"/>
                  <a:ea typeface="SimSun" panose="02010600030101010101" pitchFamily="2" charset="-122"/>
                  <a:cs typeface="Times New Roman" panose="02020603050405020304" pitchFamily="18" charset="0"/>
                </a:endParaRPr>
              </a:p>
              <a:p>
                <a:pPr marL="342900" lvl="0" indent="-342900">
                  <a:lnSpc>
                    <a:spcPct val="150000"/>
                  </a:lnSpc>
                  <a:buFont typeface="+mj-ea"/>
                  <a:buAutoNum type="circleNumDbPlain"/>
                </a:pPr>
                <a14:m>
                  <m:oMath xmlns:m="http://schemas.openxmlformats.org/officeDocument/2006/math">
                    <m:r>
                      <a:rPr lang="en-US" altLang="zh-CN" sz="2000" i="1">
                        <a:latin typeface="Cambria Math" panose="02040503050406030204" pitchFamily="18" charset="0"/>
                      </a:rPr>
                      <m:t>(∀</m:t>
                    </m:r>
                    <m:r>
                      <a:rPr lang="en-US" altLang="zh-CN" sz="20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sz="2000" i="1">
                        <a:latin typeface="Cambria Math" panose="02040503050406030204" pitchFamily="18" charset="0"/>
                      </a:rPr>
                      <m:t>)(</m:t>
                    </m:r>
                    <m:r>
                      <a:rPr lang="en-US" altLang="zh-CN" sz="2000" i="1">
                        <a:latin typeface="Cambria Math" panose="02040503050406030204" pitchFamily="18" charset="0"/>
                      </a:rPr>
                      <m:t>𝐴</m:t>
                    </m:r>
                    <m:d>
                      <m:dPr>
                        <m:ctrlPr>
                          <a:rPr lang="zh-CN" altLang="zh-CN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altLang="zh-CN" sz="2000" i="1">
                        <a:latin typeface="Cambria Math" panose="02040503050406030204" pitchFamily="18" charset="0"/>
                      </a:rPr>
                      <m:t>∧</m:t>
                    </m:r>
                    <m:r>
                      <a:rPr lang="en-US" altLang="zh-CN" sz="2000" i="1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altLang="zh-CN" sz="20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0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sz="2000" i="1">
                        <a:latin typeface="Cambria Math" panose="02040503050406030204" pitchFamily="18" charset="0"/>
                      </a:rPr>
                      <m:t>))≡(∀</m:t>
                    </m:r>
                    <m:r>
                      <a:rPr lang="en-US" altLang="zh-CN" sz="20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sz="2000" i="1"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altLang="zh-CN" sz="2000" i="1">
                        <a:latin typeface="Cambria Math" panose="02040503050406030204" pitchFamily="18" charset="0"/>
                      </a:rPr>
                      <m:t>𝐴</m:t>
                    </m:r>
                    <m:d>
                      <m:dPr>
                        <m:ctrlPr>
                          <a:rPr lang="zh-CN" altLang="zh-CN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altLang="zh-CN" sz="2000" i="1">
                        <a:latin typeface="Cambria Math" panose="02040503050406030204" pitchFamily="18" charset="0"/>
                      </a:rPr>
                      <m:t>∧(∀</m:t>
                    </m:r>
                    <m:r>
                      <a:rPr lang="en-US" altLang="zh-CN" sz="20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sz="2000" i="1"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altLang="zh-CN" sz="2000" i="1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altLang="zh-CN" sz="20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0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sz="20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zh-CN" sz="2000" dirty="0">
                    <a:latin typeface="SimSun" panose="02010600030101010101" pitchFamily="2" charset="-122"/>
                    <a:ea typeface="SimSun" panose="02010600030101010101" pitchFamily="2" charset="-122"/>
                    <a:cs typeface="Times New Roman" panose="02020603050405020304" pitchFamily="18" charset="0"/>
                  </a:rPr>
                  <a:t>成立</a:t>
                </a:r>
              </a:p>
              <a:p>
                <a:pPr marL="342900" lvl="0" indent="-342900">
                  <a:lnSpc>
                    <a:spcPct val="150000"/>
                  </a:lnSpc>
                  <a:buFont typeface="+mj-ea"/>
                  <a:buAutoNum type="circleNumDbPlain"/>
                </a:pPr>
                <a14:m>
                  <m:oMath xmlns:m="http://schemas.openxmlformats.org/officeDocument/2006/math">
                    <m:r>
                      <a:rPr lang="en-US" altLang="zh-CN" sz="2000" i="1">
                        <a:latin typeface="Cambria Math" panose="02040503050406030204" pitchFamily="18" charset="0"/>
                      </a:rPr>
                      <m:t>(∃</m:t>
                    </m:r>
                    <m:r>
                      <a:rPr lang="en-US" altLang="zh-CN" sz="20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sz="2000" i="1">
                        <a:latin typeface="Cambria Math" panose="02040503050406030204" pitchFamily="18" charset="0"/>
                      </a:rPr>
                      <m:t>)(</m:t>
                    </m:r>
                    <m:r>
                      <a:rPr lang="en-US" altLang="zh-CN" sz="2000" i="1">
                        <a:latin typeface="Cambria Math" panose="02040503050406030204" pitchFamily="18" charset="0"/>
                      </a:rPr>
                      <m:t>𝐴</m:t>
                    </m:r>
                    <m:d>
                      <m:dPr>
                        <m:ctrlPr>
                          <a:rPr lang="zh-CN" altLang="zh-CN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altLang="zh-CN" sz="2000" i="1">
                        <a:latin typeface="Cambria Math" panose="02040503050406030204" pitchFamily="18" charset="0"/>
                      </a:rPr>
                      <m:t>∨</m:t>
                    </m:r>
                    <m:r>
                      <a:rPr lang="en-US" altLang="zh-CN" sz="2000" i="1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altLang="zh-CN" sz="20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0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sz="2000" i="1">
                        <a:latin typeface="Cambria Math" panose="02040503050406030204" pitchFamily="18" charset="0"/>
                      </a:rPr>
                      <m:t>))≡(∃</m:t>
                    </m:r>
                    <m:r>
                      <a:rPr lang="en-US" altLang="zh-CN" sz="20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sz="2000" i="1"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altLang="zh-CN" sz="2000" i="1">
                        <a:latin typeface="Cambria Math" panose="02040503050406030204" pitchFamily="18" charset="0"/>
                      </a:rPr>
                      <m:t>𝐴</m:t>
                    </m:r>
                    <m:d>
                      <m:dPr>
                        <m:ctrlPr>
                          <a:rPr lang="zh-CN" altLang="zh-CN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altLang="zh-CN" sz="2000" i="1">
                        <a:latin typeface="Cambria Math" panose="02040503050406030204" pitchFamily="18" charset="0"/>
                      </a:rPr>
                      <m:t>∨(∃</m:t>
                    </m:r>
                    <m:r>
                      <a:rPr lang="en-US" altLang="zh-CN" sz="20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sz="2000" i="1"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altLang="zh-CN" sz="2000" i="1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altLang="zh-CN" sz="200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0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sz="200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zh-CN" sz="2000" dirty="0">
                    <a:latin typeface="SimSun" panose="02010600030101010101" pitchFamily="2" charset="-122"/>
                    <a:ea typeface="SimSun" panose="02010600030101010101" pitchFamily="2" charset="-122"/>
                    <a:cs typeface="Times New Roman" panose="02020603050405020304" pitchFamily="18" charset="0"/>
                  </a:rPr>
                  <a:t>成立</a:t>
                </a:r>
              </a:p>
              <a:p>
                <a:pPr marL="342900" lvl="0" indent="-342900">
                  <a:lnSpc>
                    <a:spcPct val="150000"/>
                  </a:lnSpc>
                  <a:buFont typeface="+mj-ea"/>
                  <a:buAutoNum type="circleNumDbPlain"/>
                </a:pPr>
                <a14:m>
                  <m:oMath xmlns:m="http://schemas.openxmlformats.org/officeDocument/2006/math">
                    <m:r>
                      <a:rPr lang="en-US" altLang="zh-CN" sz="2000" i="1">
                        <a:latin typeface="Cambria Math" panose="02040503050406030204" pitchFamily="18" charset="0"/>
                      </a:rPr>
                      <m:t>(∃</m:t>
                    </m:r>
                    <m:r>
                      <a:rPr lang="en-US" altLang="zh-CN" sz="20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sz="2000" i="1">
                        <a:latin typeface="Cambria Math" panose="02040503050406030204" pitchFamily="18" charset="0"/>
                      </a:rPr>
                      <m:t>)(</m:t>
                    </m:r>
                    <m:r>
                      <a:rPr lang="en-US" altLang="zh-CN" sz="2000" i="1">
                        <a:latin typeface="Cambria Math" panose="02040503050406030204" pitchFamily="18" charset="0"/>
                      </a:rPr>
                      <m:t>𝐴</m:t>
                    </m:r>
                    <m:d>
                      <m:dPr>
                        <m:ctrlPr>
                          <a:rPr lang="zh-CN" altLang="zh-CN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altLang="zh-CN" sz="2000" i="1">
                        <a:latin typeface="Cambria Math" panose="02040503050406030204" pitchFamily="18" charset="0"/>
                      </a:rPr>
                      <m:t>∧</m:t>
                    </m:r>
                    <m:r>
                      <a:rPr lang="en-US" altLang="zh-CN" sz="2000" i="1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altLang="zh-CN" sz="20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0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sz="2000" i="1">
                        <a:latin typeface="Cambria Math" panose="02040503050406030204" pitchFamily="18" charset="0"/>
                      </a:rPr>
                      <m:t>))≡(∃</m:t>
                    </m:r>
                    <m:r>
                      <a:rPr lang="en-US" altLang="zh-CN" sz="20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sz="2000" i="1"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altLang="zh-CN" sz="2000" i="1">
                        <a:latin typeface="Cambria Math" panose="02040503050406030204" pitchFamily="18" charset="0"/>
                      </a:rPr>
                      <m:t>𝐴</m:t>
                    </m:r>
                    <m:d>
                      <m:dPr>
                        <m:ctrlPr>
                          <a:rPr lang="zh-CN" altLang="zh-CN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altLang="zh-CN" sz="2000" i="1">
                        <a:latin typeface="Cambria Math" panose="02040503050406030204" pitchFamily="18" charset="0"/>
                      </a:rPr>
                      <m:t>∧(∃</m:t>
                    </m:r>
                    <m:r>
                      <a:rPr lang="en-US" altLang="zh-CN" sz="20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sz="2000" i="1"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altLang="zh-CN" sz="2000" i="1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altLang="zh-CN" sz="20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0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sz="20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zh-CN" sz="2000" dirty="0">
                    <a:latin typeface="SimSun" panose="02010600030101010101" pitchFamily="2" charset="-122"/>
                    <a:ea typeface="SimSun" panose="02010600030101010101" pitchFamily="2" charset="-122"/>
                    <a:cs typeface="Times New Roman" panose="02020603050405020304" pitchFamily="18" charset="0"/>
                  </a:rPr>
                  <a:t>不成立</a:t>
                </a:r>
              </a:p>
              <a:p>
                <a:pPr lvl="0" algn="just">
                  <a:lnSpc>
                    <a:spcPts val="2200"/>
                  </a:lnSpc>
                  <a:spcAft>
                    <a:spcPts val="0"/>
                  </a:spcAft>
                  <a:tabLst>
                    <a:tab pos="228600" algn="l"/>
                  </a:tabLst>
                </a:pPr>
                <a:endParaRPr lang="zh-CN" altLang="zh-CN" kern="100" dirty="0"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" name="矩形 5">
                <a:extLst>
                  <a:ext uri="{FF2B5EF4-FFF2-40B4-BE49-F238E27FC236}">
                    <a16:creationId xmlns:a16="http://schemas.microsoft.com/office/drawing/2014/main" id="{75B04111-F0DD-4D83-8792-85DF0ADEC20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43199" y="4554347"/>
                <a:ext cx="6032870" cy="2212209"/>
              </a:xfrm>
              <a:prstGeom prst="rect">
                <a:avLst/>
              </a:prstGeom>
              <a:blipFill>
                <a:blip r:embed="rId4"/>
                <a:stretch>
                  <a:fillRect l="-630" r="-21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标题 1">
            <a:extLst>
              <a:ext uri="{FF2B5EF4-FFF2-40B4-BE49-F238E27FC236}">
                <a16:creationId xmlns:a16="http://schemas.microsoft.com/office/drawing/2014/main" id="{EAEE4FD9-1322-65FF-AD89-37DC06A71253}"/>
              </a:ext>
            </a:extLst>
          </p:cNvPr>
          <p:cNvSpPr txBox="1">
            <a:spLocks/>
          </p:cNvSpPr>
          <p:nvPr/>
        </p:nvSpPr>
        <p:spPr>
          <a:xfrm>
            <a:off x="385815" y="47495"/>
            <a:ext cx="4080309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zh-CN" altLang="en-US" sz="3200" dirty="0">
                <a:solidFill>
                  <a:srgbClr val="FF0000"/>
                </a:solidFill>
                <a:latin typeface=".AppleSystemUIFont"/>
              </a:rPr>
              <a:t>谓词逻辑</a:t>
            </a:r>
          </a:p>
        </p:txBody>
      </p:sp>
    </p:spTree>
    <p:extLst>
      <p:ext uri="{BB962C8B-B14F-4D97-AF65-F5344CB8AC3E}">
        <p14:creationId xmlns:p14="http://schemas.microsoft.com/office/powerpoint/2010/main" val="1510126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1504507" y="1075573"/>
            <a:ext cx="8846288" cy="497934"/>
            <a:chOff x="2228892" y="2819853"/>
            <a:chExt cx="4786506" cy="497934"/>
          </a:xfrm>
        </p:grpSpPr>
        <p:sp>
          <p:nvSpPr>
            <p:cNvPr id="3" name="平行四边形 2"/>
            <p:cNvSpPr/>
            <p:nvPr/>
          </p:nvSpPr>
          <p:spPr bwMode="auto">
            <a:xfrm>
              <a:off x="4099943" y="2849787"/>
              <a:ext cx="2547685" cy="468000"/>
            </a:xfrm>
            <a:prstGeom prst="parallelogram">
              <a:avLst/>
            </a:prstGeom>
            <a:solidFill>
              <a:srgbClr val="016773"/>
            </a:solidFill>
            <a:ln w="1905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en-US" dirty="0"/>
            </a:p>
          </p:txBody>
        </p:sp>
        <p:sp>
          <p:nvSpPr>
            <p:cNvPr id="4" name="平行四边形 3"/>
            <p:cNvSpPr/>
            <p:nvPr/>
          </p:nvSpPr>
          <p:spPr bwMode="auto">
            <a:xfrm>
              <a:off x="2228892" y="2819853"/>
              <a:ext cx="4786506" cy="468000"/>
            </a:xfrm>
            <a:prstGeom prst="parallelogram">
              <a:avLst/>
            </a:prstGeom>
            <a:solidFill>
              <a:srgbClr val="FAFAFA"/>
            </a:solidFill>
            <a:ln w="19050">
              <a:gradFill>
                <a:gsLst>
                  <a:gs pos="65000">
                    <a:srgbClr val="81C7C9"/>
                  </a:gs>
                  <a:gs pos="100000">
                    <a:srgbClr val="016773"/>
                  </a:gs>
                </a:gsLst>
                <a:lin ang="17400000" scaled="0"/>
              </a:gradFill>
            </a:ln>
            <a:effectLst>
              <a:outerShdw blurRad="50800" dist="38100" dir="18900000" algn="bl" rotWithShape="0">
                <a:schemeClr val="bg2">
                  <a:lumMod val="75000"/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en-US" dirty="0"/>
            </a:p>
          </p:txBody>
        </p:sp>
        <p:sp>
          <p:nvSpPr>
            <p:cNvPr id="5" name="矩形 4"/>
            <p:cNvSpPr/>
            <p:nvPr/>
          </p:nvSpPr>
          <p:spPr>
            <a:xfrm>
              <a:off x="2591332" y="2826188"/>
              <a:ext cx="4133539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zh-CN" altLang="en-US" sz="2400" b="1" dirty="0">
                  <a:solidFill>
                    <a:schemeClr val="accent1">
                      <a:lumMod val="75000"/>
                    </a:schemeClr>
                  </a:solidFill>
                  <a:latin typeface="宋体" panose="02010600030101010101" pitchFamily="2" charset="-122"/>
                </a:rPr>
                <a:t>从自然语言描述到谓词描述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矩形 6">
                <a:extLst>
                  <a:ext uri="{FF2B5EF4-FFF2-40B4-BE49-F238E27FC236}">
                    <a16:creationId xmlns:a16="http://schemas.microsoft.com/office/drawing/2014/main" id="{4B6D671B-1597-4C61-8C9F-6F857D71D0EE}"/>
                  </a:ext>
                </a:extLst>
              </p:cNvPr>
              <p:cNvSpPr/>
              <p:nvPr/>
            </p:nvSpPr>
            <p:spPr>
              <a:xfrm>
                <a:off x="1201480" y="2434857"/>
                <a:ext cx="10579841" cy="400693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>
                  <a:lnSpc>
                    <a:spcPts val="2200"/>
                  </a:lnSpc>
                </a:pPr>
                <a:endParaRPr lang="en-US" altLang="zh-CN" kern="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endParaRPr>
              </a:p>
              <a:p>
                <a:pPr lvl="0">
                  <a:lnSpc>
                    <a:spcPct val="150000"/>
                  </a:lnSpc>
                </a:pPr>
                <a:r>
                  <a:rPr lang="en-US" altLang="zh-CN" kern="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楷体_GB2312"/>
                    <a:cs typeface="Times New Roman" panose="02020603050405020304" pitchFamily="18" charset="0"/>
                  </a:rPr>
                  <a:t> </a:t>
                </a:r>
                <a:r>
                  <a:rPr lang="en-US" altLang="zh-CN" sz="2000" kern="0" dirty="0">
                    <a:solidFill>
                      <a:srgbClr val="000000"/>
                    </a:solidFill>
                    <a:latin typeface="SimSun" panose="02010600030101010101" pitchFamily="2" charset="-122"/>
                    <a:ea typeface="SimSun" panose="02010600030101010101" pitchFamily="2" charset="-122"/>
                    <a:cs typeface="Times New Roman" panose="02020603050405020304" pitchFamily="18" charset="0"/>
                  </a:rPr>
                  <a:t>(1) “</a:t>
                </a:r>
                <a:r>
                  <a:rPr lang="zh-CN" altLang="zh-CN" sz="2000" kern="0" dirty="0">
                    <a:solidFill>
                      <a:srgbClr val="000000"/>
                    </a:solidFill>
                    <a:latin typeface="SimSun" panose="02010600030101010101" pitchFamily="2" charset="-122"/>
                    <a:ea typeface="SimSun" panose="02010600030101010101" pitchFamily="2" charset="-122"/>
                    <a:cs typeface="Times New Roman" panose="02020603050405020304" pitchFamily="18" charset="0"/>
                  </a:rPr>
                  <a:t>所有的国王都是人</a:t>
                </a:r>
                <a:r>
                  <a:rPr lang="en-US" altLang="zh-CN" sz="2000" kern="0" dirty="0">
                    <a:solidFill>
                      <a:srgbClr val="000000"/>
                    </a:solidFill>
                    <a:latin typeface="SimSun" panose="02010600030101010101" pitchFamily="2" charset="-122"/>
                    <a:ea typeface="SimSun" panose="02010600030101010101" pitchFamily="2" charset="-122"/>
                    <a:cs typeface="Times New Roman" panose="02020603050405020304" pitchFamily="18" charset="0"/>
                  </a:rPr>
                  <a:t>”</a:t>
                </a:r>
                <a:r>
                  <a:rPr lang="zh-CN" altLang="zh-CN" sz="2000" kern="0" dirty="0">
                    <a:solidFill>
                      <a:srgbClr val="000000"/>
                    </a:solidFill>
                    <a:latin typeface="SimSun" panose="02010600030101010101" pitchFamily="2" charset="-122"/>
                    <a:ea typeface="SimSun" panose="02010600030101010101" pitchFamily="2" charset="-122"/>
                    <a:cs typeface="Times New Roman" panose="02020603050405020304" pitchFamily="18" charset="0"/>
                  </a:rPr>
                  <a:t>表示的含义为</a:t>
                </a:r>
                <a:r>
                  <a:rPr lang="en-US" altLang="zh-CN" sz="2000" kern="0" dirty="0">
                    <a:solidFill>
                      <a:srgbClr val="000000"/>
                    </a:solidFill>
                    <a:latin typeface="SimSun" panose="02010600030101010101" pitchFamily="2" charset="-122"/>
                    <a:ea typeface="SimSun" panose="02010600030101010101" pitchFamily="2" charset="-122"/>
                    <a:cs typeface="Times New Roman" panose="02020603050405020304" pitchFamily="18" charset="0"/>
                  </a:rPr>
                  <a:t>“</a:t>
                </a:r>
                <a:r>
                  <a:rPr lang="zh-CN" altLang="zh-CN" sz="2000" kern="0" dirty="0">
                    <a:solidFill>
                      <a:srgbClr val="000000"/>
                    </a:solidFill>
                    <a:latin typeface="SimSun" panose="02010600030101010101" pitchFamily="2" charset="-122"/>
                    <a:ea typeface="SimSun" panose="02010600030101010101" pitchFamily="2" charset="-122"/>
                    <a:cs typeface="Times New Roman" panose="02020603050405020304" pitchFamily="18" charset="0"/>
                  </a:rPr>
                  <a:t>对于所有的</a:t>
                </a:r>
                <a14:m>
                  <m:oMath xmlns:m="http://schemas.openxmlformats.org/officeDocument/2006/math">
                    <m:r>
                      <a:rPr lang="en-US" altLang="zh-CN" sz="2000" i="1" ker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楷体_GB2312"/>
                        <a:cs typeface="Times New Roman" panose="02020603050405020304" pitchFamily="18" charset="0"/>
                      </a:rPr>
                      <m:t>𝑥</m:t>
                    </m:r>
                  </m:oMath>
                </a14:m>
                <a:r>
                  <a:rPr lang="zh-CN" altLang="zh-CN" sz="2000" kern="0" dirty="0">
                    <a:solidFill>
                      <a:srgbClr val="000000"/>
                    </a:solidFill>
                    <a:latin typeface="SimSun" panose="02010600030101010101" pitchFamily="2" charset="-122"/>
                    <a:ea typeface="SimSun" panose="02010600030101010101" pitchFamily="2" charset="-122"/>
                    <a:cs typeface="Times New Roman" panose="02020603050405020304" pitchFamily="18" charset="0"/>
                  </a:rPr>
                  <a:t>，如果</a:t>
                </a:r>
                <a14:m>
                  <m:oMath xmlns:m="http://schemas.openxmlformats.org/officeDocument/2006/math">
                    <m:r>
                      <a:rPr lang="en-US" altLang="zh-CN" sz="2000" i="1" ker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楷体_GB2312"/>
                        <a:cs typeface="Times New Roman" panose="02020603050405020304" pitchFamily="18" charset="0"/>
                      </a:rPr>
                      <m:t>𝑥</m:t>
                    </m:r>
                  </m:oMath>
                </a14:m>
                <a:r>
                  <a:rPr lang="zh-CN" altLang="zh-CN" sz="2000" kern="0" dirty="0">
                    <a:solidFill>
                      <a:srgbClr val="000000"/>
                    </a:solidFill>
                    <a:latin typeface="SimSun" panose="02010600030101010101" pitchFamily="2" charset="-122"/>
                    <a:ea typeface="SimSun" panose="02010600030101010101" pitchFamily="2" charset="-122"/>
                    <a:cs typeface="Times New Roman" panose="02020603050405020304" pitchFamily="18" charset="0"/>
                  </a:rPr>
                  <a:t>是国王，那么</a:t>
                </a:r>
                <a14:m>
                  <m:oMath xmlns:m="http://schemas.openxmlformats.org/officeDocument/2006/math">
                    <m:r>
                      <a:rPr lang="en-US" altLang="zh-CN" sz="2000" i="1" ker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楷体_GB2312"/>
                        <a:cs typeface="Times New Roman" panose="02020603050405020304" pitchFamily="18" charset="0"/>
                      </a:rPr>
                      <m:t>𝑥</m:t>
                    </m:r>
                  </m:oMath>
                </a14:m>
                <a:r>
                  <a:rPr lang="zh-CN" altLang="zh-CN" sz="2000" kern="0" dirty="0">
                    <a:solidFill>
                      <a:srgbClr val="000000"/>
                    </a:solidFill>
                    <a:latin typeface="SimSun" panose="02010600030101010101" pitchFamily="2" charset="-122"/>
                    <a:ea typeface="SimSun" panose="02010600030101010101" pitchFamily="2" charset="-122"/>
                    <a:cs typeface="Times New Roman" panose="02020603050405020304" pitchFamily="18" charset="0"/>
                  </a:rPr>
                  <a:t>是</a:t>
                </a:r>
                <a:r>
                  <a:rPr lang="zh-CN" altLang="zh-CN" sz="2000" dirty="0">
                    <a:solidFill>
                      <a:srgbClr val="000000"/>
                    </a:solidFill>
                    <a:latin typeface="SimSun" panose="02010600030101010101" pitchFamily="2" charset="-122"/>
                    <a:ea typeface="SimSun" panose="02010600030101010101" pitchFamily="2" charset="-122"/>
                    <a:cs typeface="Times New Roman" panose="02020603050405020304" pitchFamily="18" charset="0"/>
                  </a:rPr>
                  <a:t>人</a:t>
                </a:r>
                <a:r>
                  <a:rPr lang="en-US" altLang="zh-CN" sz="2000" dirty="0">
                    <a:solidFill>
                      <a:srgbClr val="000000"/>
                    </a:solidFill>
                    <a:latin typeface="SimSun" panose="02010600030101010101" pitchFamily="2" charset="-122"/>
                    <a:ea typeface="SimSun" panose="02010600030101010101" pitchFamily="2" charset="-122"/>
                    <a:cs typeface="Times New Roman" panose="02020603050405020304" pitchFamily="18" charset="0"/>
                  </a:rPr>
                  <a:t>”</a:t>
                </a:r>
                <a:r>
                  <a:rPr lang="zh-CN" altLang="zh-CN" sz="2000" dirty="0">
                    <a:solidFill>
                      <a:srgbClr val="000000"/>
                    </a:solidFill>
                    <a:latin typeface="SimSun" panose="02010600030101010101" pitchFamily="2" charset="-122"/>
                    <a:ea typeface="SimSun" panose="02010600030101010101" pitchFamily="2" charset="-122"/>
                    <a:cs typeface="Times New Roman" panose="02020603050405020304" pitchFamily="18" charset="0"/>
                  </a:rPr>
                  <a:t>，其符号化表示为</a:t>
                </a:r>
                <a14:m>
                  <m:oMath xmlns:m="http://schemas.openxmlformats.org/officeDocument/2006/math">
                    <m:r>
                      <a:rPr lang="en-US" altLang="zh-CN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楷体_GB2312"/>
                        <a:cs typeface="Times New Roman" panose="02020603050405020304" pitchFamily="18" charset="0"/>
                      </a:rPr>
                      <m:t>(∀</m:t>
                    </m:r>
                    <m:r>
                      <a:rPr lang="en-US" altLang="zh-CN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楷体_GB2312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altLang="zh-CN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楷体_GB2312"/>
                        <a:cs typeface="Times New Roman" panose="02020603050405020304" pitchFamily="18" charset="0"/>
                      </a:rPr>
                      <m:t>)(</m:t>
                    </m:r>
                    <m:r>
                      <a:rPr lang="en-US" altLang="zh-CN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楷体_GB2312"/>
                        <a:cs typeface="Times New Roman" panose="02020603050405020304" pitchFamily="18" charset="0"/>
                      </a:rPr>
                      <m:t>𝐾𝑖𝑛𝑔</m:t>
                    </m:r>
                    <m:d>
                      <m:dPr>
                        <m:ctrlPr>
                          <a:rPr lang="zh-CN" altLang="zh-CN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CN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楷体_GB2312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</m:d>
                    <m:r>
                      <a:rPr lang="en-US" altLang="zh-CN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楷体_GB2312"/>
                        <a:cs typeface="Times New Roman" panose="02020603050405020304" pitchFamily="18" charset="0"/>
                      </a:rPr>
                      <m:t>→</m:t>
                    </m:r>
                    <m:r>
                      <a:rPr lang="en-US" altLang="zh-CN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楷体_GB2312"/>
                        <a:cs typeface="Times New Roman" panose="02020603050405020304" pitchFamily="18" charset="0"/>
                      </a:rPr>
                      <m:t>𝑃𝑒𝑟𝑠𝑜𝑛</m:t>
                    </m:r>
                    <m:d>
                      <m:dPr>
                        <m:ctrlPr>
                          <a:rPr lang="zh-CN" altLang="zh-CN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CN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楷体_GB2312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</m:d>
                    <m:r>
                      <a:rPr lang="en-US" altLang="zh-CN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楷体_GB2312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zh-CN" altLang="zh-CN" sz="2000" dirty="0">
                    <a:solidFill>
                      <a:srgbClr val="000000"/>
                    </a:solidFill>
                    <a:latin typeface="SimSun" panose="02010600030101010101" pitchFamily="2" charset="-122"/>
                    <a:ea typeface="SimSun" panose="02010600030101010101" pitchFamily="2" charset="-122"/>
                    <a:cs typeface="Times New Roman" panose="02020603050405020304" pitchFamily="18" charset="0"/>
                  </a:rPr>
                  <a:t>。其中</a:t>
                </a:r>
                <a14:m>
                  <m:oMath xmlns:m="http://schemas.openxmlformats.org/officeDocument/2006/math">
                    <m:r>
                      <a:rPr lang="en-US" altLang="zh-CN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楷体_GB2312"/>
                        <a:cs typeface="Times New Roman" panose="02020603050405020304" pitchFamily="18" charset="0"/>
                      </a:rPr>
                      <m:t>𝑥</m:t>
                    </m:r>
                  </m:oMath>
                </a14:m>
                <a:r>
                  <a:rPr lang="zh-CN" altLang="zh-CN" sz="2000" dirty="0">
                    <a:solidFill>
                      <a:srgbClr val="000000"/>
                    </a:solidFill>
                    <a:latin typeface="SimSun" panose="02010600030101010101" pitchFamily="2" charset="-122"/>
                    <a:ea typeface="SimSun" panose="02010600030101010101" pitchFamily="2" charset="-122"/>
                    <a:cs typeface="Times New Roman" panose="02020603050405020304" pitchFamily="18" charset="0"/>
                  </a:rPr>
                  <a:t>是变量符号，由于</a:t>
                </a:r>
                <a14:m>
                  <m:oMath xmlns:m="http://schemas.openxmlformats.org/officeDocument/2006/math">
                    <m:r>
                      <a:rPr lang="en-US" altLang="zh-CN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楷体_GB2312"/>
                        <a:cs typeface="Times New Roman" panose="02020603050405020304" pitchFamily="18" charset="0"/>
                      </a:rPr>
                      <m:t>𝑥</m:t>
                    </m:r>
                  </m:oMath>
                </a14:m>
                <a:r>
                  <a:rPr lang="zh-CN" altLang="zh-CN" sz="2000" dirty="0">
                    <a:solidFill>
                      <a:srgbClr val="000000"/>
                    </a:solidFill>
                    <a:latin typeface="SimSun" panose="02010600030101010101" pitchFamily="2" charset="-122"/>
                    <a:ea typeface="SimSun" panose="02010600030101010101" pitchFamily="2" charset="-122"/>
                    <a:cs typeface="Times New Roman" panose="02020603050405020304" pitchFamily="18" charset="0"/>
                  </a:rPr>
                  <a:t>受到全称量词的约束，因此</a:t>
                </a:r>
                <a14:m>
                  <m:oMath xmlns:m="http://schemas.openxmlformats.org/officeDocument/2006/math">
                    <m:r>
                      <a:rPr lang="en-US" altLang="zh-CN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楷体_GB2312"/>
                        <a:cs typeface="Times New Roman" panose="02020603050405020304" pitchFamily="18" charset="0"/>
                      </a:rPr>
                      <m:t>𝑥</m:t>
                    </m:r>
                  </m:oMath>
                </a14:m>
                <a:r>
                  <a:rPr lang="zh-CN" altLang="zh-CN" sz="2000" dirty="0">
                    <a:solidFill>
                      <a:srgbClr val="000000"/>
                    </a:solidFill>
                    <a:latin typeface="SimSun" panose="02010600030101010101" pitchFamily="2" charset="-122"/>
                    <a:ea typeface="SimSun" panose="02010600030101010101" pitchFamily="2" charset="-122"/>
                    <a:cs typeface="Times New Roman" panose="02020603050405020304" pitchFamily="18" charset="0"/>
                  </a:rPr>
                  <a:t>是约束变元；</a:t>
                </a:r>
                <a14:m>
                  <m:oMath xmlns:m="http://schemas.openxmlformats.org/officeDocument/2006/math">
                    <m:r>
                      <a:rPr lang="en-US" altLang="zh-CN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楷体_GB2312"/>
                        <a:cs typeface="Times New Roman" panose="02020603050405020304" pitchFamily="18" charset="0"/>
                      </a:rPr>
                      <m:t>𝐾𝑖𝑛𝑔</m:t>
                    </m:r>
                    <m:r>
                      <a:rPr lang="en-US" altLang="zh-CN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楷体_GB2312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zh-CN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楷体_GB2312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altLang="zh-CN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楷体_GB2312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zh-CN" altLang="zh-CN" sz="2000" dirty="0">
                    <a:solidFill>
                      <a:srgbClr val="000000"/>
                    </a:solidFill>
                    <a:latin typeface="SimSun" panose="02010600030101010101" pitchFamily="2" charset="-122"/>
                    <a:ea typeface="SimSun" panose="02010600030101010101" pitchFamily="2" charset="-122"/>
                    <a:cs typeface="Times New Roman" panose="02020603050405020304" pitchFamily="18" charset="0"/>
                  </a:rPr>
                  <a:t>是一个一元谓词，表示</a:t>
                </a:r>
                <a14:m>
                  <m:oMath xmlns:m="http://schemas.openxmlformats.org/officeDocument/2006/math">
                    <m:r>
                      <a:rPr lang="en-US" altLang="zh-CN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楷体_GB2312"/>
                        <a:cs typeface="Times New Roman" panose="02020603050405020304" pitchFamily="18" charset="0"/>
                      </a:rPr>
                      <m:t>𝑥</m:t>
                    </m:r>
                  </m:oMath>
                </a14:m>
                <a:r>
                  <a:rPr lang="zh-CN" altLang="zh-CN" sz="2000" dirty="0">
                    <a:solidFill>
                      <a:srgbClr val="000000"/>
                    </a:solidFill>
                    <a:latin typeface="SimSun" panose="02010600030101010101" pitchFamily="2" charset="-122"/>
                    <a:ea typeface="SimSun" panose="02010600030101010101" pitchFamily="2" charset="-122"/>
                    <a:cs typeface="Times New Roman" panose="02020603050405020304" pitchFamily="18" charset="0"/>
                  </a:rPr>
                  <a:t>是国王，</a:t>
                </a:r>
                <a14:m>
                  <m:oMath xmlns:m="http://schemas.openxmlformats.org/officeDocument/2006/math">
                    <m:r>
                      <a:rPr lang="en-US" altLang="zh-CN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楷体_GB2312"/>
                        <a:cs typeface="Times New Roman" panose="02020603050405020304" pitchFamily="18" charset="0"/>
                      </a:rPr>
                      <m:t>𝑃𝑒𝑟𝑠𝑜𝑛</m:t>
                    </m:r>
                    <m:r>
                      <a:rPr lang="en-US" altLang="zh-CN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楷体_GB2312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zh-CN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楷体_GB2312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altLang="zh-CN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楷体_GB2312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zh-CN" altLang="zh-CN" sz="2000" dirty="0">
                    <a:solidFill>
                      <a:srgbClr val="000000"/>
                    </a:solidFill>
                    <a:latin typeface="SimSun" panose="02010600030101010101" pitchFamily="2" charset="-122"/>
                    <a:ea typeface="SimSun" panose="02010600030101010101" pitchFamily="2" charset="-122"/>
                    <a:cs typeface="Times New Roman" panose="02020603050405020304" pitchFamily="18" charset="0"/>
                  </a:rPr>
                  <a:t>是一个一元谓词，表示</a:t>
                </a:r>
                <a14:m>
                  <m:oMath xmlns:m="http://schemas.openxmlformats.org/officeDocument/2006/math">
                    <m:r>
                      <a:rPr lang="en-US" altLang="zh-CN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楷体_GB2312"/>
                        <a:cs typeface="Times New Roman" panose="02020603050405020304" pitchFamily="18" charset="0"/>
                      </a:rPr>
                      <m:t>𝑥</m:t>
                    </m:r>
                  </m:oMath>
                </a14:m>
                <a:r>
                  <a:rPr lang="zh-CN" altLang="zh-CN" sz="2000" dirty="0">
                    <a:solidFill>
                      <a:srgbClr val="000000"/>
                    </a:solidFill>
                    <a:latin typeface="SimSun" panose="02010600030101010101" pitchFamily="2" charset="-122"/>
                    <a:ea typeface="SimSun" panose="02010600030101010101" pitchFamily="2" charset="-122"/>
                    <a:cs typeface="Times New Roman" panose="02020603050405020304" pitchFamily="18" charset="0"/>
                  </a:rPr>
                  <a:t>是人。</a:t>
                </a:r>
                <a:endParaRPr lang="en-US" altLang="zh-CN" sz="2000" dirty="0">
                  <a:solidFill>
                    <a:srgbClr val="000000"/>
                  </a:solidFill>
                  <a:latin typeface="SimSun" panose="02010600030101010101" pitchFamily="2" charset="-122"/>
                  <a:ea typeface="SimSun" panose="02010600030101010101" pitchFamily="2" charset="-122"/>
                  <a:cs typeface="Times New Roman" panose="02020603050405020304" pitchFamily="18" charset="0"/>
                </a:endParaRPr>
              </a:p>
              <a:p>
                <a:pPr lvl="0">
                  <a:lnSpc>
                    <a:spcPct val="150000"/>
                  </a:lnSpc>
                </a:pPr>
                <a:r>
                  <a:rPr lang="en-US" altLang="zh-CN" sz="2000" dirty="0">
                    <a:solidFill>
                      <a:srgbClr val="000000"/>
                    </a:solidFill>
                    <a:latin typeface="SimSun" panose="02010600030101010101" pitchFamily="2" charset="-122"/>
                    <a:ea typeface="SimSun" panose="02010600030101010101" pitchFamily="2" charset="-122"/>
                    <a:cs typeface="Times New Roman" panose="02020603050405020304" pitchFamily="18" charset="0"/>
                  </a:rPr>
                  <a:t>(2) “</a:t>
                </a:r>
                <a:r>
                  <a:rPr lang="zh-CN" altLang="zh-CN" sz="2000" dirty="0">
                    <a:solidFill>
                      <a:srgbClr val="000000"/>
                    </a:solidFill>
                    <a:latin typeface="SimSun" panose="02010600030101010101" pitchFamily="2" charset="-122"/>
                    <a:ea typeface="SimSun" panose="02010600030101010101" pitchFamily="2" charset="-122"/>
                    <a:cs typeface="Times New Roman" panose="02020603050405020304" pitchFamily="18" charset="0"/>
                  </a:rPr>
                  <a:t>所有的国王都头戴皇冠</a:t>
                </a:r>
                <a:r>
                  <a:rPr lang="en-US" altLang="zh-CN" sz="2000" dirty="0">
                    <a:solidFill>
                      <a:srgbClr val="000000"/>
                    </a:solidFill>
                    <a:latin typeface="SimSun" panose="02010600030101010101" pitchFamily="2" charset="-122"/>
                    <a:ea typeface="SimSun" panose="02010600030101010101" pitchFamily="2" charset="-122"/>
                    <a:cs typeface="Times New Roman" panose="02020603050405020304" pitchFamily="18" charset="0"/>
                  </a:rPr>
                  <a:t>”</a:t>
                </a:r>
                <a:r>
                  <a:rPr lang="zh-CN" altLang="zh-CN" sz="2000" dirty="0">
                    <a:solidFill>
                      <a:srgbClr val="000000"/>
                    </a:solidFill>
                    <a:latin typeface="SimSun" panose="02010600030101010101" pitchFamily="2" charset="-122"/>
                    <a:ea typeface="SimSun" panose="02010600030101010101" pitchFamily="2" charset="-122"/>
                    <a:cs typeface="Times New Roman" panose="02020603050405020304" pitchFamily="18" charset="0"/>
                  </a:rPr>
                  <a:t>表示的含义为</a:t>
                </a:r>
                <a:r>
                  <a:rPr lang="en-US" altLang="zh-CN" sz="2000" dirty="0">
                    <a:solidFill>
                      <a:srgbClr val="000000"/>
                    </a:solidFill>
                    <a:latin typeface="SimSun" panose="02010600030101010101" pitchFamily="2" charset="-122"/>
                    <a:ea typeface="SimSun" panose="02010600030101010101" pitchFamily="2" charset="-122"/>
                    <a:cs typeface="Times New Roman" panose="02020603050405020304" pitchFamily="18" charset="0"/>
                  </a:rPr>
                  <a:t>“</a:t>
                </a:r>
                <a:r>
                  <a:rPr lang="zh-CN" altLang="zh-CN" sz="2000" dirty="0">
                    <a:solidFill>
                      <a:srgbClr val="000000"/>
                    </a:solidFill>
                    <a:latin typeface="SimSun" panose="02010600030101010101" pitchFamily="2" charset="-122"/>
                    <a:ea typeface="SimSun" panose="02010600030101010101" pitchFamily="2" charset="-122"/>
                    <a:cs typeface="Times New Roman" panose="02020603050405020304" pitchFamily="18" charset="0"/>
                  </a:rPr>
                  <a:t>对于所有的</a:t>
                </a:r>
                <a14:m>
                  <m:oMath xmlns:m="http://schemas.openxmlformats.org/officeDocument/2006/math">
                    <m:r>
                      <a:rPr lang="en-US" altLang="zh-CN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楷体_GB2312"/>
                        <a:cs typeface="Times New Roman" panose="02020603050405020304" pitchFamily="18" charset="0"/>
                      </a:rPr>
                      <m:t>𝑥</m:t>
                    </m:r>
                  </m:oMath>
                </a14:m>
                <a:r>
                  <a:rPr lang="zh-CN" altLang="zh-CN" sz="2000" dirty="0">
                    <a:solidFill>
                      <a:srgbClr val="000000"/>
                    </a:solidFill>
                    <a:latin typeface="SimSun" panose="02010600030101010101" pitchFamily="2" charset="-122"/>
                    <a:ea typeface="SimSun" panose="02010600030101010101" pitchFamily="2" charset="-122"/>
                    <a:cs typeface="Times New Roman" panose="02020603050405020304" pitchFamily="18" charset="0"/>
                  </a:rPr>
                  <a:t>，如果</a:t>
                </a:r>
                <a14:m>
                  <m:oMath xmlns:m="http://schemas.openxmlformats.org/officeDocument/2006/math">
                    <m:r>
                      <a:rPr lang="en-US" altLang="zh-CN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楷体_GB2312"/>
                        <a:cs typeface="Times New Roman" panose="02020603050405020304" pitchFamily="18" charset="0"/>
                      </a:rPr>
                      <m:t>𝑥</m:t>
                    </m:r>
                  </m:oMath>
                </a14:m>
                <a:r>
                  <a:rPr lang="zh-CN" altLang="zh-CN" sz="2000" dirty="0">
                    <a:solidFill>
                      <a:srgbClr val="000000"/>
                    </a:solidFill>
                    <a:latin typeface="SimSun" panose="02010600030101010101" pitchFamily="2" charset="-122"/>
                    <a:ea typeface="SimSun" panose="02010600030101010101" pitchFamily="2" charset="-122"/>
                    <a:cs typeface="Times New Roman" panose="02020603050405020304" pitchFamily="18" charset="0"/>
                  </a:rPr>
                  <a:t>是国王，那么</a:t>
                </a:r>
                <a14:m>
                  <m:oMath xmlns:m="http://schemas.openxmlformats.org/officeDocument/2006/math">
                    <m:r>
                      <a:rPr lang="en-US" altLang="zh-CN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楷体_GB2312"/>
                        <a:cs typeface="Times New Roman" panose="02020603050405020304" pitchFamily="18" charset="0"/>
                      </a:rPr>
                      <m:t>𝑥</m:t>
                    </m:r>
                  </m:oMath>
                </a14:m>
                <a:r>
                  <a:rPr lang="zh-CN" altLang="zh-CN" sz="2000" dirty="0">
                    <a:solidFill>
                      <a:srgbClr val="000000"/>
                    </a:solidFill>
                    <a:latin typeface="SimSun" panose="02010600030101010101" pitchFamily="2" charset="-122"/>
                    <a:ea typeface="SimSun" panose="02010600030101010101" pitchFamily="2" charset="-122"/>
                    <a:cs typeface="Times New Roman" panose="02020603050405020304" pitchFamily="18" charset="0"/>
                  </a:rPr>
                  <a:t>头戴皇冠</a:t>
                </a:r>
                <a:r>
                  <a:rPr lang="en-US" altLang="zh-CN" sz="2000" dirty="0">
                    <a:solidFill>
                      <a:srgbClr val="000000"/>
                    </a:solidFill>
                    <a:latin typeface="SimSun" panose="02010600030101010101" pitchFamily="2" charset="-122"/>
                    <a:ea typeface="SimSun" panose="02010600030101010101" pitchFamily="2" charset="-122"/>
                    <a:cs typeface="Times New Roman" panose="02020603050405020304" pitchFamily="18" charset="0"/>
                  </a:rPr>
                  <a:t>”</a:t>
                </a:r>
                <a:r>
                  <a:rPr lang="zh-CN" altLang="zh-CN" sz="2000" dirty="0">
                    <a:solidFill>
                      <a:srgbClr val="000000"/>
                    </a:solidFill>
                    <a:latin typeface="SimSun" panose="02010600030101010101" pitchFamily="2" charset="-122"/>
                    <a:ea typeface="SimSun" panose="02010600030101010101" pitchFamily="2" charset="-122"/>
                    <a:cs typeface="Times New Roman" panose="02020603050405020304" pitchFamily="18" charset="0"/>
                  </a:rPr>
                  <a:t>，符号化表示为</a:t>
                </a:r>
                <a14:m>
                  <m:oMath xmlns:m="http://schemas.openxmlformats.org/officeDocument/2006/math">
                    <m:r>
                      <a:rPr lang="en-US" altLang="zh-CN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楷体_GB2312"/>
                        <a:cs typeface="Times New Roman" panose="02020603050405020304" pitchFamily="18" charset="0"/>
                      </a:rPr>
                      <m:t>(∀</m:t>
                    </m:r>
                    <m:r>
                      <a:rPr lang="en-US" altLang="zh-CN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楷体_GB2312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altLang="zh-CN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楷体_GB2312"/>
                        <a:cs typeface="Times New Roman" panose="02020603050405020304" pitchFamily="18" charset="0"/>
                      </a:rPr>
                      <m:t>)(</m:t>
                    </m:r>
                    <m:r>
                      <a:rPr lang="en-US" altLang="zh-CN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楷体_GB2312"/>
                        <a:cs typeface="Times New Roman" panose="02020603050405020304" pitchFamily="18" charset="0"/>
                      </a:rPr>
                      <m:t>𝐾𝑖𝑛𝑔</m:t>
                    </m:r>
                    <m:r>
                      <a:rPr lang="en-US" altLang="zh-CN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楷体_GB2312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zh-CN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楷体_GB2312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altLang="zh-CN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楷体_GB2312"/>
                        <a:cs typeface="Times New Roman" panose="02020603050405020304" pitchFamily="18" charset="0"/>
                      </a:rPr>
                      <m:t>)→</m:t>
                    </m:r>
                    <m:r>
                      <a:rPr lang="en-US" altLang="zh-CN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楷体_GB2312"/>
                        <a:cs typeface="Times New Roman" panose="02020603050405020304" pitchFamily="18" charset="0"/>
                      </a:rPr>
                      <m:t>𝐻𝑒𝑎𝑑</m:t>
                    </m:r>
                    <m:r>
                      <a:rPr lang="en-US" altLang="zh-CN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楷体_GB2312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altLang="zh-CN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楷体_GB2312"/>
                        <a:cs typeface="Times New Roman" panose="02020603050405020304" pitchFamily="18" charset="0"/>
                      </a:rPr>
                      <m:t>𝑂𝑛</m:t>
                    </m:r>
                    <m:r>
                      <a:rPr lang="en-US" altLang="zh-CN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楷体_GB2312"/>
                        <a:cs typeface="Times New Roman" panose="020206030504050203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altLang="zh-CN" sz="200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楷体_GB2312"/>
                        <a:cs typeface="Times New Roman" panose="02020603050405020304" pitchFamily="18" charset="0"/>
                      </a:rPr>
                      <m:t>Crown</m:t>
                    </m:r>
                    <m:r>
                      <a:rPr lang="en-US" altLang="zh-CN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楷体_GB2312"/>
                        <a:cs typeface="Times New Roman" panose="02020603050405020304" pitchFamily="18" charset="0"/>
                      </a:rPr>
                      <m:t>, </m:t>
                    </m:r>
                    <m:r>
                      <a:rPr lang="en-US" altLang="zh-CN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楷体_GB2312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altLang="zh-CN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楷体_GB2312"/>
                        <a:cs typeface="Times New Roman" panose="02020603050405020304" pitchFamily="18" charset="0"/>
                      </a:rPr>
                      <m:t>))</m:t>
                    </m:r>
                  </m:oMath>
                </a14:m>
                <a:r>
                  <a:rPr lang="zh-CN" altLang="zh-CN" sz="2000" dirty="0">
                    <a:solidFill>
                      <a:srgbClr val="000000"/>
                    </a:solidFill>
                    <a:latin typeface="SimSun" panose="02010600030101010101" pitchFamily="2" charset="-122"/>
                    <a:ea typeface="SimSun" panose="02010600030101010101" pitchFamily="2" charset="-122"/>
                    <a:cs typeface="Times New Roman" panose="02020603050405020304" pitchFamily="18" charset="0"/>
                  </a:rPr>
                  <a:t>。其中</a:t>
                </a:r>
                <a14:m>
                  <m:oMath xmlns:m="http://schemas.openxmlformats.org/officeDocument/2006/math">
                    <m:r>
                      <a:rPr lang="en-US" altLang="zh-CN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楷体_GB2312"/>
                        <a:cs typeface="Times New Roman" panose="02020603050405020304" pitchFamily="18" charset="0"/>
                      </a:rPr>
                      <m:t>𝑥</m:t>
                    </m:r>
                  </m:oMath>
                </a14:m>
                <a:r>
                  <a:rPr lang="zh-CN" altLang="zh-CN" sz="2000" dirty="0">
                    <a:solidFill>
                      <a:srgbClr val="000000"/>
                    </a:solidFill>
                    <a:latin typeface="SimSun" panose="02010600030101010101" pitchFamily="2" charset="-122"/>
                    <a:ea typeface="SimSun" panose="02010600030101010101" pitchFamily="2" charset="-122"/>
                    <a:cs typeface="Times New Roman" panose="02020603050405020304" pitchFamily="18" charset="0"/>
                  </a:rPr>
                  <a:t>是变量符号，由于</a:t>
                </a:r>
                <a14:m>
                  <m:oMath xmlns:m="http://schemas.openxmlformats.org/officeDocument/2006/math">
                    <m:r>
                      <a:rPr lang="en-US" altLang="zh-CN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楷体_GB2312"/>
                        <a:cs typeface="Times New Roman" panose="02020603050405020304" pitchFamily="18" charset="0"/>
                      </a:rPr>
                      <m:t>𝑥</m:t>
                    </m:r>
                  </m:oMath>
                </a14:m>
                <a:r>
                  <a:rPr lang="zh-CN" altLang="zh-CN" sz="2000" dirty="0">
                    <a:solidFill>
                      <a:srgbClr val="000000"/>
                    </a:solidFill>
                    <a:latin typeface="SimSun" panose="02010600030101010101" pitchFamily="2" charset="-122"/>
                    <a:ea typeface="SimSun" panose="02010600030101010101" pitchFamily="2" charset="-122"/>
                    <a:cs typeface="Times New Roman" panose="02020603050405020304" pitchFamily="18" charset="0"/>
                  </a:rPr>
                  <a:t>受到全称量词的约束，因此</a:t>
                </a:r>
                <a14:m>
                  <m:oMath xmlns:m="http://schemas.openxmlformats.org/officeDocument/2006/math">
                    <m:r>
                      <a:rPr lang="en-US" altLang="zh-CN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楷体_GB2312"/>
                        <a:cs typeface="Times New Roman" panose="02020603050405020304" pitchFamily="18" charset="0"/>
                      </a:rPr>
                      <m:t>𝑥</m:t>
                    </m:r>
                  </m:oMath>
                </a14:m>
                <a:r>
                  <a:rPr lang="zh-CN" altLang="zh-CN" sz="2000" dirty="0">
                    <a:solidFill>
                      <a:srgbClr val="000000"/>
                    </a:solidFill>
                    <a:latin typeface="SimSun" panose="02010600030101010101" pitchFamily="2" charset="-122"/>
                    <a:ea typeface="SimSun" panose="02010600030101010101" pitchFamily="2" charset="-122"/>
                    <a:cs typeface="Times New Roman" panose="02020603050405020304" pitchFamily="18" charset="0"/>
                  </a:rPr>
                  <a:t>是约束变元；</a:t>
                </a:r>
                <a:r>
                  <a:rPr lang="en-US" altLang="zh-CN" sz="2000" dirty="0">
                    <a:solidFill>
                      <a:srgbClr val="000000"/>
                    </a:solidFill>
                    <a:latin typeface="SimSun" panose="02010600030101010101" pitchFamily="2" charset="-122"/>
                    <a:ea typeface="SimSun" panose="02010600030101010101" pitchFamily="2" charset="-122"/>
                    <a:cs typeface="Times New Roman" panose="02020603050405020304" pitchFamily="18" charset="0"/>
                  </a:rPr>
                  <a:t>Crown</a:t>
                </a:r>
                <a:r>
                  <a:rPr lang="zh-CN" altLang="zh-CN" sz="2000" dirty="0">
                    <a:solidFill>
                      <a:srgbClr val="000000"/>
                    </a:solidFill>
                    <a:latin typeface="SimSun" panose="02010600030101010101" pitchFamily="2" charset="-122"/>
                    <a:ea typeface="SimSun" panose="02010600030101010101" pitchFamily="2" charset="-122"/>
                    <a:cs typeface="Times New Roman" panose="02020603050405020304" pitchFamily="18" charset="0"/>
                  </a:rPr>
                  <a:t>是一个常量符号，表示皇冠； </a:t>
                </a:r>
                <a14:m>
                  <m:oMath xmlns:m="http://schemas.openxmlformats.org/officeDocument/2006/math">
                    <m:r>
                      <a:rPr lang="en-US" altLang="zh-CN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楷体_GB2312"/>
                        <a:cs typeface="Times New Roman" panose="02020603050405020304" pitchFamily="18" charset="0"/>
                      </a:rPr>
                      <m:t>𝐾𝑖𝑛𝑔</m:t>
                    </m:r>
                    <m:r>
                      <a:rPr lang="en-US" altLang="zh-CN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楷体_GB2312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zh-CN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楷体_GB2312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altLang="zh-CN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楷体_GB2312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zh-CN" altLang="zh-CN" sz="2000" dirty="0">
                    <a:solidFill>
                      <a:srgbClr val="000000"/>
                    </a:solidFill>
                    <a:latin typeface="SimSun" panose="02010600030101010101" pitchFamily="2" charset="-122"/>
                    <a:ea typeface="SimSun" panose="02010600030101010101" pitchFamily="2" charset="-122"/>
                    <a:cs typeface="Times New Roman" panose="02020603050405020304" pitchFamily="18" charset="0"/>
                  </a:rPr>
                  <a:t>是一个一元谓词，表示</a:t>
                </a:r>
                <a14:m>
                  <m:oMath xmlns:m="http://schemas.openxmlformats.org/officeDocument/2006/math">
                    <m:r>
                      <a:rPr lang="en-US" altLang="zh-CN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楷体_GB2312"/>
                        <a:cs typeface="Times New Roman" panose="02020603050405020304" pitchFamily="18" charset="0"/>
                      </a:rPr>
                      <m:t>𝑥</m:t>
                    </m:r>
                  </m:oMath>
                </a14:m>
                <a:r>
                  <a:rPr lang="zh-CN" altLang="zh-CN" sz="2000" dirty="0">
                    <a:solidFill>
                      <a:srgbClr val="000000"/>
                    </a:solidFill>
                    <a:latin typeface="SimSun" panose="02010600030101010101" pitchFamily="2" charset="-122"/>
                    <a:ea typeface="SimSun" panose="02010600030101010101" pitchFamily="2" charset="-122"/>
                    <a:cs typeface="Times New Roman" panose="02020603050405020304" pitchFamily="18" charset="0"/>
                  </a:rPr>
                  <a:t>是国王，</a:t>
                </a:r>
                <a14:m>
                  <m:oMath xmlns:m="http://schemas.openxmlformats.org/officeDocument/2006/math">
                    <m:r>
                      <a:rPr lang="en-US" altLang="zh-CN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楷体_GB2312"/>
                        <a:cs typeface="Times New Roman" panose="02020603050405020304" pitchFamily="18" charset="0"/>
                      </a:rPr>
                      <m:t>𝐻𝑒𝑎𝑑</m:t>
                    </m:r>
                    <m:r>
                      <a:rPr lang="en-US" altLang="zh-CN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楷体_GB2312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altLang="zh-CN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楷体_GB2312"/>
                        <a:cs typeface="Times New Roman" panose="02020603050405020304" pitchFamily="18" charset="0"/>
                      </a:rPr>
                      <m:t>𝑂𝑛</m:t>
                    </m:r>
                    <m:r>
                      <a:rPr lang="en-US" altLang="zh-CN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楷体_GB2312"/>
                        <a:cs typeface="Times New Roman" panose="020206030504050203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altLang="zh-CN" sz="200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楷体_GB2312"/>
                        <a:cs typeface="Times New Roman" panose="02020603050405020304" pitchFamily="18" charset="0"/>
                      </a:rPr>
                      <m:t>Crown</m:t>
                    </m:r>
                    <m:r>
                      <a:rPr lang="en-US" altLang="zh-CN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楷体_GB2312"/>
                        <a:cs typeface="Times New Roman" panose="02020603050405020304" pitchFamily="18" charset="0"/>
                      </a:rPr>
                      <m:t>, </m:t>
                    </m:r>
                    <m:r>
                      <a:rPr lang="en-US" altLang="zh-CN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楷体_GB2312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altLang="zh-CN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楷体_GB2312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zh-CN" altLang="zh-CN" sz="2000" dirty="0">
                    <a:solidFill>
                      <a:srgbClr val="000000"/>
                    </a:solidFill>
                    <a:latin typeface="SimSun" panose="02010600030101010101" pitchFamily="2" charset="-122"/>
                    <a:ea typeface="SimSun" panose="02010600030101010101" pitchFamily="2" charset="-122"/>
                    <a:cs typeface="Times New Roman" panose="02020603050405020304" pitchFamily="18" charset="0"/>
                  </a:rPr>
                  <a:t>是一个二元谓词，表示</a:t>
                </a:r>
                <a14:m>
                  <m:oMath xmlns:m="http://schemas.openxmlformats.org/officeDocument/2006/math">
                    <m:r>
                      <a:rPr lang="en-US" altLang="zh-CN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楷体_GB2312"/>
                        <a:cs typeface="Times New Roman" panose="02020603050405020304" pitchFamily="18" charset="0"/>
                      </a:rPr>
                      <m:t>𝑥</m:t>
                    </m:r>
                  </m:oMath>
                </a14:m>
                <a:r>
                  <a:rPr lang="zh-CN" altLang="zh-CN" sz="2000" dirty="0">
                    <a:solidFill>
                      <a:srgbClr val="000000"/>
                    </a:solidFill>
                    <a:latin typeface="SimSun" panose="02010600030101010101" pitchFamily="2" charset="-122"/>
                    <a:ea typeface="SimSun" panose="02010600030101010101" pitchFamily="2" charset="-122"/>
                    <a:cs typeface="Times New Roman" panose="02020603050405020304" pitchFamily="18" charset="0"/>
                  </a:rPr>
                  <a:t>头戴皇冠。</a:t>
                </a:r>
              </a:p>
            </p:txBody>
          </p:sp>
        </mc:Choice>
        <mc:Fallback xmlns="">
          <p:sp>
            <p:nvSpPr>
              <p:cNvPr id="7" name="矩形 6">
                <a:extLst>
                  <a:ext uri="{FF2B5EF4-FFF2-40B4-BE49-F238E27FC236}">
                    <a16:creationId xmlns:a16="http://schemas.microsoft.com/office/drawing/2014/main" id="{4B6D671B-1597-4C61-8C9F-6F857D71D0E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01480" y="2434857"/>
                <a:ext cx="10579841" cy="4006931"/>
              </a:xfrm>
              <a:prstGeom prst="rect">
                <a:avLst/>
              </a:prstGeom>
              <a:blipFill>
                <a:blip r:embed="rId3"/>
                <a:stretch>
                  <a:fillRect l="-600" r="-600" b="-126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67B5A688-D8BC-4E82-B45F-5DC99BA73324}"/>
              </a:ext>
            </a:extLst>
          </p:cNvPr>
          <p:cNvSpPr/>
          <p:nvPr/>
        </p:nvSpPr>
        <p:spPr>
          <a:xfrm>
            <a:off x="4350125" y="1723437"/>
            <a:ext cx="3292334" cy="929387"/>
          </a:xfrm>
          <a:prstGeom prst="roundRect">
            <a:avLst/>
          </a:prstGeom>
          <a:solidFill>
            <a:schemeClr val="accent1"/>
          </a:solidFill>
          <a:ln w="12700" cap="rnd">
            <a:noFill/>
            <a:prstDash val="solid"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342900" lvl="0" indent="-342900">
              <a:lnSpc>
                <a:spcPct val="150000"/>
              </a:lnSpc>
              <a:buFont typeface="+mj-lt"/>
              <a:buAutoNum type="arabicParenBoth"/>
            </a:pPr>
            <a:r>
              <a:rPr lang="zh-CN" altLang="zh-CN" sz="2000" kern="0" dirty="0">
                <a:latin typeface="SimSun" panose="02010600030101010101" pitchFamily="2" charset="-122"/>
                <a:ea typeface="SimSun" panose="02010600030101010101" pitchFamily="2" charset="-122"/>
                <a:cs typeface="Times New Roman" panose="02020603050405020304" pitchFamily="18" charset="0"/>
              </a:rPr>
              <a:t>所有的国王都是人</a:t>
            </a:r>
            <a:endParaRPr lang="zh-CN" altLang="zh-CN" sz="2000" dirty="0"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pPr marL="342900" lvl="0" indent="-342900">
              <a:lnSpc>
                <a:spcPct val="150000"/>
              </a:lnSpc>
              <a:buFont typeface="+mj-lt"/>
              <a:buAutoNum type="arabicParenBoth"/>
            </a:pPr>
            <a:r>
              <a:rPr lang="zh-CN" altLang="zh-CN" sz="2000" kern="0" dirty="0">
                <a:latin typeface="SimSun" panose="02010600030101010101" pitchFamily="2" charset="-122"/>
                <a:ea typeface="SimSun" panose="02010600030101010101" pitchFamily="2" charset="-122"/>
                <a:cs typeface="Times New Roman" panose="02020603050405020304" pitchFamily="18" charset="0"/>
              </a:rPr>
              <a:t>所有的国王都头戴皇冠</a:t>
            </a:r>
            <a:endParaRPr lang="en-US" altLang="zh-CN" sz="2000"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sp>
        <p:nvSpPr>
          <p:cNvPr id="6" name="标题 1">
            <a:extLst>
              <a:ext uri="{FF2B5EF4-FFF2-40B4-BE49-F238E27FC236}">
                <a16:creationId xmlns:a16="http://schemas.microsoft.com/office/drawing/2014/main" id="{CBBB1049-2682-FB2F-96E6-94E8B8D3F55A}"/>
              </a:ext>
            </a:extLst>
          </p:cNvPr>
          <p:cNvSpPr txBox="1">
            <a:spLocks/>
          </p:cNvSpPr>
          <p:nvPr/>
        </p:nvSpPr>
        <p:spPr>
          <a:xfrm>
            <a:off x="385815" y="47495"/>
            <a:ext cx="4080309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zh-CN" altLang="en-US" sz="3200" dirty="0">
                <a:solidFill>
                  <a:srgbClr val="FF0000"/>
                </a:solidFill>
                <a:latin typeface=".AppleSystemUIFont"/>
              </a:rPr>
              <a:t>谓词逻辑</a:t>
            </a:r>
          </a:p>
        </p:txBody>
      </p:sp>
    </p:spTree>
    <p:extLst>
      <p:ext uri="{BB962C8B-B14F-4D97-AF65-F5344CB8AC3E}">
        <p14:creationId xmlns:p14="http://schemas.microsoft.com/office/powerpoint/2010/main" val="155974592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" name="组合 37"/>
          <p:cNvGrpSpPr/>
          <p:nvPr/>
        </p:nvGrpSpPr>
        <p:grpSpPr>
          <a:xfrm>
            <a:off x="3869989" y="1594509"/>
            <a:ext cx="4452022" cy="4487848"/>
            <a:chOff x="3872379" y="1383943"/>
            <a:chExt cx="4452022" cy="4487848"/>
          </a:xfrm>
        </p:grpSpPr>
        <p:sp>
          <p:nvSpPr>
            <p:cNvPr id="3" name="Freeform 5"/>
            <p:cNvSpPr>
              <a:spLocks/>
            </p:cNvSpPr>
            <p:nvPr/>
          </p:nvSpPr>
          <p:spPr bwMode="auto">
            <a:xfrm>
              <a:off x="3872379" y="1383943"/>
              <a:ext cx="2161524" cy="2161524"/>
            </a:xfrm>
            <a:custGeom>
              <a:avLst/>
              <a:gdLst/>
              <a:ahLst/>
              <a:cxnLst>
                <a:cxn ang="0">
                  <a:pos x="673" y="233"/>
                </a:cxn>
                <a:cxn ang="0">
                  <a:pos x="233" y="233"/>
                </a:cxn>
                <a:cxn ang="0">
                  <a:pos x="233" y="673"/>
                </a:cxn>
                <a:cxn ang="0">
                  <a:pos x="0" y="905"/>
                </a:cxn>
                <a:cxn ang="0">
                  <a:pos x="905" y="905"/>
                </a:cxn>
                <a:cxn ang="0">
                  <a:pos x="905" y="0"/>
                </a:cxn>
                <a:cxn ang="0">
                  <a:pos x="673" y="233"/>
                </a:cxn>
              </a:cxnLst>
              <a:rect l="0" t="0" r="r" b="b"/>
              <a:pathLst>
                <a:path w="905" h="905">
                  <a:moveTo>
                    <a:pt x="673" y="233"/>
                  </a:moveTo>
                  <a:lnTo>
                    <a:pt x="233" y="233"/>
                  </a:lnTo>
                  <a:lnTo>
                    <a:pt x="233" y="673"/>
                  </a:lnTo>
                  <a:lnTo>
                    <a:pt x="0" y="905"/>
                  </a:lnTo>
                  <a:lnTo>
                    <a:pt x="905" y="905"/>
                  </a:lnTo>
                  <a:lnTo>
                    <a:pt x="905" y="0"/>
                  </a:lnTo>
                  <a:lnTo>
                    <a:pt x="673" y="233"/>
                  </a:lnTo>
                  <a:close/>
                </a:path>
              </a:pathLst>
            </a:custGeom>
            <a:solidFill>
              <a:srgbClr val="24569D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sym typeface="+mn-lt"/>
              </a:endParaRPr>
            </a:p>
          </p:txBody>
        </p:sp>
        <p:sp>
          <p:nvSpPr>
            <p:cNvPr id="4" name="Freeform 6"/>
            <p:cNvSpPr>
              <a:spLocks/>
            </p:cNvSpPr>
            <p:nvPr/>
          </p:nvSpPr>
          <p:spPr bwMode="auto">
            <a:xfrm>
              <a:off x="6162877" y="1383943"/>
              <a:ext cx="2161524" cy="2161524"/>
            </a:xfrm>
            <a:custGeom>
              <a:avLst/>
              <a:gdLst/>
              <a:ahLst/>
              <a:cxnLst>
                <a:cxn ang="0">
                  <a:pos x="672" y="673"/>
                </a:cxn>
                <a:cxn ang="0">
                  <a:pos x="672" y="233"/>
                </a:cxn>
                <a:cxn ang="0">
                  <a:pos x="232" y="233"/>
                </a:cxn>
                <a:cxn ang="0">
                  <a:pos x="0" y="0"/>
                </a:cxn>
                <a:cxn ang="0">
                  <a:pos x="0" y="905"/>
                </a:cxn>
                <a:cxn ang="0">
                  <a:pos x="905" y="905"/>
                </a:cxn>
                <a:cxn ang="0">
                  <a:pos x="672" y="673"/>
                </a:cxn>
              </a:cxnLst>
              <a:rect l="0" t="0" r="r" b="b"/>
              <a:pathLst>
                <a:path w="905" h="905">
                  <a:moveTo>
                    <a:pt x="672" y="673"/>
                  </a:moveTo>
                  <a:lnTo>
                    <a:pt x="672" y="233"/>
                  </a:lnTo>
                  <a:lnTo>
                    <a:pt x="232" y="233"/>
                  </a:lnTo>
                  <a:lnTo>
                    <a:pt x="0" y="0"/>
                  </a:lnTo>
                  <a:lnTo>
                    <a:pt x="0" y="905"/>
                  </a:lnTo>
                  <a:lnTo>
                    <a:pt x="905" y="905"/>
                  </a:lnTo>
                  <a:lnTo>
                    <a:pt x="672" y="673"/>
                  </a:lnTo>
                  <a:close/>
                </a:path>
              </a:pathLst>
            </a:custGeom>
            <a:solidFill>
              <a:srgbClr val="24569D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sym typeface="+mn-lt"/>
              </a:endParaRPr>
            </a:p>
          </p:txBody>
        </p:sp>
        <p:sp>
          <p:nvSpPr>
            <p:cNvPr id="5" name="Freeform 7"/>
            <p:cNvSpPr>
              <a:spLocks/>
            </p:cNvSpPr>
            <p:nvPr/>
          </p:nvSpPr>
          <p:spPr bwMode="auto">
            <a:xfrm>
              <a:off x="3872379" y="3710267"/>
              <a:ext cx="2161524" cy="2161524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33" y="232"/>
                </a:cxn>
                <a:cxn ang="0">
                  <a:pos x="233" y="672"/>
                </a:cxn>
                <a:cxn ang="0">
                  <a:pos x="673" y="672"/>
                </a:cxn>
                <a:cxn ang="0">
                  <a:pos x="905" y="905"/>
                </a:cxn>
                <a:cxn ang="0">
                  <a:pos x="905" y="0"/>
                </a:cxn>
                <a:cxn ang="0">
                  <a:pos x="0" y="0"/>
                </a:cxn>
              </a:cxnLst>
              <a:rect l="0" t="0" r="r" b="b"/>
              <a:pathLst>
                <a:path w="905" h="905">
                  <a:moveTo>
                    <a:pt x="0" y="0"/>
                  </a:moveTo>
                  <a:lnTo>
                    <a:pt x="233" y="232"/>
                  </a:lnTo>
                  <a:lnTo>
                    <a:pt x="233" y="672"/>
                  </a:lnTo>
                  <a:lnTo>
                    <a:pt x="673" y="672"/>
                  </a:lnTo>
                  <a:lnTo>
                    <a:pt x="905" y="905"/>
                  </a:lnTo>
                  <a:lnTo>
                    <a:pt x="90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4569D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sym typeface="+mn-lt"/>
              </a:endParaRPr>
            </a:p>
          </p:txBody>
        </p:sp>
        <p:sp>
          <p:nvSpPr>
            <p:cNvPr id="6" name="Freeform 8"/>
            <p:cNvSpPr>
              <a:spLocks/>
            </p:cNvSpPr>
            <p:nvPr/>
          </p:nvSpPr>
          <p:spPr bwMode="auto">
            <a:xfrm>
              <a:off x="6162877" y="3710267"/>
              <a:ext cx="2161524" cy="2161524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905"/>
                </a:cxn>
                <a:cxn ang="0">
                  <a:pos x="232" y="672"/>
                </a:cxn>
                <a:cxn ang="0">
                  <a:pos x="672" y="672"/>
                </a:cxn>
                <a:cxn ang="0">
                  <a:pos x="672" y="232"/>
                </a:cxn>
                <a:cxn ang="0">
                  <a:pos x="905" y="0"/>
                </a:cxn>
                <a:cxn ang="0">
                  <a:pos x="0" y="0"/>
                </a:cxn>
              </a:cxnLst>
              <a:rect l="0" t="0" r="r" b="b"/>
              <a:pathLst>
                <a:path w="905" h="905">
                  <a:moveTo>
                    <a:pt x="0" y="0"/>
                  </a:moveTo>
                  <a:lnTo>
                    <a:pt x="0" y="905"/>
                  </a:lnTo>
                  <a:lnTo>
                    <a:pt x="232" y="672"/>
                  </a:lnTo>
                  <a:lnTo>
                    <a:pt x="672" y="672"/>
                  </a:lnTo>
                  <a:lnTo>
                    <a:pt x="672" y="232"/>
                  </a:lnTo>
                  <a:lnTo>
                    <a:pt x="90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4569D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sym typeface="+mn-lt"/>
              </a:endParaRPr>
            </a:p>
          </p:txBody>
        </p:sp>
        <p:grpSp>
          <p:nvGrpSpPr>
            <p:cNvPr id="7" name="Group 44"/>
            <p:cNvGrpSpPr/>
            <p:nvPr/>
          </p:nvGrpSpPr>
          <p:grpSpPr>
            <a:xfrm>
              <a:off x="4569798" y="4627422"/>
              <a:ext cx="527842" cy="535007"/>
              <a:chOff x="3557588" y="3654425"/>
              <a:chExt cx="350838" cy="355600"/>
            </a:xfrm>
          </p:grpSpPr>
          <p:sp>
            <p:nvSpPr>
              <p:cNvPr id="20" name="Freeform 9"/>
              <p:cNvSpPr>
                <a:spLocks noEditPoints="1"/>
              </p:cNvSpPr>
              <p:nvPr/>
            </p:nvSpPr>
            <p:spPr bwMode="auto">
              <a:xfrm>
                <a:off x="3619501" y="3654425"/>
                <a:ext cx="288925" cy="163513"/>
              </a:xfrm>
              <a:custGeom>
                <a:avLst/>
                <a:gdLst/>
                <a:ahLst/>
                <a:cxnLst>
                  <a:cxn ang="0">
                    <a:pos x="40" y="55"/>
                  </a:cxn>
                  <a:cxn ang="0">
                    <a:pos x="41" y="55"/>
                  </a:cxn>
                  <a:cxn ang="0">
                    <a:pos x="95" y="55"/>
                  </a:cxn>
                  <a:cxn ang="0">
                    <a:pos x="97" y="55"/>
                  </a:cxn>
                  <a:cxn ang="0">
                    <a:pos x="97" y="53"/>
                  </a:cxn>
                  <a:cxn ang="0">
                    <a:pos x="78" y="15"/>
                  </a:cxn>
                  <a:cxn ang="0">
                    <a:pos x="38" y="0"/>
                  </a:cxn>
                  <a:cxn ang="0">
                    <a:pos x="1" y="13"/>
                  </a:cxn>
                  <a:cxn ang="0">
                    <a:pos x="0" y="15"/>
                  </a:cxn>
                  <a:cxn ang="0">
                    <a:pos x="1" y="16"/>
                  </a:cxn>
                  <a:cxn ang="0">
                    <a:pos x="40" y="55"/>
                  </a:cxn>
                  <a:cxn ang="0">
                    <a:pos x="32" y="34"/>
                  </a:cxn>
                  <a:cxn ang="0">
                    <a:pos x="48" y="11"/>
                  </a:cxn>
                  <a:cxn ang="0">
                    <a:pos x="53" y="12"/>
                  </a:cxn>
                  <a:cxn ang="0">
                    <a:pos x="36" y="38"/>
                  </a:cxn>
                  <a:cxn ang="0">
                    <a:pos x="32" y="34"/>
                  </a:cxn>
                  <a:cxn ang="0">
                    <a:pos x="38" y="10"/>
                  </a:cxn>
                  <a:cxn ang="0">
                    <a:pos x="40" y="10"/>
                  </a:cxn>
                  <a:cxn ang="0">
                    <a:pos x="27" y="29"/>
                  </a:cxn>
                  <a:cxn ang="0">
                    <a:pos x="23" y="25"/>
                  </a:cxn>
                  <a:cxn ang="0">
                    <a:pos x="33" y="10"/>
                  </a:cxn>
                  <a:cxn ang="0">
                    <a:pos x="38" y="10"/>
                  </a:cxn>
                  <a:cxn ang="0">
                    <a:pos x="23" y="12"/>
                  </a:cxn>
                  <a:cxn ang="0">
                    <a:pos x="18" y="19"/>
                  </a:cxn>
                  <a:cxn ang="0">
                    <a:pos x="14" y="16"/>
                  </a:cxn>
                  <a:cxn ang="0">
                    <a:pos x="21" y="13"/>
                  </a:cxn>
                  <a:cxn ang="0">
                    <a:pos x="23" y="12"/>
                  </a:cxn>
                  <a:cxn ang="0">
                    <a:pos x="69" y="46"/>
                  </a:cxn>
                  <a:cxn ang="0">
                    <a:pos x="79" y="31"/>
                  </a:cxn>
                  <a:cxn ang="0">
                    <a:pos x="81" y="34"/>
                  </a:cxn>
                  <a:cxn ang="0">
                    <a:pos x="73" y="46"/>
                  </a:cxn>
                  <a:cxn ang="0">
                    <a:pos x="69" y="46"/>
                  </a:cxn>
                  <a:cxn ang="0">
                    <a:pos x="82" y="46"/>
                  </a:cxn>
                  <a:cxn ang="0">
                    <a:pos x="85" y="41"/>
                  </a:cxn>
                  <a:cxn ang="0">
                    <a:pos x="86" y="46"/>
                  </a:cxn>
                  <a:cxn ang="0">
                    <a:pos x="82" y="46"/>
                  </a:cxn>
                  <a:cxn ang="0">
                    <a:pos x="54" y="46"/>
                  </a:cxn>
                  <a:cxn ang="0">
                    <a:pos x="70" y="22"/>
                  </a:cxn>
                  <a:cxn ang="0">
                    <a:pos x="72" y="23"/>
                  </a:cxn>
                  <a:cxn ang="0">
                    <a:pos x="74" y="25"/>
                  </a:cxn>
                  <a:cxn ang="0">
                    <a:pos x="60" y="46"/>
                  </a:cxn>
                  <a:cxn ang="0">
                    <a:pos x="54" y="46"/>
                  </a:cxn>
                  <a:cxn ang="0">
                    <a:pos x="46" y="46"/>
                  </a:cxn>
                  <a:cxn ang="0">
                    <a:pos x="44" y="46"/>
                  </a:cxn>
                  <a:cxn ang="0">
                    <a:pos x="41" y="43"/>
                  </a:cxn>
                  <a:cxn ang="0">
                    <a:pos x="60" y="15"/>
                  </a:cxn>
                  <a:cxn ang="0">
                    <a:pos x="65" y="17"/>
                  </a:cxn>
                  <a:cxn ang="0">
                    <a:pos x="46" y="46"/>
                  </a:cxn>
                  <a:cxn ang="0">
                    <a:pos x="46" y="46"/>
                  </a:cxn>
                  <a:cxn ang="0">
                    <a:pos x="46" y="46"/>
                  </a:cxn>
                </a:cxnLst>
                <a:rect l="0" t="0" r="r" b="b"/>
                <a:pathLst>
                  <a:path w="97" h="55">
                    <a:moveTo>
                      <a:pt x="40" y="55"/>
                    </a:moveTo>
                    <a:cubicBezTo>
                      <a:pt x="40" y="55"/>
                      <a:pt x="40" y="55"/>
                      <a:pt x="41" y="55"/>
                    </a:cubicBezTo>
                    <a:cubicBezTo>
                      <a:pt x="95" y="55"/>
                      <a:pt x="95" y="55"/>
                      <a:pt x="95" y="55"/>
                    </a:cubicBezTo>
                    <a:cubicBezTo>
                      <a:pt x="96" y="55"/>
                      <a:pt x="96" y="55"/>
                      <a:pt x="97" y="55"/>
                    </a:cubicBezTo>
                    <a:cubicBezTo>
                      <a:pt x="97" y="54"/>
                      <a:pt x="97" y="54"/>
                      <a:pt x="97" y="53"/>
                    </a:cubicBezTo>
                    <a:cubicBezTo>
                      <a:pt x="96" y="39"/>
                      <a:pt x="89" y="25"/>
                      <a:pt x="78" y="15"/>
                    </a:cubicBezTo>
                    <a:cubicBezTo>
                      <a:pt x="67" y="6"/>
                      <a:pt x="53" y="0"/>
                      <a:pt x="38" y="0"/>
                    </a:cubicBezTo>
                    <a:cubicBezTo>
                      <a:pt x="25" y="0"/>
                      <a:pt x="12" y="5"/>
                      <a:pt x="1" y="13"/>
                    </a:cubicBezTo>
                    <a:cubicBezTo>
                      <a:pt x="1" y="14"/>
                      <a:pt x="0" y="14"/>
                      <a:pt x="0" y="15"/>
                    </a:cubicBezTo>
                    <a:cubicBezTo>
                      <a:pt x="0" y="15"/>
                      <a:pt x="1" y="16"/>
                      <a:pt x="1" y="16"/>
                    </a:cubicBezTo>
                    <a:lnTo>
                      <a:pt x="40" y="55"/>
                    </a:lnTo>
                    <a:close/>
                    <a:moveTo>
                      <a:pt x="32" y="34"/>
                    </a:moveTo>
                    <a:cubicBezTo>
                      <a:pt x="48" y="11"/>
                      <a:pt x="48" y="11"/>
                      <a:pt x="48" y="11"/>
                    </a:cubicBezTo>
                    <a:cubicBezTo>
                      <a:pt x="50" y="11"/>
                      <a:pt x="51" y="12"/>
                      <a:pt x="53" y="12"/>
                    </a:cubicBezTo>
                    <a:cubicBezTo>
                      <a:pt x="36" y="38"/>
                      <a:pt x="36" y="38"/>
                      <a:pt x="36" y="38"/>
                    </a:cubicBezTo>
                    <a:lnTo>
                      <a:pt x="32" y="34"/>
                    </a:lnTo>
                    <a:close/>
                    <a:moveTo>
                      <a:pt x="38" y="10"/>
                    </a:moveTo>
                    <a:cubicBezTo>
                      <a:pt x="39" y="10"/>
                      <a:pt x="39" y="10"/>
                      <a:pt x="40" y="10"/>
                    </a:cubicBezTo>
                    <a:cubicBezTo>
                      <a:pt x="27" y="29"/>
                      <a:pt x="27" y="29"/>
                      <a:pt x="27" y="29"/>
                    </a:cubicBezTo>
                    <a:cubicBezTo>
                      <a:pt x="23" y="25"/>
                      <a:pt x="23" y="25"/>
                      <a:pt x="23" y="25"/>
                    </a:cubicBezTo>
                    <a:cubicBezTo>
                      <a:pt x="33" y="10"/>
                      <a:pt x="33" y="10"/>
                      <a:pt x="33" y="10"/>
                    </a:cubicBezTo>
                    <a:cubicBezTo>
                      <a:pt x="35" y="10"/>
                      <a:pt x="37" y="10"/>
                      <a:pt x="38" y="10"/>
                    </a:cubicBezTo>
                    <a:close/>
                    <a:moveTo>
                      <a:pt x="23" y="12"/>
                    </a:moveTo>
                    <a:cubicBezTo>
                      <a:pt x="18" y="19"/>
                      <a:pt x="18" y="19"/>
                      <a:pt x="18" y="19"/>
                    </a:cubicBezTo>
                    <a:cubicBezTo>
                      <a:pt x="14" y="16"/>
                      <a:pt x="14" y="16"/>
                      <a:pt x="14" y="16"/>
                    </a:cubicBezTo>
                    <a:cubicBezTo>
                      <a:pt x="16" y="15"/>
                      <a:pt x="19" y="14"/>
                      <a:pt x="21" y="13"/>
                    </a:cubicBezTo>
                    <a:cubicBezTo>
                      <a:pt x="22" y="13"/>
                      <a:pt x="22" y="12"/>
                      <a:pt x="23" y="12"/>
                    </a:cubicBezTo>
                    <a:close/>
                    <a:moveTo>
                      <a:pt x="69" y="46"/>
                    </a:moveTo>
                    <a:cubicBezTo>
                      <a:pt x="79" y="31"/>
                      <a:pt x="79" y="31"/>
                      <a:pt x="79" y="31"/>
                    </a:cubicBezTo>
                    <a:cubicBezTo>
                      <a:pt x="80" y="32"/>
                      <a:pt x="80" y="33"/>
                      <a:pt x="81" y="34"/>
                    </a:cubicBezTo>
                    <a:cubicBezTo>
                      <a:pt x="73" y="46"/>
                      <a:pt x="73" y="46"/>
                      <a:pt x="73" y="46"/>
                    </a:cubicBezTo>
                    <a:lnTo>
                      <a:pt x="69" y="46"/>
                    </a:lnTo>
                    <a:close/>
                    <a:moveTo>
                      <a:pt x="82" y="46"/>
                    </a:moveTo>
                    <a:cubicBezTo>
                      <a:pt x="85" y="41"/>
                      <a:pt x="85" y="41"/>
                      <a:pt x="85" y="41"/>
                    </a:cubicBezTo>
                    <a:cubicBezTo>
                      <a:pt x="85" y="43"/>
                      <a:pt x="86" y="44"/>
                      <a:pt x="86" y="46"/>
                    </a:cubicBezTo>
                    <a:lnTo>
                      <a:pt x="82" y="46"/>
                    </a:lnTo>
                    <a:close/>
                    <a:moveTo>
                      <a:pt x="54" y="46"/>
                    </a:moveTo>
                    <a:cubicBezTo>
                      <a:pt x="70" y="22"/>
                      <a:pt x="70" y="22"/>
                      <a:pt x="70" y="22"/>
                    </a:cubicBezTo>
                    <a:cubicBezTo>
                      <a:pt x="71" y="22"/>
                      <a:pt x="71" y="22"/>
                      <a:pt x="72" y="23"/>
                    </a:cubicBezTo>
                    <a:cubicBezTo>
                      <a:pt x="73" y="24"/>
                      <a:pt x="73" y="24"/>
                      <a:pt x="74" y="25"/>
                    </a:cubicBezTo>
                    <a:cubicBezTo>
                      <a:pt x="60" y="46"/>
                      <a:pt x="60" y="46"/>
                      <a:pt x="60" y="46"/>
                    </a:cubicBezTo>
                    <a:lnTo>
                      <a:pt x="54" y="46"/>
                    </a:lnTo>
                    <a:close/>
                    <a:moveTo>
                      <a:pt x="46" y="46"/>
                    </a:moveTo>
                    <a:cubicBezTo>
                      <a:pt x="44" y="46"/>
                      <a:pt x="44" y="46"/>
                      <a:pt x="44" y="46"/>
                    </a:cubicBezTo>
                    <a:cubicBezTo>
                      <a:pt x="41" y="43"/>
                      <a:pt x="41" y="43"/>
                      <a:pt x="41" y="43"/>
                    </a:cubicBezTo>
                    <a:cubicBezTo>
                      <a:pt x="60" y="15"/>
                      <a:pt x="60" y="15"/>
                      <a:pt x="60" y="15"/>
                    </a:cubicBezTo>
                    <a:cubicBezTo>
                      <a:pt x="62" y="16"/>
                      <a:pt x="63" y="16"/>
                      <a:pt x="65" y="17"/>
                    </a:cubicBezTo>
                    <a:lnTo>
                      <a:pt x="46" y="46"/>
                    </a:lnTo>
                    <a:close/>
                    <a:moveTo>
                      <a:pt x="46" y="46"/>
                    </a:moveTo>
                    <a:cubicBezTo>
                      <a:pt x="46" y="46"/>
                      <a:pt x="46" y="46"/>
                      <a:pt x="46" y="46"/>
                    </a:cubicBezTo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4572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sym typeface="+mn-lt"/>
                </a:endParaRPr>
              </a:p>
            </p:txBody>
          </p:sp>
          <p:sp>
            <p:nvSpPr>
              <p:cNvPr id="21" name="Freeform 10"/>
              <p:cNvSpPr>
                <a:spLocks noEditPoints="1"/>
              </p:cNvSpPr>
              <p:nvPr/>
            </p:nvSpPr>
            <p:spPr bwMode="auto">
              <a:xfrm>
                <a:off x="3557588" y="3719513"/>
                <a:ext cx="157163" cy="254000"/>
              </a:xfrm>
              <a:custGeom>
                <a:avLst/>
                <a:gdLst/>
                <a:ahLst/>
                <a:cxnLst>
                  <a:cxn ang="0">
                    <a:pos x="53" y="37"/>
                  </a:cxn>
                  <a:cxn ang="0">
                    <a:pos x="16" y="0"/>
                  </a:cxn>
                  <a:cxn ang="0">
                    <a:pos x="14" y="0"/>
                  </a:cxn>
                  <a:cxn ang="0">
                    <a:pos x="13" y="0"/>
                  </a:cxn>
                  <a:cxn ang="0">
                    <a:pos x="0" y="38"/>
                  </a:cxn>
                  <a:cxn ang="0">
                    <a:pos x="23" y="85"/>
                  </a:cxn>
                  <a:cxn ang="0">
                    <a:pos x="24" y="85"/>
                  </a:cxn>
                  <a:cxn ang="0">
                    <a:pos x="24" y="85"/>
                  </a:cxn>
                  <a:cxn ang="0">
                    <a:pos x="26" y="84"/>
                  </a:cxn>
                  <a:cxn ang="0">
                    <a:pos x="53" y="40"/>
                  </a:cxn>
                  <a:cxn ang="0">
                    <a:pos x="53" y="37"/>
                  </a:cxn>
                  <a:cxn ang="0">
                    <a:pos x="42" y="40"/>
                  </a:cxn>
                  <a:cxn ang="0">
                    <a:pos x="22" y="71"/>
                  </a:cxn>
                  <a:cxn ang="0">
                    <a:pos x="15" y="60"/>
                  </a:cxn>
                  <a:cxn ang="0">
                    <a:pos x="9" y="38"/>
                  </a:cxn>
                  <a:cxn ang="0">
                    <a:pos x="12" y="20"/>
                  </a:cxn>
                  <a:cxn ang="0">
                    <a:pos x="16" y="14"/>
                  </a:cxn>
                  <a:cxn ang="0">
                    <a:pos x="42" y="40"/>
                  </a:cxn>
                  <a:cxn ang="0">
                    <a:pos x="42" y="40"/>
                  </a:cxn>
                  <a:cxn ang="0">
                    <a:pos x="42" y="40"/>
                  </a:cxn>
                </a:cxnLst>
                <a:rect l="0" t="0" r="r" b="b"/>
                <a:pathLst>
                  <a:path w="53" h="85">
                    <a:moveTo>
                      <a:pt x="53" y="37"/>
                    </a:moveTo>
                    <a:cubicBezTo>
                      <a:pt x="16" y="0"/>
                      <a:pt x="16" y="0"/>
                      <a:pt x="16" y="0"/>
                    </a:cubicBezTo>
                    <a:cubicBezTo>
                      <a:pt x="15" y="0"/>
                      <a:pt x="15" y="0"/>
                      <a:pt x="14" y="0"/>
                    </a:cubicBezTo>
                    <a:cubicBezTo>
                      <a:pt x="14" y="0"/>
                      <a:pt x="13" y="0"/>
                      <a:pt x="13" y="0"/>
                    </a:cubicBezTo>
                    <a:cubicBezTo>
                      <a:pt x="5" y="11"/>
                      <a:pt x="0" y="24"/>
                      <a:pt x="0" y="38"/>
                    </a:cubicBezTo>
                    <a:cubicBezTo>
                      <a:pt x="0" y="56"/>
                      <a:pt x="8" y="73"/>
                      <a:pt x="23" y="85"/>
                    </a:cubicBezTo>
                    <a:cubicBezTo>
                      <a:pt x="23" y="85"/>
                      <a:pt x="24" y="85"/>
                      <a:pt x="24" y="85"/>
                    </a:cubicBezTo>
                    <a:cubicBezTo>
                      <a:pt x="24" y="85"/>
                      <a:pt x="24" y="85"/>
                      <a:pt x="24" y="85"/>
                    </a:cubicBezTo>
                    <a:cubicBezTo>
                      <a:pt x="25" y="85"/>
                      <a:pt x="25" y="85"/>
                      <a:pt x="26" y="84"/>
                    </a:cubicBezTo>
                    <a:cubicBezTo>
                      <a:pt x="53" y="40"/>
                      <a:pt x="53" y="40"/>
                      <a:pt x="53" y="40"/>
                    </a:cubicBezTo>
                    <a:cubicBezTo>
                      <a:pt x="53" y="39"/>
                      <a:pt x="53" y="38"/>
                      <a:pt x="53" y="37"/>
                    </a:cubicBezTo>
                    <a:close/>
                    <a:moveTo>
                      <a:pt x="42" y="40"/>
                    </a:moveTo>
                    <a:cubicBezTo>
                      <a:pt x="22" y="71"/>
                      <a:pt x="22" y="71"/>
                      <a:pt x="22" y="71"/>
                    </a:cubicBezTo>
                    <a:cubicBezTo>
                      <a:pt x="19" y="68"/>
                      <a:pt x="17" y="64"/>
                      <a:pt x="15" y="60"/>
                    </a:cubicBezTo>
                    <a:cubicBezTo>
                      <a:pt x="11" y="53"/>
                      <a:pt x="9" y="46"/>
                      <a:pt x="9" y="38"/>
                    </a:cubicBezTo>
                    <a:cubicBezTo>
                      <a:pt x="9" y="32"/>
                      <a:pt x="10" y="26"/>
                      <a:pt x="12" y="20"/>
                    </a:cubicBezTo>
                    <a:cubicBezTo>
                      <a:pt x="13" y="18"/>
                      <a:pt x="14" y="16"/>
                      <a:pt x="16" y="14"/>
                    </a:cubicBezTo>
                    <a:lnTo>
                      <a:pt x="42" y="40"/>
                    </a:lnTo>
                    <a:close/>
                    <a:moveTo>
                      <a:pt x="42" y="40"/>
                    </a:moveTo>
                    <a:cubicBezTo>
                      <a:pt x="42" y="40"/>
                      <a:pt x="42" y="40"/>
                      <a:pt x="42" y="40"/>
                    </a:cubicBezTo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4572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sym typeface="+mn-lt"/>
                </a:endParaRPr>
              </a:p>
            </p:txBody>
          </p:sp>
          <p:sp>
            <p:nvSpPr>
              <p:cNvPr id="22" name="Freeform 11"/>
              <p:cNvSpPr>
                <a:spLocks noEditPoints="1"/>
              </p:cNvSpPr>
              <p:nvPr/>
            </p:nvSpPr>
            <p:spPr bwMode="auto">
              <a:xfrm>
                <a:off x="3656013" y="3844925"/>
                <a:ext cx="252413" cy="165100"/>
              </a:xfrm>
              <a:custGeom>
                <a:avLst/>
                <a:gdLst/>
                <a:ahLst/>
                <a:cxnLst>
                  <a:cxn ang="0">
                    <a:pos x="83" y="0"/>
                  </a:cxn>
                  <a:cxn ang="0">
                    <a:pos x="30" y="0"/>
                  </a:cxn>
                  <a:cxn ang="0">
                    <a:pos x="28" y="1"/>
                  </a:cxn>
                  <a:cxn ang="0">
                    <a:pos x="0" y="47"/>
                  </a:cxn>
                  <a:cxn ang="0">
                    <a:pos x="0" y="48"/>
                  </a:cxn>
                  <a:cxn ang="0">
                    <a:pos x="1" y="49"/>
                  </a:cxn>
                  <a:cxn ang="0">
                    <a:pos x="26" y="55"/>
                  </a:cxn>
                  <a:cxn ang="0">
                    <a:pos x="66" y="40"/>
                  </a:cxn>
                  <a:cxn ang="0">
                    <a:pos x="85" y="2"/>
                  </a:cxn>
                  <a:cxn ang="0">
                    <a:pos x="85" y="1"/>
                  </a:cxn>
                  <a:cxn ang="0">
                    <a:pos x="83" y="0"/>
                  </a:cxn>
                  <a:cxn ang="0">
                    <a:pos x="83" y="0"/>
                  </a:cxn>
                  <a:cxn ang="0">
                    <a:pos x="83" y="0"/>
                  </a:cxn>
                </a:cxnLst>
                <a:rect l="0" t="0" r="r" b="b"/>
                <a:pathLst>
                  <a:path w="85" h="55">
                    <a:moveTo>
                      <a:pt x="83" y="0"/>
                    </a:moveTo>
                    <a:cubicBezTo>
                      <a:pt x="30" y="0"/>
                      <a:pt x="30" y="0"/>
                      <a:pt x="30" y="0"/>
                    </a:cubicBezTo>
                    <a:cubicBezTo>
                      <a:pt x="29" y="0"/>
                      <a:pt x="29" y="0"/>
                      <a:pt x="28" y="1"/>
                    </a:cubicBezTo>
                    <a:cubicBezTo>
                      <a:pt x="0" y="47"/>
                      <a:pt x="0" y="47"/>
                      <a:pt x="0" y="47"/>
                    </a:cubicBezTo>
                    <a:cubicBezTo>
                      <a:pt x="0" y="47"/>
                      <a:pt x="0" y="48"/>
                      <a:pt x="0" y="48"/>
                    </a:cubicBezTo>
                    <a:cubicBezTo>
                      <a:pt x="0" y="49"/>
                      <a:pt x="0" y="49"/>
                      <a:pt x="1" y="49"/>
                    </a:cubicBezTo>
                    <a:cubicBezTo>
                      <a:pt x="9" y="53"/>
                      <a:pt x="17" y="55"/>
                      <a:pt x="26" y="55"/>
                    </a:cubicBezTo>
                    <a:cubicBezTo>
                      <a:pt x="41" y="55"/>
                      <a:pt x="55" y="50"/>
                      <a:pt x="66" y="40"/>
                    </a:cubicBezTo>
                    <a:cubicBezTo>
                      <a:pt x="77" y="30"/>
                      <a:pt x="84" y="17"/>
                      <a:pt x="85" y="2"/>
                    </a:cubicBezTo>
                    <a:cubicBezTo>
                      <a:pt x="85" y="2"/>
                      <a:pt x="85" y="1"/>
                      <a:pt x="85" y="1"/>
                    </a:cubicBezTo>
                    <a:cubicBezTo>
                      <a:pt x="84" y="0"/>
                      <a:pt x="84" y="0"/>
                      <a:pt x="83" y="0"/>
                    </a:cubicBezTo>
                    <a:close/>
                    <a:moveTo>
                      <a:pt x="83" y="0"/>
                    </a:moveTo>
                    <a:cubicBezTo>
                      <a:pt x="83" y="0"/>
                      <a:pt x="83" y="0"/>
                      <a:pt x="83" y="0"/>
                    </a:cubicBezTo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4572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sym typeface="+mn-lt"/>
                </a:endParaRPr>
              </a:p>
            </p:txBody>
          </p:sp>
        </p:grpSp>
        <p:grpSp>
          <p:nvGrpSpPr>
            <p:cNvPr id="8" name="Group 48"/>
            <p:cNvGrpSpPr/>
            <p:nvPr/>
          </p:nvGrpSpPr>
          <p:grpSpPr>
            <a:xfrm>
              <a:off x="7025097" y="2098082"/>
              <a:ext cx="606660" cy="539784"/>
              <a:chOff x="5189538" y="1973263"/>
              <a:chExt cx="403225" cy="358775"/>
            </a:xfrm>
          </p:grpSpPr>
          <p:sp>
            <p:nvSpPr>
              <p:cNvPr id="18" name="Freeform 12"/>
              <p:cNvSpPr>
                <a:spLocks noEditPoints="1"/>
              </p:cNvSpPr>
              <p:nvPr/>
            </p:nvSpPr>
            <p:spPr bwMode="auto">
              <a:xfrm>
                <a:off x="5310188" y="1973263"/>
                <a:ext cx="282575" cy="260350"/>
              </a:xfrm>
              <a:custGeom>
                <a:avLst/>
                <a:gdLst/>
                <a:ahLst/>
                <a:cxnLst>
                  <a:cxn ang="0">
                    <a:pos x="3" y="23"/>
                  </a:cxn>
                  <a:cxn ang="0">
                    <a:pos x="13" y="25"/>
                  </a:cxn>
                  <a:cxn ang="0">
                    <a:pos x="54" y="33"/>
                  </a:cxn>
                  <a:cxn ang="0">
                    <a:pos x="65" y="55"/>
                  </a:cxn>
                  <a:cxn ang="0">
                    <a:pos x="61" y="52"/>
                  </a:cxn>
                  <a:cxn ang="0">
                    <a:pos x="56" y="52"/>
                  </a:cxn>
                  <a:cxn ang="0">
                    <a:pos x="55" y="57"/>
                  </a:cxn>
                  <a:cxn ang="0">
                    <a:pos x="65" y="85"/>
                  </a:cxn>
                  <a:cxn ang="0">
                    <a:pos x="68" y="87"/>
                  </a:cxn>
                  <a:cxn ang="0">
                    <a:pos x="72" y="86"/>
                  </a:cxn>
                  <a:cxn ang="0">
                    <a:pos x="93" y="65"/>
                  </a:cxn>
                  <a:cxn ang="0">
                    <a:pos x="94" y="60"/>
                  </a:cxn>
                  <a:cxn ang="0">
                    <a:pos x="90" y="58"/>
                  </a:cxn>
                  <a:cxn ang="0">
                    <a:pos x="83" y="60"/>
                  </a:cxn>
                  <a:cxn ang="0">
                    <a:pos x="67" y="21"/>
                  </a:cxn>
                  <a:cxn ang="0">
                    <a:pos x="6" y="9"/>
                  </a:cxn>
                  <a:cxn ang="0">
                    <a:pos x="1" y="15"/>
                  </a:cxn>
                  <a:cxn ang="0">
                    <a:pos x="3" y="23"/>
                  </a:cxn>
                  <a:cxn ang="0">
                    <a:pos x="3" y="23"/>
                  </a:cxn>
                  <a:cxn ang="0">
                    <a:pos x="3" y="23"/>
                  </a:cxn>
                </a:cxnLst>
                <a:rect l="0" t="0" r="r" b="b"/>
                <a:pathLst>
                  <a:path w="95" h="87">
                    <a:moveTo>
                      <a:pt x="3" y="23"/>
                    </a:moveTo>
                    <a:cubicBezTo>
                      <a:pt x="6" y="26"/>
                      <a:pt x="10" y="27"/>
                      <a:pt x="13" y="25"/>
                    </a:cubicBezTo>
                    <a:cubicBezTo>
                      <a:pt x="27" y="20"/>
                      <a:pt x="43" y="22"/>
                      <a:pt x="54" y="33"/>
                    </a:cubicBezTo>
                    <a:cubicBezTo>
                      <a:pt x="60" y="39"/>
                      <a:pt x="64" y="47"/>
                      <a:pt x="65" y="55"/>
                    </a:cubicBezTo>
                    <a:cubicBezTo>
                      <a:pt x="61" y="52"/>
                      <a:pt x="61" y="52"/>
                      <a:pt x="61" y="52"/>
                    </a:cubicBezTo>
                    <a:cubicBezTo>
                      <a:pt x="59" y="51"/>
                      <a:pt x="57" y="51"/>
                      <a:pt x="56" y="52"/>
                    </a:cubicBezTo>
                    <a:cubicBezTo>
                      <a:pt x="55" y="53"/>
                      <a:pt x="54" y="55"/>
                      <a:pt x="55" y="57"/>
                    </a:cubicBezTo>
                    <a:cubicBezTo>
                      <a:pt x="65" y="85"/>
                      <a:pt x="65" y="85"/>
                      <a:pt x="65" y="85"/>
                    </a:cubicBezTo>
                    <a:cubicBezTo>
                      <a:pt x="66" y="86"/>
                      <a:pt x="67" y="87"/>
                      <a:pt x="68" y="87"/>
                    </a:cubicBezTo>
                    <a:cubicBezTo>
                      <a:pt x="69" y="87"/>
                      <a:pt x="71" y="87"/>
                      <a:pt x="72" y="86"/>
                    </a:cubicBezTo>
                    <a:cubicBezTo>
                      <a:pt x="93" y="65"/>
                      <a:pt x="93" y="65"/>
                      <a:pt x="93" y="65"/>
                    </a:cubicBezTo>
                    <a:cubicBezTo>
                      <a:pt x="94" y="64"/>
                      <a:pt x="95" y="62"/>
                      <a:pt x="94" y="60"/>
                    </a:cubicBezTo>
                    <a:cubicBezTo>
                      <a:pt x="93" y="59"/>
                      <a:pt x="91" y="58"/>
                      <a:pt x="90" y="58"/>
                    </a:cubicBezTo>
                    <a:cubicBezTo>
                      <a:pt x="83" y="60"/>
                      <a:pt x="83" y="60"/>
                      <a:pt x="83" y="60"/>
                    </a:cubicBezTo>
                    <a:cubicBezTo>
                      <a:pt x="83" y="46"/>
                      <a:pt x="77" y="31"/>
                      <a:pt x="67" y="21"/>
                    </a:cubicBezTo>
                    <a:cubicBezTo>
                      <a:pt x="50" y="4"/>
                      <a:pt x="26" y="0"/>
                      <a:pt x="6" y="9"/>
                    </a:cubicBezTo>
                    <a:cubicBezTo>
                      <a:pt x="4" y="10"/>
                      <a:pt x="1" y="12"/>
                      <a:pt x="1" y="15"/>
                    </a:cubicBezTo>
                    <a:cubicBezTo>
                      <a:pt x="0" y="18"/>
                      <a:pt x="1" y="21"/>
                      <a:pt x="3" y="23"/>
                    </a:cubicBezTo>
                    <a:close/>
                    <a:moveTo>
                      <a:pt x="3" y="23"/>
                    </a:moveTo>
                    <a:cubicBezTo>
                      <a:pt x="3" y="23"/>
                      <a:pt x="3" y="23"/>
                      <a:pt x="3" y="23"/>
                    </a:cubicBezTo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4572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sym typeface="+mn-lt"/>
                </a:endParaRPr>
              </a:p>
            </p:txBody>
          </p:sp>
          <p:sp>
            <p:nvSpPr>
              <p:cNvPr id="19" name="Freeform 13"/>
              <p:cNvSpPr>
                <a:spLocks noEditPoints="1"/>
              </p:cNvSpPr>
              <p:nvPr/>
            </p:nvSpPr>
            <p:spPr bwMode="auto">
              <a:xfrm>
                <a:off x="5189538" y="2071688"/>
                <a:ext cx="280988" cy="260350"/>
              </a:xfrm>
              <a:custGeom>
                <a:avLst/>
                <a:gdLst/>
                <a:ahLst/>
                <a:cxnLst>
                  <a:cxn ang="0">
                    <a:pos x="94" y="72"/>
                  </a:cxn>
                  <a:cxn ang="0">
                    <a:pos x="91" y="64"/>
                  </a:cxn>
                  <a:cxn ang="0">
                    <a:pos x="82" y="62"/>
                  </a:cxn>
                  <a:cxn ang="0">
                    <a:pos x="41" y="54"/>
                  </a:cxn>
                  <a:cxn ang="0">
                    <a:pos x="30" y="32"/>
                  </a:cxn>
                  <a:cxn ang="0">
                    <a:pos x="34" y="35"/>
                  </a:cxn>
                  <a:cxn ang="0">
                    <a:pos x="39" y="35"/>
                  </a:cxn>
                  <a:cxn ang="0">
                    <a:pos x="40" y="31"/>
                  </a:cxn>
                  <a:cxn ang="0">
                    <a:pos x="29" y="2"/>
                  </a:cxn>
                  <a:cxn ang="0">
                    <a:pos x="26" y="0"/>
                  </a:cxn>
                  <a:cxn ang="0">
                    <a:pos x="23" y="1"/>
                  </a:cxn>
                  <a:cxn ang="0">
                    <a:pos x="1" y="22"/>
                  </a:cxn>
                  <a:cxn ang="0">
                    <a:pos x="1" y="27"/>
                  </a:cxn>
                  <a:cxn ang="0">
                    <a:pos x="5" y="29"/>
                  </a:cxn>
                  <a:cxn ang="0">
                    <a:pos x="12" y="28"/>
                  </a:cxn>
                  <a:cxn ang="0">
                    <a:pos x="28" y="66"/>
                  </a:cxn>
                  <a:cxn ang="0">
                    <a:pos x="88" y="79"/>
                  </a:cxn>
                  <a:cxn ang="0">
                    <a:pos x="94" y="72"/>
                  </a:cxn>
                  <a:cxn ang="0">
                    <a:pos x="94" y="72"/>
                  </a:cxn>
                  <a:cxn ang="0">
                    <a:pos x="94" y="72"/>
                  </a:cxn>
                </a:cxnLst>
                <a:rect l="0" t="0" r="r" b="b"/>
                <a:pathLst>
                  <a:path w="94" h="87">
                    <a:moveTo>
                      <a:pt x="94" y="72"/>
                    </a:moveTo>
                    <a:cubicBezTo>
                      <a:pt x="94" y="69"/>
                      <a:pt x="93" y="66"/>
                      <a:pt x="91" y="64"/>
                    </a:cubicBezTo>
                    <a:cubicBezTo>
                      <a:pt x="89" y="61"/>
                      <a:pt x="85" y="61"/>
                      <a:pt x="82" y="62"/>
                    </a:cubicBezTo>
                    <a:cubicBezTo>
                      <a:pt x="68" y="68"/>
                      <a:pt x="52" y="65"/>
                      <a:pt x="41" y="54"/>
                    </a:cubicBezTo>
                    <a:cubicBezTo>
                      <a:pt x="34" y="48"/>
                      <a:pt x="31" y="40"/>
                      <a:pt x="30" y="32"/>
                    </a:cubicBezTo>
                    <a:cubicBezTo>
                      <a:pt x="34" y="35"/>
                      <a:pt x="34" y="35"/>
                      <a:pt x="34" y="35"/>
                    </a:cubicBezTo>
                    <a:cubicBezTo>
                      <a:pt x="35" y="36"/>
                      <a:pt x="37" y="36"/>
                      <a:pt x="39" y="35"/>
                    </a:cubicBezTo>
                    <a:cubicBezTo>
                      <a:pt x="40" y="34"/>
                      <a:pt x="41" y="32"/>
                      <a:pt x="40" y="31"/>
                    </a:cubicBezTo>
                    <a:cubicBezTo>
                      <a:pt x="29" y="2"/>
                      <a:pt x="29" y="2"/>
                      <a:pt x="29" y="2"/>
                    </a:cubicBezTo>
                    <a:cubicBezTo>
                      <a:pt x="29" y="1"/>
                      <a:pt x="28" y="0"/>
                      <a:pt x="26" y="0"/>
                    </a:cubicBezTo>
                    <a:cubicBezTo>
                      <a:pt x="25" y="0"/>
                      <a:pt x="24" y="0"/>
                      <a:pt x="23" y="1"/>
                    </a:cubicBezTo>
                    <a:cubicBezTo>
                      <a:pt x="1" y="22"/>
                      <a:pt x="1" y="22"/>
                      <a:pt x="1" y="22"/>
                    </a:cubicBezTo>
                    <a:cubicBezTo>
                      <a:pt x="0" y="24"/>
                      <a:pt x="0" y="25"/>
                      <a:pt x="1" y="27"/>
                    </a:cubicBezTo>
                    <a:cubicBezTo>
                      <a:pt x="2" y="28"/>
                      <a:pt x="3" y="29"/>
                      <a:pt x="5" y="29"/>
                    </a:cubicBezTo>
                    <a:cubicBezTo>
                      <a:pt x="12" y="28"/>
                      <a:pt x="12" y="28"/>
                      <a:pt x="12" y="28"/>
                    </a:cubicBezTo>
                    <a:cubicBezTo>
                      <a:pt x="12" y="42"/>
                      <a:pt x="17" y="56"/>
                      <a:pt x="28" y="66"/>
                    </a:cubicBezTo>
                    <a:cubicBezTo>
                      <a:pt x="44" y="83"/>
                      <a:pt x="68" y="87"/>
                      <a:pt x="88" y="79"/>
                    </a:cubicBezTo>
                    <a:cubicBezTo>
                      <a:pt x="91" y="77"/>
                      <a:pt x="93" y="75"/>
                      <a:pt x="94" y="72"/>
                    </a:cubicBezTo>
                    <a:close/>
                    <a:moveTo>
                      <a:pt x="94" y="72"/>
                    </a:moveTo>
                    <a:cubicBezTo>
                      <a:pt x="94" y="72"/>
                      <a:pt x="94" y="72"/>
                      <a:pt x="94" y="72"/>
                    </a:cubicBezTo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4572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sym typeface="+mn-lt"/>
                </a:endParaRPr>
              </a:p>
            </p:txBody>
          </p:sp>
        </p:grpSp>
        <p:grpSp>
          <p:nvGrpSpPr>
            <p:cNvPr id="9" name="Group 51"/>
            <p:cNvGrpSpPr/>
            <p:nvPr/>
          </p:nvGrpSpPr>
          <p:grpSpPr>
            <a:xfrm>
              <a:off x="6984495" y="4601150"/>
              <a:ext cx="599495" cy="587552"/>
              <a:chOff x="5162551" y="3636963"/>
              <a:chExt cx="398463" cy="390525"/>
            </a:xfrm>
          </p:grpSpPr>
          <p:sp>
            <p:nvSpPr>
              <p:cNvPr id="15" name="Freeform 14"/>
              <p:cNvSpPr>
                <a:spLocks noEditPoints="1"/>
              </p:cNvSpPr>
              <p:nvPr/>
            </p:nvSpPr>
            <p:spPr bwMode="auto">
              <a:xfrm>
                <a:off x="5162551" y="3636963"/>
                <a:ext cx="233363" cy="234950"/>
              </a:xfrm>
              <a:custGeom>
                <a:avLst/>
                <a:gdLst/>
                <a:ahLst/>
                <a:cxnLst>
                  <a:cxn ang="0">
                    <a:pos x="9" y="48"/>
                  </a:cxn>
                  <a:cxn ang="0">
                    <a:pos x="12" y="55"/>
                  </a:cxn>
                  <a:cxn ang="0">
                    <a:pos x="8" y="59"/>
                  </a:cxn>
                  <a:cxn ang="0">
                    <a:pos x="8" y="64"/>
                  </a:cxn>
                  <a:cxn ang="0">
                    <a:pos x="14" y="70"/>
                  </a:cxn>
                  <a:cxn ang="0">
                    <a:pos x="19" y="70"/>
                  </a:cxn>
                  <a:cxn ang="0">
                    <a:pos x="23" y="67"/>
                  </a:cxn>
                  <a:cxn ang="0">
                    <a:pos x="31" y="70"/>
                  </a:cxn>
                  <a:cxn ang="0">
                    <a:pos x="31" y="75"/>
                  </a:cxn>
                  <a:cxn ang="0">
                    <a:pos x="35" y="79"/>
                  </a:cxn>
                  <a:cxn ang="0">
                    <a:pos x="43" y="79"/>
                  </a:cxn>
                  <a:cxn ang="0">
                    <a:pos x="47" y="75"/>
                  </a:cxn>
                  <a:cxn ang="0">
                    <a:pos x="47" y="70"/>
                  </a:cxn>
                  <a:cxn ang="0">
                    <a:pos x="55" y="67"/>
                  </a:cxn>
                  <a:cxn ang="0">
                    <a:pos x="59" y="70"/>
                  </a:cxn>
                  <a:cxn ang="0">
                    <a:pos x="64" y="70"/>
                  </a:cxn>
                  <a:cxn ang="0">
                    <a:pos x="70" y="64"/>
                  </a:cxn>
                  <a:cxn ang="0">
                    <a:pos x="70" y="59"/>
                  </a:cxn>
                  <a:cxn ang="0">
                    <a:pos x="67" y="55"/>
                  </a:cxn>
                  <a:cxn ang="0">
                    <a:pos x="70" y="48"/>
                  </a:cxn>
                  <a:cxn ang="0">
                    <a:pos x="75" y="47"/>
                  </a:cxn>
                  <a:cxn ang="0">
                    <a:pos x="78" y="43"/>
                  </a:cxn>
                  <a:cxn ang="0">
                    <a:pos x="78" y="35"/>
                  </a:cxn>
                  <a:cxn ang="0">
                    <a:pos x="75" y="31"/>
                  </a:cxn>
                  <a:cxn ang="0">
                    <a:pos x="70" y="31"/>
                  </a:cxn>
                  <a:cxn ang="0">
                    <a:pos x="67" y="23"/>
                  </a:cxn>
                  <a:cxn ang="0">
                    <a:pos x="70" y="20"/>
                  </a:cxn>
                  <a:cxn ang="0">
                    <a:pos x="70" y="15"/>
                  </a:cxn>
                  <a:cxn ang="0">
                    <a:pos x="64" y="9"/>
                  </a:cxn>
                  <a:cxn ang="0">
                    <a:pos x="59" y="8"/>
                  </a:cxn>
                  <a:cxn ang="0">
                    <a:pos x="56" y="11"/>
                  </a:cxn>
                  <a:cxn ang="0">
                    <a:pos x="48" y="8"/>
                  </a:cxn>
                  <a:cxn ang="0">
                    <a:pos x="47" y="3"/>
                  </a:cxn>
                  <a:cxn ang="0">
                    <a:pos x="44" y="0"/>
                  </a:cxn>
                  <a:cxn ang="0">
                    <a:pos x="35" y="0"/>
                  </a:cxn>
                  <a:cxn ang="0">
                    <a:pos x="32" y="3"/>
                  </a:cxn>
                  <a:cxn ang="0">
                    <a:pos x="31" y="8"/>
                  </a:cxn>
                  <a:cxn ang="0">
                    <a:pos x="23" y="12"/>
                  </a:cxn>
                  <a:cxn ang="0">
                    <a:pos x="19" y="8"/>
                  </a:cxn>
                  <a:cxn ang="0">
                    <a:pos x="14" y="9"/>
                  </a:cxn>
                  <a:cxn ang="0">
                    <a:pos x="8" y="15"/>
                  </a:cxn>
                  <a:cxn ang="0">
                    <a:pos x="8" y="20"/>
                  </a:cxn>
                  <a:cxn ang="0">
                    <a:pos x="11" y="24"/>
                  </a:cxn>
                  <a:cxn ang="0">
                    <a:pos x="8" y="31"/>
                  </a:cxn>
                  <a:cxn ang="0">
                    <a:pos x="3" y="32"/>
                  </a:cxn>
                  <a:cxn ang="0">
                    <a:pos x="0" y="35"/>
                  </a:cxn>
                  <a:cxn ang="0">
                    <a:pos x="0" y="44"/>
                  </a:cxn>
                  <a:cxn ang="0">
                    <a:pos x="3" y="47"/>
                  </a:cxn>
                  <a:cxn ang="0">
                    <a:pos x="9" y="48"/>
                  </a:cxn>
                  <a:cxn ang="0">
                    <a:pos x="39" y="25"/>
                  </a:cxn>
                  <a:cxn ang="0">
                    <a:pos x="53" y="39"/>
                  </a:cxn>
                  <a:cxn ang="0">
                    <a:pos x="39" y="53"/>
                  </a:cxn>
                  <a:cxn ang="0">
                    <a:pos x="25" y="39"/>
                  </a:cxn>
                  <a:cxn ang="0">
                    <a:pos x="39" y="25"/>
                  </a:cxn>
                  <a:cxn ang="0">
                    <a:pos x="39" y="25"/>
                  </a:cxn>
                  <a:cxn ang="0">
                    <a:pos x="39" y="25"/>
                  </a:cxn>
                </a:cxnLst>
                <a:rect l="0" t="0" r="r" b="b"/>
                <a:pathLst>
                  <a:path w="78" h="79">
                    <a:moveTo>
                      <a:pt x="9" y="48"/>
                    </a:moveTo>
                    <a:cubicBezTo>
                      <a:pt x="9" y="50"/>
                      <a:pt x="10" y="53"/>
                      <a:pt x="12" y="55"/>
                    </a:cubicBezTo>
                    <a:cubicBezTo>
                      <a:pt x="8" y="59"/>
                      <a:pt x="8" y="59"/>
                      <a:pt x="8" y="59"/>
                    </a:cubicBezTo>
                    <a:cubicBezTo>
                      <a:pt x="7" y="61"/>
                      <a:pt x="7" y="63"/>
                      <a:pt x="8" y="64"/>
                    </a:cubicBezTo>
                    <a:cubicBezTo>
                      <a:pt x="14" y="70"/>
                      <a:pt x="14" y="70"/>
                      <a:pt x="14" y="70"/>
                    </a:cubicBezTo>
                    <a:cubicBezTo>
                      <a:pt x="16" y="71"/>
                      <a:pt x="18" y="71"/>
                      <a:pt x="19" y="70"/>
                    </a:cubicBezTo>
                    <a:cubicBezTo>
                      <a:pt x="23" y="67"/>
                      <a:pt x="23" y="67"/>
                      <a:pt x="23" y="67"/>
                    </a:cubicBezTo>
                    <a:cubicBezTo>
                      <a:pt x="26" y="68"/>
                      <a:pt x="28" y="69"/>
                      <a:pt x="31" y="70"/>
                    </a:cubicBezTo>
                    <a:cubicBezTo>
                      <a:pt x="31" y="75"/>
                      <a:pt x="31" y="75"/>
                      <a:pt x="31" y="75"/>
                    </a:cubicBezTo>
                    <a:cubicBezTo>
                      <a:pt x="31" y="77"/>
                      <a:pt x="33" y="79"/>
                      <a:pt x="35" y="79"/>
                    </a:cubicBezTo>
                    <a:cubicBezTo>
                      <a:pt x="43" y="79"/>
                      <a:pt x="43" y="79"/>
                      <a:pt x="43" y="79"/>
                    </a:cubicBezTo>
                    <a:cubicBezTo>
                      <a:pt x="45" y="79"/>
                      <a:pt x="47" y="77"/>
                      <a:pt x="47" y="75"/>
                    </a:cubicBezTo>
                    <a:cubicBezTo>
                      <a:pt x="47" y="70"/>
                      <a:pt x="47" y="70"/>
                      <a:pt x="47" y="70"/>
                    </a:cubicBezTo>
                    <a:cubicBezTo>
                      <a:pt x="50" y="69"/>
                      <a:pt x="53" y="68"/>
                      <a:pt x="55" y="67"/>
                    </a:cubicBezTo>
                    <a:cubicBezTo>
                      <a:pt x="59" y="70"/>
                      <a:pt x="59" y="70"/>
                      <a:pt x="59" y="70"/>
                    </a:cubicBezTo>
                    <a:cubicBezTo>
                      <a:pt x="61" y="71"/>
                      <a:pt x="63" y="71"/>
                      <a:pt x="64" y="70"/>
                    </a:cubicBezTo>
                    <a:cubicBezTo>
                      <a:pt x="70" y="64"/>
                      <a:pt x="70" y="64"/>
                      <a:pt x="70" y="64"/>
                    </a:cubicBezTo>
                    <a:cubicBezTo>
                      <a:pt x="71" y="63"/>
                      <a:pt x="71" y="61"/>
                      <a:pt x="70" y="59"/>
                    </a:cubicBezTo>
                    <a:cubicBezTo>
                      <a:pt x="67" y="55"/>
                      <a:pt x="67" y="55"/>
                      <a:pt x="67" y="55"/>
                    </a:cubicBezTo>
                    <a:cubicBezTo>
                      <a:pt x="68" y="53"/>
                      <a:pt x="70" y="50"/>
                      <a:pt x="70" y="48"/>
                    </a:cubicBezTo>
                    <a:cubicBezTo>
                      <a:pt x="75" y="47"/>
                      <a:pt x="75" y="47"/>
                      <a:pt x="75" y="47"/>
                    </a:cubicBezTo>
                    <a:cubicBezTo>
                      <a:pt x="77" y="47"/>
                      <a:pt x="78" y="45"/>
                      <a:pt x="78" y="43"/>
                    </a:cubicBezTo>
                    <a:cubicBezTo>
                      <a:pt x="78" y="35"/>
                      <a:pt x="78" y="35"/>
                      <a:pt x="78" y="35"/>
                    </a:cubicBezTo>
                    <a:cubicBezTo>
                      <a:pt x="78" y="33"/>
                      <a:pt x="77" y="32"/>
                      <a:pt x="75" y="31"/>
                    </a:cubicBezTo>
                    <a:cubicBezTo>
                      <a:pt x="70" y="31"/>
                      <a:pt x="70" y="31"/>
                      <a:pt x="70" y="31"/>
                    </a:cubicBezTo>
                    <a:cubicBezTo>
                      <a:pt x="70" y="28"/>
                      <a:pt x="69" y="26"/>
                      <a:pt x="67" y="23"/>
                    </a:cubicBezTo>
                    <a:cubicBezTo>
                      <a:pt x="70" y="20"/>
                      <a:pt x="70" y="20"/>
                      <a:pt x="70" y="20"/>
                    </a:cubicBezTo>
                    <a:cubicBezTo>
                      <a:pt x="71" y="18"/>
                      <a:pt x="71" y="16"/>
                      <a:pt x="70" y="15"/>
                    </a:cubicBezTo>
                    <a:cubicBezTo>
                      <a:pt x="64" y="9"/>
                      <a:pt x="64" y="9"/>
                      <a:pt x="64" y="9"/>
                    </a:cubicBezTo>
                    <a:cubicBezTo>
                      <a:pt x="63" y="7"/>
                      <a:pt x="61" y="7"/>
                      <a:pt x="59" y="8"/>
                    </a:cubicBezTo>
                    <a:cubicBezTo>
                      <a:pt x="56" y="11"/>
                      <a:pt x="56" y="11"/>
                      <a:pt x="56" y="11"/>
                    </a:cubicBezTo>
                    <a:cubicBezTo>
                      <a:pt x="53" y="10"/>
                      <a:pt x="51" y="9"/>
                      <a:pt x="48" y="8"/>
                    </a:cubicBezTo>
                    <a:cubicBezTo>
                      <a:pt x="47" y="3"/>
                      <a:pt x="47" y="3"/>
                      <a:pt x="47" y="3"/>
                    </a:cubicBezTo>
                    <a:cubicBezTo>
                      <a:pt x="47" y="2"/>
                      <a:pt x="45" y="0"/>
                      <a:pt x="44" y="0"/>
                    </a:cubicBezTo>
                    <a:cubicBezTo>
                      <a:pt x="35" y="0"/>
                      <a:pt x="35" y="0"/>
                      <a:pt x="35" y="0"/>
                    </a:cubicBezTo>
                    <a:cubicBezTo>
                      <a:pt x="33" y="0"/>
                      <a:pt x="32" y="2"/>
                      <a:pt x="32" y="3"/>
                    </a:cubicBezTo>
                    <a:cubicBezTo>
                      <a:pt x="31" y="8"/>
                      <a:pt x="31" y="8"/>
                      <a:pt x="31" y="8"/>
                    </a:cubicBezTo>
                    <a:cubicBezTo>
                      <a:pt x="28" y="9"/>
                      <a:pt x="26" y="10"/>
                      <a:pt x="23" y="12"/>
                    </a:cubicBezTo>
                    <a:cubicBezTo>
                      <a:pt x="19" y="8"/>
                      <a:pt x="19" y="8"/>
                      <a:pt x="19" y="8"/>
                    </a:cubicBezTo>
                    <a:cubicBezTo>
                      <a:pt x="18" y="7"/>
                      <a:pt x="16" y="7"/>
                      <a:pt x="14" y="9"/>
                    </a:cubicBezTo>
                    <a:cubicBezTo>
                      <a:pt x="8" y="15"/>
                      <a:pt x="8" y="15"/>
                      <a:pt x="8" y="15"/>
                    </a:cubicBezTo>
                    <a:cubicBezTo>
                      <a:pt x="7" y="16"/>
                      <a:pt x="7" y="18"/>
                      <a:pt x="8" y="20"/>
                    </a:cubicBezTo>
                    <a:cubicBezTo>
                      <a:pt x="11" y="24"/>
                      <a:pt x="11" y="24"/>
                      <a:pt x="11" y="24"/>
                    </a:cubicBezTo>
                    <a:cubicBezTo>
                      <a:pt x="10" y="26"/>
                      <a:pt x="9" y="29"/>
                      <a:pt x="8" y="31"/>
                    </a:cubicBezTo>
                    <a:cubicBezTo>
                      <a:pt x="3" y="32"/>
                      <a:pt x="3" y="32"/>
                      <a:pt x="3" y="32"/>
                    </a:cubicBezTo>
                    <a:cubicBezTo>
                      <a:pt x="1" y="32"/>
                      <a:pt x="0" y="33"/>
                      <a:pt x="0" y="35"/>
                    </a:cubicBezTo>
                    <a:cubicBezTo>
                      <a:pt x="0" y="44"/>
                      <a:pt x="0" y="44"/>
                      <a:pt x="0" y="44"/>
                    </a:cubicBezTo>
                    <a:cubicBezTo>
                      <a:pt x="0" y="46"/>
                      <a:pt x="1" y="47"/>
                      <a:pt x="3" y="47"/>
                    </a:cubicBezTo>
                    <a:lnTo>
                      <a:pt x="9" y="48"/>
                    </a:lnTo>
                    <a:close/>
                    <a:moveTo>
                      <a:pt x="39" y="25"/>
                    </a:moveTo>
                    <a:cubicBezTo>
                      <a:pt x="47" y="25"/>
                      <a:pt x="53" y="31"/>
                      <a:pt x="53" y="39"/>
                    </a:cubicBezTo>
                    <a:cubicBezTo>
                      <a:pt x="53" y="47"/>
                      <a:pt x="47" y="53"/>
                      <a:pt x="39" y="53"/>
                    </a:cubicBezTo>
                    <a:cubicBezTo>
                      <a:pt x="32" y="53"/>
                      <a:pt x="25" y="47"/>
                      <a:pt x="25" y="39"/>
                    </a:cubicBezTo>
                    <a:cubicBezTo>
                      <a:pt x="25" y="31"/>
                      <a:pt x="32" y="25"/>
                      <a:pt x="39" y="25"/>
                    </a:cubicBezTo>
                    <a:close/>
                    <a:moveTo>
                      <a:pt x="39" y="25"/>
                    </a:moveTo>
                    <a:cubicBezTo>
                      <a:pt x="39" y="25"/>
                      <a:pt x="39" y="25"/>
                      <a:pt x="39" y="25"/>
                    </a:cubicBezTo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4572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sym typeface="+mn-lt"/>
                </a:endParaRPr>
              </a:p>
            </p:txBody>
          </p:sp>
          <p:sp>
            <p:nvSpPr>
              <p:cNvPr id="16" name="Freeform 15"/>
              <p:cNvSpPr>
                <a:spLocks noEditPoints="1"/>
              </p:cNvSpPr>
              <p:nvPr/>
            </p:nvSpPr>
            <p:spPr bwMode="auto">
              <a:xfrm>
                <a:off x="5365751" y="3756025"/>
                <a:ext cx="195263" cy="193675"/>
              </a:xfrm>
              <a:custGeom>
                <a:avLst/>
                <a:gdLst/>
                <a:ahLst/>
                <a:cxnLst>
                  <a:cxn ang="0">
                    <a:pos x="55" y="10"/>
                  </a:cxn>
                  <a:cxn ang="0">
                    <a:pos x="51" y="6"/>
                  </a:cxn>
                  <a:cxn ang="0">
                    <a:pos x="46" y="6"/>
                  </a:cxn>
                  <a:cxn ang="0">
                    <a:pos x="44" y="9"/>
                  </a:cxn>
                  <a:cxn ang="0">
                    <a:pos x="37" y="7"/>
                  </a:cxn>
                  <a:cxn ang="0">
                    <a:pos x="36" y="3"/>
                  </a:cxn>
                  <a:cxn ang="0">
                    <a:pos x="32" y="0"/>
                  </a:cxn>
                  <a:cxn ang="0">
                    <a:pos x="27" y="1"/>
                  </a:cxn>
                  <a:cxn ang="0">
                    <a:pos x="23" y="4"/>
                  </a:cxn>
                  <a:cxn ang="0">
                    <a:pos x="23" y="8"/>
                  </a:cxn>
                  <a:cxn ang="0">
                    <a:pos x="17" y="11"/>
                  </a:cxn>
                  <a:cxn ang="0">
                    <a:pos x="14" y="9"/>
                  </a:cxn>
                  <a:cxn ang="0">
                    <a:pos x="9" y="10"/>
                  </a:cxn>
                  <a:cxn ang="0">
                    <a:pos x="6" y="14"/>
                  </a:cxn>
                  <a:cxn ang="0">
                    <a:pos x="6" y="19"/>
                  </a:cxn>
                  <a:cxn ang="0">
                    <a:pos x="8" y="22"/>
                  </a:cxn>
                  <a:cxn ang="0">
                    <a:pos x="6" y="28"/>
                  </a:cxn>
                  <a:cxn ang="0">
                    <a:pos x="3" y="29"/>
                  </a:cxn>
                  <a:cxn ang="0">
                    <a:pos x="0" y="33"/>
                  </a:cxn>
                  <a:cxn ang="0">
                    <a:pos x="0" y="38"/>
                  </a:cxn>
                  <a:cxn ang="0">
                    <a:pos x="4" y="42"/>
                  </a:cxn>
                  <a:cxn ang="0">
                    <a:pos x="8" y="42"/>
                  </a:cxn>
                  <a:cxn ang="0">
                    <a:pos x="11" y="47"/>
                  </a:cxn>
                  <a:cxn ang="0">
                    <a:pos x="8" y="51"/>
                  </a:cxn>
                  <a:cxn ang="0">
                    <a:pos x="9" y="55"/>
                  </a:cxn>
                  <a:cxn ang="0">
                    <a:pos x="14" y="59"/>
                  </a:cxn>
                  <a:cxn ang="0">
                    <a:pos x="18" y="59"/>
                  </a:cxn>
                  <a:cxn ang="0">
                    <a:pos x="21" y="56"/>
                  </a:cxn>
                  <a:cxn ang="0">
                    <a:pos x="27" y="58"/>
                  </a:cxn>
                  <a:cxn ang="0">
                    <a:pos x="28" y="62"/>
                  </a:cxn>
                  <a:cxn ang="0">
                    <a:pos x="32" y="65"/>
                  </a:cxn>
                  <a:cxn ang="0">
                    <a:pos x="38" y="64"/>
                  </a:cxn>
                  <a:cxn ang="0">
                    <a:pos x="41" y="61"/>
                  </a:cxn>
                  <a:cxn ang="0">
                    <a:pos x="41" y="57"/>
                  </a:cxn>
                  <a:cxn ang="0">
                    <a:pos x="47" y="54"/>
                  </a:cxn>
                  <a:cxn ang="0">
                    <a:pos x="50" y="56"/>
                  </a:cxn>
                  <a:cxn ang="0">
                    <a:pos x="55" y="56"/>
                  </a:cxn>
                  <a:cxn ang="0">
                    <a:pos x="59" y="51"/>
                  </a:cxn>
                  <a:cxn ang="0">
                    <a:pos x="59" y="46"/>
                  </a:cxn>
                  <a:cxn ang="0">
                    <a:pos x="56" y="44"/>
                  </a:cxn>
                  <a:cxn ang="0">
                    <a:pos x="58" y="37"/>
                  </a:cxn>
                  <a:cxn ang="0">
                    <a:pos x="62" y="37"/>
                  </a:cxn>
                  <a:cxn ang="0">
                    <a:pos x="64" y="33"/>
                  </a:cxn>
                  <a:cxn ang="0">
                    <a:pos x="64" y="27"/>
                  </a:cxn>
                  <a:cxn ang="0">
                    <a:pos x="60" y="24"/>
                  </a:cxn>
                  <a:cxn ang="0">
                    <a:pos x="57" y="24"/>
                  </a:cxn>
                  <a:cxn ang="0">
                    <a:pos x="54" y="18"/>
                  </a:cxn>
                  <a:cxn ang="0">
                    <a:pos x="56" y="15"/>
                  </a:cxn>
                  <a:cxn ang="0">
                    <a:pos x="55" y="10"/>
                  </a:cxn>
                  <a:cxn ang="0">
                    <a:pos x="33" y="44"/>
                  </a:cxn>
                  <a:cxn ang="0">
                    <a:pos x="21" y="33"/>
                  </a:cxn>
                  <a:cxn ang="0">
                    <a:pos x="31" y="21"/>
                  </a:cxn>
                  <a:cxn ang="0">
                    <a:pos x="44" y="31"/>
                  </a:cxn>
                  <a:cxn ang="0">
                    <a:pos x="33" y="44"/>
                  </a:cxn>
                  <a:cxn ang="0">
                    <a:pos x="33" y="44"/>
                  </a:cxn>
                  <a:cxn ang="0">
                    <a:pos x="33" y="44"/>
                  </a:cxn>
                </a:cxnLst>
                <a:rect l="0" t="0" r="r" b="b"/>
                <a:pathLst>
                  <a:path w="65" h="65">
                    <a:moveTo>
                      <a:pt x="55" y="10"/>
                    </a:moveTo>
                    <a:cubicBezTo>
                      <a:pt x="51" y="6"/>
                      <a:pt x="51" y="6"/>
                      <a:pt x="51" y="6"/>
                    </a:cubicBezTo>
                    <a:cubicBezTo>
                      <a:pt x="49" y="5"/>
                      <a:pt x="47" y="5"/>
                      <a:pt x="46" y="6"/>
                    </a:cubicBezTo>
                    <a:cubicBezTo>
                      <a:pt x="44" y="9"/>
                      <a:pt x="44" y="9"/>
                      <a:pt x="44" y="9"/>
                    </a:cubicBezTo>
                    <a:cubicBezTo>
                      <a:pt x="41" y="8"/>
                      <a:pt x="39" y="7"/>
                      <a:pt x="37" y="7"/>
                    </a:cubicBezTo>
                    <a:cubicBezTo>
                      <a:pt x="36" y="3"/>
                      <a:pt x="36" y="3"/>
                      <a:pt x="36" y="3"/>
                    </a:cubicBezTo>
                    <a:cubicBezTo>
                      <a:pt x="36" y="1"/>
                      <a:pt x="34" y="0"/>
                      <a:pt x="32" y="0"/>
                    </a:cubicBezTo>
                    <a:cubicBezTo>
                      <a:pt x="27" y="1"/>
                      <a:pt x="27" y="1"/>
                      <a:pt x="27" y="1"/>
                    </a:cubicBezTo>
                    <a:cubicBezTo>
                      <a:pt x="25" y="1"/>
                      <a:pt x="23" y="2"/>
                      <a:pt x="23" y="4"/>
                    </a:cubicBezTo>
                    <a:cubicBezTo>
                      <a:pt x="23" y="8"/>
                      <a:pt x="23" y="8"/>
                      <a:pt x="23" y="8"/>
                    </a:cubicBezTo>
                    <a:cubicBezTo>
                      <a:pt x="21" y="9"/>
                      <a:pt x="19" y="10"/>
                      <a:pt x="17" y="11"/>
                    </a:cubicBezTo>
                    <a:cubicBezTo>
                      <a:pt x="14" y="9"/>
                      <a:pt x="14" y="9"/>
                      <a:pt x="14" y="9"/>
                    </a:cubicBezTo>
                    <a:cubicBezTo>
                      <a:pt x="13" y="8"/>
                      <a:pt x="11" y="8"/>
                      <a:pt x="9" y="10"/>
                    </a:cubicBezTo>
                    <a:cubicBezTo>
                      <a:pt x="6" y="14"/>
                      <a:pt x="6" y="14"/>
                      <a:pt x="6" y="14"/>
                    </a:cubicBezTo>
                    <a:cubicBezTo>
                      <a:pt x="4" y="16"/>
                      <a:pt x="4" y="18"/>
                      <a:pt x="6" y="19"/>
                    </a:cubicBezTo>
                    <a:cubicBezTo>
                      <a:pt x="8" y="22"/>
                      <a:pt x="8" y="22"/>
                      <a:pt x="8" y="22"/>
                    </a:cubicBezTo>
                    <a:cubicBezTo>
                      <a:pt x="7" y="24"/>
                      <a:pt x="7" y="26"/>
                      <a:pt x="6" y="28"/>
                    </a:cubicBezTo>
                    <a:cubicBezTo>
                      <a:pt x="3" y="29"/>
                      <a:pt x="3" y="29"/>
                      <a:pt x="3" y="29"/>
                    </a:cubicBezTo>
                    <a:cubicBezTo>
                      <a:pt x="1" y="29"/>
                      <a:pt x="0" y="31"/>
                      <a:pt x="0" y="33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1" y="40"/>
                      <a:pt x="2" y="42"/>
                      <a:pt x="4" y="42"/>
                    </a:cubicBezTo>
                    <a:cubicBezTo>
                      <a:pt x="8" y="42"/>
                      <a:pt x="8" y="42"/>
                      <a:pt x="8" y="42"/>
                    </a:cubicBezTo>
                    <a:cubicBezTo>
                      <a:pt x="9" y="44"/>
                      <a:pt x="9" y="45"/>
                      <a:pt x="11" y="47"/>
                    </a:cubicBezTo>
                    <a:cubicBezTo>
                      <a:pt x="8" y="51"/>
                      <a:pt x="8" y="51"/>
                      <a:pt x="8" y="51"/>
                    </a:cubicBezTo>
                    <a:cubicBezTo>
                      <a:pt x="7" y="52"/>
                      <a:pt x="8" y="54"/>
                      <a:pt x="9" y="55"/>
                    </a:cubicBezTo>
                    <a:cubicBezTo>
                      <a:pt x="14" y="59"/>
                      <a:pt x="14" y="59"/>
                      <a:pt x="14" y="59"/>
                    </a:cubicBezTo>
                    <a:cubicBezTo>
                      <a:pt x="15" y="60"/>
                      <a:pt x="17" y="60"/>
                      <a:pt x="18" y="59"/>
                    </a:cubicBezTo>
                    <a:cubicBezTo>
                      <a:pt x="21" y="56"/>
                      <a:pt x="21" y="56"/>
                      <a:pt x="21" y="56"/>
                    </a:cubicBezTo>
                    <a:cubicBezTo>
                      <a:pt x="23" y="57"/>
                      <a:pt x="25" y="58"/>
                      <a:pt x="27" y="58"/>
                    </a:cubicBezTo>
                    <a:cubicBezTo>
                      <a:pt x="28" y="62"/>
                      <a:pt x="28" y="62"/>
                      <a:pt x="28" y="62"/>
                    </a:cubicBezTo>
                    <a:cubicBezTo>
                      <a:pt x="28" y="64"/>
                      <a:pt x="30" y="65"/>
                      <a:pt x="32" y="65"/>
                    </a:cubicBezTo>
                    <a:cubicBezTo>
                      <a:pt x="38" y="64"/>
                      <a:pt x="38" y="64"/>
                      <a:pt x="38" y="64"/>
                    </a:cubicBezTo>
                    <a:cubicBezTo>
                      <a:pt x="39" y="64"/>
                      <a:pt x="41" y="63"/>
                      <a:pt x="41" y="61"/>
                    </a:cubicBezTo>
                    <a:cubicBezTo>
                      <a:pt x="41" y="57"/>
                      <a:pt x="41" y="57"/>
                      <a:pt x="41" y="57"/>
                    </a:cubicBezTo>
                    <a:cubicBezTo>
                      <a:pt x="43" y="56"/>
                      <a:pt x="45" y="55"/>
                      <a:pt x="47" y="54"/>
                    </a:cubicBezTo>
                    <a:cubicBezTo>
                      <a:pt x="50" y="56"/>
                      <a:pt x="50" y="56"/>
                      <a:pt x="50" y="56"/>
                    </a:cubicBezTo>
                    <a:cubicBezTo>
                      <a:pt x="52" y="57"/>
                      <a:pt x="54" y="57"/>
                      <a:pt x="55" y="56"/>
                    </a:cubicBezTo>
                    <a:cubicBezTo>
                      <a:pt x="59" y="51"/>
                      <a:pt x="59" y="51"/>
                      <a:pt x="59" y="51"/>
                    </a:cubicBezTo>
                    <a:cubicBezTo>
                      <a:pt x="60" y="50"/>
                      <a:pt x="60" y="48"/>
                      <a:pt x="59" y="46"/>
                    </a:cubicBezTo>
                    <a:cubicBezTo>
                      <a:pt x="56" y="44"/>
                      <a:pt x="56" y="44"/>
                      <a:pt x="56" y="44"/>
                    </a:cubicBezTo>
                    <a:cubicBezTo>
                      <a:pt x="57" y="42"/>
                      <a:pt x="58" y="39"/>
                      <a:pt x="58" y="37"/>
                    </a:cubicBezTo>
                    <a:cubicBezTo>
                      <a:pt x="62" y="37"/>
                      <a:pt x="62" y="37"/>
                      <a:pt x="62" y="37"/>
                    </a:cubicBezTo>
                    <a:cubicBezTo>
                      <a:pt x="63" y="36"/>
                      <a:pt x="65" y="35"/>
                      <a:pt x="64" y="33"/>
                    </a:cubicBezTo>
                    <a:cubicBezTo>
                      <a:pt x="64" y="27"/>
                      <a:pt x="64" y="27"/>
                      <a:pt x="64" y="27"/>
                    </a:cubicBezTo>
                    <a:cubicBezTo>
                      <a:pt x="64" y="25"/>
                      <a:pt x="62" y="24"/>
                      <a:pt x="60" y="24"/>
                    </a:cubicBezTo>
                    <a:cubicBezTo>
                      <a:pt x="57" y="24"/>
                      <a:pt x="57" y="24"/>
                      <a:pt x="57" y="24"/>
                    </a:cubicBezTo>
                    <a:cubicBezTo>
                      <a:pt x="56" y="21"/>
                      <a:pt x="55" y="20"/>
                      <a:pt x="54" y="18"/>
                    </a:cubicBezTo>
                    <a:cubicBezTo>
                      <a:pt x="56" y="15"/>
                      <a:pt x="56" y="15"/>
                      <a:pt x="56" y="15"/>
                    </a:cubicBezTo>
                    <a:cubicBezTo>
                      <a:pt x="57" y="13"/>
                      <a:pt x="57" y="11"/>
                      <a:pt x="55" y="10"/>
                    </a:cubicBezTo>
                    <a:close/>
                    <a:moveTo>
                      <a:pt x="33" y="44"/>
                    </a:moveTo>
                    <a:cubicBezTo>
                      <a:pt x="27" y="44"/>
                      <a:pt x="21" y="40"/>
                      <a:pt x="21" y="33"/>
                    </a:cubicBezTo>
                    <a:cubicBezTo>
                      <a:pt x="20" y="27"/>
                      <a:pt x="25" y="21"/>
                      <a:pt x="31" y="21"/>
                    </a:cubicBezTo>
                    <a:cubicBezTo>
                      <a:pt x="38" y="20"/>
                      <a:pt x="43" y="25"/>
                      <a:pt x="44" y="31"/>
                    </a:cubicBezTo>
                    <a:cubicBezTo>
                      <a:pt x="44" y="38"/>
                      <a:pt x="40" y="43"/>
                      <a:pt x="33" y="44"/>
                    </a:cubicBezTo>
                    <a:close/>
                    <a:moveTo>
                      <a:pt x="33" y="44"/>
                    </a:moveTo>
                    <a:cubicBezTo>
                      <a:pt x="33" y="44"/>
                      <a:pt x="33" y="44"/>
                      <a:pt x="33" y="44"/>
                    </a:cubicBezTo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4572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sym typeface="+mn-lt"/>
                </a:endParaRPr>
              </a:p>
            </p:txBody>
          </p:sp>
          <p:sp>
            <p:nvSpPr>
              <p:cNvPr id="17" name="Freeform 16"/>
              <p:cNvSpPr>
                <a:spLocks noEditPoints="1"/>
              </p:cNvSpPr>
              <p:nvPr/>
            </p:nvSpPr>
            <p:spPr bwMode="auto">
              <a:xfrm>
                <a:off x="5240338" y="3871913"/>
                <a:ext cx="155575" cy="155575"/>
              </a:xfrm>
              <a:custGeom>
                <a:avLst/>
                <a:gdLst/>
                <a:ahLst/>
                <a:cxnLst>
                  <a:cxn ang="0">
                    <a:pos x="3" y="21"/>
                  </a:cxn>
                  <a:cxn ang="0">
                    <a:pos x="0" y="24"/>
                  </a:cxn>
                  <a:cxn ang="0">
                    <a:pos x="0" y="28"/>
                  </a:cxn>
                  <a:cxn ang="0">
                    <a:pos x="3" y="31"/>
                  </a:cxn>
                  <a:cxn ang="0">
                    <a:pos x="6" y="32"/>
                  </a:cxn>
                  <a:cxn ang="0">
                    <a:pos x="7" y="36"/>
                  </a:cxn>
                  <a:cxn ang="0">
                    <a:pos x="6" y="38"/>
                  </a:cxn>
                  <a:cxn ang="0">
                    <a:pos x="6" y="43"/>
                  </a:cxn>
                  <a:cxn ang="0">
                    <a:pos x="9" y="45"/>
                  </a:cxn>
                  <a:cxn ang="0">
                    <a:pos x="13" y="46"/>
                  </a:cxn>
                  <a:cxn ang="0">
                    <a:pos x="15" y="44"/>
                  </a:cxn>
                  <a:cxn ang="0">
                    <a:pos x="20" y="46"/>
                  </a:cxn>
                  <a:cxn ang="0">
                    <a:pos x="20" y="49"/>
                  </a:cxn>
                  <a:cxn ang="0">
                    <a:pos x="24" y="52"/>
                  </a:cxn>
                  <a:cxn ang="0">
                    <a:pos x="27" y="52"/>
                  </a:cxn>
                  <a:cxn ang="0">
                    <a:pos x="31" y="49"/>
                  </a:cxn>
                  <a:cxn ang="0">
                    <a:pos x="31" y="47"/>
                  </a:cxn>
                  <a:cxn ang="0">
                    <a:pos x="36" y="45"/>
                  </a:cxn>
                  <a:cxn ang="0">
                    <a:pos x="38" y="46"/>
                  </a:cxn>
                  <a:cxn ang="0">
                    <a:pos x="43" y="46"/>
                  </a:cxn>
                  <a:cxn ang="0">
                    <a:pos x="46" y="43"/>
                  </a:cxn>
                  <a:cxn ang="0">
                    <a:pos x="46" y="39"/>
                  </a:cxn>
                  <a:cxn ang="0">
                    <a:pos x="45" y="37"/>
                  </a:cxn>
                  <a:cxn ang="0">
                    <a:pos x="47" y="32"/>
                  </a:cxn>
                  <a:cxn ang="0">
                    <a:pos x="49" y="32"/>
                  </a:cxn>
                  <a:cxn ang="0">
                    <a:pos x="52" y="28"/>
                  </a:cxn>
                  <a:cxn ang="0">
                    <a:pos x="52" y="24"/>
                  </a:cxn>
                  <a:cxn ang="0">
                    <a:pos x="49" y="21"/>
                  </a:cxn>
                  <a:cxn ang="0">
                    <a:pos x="47" y="21"/>
                  </a:cxn>
                  <a:cxn ang="0">
                    <a:pos x="45" y="16"/>
                  </a:cxn>
                  <a:cxn ang="0">
                    <a:pos x="46" y="14"/>
                  </a:cxn>
                  <a:cxn ang="0">
                    <a:pos x="46" y="9"/>
                  </a:cxn>
                  <a:cxn ang="0">
                    <a:pos x="44" y="7"/>
                  </a:cxn>
                  <a:cxn ang="0">
                    <a:pos x="39" y="6"/>
                  </a:cxn>
                  <a:cxn ang="0">
                    <a:pos x="37" y="8"/>
                  </a:cxn>
                  <a:cxn ang="0">
                    <a:pos x="32" y="5"/>
                  </a:cxn>
                  <a:cxn ang="0">
                    <a:pos x="32" y="3"/>
                  </a:cxn>
                  <a:cxn ang="0">
                    <a:pos x="28" y="0"/>
                  </a:cxn>
                  <a:cxn ang="0">
                    <a:pos x="25" y="0"/>
                  </a:cxn>
                  <a:cxn ang="0">
                    <a:pos x="21" y="3"/>
                  </a:cxn>
                  <a:cxn ang="0">
                    <a:pos x="21" y="5"/>
                  </a:cxn>
                  <a:cxn ang="0">
                    <a:pos x="16" y="7"/>
                  </a:cxn>
                  <a:cxn ang="0">
                    <a:pos x="14" y="6"/>
                  </a:cxn>
                  <a:cxn ang="0">
                    <a:pos x="9" y="6"/>
                  </a:cxn>
                  <a:cxn ang="0">
                    <a:pos x="6" y="9"/>
                  </a:cxn>
                  <a:cxn ang="0">
                    <a:pos x="6" y="13"/>
                  </a:cxn>
                  <a:cxn ang="0">
                    <a:pos x="8" y="15"/>
                  </a:cxn>
                  <a:cxn ang="0">
                    <a:pos x="6" y="20"/>
                  </a:cxn>
                  <a:cxn ang="0">
                    <a:pos x="3" y="21"/>
                  </a:cxn>
                  <a:cxn ang="0">
                    <a:pos x="26" y="16"/>
                  </a:cxn>
                  <a:cxn ang="0">
                    <a:pos x="36" y="26"/>
                  </a:cxn>
                  <a:cxn ang="0">
                    <a:pos x="26" y="35"/>
                  </a:cxn>
                  <a:cxn ang="0">
                    <a:pos x="17" y="26"/>
                  </a:cxn>
                  <a:cxn ang="0">
                    <a:pos x="26" y="16"/>
                  </a:cxn>
                  <a:cxn ang="0">
                    <a:pos x="26" y="16"/>
                  </a:cxn>
                  <a:cxn ang="0">
                    <a:pos x="26" y="16"/>
                  </a:cxn>
                </a:cxnLst>
                <a:rect l="0" t="0" r="r" b="b"/>
                <a:pathLst>
                  <a:path w="52" h="52">
                    <a:moveTo>
                      <a:pt x="3" y="21"/>
                    </a:moveTo>
                    <a:cubicBezTo>
                      <a:pt x="1" y="21"/>
                      <a:pt x="0" y="22"/>
                      <a:pt x="0" y="24"/>
                    </a:cubicBezTo>
                    <a:cubicBezTo>
                      <a:pt x="0" y="28"/>
                      <a:pt x="0" y="28"/>
                      <a:pt x="0" y="28"/>
                    </a:cubicBezTo>
                    <a:cubicBezTo>
                      <a:pt x="0" y="29"/>
                      <a:pt x="1" y="31"/>
                      <a:pt x="3" y="31"/>
                    </a:cubicBezTo>
                    <a:cubicBezTo>
                      <a:pt x="6" y="32"/>
                      <a:pt x="6" y="32"/>
                      <a:pt x="6" y="32"/>
                    </a:cubicBezTo>
                    <a:cubicBezTo>
                      <a:pt x="6" y="33"/>
                      <a:pt x="7" y="35"/>
                      <a:pt x="7" y="36"/>
                    </a:cubicBezTo>
                    <a:cubicBezTo>
                      <a:pt x="6" y="38"/>
                      <a:pt x="6" y="38"/>
                      <a:pt x="6" y="38"/>
                    </a:cubicBezTo>
                    <a:cubicBezTo>
                      <a:pt x="5" y="40"/>
                      <a:pt x="5" y="42"/>
                      <a:pt x="6" y="43"/>
                    </a:cubicBezTo>
                    <a:cubicBezTo>
                      <a:pt x="9" y="45"/>
                      <a:pt x="9" y="45"/>
                      <a:pt x="9" y="45"/>
                    </a:cubicBezTo>
                    <a:cubicBezTo>
                      <a:pt x="10" y="47"/>
                      <a:pt x="12" y="47"/>
                      <a:pt x="13" y="46"/>
                    </a:cubicBezTo>
                    <a:cubicBezTo>
                      <a:pt x="15" y="44"/>
                      <a:pt x="15" y="44"/>
                      <a:pt x="15" y="44"/>
                    </a:cubicBezTo>
                    <a:cubicBezTo>
                      <a:pt x="17" y="45"/>
                      <a:pt x="18" y="46"/>
                      <a:pt x="20" y="46"/>
                    </a:cubicBezTo>
                    <a:cubicBezTo>
                      <a:pt x="20" y="49"/>
                      <a:pt x="20" y="49"/>
                      <a:pt x="20" y="49"/>
                    </a:cubicBezTo>
                    <a:cubicBezTo>
                      <a:pt x="21" y="51"/>
                      <a:pt x="22" y="52"/>
                      <a:pt x="24" y="52"/>
                    </a:cubicBezTo>
                    <a:cubicBezTo>
                      <a:pt x="27" y="52"/>
                      <a:pt x="27" y="52"/>
                      <a:pt x="27" y="52"/>
                    </a:cubicBezTo>
                    <a:cubicBezTo>
                      <a:pt x="29" y="52"/>
                      <a:pt x="31" y="51"/>
                      <a:pt x="31" y="49"/>
                    </a:cubicBezTo>
                    <a:cubicBezTo>
                      <a:pt x="31" y="47"/>
                      <a:pt x="31" y="47"/>
                      <a:pt x="31" y="47"/>
                    </a:cubicBezTo>
                    <a:cubicBezTo>
                      <a:pt x="33" y="46"/>
                      <a:pt x="35" y="45"/>
                      <a:pt x="36" y="45"/>
                    </a:cubicBezTo>
                    <a:cubicBezTo>
                      <a:pt x="38" y="46"/>
                      <a:pt x="38" y="46"/>
                      <a:pt x="38" y="46"/>
                    </a:cubicBezTo>
                    <a:cubicBezTo>
                      <a:pt x="40" y="47"/>
                      <a:pt x="42" y="47"/>
                      <a:pt x="43" y="46"/>
                    </a:cubicBezTo>
                    <a:cubicBezTo>
                      <a:pt x="46" y="43"/>
                      <a:pt x="46" y="43"/>
                      <a:pt x="46" y="43"/>
                    </a:cubicBezTo>
                    <a:cubicBezTo>
                      <a:pt x="47" y="42"/>
                      <a:pt x="47" y="40"/>
                      <a:pt x="46" y="39"/>
                    </a:cubicBezTo>
                    <a:cubicBezTo>
                      <a:pt x="45" y="37"/>
                      <a:pt x="45" y="37"/>
                      <a:pt x="45" y="37"/>
                    </a:cubicBezTo>
                    <a:cubicBezTo>
                      <a:pt x="45" y="35"/>
                      <a:pt x="46" y="33"/>
                      <a:pt x="47" y="32"/>
                    </a:cubicBezTo>
                    <a:cubicBezTo>
                      <a:pt x="49" y="32"/>
                      <a:pt x="49" y="32"/>
                      <a:pt x="49" y="32"/>
                    </a:cubicBezTo>
                    <a:cubicBezTo>
                      <a:pt x="51" y="31"/>
                      <a:pt x="52" y="30"/>
                      <a:pt x="52" y="28"/>
                    </a:cubicBezTo>
                    <a:cubicBezTo>
                      <a:pt x="52" y="24"/>
                      <a:pt x="52" y="24"/>
                      <a:pt x="52" y="24"/>
                    </a:cubicBezTo>
                    <a:cubicBezTo>
                      <a:pt x="52" y="23"/>
                      <a:pt x="51" y="21"/>
                      <a:pt x="49" y="21"/>
                    </a:cubicBezTo>
                    <a:cubicBezTo>
                      <a:pt x="47" y="21"/>
                      <a:pt x="47" y="21"/>
                      <a:pt x="47" y="21"/>
                    </a:cubicBezTo>
                    <a:cubicBezTo>
                      <a:pt x="46" y="19"/>
                      <a:pt x="46" y="17"/>
                      <a:pt x="45" y="16"/>
                    </a:cubicBezTo>
                    <a:cubicBezTo>
                      <a:pt x="46" y="14"/>
                      <a:pt x="46" y="14"/>
                      <a:pt x="46" y="14"/>
                    </a:cubicBezTo>
                    <a:cubicBezTo>
                      <a:pt x="47" y="12"/>
                      <a:pt x="47" y="10"/>
                      <a:pt x="46" y="9"/>
                    </a:cubicBezTo>
                    <a:cubicBezTo>
                      <a:pt x="44" y="7"/>
                      <a:pt x="44" y="7"/>
                      <a:pt x="44" y="7"/>
                    </a:cubicBezTo>
                    <a:cubicBezTo>
                      <a:pt x="42" y="5"/>
                      <a:pt x="40" y="5"/>
                      <a:pt x="39" y="6"/>
                    </a:cubicBezTo>
                    <a:cubicBezTo>
                      <a:pt x="37" y="8"/>
                      <a:pt x="37" y="8"/>
                      <a:pt x="37" y="8"/>
                    </a:cubicBezTo>
                    <a:cubicBezTo>
                      <a:pt x="36" y="7"/>
                      <a:pt x="34" y="6"/>
                      <a:pt x="32" y="5"/>
                    </a:cubicBezTo>
                    <a:cubicBezTo>
                      <a:pt x="32" y="3"/>
                      <a:pt x="32" y="3"/>
                      <a:pt x="32" y="3"/>
                    </a:cubicBezTo>
                    <a:cubicBezTo>
                      <a:pt x="32" y="1"/>
                      <a:pt x="30" y="0"/>
                      <a:pt x="28" y="0"/>
                    </a:cubicBezTo>
                    <a:cubicBezTo>
                      <a:pt x="25" y="0"/>
                      <a:pt x="25" y="0"/>
                      <a:pt x="25" y="0"/>
                    </a:cubicBezTo>
                    <a:cubicBezTo>
                      <a:pt x="23" y="0"/>
                      <a:pt x="21" y="1"/>
                      <a:pt x="21" y="3"/>
                    </a:cubicBezTo>
                    <a:cubicBezTo>
                      <a:pt x="21" y="5"/>
                      <a:pt x="21" y="5"/>
                      <a:pt x="21" y="5"/>
                    </a:cubicBezTo>
                    <a:cubicBezTo>
                      <a:pt x="19" y="6"/>
                      <a:pt x="17" y="6"/>
                      <a:pt x="16" y="7"/>
                    </a:cubicBezTo>
                    <a:cubicBezTo>
                      <a:pt x="14" y="6"/>
                      <a:pt x="14" y="6"/>
                      <a:pt x="14" y="6"/>
                    </a:cubicBezTo>
                    <a:cubicBezTo>
                      <a:pt x="12" y="5"/>
                      <a:pt x="10" y="5"/>
                      <a:pt x="9" y="6"/>
                    </a:cubicBezTo>
                    <a:cubicBezTo>
                      <a:pt x="6" y="9"/>
                      <a:pt x="6" y="9"/>
                      <a:pt x="6" y="9"/>
                    </a:cubicBezTo>
                    <a:cubicBezTo>
                      <a:pt x="5" y="10"/>
                      <a:pt x="5" y="12"/>
                      <a:pt x="6" y="13"/>
                    </a:cubicBezTo>
                    <a:cubicBezTo>
                      <a:pt x="8" y="15"/>
                      <a:pt x="8" y="15"/>
                      <a:pt x="8" y="15"/>
                    </a:cubicBezTo>
                    <a:cubicBezTo>
                      <a:pt x="7" y="17"/>
                      <a:pt x="6" y="19"/>
                      <a:pt x="6" y="20"/>
                    </a:cubicBezTo>
                    <a:lnTo>
                      <a:pt x="3" y="21"/>
                    </a:lnTo>
                    <a:close/>
                    <a:moveTo>
                      <a:pt x="26" y="16"/>
                    </a:moveTo>
                    <a:cubicBezTo>
                      <a:pt x="31" y="17"/>
                      <a:pt x="36" y="21"/>
                      <a:pt x="36" y="26"/>
                    </a:cubicBezTo>
                    <a:cubicBezTo>
                      <a:pt x="35" y="31"/>
                      <a:pt x="31" y="35"/>
                      <a:pt x="26" y="35"/>
                    </a:cubicBezTo>
                    <a:cubicBezTo>
                      <a:pt x="21" y="35"/>
                      <a:pt x="17" y="31"/>
                      <a:pt x="17" y="26"/>
                    </a:cubicBezTo>
                    <a:cubicBezTo>
                      <a:pt x="17" y="21"/>
                      <a:pt x="21" y="16"/>
                      <a:pt x="26" y="16"/>
                    </a:cubicBezTo>
                    <a:close/>
                    <a:moveTo>
                      <a:pt x="26" y="16"/>
                    </a:moveTo>
                    <a:cubicBezTo>
                      <a:pt x="26" y="16"/>
                      <a:pt x="26" y="16"/>
                      <a:pt x="26" y="16"/>
                    </a:cubicBezTo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4572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sym typeface="+mn-lt"/>
                </a:endParaRPr>
              </a:p>
            </p:txBody>
          </p:sp>
        </p:grpSp>
        <p:sp>
          <p:nvSpPr>
            <p:cNvPr id="10" name="Freeform 17"/>
            <p:cNvSpPr>
              <a:spLocks noEditPoints="1"/>
            </p:cNvSpPr>
            <p:nvPr/>
          </p:nvSpPr>
          <p:spPr bwMode="auto">
            <a:xfrm>
              <a:off x="4622344" y="2067032"/>
              <a:ext cx="422752" cy="628156"/>
            </a:xfrm>
            <a:custGeom>
              <a:avLst/>
              <a:gdLst/>
              <a:ahLst/>
              <a:cxnLst>
                <a:cxn ang="0">
                  <a:pos x="47" y="0"/>
                </a:cxn>
                <a:cxn ang="0">
                  <a:pos x="10" y="76"/>
                </a:cxn>
                <a:cxn ang="0">
                  <a:pos x="24" y="124"/>
                </a:cxn>
                <a:cxn ang="0">
                  <a:pos x="34" y="128"/>
                </a:cxn>
                <a:cxn ang="0">
                  <a:pos x="44" y="140"/>
                </a:cxn>
                <a:cxn ang="0">
                  <a:pos x="62" y="130"/>
                </a:cxn>
                <a:cxn ang="0">
                  <a:pos x="67" y="128"/>
                </a:cxn>
                <a:cxn ang="0">
                  <a:pos x="72" y="94"/>
                </a:cxn>
                <a:cxn ang="0">
                  <a:pos x="94" y="46"/>
                </a:cxn>
                <a:cxn ang="0">
                  <a:pos x="32" y="53"/>
                </a:cxn>
                <a:cxn ang="0">
                  <a:pos x="43" y="56"/>
                </a:cxn>
                <a:cxn ang="0">
                  <a:pos x="47" y="56"/>
                </a:cxn>
                <a:cxn ang="0">
                  <a:pos x="55" y="55"/>
                </a:cxn>
                <a:cxn ang="0">
                  <a:pos x="58" y="56"/>
                </a:cxn>
                <a:cxn ang="0">
                  <a:pos x="54" y="89"/>
                </a:cxn>
                <a:cxn ang="0">
                  <a:pos x="62" y="98"/>
                </a:cxn>
                <a:cxn ang="0">
                  <a:pos x="33" y="106"/>
                </a:cxn>
                <a:cxn ang="0">
                  <a:pos x="62" y="98"/>
                </a:cxn>
                <a:cxn ang="0">
                  <a:pos x="33" y="111"/>
                </a:cxn>
                <a:cxn ang="0">
                  <a:pos x="62" y="118"/>
                </a:cxn>
                <a:cxn ang="0">
                  <a:pos x="64" y="88"/>
                </a:cxn>
                <a:cxn ang="0">
                  <a:pos x="70" y="49"/>
                </a:cxn>
                <a:cxn ang="0">
                  <a:pos x="63" y="48"/>
                </a:cxn>
                <a:cxn ang="0">
                  <a:pos x="58" y="51"/>
                </a:cxn>
                <a:cxn ang="0">
                  <a:pos x="52" y="42"/>
                </a:cxn>
                <a:cxn ang="0">
                  <a:pos x="44" y="51"/>
                </a:cxn>
                <a:cxn ang="0">
                  <a:pos x="36" y="45"/>
                </a:cxn>
                <a:cxn ang="0">
                  <a:pos x="31" y="48"/>
                </a:cxn>
                <a:cxn ang="0">
                  <a:pos x="24" y="50"/>
                </a:cxn>
                <a:cxn ang="0">
                  <a:pos x="31" y="89"/>
                </a:cxn>
                <a:cxn ang="0">
                  <a:pos x="9" y="47"/>
                </a:cxn>
                <a:cxn ang="0">
                  <a:pos x="85" y="47"/>
                </a:cxn>
                <a:cxn ang="0">
                  <a:pos x="64" y="88"/>
                </a:cxn>
                <a:cxn ang="0">
                  <a:pos x="64" y="88"/>
                </a:cxn>
              </a:cxnLst>
              <a:rect l="0" t="0" r="r" b="b"/>
              <a:pathLst>
                <a:path w="94" h="140">
                  <a:moveTo>
                    <a:pt x="94" y="46"/>
                  </a:moveTo>
                  <a:cubicBezTo>
                    <a:pt x="94" y="20"/>
                    <a:pt x="73" y="0"/>
                    <a:pt x="47" y="0"/>
                  </a:cubicBezTo>
                  <a:cubicBezTo>
                    <a:pt x="21" y="0"/>
                    <a:pt x="0" y="21"/>
                    <a:pt x="0" y="47"/>
                  </a:cubicBezTo>
                  <a:cubicBezTo>
                    <a:pt x="0" y="58"/>
                    <a:pt x="4" y="68"/>
                    <a:pt x="10" y="76"/>
                  </a:cubicBezTo>
                  <a:cubicBezTo>
                    <a:pt x="15" y="82"/>
                    <a:pt x="20" y="89"/>
                    <a:pt x="23" y="95"/>
                  </a:cubicBezTo>
                  <a:cubicBezTo>
                    <a:pt x="24" y="124"/>
                    <a:pt x="24" y="124"/>
                    <a:pt x="24" y="124"/>
                  </a:cubicBezTo>
                  <a:cubicBezTo>
                    <a:pt x="24" y="126"/>
                    <a:pt x="26" y="128"/>
                    <a:pt x="28" y="128"/>
                  </a:cubicBezTo>
                  <a:cubicBezTo>
                    <a:pt x="34" y="128"/>
                    <a:pt x="34" y="128"/>
                    <a:pt x="34" y="128"/>
                  </a:cubicBezTo>
                  <a:cubicBezTo>
                    <a:pt x="34" y="130"/>
                    <a:pt x="34" y="130"/>
                    <a:pt x="34" y="130"/>
                  </a:cubicBezTo>
                  <a:cubicBezTo>
                    <a:pt x="34" y="136"/>
                    <a:pt x="38" y="140"/>
                    <a:pt x="44" y="140"/>
                  </a:cubicBezTo>
                  <a:cubicBezTo>
                    <a:pt x="52" y="140"/>
                    <a:pt x="52" y="140"/>
                    <a:pt x="52" y="140"/>
                  </a:cubicBezTo>
                  <a:cubicBezTo>
                    <a:pt x="58" y="140"/>
                    <a:pt x="62" y="136"/>
                    <a:pt x="62" y="130"/>
                  </a:cubicBezTo>
                  <a:cubicBezTo>
                    <a:pt x="62" y="128"/>
                    <a:pt x="62" y="128"/>
                    <a:pt x="62" y="128"/>
                  </a:cubicBezTo>
                  <a:cubicBezTo>
                    <a:pt x="67" y="128"/>
                    <a:pt x="67" y="128"/>
                    <a:pt x="67" y="128"/>
                  </a:cubicBezTo>
                  <a:cubicBezTo>
                    <a:pt x="70" y="128"/>
                    <a:pt x="72" y="126"/>
                    <a:pt x="72" y="123"/>
                  </a:cubicBezTo>
                  <a:cubicBezTo>
                    <a:pt x="72" y="94"/>
                    <a:pt x="72" y="94"/>
                    <a:pt x="72" y="94"/>
                  </a:cubicBezTo>
                  <a:cubicBezTo>
                    <a:pt x="75" y="88"/>
                    <a:pt x="80" y="82"/>
                    <a:pt x="84" y="76"/>
                  </a:cubicBezTo>
                  <a:cubicBezTo>
                    <a:pt x="91" y="67"/>
                    <a:pt x="94" y="57"/>
                    <a:pt x="94" y="46"/>
                  </a:cubicBezTo>
                  <a:close/>
                  <a:moveTo>
                    <a:pt x="41" y="89"/>
                  </a:moveTo>
                  <a:cubicBezTo>
                    <a:pt x="32" y="53"/>
                    <a:pt x="32" y="53"/>
                    <a:pt x="32" y="53"/>
                  </a:cubicBezTo>
                  <a:cubicBezTo>
                    <a:pt x="37" y="50"/>
                    <a:pt x="37" y="50"/>
                    <a:pt x="37" y="50"/>
                  </a:cubicBezTo>
                  <a:cubicBezTo>
                    <a:pt x="43" y="56"/>
                    <a:pt x="43" y="56"/>
                    <a:pt x="43" y="56"/>
                  </a:cubicBezTo>
                  <a:cubicBezTo>
                    <a:pt x="44" y="56"/>
                    <a:pt x="44" y="56"/>
                    <a:pt x="45" y="56"/>
                  </a:cubicBezTo>
                  <a:cubicBezTo>
                    <a:pt x="46" y="56"/>
                    <a:pt x="46" y="56"/>
                    <a:pt x="47" y="56"/>
                  </a:cubicBezTo>
                  <a:cubicBezTo>
                    <a:pt x="52" y="49"/>
                    <a:pt x="52" y="49"/>
                    <a:pt x="52" y="49"/>
                  </a:cubicBezTo>
                  <a:cubicBezTo>
                    <a:pt x="55" y="55"/>
                    <a:pt x="55" y="55"/>
                    <a:pt x="55" y="55"/>
                  </a:cubicBezTo>
                  <a:cubicBezTo>
                    <a:pt x="55" y="56"/>
                    <a:pt x="56" y="56"/>
                    <a:pt x="57" y="56"/>
                  </a:cubicBezTo>
                  <a:cubicBezTo>
                    <a:pt x="57" y="56"/>
                    <a:pt x="58" y="56"/>
                    <a:pt x="58" y="56"/>
                  </a:cubicBezTo>
                  <a:cubicBezTo>
                    <a:pt x="62" y="54"/>
                    <a:pt x="62" y="54"/>
                    <a:pt x="62" y="54"/>
                  </a:cubicBezTo>
                  <a:cubicBezTo>
                    <a:pt x="54" y="89"/>
                    <a:pt x="54" y="89"/>
                    <a:pt x="54" y="89"/>
                  </a:cubicBezTo>
                  <a:lnTo>
                    <a:pt x="41" y="89"/>
                  </a:lnTo>
                  <a:close/>
                  <a:moveTo>
                    <a:pt x="62" y="98"/>
                  </a:moveTo>
                  <a:cubicBezTo>
                    <a:pt x="62" y="106"/>
                    <a:pt x="62" y="106"/>
                    <a:pt x="62" y="106"/>
                  </a:cubicBezTo>
                  <a:cubicBezTo>
                    <a:pt x="33" y="106"/>
                    <a:pt x="33" y="106"/>
                    <a:pt x="33" y="106"/>
                  </a:cubicBezTo>
                  <a:cubicBezTo>
                    <a:pt x="33" y="98"/>
                    <a:pt x="33" y="98"/>
                    <a:pt x="33" y="98"/>
                  </a:cubicBezTo>
                  <a:lnTo>
                    <a:pt x="62" y="98"/>
                  </a:lnTo>
                  <a:close/>
                  <a:moveTo>
                    <a:pt x="33" y="119"/>
                  </a:moveTo>
                  <a:cubicBezTo>
                    <a:pt x="33" y="111"/>
                    <a:pt x="33" y="111"/>
                    <a:pt x="33" y="111"/>
                  </a:cubicBezTo>
                  <a:cubicBezTo>
                    <a:pt x="62" y="111"/>
                    <a:pt x="62" y="111"/>
                    <a:pt x="62" y="111"/>
                  </a:cubicBezTo>
                  <a:cubicBezTo>
                    <a:pt x="62" y="118"/>
                    <a:pt x="62" y="118"/>
                    <a:pt x="62" y="118"/>
                  </a:cubicBezTo>
                  <a:lnTo>
                    <a:pt x="33" y="119"/>
                  </a:lnTo>
                  <a:close/>
                  <a:moveTo>
                    <a:pt x="64" y="88"/>
                  </a:moveTo>
                  <a:cubicBezTo>
                    <a:pt x="62" y="88"/>
                    <a:pt x="62" y="88"/>
                    <a:pt x="62" y="88"/>
                  </a:cubicBezTo>
                  <a:cubicBezTo>
                    <a:pt x="70" y="49"/>
                    <a:pt x="70" y="49"/>
                    <a:pt x="70" y="49"/>
                  </a:cubicBezTo>
                  <a:cubicBezTo>
                    <a:pt x="71" y="48"/>
                    <a:pt x="69" y="46"/>
                    <a:pt x="67" y="45"/>
                  </a:cubicBezTo>
                  <a:cubicBezTo>
                    <a:pt x="66" y="45"/>
                    <a:pt x="64" y="46"/>
                    <a:pt x="63" y="48"/>
                  </a:cubicBezTo>
                  <a:cubicBezTo>
                    <a:pt x="63" y="49"/>
                    <a:pt x="63" y="49"/>
                    <a:pt x="63" y="49"/>
                  </a:cubicBezTo>
                  <a:cubicBezTo>
                    <a:pt x="58" y="51"/>
                    <a:pt x="58" y="51"/>
                    <a:pt x="58" y="51"/>
                  </a:cubicBezTo>
                  <a:cubicBezTo>
                    <a:pt x="54" y="44"/>
                    <a:pt x="54" y="44"/>
                    <a:pt x="54" y="44"/>
                  </a:cubicBezTo>
                  <a:cubicBezTo>
                    <a:pt x="54" y="43"/>
                    <a:pt x="53" y="43"/>
                    <a:pt x="52" y="42"/>
                  </a:cubicBezTo>
                  <a:cubicBezTo>
                    <a:pt x="52" y="42"/>
                    <a:pt x="51" y="43"/>
                    <a:pt x="50" y="43"/>
                  </a:cubicBezTo>
                  <a:cubicBezTo>
                    <a:pt x="44" y="51"/>
                    <a:pt x="44" y="51"/>
                    <a:pt x="44" y="51"/>
                  </a:cubicBezTo>
                  <a:cubicBezTo>
                    <a:pt x="39" y="45"/>
                    <a:pt x="39" y="45"/>
                    <a:pt x="39" y="45"/>
                  </a:cubicBezTo>
                  <a:cubicBezTo>
                    <a:pt x="38" y="45"/>
                    <a:pt x="37" y="45"/>
                    <a:pt x="36" y="45"/>
                  </a:cubicBezTo>
                  <a:cubicBezTo>
                    <a:pt x="31" y="48"/>
                    <a:pt x="31" y="48"/>
                    <a:pt x="31" y="48"/>
                  </a:cubicBezTo>
                  <a:cubicBezTo>
                    <a:pt x="31" y="48"/>
                    <a:pt x="31" y="48"/>
                    <a:pt x="31" y="48"/>
                  </a:cubicBezTo>
                  <a:cubicBezTo>
                    <a:pt x="31" y="46"/>
                    <a:pt x="29" y="45"/>
                    <a:pt x="27" y="46"/>
                  </a:cubicBezTo>
                  <a:cubicBezTo>
                    <a:pt x="25" y="46"/>
                    <a:pt x="24" y="48"/>
                    <a:pt x="24" y="50"/>
                  </a:cubicBezTo>
                  <a:cubicBezTo>
                    <a:pt x="33" y="89"/>
                    <a:pt x="33" y="89"/>
                    <a:pt x="33" y="89"/>
                  </a:cubicBezTo>
                  <a:cubicBezTo>
                    <a:pt x="31" y="89"/>
                    <a:pt x="31" y="89"/>
                    <a:pt x="31" y="89"/>
                  </a:cubicBezTo>
                  <a:cubicBezTo>
                    <a:pt x="27" y="82"/>
                    <a:pt x="22" y="76"/>
                    <a:pt x="18" y="70"/>
                  </a:cubicBezTo>
                  <a:cubicBezTo>
                    <a:pt x="12" y="64"/>
                    <a:pt x="10" y="56"/>
                    <a:pt x="9" y="47"/>
                  </a:cubicBezTo>
                  <a:cubicBezTo>
                    <a:pt x="9" y="26"/>
                    <a:pt x="26" y="9"/>
                    <a:pt x="47" y="9"/>
                  </a:cubicBezTo>
                  <a:cubicBezTo>
                    <a:pt x="68" y="9"/>
                    <a:pt x="85" y="26"/>
                    <a:pt x="85" y="47"/>
                  </a:cubicBezTo>
                  <a:cubicBezTo>
                    <a:pt x="85" y="55"/>
                    <a:pt x="82" y="63"/>
                    <a:pt x="77" y="70"/>
                  </a:cubicBezTo>
                  <a:cubicBezTo>
                    <a:pt x="72" y="76"/>
                    <a:pt x="68" y="82"/>
                    <a:pt x="64" y="88"/>
                  </a:cubicBezTo>
                  <a:close/>
                  <a:moveTo>
                    <a:pt x="64" y="88"/>
                  </a:moveTo>
                  <a:cubicBezTo>
                    <a:pt x="64" y="88"/>
                    <a:pt x="64" y="88"/>
                    <a:pt x="64" y="88"/>
                  </a:cubicBezTo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sym typeface="+mn-lt"/>
              </a:endParaRPr>
            </a:p>
          </p:txBody>
        </p:sp>
        <p:sp>
          <p:nvSpPr>
            <p:cNvPr id="11" name="TextBox 56"/>
            <p:cNvSpPr txBox="1"/>
            <p:nvPr/>
          </p:nvSpPr>
          <p:spPr>
            <a:xfrm>
              <a:off x="5281860" y="2496032"/>
              <a:ext cx="550151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800" b="1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sym typeface="+mn-lt"/>
                </a:rPr>
                <a:t>01</a:t>
              </a:r>
              <a:br>
                <a: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sym typeface="+mn-lt"/>
                </a:rPr>
              </a:br>
              <a:endParaRPr kumimoji="0" lang="en-US" sz="12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sym typeface="+mn-lt"/>
              </a:endParaRPr>
            </a:p>
          </p:txBody>
        </p:sp>
        <p:sp>
          <p:nvSpPr>
            <p:cNvPr id="12" name="TextBox 57"/>
            <p:cNvSpPr txBox="1"/>
            <p:nvPr/>
          </p:nvSpPr>
          <p:spPr>
            <a:xfrm>
              <a:off x="6355124" y="2496032"/>
              <a:ext cx="550151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800" b="1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sym typeface="+mn-lt"/>
                </a:rPr>
                <a:t>02</a:t>
              </a:r>
              <a:br>
                <a: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sym typeface="+mn-lt"/>
                </a:rPr>
              </a:br>
              <a:endParaRPr kumimoji="0" lang="en-US" sz="12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sym typeface="+mn-lt"/>
              </a:endParaRPr>
            </a:p>
          </p:txBody>
        </p:sp>
        <p:sp>
          <p:nvSpPr>
            <p:cNvPr id="13" name="TextBox 58"/>
            <p:cNvSpPr txBox="1"/>
            <p:nvPr/>
          </p:nvSpPr>
          <p:spPr>
            <a:xfrm>
              <a:off x="5281860" y="4095994"/>
              <a:ext cx="550151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800" b="1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sym typeface="+mn-lt"/>
                </a:rPr>
                <a:t>03</a:t>
              </a:r>
              <a:br>
                <a: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sym typeface="+mn-lt"/>
                </a:rPr>
              </a:br>
              <a:endParaRPr kumimoji="0" lang="en-US" sz="12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sym typeface="+mn-lt"/>
              </a:endParaRPr>
            </a:p>
          </p:txBody>
        </p:sp>
        <p:sp>
          <p:nvSpPr>
            <p:cNvPr id="14" name="TextBox 59"/>
            <p:cNvSpPr txBox="1"/>
            <p:nvPr/>
          </p:nvSpPr>
          <p:spPr>
            <a:xfrm>
              <a:off x="6355124" y="4095994"/>
              <a:ext cx="550151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800" b="1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sym typeface="+mn-lt"/>
                </a:rPr>
                <a:t>04</a:t>
              </a:r>
              <a:br>
                <a: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sym typeface="+mn-lt"/>
                </a:rPr>
              </a:br>
              <a:endParaRPr kumimoji="0" lang="en-US" sz="12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sym typeface="+mn-lt"/>
              </a:endParaRPr>
            </a:p>
          </p:txBody>
        </p:sp>
      </p:grpSp>
      <p:grpSp>
        <p:nvGrpSpPr>
          <p:cNvPr id="26" name="PA_组合 25"/>
          <p:cNvGrpSpPr/>
          <p:nvPr>
            <p:custDataLst>
              <p:tags r:id="rId1"/>
            </p:custDataLst>
          </p:nvPr>
        </p:nvGrpSpPr>
        <p:grpSpPr>
          <a:xfrm>
            <a:off x="1628282" y="2526644"/>
            <a:ext cx="2855980" cy="823738"/>
            <a:chOff x="656868" y="2381121"/>
            <a:chExt cx="2855980" cy="823738"/>
          </a:xfrm>
        </p:grpSpPr>
        <p:sp>
          <p:nvSpPr>
            <p:cNvPr id="24" name="文本框 23"/>
            <p:cNvSpPr txBox="1"/>
            <p:nvPr/>
          </p:nvSpPr>
          <p:spPr>
            <a:xfrm>
              <a:off x="928440" y="2381121"/>
              <a:ext cx="2031325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400" b="1" dirty="0">
                  <a:solidFill>
                    <a:srgbClr val="24569D"/>
                  </a:solidFill>
                </a:rPr>
                <a:t>知识表示方法</a:t>
              </a:r>
            </a:p>
          </p:txBody>
        </p:sp>
        <p:sp>
          <p:nvSpPr>
            <p:cNvPr id="25" name="文本框 24"/>
            <p:cNvSpPr txBox="1"/>
            <p:nvPr/>
          </p:nvSpPr>
          <p:spPr>
            <a:xfrm>
              <a:off x="656868" y="2743194"/>
              <a:ext cx="285598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en-US" altLang="zh-CN" sz="2400" dirty="0">
                <a:latin typeface="微软雅黑" panose="020B0503020204020204" pitchFamily="34" charset="-122"/>
              </a:endParaRPr>
            </a:p>
          </p:txBody>
        </p:sp>
      </p:grpSp>
      <p:sp>
        <p:nvSpPr>
          <p:cNvPr id="28" name="文本框 27"/>
          <p:cNvSpPr txBox="1"/>
          <p:nvPr/>
        </p:nvSpPr>
        <p:spPr>
          <a:xfrm>
            <a:off x="8502923" y="4920321"/>
            <a:ext cx="203132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dirty="0">
                <a:solidFill>
                  <a:srgbClr val="24569D"/>
                </a:solidFill>
              </a:rPr>
              <a:t>逻辑推理案例</a:t>
            </a:r>
          </a:p>
        </p:txBody>
      </p:sp>
      <p:sp>
        <p:nvSpPr>
          <p:cNvPr id="30" name="文本框 29"/>
          <p:cNvSpPr txBox="1"/>
          <p:nvPr/>
        </p:nvSpPr>
        <p:spPr>
          <a:xfrm>
            <a:off x="8441833" y="2411796"/>
            <a:ext cx="295465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dirty="0">
                <a:solidFill>
                  <a:srgbClr val="24569D"/>
                </a:solidFill>
              </a:rPr>
              <a:t>命题逻辑与谓词逻辑</a:t>
            </a:r>
          </a:p>
        </p:txBody>
      </p:sp>
      <p:sp>
        <p:nvSpPr>
          <p:cNvPr id="29" name="矩形 28"/>
          <p:cNvSpPr/>
          <p:nvPr/>
        </p:nvSpPr>
        <p:spPr>
          <a:xfrm>
            <a:off x="1898705" y="4869981"/>
            <a:ext cx="233910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/>
            <a:r>
              <a:rPr lang="zh-CN" altLang="en-US" sz="2400" b="1" dirty="0">
                <a:solidFill>
                  <a:srgbClr val="FF0000"/>
                </a:solidFill>
              </a:rPr>
              <a:t>归结原理及应用</a:t>
            </a:r>
          </a:p>
        </p:txBody>
      </p:sp>
    </p:spTree>
    <p:extLst>
      <p:ext uri="{BB962C8B-B14F-4D97-AF65-F5344CB8AC3E}">
        <p14:creationId xmlns:p14="http://schemas.microsoft.com/office/powerpoint/2010/main" val="213654277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3" name="内容占位符 2"/>
          <p:cNvSpPr>
            <a:spLocks noGrp="1" noChangeArrowheads="1"/>
          </p:cNvSpPr>
          <p:nvPr>
            <p:ph idx="1"/>
          </p:nvPr>
        </p:nvSpPr>
        <p:spPr>
          <a:xfrm>
            <a:off x="1637899" y="1600200"/>
            <a:ext cx="9710286" cy="4944979"/>
          </a:xfrm>
        </p:spPr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en-US" altLang="zh-CN" sz="2400" b="1" dirty="0">
                <a:solidFill>
                  <a:schemeClr val="accent1">
                    <a:lumMod val="75000"/>
                  </a:schemeClr>
                </a:solidFill>
                <a:latin typeface="宋体" panose="02010600030101010101" pitchFamily="2" charset="-122"/>
              </a:rPr>
              <a:t>1.</a:t>
            </a:r>
            <a:r>
              <a:rPr lang="zh-CN" altLang="en-US" sz="2400" b="1" dirty="0">
                <a:solidFill>
                  <a:schemeClr val="accent1">
                    <a:lumMod val="75000"/>
                  </a:schemeClr>
                </a:solidFill>
                <a:latin typeface="宋体" panose="02010600030101010101" pitchFamily="2" charset="-122"/>
              </a:rPr>
              <a:t>为什么要化为子句</a:t>
            </a:r>
            <a:endParaRPr lang="en-US" altLang="zh-CN" sz="2000" dirty="0"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SimSun" panose="02010600030101010101" pitchFamily="2" charset="-122"/>
                <a:ea typeface="SimSun" panose="02010600030101010101" pitchFamily="2" charset="-122"/>
              </a:rPr>
              <a:t>(</a:t>
            </a:r>
            <a:r>
              <a:rPr lang="en-US" altLang="zh-CN" sz="200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  <a:sym typeface="Symbol" pitchFamily="18" charset="2"/>
              </a:rPr>
              <a:t></a:t>
            </a:r>
            <a:r>
              <a:rPr lang="en-US" altLang="zh-CN" sz="2000" dirty="0">
                <a:latin typeface="SimSun" panose="02010600030101010101" pitchFamily="2" charset="-122"/>
                <a:ea typeface="SimSun" panose="02010600030101010101" pitchFamily="2" charset="-122"/>
              </a:rPr>
              <a:t>x){[¬P(x)∨Q(x)]</a:t>
            </a:r>
            <a:r>
              <a:rPr lang="en-US" altLang="zh-CN" sz="2000" dirty="0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→</a:t>
            </a:r>
            <a:r>
              <a:rPr lang="en-US" altLang="zh-CN" sz="2000" dirty="0">
                <a:latin typeface="SimSun" panose="02010600030101010101" pitchFamily="2" charset="-122"/>
                <a:ea typeface="SimSun" panose="02010600030101010101" pitchFamily="2" charset="-122"/>
              </a:rPr>
              <a:t>(</a:t>
            </a:r>
            <a:r>
              <a:rPr lang="en-US" altLang="zh-CN" sz="200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  <a:sym typeface="Symbol" pitchFamily="18" charset="2"/>
              </a:rPr>
              <a:t></a:t>
            </a:r>
            <a:r>
              <a:rPr lang="en-US" altLang="zh-CN" sz="2000" dirty="0">
                <a:latin typeface="SimSun" panose="02010600030101010101" pitchFamily="2" charset="-122"/>
                <a:ea typeface="SimSun" panose="02010600030101010101" pitchFamily="2" charset="-122"/>
              </a:rPr>
              <a:t>y)[S(</a:t>
            </a:r>
            <a:r>
              <a:rPr lang="en-US" altLang="zh-CN" sz="2000" dirty="0" err="1">
                <a:latin typeface="SimSun" panose="02010600030101010101" pitchFamily="2" charset="-122"/>
                <a:ea typeface="SimSun" panose="02010600030101010101" pitchFamily="2" charset="-122"/>
              </a:rPr>
              <a:t>x,y</a:t>
            </a:r>
            <a:r>
              <a:rPr lang="en-US" altLang="zh-CN" sz="2000" dirty="0">
                <a:latin typeface="SimSun" panose="02010600030101010101" pitchFamily="2" charset="-122"/>
                <a:ea typeface="SimSun" panose="02010600030101010101" pitchFamily="2" charset="-122"/>
              </a:rPr>
              <a:t>)∧Q(x)]}∧(</a:t>
            </a:r>
            <a:r>
              <a:rPr lang="en-US" altLang="zh-CN" sz="200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  <a:sym typeface="Symbol" pitchFamily="18" charset="2"/>
              </a:rPr>
              <a:t></a:t>
            </a:r>
            <a:r>
              <a:rPr lang="en-US" altLang="zh-CN" sz="2000" dirty="0">
                <a:latin typeface="SimSun" panose="02010600030101010101" pitchFamily="2" charset="-122"/>
                <a:ea typeface="SimSun" panose="02010600030101010101" pitchFamily="2" charset="-122"/>
              </a:rPr>
              <a:t>x)[P(x)∨B(x)]</a:t>
            </a:r>
            <a:endParaRPr lang="zh-CN" altLang="en-US" dirty="0"/>
          </a:p>
        </p:txBody>
      </p:sp>
      <p:grpSp>
        <p:nvGrpSpPr>
          <p:cNvPr id="40964" name="Group 1040"/>
          <p:cNvGrpSpPr>
            <a:grpSpLocks/>
          </p:cNvGrpSpPr>
          <p:nvPr/>
        </p:nvGrpSpPr>
        <p:grpSpPr bwMode="auto">
          <a:xfrm>
            <a:off x="2667000" y="2971800"/>
            <a:ext cx="6705600" cy="3200400"/>
            <a:chOff x="624" y="1584"/>
            <a:chExt cx="4224" cy="2016"/>
          </a:xfrm>
        </p:grpSpPr>
        <p:sp>
          <p:nvSpPr>
            <p:cNvPr id="40965" name="Oval 1028"/>
            <p:cNvSpPr>
              <a:spLocks noChangeArrowheads="1"/>
            </p:cNvSpPr>
            <p:nvPr/>
          </p:nvSpPr>
          <p:spPr bwMode="auto">
            <a:xfrm>
              <a:off x="624" y="1584"/>
              <a:ext cx="1488" cy="624"/>
            </a:xfrm>
            <a:prstGeom prst="ellips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>
                  <a:schemeClr val="hlink"/>
                </a:buClr>
                <a:buSzPct val="75000"/>
                <a:buFont typeface="Wingdings" panose="05000000000000000000" pitchFamily="2" charset="2"/>
                <a:buNone/>
              </a:pPr>
              <a:r>
                <a:rPr lang="zh-CN" altLang="en-US" sz="2400">
                  <a:solidFill>
                    <a:srgbClr val="000000"/>
                  </a:solidFill>
                  <a:latin typeface="宋体" panose="02010600030101010101" pitchFamily="2" charset="-122"/>
                </a:rPr>
                <a:t>初始公式</a:t>
              </a:r>
            </a:p>
          </p:txBody>
        </p:sp>
        <p:sp>
          <p:nvSpPr>
            <p:cNvPr id="40966" name="Oval 1029"/>
            <p:cNvSpPr>
              <a:spLocks noChangeArrowheads="1"/>
            </p:cNvSpPr>
            <p:nvPr/>
          </p:nvSpPr>
          <p:spPr bwMode="auto">
            <a:xfrm>
              <a:off x="3648" y="1584"/>
              <a:ext cx="1200" cy="528"/>
            </a:xfrm>
            <a:prstGeom prst="ellips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>
                  <a:schemeClr val="hlink"/>
                </a:buClr>
                <a:buSzPct val="75000"/>
                <a:buFont typeface="Wingdings" panose="05000000000000000000" pitchFamily="2" charset="2"/>
                <a:buNone/>
              </a:pPr>
              <a:r>
                <a:rPr lang="zh-CN" altLang="en-US" sz="2400">
                  <a:solidFill>
                    <a:srgbClr val="000000"/>
                  </a:solidFill>
                  <a:latin typeface="宋体" panose="02010600030101010101" pitchFamily="2" charset="-122"/>
                </a:rPr>
                <a:t>目标公式</a:t>
              </a:r>
            </a:p>
          </p:txBody>
        </p:sp>
        <p:sp>
          <p:nvSpPr>
            <p:cNvPr id="40967" name="Oval 1030"/>
            <p:cNvSpPr>
              <a:spLocks noChangeArrowheads="1"/>
            </p:cNvSpPr>
            <p:nvPr/>
          </p:nvSpPr>
          <p:spPr bwMode="auto">
            <a:xfrm>
              <a:off x="624" y="2976"/>
              <a:ext cx="1488" cy="624"/>
            </a:xfrm>
            <a:prstGeom prst="ellips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>
                  <a:schemeClr val="hlink"/>
                </a:buClr>
                <a:buSzPct val="75000"/>
                <a:buFont typeface="Wingdings" panose="05000000000000000000" pitchFamily="2" charset="2"/>
                <a:buNone/>
              </a:pPr>
              <a:r>
                <a:rPr lang="zh-CN" altLang="en-US" sz="2400">
                  <a:solidFill>
                    <a:srgbClr val="000000"/>
                  </a:solidFill>
                  <a:latin typeface="宋体" panose="02010600030101010101" pitchFamily="2" charset="-122"/>
                </a:rPr>
                <a:t>初始子句集</a:t>
              </a:r>
            </a:p>
          </p:txBody>
        </p:sp>
        <p:sp>
          <p:nvSpPr>
            <p:cNvPr id="40968" name="Oval 1031"/>
            <p:cNvSpPr>
              <a:spLocks noChangeArrowheads="1"/>
            </p:cNvSpPr>
            <p:nvPr/>
          </p:nvSpPr>
          <p:spPr bwMode="auto">
            <a:xfrm>
              <a:off x="3648" y="3024"/>
              <a:ext cx="1200" cy="480"/>
            </a:xfrm>
            <a:prstGeom prst="ellips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>
                  <a:schemeClr val="hlink"/>
                </a:buClr>
                <a:buSzPct val="75000"/>
                <a:buFont typeface="Wingdings" panose="05000000000000000000" pitchFamily="2" charset="2"/>
                <a:buNone/>
              </a:pPr>
              <a:r>
                <a:rPr lang="zh-CN" altLang="en-US" sz="2400">
                  <a:solidFill>
                    <a:srgbClr val="000000"/>
                  </a:solidFill>
                  <a:latin typeface="宋体" panose="02010600030101010101" pitchFamily="2" charset="-122"/>
                </a:rPr>
                <a:t>目标子句</a:t>
              </a:r>
            </a:p>
          </p:txBody>
        </p:sp>
        <p:sp>
          <p:nvSpPr>
            <p:cNvPr id="40969" name="Line 1032"/>
            <p:cNvSpPr>
              <a:spLocks noChangeShapeType="1"/>
            </p:cNvSpPr>
            <p:nvPr/>
          </p:nvSpPr>
          <p:spPr bwMode="auto">
            <a:xfrm>
              <a:off x="2112" y="1872"/>
              <a:ext cx="1536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970" name="Line 1034"/>
            <p:cNvSpPr>
              <a:spLocks noChangeShapeType="1"/>
            </p:cNvSpPr>
            <p:nvPr/>
          </p:nvSpPr>
          <p:spPr bwMode="auto">
            <a:xfrm>
              <a:off x="2112" y="3264"/>
              <a:ext cx="1536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971" name="Line 1035"/>
            <p:cNvSpPr>
              <a:spLocks noChangeShapeType="1"/>
            </p:cNvSpPr>
            <p:nvPr/>
          </p:nvSpPr>
          <p:spPr bwMode="auto">
            <a:xfrm>
              <a:off x="1392" y="2208"/>
              <a:ext cx="0" cy="768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972" name="Line 1036"/>
            <p:cNvSpPr>
              <a:spLocks noChangeShapeType="1"/>
            </p:cNvSpPr>
            <p:nvPr/>
          </p:nvSpPr>
          <p:spPr bwMode="auto">
            <a:xfrm>
              <a:off x="4272" y="2112"/>
              <a:ext cx="0" cy="91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973" name="Rectangle 1037"/>
            <p:cNvSpPr>
              <a:spLocks noChangeArrowheads="1"/>
            </p:cNvSpPr>
            <p:nvPr/>
          </p:nvSpPr>
          <p:spPr bwMode="auto">
            <a:xfrm>
              <a:off x="2304" y="2928"/>
              <a:ext cx="1056" cy="24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>
                  <a:schemeClr val="hlink"/>
                </a:buClr>
                <a:buSzPct val="75000"/>
                <a:buFont typeface="Wingdings" panose="05000000000000000000" pitchFamily="2" charset="2"/>
                <a:buNone/>
              </a:pPr>
              <a:r>
                <a:rPr lang="zh-CN" altLang="en-US" sz="2400">
                  <a:solidFill>
                    <a:srgbClr val="000000"/>
                  </a:solidFill>
                  <a:latin typeface="宋体" panose="02010600030101010101" pitchFamily="2" charset="-122"/>
                </a:rPr>
                <a:t>易；简</a:t>
              </a:r>
            </a:p>
          </p:txBody>
        </p:sp>
        <p:sp>
          <p:nvSpPr>
            <p:cNvPr id="40974" name="Rectangle 1038"/>
            <p:cNvSpPr>
              <a:spLocks noChangeArrowheads="1"/>
            </p:cNvSpPr>
            <p:nvPr/>
          </p:nvSpPr>
          <p:spPr bwMode="auto">
            <a:xfrm>
              <a:off x="1440" y="2448"/>
              <a:ext cx="672" cy="24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>
                  <a:schemeClr val="hlink"/>
                </a:buClr>
                <a:buSzPct val="75000"/>
                <a:buFont typeface="Wingdings" panose="05000000000000000000" pitchFamily="2" charset="2"/>
                <a:buNone/>
              </a:pPr>
              <a:r>
                <a:rPr lang="zh-CN" altLang="en-US" sz="2400">
                  <a:solidFill>
                    <a:srgbClr val="000000"/>
                  </a:solidFill>
                  <a:latin typeface="宋体" panose="02010600030101010101" pitchFamily="2" charset="-122"/>
                </a:rPr>
                <a:t>规格化</a:t>
              </a:r>
            </a:p>
          </p:txBody>
        </p:sp>
        <p:sp>
          <p:nvSpPr>
            <p:cNvPr id="40975" name="Rectangle 1039"/>
            <p:cNvSpPr>
              <a:spLocks noChangeArrowheads="1"/>
            </p:cNvSpPr>
            <p:nvPr/>
          </p:nvSpPr>
          <p:spPr bwMode="auto">
            <a:xfrm>
              <a:off x="3504" y="2448"/>
              <a:ext cx="720" cy="24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>
                  <a:schemeClr val="hlink"/>
                </a:buClr>
                <a:buSzPct val="75000"/>
                <a:buFont typeface="Wingdings" panose="05000000000000000000" pitchFamily="2" charset="2"/>
                <a:buNone/>
              </a:pPr>
              <a:r>
                <a:rPr lang="zh-CN" altLang="en-US" sz="2400">
                  <a:solidFill>
                    <a:srgbClr val="000000"/>
                  </a:solidFill>
                  <a:latin typeface="宋体" panose="02010600030101010101" pitchFamily="2" charset="-122"/>
                </a:rPr>
                <a:t>规格化</a:t>
              </a:r>
            </a:p>
          </p:txBody>
        </p:sp>
      </p:grpSp>
      <p:sp>
        <p:nvSpPr>
          <p:cNvPr id="5" name="标题 1">
            <a:extLst>
              <a:ext uri="{FF2B5EF4-FFF2-40B4-BE49-F238E27FC236}">
                <a16:creationId xmlns:a16="http://schemas.microsoft.com/office/drawing/2014/main" id="{AFEF4E5B-2D0E-3E4C-0420-7D495292B1D3}"/>
              </a:ext>
            </a:extLst>
          </p:cNvPr>
          <p:cNvSpPr txBox="1">
            <a:spLocks/>
          </p:cNvSpPr>
          <p:nvPr/>
        </p:nvSpPr>
        <p:spPr>
          <a:xfrm>
            <a:off x="376188" y="46830"/>
            <a:ext cx="704489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zh-CN" altLang="en-US" sz="3200" dirty="0">
                <a:solidFill>
                  <a:srgbClr val="FF0000"/>
                </a:solidFill>
                <a:latin typeface=".AppleSystemUIFont"/>
              </a:rPr>
              <a:t>归结原理及</a:t>
            </a:r>
            <a:r>
              <a:rPr lang="zh-CN" altLang="en-US" sz="3200" dirty="0">
                <a:solidFill>
                  <a:srgbClr val="FF0000"/>
                </a:solidFill>
              </a:rPr>
              <a:t>应用</a:t>
            </a:r>
            <a:r>
              <a:rPr lang="en-US" altLang="zh-CN" sz="3200" dirty="0">
                <a:solidFill>
                  <a:srgbClr val="FF0000"/>
                </a:solidFill>
              </a:rPr>
              <a:t>-</a:t>
            </a:r>
            <a:r>
              <a:rPr lang="zh-CN" altLang="en-US" sz="2000" dirty="0">
                <a:solidFill>
                  <a:srgbClr val="FF0000"/>
                </a:solidFill>
              </a:rPr>
              <a:t>一阶逻辑化为子句 </a:t>
            </a:r>
          </a:p>
        </p:txBody>
      </p:sp>
    </p:spTree>
    <p:extLst>
      <p:ext uri="{BB962C8B-B14F-4D97-AF65-F5344CB8AC3E}">
        <p14:creationId xmlns:p14="http://schemas.microsoft.com/office/powerpoint/2010/main" val="372144882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7E2C0FC-E189-4F9C-8FB5-AFBDEFB2C0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51085" y="1452937"/>
            <a:ext cx="8435975" cy="661988"/>
          </a:xfrm>
        </p:spPr>
        <p:txBody>
          <a:bodyPr/>
          <a:lstStyle/>
          <a:p>
            <a:pPr>
              <a:defRPr/>
            </a:pPr>
            <a:r>
              <a:rPr lang="zh-CN" altLang="en-US" sz="2400" b="1" dirty="0">
                <a:solidFill>
                  <a:schemeClr val="accent1">
                    <a:lumMod val="75000"/>
                  </a:schemeClr>
                </a:solidFill>
              </a:rPr>
              <a:t>子句</a:t>
            </a:r>
            <a:r>
              <a:rPr lang="zh-CN" altLang="en-US" sz="2400" b="1" dirty="0">
                <a:solidFill>
                  <a:schemeClr val="accent1">
                    <a:lumMod val="75000"/>
                  </a:schemeClr>
                </a:solidFill>
                <a:latin typeface="宋体" panose="02010600030101010101" pitchFamily="2" charset="-122"/>
              </a:rPr>
              <a:t>概念</a:t>
            </a:r>
            <a:endParaRPr lang="en-US" altLang="zh-CN" sz="2400" b="1" dirty="0">
              <a:solidFill>
                <a:schemeClr val="accent1">
                  <a:lumMod val="75000"/>
                </a:schemeClr>
              </a:solidFill>
              <a:latin typeface="宋体" panose="02010600030101010101" pitchFamily="2" charset="-122"/>
            </a:endParaRPr>
          </a:p>
          <a:p>
            <a:pPr marL="0" indent="0">
              <a:buNone/>
              <a:defRPr/>
            </a:pP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466F68E-F4F9-446B-A656-ACEF7993F95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08347" y="1676400"/>
            <a:ext cx="8575306" cy="518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>
              <a:lnSpc>
                <a:spcPct val="75000"/>
              </a:lnSpc>
              <a:buNone/>
              <a:defRPr/>
            </a:pPr>
            <a:r>
              <a:rPr lang="zh-CN" altLang="en-US" sz="2800" kern="0" dirty="0"/>
              <a:t> </a:t>
            </a:r>
            <a:endParaRPr lang="zh-CN" altLang="en-US" sz="2800" kern="0" dirty="0">
              <a:latin typeface="宋体" pitchFamily="2" charset="-122"/>
            </a:endParaRPr>
          </a:p>
          <a:p>
            <a:pPr algn="just">
              <a:buFont typeface="Wingdings" pitchFamily="2" charset="2"/>
              <a:buNone/>
              <a:defRPr/>
            </a:pPr>
            <a:r>
              <a:rPr lang="zh-CN" altLang="en-US" sz="2400" kern="0" dirty="0">
                <a:latin typeface="宋体" pitchFamily="2" charset="-122"/>
              </a:rPr>
              <a:t>	</a:t>
            </a:r>
            <a:r>
              <a:rPr lang="zh-CN" altLang="en-US" sz="2000" kern="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谓词逻辑中，把原子公式及原子公式的否定统称为</a:t>
            </a:r>
            <a:r>
              <a:rPr lang="zh-CN" altLang="en-US" sz="2000" kern="0" dirty="0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文字</a:t>
            </a:r>
            <a:endParaRPr lang="zh-CN" altLang="en-US" sz="2000" kern="0" dirty="0"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pPr algn="just">
              <a:buFont typeface="Wingdings" pitchFamily="2" charset="2"/>
              <a:buNone/>
              <a:defRPr/>
            </a:pPr>
            <a:r>
              <a:rPr lang="en-US" altLang="zh-CN" sz="2000" b="1" kern="0" dirty="0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【</a:t>
            </a:r>
            <a:r>
              <a:rPr lang="zh-CN" altLang="en-US" sz="2000" kern="0" dirty="0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定义</a:t>
            </a:r>
            <a:r>
              <a:rPr lang="en-US" altLang="zh-CN" sz="2000" kern="0" dirty="0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4.1</a:t>
            </a:r>
            <a:r>
              <a:rPr lang="en-US" altLang="zh-CN" sz="2000" b="1" kern="0" dirty="0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】</a:t>
            </a:r>
            <a:r>
              <a:rPr lang="zh-CN" altLang="en-US" sz="2000" kern="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任何组成合取范式的</a:t>
            </a:r>
            <a:r>
              <a:rPr lang="zh-CN" altLang="en-US" sz="2000" kern="0" dirty="0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析取式</a:t>
            </a:r>
            <a:r>
              <a:rPr lang="zh-CN" altLang="en-US" sz="2000" kern="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称为子句</a:t>
            </a:r>
            <a:r>
              <a:rPr lang="zh-CN" altLang="en-US" sz="2000" kern="0" dirty="0">
                <a:latin typeface="SimSun" panose="02010600030101010101" pitchFamily="2" charset="-122"/>
                <a:ea typeface="SimSun" panose="02010600030101010101" pitchFamily="2" charset="-122"/>
              </a:rPr>
              <a:t>。</a:t>
            </a:r>
          </a:p>
          <a:p>
            <a:pPr algn="just">
              <a:buFont typeface="Wingdings" pitchFamily="2" charset="2"/>
              <a:buNone/>
              <a:defRPr/>
            </a:pPr>
            <a:r>
              <a:rPr lang="zh-CN" altLang="en-US" sz="2000" kern="0" dirty="0">
                <a:latin typeface="SimSun" panose="02010600030101010101" pitchFamily="2" charset="-122"/>
                <a:ea typeface="SimSun" panose="02010600030101010101" pitchFamily="2" charset="-122"/>
              </a:rPr>
              <a:t>		</a:t>
            </a:r>
            <a:r>
              <a:rPr lang="zh-CN" altLang="en-US" sz="2000" i="1" kern="0" dirty="0">
                <a:latin typeface="SimSun" panose="02010600030101010101" pitchFamily="2" charset="-122"/>
                <a:ea typeface="SimSun" panose="02010600030101010101" pitchFamily="2" charset="-122"/>
              </a:rPr>
              <a:t>例如</a:t>
            </a:r>
            <a:r>
              <a:rPr lang="en-US" altLang="zh-CN" sz="2000" i="1" kern="0" dirty="0">
                <a:latin typeface="SimSun" panose="02010600030101010101" pitchFamily="2" charset="-122"/>
                <a:ea typeface="SimSun" panose="02010600030101010101" pitchFamily="2" charset="-122"/>
              </a:rPr>
              <a:t>P∨Q</a:t>
            </a:r>
            <a:r>
              <a:rPr lang="zh-CN" altLang="en-US" sz="2000" i="1" kern="0" dirty="0">
                <a:latin typeface="SimSun" panose="02010600030101010101" pitchFamily="2" charset="-122"/>
                <a:ea typeface="SimSun" panose="02010600030101010101" pitchFamily="2" charset="-122"/>
              </a:rPr>
              <a:t>、</a:t>
            </a:r>
            <a:r>
              <a:rPr lang="zh-CN" altLang="en-US" sz="2000" i="1" kern="0" dirty="0">
                <a:latin typeface="SimSun" panose="02010600030101010101" pitchFamily="2" charset="-122"/>
                <a:ea typeface="SimSun" panose="02010600030101010101" pitchFamily="2" charset="-122"/>
                <a:sym typeface="Symbol" pitchFamily="18" charset="2"/>
              </a:rPr>
              <a:t></a:t>
            </a:r>
            <a:r>
              <a:rPr lang="en-US" altLang="zh-CN" sz="2000" i="1" kern="0" dirty="0">
                <a:latin typeface="SimSun" panose="02010600030101010101" pitchFamily="2" charset="-122"/>
                <a:ea typeface="SimSun" panose="02010600030101010101" pitchFamily="2" charset="-122"/>
              </a:rPr>
              <a:t>P</a:t>
            </a:r>
            <a:r>
              <a:rPr lang="zh-CN" altLang="en-US" sz="2000" i="1" kern="0" dirty="0">
                <a:latin typeface="SimSun" panose="02010600030101010101" pitchFamily="2" charset="-122"/>
                <a:ea typeface="SimSun" panose="02010600030101010101" pitchFamily="2" charset="-122"/>
              </a:rPr>
              <a:t>（</a:t>
            </a:r>
            <a:r>
              <a:rPr lang="en-US" altLang="zh-CN" sz="2000" i="1" kern="0" dirty="0">
                <a:latin typeface="SimSun" panose="02010600030101010101" pitchFamily="2" charset="-122"/>
                <a:ea typeface="SimSun" panose="02010600030101010101" pitchFamily="2" charset="-122"/>
              </a:rPr>
              <a:t>x</a:t>
            </a:r>
            <a:r>
              <a:rPr lang="zh-CN" altLang="en-US" sz="2000" i="1" kern="0" dirty="0">
                <a:latin typeface="SimSun" panose="02010600030101010101" pitchFamily="2" charset="-122"/>
                <a:ea typeface="SimSun" panose="02010600030101010101" pitchFamily="2" charset="-122"/>
              </a:rPr>
              <a:t>，</a:t>
            </a:r>
            <a:r>
              <a:rPr lang="en-US" altLang="zh-CN" sz="2000" i="1" kern="0" dirty="0">
                <a:latin typeface="SimSun" panose="02010600030101010101" pitchFamily="2" charset="-122"/>
                <a:ea typeface="SimSun" panose="02010600030101010101" pitchFamily="2" charset="-122"/>
              </a:rPr>
              <a:t>f(x)</a:t>
            </a:r>
            <a:r>
              <a:rPr lang="zh-CN" altLang="en-US" sz="2000" i="1" kern="0" dirty="0">
                <a:latin typeface="SimSun" panose="02010600030101010101" pitchFamily="2" charset="-122"/>
                <a:ea typeface="SimSun" panose="02010600030101010101" pitchFamily="2" charset="-122"/>
              </a:rPr>
              <a:t>，</a:t>
            </a:r>
            <a:r>
              <a:rPr lang="en-US" altLang="zh-CN" sz="2000" i="1" kern="0" dirty="0">
                <a:latin typeface="SimSun" panose="02010600030101010101" pitchFamily="2" charset="-122"/>
                <a:ea typeface="SimSun" panose="02010600030101010101" pitchFamily="2" charset="-122"/>
              </a:rPr>
              <a:t>y</a:t>
            </a:r>
            <a:r>
              <a:rPr lang="zh-CN" altLang="en-US" sz="2000" i="1" kern="0" dirty="0">
                <a:latin typeface="SimSun" panose="02010600030101010101" pitchFamily="2" charset="-122"/>
                <a:ea typeface="SimSun" panose="02010600030101010101" pitchFamily="2" charset="-122"/>
              </a:rPr>
              <a:t>）∨</a:t>
            </a:r>
            <a:r>
              <a:rPr lang="en-US" altLang="zh-CN" sz="2000" i="1" kern="0" dirty="0">
                <a:latin typeface="SimSun" panose="02010600030101010101" pitchFamily="2" charset="-122"/>
                <a:ea typeface="SimSun" panose="02010600030101010101" pitchFamily="2" charset="-122"/>
              </a:rPr>
              <a:t>Q(y)∨R(f(x)) </a:t>
            </a:r>
            <a:r>
              <a:rPr lang="zh-CN" altLang="en-US" sz="2000" i="1" kern="0" dirty="0">
                <a:latin typeface="SimSun" panose="02010600030101010101" pitchFamily="2" charset="-122"/>
                <a:ea typeface="SimSun" panose="02010600030101010101" pitchFamily="2" charset="-122"/>
              </a:rPr>
              <a:t>都是子句</a:t>
            </a:r>
          </a:p>
          <a:p>
            <a:pPr algn="just">
              <a:buFont typeface="Wingdings" pitchFamily="2" charset="2"/>
              <a:buNone/>
              <a:defRPr/>
            </a:pPr>
            <a:r>
              <a:rPr lang="en-US" altLang="zh-CN" sz="2000" b="1" kern="0" dirty="0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【</a:t>
            </a:r>
            <a:r>
              <a:rPr lang="zh-CN" altLang="en-US" sz="2000" kern="0" dirty="0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定义</a:t>
            </a:r>
            <a:r>
              <a:rPr lang="en-US" altLang="zh-CN" sz="2000" kern="0" dirty="0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4.2</a:t>
            </a:r>
            <a:r>
              <a:rPr lang="en-US" altLang="zh-CN" sz="2000" b="1" kern="0" dirty="0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】</a:t>
            </a:r>
            <a:r>
              <a:rPr lang="zh-CN" altLang="en-US" sz="2000" kern="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不包含任何文字的子句称为</a:t>
            </a:r>
            <a:r>
              <a:rPr lang="zh-CN" altLang="en-US" sz="2000" kern="0" dirty="0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空子句</a:t>
            </a:r>
            <a:r>
              <a:rPr lang="zh-CN" altLang="en-US" sz="2000" kern="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，表示为</a:t>
            </a:r>
            <a:r>
              <a:rPr lang="en-US" altLang="zh-CN" sz="2000" kern="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NIL</a:t>
            </a:r>
          </a:p>
          <a:p>
            <a:pPr algn="just">
              <a:buFont typeface="Wingdings" pitchFamily="2" charset="2"/>
              <a:buNone/>
              <a:defRPr/>
            </a:pPr>
            <a:r>
              <a:rPr lang="en-US" altLang="zh-CN" sz="2000" kern="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		</a:t>
            </a:r>
            <a:r>
              <a:rPr lang="zh-CN" altLang="en-US" sz="2000" kern="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由于空子句不包含有文字，它不能被任何解释满足，所以</a:t>
            </a:r>
            <a:r>
              <a:rPr lang="zh-CN" altLang="en-US" sz="2000" kern="0" dirty="0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空子句是永假的，不可满足的</a:t>
            </a:r>
          </a:p>
          <a:p>
            <a:pPr>
              <a:buFont typeface="Wingdings" pitchFamily="2" charset="2"/>
              <a:buNone/>
              <a:defRPr/>
            </a:pPr>
            <a:r>
              <a:rPr lang="zh-CN" altLang="en-US" sz="2000" kern="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		由子句构成的集合称为子句集</a:t>
            </a:r>
          </a:p>
          <a:p>
            <a:pPr>
              <a:spcBef>
                <a:spcPts val="1200"/>
              </a:spcBef>
              <a:buNone/>
              <a:defRPr/>
            </a:pPr>
            <a:r>
              <a:rPr lang="zh-CN" altLang="en-US" sz="2000" kern="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	</a:t>
            </a:r>
            <a:r>
              <a:rPr lang="zh-CN" altLang="en-US" sz="2000" b="1" kern="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一阶</a:t>
            </a:r>
            <a:r>
              <a:rPr lang="zh-CN" altLang="en-US" sz="2000" b="1" kern="0" dirty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SimSun" panose="02010600030101010101" pitchFamily="2" charset="-122"/>
                <a:ea typeface="SimSun" panose="02010600030101010101" pitchFamily="2" charset="-122"/>
              </a:rPr>
              <a:t>逻辑中，任何一个</a:t>
            </a:r>
            <a:r>
              <a:rPr lang="zh-CN" altLang="en-US" sz="2000" b="1" kern="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一阶逻辑</a:t>
            </a:r>
            <a:r>
              <a:rPr lang="zh-CN" altLang="en-US" sz="2000" b="1" kern="0" dirty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SimSun" panose="02010600030101010101" pitchFamily="2" charset="-122"/>
                <a:ea typeface="SimSun" panose="02010600030101010101" pitchFamily="2" charset="-122"/>
              </a:rPr>
              <a:t>公式都可以化成一个子句集</a:t>
            </a:r>
            <a:endParaRPr lang="zh-CN" altLang="en-US" sz="2000" b="1" kern="0"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sp>
        <p:nvSpPr>
          <p:cNvPr id="6" name="标题 1">
            <a:extLst>
              <a:ext uri="{FF2B5EF4-FFF2-40B4-BE49-F238E27FC236}">
                <a16:creationId xmlns:a16="http://schemas.microsoft.com/office/drawing/2014/main" id="{F642668D-8335-B6A6-1BF9-CFAFFEBF23C7}"/>
              </a:ext>
            </a:extLst>
          </p:cNvPr>
          <p:cNvSpPr txBox="1">
            <a:spLocks/>
          </p:cNvSpPr>
          <p:nvPr/>
        </p:nvSpPr>
        <p:spPr>
          <a:xfrm>
            <a:off x="376188" y="46830"/>
            <a:ext cx="704489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zh-CN" altLang="en-US" sz="3200" dirty="0">
                <a:solidFill>
                  <a:srgbClr val="FF0000"/>
                </a:solidFill>
                <a:latin typeface=".AppleSystemUIFont"/>
              </a:rPr>
              <a:t>归结原理及</a:t>
            </a:r>
            <a:r>
              <a:rPr lang="zh-CN" altLang="en-US" sz="3200" dirty="0">
                <a:solidFill>
                  <a:srgbClr val="FF0000"/>
                </a:solidFill>
              </a:rPr>
              <a:t>应用</a:t>
            </a:r>
            <a:r>
              <a:rPr lang="en-US" altLang="zh-CN" sz="3200" dirty="0">
                <a:solidFill>
                  <a:srgbClr val="FF0000"/>
                </a:solidFill>
              </a:rPr>
              <a:t>-</a:t>
            </a:r>
            <a:r>
              <a:rPr lang="zh-CN" altLang="en-US" sz="2000" dirty="0">
                <a:solidFill>
                  <a:srgbClr val="FF0000"/>
                </a:solidFill>
              </a:rPr>
              <a:t>一阶逻辑化为子句 </a:t>
            </a:r>
          </a:p>
        </p:txBody>
      </p:sp>
    </p:spTree>
    <p:extLst>
      <p:ext uri="{BB962C8B-B14F-4D97-AF65-F5344CB8AC3E}">
        <p14:creationId xmlns:p14="http://schemas.microsoft.com/office/powerpoint/2010/main" val="191380688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1" name="内容占位符 2"/>
          <p:cNvSpPr>
            <a:spLocks noGrp="1" noChangeArrowheads="1"/>
          </p:cNvSpPr>
          <p:nvPr>
            <p:ph idx="1"/>
          </p:nvPr>
        </p:nvSpPr>
        <p:spPr>
          <a:xfrm>
            <a:off x="1591277" y="1747471"/>
            <a:ext cx="8855442" cy="3748555"/>
          </a:xfrm>
        </p:spPr>
        <p:txBody>
          <a:bodyPr>
            <a:normAutofit/>
          </a:bodyPr>
          <a:lstStyle/>
          <a:p>
            <a:pPr>
              <a:lnSpc>
                <a:spcPct val="114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zh-CN" altLang="en-US" sz="200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将一阶逻辑公式化为子句集的</a:t>
            </a:r>
            <a:r>
              <a:rPr lang="zh-CN" altLang="en-US" sz="2000" dirty="0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步骤</a:t>
            </a:r>
            <a:r>
              <a:rPr lang="zh-CN" altLang="en-US" sz="200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：</a:t>
            </a:r>
          </a:p>
          <a:p>
            <a:pPr algn="just">
              <a:lnSpc>
                <a:spcPct val="114000"/>
              </a:lnSpc>
              <a:spcBef>
                <a:spcPts val="1200"/>
              </a:spcBef>
              <a:buNone/>
            </a:pPr>
            <a:r>
              <a:rPr lang="zh-CN" altLang="en-US" sz="200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	</a:t>
            </a:r>
            <a:r>
              <a:rPr lang="en-US" altLang="zh-CN" sz="200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(1)</a:t>
            </a:r>
            <a:r>
              <a:rPr lang="en-US" altLang="zh-CN" sz="200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  <a:cs typeface="Times New Roman" panose="02020603050405020304" pitchFamily="18" charset="0"/>
              </a:rPr>
              <a:t> </a:t>
            </a:r>
            <a:r>
              <a:rPr lang="zh-CN" altLang="en-US" sz="2000" b="1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消蕴含和等价</a:t>
            </a:r>
            <a:r>
              <a:rPr lang="zh-CN" altLang="en-US" sz="200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：利用</a:t>
            </a:r>
            <a:r>
              <a:rPr lang="en-US" altLang="zh-CN" sz="2000" dirty="0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P→Q = </a:t>
            </a:r>
            <a:r>
              <a:rPr lang="en-US" altLang="zh-CN" sz="2000" dirty="0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  <a:sym typeface="Symbol" panose="05050102010706020507" pitchFamily="18" charset="2"/>
              </a:rPr>
              <a:t></a:t>
            </a:r>
            <a:r>
              <a:rPr lang="en-US" altLang="zh-CN" sz="2000" dirty="0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P∨Q</a:t>
            </a:r>
            <a:r>
              <a:rPr lang="zh-CN" altLang="en-US" sz="2000" dirty="0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；</a:t>
            </a:r>
            <a:r>
              <a:rPr lang="en-US" altLang="zh-CN" sz="2000" dirty="0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  <a:cs typeface="Times New Roman" panose="02020603050405020304" pitchFamily="18" charset="0"/>
              </a:rPr>
              <a:t>P</a:t>
            </a:r>
            <a:r>
              <a:rPr lang="zh-CN" altLang="en-US" sz="2000" dirty="0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  <a:sym typeface="Symbol" panose="05050102010706020507" pitchFamily="18" charset="2"/>
              </a:rPr>
              <a:t></a:t>
            </a:r>
            <a:r>
              <a:rPr lang="en-US" altLang="zh-CN" sz="2000" dirty="0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  <a:cs typeface="Times New Roman" panose="02020603050405020304" pitchFamily="18" charset="0"/>
              </a:rPr>
              <a:t>Q =</a:t>
            </a:r>
            <a:r>
              <a:rPr lang="zh-CN" altLang="en-US" sz="2000" dirty="0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  <a:cs typeface="Times New Roman" panose="02020603050405020304" pitchFamily="18" charset="0"/>
              </a:rPr>
              <a:t>（</a:t>
            </a:r>
            <a:r>
              <a:rPr lang="en-US" altLang="zh-CN" sz="2000" dirty="0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  <a:cs typeface="Times New Roman" panose="02020603050405020304" pitchFamily="18" charset="0"/>
              </a:rPr>
              <a:t>P∧Q</a:t>
            </a:r>
            <a:r>
              <a:rPr lang="zh-CN" altLang="en-US" sz="2000" dirty="0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  <a:cs typeface="Times New Roman" panose="02020603050405020304" pitchFamily="18" charset="0"/>
              </a:rPr>
              <a:t>）∨（</a:t>
            </a:r>
            <a:r>
              <a:rPr lang="zh-CN" altLang="en-US" sz="2000" dirty="0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  <a:sym typeface="Symbol" panose="05050102010706020507" pitchFamily="18" charset="2"/>
              </a:rPr>
              <a:t></a:t>
            </a:r>
            <a:r>
              <a:rPr lang="en-US" altLang="zh-CN" sz="2000" dirty="0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  <a:cs typeface="Times New Roman" panose="02020603050405020304" pitchFamily="18" charset="0"/>
              </a:rPr>
              <a:t>P∧</a:t>
            </a:r>
            <a:r>
              <a:rPr lang="en-US" altLang="zh-CN" sz="2000" dirty="0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  <a:sym typeface="Symbol" panose="05050102010706020507" pitchFamily="18" charset="2"/>
              </a:rPr>
              <a:t></a:t>
            </a:r>
            <a:r>
              <a:rPr lang="en-US" altLang="zh-CN" sz="2000" dirty="0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  <a:cs typeface="Times New Roman" panose="02020603050405020304" pitchFamily="18" charset="0"/>
              </a:rPr>
              <a:t>Q</a:t>
            </a:r>
            <a:r>
              <a:rPr lang="zh-CN" altLang="en-US" sz="2000" dirty="0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  <a:cs typeface="Times New Roman" panose="02020603050405020304" pitchFamily="18" charset="0"/>
              </a:rPr>
              <a:t>）</a:t>
            </a:r>
            <a:r>
              <a:rPr lang="zh-CN" altLang="en-US" sz="200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等价关系消去蕴含符“</a:t>
            </a:r>
            <a:r>
              <a:rPr lang="zh-CN" altLang="en-US" sz="2000" dirty="0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→</a:t>
            </a:r>
            <a:r>
              <a:rPr lang="zh-CN" altLang="en-US" sz="200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”和双条件符“</a:t>
            </a:r>
            <a:r>
              <a:rPr lang="zh-CN" altLang="en-US" sz="2000" dirty="0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  <a:sym typeface="Symbol" panose="05050102010706020507" pitchFamily="18" charset="2"/>
              </a:rPr>
              <a:t></a:t>
            </a:r>
            <a:r>
              <a:rPr lang="zh-CN" altLang="en-US" sz="200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”</a:t>
            </a:r>
          </a:p>
          <a:p>
            <a:pPr algn="just">
              <a:lnSpc>
                <a:spcPct val="114000"/>
              </a:lnSpc>
              <a:spcBef>
                <a:spcPct val="0"/>
              </a:spcBef>
              <a:buNone/>
            </a:pPr>
            <a:r>
              <a:rPr lang="zh-CN" altLang="en-US" sz="200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  </a:t>
            </a:r>
            <a:r>
              <a:rPr lang="en-US" altLang="zh-CN" sz="200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(2)</a:t>
            </a:r>
            <a:r>
              <a:rPr lang="zh-CN" altLang="en-US" sz="2000" b="1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  <a:cs typeface="Times New Roman" panose="02020603050405020304" pitchFamily="18" charset="0"/>
              </a:rPr>
              <a:t>否定内移</a:t>
            </a:r>
            <a:r>
              <a:rPr lang="zh-CN" altLang="en-US" sz="200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  <a:cs typeface="Times New Roman" panose="02020603050405020304" pitchFamily="18" charset="0"/>
              </a:rPr>
              <a:t>：</a:t>
            </a:r>
            <a:r>
              <a:rPr lang="zh-CN" altLang="en-US" sz="200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利用</a:t>
            </a:r>
            <a:r>
              <a:rPr lang="zh-CN" altLang="en-US" sz="2000" dirty="0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  <a:sym typeface="Symbol" panose="05050102010706020507" pitchFamily="18" charset="2"/>
              </a:rPr>
              <a:t></a:t>
            </a:r>
            <a:r>
              <a:rPr lang="en-US" altLang="zh-CN" sz="2000" dirty="0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P = P</a:t>
            </a:r>
            <a:r>
              <a:rPr lang="zh-CN" altLang="en-US" sz="2000" dirty="0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；</a:t>
            </a:r>
            <a:r>
              <a:rPr lang="zh-CN" altLang="en-US" sz="2000" dirty="0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  <a:sym typeface="Symbol" panose="05050102010706020507" pitchFamily="18" charset="2"/>
              </a:rPr>
              <a:t></a:t>
            </a:r>
            <a:r>
              <a:rPr lang="zh-CN" altLang="en-US" sz="2000" dirty="0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（</a:t>
            </a:r>
            <a:r>
              <a:rPr lang="en-US" altLang="zh-CN" sz="2000" dirty="0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P∨Q</a:t>
            </a:r>
            <a:r>
              <a:rPr lang="zh-CN" altLang="en-US" sz="2000" dirty="0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）</a:t>
            </a:r>
            <a:r>
              <a:rPr lang="en-US" altLang="zh-CN" sz="2000" dirty="0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= </a:t>
            </a:r>
            <a:r>
              <a:rPr lang="en-US" altLang="zh-CN" sz="2000" dirty="0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  <a:sym typeface="Symbol" panose="05050102010706020507" pitchFamily="18" charset="2"/>
              </a:rPr>
              <a:t></a:t>
            </a:r>
            <a:r>
              <a:rPr lang="en-US" altLang="zh-CN" sz="2000" dirty="0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P∧</a:t>
            </a:r>
            <a:r>
              <a:rPr lang="en-US" altLang="zh-CN" sz="2000" dirty="0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  <a:sym typeface="Symbol" panose="05050102010706020507" pitchFamily="18" charset="2"/>
              </a:rPr>
              <a:t></a:t>
            </a:r>
            <a:r>
              <a:rPr lang="en-US" altLang="zh-CN" sz="2000" dirty="0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 Q</a:t>
            </a:r>
            <a:r>
              <a:rPr lang="zh-CN" altLang="en-US" sz="2000" dirty="0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；</a:t>
            </a:r>
            <a:r>
              <a:rPr lang="zh-CN" altLang="en-US" sz="2000" dirty="0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  <a:sym typeface="Symbol" panose="05050102010706020507" pitchFamily="18" charset="2"/>
              </a:rPr>
              <a:t></a:t>
            </a:r>
            <a:r>
              <a:rPr lang="zh-CN" altLang="en-US" sz="2000" dirty="0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（</a:t>
            </a:r>
            <a:r>
              <a:rPr lang="en-US" altLang="zh-CN" sz="2000" dirty="0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P∧Q</a:t>
            </a:r>
            <a:r>
              <a:rPr lang="zh-CN" altLang="en-US" sz="2000" dirty="0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）</a:t>
            </a:r>
            <a:r>
              <a:rPr lang="en-US" altLang="zh-CN" sz="2000" dirty="0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= </a:t>
            </a:r>
            <a:r>
              <a:rPr lang="en-US" altLang="zh-CN" sz="2000" dirty="0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  <a:sym typeface="Symbol" panose="05050102010706020507" pitchFamily="18" charset="2"/>
              </a:rPr>
              <a:t></a:t>
            </a:r>
            <a:r>
              <a:rPr lang="en-US" altLang="zh-CN" sz="2000" dirty="0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P∨</a:t>
            </a:r>
            <a:r>
              <a:rPr lang="en-US" altLang="zh-CN" sz="2000" dirty="0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  <a:sym typeface="Symbol" panose="05050102010706020507" pitchFamily="18" charset="2"/>
              </a:rPr>
              <a:t></a:t>
            </a:r>
            <a:r>
              <a:rPr lang="en-US" altLang="zh-CN" sz="2000" dirty="0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 Q</a:t>
            </a:r>
            <a:r>
              <a:rPr lang="zh-CN" altLang="en-US" sz="2000" dirty="0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；</a:t>
            </a:r>
            <a:r>
              <a:rPr lang="zh-CN" altLang="en-US" sz="2000" dirty="0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  <a:sym typeface="Symbol" panose="05050102010706020507" pitchFamily="18" charset="2"/>
              </a:rPr>
              <a:t></a:t>
            </a:r>
            <a:r>
              <a:rPr lang="en-US" altLang="zh-CN" sz="2000" dirty="0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(</a:t>
            </a:r>
            <a:r>
              <a:rPr lang="en-US" altLang="zh-CN" sz="2000" dirty="0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  <a:sym typeface="Symbol" pitchFamily="18" charset="2"/>
              </a:rPr>
              <a:t></a:t>
            </a:r>
            <a:r>
              <a:rPr lang="en-US" altLang="zh-CN" sz="2000" dirty="0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x)P = (</a:t>
            </a:r>
            <a:r>
              <a:rPr lang="en-US" altLang="zh-CN" sz="2000" dirty="0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  <a:sym typeface="Symbol" pitchFamily="18" charset="2"/>
              </a:rPr>
              <a:t></a:t>
            </a:r>
            <a:r>
              <a:rPr lang="en-US" altLang="zh-CN" sz="2000" dirty="0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x)(</a:t>
            </a:r>
            <a:r>
              <a:rPr lang="en-US" altLang="zh-CN" sz="2000" dirty="0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  <a:sym typeface="Symbol" panose="05050102010706020507" pitchFamily="18" charset="2"/>
              </a:rPr>
              <a:t></a:t>
            </a:r>
            <a:r>
              <a:rPr lang="en-US" altLang="zh-CN" sz="2000" dirty="0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P)</a:t>
            </a:r>
            <a:r>
              <a:rPr lang="zh-CN" altLang="en-US" sz="2000" dirty="0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；</a:t>
            </a:r>
            <a:r>
              <a:rPr lang="zh-CN" altLang="en-US" sz="2000" dirty="0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  <a:sym typeface="Symbol" panose="05050102010706020507" pitchFamily="18" charset="2"/>
              </a:rPr>
              <a:t></a:t>
            </a:r>
            <a:r>
              <a:rPr lang="en-US" altLang="zh-CN" sz="2000" dirty="0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(</a:t>
            </a:r>
            <a:r>
              <a:rPr lang="en-US" altLang="zh-CN" sz="2000" dirty="0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  <a:sym typeface="Symbol" pitchFamily="18" charset="2"/>
              </a:rPr>
              <a:t></a:t>
            </a:r>
            <a:r>
              <a:rPr lang="en-US" altLang="zh-CN" sz="2000" dirty="0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x)P = (</a:t>
            </a:r>
            <a:r>
              <a:rPr lang="en-US" altLang="zh-CN" sz="2000" dirty="0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  <a:sym typeface="Symbol" pitchFamily="18" charset="2"/>
              </a:rPr>
              <a:t></a:t>
            </a:r>
            <a:r>
              <a:rPr lang="en-US" altLang="zh-CN" sz="2000" dirty="0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x)(</a:t>
            </a:r>
            <a:r>
              <a:rPr lang="en-US" altLang="zh-CN" sz="2000" dirty="0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  <a:sym typeface="Symbol" panose="05050102010706020507" pitchFamily="18" charset="2"/>
              </a:rPr>
              <a:t></a:t>
            </a:r>
            <a:r>
              <a:rPr lang="en-US" altLang="zh-CN" sz="2000" dirty="0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P)</a:t>
            </a:r>
            <a:r>
              <a:rPr lang="zh-CN" altLang="en-US" sz="200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等价关系把否定符号“</a:t>
            </a:r>
            <a:r>
              <a:rPr lang="zh-CN" altLang="en-US" sz="2000" dirty="0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  <a:sym typeface="Symbol" panose="05050102010706020507" pitchFamily="18" charset="2"/>
              </a:rPr>
              <a:t></a:t>
            </a:r>
            <a:r>
              <a:rPr lang="zh-CN" altLang="en-US" sz="200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”移到紧靠谓词位置上</a:t>
            </a:r>
            <a:endParaRPr lang="en-US" altLang="zh-CN" sz="2000" dirty="0">
              <a:solidFill>
                <a:srgbClr val="000000"/>
              </a:solidFill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pPr algn="just">
              <a:lnSpc>
                <a:spcPct val="114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00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  (3)</a:t>
            </a:r>
            <a:r>
              <a:rPr lang="zh-CN" altLang="en-US" sz="2000" b="1" dirty="0">
                <a:latin typeface="SimSun" panose="02010600030101010101" pitchFamily="2" charset="-122"/>
                <a:ea typeface="SimSun" panose="02010600030101010101" pitchFamily="2" charset="-122"/>
              </a:rPr>
              <a:t>变量标准化</a:t>
            </a:r>
            <a:r>
              <a:rPr lang="zh-CN" altLang="en-US" sz="200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：利用</a:t>
            </a:r>
            <a:r>
              <a:rPr lang="en-US" altLang="zh-CN" sz="2000" dirty="0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(</a:t>
            </a:r>
            <a:r>
              <a:rPr lang="en-US" altLang="zh-CN" sz="2000" dirty="0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  <a:sym typeface="Symbol" pitchFamily="18" charset="2"/>
              </a:rPr>
              <a:t></a:t>
            </a:r>
            <a:r>
              <a:rPr lang="en-US" altLang="zh-CN" sz="2000" dirty="0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x)P</a:t>
            </a:r>
            <a:r>
              <a:rPr lang="zh-CN" altLang="en-US" sz="2000" dirty="0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（</a:t>
            </a:r>
            <a:r>
              <a:rPr lang="en-US" altLang="zh-CN" sz="2000" dirty="0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x</a:t>
            </a:r>
            <a:r>
              <a:rPr lang="zh-CN" altLang="en-US" sz="2000" dirty="0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）</a:t>
            </a:r>
            <a:r>
              <a:rPr lang="en-US" altLang="zh-CN" sz="2000" dirty="0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= (</a:t>
            </a:r>
            <a:r>
              <a:rPr lang="en-US" altLang="zh-CN" sz="2000" dirty="0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  <a:sym typeface="Symbol" pitchFamily="18" charset="2"/>
              </a:rPr>
              <a:t></a:t>
            </a:r>
            <a:r>
              <a:rPr lang="en-US" altLang="zh-CN" sz="2000" dirty="0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y)P</a:t>
            </a:r>
            <a:r>
              <a:rPr lang="zh-CN" altLang="en-US" sz="2000" dirty="0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（</a:t>
            </a:r>
            <a:r>
              <a:rPr lang="en-US" altLang="zh-CN" sz="2000" dirty="0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y</a:t>
            </a:r>
            <a:r>
              <a:rPr lang="zh-CN" altLang="en-US" sz="2000" dirty="0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）；</a:t>
            </a:r>
            <a:r>
              <a:rPr lang="en-US" altLang="zh-CN" sz="2000" dirty="0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(</a:t>
            </a:r>
            <a:r>
              <a:rPr lang="en-US" altLang="zh-CN" sz="2000" dirty="0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  <a:sym typeface="Symbol" pitchFamily="18" charset="2"/>
              </a:rPr>
              <a:t></a:t>
            </a:r>
            <a:r>
              <a:rPr lang="en-US" altLang="zh-CN" sz="2000" dirty="0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x)P</a:t>
            </a:r>
            <a:r>
              <a:rPr lang="zh-CN" altLang="en-US" sz="2000" dirty="0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（</a:t>
            </a:r>
            <a:r>
              <a:rPr lang="en-US" altLang="zh-CN" sz="2000" dirty="0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x</a:t>
            </a:r>
            <a:r>
              <a:rPr lang="zh-CN" altLang="en-US" sz="2000" dirty="0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）</a:t>
            </a:r>
            <a:r>
              <a:rPr lang="en-US" altLang="zh-CN" sz="2000" dirty="0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= (</a:t>
            </a:r>
            <a:r>
              <a:rPr lang="en-US" altLang="zh-CN" sz="2000" dirty="0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  <a:sym typeface="Symbol" pitchFamily="18" charset="2"/>
              </a:rPr>
              <a:t></a:t>
            </a:r>
            <a:r>
              <a:rPr lang="en-US" altLang="zh-CN" sz="2000" dirty="0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y)P</a:t>
            </a:r>
            <a:r>
              <a:rPr lang="zh-CN" altLang="en-US" sz="2000" dirty="0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（</a:t>
            </a:r>
            <a:r>
              <a:rPr lang="en-US" altLang="zh-CN" sz="2000" dirty="0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y</a:t>
            </a:r>
            <a:r>
              <a:rPr lang="zh-CN" altLang="en-US" sz="2000" dirty="0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）</a:t>
            </a:r>
            <a:r>
              <a:rPr lang="zh-CN" altLang="en-US" sz="200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等价关系将</a:t>
            </a:r>
            <a:r>
              <a:rPr lang="zh-CN" altLang="en-US" sz="2000" dirty="0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变量标准化</a:t>
            </a:r>
            <a:r>
              <a:rPr lang="zh-CN" altLang="en-US" sz="200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，即使每个量词采用不同的变量</a:t>
            </a:r>
          </a:p>
          <a:p>
            <a:pPr algn="just">
              <a:lnSpc>
                <a:spcPct val="114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zh-CN" altLang="en-US" sz="2600" dirty="0">
                <a:solidFill>
                  <a:srgbClr val="000000"/>
                </a:solidFill>
                <a:latin typeface="宋体" panose="02010600030101010101" pitchFamily="2" charset="-122"/>
              </a:rPr>
              <a:t> </a:t>
            </a:r>
            <a:endParaRPr lang="zh-CN" altLang="en-US" sz="2600" dirty="0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15F21842-9FC0-6044-74A1-916006E10303}"/>
              </a:ext>
            </a:extLst>
          </p:cNvPr>
          <p:cNvSpPr txBox="1">
            <a:spLocks/>
          </p:cNvSpPr>
          <p:nvPr/>
        </p:nvSpPr>
        <p:spPr>
          <a:xfrm>
            <a:off x="376188" y="46830"/>
            <a:ext cx="704489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zh-CN" altLang="en-US" sz="3200" dirty="0">
                <a:solidFill>
                  <a:srgbClr val="FF0000"/>
                </a:solidFill>
                <a:latin typeface=".AppleSystemUIFont"/>
              </a:rPr>
              <a:t>归结原理及</a:t>
            </a:r>
            <a:r>
              <a:rPr lang="zh-CN" altLang="en-US" sz="3200" dirty="0">
                <a:solidFill>
                  <a:srgbClr val="FF0000"/>
                </a:solidFill>
              </a:rPr>
              <a:t>应用</a:t>
            </a:r>
            <a:r>
              <a:rPr lang="en-US" altLang="zh-CN" sz="3200" dirty="0">
                <a:solidFill>
                  <a:srgbClr val="FF0000"/>
                </a:solidFill>
              </a:rPr>
              <a:t>-</a:t>
            </a:r>
            <a:r>
              <a:rPr lang="zh-CN" altLang="en-US" sz="2000" dirty="0">
                <a:solidFill>
                  <a:srgbClr val="FF0000"/>
                </a:solidFill>
              </a:rPr>
              <a:t>一阶逻辑化为子句 </a:t>
            </a:r>
          </a:p>
        </p:txBody>
      </p:sp>
    </p:spTree>
    <p:extLst>
      <p:ext uri="{BB962C8B-B14F-4D97-AF65-F5344CB8AC3E}">
        <p14:creationId xmlns:p14="http://schemas.microsoft.com/office/powerpoint/2010/main" val="61641782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5949E4E-1BF9-4897-880B-1D4B68E139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90099" y="1730375"/>
            <a:ext cx="8557059" cy="5127625"/>
          </a:xfrm>
        </p:spPr>
        <p:txBody>
          <a:bodyPr/>
          <a:lstStyle/>
          <a:p>
            <a:pPr marL="0" indent="0">
              <a:buNone/>
              <a:defRPr/>
            </a:pPr>
            <a:r>
              <a:rPr lang="zh-CN" altLang="en-US" sz="200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将一阶逻辑公式化为子句集的</a:t>
            </a:r>
            <a:r>
              <a:rPr lang="zh-CN" altLang="en-US" sz="2000" dirty="0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步骤</a:t>
            </a:r>
            <a:r>
              <a:rPr lang="zh-CN" altLang="en-US" sz="200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：</a:t>
            </a:r>
          </a:p>
          <a:p>
            <a:pPr algn="just">
              <a:lnSpc>
                <a:spcPct val="150000"/>
              </a:lnSpc>
              <a:spcBef>
                <a:spcPts val="600"/>
              </a:spcBef>
              <a:buNone/>
              <a:defRPr/>
            </a:pPr>
            <a:r>
              <a:rPr lang="en-US" altLang="zh-CN" sz="200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(4)</a:t>
            </a:r>
            <a:r>
              <a:rPr lang="en-US" altLang="zh-CN" sz="200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  <a:cs typeface="Times New Roman" pitchFamily="18" charset="0"/>
              </a:rPr>
              <a:t>  </a:t>
            </a:r>
            <a:r>
              <a:rPr lang="zh-CN" altLang="en-US" sz="2000" b="1" dirty="0">
                <a:latin typeface="SimSun" panose="02010600030101010101" pitchFamily="2" charset="-122"/>
                <a:ea typeface="SimSun" panose="02010600030101010101" pitchFamily="2" charset="-122"/>
              </a:rPr>
              <a:t>消去存在量词</a:t>
            </a:r>
            <a:r>
              <a:rPr lang="en-US" altLang="zh-CN" sz="200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∃</a:t>
            </a:r>
            <a:r>
              <a:rPr lang="zh-CN" altLang="en-US" sz="2000" b="1" dirty="0">
                <a:latin typeface="SimSun" panose="02010600030101010101" pitchFamily="2" charset="-122"/>
                <a:ea typeface="SimSun" panose="02010600030101010101" pitchFamily="2" charset="-122"/>
              </a:rPr>
              <a:t>：</a:t>
            </a:r>
            <a:endParaRPr lang="en-US" altLang="zh-CN" sz="2000" b="1" dirty="0"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pPr algn="just">
              <a:lnSpc>
                <a:spcPct val="125000"/>
              </a:lnSpc>
              <a:spcBef>
                <a:spcPts val="0"/>
              </a:spcBef>
              <a:buNone/>
              <a:defRPr/>
            </a:pPr>
            <a:r>
              <a:rPr lang="en-US" altLang="zh-CN" sz="200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	   </a:t>
            </a:r>
            <a:r>
              <a:rPr lang="zh-CN" altLang="en-US" sz="200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如果存在量词不在任何一个全称量词的辖域内，则该存在量词不依赖于任何其它的变量，因此可用一个新的个体</a:t>
            </a:r>
            <a:r>
              <a:rPr lang="zh-CN" altLang="en-US" sz="2000" dirty="0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常量代替</a:t>
            </a:r>
            <a:r>
              <a:rPr lang="zh-CN" altLang="en-US" sz="200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  如将</a:t>
            </a:r>
            <a:r>
              <a:rPr lang="en-US" altLang="zh-CN" sz="200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(</a:t>
            </a:r>
            <a:r>
              <a:rPr lang="en-US" altLang="zh-CN" sz="200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  <a:sym typeface="Symbol" pitchFamily="18" charset="2"/>
              </a:rPr>
              <a:t></a:t>
            </a:r>
            <a:r>
              <a:rPr lang="en-US" altLang="zh-CN" sz="200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x)P</a:t>
            </a:r>
            <a:r>
              <a:rPr lang="zh-CN" altLang="en-US" sz="200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（</a:t>
            </a:r>
            <a:r>
              <a:rPr lang="en-US" altLang="zh-CN" sz="200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x</a:t>
            </a:r>
            <a:r>
              <a:rPr lang="zh-CN" altLang="en-US" sz="200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）化为</a:t>
            </a:r>
            <a:r>
              <a:rPr lang="en-US" altLang="zh-CN" sz="200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P(A)</a:t>
            </a:r>
          </a:p>
          <a:p>
            <a:pPr algn="just">
              <a:lnSpc>
                <a:spcPct val="125000"/>
              </a:lnSpc>
              <a:spcBef>
                <a:spcPts val="0"/>
              </a:spcBef>
              <a:buNone/>
              <a:defRPr/>
            </a:pPr>
            <a:r>
              <a:rPr lang="en-US" altLang="zh-CN" sz="200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    </a:t>
            </a:r>
            <a:r>
              <a:rPr lang="zh-CN" altLang="en-US" sz="200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如果存在量词是在全称量词的辖域内（如在公式</a:t>
            </a:r>
            <a:r>
              <a:rPr lang="en-US" altLang="zh-CN" sz="200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(</a:t>
            </a:r>
            <a:r>
              <a:rPr lang="en-US" altLang="zh-CN" sz="200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  <a:sym typeface="Symbol" pitchFamily="18" charset="2"/>
              </a:rPr>
              <a:t></a:t>
            </a:r>
            <a:r>
              <a:rPr lang="en-US" altLang="zh-CN" sz="200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y)</a:t>
            </a:r>
            <a:r>
              <a:rPr lang="zh-CN" altLang="en-US" sz="200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（</a:t>
            </a:r>
            <a:r>
              <a:rPr lang="en-US" altLang="zh-CN" sz="200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(</a:t>
            </a:r>
            <a:r>
              <a:rPr lang="en-US" altLang="zh-CN" sz="200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  <a:sym typeface="Symbol" pitchFamily="18" charset="2"/>
              </a:rPr>
              <a:t></a:t>
            </a:r>
            <a:r>
              <a:rPr lang="en-US" altLang="zh-CN" sz="200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x)P</a:t>
            </a:r>
            <a:r>
              <a:rPr lang="zh-CN" altLang="en-US" sz="200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（</a:t>
            </a:r>
            <a:r>
              <a:rPr lang="en-US" altLang="zh-CN" sz="200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x</a:t>
            </a:r>
            <a:r>
              <a:rPr lang="zh-CN" altLang="en-US" sz="200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，</a:t>
            </a:r>
            <a:r>
              <a:rPr lang="en-US" altLang="zh-CN" sz="200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y</a:t>
            </a:r>
            <a:r>
              <a:rPr lang="zh-CN" altLang="en-US" sz="200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））中，变量</a:t>
            </a:r>
            <a:r>
              <a:rPr lang="en-US" altLang="zh-CN" sz="200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x</a:t>
            </a:r>
            <a:r>
              <a:rPr lang="zh-CN" altLang="en-US" sz="200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的取值依赖于变量</a:t>
            </a:r>
            <a:r>
              <a:rPr lang="en-US" altLang="zh-CN" sz="200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y</a:t>
            </a:r>
            <a:r>
              <a:rPr lang="zh-CN" altLang="en-US" sz="200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的取值）</a:t>
            </a:r>
          </a:p>
          <a:p>
            <a:pPr algn="just">
              <a:lnSpc>
                <a:spcPct val="125000"/>
              </a:lnSpc>
              <a:spcBef>
                <a:spcPts val="0"/>
              </a:spcBef>
              <a:buNone/>
              <a:defRPr/>
            </a:pPr>
            <a:r>
              <a:rPr lang="zh-CN" altLang="en-US" sz="2000" i="1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	   </a:t>
            </a:r>
            <a:r>
              <a:rPr lang="zh-CN" altLang="en-US" sz="200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由</a:t>
            </a:r>
            <a:r>
              <a:rPr lang="en-US" altLang="zh-CN" sz="2000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SimSun" panose="02010600030101010101" pitchFamily="2" charset="-122"/>
                <a:ea typeface="SimSun" panose="02010600030101010101" pitchFamily="2" charset="-122"/>
              </a:rPr>
              <a:t>Skolem</a:t>
            </a:r>
            <a:r>
              <a:rPr lang="zh-CN" altLang="en-US" sz="2000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SimSun" panose="02010600030101010101" pitchFamily="2" charset="-122"/>
                <a:ea typeface="SimSun" panose="02010600030101010101" pitchFamily="2" charset="-122"/>
              </a:rPr>
              <a:t>函数</a:t>
            </a:r>
            <a:r>
              <a:rPr lang="zh-CN" altLang="en-US" sz="20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SimSun" panose="02010600030101010101" pitchFamily="2" charset="-122"/>
                <a:ea typeface="SimSun" panose="02010600030101010101" pitchFamily="2" charset="-122"/>
              </a:rPr>
              <a:t>（</a:t>
            </a:r>
            <a:r>
              <a:rPr lang="en-US" altLang="zh-CN" sz="2000" b="1" dirty="0">
                <a:latin typeface="SimSun" panose="02010600030101010101" pitchFamily="2" charset="-122"/>
                <a:ea typeface="SimSun" panose="02010600030101010101" pitchFamily="2" charset="-122"/>
              </a:rPr>
              <a:t>f(y)</a:t>
            </a:r>
            <a:r>
              <a:rPr lang="zh-CN" altLang="en-US" sz="20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SimSun" panose="02010600030101010101" pitchFamily="2" charset="-122"/>
                <a:ea typeface="SimSun" panose="02010600030101010101" pitchFamily="2" charset="-122"/>
              </a:rPr>
              <a:t>）</a:t>
            </a:r>
            <a:r>
              <a:rPr lang="zh-CN" altLang="en-US" sz="200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表示依赖关系 注意，函数名应是原合式公式中没有的。</a:t>
            </a:r>
            <a:endParaRPr lang="zh-CN" altLang="en-US" sz="2000" dirty="0"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pPr>
              <a:defRPr/>
            </a:pPr>
            <a:endParaRPr lang="zh-CN" altLang="en-US" dirty="0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97443DAC-D822-7C17-E885-7D88495209D1}"/>
              </a:ext>
            </a:extLst>
          </p:cNvPr>
          <p:cNvSpPr txBox="1">
            <a:spLocks/>
          </p:cNvSpPr>
          <p:nvPr/>
        </p:nvSpPr>
        <p:spPr>
          <a:xfrm>
            <a:off x="376188" y="46830"/>
            <a:ext cx="704489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zh-CN" altLang="en-US" sz="3200" dirty="0">
                <a:solidFill>
                  <a:srgbClr val="FF0000"/>
                </a:solidFill>
                <a:latin typeface=".AppleSystemUIFont"/>
              </a:rPr>
              <a:t>归结原理及</a:t>
            </a:r>
            <a:r>
              <a:rPr lang="zh-CN" altLang="en-US" sz="3200" dirty="0">
                <a:solidFill>
                  <a:srgbClr val="FF0000"/>
                </a:solidFill>
              </a:rPr>
              <a:t>应用</a:t>
            </a:r>
            <a:r>
              <a:rPr lang="en-US" altLang="zh-CN" sz="3200" dirty="0">
                <a:solidFill>
                  <a:srgbClr val="FF0000"/>
                </a:solidFill>
              </a:rPr>
              <a:t>-</a:t>
            </a:r>
            <a:r>
              <a:rPr lang="zh-CN" altLang="en-US" sz="2000" dirty="0">
                <a:solidFill>
                  <a:srgbClr val="FF0000"/>
                </a:solidFill>
              </a:rPr>
              <a:t>一阶逻辑化为子句 </a:t>
            </a:r>
          </a:p>
        </p:txBody>
      </p:sp>
    </p:spTree>
    <p:extLst>
      <p:ext uri="{BB962C8B-B14F-4D97-AF65-F5344CB8AC3E}">
        <p14:creationId xmlns:p14="http://schemas.microsoft.com/office/powerpoint/2010/main" val="113485558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E6D9CD5-EEE5-4148-8BAA-191FCC23D3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09023" y="1372393"/>
            <a:ext cx="9219398" cy="4976265"/>
          </a:xfrm>
        </p:spPr>
        <p:txBody>
          <a:bodyPr>
            <a:normAutofit/>
          </a:bodyPr>
          <a:lstStyle/>
          <a:p>
            <a:pPr marL="0" indent="0">
              <a:buNone/>
              <a:defRPr/>
            </a:pPr>
            <a:r>
              <a:rPr lang="zh-CN" altLang="en-US" sz="200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将一阶逻辑公式化为子句集的</a:t>
            </a:r>
            <a:r>
              <a:rPr lang="zh-CN" altLang="en-US" sz="2000" dirty="0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步骤</a:t>
            </a:r>
            <a:r>
              <a:rPr lang="zh-CN" altLang="en-US" sz="200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：</a:t>
            </a:r>
            <a:endParaRPr lang="en-US" altLang="zh-CN" sz="2000" dirty="0">
              <a:solidFill>
                <a:srgbClr val="000000"/>
              </a:solidFill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pPr algn="just">
              <a:lnSpc>
                <a:spcPct val="114000"/>
              </a:lnSpc>
              <a:buFont typeface="Wingdings" pitchFamily="2" charset="2"/>
              <a:buNone/>
              <a:defRPr/>
            </a:pPr>
            <a:r>
              <a:rPr lang="en-US" altLang="zh-CN" sz="2000" b="1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(5)</a:t>
            </a:r>
            <a:r>
              <a:rPr lang="zh-CN" altLang="en-US" sz="2000" b="1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将公式化为前束形</a:t>
            </a:r>
            <a:r>
              <a:rPr lang="zh-CN" altLang="en-US" sz="200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：把所有全称量词移到公式的左边，并使每个量词的辖域包含这个量词后面的整个部分，所得的公式称为</a:t>
            </a:r>
            <a:r>
              <a:rPr lang="zh-CN" altLang="en-US" sz="2000" dirty="0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前束形</a:t>
            </a:r>
          </a:p>
          <a:p>
            <a:pPr algn="just">
              <a:lnSpc>
                <a:spcPct val="114000"/>
              </a:lnSpc>
              <a:buFont typeface="Wingdings" pitchFamily="2" charset="2"/>
              <a:buNone/>
              <a:defRPr/>
            </a:pPr>
            <a:r>
              <a:rPr lang="en-US" altLang="zh-CN" sz="2000" b="1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(6)</a:t>
            </a:r>
            <a:r>
              <a:rPr lang="zh-CN" altLang="en-US" sz="2000" b="1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化为合取范式</a:t>
            </a:r>
            <a:r>
              <a:rPr lang="en-US" altLang="zh-CN" sz="200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:</a:t>
            </a:r>
            <a:r>
              <a:rPr lang="zh-CN" altLang="en-US" sz="200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利用</a:t>
            </a:r>
            <a:r>
              <a:rPr lang="en-US" altLang="zh-CN" sz="200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P∨</a:t>
            </a:r>
            <a:r>
              <a:rPr lang="zh-CN" altLang="en-US" sz="200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（</a:t>
            </a:r>
            <a:r>
              <a:rPr lang="en-US" altLang="zh-CN" sz="200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Q∧R</a:t>
            </a:r>
            <a:r>
              <a:rPr lang="zh-CN" altLang="en-US" sz="200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）</a:t>
            </a:r>
            <a:r>
              <a:rPr lang="en-US" altLang="zh-CN" sz="200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=</a:t>
            </a:r>
            <a:r>
              <a:rPr lang="zh-CN" altLang="en-US" sz="200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（</a:t>
            </a:r>
            <a:r>
              <a:rPr lang="en-US" altLang="zh-CN" sz="200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P∨Q</a:t>
            </a:r>
            <a:r>
              <a:rPr lang="zh-CN" altLang="en-US" sz="200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）∧（</a:t>
            </a:r>
            <a:r>
              <a:rPr lang="en-US" altLang="zh-CN" sz="200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P∨R</a:t>
            </a:r>
            <a:r>
              <a:rPr lang="zh-CN" altLang="en-US" sz="200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）；</a:t>
            </a:r>
            <a:endParaRPr lang="en-US" altLang="zh-CN" sz="2000" dirty="0">
              <a:solidFill>
                <a:srgbClr val="000000"/>
              </a:solidFill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pPr algn="just">
              <a:lnSpc>
                <a:spcPct val="114000"/>
              </a:lnSpc>
              <a:buFont typeface="Wingdings" pitchFamily="2" charset="2"/>
              <a:buNone/>
              <a:defRPr/>
            </a:pPr>
            <a:r>
              <a:rPr lang="zh-CN" altLang="en-US" sz="200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（</a:t>
            </a:r>
            <a:r>
              <a:rPr lang="en-US" altLang="zh-CN" sz="200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P∧Q</a:t>
            </a:r>
            <a:r>
              <a:rPr lang="zh-CN" altLang="en-US" sz="200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）∨（</a:t>
            </a:r>
            <a:r>
              <a:rPr lang="en-US" altLang="zh-CN" sz="200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P∧R</a:t>
            </a:r>
            <a:r>
              <a:rPr lang="zh-CN" altLang="en-US" sz="200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）</a:t>
            </a:r>
            <a:r>
              <a:rPr lang="en-US" altLang="zh-CN" sz="200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= P∧</a:t>
            </a:r>
            <a:r>
              <a:rPr lang="zh-CN" altLang="en-US" sz="200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（</a:t>
            </a:r>
            <a:r>
              <a:rPr lang="en-US" altLang="zh-CN" sz="200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Q∨R</a:t>
            </a:r>
            <a:r>
              <a:rPr lang="zh-CN" altLang="en-US" sz="200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）等价关系将母式化为合取范式（</a:t>
            </a:r>
            <a:r>
              <a:rPr lang="zh-CN" altLang="en-US" sz="2000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SimSun" panose="02010600030101010101" pitchFamily="2" charset="-122"/>
                <a:ea typeface="SimSun" panose="02010600030101010101" pitchFamily="2" charset="-122"/>
              </a:rPr>
              <a:t>子句的合取式</a:t>
            </a:r>
            <a:r>
              <a:rPr lang="zh-CN" altLang="en-US" sz="200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）</a:t>
            </a:r>
          </a:p>
          <a:p>
            <a:pPr algn="just">
              <a:lnSpc>
                <a:spcPct val="114000"/>
              </a:lnSpc>
              <a:buFont typeface="Wingdings" pitchFamily="2" charset="2"/>
              <a:buNone/>
              <a:defRPr/>
            </a:pPr>
            <a:r>
              <a:rPr lang="en-US" altLang="zh-CN" sz="2000" b="1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(7)</a:t>
            </a:r>
            <a:r>
              <a:rPr lang="zh-CN" altLang="en-US" sz="2000" b="1" dirty="0">
                <a:latin typeface="SimSun" panose="02010600030101010101" pitchFamily="2" charset="-122"/>
                <a:ea typeface="SimSun" panose="02010600030101010101" pitchFamily="2" charset="-122"/>
              </a:rPr>
              <a:t>略去全称量词</a:t>
            </a:r>
            <a:r>
              <a:rPr lang="zh-CN" altLang="en-US" sz="200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：母式中的变量都是全称量词量化的变量</a:t>
            </a:r>
          </a:p>
          <a:p>
            <a:pPr algn="just">
              <a:lnSpc>
                <a:spcPct val="114000"/>
              </a:lnSpc>
              <a:buFont typeface="Wingdings" pitchFamily="2" charset="2"/>
              <a:buNone/>
              <a:defRPr/>
            </a:pPr>
            <a:r>
              <a:rPr lang="en-US" altLang="zh-CN" sz="2000" b="1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(8)</a:t>
            </a:r>
            <a:r>
              <a:rPr lang="zh-CN" altLang="en-US" sz="2000" b="1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消去合取符号∧</a:t>
            </a:r>
            <a:r>
              <a:rPr lang="zh-CN" altLang="en-US" sz="200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，把母式用</a:t>
            </a:r>
            <a:r>
              <a:rPr lang="zh-CN" altLang="en-US" sz="2000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SimSun" panose="02010600030101010101" pitchFamily="2" charset="-122"/>
                <a:ea typeface="SimSun" panose="02010600030101010101" pitchFamily="2" charset="-122"/>
              </a:rPr>
              <a:t>子句集</a:t>
            </a:r>
            <a:r>
              <a:rPr lang="zh-CN" altLang="en-US" sz="200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表示</a:t>
            </a:r>
            <a:endParaRPr lang="en-US" altLang="zh-CN" sz="2000" dirty="0">
              <a:solidFill>
                <a:srgbClr val="000000"/>
              </a:solidFill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pPr algn="just">
              <a:lnSpc>
                <a:spcPct val="114000"/>
              </a:lnSpc>
              <a:buFont typeface="Wingdings" pitchFamily="2" charset="2"/>
              <a:buNone/>
              <a:defRPr/>
            </a:pPr>
            <a:r>
              <a:rPr lang="en-US" altLang="zh-CN" sz="2000" i="1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      </a:t>
            </a:r>
            <a:r>
              <a:rPr lang="zh-CN" altLang="en-US" sz="2000" i="1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如：</a:t>
            </a:r>
            <a:r>
              <a:rPr lang="en-US" altLang="zh-CN" sz="2000" i="1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P∧Q</a:t>
            </a:r>
            <a:r>
              <a:rPr lang="zh-CN" altLang="en-US" sz="2000" i="1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可表示为成子句集： </a:t>
            </a:r>
            <a:r>
              <a:rPr lang="en-US" altLang="zh-CN" sz="2000" i="1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P  Q</a:t>
            </a:r>
          </a:p>
          <a:p>
            <a:pPr algn="just">
              <a:lnSpc>
                <a:spcPct val="114000"/>
              </a:lnSpc>
              <a:buFont typeface="Wingdings" pitchFamily="2" charset="2"/>
              <a:buNone/>
              <a:defRPr/>
            </a:pPr>
            <a:r>
              <a:rPr lang="en-US" altLang="zh-CN" sz="2000" b="1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(9)</a:t>
            </a:r>
            <a:r>
              <a:rPr lang="zh-CN" altLang="en-US" sz="2000" b="1" dirty="0">
                <a:latin typeface="SimSun" panose="02010600030101010101" pitchFamily="2" charset="-122"/>
                <a:ea typeface="SimSun" panose="02010600030101010101" pitchFamily="2" charset="-122"/>
                <a:cs typeface="Times New Roman" pitchFamily="18" charset="0"/>
              </a:rPr>
              <a:t>子句变量标准化</a:t>
            </a:r>
            <a:r>
              <a:rPr lang="zh-CN" altLang="en-US" sz="200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  <a:cs typeface="Times New Roman" pitchFamily="18" charset="0"/>
              </a:rPr>
              <a:t>：重新命名变量，使每个子句中的变量符号不同</a:t>
            </a:r>
          </a:p>
          <a:p>
            <a:pPr marL="0" indent="0">
              <a:buNone/>
              <a:defRPr/>
            </a:pPr>
            <a:endParaRPr lang="zh-CN" altLang="en-US" dirty="0">
              <a:solidFill>
                <a:srgbClr val="000000"/>
              </a:solidFill>
              <a:latin typeface="宋体" pitchFamily="2" charset="-122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085E2AC4-CDA1-BC1C-F79D-E7384695C2ED}"/>
              </a:ext>
            </a:extLst>
          </p:cNvPr>
          <p:cNvSpPr txBox="1">
            <a:spLocks/>
          </p:cNvSpPr>
          <p:nvPr/>
        </p:nvSpPr>
        <p:spPr>
          <a:xfrm>
            <a:off x="376188" y="46830"/>
            <a:ext cx="704489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zh-CN" altLang="en-US" sz="3200" dirty="0">
                <a:solidFill>
                  <a:srgbClr val="FF0000"/>
                </a:solidFill>
                <a:latin typeface=".AppleSystemUIFont"/>
              </a:rPr>
              <a:t>归结原理及</a:t>
            </a:r>
            <a:r>
              <a:rPr lang="zh-CN" altLang="en-US" sz="3200" dirty="0">
                <a:solidFill>
                  <a:srgbClr val="FF0000"/>
                </a:solidFill>
              </a:rPr>
              <a:t>应用</a:t>
            </a:r>
            <a:r>
              <a:rPr lang="en-US" altLang="zh-CN" sz="3200" dirty="0">
                <a:solidFill>
                  <a:srgbClr val="FF0000"/>
                </a:solidFill>
              </a:rPr>
              <a:t>-</a:t>
            </a:r>
            <a:r>
              <a:rPr lang="zh-CN" altLang="en-US" sz="2000" dirty="0">
                <a:solidFill>
                  <a:srgbClr val="FF0000"/>
                </a:solidFill>
              </a:rPr>
              <a:t>一阶逻辑化为子句 </a:t>
            </a:r>
          </a:p>
        </p:txBody>
      </p:sp>
    </p:spTree>
    <p:extLst>
      <p:ext uri="{BB962C8B-B14F-4D97-AF65-F5344CB8AC3E}">
        <p14:creationId xmlns:p14="http://schemas.microsoft.com/office/powerpoint/2010/main" val="60664287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7" name="内容占位符 2"/>
          <p:cNvSpPr>
            <a:spLocks noGrp="1" noChangeArrowheads="1"/>
          </p:cNvSpPr>
          <p:nvPr>
            <p:ph idx="1"/>
          </p:nvPr>
        </p:nvSpPr>
        <p:spPr>
          <a:xfrm>
            <a:off x="952702" y="1377999"/>
            <a:ext cx="8435975" cy="631825"/>
          </a:xfrm>
        </p:spPr>
        <p:txBody>
          <a:bodyPr/>
          <a:lstStyle/>
          <a:p>
            <a:pPr marL="0" indent="0">
              <a:buNone/>
            </a:pPr>
            <a:r>
              <a:rPr lang="zh-CN" altLang="en-US" sz="2400" dirty="0"/>
              <a:t>讲下列</a:t>
            </a:r>
            <a:r>
              <a:rPr lang="zh-CN" altLang="en-US" sz="2400" dirty="0">
                <a:latin typeface="Arial" panose="020B0604020202020204" pitchFamily="34" charset="0"/>
              </a:rPr>
              <a:t>一阶逻辑表示化为子句：</a:t>
            </a:r>
            <a:endParaRPr lang="en-US" altLang="zh-CN" sz="2400" dirty="0">
              <a:latin typeface="Arial" panose="020B0604020202020204" pitchFamily="34" charset="0"/>
            </a:endParaRPr>
          </a:p>
          <a:p>
            <a:pPr marL="0" indent="0">
              <a:buNone/>
            </a:pPr>
            <a:endParaRPr lang="zh-CN" alt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FE745F2-CD70-44AC-BE24-947AA620F56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72994" y="2342143"/>
            <a:ext cx="9630812" cy="34715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>
              <a:lnSpc>
                <a:spcPct val="114000"/>
              </a:lnSpc>
              <a:buFont typeface="Wingdings" pitchFamily="2" charset="2"/>
              <a:buNone/>
              <a:defRPr/>
            </a:pPr>
            <a:r>
              <a:rPr lang="en-US" altLang="zh-CN" sz="2000" kern="0" dirty="0">
                <a:solidFill>
                  <a:srgbClr val="FF0000"/>
                </a:solidFill>
                <a:latin typeface="宋体" pitchFamily="2" charset="-122"/>
              </a:rPr>
              <a:t>【</a:t>
            </a:r>
            <a:r>
              <a:rPr lang="zh-CN" altLang="en-US" sz="2000" kern="0" dirty="0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例</a:t>
            </a:r>
            <a:r>
              <a:rPr lang="en-US" altLang="zh-CN" sz="2000" kern="0" dirty="0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】</a:t>
            </a:r>
            <a:r>
              <a:rPr lang="zh-CN" altLang="en-US" sz="2000" kern="0" dirty="0">
                <a:latin typeface="SimSun" panose="02010600030101010101" pitchFamily="2" charset="-122"/>
                <a:ea typeface="SimSun" panose="02010600030101010101" pitchFamily="2" charset="-122"/>
              </a:rPr>
              <a:t>将</a:t>
            </a:r>
            <a:r>
              <a:rPr lang="en-US" altLang="zh-CN" sz="2000" kern="0" dirty="0">
                <a:latin typeface="SimSun" panose="02010600030101010101" pitchFamily="2" charset="-122"/>
                <a:ea typeface="SimSun" panose="02010600030101010101" pitchFamily="2" charset="-122"/>
              </a:rPr>
              <a:t>(</a:t>
            </a:r>
            <a:r>
              <a:rPr lang="en-US" altLang="zh-CN" sz="200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  <a:sym typeface="Symbol" pitchFamily="18" charset="2"/>
              </a:rPr>
              <a:t></a:t>
            </a:r>
            <a:r>
              <a:rPr lang="en-US" altLang="zh-CN" sz="2000" kern="0" dirty="0">
                <a:latin typeface="SimSun" panose="02010600030101010101" pitchFamily="2" charset="-122"/>
                <a:ea typeface="SimSun" panose="02010600030101010101" pitchFamily="2" charset="-122"/>
              </a:rPr>
              <a:t>x){[</a:t>
            </a:r>
            <a:r>
              <a:rPr lang="en-US" altLang="zh-CN" sz="2000" kern="0" dirty="0">
                <a:latin typeface="SimSun" panose="02010600030101010101" pitchFamily="2" charset="-122"/>
                <a:ea typeface="SimSun" panose="02010600030101010101" pitchFamily="2" charset="-122"/>
                <a:sym typeface="Symbol" pitchFamily="18" charset="2"/>
              </a:rPr>
              <a:t></a:t>
            </a:r>
            <a:r>
              <a:rPr lang="en-US" altLang="zh-CN" sz="2000" kern="0" dirty="0">
                <a:latin typeface="SimSun" panose="02010600030101010101" pitchFamily="2" charset="-122"/>
                <a:ea typeface="SimSun" panose="02010600030101010101" pitchFamily="2" charset="-122"/>
              </a:rPr>
              <a:t>P(x)∨</a:t>
            </a:r>
            <a:r>
              <a:rPr lang="en-US" altLang="zh-CN" sz="2000" kern="0" dirty="0">
                <a:latin typeface="SimSun" panose="02010600030101010101" pitchFamily="2" charset="-122"/>
                <a:ea typeface="SimSun" panose="02010600030101010101" pitchFamily="2" charset="-122"/>
                <a:sym typeface="Symbol" pitchFamily="18" charset="2"/>
              </a:rPr>
              <a:t></a:t>
            </a:r>
            <a:r>
              <a:rPr lang="en-US" altLang="zh-CN" sz="2000" kern="0" dirty="0">
                <a:latin typeface="SimSun" panose="02010600030101010101" pitchFamily="2" charset="-122"/>
                <a:ea typeface="SimSun" panose="02010600030101010101" pitchFamily="2" charset="-122"/>
              </a:rPr>
              <a:t>Q(x)]</a:t>
            </a:r>
            <a:r>
              <a:rPr lang="en-US" altLang="zh-CN" sz="2000" kern="0" dirty="0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→</a:t>
            </a:r>
            <a:r>
              <a:rPr lang="en-US" altLang="zh-CN" sz="2000" kern="0" dirty="0">
                <a:latin typeface="SimSun" panose="02010600030101010101" pitchFamily="2" charset="-122"/>
                <a:ea typeface="SimSun" panose="02010600030101010101" pitchFamily="2" charset="-122"/>
              </a:rPr>
              <a:t>(</a:t>
            </a:r>
            <a:r>
              <a:rPr lang="en-US" altLang="zh-CN" sz="200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  <a:sym typeface="Symbol" pitchFamily="18" charset="2"/>
              </a:rPr>
              <a:t></a:t>
            </a:r>
            <a:r>
              <a:rPr lang="en-US" altLang="zh-CN" sz="2000" kern="0" dirty="0">
                <a:latin typeface="SimSun" panose="02010600030101010101" pitchFamily="2" charset="-122"/>
                <a:ea typeface="SimSun" panose="02010600030101010101" pitchFamily="2" charset="-122"/>
              </a:rPr>
              <a:t>y)[S(</a:t>
            </a:r>
            <a:r>
              <a:rPr lang="en-US" altLang="zh-CN" sz="2000" kern="0" dirty="0" err="1">
                <a:latin typeface="SimSun" panose="02010600030101010101" pitchFamily="2" charset="-122"/>
                <a:ea typeface="SimSun" panose="02010600030101010101" pitchFamily="2" charset="-122"/>
              </a:rPr>
              <a:t>x,y</a:t>
            </a:r>
            <a:r>
              <a:rPr lang="en-US" altLang="zh-CN" sz="2000" kern="0" dirty="0">
                <a:latin typeface="SimSun" panose="02010600030101010101" pitchFamily="2" charset="-122"/>
                <a:ea typeface="SimSun" panose="02010600030101010101" pitchFamily="2" charset="-122"/>
              </a:rPr>
              <a:t>)∧Q(x)]</a:t>
            </a:r>
            <a:r>
              <a:rPr lang="en-US" altLang="zh-CN" sz="2000" kern="0" dirty="0">
                <a:latin typeface="SimSun" panose="02010600030101010101" pitchFamily="2" charset="-122"/>
                <a:ea typeface="SimSun" panose="02010600030101010101" pitchFamily="2" charset="-122"/>
                <a:cs typeface="Times New Roman"/>
              </a:rPr>
              <a:t> </a:t>
            </a:r>
            <a:r>
              <a:rPr lang="en-US" altLang="zh-CN" sz="2000" kern="0" dirty="0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  <a:cs typeface="Times New Roman"/>
              </a:rPr>
              <a:t>}</a:t>
            </a:r>
            <a:r>
              <a:rPr lang="en-US" altLang="zh-CN" sz="2000" kern="0" dirty="0">
                <a:latin typeface="SimSun" panose="02010600030101010101" pitchFamily="2" charset="-122"/>
                <a:ea typeface="SimSun" panose="02010600030101010101" pitchFamily="2" charset="-122"/>
              </a:rPr>
              <a:t>∧(</a:t>
            </a:r>
            <a:r>
              <a:rPr lang="en-US" altLang="zh-CN" sz="200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  <a:sym typeface="Symbol" pitchFamily="18" charset="2"/>
              </a:rPr>
              <a:t></a:t>
            </a:r>
            <a:r>
              <a:rPr lang="en-US" altLang="zh-CN" sz="2000" kern="0" dirty="0">
                <a:latin typeface="SimSun" panose="02010600030101010101" pitchFamily="2" charset="-122"/>
                <a:ea typeface="SimSun" panose="02010600030101010101" pitchFamily="2" charset="-122"/>
              </a:rPr>
              <a:t>x)[P(x)∨B(x)]</a:t>
            </a:r>
            <a:r>
              <a:rPr lang="en-US" altLang="zh-CN" sz="2000" kern="0" dirty="0">
                <a:latin typeface="SimSun" panose="02010600030101010101" pitchFamily="2" charset="-122"/>
                <a:ea typeface="SimSun" panose="02010600030101010101" pitchFamily="2" charset="-122"/>
                <a:cs typeface="Times New Roman"/>
              </a:rPr>
              <a:t> </a:t>
            </a:r>
            <a:r>
              <a:rPr lang="zh-CN" altLang="en-US" sz="2000" kern="0" dirty="0">
                <a:latin typeface="SimSun" panose="02010600030101010101" pitchFamily="2" charset="-122"/>
                <a:ea typeface="SimSun" panose="02010600030101010101" pitchFamily="2" charset="-122"/>
              </a:rPr>
              <a:t>化成子句集 </a:t>
            </a:r>
          </a:p>
          <a:p>
            <a:pPr algn="just">
              <a:lnSpc>
                <a:spcPct val="114000"/>
              </a:lnSpc>
              <a:buFont typeface="Wingdings" pitchFamily="2" charset="2"/>
              <a:buNone/>
              <a:defRPr/>
            </a:pPr>
            <a:r>
              <a:rPr lang="zh-CN" altLang="en-US" sz="2000" kern="0" dirty="0">
                <a:latin typeface="SimSun" panose="02010600030101010101" pitchFamily="2" charset="-122"/>
                <a:ea typeface="SimSun" panose="02010600030101010101" pitchFamily="2" charset="-122"/>
              </a:rPr>
              <a:t>转换过程遵照上述</a:t>
            </a:r>
            <a:r>
              <a:rPr lang="en-US" altLang="zh-CN" sz="2000" kern="0" dirty="0">
                <a:latin typeface="SimSun" panose="02010600030101010101" pitchFamily="2" charset="-122"/>
                <a:ea typeface="SimSun" panose="02010600030101010101" pitchFamily="2" charset="-122"/>
              </a:rPr>
              <a:t>9</a:t>
            </a:r>
            <a:r>
              <a:rPr lang="zh-CN" altLang="en-US" sz="2000" kern="0" dirty="0">
                <a:latin typeface="SimSun" panose="02010600030101010101" pitchFamily="2" charset="-122"/>
                <a:ea typeface="SimSun" panose="02010600030101010101" pitchFamily="2" charset="-122"/>
              </a:rPr>
              <a:t>个步骤：</a:t>
            </a:r>
          </a:p>
          <a:p>
            <a:pPr>
              <a:lnSpc>
                <a:spcPct val="114000"/>
              </a:lnSpc>
              <a:buFont typeface="Wingdings" pitchFamily="2" charset="2"/>
              <a:buNone/>
              <a:defRPr/>
            </a:pPr>
            <a:r>
              <a:rPr lang="zh-CN" altLang="en-US" sz="2000" kern="0" dirty="0">
                <a:latin typeface="SimSun" panose="02010600030101010101" pitchFamily="2" charset="-122"/>
                <a:ea typeface="SimSun" panose="02010600030101010101" pitchFamily="2" charset="-122"/>
              </a:rPr>
              <a:t> </a:t>
            </a:r>
            <a:r>
              <a:rPr lang="en-US" altLang="zh-CN" sz="2000" b="1" kern="0" dirty="0">
                <a:latin typeface="SimSun" panose="02010600030101010101" pitchFamily="2" charset="-122"/>
                <a:ea typeface="SimSun" panose="02010600030101010101" pitchFamily="2" charset="-122"/>
              </a:rPr>
              <a:t>(</a:t>
            </a:r>
            <a:r>
              <a:rPr lang="en-US" altLang="zh-CN" sz="2000" dirty="0">
                <a:latin typeface="SimSun" panose="02010600030101010101" pitchFamily="2" charset="-122"/>
                <a:ea typeface="SimSun" panose="02010600030101010101" pitchFamily="2" charset="-122"/>
              </a:rPr>
              <a:t>1)(</a:t>
            </a:r>
            <a:r>
              <a:rPr lang="en-US" altLang="zh-CN" sz="200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  <a:sym typeface="Symbol" pitchFamily="18" charset="2"/>
              </a:rPr>
              <a:t></a:t>
            </a:r>
            <a:r>
              <a:rPr lang="en-US" altLang="zh-CN" sz="2000" dirty="0">
                <a:latin typeface="SimSun" panose="02010600030101010101" pitchFamily="2" charset="-122"/>
                <a:ea typeface="SimSun" panose="02010600030101010101" pitchFamily="2" charset="-122"/>
              </a:rPr>
              <a:t>x){</a:t>
            </a:r>
            <a:r>
              <a:rPr lang="en-US" altLang="zh-CN" sz="2000" dirty="0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  <a:sym typeface="Symbol" pitchFamily="18" charset="2"/>
              </a:rPr>
              <a:t></a:t>
            </a:r>
            <a:r>
              <a:rPr lang="en-US" altLang="zh-CN" sz="2000" dirty="0">
                <a:latin typeface="SimSun" panose="02010600030101010101" pitchFamily="2" charset="-122"/>
                <a:ea typeface="SimSun" panose="02010600030101010101" pitchFamily="2" charset="-122"/>
              </a:rPr>
              <a:t>[</a:t>
            </a:r>
            <a:r>
              <a:rPr lang="en-US" altLang="zh-CN" sz="2000" dirty="0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  <a:sym typeface="Symbol" pitchFamily="18" charset="2"/>
              </a:rPr>
              <a:t></a:t>
            </a:r>
            <a:r>
              <a:rPr lang="en-US" altLang="zh-CN" sz="2000" dirty="0">
                <a:latin typeface="SimSun" panose="02010600030101010101" pitchFamily="2" charset="-122"/>
                <a:ea typeface="SimSun" panose="02010600030101010101" pitchFamily="2" charset="-122"/>
              </a:rPr>
              <a:t>P</a:t>
            </a:r>
            <a:r>
              <a:rPr lang="zh-CN" altLang="en-US" sz="2000" dirty="0">
                <a:latin typeface="SimSun" panose="02010600030101010101" pitchFamily="2" charset="-122"/>
                <a:ea typeface="SimSun" panose="02010600030101010101" pitchFamily="2" charset="-122"/>
              </a:rPr>
              <a:t>（</a:t>
            </a:r>
            <a:r>
              <a:rPr lang="en-US" altLang="zh-CN" sz="2000" dirty="0">
                <a:latin typeface="SimSun" panose="02010600030101010101" pitchFamily="2" charset="-122"/>
                <a:ea typeface="SimSun" panose="02010600030101010101" pitchFamily="2" charset="-122"/>
              </a:rPr>
              <a:t>x</a:t>
            </a:r>
            <a:r>
              <a:rPr lang="zh-CN" altLang="en-US" sz="2000" dirty="0">
                <a:latin typeface="SimSun" panose="02010600030101010101" pitchFamily="2" charset="-122"/>
                <a:ea typeface="SimSun" panose="02010600030101010101" pitchFamily="2" charset="-122"/>
              </a:rPr>
              <a:t>）∨</a:t>
            </a:r>
            <a:r>
              <a:rPr lang="zh-CN" altLang="en-US" sz="2000" dirty="0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  <a:sym typeface="Symbol" pitchFamily="18" charset="2"/>
              </a:rPr>
              <a:t></a:t>
            </a:r>
            <a:r>
              <a:rPr lang="en-US" altLang="zh-CN" sz="2000" dirty="0">
                <a:latin typeface="SimSun" panose="02010600030101010101" pitchFamily="2" charset="-122"/>
                <a:ea typeface="SimSun" panose="02010600030101010101" pitchFamily="2" charset="-122"/>
              </a:rPr>
              <a:t>Q(x)]∨(</a:t>
            </a:r>
            <a:r>
              <a:rPr lang="en-US" altLang="zh-CN" sz="200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  <a:sym typeface="Symbol" pitchFamily="18" charset="2"/>
              </a:rPr>
              <a:t></a:t>
            </a:r>
            <a:r>
              <a:rPr lang="en-US" altLang="zh-CN" sz="2000" dirty="0">
                <a:latin typeface="SimSun" panose="02010600030101010101" pitchFamily="2" charset="-122"/>
                <a:ea typeface="SimSun" panose="02010600030101010101" pitchFamily="2" charset="-122"/>
              </a:rPr>
              <a:t>y)[S(x</a:t>
            </a:r>
            <a:r>
              <a:rPr lang="zh-CN" altLang="en-US" sz="2000" dirty="0">
                <a:latin typeface="SimSun" panose="02010600030101010101" pitchFamily="2" charset="-122"/>
                <a:ea typeface="SimSun" panose="02010600030101010101" pitchFamily="2" charset="-122"/>
              </a:rPr>
              <a:t>，</a:t>
            </a:r>
            <a:r>
              <a:rPr lang="en-US" altLang="zh-CN" sz="2000" dirty="0">
                <a:latin typeface="SimSun" panose="02010600030101010101" pitchFamily="2" charset="-122"/>
                <a:ea typeface="SimSun" panose="02010600030101010101" pitchFamily="2" charset="-122"/>
              </a:rPr>
              <a:t>y)∧Q(x)]}∧(</a:t>
            </a:r>
            <a:r>
              <a:rPr lang="en-US" altLang="zh-CN" sz="200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  <a:sym typeface="Symbol" pitchFamily="18" charset="2"/>
              </a:rPr>
              <a:t></a:t>
            </a:r>
            <a:r>
              <a:rPr lang="en-US" altLang="zh-CN" sz="2000" dirty="0">
                <a:latin typeface="SimSun" panose="02010600030101010101" pitchFamily="2" charset="-122"/>
                <a:ea typeface="SimSun" panose="02010600030101010101" pitchFamily="2" charset="-122"/>
              </a:rPr>
              <a:t>x)[P</a:t>
            </a:r>
            <a:r>
              <a:rPr lang="zh-CN" altLang="en-US" sz="2000" dirty="0">
                <a:latin typeface="SimSun" panose="02010600030101010101" pitchFamily="2" charset="-122"/>
                <a:ea typeface="SimSun" panose="02010600030101010101" pitchFamily="2" charset="-122"/>
              </a:rPr>
              <a:t>（</a:t>
            </a:r>
            <a:r>
              <a:rPr lang="en-US" altLang="zh-CN" sz="2000" dirty="0">
                <a:latin typeface="SimSun" panose="02010600030101010101" pitchFamily="2" charset="-122"/>
                <a:ea typeface="SimSun" panose="02010600030101010101" pitchFamily="2" charset="-122"/>
              </a:rPr>
              <a:t>x</a:t>
            </a:r>
            <a:r>
              <a:rPr lang="zh-CN" altLang="en-US" sz="2000" dirty="0">
                <a:latin typeface="SimSun" panose="02010600030101010101" pitchFamily="2" charset="-122"/>
                <a:ea typeface="SimSun" panose="02010600030101010101" pitchFamily="2" charset="-122"/>
              </a:rPr>
              <a:t>）∨</a:t>
            </a:r>
            <a:r>
              <a:rPr lang="en-US" altLang="zh-CN" sz="2000" dirty="0">
                <a:latin typeface="SimSun" panose="02010600030101010101" pitchFamily="2" charset="-122"/>
                <a:ea typeface="SimSun" panose="02010600030101010101" pitchFamily="2" charset="-122"/>
              </a:rPr>
              <a:t>B</a:t>
            </a:r>
            <a:r>
              <a:rPr lang="zh-CN" altLang="en-US" sz="2000" dirty="0">
                <a:latin typeface="SimSun" panose="02010600030101010101" pitchFamily="2" charset="-122"/>
                <a:ea typeface="SimSun" panose="02010600030101010101" pitchFamily="2" charset="-122"/>
              </a:rPr>
              <a:t>（</a:t>
            </a:r>
            <a:r>
              <a:rPr lang="en-US" altLang="zh-CN" sz="2000" dirty="0">
                <a:latin typeface="SimSun" panose="02010600030101010101" pitchFamily="2" charset="-122"/>
                <a:ea typeface="SimSun" panose="02010600030101010101" pitchFamily="2" charset="-122"/>
              </a:rPr>
              <a:t>x</a:t>
            </a:r>
            <a:r>
              <a:rPr lang="zh-CN" altLang="en-US" sz="2000" dirty="0">
                <a:latin typeface="SimSun" panose="02010600030101010101" pitchFamily="2" charset="-122"/>
                <a:ea typeface="SimSun" panose="02010600030101010101" pitchFamily="2" charset="-122"/>
              </a:rPr>
              <a:t>）</a:t>
            </a:r>
            <a:r>
              <a:rPr lang="en-US" altLang="zh-CN" sz="2000" dirty="0">
                <a:latin typeface="SimSun" panose="02010600030101010101" pitchFamily="2" charset="-122"/>
                <a:ea typeface="SimSun" panose="02010600030101010101" pitchFamily="2" charset="-122"/>
              </a:rPr>
              <a:t>]</a:t>
            </a:r>
          </a:p>
          <a:p>
            <a:pPr>
              <a:lnSpc>
                <a:spcPct val="114000"/>
              </a:lnSpc>
              <a:buFont typeface="Wingdings" pitchFamily="2" charset="2"/>
              <a:buNone/>
              <a:defRPr/>
            </a:pPr>
            <a:r>
              <a:rPr lang="en-US" altLang="zh-CN" sz="2000" dirty="0">
                <a:latin typeface="SimSun" panose="02010600030101010101" pitchFamily="2" charset="-122"/>
                <a:ea typeface="SimSun" panose="02010600030101010101" pitchFamily="2" charset="-122"/>
              </a:rPr>
              <a:t> (2)(</a:t>
            </a:r>
            <a:r>
              <a:rPr lang="en-US" altLang="zh-CN" sz="200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  <a:sym typeface="Symbol" pitchFamily="18" charset="2"/>
              </a:rPr>
              <a:t></a:t>
            </a:r>
            <a:r>
              <a:rPr lang="en-US" altLang="zh-CN" sz="2000" dirty="0">
                <a:latin typeface="SimSun" panose="02010600030101010101" pitchFamily="2" charset="-122"/>
                <a:ea typeface="SimSun" panose="02010600030101010101" pitchFamily="2" charset="-122"/>
              </a:rPr>
              <a:t>x){[P</a:t>
            </a:r>
            <a:r>
              <a:rPr lang="zh-CN" altLang="en-US" sz="2000" dirty="0">
                <a:latin typeface="SimSun" panose="02010600030101010101" pitchFamily="2" charset="-122"/>
                <a:ea typeface="SimSun" panose="02010600030101010101" pitchFamily="2" charset="-122"/>
              </a:rPr>
              <a:t>（</a:t>
            </a:r>
            <a:r>
              <a:rPr lang="en-US" altLang="zh-CN" sz="2000" dirty="0">
                <a:latin typeface="SimSun" panose="02010600030101010101" pitchFamily="2" charset="-122"/>
                <a:ea typeface="SimSun" panose="02010600030101010101" pitchFamily="2" charset="-122"/>
              </a:rPr>
              <a:t>x</a:t>
            </a:r>
            <a:r>
              <a:rPr lang="zh-CN" altLang="en-US" sz="2000" dirty="0">
                <a:latin typeface="SimSun" panose="02010600030101010101" pitchFamily="2" charset="-122"/>
                <a:ea typeface="SimSun" panose="02010600030101010101" pitchFamily="2" charset="-122"/>
              </a:rPr>
              <a:t>）∧</a:t>
            </a:r>
            <a:r>
              <a:rPr lang="en-US" altLang="zh-CN" sz="2000" dirty="0">
                <a:latin typeface="SimSun" panose="02010600030101010101" pitchFamily="2" charset="-122"/>
                <a:ea typeface="SimSun" panose="02010600030101010101" pitchFamily="2" charset="-122"/>
              </a:rPr>
              <a:t>Q(x)]∨(</a:t>
            </a:r>
            <a:r>
              <a:rPr lang="en-US" altLang="zh-CN" sz="200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  <a:sym typeface="Symbol" pitchFamily="18" charset="2"/>
              </a:rPr>
              <a:t></a:t>
            </a:r>
            <a:r>
              <a:rPr lang="en-US" altLang="zh-CN" sz="2000" dirty="0">
                <a:latin typeface="SimSun" panose="02010600030101010101" pitchFamily="2" charset="-122"/>
                <a:ea typeface="SimSun" panose="02010600030101010101" pitchFamily="2" charset="-122"/>
              </a:rPr>
              <a:t>y)[S(x</a:t>
            </a:r>
            <a:r>
              <a:rPr lang="zh-CN" altLang="en-US" sz="2000" dirty="0">
                <a:latin typeface="SimSun" panose="02010600030101010101" pitchFamily="2" charset="-122"/>
                <a:ea typeface="SimSun" panose="02010600030101010101" pitchFamily="2" charset="-122"/>
              </a:rPr>
              <a:t>，</a:t>
            </a:r>
            <a:r>
              <a:rPr lang="en-US" altLang="zh-CN" sz="2000" dirty="0">
                <a:latin typeface="SimSun" panose="02010600030101010101" pitchFamily="2" charset="-122"/>
                <a:ea typeface="SimSun" panose="02010600030101010101" pitchFamily="2" charset="-122"/>
              </a:rPr>
              <a:t>y)∧Q(x)]}∧(</a:t>
            </a:r>
            <a:r>
              <a:rPr lang="en-US" altLang="zh-CN" sz="200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  <a:sym typeface="Symbol" pitchFamily="18" charset="2"/>
              </a:rPr>
              <a:t></a:t>
            </a:r>
            <a:r>
              <a:rPr lang="en-US" altLang="zh-CN" sz="2000" dirty="0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x</a:t>
            </a:r>
            <a:r>
              <a:rPr lang="en-US" altLang="zh-CN" sz="2000" dirty="0">
                <a:latin typeface="SimSun" panose="02010600030101010101" pitchFamily="2" charset="-122"/>
                <a:ea typeface="SimSun" panose="02010600030101010101" pitchFamily="2" charset="-122"/>
              </a:rPr>
              <a:t>)[P</a:t>
            </a:r>
            <a:r>
              <a:rPr lang="zh-CN" altLang="en-US" sz="2000" dirty="0">
                <a:latin typeface="SimSun" panose="02010600030101010101" pitchFamily="2" charset="-122"/>
                <a:ea typeface="SimSun" panose="02010600030101010101" pitchFamily="2" charset="-122"/>
              </a:rPr>
              <a:t>（</a:t>
            </a:r>
            <a:r>
              <a:rPr lang="en-US" altLang="zh-CN" sz="2000" dirty="0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x</a:t>
            </a:r>
            <a:r>
              <a:rPr lang="zh-CN" altLang="en-US" sz="2000" dirty="0">
                <a:latin typeface="SimSun" panose="02010600030101010101" pitchFamily="2" charset="-122"/>
                <a:ea typeface="SimSun" panose="02010600030101010101" pitchFamily="2" charset="-122"/>
              </a:rPr>
              <a:t>）∨</a:t>
            </a:r>
            <a:r>
              <a:rPr lang="en-US" altLang="zh-CN" sz="2000" dirty="0">
                <a:latin typeface="SimSun" panose="02010600030101010101" pitchFamily="2" charset="-122"/>
                <a:ea typeface="SimSun" panose="02010600030101010101" pitchFamily="2" charset="-122"/>
              </a:rPr>
              <a:t>B</a:t>
            </a:r>
            <a:r>
              <a:rPr lang="zh-CN" altLang="en-US" sz="2000" dirty="0">
                <a:latin typeface="SimSun" panose="02010600030101010101" pitchFamily="2" charset="-122"/>
                <a:ea typeface="SimSun" panose="02010600030101010101" pitchFamily="2" charset="-122"/>
              </a:rPr>
              <a:t>（</a:t>
            </a:r>
            <a:r>
              <a:rPr lang="en-US" altLang="zh-CN" sz="2000" dirty="0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x</a:t>
            </a:r>
            <a:r>
              <a:rPr lang="zh-CN" altLang="en-US" sz="2000" dirty="0">
                <a:latin typeface="SimSun" panose="02010600030101010101" pitchFamily="2" charset="-122"/>
                <a:ea typeface="SimSun" panose="02010600030101010101" pitchFamily="2" charset="-122"/>
              </a:rPr>
              <a:t>）</a:t>
            </a:r>
            <a:r>
              <a:rPr lang="en-US" altLang="zh-CN" sz="2000" dirty="0">
                <a:latin typeface="SimSun" panose="02010600030101010101" pitchFamily="2" charset="-122"/>
                <a:ea typeface="SimSun" panose="02010600030101010101" pitchFamily="2" charset="-122"/>
              </a:rPr>
              <a:t>]</a:t>
            </a:r>
          </a:p>
          <a:p>
            <a:pPr>
              <a:lnSpc>
                <a:spcPct val="114000"/>
              </a:lnSpc>
              <a:buFont typeface="Wingdings" pitchFamily="2" charset="2"/>
              <a:buNone/>
              <a:defRPr/>
            </a:pPr>
            <a:r>
              <a:rPr lang="en-US" altLang="zh-CN" sz="2000" dirty="0">
                <a:latin typeface="SimSun" panose="02010600030101010101" pitchFamily="2" charset="-122"/>
                <a:ea typeface="SimSun" panose="02010600030101010101" pitchFamily="2" charset="-122"/>
              </a:rPr>
              <a:t> (3)(</a:t>
            </a:r>
            <a:r>
              <a:rPr lang="en-US" altLang="zh-CN" sz="200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  <a:sym typeface="Symbol" pitchFamily="18" charset="2"/>
              </a:rPr>
              <a:t></a:t>
            </a:r>
            <a:r>
              <a:rPr lang="en-US" altLang="zh-CN" sz="2000" dirty="0">
                <a:latin typeface="SimSun" panose="02010600030101010101" pitchFamily="2" charset="-122"/>
                <a:ea typeface="SimSun" panose="02010600030101010101" pitchFamily="2" charset="-122"/>
              </a:rPr>
              <a:t>x){[P</a:t>
            </a:r>
            <a:r>
              <a:rPr lang="zh-CN" altLang="en-US" sz="2000" dirty="0">
                <a:latin typeface="SimSun" panose="02010600030101010101" pitchFamily="2" charset="-122"/>
                <a:ea typeface="SimSun" panose="02010600030101010101" pitchFamily="2" charset="-122"/>
              </a:rPr>
              <a:t>（</a:t>
            </a:r>
            <a:r>
              <a:rPr lang="en-US" altLang="zh-CN" sz="2000" dirty="0">
                <a:latin typeface="SimSun" panose="02010600030101010101" pitchFamily="2" charset="-122"/>
                <a:ea typeface="SimSun" panose="02010600030101010101" pitchFamily="2" charset="-122"/>
              </a:rPr>
              <a:t>x</a:t>
            </a:r>
            <a:r>
              <a:rPr lang="zh-CN" altLang="en-US" sz="2000" dirty="0">
                <a:latin typeface="SimSun" panose="02010600030101010101" pitchFamily="2" charset="-122"/>
                <a:ea typeface="SimSun" panose="02010600030101010101" pitchFamily="2" charset="-122"/>
              </a:rPr>
              <a:t>）∧</a:t>
            </a:r>
            <a:r>
              <a:rPr lang="en-US" altLang="zh-CN" sz="2000" dirty="0">
                <a:latin typeface="SimSun" panose="02010600030101010101" pitchFamily="2" charset="-122"/>
                <a:ea typeface="SimSun" panose="02010600030101010101" pitchFamily="2" charset="-122"/>
              </a:rPr>
              <a:t>Q(x)]∨</a:t>
            </a:r>
            <a:r>
              <a:rPr lang="en-US" altLang="zh-CN" sz="2000" dirty="0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(</a:t>
            </a:r>
            <a:r>
              <a:rPr lang="en-US" altLang="zh-CN" sz="2000" dirty="0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  <a:sym typeface="Symbol" pitchFamily="18" charset="2"/>
              </a:rPr>
              <a:t></a:t>
            </a:r>
            <a:r>
              <a:rPr lang="en-US" altLang="zh-CN" sz="2000" dirty="0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y)</a:t>
            </a:r>
            <a:r>
              <a:rPr lang="en-US" altLang="zh-CN" sz="2000" dirty="0">
                <a:latin typeface="SimSun" panose="02010600030101010101" pitchFamily="2" charset="-122"/>
                <a:ea typeface="SimSun" panose="02010600030101010101" pitchFamily="2" charset="-122"/>
              </a:rPr>
              <a:t>[S(x</a:t>
            </a:r>
            <a:r>
              <a:rPr lang="zh-CN" altLang="en-US" sz="2000" dirty="0">
                <a:latin typeface="SimSun" panose="02010600030101010101" pitchFamily="2" charset="-122"/>
                <a:ea typeface="SimSun" panose="02010600030101010101" pitchFamily="2" charset="-122"/>
              </a:rPr>
              <a:t>，</a:t>
            </a:r>
            <a:r>
              <a:rPr lang="en-US" altLang="zh-CN" sz="2000" dirty="0">
                <a:latin typeface="SimSun" panose="02010600030101010101" pitchFamily="2" charset="-122"/>
                <a:ea typeface="SimSun" panose="02010600030101010101" pitchFamily="2" charset="-122"/>
              </a:rPr>
              <a:t>y)∧Q(x)]}∧(</a:t>
            </a:r>
            <a:r>
              <a:rPr lang="en-US" altLang="zh-CN" sz="200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  <a:sym typeface="Symbol" pitchFamily="18" charset="2"/>
              </a:rPr>
              <a:t></a:t>
            </a:r>
            <a:r>
              <a:rPr lang="en-US" altLang="zh-CN" sz="2000" dirty="0">
                <a:latin typeface="SimSun" panose="02010600030101010101" pitchFamily="2" charset="-122"/>
                <a:ea typeface="SimSun" panose="02010600030101010101" pitchFamily="2" charset="-122"/>
              </a:rPr>
              <a:t>w)[P</a:t>
            </a:r>
            <a:r>
              <a:rPr lang="zh-CN" altLang="en-US" sz="2000" dirty="0">
                <a:latin typeface="SimSun" panose="02010600030101010101" pitchFamily="2" charset="-122"/>
                <a:ea typeface="SimSun" panose="02010600030101010101" pitchFamily="2" charset="-122"/>
              </a:rPr>
              <a:t>（</a:t>
            </a:r>
            <a:r>
              <a:rPr lang="en-US" altLang="zh-CN" sz="2000" dirty="0">
                <a:latin typeface="SimSun" panose="02010600030101010101" pitchFamily="2" charset="-122"/>
                <a:ea typeface="SimSun" panose="02010600030101010101" pitchFamily="2" charset="-122"/>
              </a:rPr>
              <a:t>w</a:t>
            </a:r>
            <a:r>
              <a:rPr lang="zh-CN" altLang="en-US" sz="2000" dirty="0">
                <a:latin typeface="SimSun" panose="02010600030101010101" pitchFamily="2" charset="-122"/>
                <a:ea typeface="SimSun" panose="02010600030101010101" pitchFamily="2" charset="-122"/>
              </a:rPr>
              <a:t>）∨</a:t>
            </a:r>
            <a:r>
              <a:rPr lang="en-US" altLang="zh-CN" sz="2000" dirty="0">
                <a:latin typeface="SimSun" panose="02010600030101010101" pitchFamily="2" charset="-122"/>
                <a:ea typeface="SimSun" panose="02010600030101010101" pitchFamily="2" charset="-122"/>
              </a:rPr>
              <a:t>B</a:t>
            </a:r>
            <a:r>
              <a:rPr lang="zh-CN" altLang="en-US" sz="2000" dirty="0">
                <a:latin typeface="SimSun" panose="02010600030101010101" pitchFamily="2" charset="-122"/>
                <a:ea typeface="SimSun" panose="02010600030101010101" pitchFamily="2" charset="-122"/>
              </a:rPr>
              <a:t>（</a:t>
            </a:r>
            <a:r>
              <a:rPr lang="en-US" altLang="zh-CN" sz="2000" dirty="0">
                <a:latin typeface="SimSun" panose="02010600030101010101" pitchFamily="2" charset="-122"/>
                <a:ea typeface="SimSun" panose="02010600030101010101" pitchFamily="2" charset="-122"/>
              </a:rPr>
              <a:t>w</a:t>
            </a:r>
            <a:r>
              <a:rPr lang="zh-CN" altLang="en-US" sz="2000" dirty="0">
                <a:latin typeface="SimSun" panose="02010600030101010101" pitchFamily="2" charset="-122"/>
                <a:ea typeface="SimSun" panose="02010600030101010101" pitchFamily="2" charset="-122"/>
              </a:rPr>
              <a:t>）</a:t>
            </a:r>
            <a:r>
              <a:rPr lang="en-US" altLang="zh-CN" sz="2000" dirty="0">
                <a:latin typeface="SimSun" panose="02010600030101010101" pitchFamily="2" charset="-122"/>
                <a:ea typeface="SimSun" panose="02010600030101010101" pitchFamily="2" charset="-122"/>
              </a:rPr>
              <a:t>]</a:t>
            </a:r>
          </a:p>
          <a:p>
            <a:pPr>
              <a:lnSpc>
                <a:spcPct val="114000"/>
              </a:lnSpc>
              <a:buFont typeface="Wingdings" pitchFamily="2" charset="2"/>
              <a:buNone/>
              <a:defRPr/>
            </a:pPr>
            <a:r>
              <a:rPr lang="en-US" altLang="zh-CN" sz="2000" dirty="0">
                <a:latin typeface="SimSun" panose="02010600030101010101" pitchFamily="2" charset="-122"/>
                <a:ea typeface="SimSun" panose="02010600030101010101" pitchFamily="2" charset="-122"/>
              </a:rPr>
              <a:t> (4)(</a:t>
            </a:r>
            <a:r>
              <a:rPr lang="en-US" altLang="zh-CN" sz="200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  <a:sym typeface="Symbol" pitchFamily="18" charset="2"/>
              </a:rPr>
              <a:t></a:t>
            </a:r>
            <a:r>
              <a:rPr lang="en-US" altLang="zh-CN" sz="2000" dirty="0">
                <a:latin typeface="SimSun" panose="02010600030101010101" pitchFamily="2" charset="-122"/>
                <a:ea typeface="SimSun" panose="02010600030101010101" pitchFamily="2" charset="-122"/>
              </a:rPr>
              <a:t>x){[P</a:t>
            </a:r>
            <a:r>
              <a:rPr lang="zh-CN" altLang="en-US" sz="2000" dirty="0">
                <a:latin typeface="SimSun" panose="02010600030101010101" pitchFamily="2" charset="-122"/>
                <a:ea typeface="SimSun" panose="02010600030101010101" pitchFamily="2" charset="-122"/>
              </a:rPr>
              <a:t>（</a:t>
            </a:r>
            <a:r>
              <a:rPr lang="en-US" altLang="zh-CN" sz="2000" dirty="0">
                <a:latin typeface="SimSun" panose="02010600030101010101" pitchFamily="2" charset="-122"/>
                <a:ea typeface="SimSun" panose="02010600030101010101" pitchFamily="2" charset="-122"/>
              </a:rPr>
              <a:t>x</a:t>
            </a:r>
            <a:r>
              <a:rPr lang="zh-CN" altLang="en-US" sz="2000" dirty="0">
                <a:latin typeface="SimSun" panose="02010600030101010101" pitchFamily="2" charset="-122"/>
                <a:ea typeface="SimSun" panose="02010600030101010101" pitchFamily="2" charset="-122"/>
              </a:rPr>
              <a:t>）∧</a:t>
            </a:r>
            <a:r>
              <a:rPr lang="en-US" altLang="zh-CN" sz="2000" dirty="0">
                <a:latin typeface="SimSun" panose="02010600030101010101" pitchFamily="2" charset="-122"/>
                <a:ea typeface="SimSun" panose="02010600030101010101" pitchFamily="2" charset="-122"/>
              </a:rPr>
              <a:t>Q(x )]∨[S(x</a:t>
            </a:r>
            <a:r>
              <a:rPr lang="zh-CN" altLang="en-US" sz="2000" dirty="0">
                <a:latin typeface="SimSun" panose="02010600030101010101" pitchFamily="2" charset="-122"/>
                <a:ea typeface="SimSun" panose="02010600030101010101" pitchFamily="2" charset="-122"/>
              </a:rPr>
              <a:t>，</a:t>
            </a:r>
            <a:r>
              <a:rPr lang="en-US" altLang="zh-CN" sz="2000" dirty="0">
                <a:latin typeface="SimSun" panose="02010600030101010101" pitchFamily="2" charset="-122"/>
                <a:ea typeface="SimSun" panose="02010600030101010101" pitchFamily="2" charset="-122"/>
              </a:rPr>
              <a:t>f (x) ) ∧Q(x ) ]}∧</a:t>
            </a:r>
            <a:r>
              <a:rPr lang="en-US" altLang="zh-CN" sz="2000" dirty="0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(</a:t>
            </a:r>
            <a:r>
              <a:rPr lang="en-US" altLang="zh-CN" sz="2000" dirty="0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  <a:sym typeface="Symbol" pitchFamily="18" charset="2"/>
              </a:rPr>
              <a:t></a:t>
            </a:r>
            <a:r>
              <a:rPr lang="en-US" altLang="zh-CN" sz="2000" dirty="0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w)</a:t>
            </a:r>
            <a:r>
              <a:rPr lang="en-US" altLang="zh-CN" sz="2000" dirty="0">
                <a:latin typeface="SimSun" panose="02010600030101010101" pitchFamily="2" charset="-122"/>
                <a:ea typeface="SimSun" panose="02010600030101010101" pitchFamily="2" charset="-122"/>
              </a:rPr>
              <a:t>[ P</a:t>
            </a:r>
            <a:r>
              <a:rPr lang="zh-CN" altLang="en-US" sz="2000" dirty="0">
                <a:latin typeface="SimSun" panose="02010600030101010101" pitchFamily="2" charset="-122"/>
                <a:ea typeface="SimSun" panose="02010600030101010101" pitchFamily="2" charset="-122"/>
              </a:rPr>
              <a:t>（</a:t>
            </a:r>
            <a:r>
              <a:rPr lang="en-US" altLang="zh-CN" sz="2000" dirty="0">
                <a:latin typeface="SimSun" panose="02010600030101010101" pitchFamily="2" charset="-122"/>
                <a:ea typeface="SimSun" panose="02010600030101010101" pitchFamily="2" charset="-122"/>
              </a:rPr>
              <a:t>w</a:t>
            </a:r>
            <a:r>
              <a:rPr lang="zh-CN" altLang="en-US" sz="2000" dirty="0">
                <a:latin typeface="SimSun" panose="02010600030101010101" pitchFamily="2" charset="-122"/>
                <a:ea typeface="SimSun" panose="02010600030101010101" pitchFamily="2" charset="-122"/>
              </a:rPr>
              <a:t>）∨</a:t>
            </a:r>
            <a:r>
              <a:rPr lang="en-US" altLang="zh-CN" sz="2000" dirty="0">
                <a:latin typeface="SimSun" panose="02010600030101010101" pitchFamily="2" charset="-122"/>
                <a:ea typeface="SimSun" panose="02010600030101010101" pitchFamily="2" charset="-122"/>
              </a:rPr>
              <a:t>B</a:t>
            </a:r>
            <a:r>
              <a:rPr lang="zh-CN" altLang="en-US" sz="2000" dirty="0">
                <a:latin typeface="SimSun" panose="02010600030101010101" pitchFamily="2" charset="-122"/>
                <a:ea typeface="SimSun" panose="02010600030101010101" pitchFamily="2" charset="-122"/>
              </a:rPr>
              <a:t>（</a:t>
            </a:r>
            <a:r>
              <a:rPr lang="en-US" altLang="zh-CN" sz="2000" dirty="0">
                <a:latin typeface="SimSun" panose="02010600030101010101" pitchFamily="2" charset="-122"/>
                <a:ea typeface="SimSun" panose="02010600030101010101" pitchFamily="2" charset="-122"/>
              </a:rPr>
              <a:t>w</a:t>
            </a:r>
            <a:r>
              <a:rPr lang="zh-CN" altLang="en-US" sz="2000" dirty="0">
                <a:latin typeface="SimSun" panose="02010600030101010101" pitchFamily="2" charset="-122"/>
                <a:ea typeface="SimSun" panose="02010600030101010101" pitchFamily="2" charset="-122"/>
              </a:rPr>
              <a:t>）</a:t>
            </a:r>
            <a:r>
              <a:rPr lang="en-US" altLang="zh-CN" sz="2000" dirty="0">
                <a:latin typeface="SimSun" panose="02010600030101010101" pitchFamily="2" charset="-122"/>
                <a:ea typeface="SimSun" panose="02010600030101010101" pitchFamily="2" charset="-122"/>
              </a:rPr>
              <a:t>]</a:t>
            </a:r>
          </a:p>
          <a:p>
            <a:pPr algn="just">
              <a:lnSpc>
                <a:spcPct val="114000"/>
              </a:lnSpc>
              <a:buFont typeface="Wingdings" pitchFamily="2" charset="2"/>
              <a:buNone/>
              <a:defRPr/>
            </a:pPr>
            <a:r>
              <a:rPr lang="en-US" altLang="zh-CN" sz="2000" dirty="0">
                <a:latin typeface="SimSun" panose="02010600030101010101" pitchFamily="2" charset="-122"/>
                <a:ea typeface="SimSun" panose="02010600030101010101" pitchFamily="2" charset="-122"/>
              </a:rPr>
              <a:t>   </a:t>
            </a:r>
            <a:endParaRPr lang="zh-CN" altLang="en-US" sz="2000"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71DADB91-29A6-8212-9591-AF8F7D8FFC43}"/>
              </a:ext>
            </a:extLst>
          </p:cNvPr>
          <p:cNvSpPr txBox="1">
            <a:spLocks/>
          </p:cNvSpPr>
          <p:nvPr/>
        </p:nvSpPr>
        <p:spPr>
          <a:xfrm>
            <a:off x="376188" y="46830"/>
            <a:ext cx="704489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zh-CN" altLang="en-US" sz="3200" dirty="0">
                <a:solidFill>
                  <a:srgbClr val="FF0000"/>
                </a:solidFill>
                <a:latin typeface=".AppleSystemUIFont"/>
              </a:rPr>
              <a:t>归结原理及</a:t>
            </a:r>
            <a:r>
              <a:rPr lang="zh-CN" altLang="en-US" sz="3200" dirty="0">
                <a:solidFill>
                  <a:srgbClr val="FF0000"/>
                </a:solidFill>
              </a:rPr>
              <a:t>应用</a:t>
            </a:r>
            <a:r>
              <a:rPr lang="en-US" altLang="zh-CN" sz="3200" dirty="0">
                <a:solidFill>
                  <a:srgbClr val="FF0000"/>
                </a:solidFill>
              </a:rPr>
              <a:t>-</a:t>
            </a:r>
            <a:r>
              <a:rPr lang="zh-CN" altLang="en-US" sz="2000" dirty="0">
                <a:solidFill>
                  <a:srgbClr val="FF0000"/>
                </a:solidFill>
              </a:rPr>
              <a:t>一阶逻辑化为子句 </a:t>
            </a:r>
          </a:p>
        </p:txBody>
      </p:sp>
    </p:spTree>
    <p:extLst>
      <p:ext uri="{BB962C8B-B14F-4D97-AF65-F5344CB8AC3E}">
        <p14:creationId xmlns:p14="http://schemas.microsoft.com/office/powerpoint/2010/main" val="51727337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AA111F7-462C-4C56-A7D3-581D9E852D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13097" y="2066224"/>
            <a:ext cx="9452208" cy="3400926"/>
          </a:xfrm>
        </p:spPr>
        <p:txBody>
          <a:bodyPr>
            <a:normAutofit/>
          </a:bodyPr>
          <a:lstStyle/>
          <a:p>
            <a:pPr>
              <a:lnSpc>
                <a:spcPct val="125000"/>
              </a:lnSpc>
              <a:buFont typeface="Wingdings" pitchFamily="2" charset="2"/>
              <a:buNone/>
              <a:defRPr/>
            </a:pPr>
            <a:r>
              <a:rPr lang="en-US" altLang="zh-CN" sz="2000" b="1" dirty="0">
                <a:latin typeface="SimSun" panose="02010600030101010101" pitchFamily="2" charset="-122"/>
                <a:ea typeface="SimSun" panose="02010600030101010101" pitchFamily="2" charset="-122"/>
              </a:rPr>
              <a:t>(5)  </a:t>
            </a:r>
            <a:r>
              <a:rPr lang="en-US" altLang="zh-CN" sz="2000" dirty="0">
                <a:latin typeface="SimSun" panose="02010600030101010101" pitchFamily="2" charset="-122"/>
                <a:ea typeface="SimSun" panose="02010600030101010101" pitchFamily="2" charset="-122"/>
              </a:rPr>
              <a:t>(</a:t>
            </a:r>
            <a:r>
              <a:rPr lang="en-US" altLang="zh-CN" sz="200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  <a:sym typeface="Symbol" pitchFamily="18" charset="2"/>
              </a:rPr>
              <a:t></a:t>
            </a:r>
            <a:r>
              <a:rPr lang="en-US" altLang="zh-CN" sz="2000" dirty="0">
                <a:latin typeface="SimSun" panose="02010600030101010101" pitchFamily="2" charset="-122"/>
                <a:ea typeface="SimSun" panose="02010600030101010101" pitchFamily="2" charset="-122"/>
              </a:rPr>
              <a:t>x)(</a:t>
            </a:r>
            <a:r>
              <a:rPr lang="en-US" altLang="zh-CN" sz="200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  <a:sym typeface="Symbol" pitchFamily="18" charset="2"/>
              </a:rPr>
              <a:t></a:t>
            </a:r>
            <a:r>
              <a:rPr lang="en-US" altLang="zh-CN" sz="2000" dirty="0">
                <a:latin typeface="SimSun" panose="02010600030101010101" pitchFamily="2" charset="-122"/>
                <a:ea typeface="SimSun" panose="02010600030101010101" pitchFamily="2" charset="-122"/>
              </a:rPr>
              <a:t>w){[P</a:t>
            </a:r>
            <a:r>
              <a:rPr lang="zh-CN" altLang="en-US" sz="2000" dirty="0">
                <a:latin typeface="SimSun" panose="02010600030101010101" pitchFamily="2" charset="-122"/>
                <a:ea typeface="SimSun" panose="02010600030101010101" pitchFamily="2" charset="-122"/>
              </a:rPr>
              <a:t>（</a:t>
            </a:r>
            <a:r>
              <a:rPr lang="en-US" altLang="zh-CN" sz="2000" dirty="0">
                <a:latin typeface="SimSun" panose="02010600030101010101" pitchFamily="2" charset="-122"/>
                <a:ea typeface="SimSun" panose="02010600030101010101" pitchFamily="2" charset="-122"/>
              </a:rPr>
              <a:t>x</a:t>
            </a:r>
            <a:r>
              <a:rPr lang="zh-CN" altLang="en-US" sz="2000" dirty="0">
                <a:latin typeface="SimSun" panose="02010600030101010101" pitchFamily="2" charset="-122"/>
                <a:ea typeface="SimSun" panose="02010600030101010101" pitchFamily="2" charset="-122"/>
              </a:rPr>
              <a:t>）∧</a:t>
            </a:r>
            <a:r>
              <a:rPr lang="en-US" altLang="zh-CN" sz="2000" dirty="0">
                <a:latin typeface="SimSun" panose="02010600030101010101" pitchFamily="2" charset="-122"/>
                <a:ea typeface="SimSun" panose="02010600030101010101" pitchFamily="2" charset="-122"/>
              </a:rPr>
              <a:t>Q(x)]</a:t>
            </a:r>
            <a:r>
              <a:rPr lang="en-US" altLang="zh-CN" sz="2000" dirty="0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∨</a:t>
            </a:r>
            <a:r>
              <a:rPr lang="en-US" altLang="zh-CN" sz="2000" dirty="0">
                <a:latin typeface="SimSun" panose="02010600030101010101" pitchFamily="2" charset="-122"/>
                <a:ea typeface="SimSun" panose="02010600030101010101" pitchFamily="2" charset="-122"/>
              </a:rPr>
              <a:t>[S(x</a:t>
            </a:r>
            <a:r>
              <a:rPr lang="zh-CN" altLang="en-US" sz="2000" dirty="0">
                <a:latin typeface="SimSun" panose="02010600030101010101" pitchFamily="2" charset="-122"/>
                <a:ea typeface="SimSun" panose="02010600030101010101" pitchFamily="2" charset="-122"/>
              </a:rPr>
              <a:t>，</a:t>
            </a:r>
            <a:r>
              <a:rPr lang="en-US" altLang="zh-CN" sz="2000" dirty="0">
                <a:latin typeface="SimSun" panose="02010600030101010101" pitchFamily="2" charset="-122"/>
                <a:ea typeface="SimSun" panose="02010600030101010101" pitchFamily="2" charset="-122"/>
              </a:rPr>
              <a:t>f(x))∧Q(x)]}∧[P</a:t>
            </a:r>
            <a:r>
              <a:rPr lang="zh-CN" altLang="en-US" sz="2000" dirty="0">
                <a:latin typeface="SimSun" panose="02010600030101010101" pitchFamily="2" charset="-122"/>
                <a:ea typeface="SimSun" panose="02010600030101010101" pitchFamily="2" charset="-122"/>
              </a:rPr>
              <a:t>（</a:t>
            </a:r>
            <a:r>
              <a:rPr lang="en-US" altLang="zh-CN" sz="2000" dirty="0">
                <a:latin typeface="SimSun" panose="02010600030101010101" pitchFamily="2" charset="-122"/>
                <a:ea typeface="SimSun" panose="02010600030101010101" pitchFamily="2" charset="-122"/>
              </a:rPr>
              <a:t>w</a:t>
            </a:r>
            <a:r>
              <a:rPr lang="zh-CN" altLang="en-US" sz="2000" dirty="0">
                <a:latin typeface="SimSun" panose="02010600030101010101" pitchFamily="2" charset="-122"/>
                <a:ea typeface="SimSun" panose="02010600030101010101" pitchFamily="2" charset="-122"/>
              </a:rPr>
              <a:t>）∨</a:t>
            </a:r>
            <a:r>
              <a:rPr lang="en-US" altLang="zh-CN" sz="2000" dirty="0">
                <a:latin typeface="SimSun" panose="02010600030101010101" pitchFamily="2" charset="-122"/>
                <a:ea typeface="SimSun" panose="02010600030101010101" pitchFamily="2" charset="-122"/>
              </a:rPr>
              <a:t>B</a:t>
            </a:r>
            <a:r>
              <a:rPr lang="zh-CN" altLang="en-US" sz="2000" dirty="0">
                <a:latin typeface="SimSun" panose="02010600030101010101" pitchFamily="2" charset="-122"/>
                <a:ea typeface="SimSun" panose="02010600030101010101" pitchFamily="2" charset="-122"/>
              </a:rPr>
              <a:t>（</a:t>
            </a:r>
            <a:r>
              <a:rPr lang="en-US" altLang="zh-CN" sz="2000" dirty="0">
                <a:latin typeface="SimSun" panose="02010600030101010101" pitchFamily="2" charset="-122"/>
                <a:ea typeface="SimSun" panose="02010600030101010101" pitchFamily="2" charset="-122"/>
              </a:rPr>
              <a:t>w</a:t>
            </a:r>
            <a:r>
              <a:rPr lang="zh-CN" altLang="en-US" sz="2000" dirty="0">
                <a:latin typeface="SimSun" panose="02010600030101010101" pitchFamily="2" charset="-122"/>
                <a:ea typeface="SimSun" panose="02010600030101010101" pitchFamily="2" charset="-122"/>
              </a:rPr>
              <a:t>）</a:t>
            </a:r>
            <a:r>
              <a:rPr lang="en-US" altLang="zh-CN" sz="2000" dirty="0">
                <a:latin typeface="SimSun" panose="02010600030101010101" pitchFamily="2" charset="-122"/>
                <a:ea typeface="SimSun" panose="02010600030101010101" pitchFamily="2" charset="-122"/>
              </a:rPr>
              <a:t>]</a:t>
            </a:r>
          </a:p>
          <a:p>
            <a:pPr>
              <a:lnSpc>
                <a:spcPct val="125000"/>
              </a:lnSpc>
              <a:buFont typeface="Wingdings" pitchFamily="2" charset="2"/>
              <a:buNone/>
              <a:defRPr/>
            </a:pPr>
            <a:r>
              <a:rPr lang="en-US" altLang="zh-CN" sz="2000" b="1" dirty="0">
                <a:latin typeface="SimSun" panose="02010600030101010101" pitchFamily="2" charset="-122"/>
                <a:ea typeface="SimSun" panose="02010600030101010101" pitchFamily="2" charset="-122"/>
              </a:rPr>
              <a:t>(6</a:t>
            </a:r>
            <a:r>
              <a:rPr lang="en-US" altLang="zh-CN" sz="2000" dirty="0">
                <a:latin typeface="SimSun" panose="02010600030101010101" pitchFamily="2" charset="-122"/>
                <a:ea typeface="SimSun" panose="02010600030101010101" pitchFamily="2" charset="-122"/>
              </a:rPr>
              <a:t>)</a:t>
            </a:r>
            <a:r>
              <a:rPr lang="en-US" altLang="zh-CN" sz="2000" dirty="0">
                <a:latin typeface="SimSun" panose="02010600030101010101" pitchFamily="2" charset="-122"/>
                <a:ea typeface="SimSun" panose="02010600030101010101" pitchFamily="2" charset="-122"/>
                <a:cs typeface="Times New Roman" pitchFamily="18" charset="0"/>
              </a:rPr>
              <a:t>  </a:t>
            </a:r>
            <a:r>
              <a:rPr lang="en-US" altLang="zh-CN" sz="2000" dirty="0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(</a:t>
            </a:r>
            <a:r>
              <a:rPr lang="en-US" altLang="zh-CN" sz="2000" dirty="0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  <a:sym typeface="Symbol" pitchFamily="18" charset="2"/>
              </a:rPr>
              <a:t></a:t>
            </a:r>
            <a:r>
              <a:rPr lang="en-US" altLang="zh-CN" sz="2000" dirty="0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x)(</a:t>
            </a:r>
            <a:r>
              <a:rPr lang="en-US" altLang="zh-CN" sz="2000" dirty="0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  <a:sym typeface="Symbol" pitchFamily="18" charset="2"/>
              </a:rPr>
              <a:t></a:t>
            </a:r>
            <a:r>
              <a:rPr lang="en-US" altLang="zh-CN" sz="2000" dirty="0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w)</a:t>
            </a:r>
            <a:r>
              <a:rPr lang="en-US" altLang="zh-CN" sz="2000" dirty="0">
                <a:latin typeface="SimSun" panose="02010600030101010101" pitchFamily="2" charset="-122"/>
                <a:ea typeface="SimSun" panose="02010600030101010101" pitchFamily="2" charset="-122"/>
              </a:rPr>
              <a:t>{[P</a:t>
            </a:r>
            <a:r>
              <a:rPr lang="zh-CN" altLang="en-US" sz="2000" dirty="0">
                <a:latin typeface="SimSun" panose="02010600030101010101" pitchFamily="2" charset="-122"/>
                <a:ea typeface="SimSun" panose="02010600030101010101" pitchFamily="2" charset="-122"/>
              </a:rPr>
              <a:t>（</a:t>
            </a:r>
            <a:r>
              <a:rPr lang="en-US" altLang="zh-CN" sz="2000" dirty="0">
                <a:latin typeface="SimSun" panose="02010600030101010101" pitchFamily="2" charset="-122"/>
                <a:ea typeface="SimSun" panose="02010600030101010101" pitchFamily="2" charset="-122"/>
              </a:rPr>
              <a:t>x</a:t>
            </a:r>
            <a:r>
              <a:rPr lang="zh-CN" altLang="en-US" sz="2000" dirty="0">
                <a:latin typeface="SimSun" panose="02010600030101010101" pitchFamily="2" charset="-122"/>
                <a:ea typeface="SimSun" panose="02010600030101010101" pitchFamily="2" charset="-122"/>
              </a:rPr>
              <a:t>）∨</a:t>
            </a:r>
            <a:r>
              <a:rPr lang="en-US" altLang="zh-CN" sz="2000" dirty="0">
                <a:latin typeface="SimSun" panose="02010600030101010101" pitchFamily="2" charset="-122"/>
                <a:ea typeface="SimSun" panose="02010600030101010101" pitchFamily="2" charset="-122"/>
              </a:rPr>
              <a:t>S(x</a:t>
            </a:r>
            <a:r>
              <a:rPr lang="zh-CN" altLang="en-US" sz="2000" dirty="0">
                <a:latin typeface="SimSun" panose="02010600030101010101" pitchFamily="2" charset="-122"/>
                <a:ea typeface="SimSun" panose="02010600030101010101" pitchFamily="2" charset="-122"/>
              </a:rPr>
              <a:t>，</a:t>
            </a:r>
            <a:r>
              <a:rPr lang="en-US" altLang="zh-CN" sz="2000" dirty="0">
                <a:latin typeface="SimSun" panose="02010600030101010101" pitchFamily="2" charset="-122"/>
                <a:ea typeface="SimSun" panose="02010600030101010101" pitchFamily="2" charset="-122"/>
              </a:rPr>
              <a:t>f(x))]∧Q(x)∧[P</a:t>
            </a:r>
            <a:r>
              <a:rPr lang="zh-CN" altLang="en-US" sz="2000" dirty="0">
                <a:latin typeface="SimSun" panose="02010600030101010101" pitchFamily="2" charset="-122"/>
                <a:ea typeface="SimSun" panose="02010600030101010101" pitchFamily="2" charset="-122"/>
              </a:rPr>
              <a:t>（</a:t>
            </a:r>
            <a:r>
              <a:rPr lang="en-US" altLang="zh-CN" sz="2000" dirty="0">
                <a:latin typeface="SimSun" panose="02010600030101010101" pitchFamily="2" charset="-122"/>
                <a:ea typeface="SimSun" panose="02010600030101010101" pitchFamily="2" charset="-122"/>
              </a:rPr>
              <a:t>w</a:t>
            </a:r>
            <a:r>
              <a:rPr lang="zh-CN" altLang="en-US" sz="2000" dirty="0">
                <a:latin typeface="SimSun" panose="02010600030101010101" pitchFamily="2" charset="-122"/>
                <a:ea typeface="SimSun" panose="02010600030101010101" pitchFamily="2" charset="-122"/>
              </a:rPr>
              <a:t>）∨</a:t>
            </a:r>
            <a:r>
              <a:rPr lang="en-US" altLang="zh-CN" sz="2000" dirty="0">
                <a:latin typeface="SimSun" panose="02010600030101010101" pitchFamily="2" charset="-122"/>
                <a:ea typeface="SimSun" panose="02010600030101010101" pitchFamily="2" charset="-122"/>
              </a:rPr>
              <a:t>B</a:t>
            </a:r>
            <a:r>
              <a:rPr lang="zh-CN" altLang="en-US" sz="2000" dirty="0">
                <a:latin typeface="SimSun" panose="02010600030101010101" pitchFamily="2" charset="-122"/>
                <a:ea typeface="SimSun" panose="02010600030101010101" pitchFamily="2" charset="-122"/>
              </a:rPr>
              <a:t>（</a:t>
            </a:r>
            <a:r>
              <a:rPr lang="en-US" altLang="zh-CN" sz="2000" dirty="0">
                <a:latin typeface="SimSun" panose="02010600030101010101" pitchFamily="2" charset="-122"/>
                <a:ea typeface="SimSun" panose="02010600030101010101" pitchFamily="2" charset="-122"/>
              </a:rPr>
              <a:t>w</a:t>
            </a:r>
            <a:r>
              <a:rPr lang="zh-CN" altLang="en-US" sz="2000" dirty="0">
                <a:latin typeface="SimSun" panose="02010600030101010101" pitchFamily="2" charset="-122"/>
                <a:ea typeface="SimSun" panose="02010600030101010101" pitchFamily="2" charset="-122"/>
              </a:rPr>
              <a:t>）</a:t>
            </a:r>
            <a:r>
              <a:rPr lang="en-US" altLang="zh-CN" sz="2000" dirty="0">
                <a:latin typeface="SimSun" panose="02010600030101010101" pitchFamily="2" charset="-122"/>
                <a:ea typeface="SimSun" panose="02010600030101010101" pitchFamily="2" charset="-122"/>
              </a:rPr>
              <a:t>]}</a:t>
            </a:r>
          </a:p>
          <a:p>
            <a:pPr>
              <a:lnSpc>
                <a:spcPct val="125000"/>
              </a:lnSpc>
              <a:buFont typeface="Wingdings" pitchFamily="2" charset="2"/>
              <a:buNone/>
              <a:defRPr/>
            </a:pPr>
            <a:r>
              <a:rPr lang="en-US" altLang="zh-CN" sz="2000" b="1" dirty="0">
                <a:latin typeface="SimSun" panose="02010600030101010101" pitchFamily="2" charset="-122"/>
                <a:ea typeface="SimSun" panose="02010600030101010101" pitchFamily="2" charset="-122"/>
              </a:rPr>
              <a:t>(7)</a:t>
            </a:r>
            <a:r>
              <a:rPr lang="en-US" altLang="zh-CN" sz="2000" dirty="0">
                <a:latin typeface="SimSun" panose="02010600030101010101" pitchFamily="2" charset="-122"/>
                <a:ea typeface="SimSun" panose="02010600030101010101" pitchFamily="2" charset="-122"/>
                <a:cs typeface="Times New Roman" pitchFamily="18" charset="0"/>
              </a:rPr>
              <a:t>  </a:t>
            </a:r>
            <a:r>
              <a:rPr lang="en-US" altLang="zh-CN" sz="2000" dirty="0">
                <a:latin typeface="SimSun" panose="02010600030101010101" pitchFamily="2" charset="-122"/>
                <a:ea typeface="SimSun" panose="02010600030101010101" pitchFamily="2" charset="-122"/>
              </a:rPr>
              <a:t>[P</a:t>
            </a:r>
            <a:r>
              <a:rPr lang="zh-CN" altLang="en-US" sz="2000" dirty="0">
                <a:latin typeface="SimSun" panose="02010600030101010101" pitchFamily="2" charset="-122"/>
                <a:ea typeface="SimSun" panose="02010600030101010101" pitchFamily="2" charset="-122"/>
              </a:rPr>
              <a:t>（</a:t>
            </a:r>
            <a:r>
              <a:rPr lang="en-US" altLang="zh-CN" sz="2000" dirty="0">
                <a:latin typeface="SimSun" panose="02010600030101010101" pitchFamily="2" charset="-122"/>
                <a:ea typeface="SimSun" panose="02010600030101010101" pitchFamily="2" charset="-122"/>
              </a:rPr>
              <a:t>x</a:t>
            </a:r>
            <a:r>
              <a:rPr lang="zh-CN" altLang="en-US" sz="2000" dirty="0">
                <a:latin typeface="SimSun" panose="02010600030101010101" pitchFamily="2" charset="-122"/>
                <a:ea typeface="SimSun" panose="02010600030101010101" pitchFamily="2" charset="-122"/>
              </a:rPr>
              <a:t>）∨</a:t>
            </a:r>
            <a:r>
              <a:rPr lang="en-US" altLang="zh-CN" sz="2000" dirty="0">
                <a:latin typeface="SimSun" panose="02010600030101010101" pitchFamily="2" charset="-122"/>
                <a:ea typeface="SimSun" panose="02010600030101010101" pitchFamily="2" charset="-122"/>
              </a:rPr>
              <a:t>S(x</a:t>
            </a:r>
            <a:r>
              <a:rPr lang="zh-CN" altLang="en-US" sz="2000" dirty="0">
                <a:latin typeface="SimSun" panose="02010600030101010101" pitchFamily="2" charset="-122"/>
                <a:ea typeface="SimSun" panose="02010600030101010101" pitchFamily="2" charset="-122"/>
              </a:rPr>
              <a:t>，</a:t>
            </a:r>
            <a:r>
              <a:rPr lang="en-US" altLang="zh-CN" sz="2000" dirty="0">
                <a:latin typeface="SimSun" panose="02010600030101010101" pitchFamily="2" charset="-122"/>
                <a:ea typeface="SimSun" panose="02010600030101010101" pitchFamily="2" charset="-122"/>
              </a:rPr>
              <a:t>f(x))]</a:t>
            </a:r>
            <a:r>
              <a:rPr lang="en-US" altLang="zh-CN" sz="2000" dirty="0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∧</a:t>
            </a:r>
            <a:r>
              <a:rPr lang="en-US" altLang="zh-CN" sz="2000" dirty="0">
                <a:latin typeface="SimSun" panose="02010600030101010101" pitchFamily="2" charset="-122"/>
                <a:ea typeface="SimSun" panose="02010600030101010101" pitchFamily="2" charset="-122"/>
              </a:rPr>
              <a:t>Q(x)</a:t>
            </a:r>
            <a:r>
              <a:rPr lang="en-US" altLang="zh-CN" sz="2000" dirty="0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∧</a:t>
            </a:r>
            <a:r>
              <a:rPr lang="en-US" altLang="zh-CN" sz="2000" dirty="0">
                <a:latin typeface="SimSun" panose="02010600030101010101" pitchFamily="2" charset="-122"/>
                <a:ea typeface="SimSun" panose="02010600030101010101" pitchFamily="2" charset="-122"/>
              </a:rPr>
              <a:t>[P</a:t>
            </a:r>
            <a:r>
              <a:rPr lang="zh-CN" altLang="en-US" sz="2000" dirty="0">
                <a:latin typeface="SimSun" panose="02010600030101010101" pitchFamily="2" charset="-122"/>
                <a:ea typeface="SimSun" panose="02010600030101010101" pitchFamily="2" charset="-122"/>
              </a:rPr>
              <a:t>（</a:t>
            </a:r>
            <a:r>
              <a:rPr lang="en-US" altLang="zh-CN" sz="2000" dirty="0">
                <a:latin typeface="SimSun" panose="02010600030101010101" pitchFamily="2" charset="-122"/>
                <a:ea typeface="SimSun" panose="02010600030101010101" pitchFamily="2" charset="-122"/>
              </a:rPr>
              <a:t>w</a:t>
            </a:r>
            <a:r>
              <a:rPr lang="zh-CN" altLang="en-US" sz="2000" dirty="0">
                <a:latin typeface="SimSun" panose="02010600030101010101" pitchFamily="2" charset="-122"/>
                <a:ea typeface="SimSun" panose="02010600030101010101" pitchFamily="2" charset="-122"/>
              </a:rPr>
              <a:t>）∨</a:t>
            </a:r>
            <a:r>
              <a:rPr lang="en-US" altLang="zh-CN" sz="2000" dirty="0">
                <a:latin typeface="SimSun" panose="02010600030101010101" pitchFamily="2" charset="-122"/>
                <a:ea typeface="SimSun" panose="02010600030101010101" pitchFamily="2" charset="-122"/>
              </a:rPr>
              <a:t>B</a:t>
            </a:r>
            <a:r>
              <a:rPr lang="zh-CN" altLang="en-US" sz="2000" dirty="0">
                <a:latin typeface="SimSun" panose="02010600030101010101" pitchFamily="2" charset="-122"/>
                <a:ea typeface="SimSun" panose="02010600030101010101" pitchFamily="2" charset="-122"/>
              </a:rPr>
              <a:t>（</a:t>
            </a:r>
            <a:r>
              <a:rPr lang="en-US" altLang="zh-CN" sz="2000" dirty="0">
                <a:latin typeface="SimSun" panose="02010600030101010101" pitchFamily="2" charset="-122"/>
                <a:ea typeface="SimSun" panose="02010600030101010101" pitchFamily="2" charset="-122"/>
              </a:rPr>
              <a:t>w</a:t>
            </a:r>
            <a:r>
              <a:rPr lang="zh-CN" altLang="en-US" sz="2000" dirty="0">
                <a:latin typeface="SimSun" panose="02010600030101010101" pitchFamily="2" charset="-122"/>
                <a:ea typeface="SimSun" panose="02010600030101010101" pitchFamily="2" charset="-122"/>
              </a:rPr>
              <a:t>）</a:t>
            </a:r>
            <a:r>
              <a:rPr lang="en-US" altLang="zh-CN" sz="2000" dirty="0">
                <a:latin typeface="SimSun" panose="02010600030101010101" pitchFamily="2" charset="-122"/>
                <a:ea typeface="SimSun" panose="02010600030101010101" pitchFamily="2" charset="-122"/>
              </a:rPr>
              <a:t>]</a:t>
            </a:r>
          </a:p>
          <a:p>
            <a:pPr>
              <a:lnSpc>
                <a:spcPct val="125000"/>
              </a:lnSpc>
              <a:buFont typeface="Wingdings" pitchFamily="2" charset="2"/>
              <a:buNone/>
              <a:defRPr/>
            </a:pPr>
            <a:r>
              <a:rPr lang="en-US" altLang="zh-CN" sz="2000" b="1" dirty="0">
                <a:latin typeface="SimSun" panose="02010600030101010101" pitchFamily="2" charset="-122"/>
                <a:ea typeface="SimSun" panose="02010600030101010101" pitchFamily="2" charset="-122"/>
              </a:rPr>
              <a:t>(8)</a:t>
            </a:r>
            <a:r>
              <a:rPr lang="en-US" altLang="zh-CN" sz="2000" dirty="0">
                <a:latin typeface="SimSun" panose="02010600030101010101" pitchFamily="2" charset="-122"/>
                <a:ea typeface="SimSun" panose="02010600030101010101" pitchFamily="2" charset="-122"/>
                <a:cs typeface="Times New Roman" pitchFamily="18" charset="0"/>
              </a:rPr>
              <a:t>  </a:t>
            </a:r>
            <a:r>
              <a:rPr lang="zh-CN" altLang="en-US" sz="2000" dirty="0">
                <a:latin typeface="SimSun" panose="02010600030101010101" pitchFamily="2" charset="-122"/>
                <a:ea typeface="SimSun" panose="02010600030101010101" pitchFamily="2" charset="-122"/>
              </a:rPr>
              <a:t>子句集为： </a:t>
            </a:r>
            <a:r>
              <a:rPr lang="en-US" altLang="zh-CN" sz="2000" dirty="0">
                <a:latin typeface="SimSun" panose="02010600030101010101" pitchFamily="2" charset="-122"/>
                <a:ea typeface="SimSun" panose="02010600030101010101" pitchFamily="2" charset="-122"/>
              </a:rPr>
              <a:t>P</a:t>
            </a:r>
            <a:r>
              <a:rPr lang="zh-CN" altLang="en-US" sz="2000" dirty="0">
                <a:latin typeface="SimSun" panose="02010600030101010101" pitchFamily="2" charset="-122"/>
                <a:ea typeface="SimSun" panose="02010600030101010101" pitchFamily="2" charset="-122"/>
              </a:rPr>
              <a:t>（</a:t>
            </a:r>
            <a:r>
              <a:rPr lang="en-US" altLang="zh-CN" sz="2000" dirty="0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x</a:t>
            </a:r>
            <a:r>
              <a:rPr lang="zh-CN" altLang="en-US" sz="2000" dirty="0">
                <a:latin typeface="SimSun" panose="02010600030101010101" pitchFamily="2" charset="-122"/>
                <a:ea typeface="SimSun" panose="02010600030101010101" pitchFamily="2" charset="-122"/>
              </a:rPr>
              <a:t>）∨</a:t>
            </a:r>
            <a:r>
              <a:rPr lang="en-US" altLang="zh-CN" sz="2000" dirty="0">
                <a:latin typeface="SimSun" panose="02010600030101010101" pitchFamily="2" charset="-122"/>
                <a:ea typeface="SimSun" panose="02010600030101010101" pitchFamily="2" charset="-122"/>
              </a:rPr>
              <a:t>S(</a:t>
            </a:r>
            <a:r>
              <a:rPr lang="en-US" altLang="zh-CN" sz="2000" dirty="0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x</a:t>
            </a:r>
            <a:r>
              <a:rPr lang="zh-CN" altLang="en-US" sz="2000" dirty="0">
                <a:latin typeface="SimSun" panose="02010600030101010101" pitchFamily="2" charset="-122"/>
                <a:ea typeface="SimSun" panose="02010600030101010101" pitchFamily="2" charset="-122"/>
              </a:rPr>
              <a:t>，</a:t>
            </a:r>
            <a:r>
              <a:rPr lang="en-US" altLang="zh-CN" sz="2000" dirty="0">
                <a:latin typeface="SimSun" panose="02010600030101010101" pitchFamily="2" charset="-122"/>
                <a:ea typeface="SimSun" panose="02010600030101010101" pitchFamily="2" charset="-122"/>
              </a:rPr>
              <a:t>f(</a:t>
            </a:r>
            <a:r>
              <a:rPr lang="en-US" altLang="zh-CN" sz="2000" dirty="0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x</a:t>
            </a:r>
            <a:r>
              <a:rPr lang="en-US" altLang="zh-CN" sz="2000" dirty="0">
                <a:latin typeface="SimSun" panose="02010600030101010101" pitchFamily="2" charset="-122"/>
                <a:ea typeface="SimSun" panose="02010600030101010101" pitchFamily="2" charset="-122"/>
              </a:rPr>
              <a:t>)</a:t>
            </a:r>
            <a:r>
              <a:rPr lang="zh-CN" altLang="en-US" sz="2000" dirty="0">
                <a:latin typeface="SimSun" panose="02010600030101010101" pitchFamily="2" charset="-122"/>
                <a:ea typeface="SimSun" panose="02010600030101010101" pitchFamily="2" charset="-122"/>
              </a:rPr>
              <a:t>）；</a:t>
            </a:r>
            <a:r>
              <a:rPr lang="en-US" altLang="zh-CN" sz="2000" dirty="0">
                <a:latin typeface="SimSun" panose="02010600030101010101" pitchFamily="2" charset="-122"/>
                <a:ea typeface="SimSun" panose="02010600030101010101" pitchFamily="2" charset="-122"/>
              </a:rPr>
              <a:t>Q(</a:t>
            </a:r>
            <a:r>
              <a:rPr lang="en-US" altLang="zh-CN" sz="2000" dirty="0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x</a:t>
            </a:r>
            <a:r>
              <a:rPr lang="en-US" altLang="zh-CN" sz="2000" dirty="0">
                <a:latin typeface="SimSun" panose="02010600030101010101" pitchFamily="2" charset="-122"/>
                <a:ea typeface="SimSun" panose="02010600030101010101" pitchFamily="2" charset="-122"/>
              </a:rPr>
              <a:t>)</a:t>
            </a:r>
            <a:r>
              <a:rPr lang="zh-CN" altLang="en-US" sz="2000" dirty="0">
                <a:latin typeface="SimSun" panose="02010600030101010101" pitchFamily="2" charset="-122"/>
                <a:ea typeface="SimSun" panose="02010600030101010101" pitchFamily="2" charset="-122"/>
              </a:rPr>
              <a:t>；</a:t>
            </a:r>
            <a:r>
              <a:rPr lang="en-US" altLang="zh-CN" sz="2000" dirty="0">
                <a:latin typeface="SimSun" panose="02010600030101010101" pitchFamily="2" charset="-122"/>
                <a:ea typeface="SimSun" panose="02010600030101010101" pitchFamily="2" charset="-122"/>
              </a:rPr>
              <a:t>P</a:t>
            </a:r>
            <a:r>
              <a:rPr lang="zh-CN" altLang="en-US" sz="2000" dirty="0">
                <a:latin typeface="SimSun" panose="02010600030101010101" pitchFamily="2" charset="-122"/>
                <a:ea typeface="SimSun" panose="02010600030101010101" pitchFamily="2" charset="-122"/>
              </a:rPr>
              <a:t>（</a:t>
            </a:r>
            <a:r>
              <a:rPr lang="en-US" altLang="zh-CN" sz="2000" dirty="0">
                <a:latin typeface="SimSun" panose="02010600030101010101" pitchFamily="2" charset="-122"/>
                <a:ea typeface="SimSun" panose="02010600030101010101" pitchFamily="2" charset="-122"/>
              </a:rPr>
              <a:t>w</a:t>
            </a:r>
            <a:r>
              <a:rPr lang="zh-CN" altLang="en-US" sz="2000" dirty="0">
                <a:latin typeface="SimSun" panose="02010600030101010101" pitchFamily="2" charset="-122"/>
                <a:ea typeface="SimSun" panose="02010600030101010101" pitchFamily="2" charset="-122"/>
              </a:rPr>
              <a:t>）∨</a:t>
            </a:r>
            <a:r>
              <a:rPr lang="en-US" altLang="zh-CN" sz="2000" dirty="0">
                <a:latin typeface="SimSun" panose="02010600030101010101" pitchFamily="2" charset="-122"/>
                <a:ea typeface="SimSun" panose="02010600030101010101" pitchFamily="2" charset="-122"/>
              </a:rPr>
              <a:t>B</a:t>
            </a:r>
            <a:r>
              <a:rPr lang="zh-CN" altLang="en-US" sz="2000" dirty="0">
                <a:latin typeface="SimSun" panose="02010600030101010101" pitchFamily="2" charset="-122"/>
                <a:ea typeface="SimSun" panose="02010600030101010101" pitchFamily="2" charset="-122"/>
              </a:rPr>
              <a:t>（</a:t>
            </a:r>
            <a:r>
              <a:rPr lang="en-US" altLang="zh-CN" sz="2000" dirty="0">
                <a:latin typeface="SimSun" panose="02010600030101010101" pitchFamily="2" charset="-122"/>
                <a:ea typeface="SimSun" panose="02010600030101010101" pitchFamily="2" charset="-122"/>
              </a:rPr>
              <a:t>w</a:t>
            </a:r>
            <a:r>
              <a:rPr lang="zh-CN" altLang="en-US" sz="2000" dirty="0">
                <a:latin typeface="SimSun" panose="02010600030101010101" pitchFamily="2" charset="-122"/>
                <a:ea typeface="SimSun" panose="02010600030101010101" pitchFamily="2" charset="-122"/>
              </a:rPr>
              <a:t>）</a:t>
            </a:r>
          </a:p>
          <a:p>
            <a:pPr>
              <a:lnSpc>
                <a:spcPct val="125000"/>
              </a:lnSpc>
              <a:buFont typeface="Wingdings" pitchFamily="2" charset="2"/>
              <a:buNone/>
              <a:defRPr/>
            </a:pPr>
            <a:r>
              <a:rPr lang="en-US" altLang="zh-CN" sz="2000" b="1" dirty="0">
                <a:latin typeface="SimSun" panose="02010600030101010101" pitchFamily="2" charset="-122"/>
                <a:ea typeface="SimSun" panose="02010600030101010101" pitchFamily="2" charset="-122"/>
              </a:rPr>
              <a:t>(9)</a:t>
            </a:r>
            <a:r>
              <a:rPr lang="en-US" altLang="zh-CN" sz="2000" b="1" dirty="0">
                <a:latin typeface="SimSun" panose="02010600030101010101" pitchFamily="2" charset="-122"/>
                <a:ea typeface="SimSun" panose="02010600030101010101" pitchFamily="2" charset="-122"/>
                <a:cs typeface="Times New Roman" pitchFamily="18" charset="0"/>
              </a:rPr>
              <a:t> </a:t>
            </a:r>
            <a:r>
              <a:rPr lang="en-US" altLang="zh-CN" sz="2000" dirty="0">
                <a:latin typeface="SimSun" panose="02010600030101010101" pitchFamily="2" charset="-122"/>
                <a:ea typeface="SimSun" panose="02010600030101010101" pitchFamily="2" charset="-122"/>
                <a:cs typeface="Times New Roman" pitchFamily="18" charset="0"/>
              </a:rPr>
              <a:t> </a:t>
            </a:r>
            <a:r>
              <a:rPr lang="zh-CN" altLang="en-US" sz="2000" dirty="0">
                <a:latin typeface="SimSun" panose="02010600030101010101" pitchFamily="2" charset="-122"/>
                <a:ea typeface="SimSun" panose="02010600030101010101" pitchFamily="2" charset="-122"/>
              </a:rPr>
              <a:t>子句变量标准化后，最终的子句集为：</a:t>
            </a:r>
          </a:p>
          <a:p>
            <a:pPr>
              <a:lnSpc>
                <a:spcPct val="125000"/>
              </a:lnSpc>
              <a:buFont typeface="Wingdings" pitchFamily="2" charset="2"/>
              <a:buNone/>
              <a:defRPr/>
            </a:pPr>
            <a:r>
              <a:rPr lang="zh-CN" altLang="en-US" sz="2000" dirty="0">
                <a:latin typeface="SimSun" panose="02010600030101010101" pitchFamily="2" charset="-122"/>
                <a:ea typeface="SimSun" panose="02010600030101010101" pitchFamily="2" charset="-122"/>
              </a:rPr>
              <a:t>	</a:t>
            </a:r>
            <a:r>
              <a:rPr lang="en-US" altLang="zh-CN" sz="2000" dirty="0">
                <a:latin typeface="SimSun" panose="02010600030101010101" pitchFamily="2" charset="-122"/>
                <a:ea typeface="SimSun" panose="02010600030101010101" pitchFamily="2" charset="-122"/>
              </a:rPr>
              <a:t>    </a:t>
            </a:r>
            <a:r>
              <a:rPr lang="en-US" altLang="zh-CN" sz="2000" dirty="0">
                <a:effectLst>
                  <a:outerShdw blurRad="38100" dist="38100" dir="2700000" algn="tl">
                    <a:srgbClr val="C0C0C0"/>
                  </a:outerShdw>
                </a:effectLst>
                <a:latin typeface="SimSun" panose="02010600030101010101" pitchFamily="2" charset="-122"/>
                <a:ea typeface="SimSun" panose="02010600030101010101" pitchFamily="2" charset="-122"/>
              </a:rPr>
              <a:t>P</a:t>
            </a:r>
            <a:r>
              <a:rPr lang="zh-CN" altLang="en-US" sz="2000" dirty="0">
                <a:effectLst>
                  <a:outerShdw blurRad="38100" dist="38100" dir="2700000" algn="tl">
                    <a:srgbClr val="C0C0C0"/>
                  </a:outerShdw>
                </a:effectLst>
                <a:latin typeface="SimSun" panose="02010600030101010101" pitchFamily="2" charset="-122"/>
                <a:ea typeface="SimSun" panose="02010600030101010101" pitchFamily="2" charset="-122"/>
              </a:rPr>
              <a:t>（</a:t>
            </a:r>
            <a:r>
              <a:rPr lang="en-US" altLang="zh-CN" sz="2000" dirty="0">
                <a:effectLst>
                  <a:outerShdw blurRad="38100" dist="38100" dir="2700000" algn="tl">
                    <a:srgbClr val="C0C0C0"/>
                  </a:outerShdw>
                </a:effectLst>
                <a:latin typeface="SimSun" panose="02010600030101010101" pitchFamily="2" charset="-122"/>
                <a:ea typeface="SimSun" panose="02010600030101010101" pitchFamily="2" charset="-122"/>
              </a:rPr>
              <a:t>x</a:t>
            </a:r>
            <a:r>
              <a:rPr lang="zh-CN" altLang="en-US" sz="2000" dirty="0">
                <a:effectLst>
                  <a:outerShdw blurRad="38100" dist="38100" dir="2700000" algn="tl">
                    <a:srgbClr val="C0C0C0"/>
                  </a:outerShdw>
                </a:effectLst>
                <a:latin typeface="SimSun" panose="02010600030101010101" pitchFamily="2" charset="-122"/>
                <a:ea typeface="SimSun" panose="02010600030101010101" pitchFamily="2" charset="-122"/>
              </a:rPr>
              <a:t>）∨</a:t>
            </a:r>
            <a:r>
              <a:rPr lang="en-US" altLang="zh-CN" sz="2000" dirty="0">
                <a:effectLst>
                  <a:outerShdw blurRad="38100" dist="38100" dir="2700000" algn="tl">
                    <a:srgbClr val="C0C0C0"/>
                  </a:outerShdw>
                </a:effectLst>
                <a:latin typeface="SimSun" panose="02010600030101010101" pitchFamily="2" charset="-122"/>
                <a:ea typeface="SimSun" panose="02010600030101010101" pitchFamily="2" charset="-122"/>
              </a:rPr>
              <a:t>S</a:t>
            </a:r>
            <a:r>
              <a:rPr lang="zh-CN" altLang="en-US" sz="2000" dirty="0">
                <a:effectLst>
                  <a:outerShdw blurRad="38100" dist="38100" dir="2700000" algn="tl">
                    <a:srgbClr val="C0C0C0"/>
                  </a:outerShdw>
                </a:effectLst>
                <a:latin typeface="SimSun" panose="02010600030101010101" pitchFamily="2" charset="-122"/>
                <a:ea typeface="SimSun" panose="02010600030101010101" pitchFamily="2" charset="-122"/>
              </a:rPr>
              <a:t>（</a:t>
            </a:r>
            <a:r>
              <a:rPr lang="en-US" altLang="zh-CN" sz="2000" dirty="0">
                <a:effectLst>
                  <a:outerShdw blurRad="38100" dist="38100" dir="2700000" algn="tl">
                    <a:srgbClr val="C0C0C0"/>
                  </a:outerShdw>
                </a:effectLst>
                <a:latin typeface="SimSun" panose="02010600030101010101" pitchFamily="2" charset="-122"/>
                <a:ea typeface="SimSun" panose="02010600030101010101" pitchFamily="2" charset="-122"/>
              </a:rPr>
              <a:t>x</a:t>
            </a:r>
            <a:r>
              <a:rPr lang="zh-CN" altLang="en-US" sz="2000" dirty="0">
                <a:effectLst>
                  <a:outerShdw blurRad="38100" dist="38100" dir="2700000" algn="tl">
                    <a:srgbClr val="C0C0C0"/>
                  </a:outerShdw>
                </a:effectLst>
                <a:latin typeface="SimSun" panose="02010600030101010101" pitchFamily="2" charset="-122"/>
                <a:ea typeface="SimSun" panose="02010600030101010101" pitchFamily="2" charset="-122"/>
              </a:rPr>
              <a:t>，</a:t>
            </a:r>
            <a:r>
              <a:rPr lang="en-US" altLang="zh-CN" sz="2000" dirty="0">
                <a:effectLst>
                  <a:outerShdw blurRad="38100" dist="38100" dir="2700000" algn="tl">
                    <a:srgbClr val="C0C0C0"/>
                  </a:outerShdw>
                </a:effectLst>
                <a:latin typeface="SimSun" panose="02010600030101010101" pitchFamily="2" charset="-122"/>
                <a:ea typeface="SimSun" panose="02010600030101010101" pitchFamily="2" charset="-122"/>
              </a:rPr>
              <a:t>f(x)</a:t>
            </a:r>
            <a:r>
              <a:rPr lang="zh-CN" altLang="en-US" sz="2000" dirty="0">
                <a:effectLst>
                  <a:outerShdw blurRad="38100" dist="38100" dir="2700000" algn="tl">
                    <a:srgbClr val="C0C0C0"/>
                  </a:outerShdw>
                </a:effectLst>
                <a:latin typeface="SimSun" panose="02010600030101010101" pitchFamily="2" charset="-122"/>
                <a:ea typeface="SimSun" panose="02010600030101010101" pitchFamily="2" charset="-122"/>
              </a:rPr>
              <a:t>）；</a:t>
            </a:r>
            <a:r>
              <a:rPr lang="en-US" altLang="zh-CN" sz="2000" dirty="0">
                <a:effectLst>
                  <a:outerShdw blurRad="38100" dist="38100" dir="2700000" algn="tl">
                    <a:srgbClr val="C0C0C0"/>
                  </a:outerShdw>
                </a:effectLst>
                <a:latin typeface="SimSun" panose="02010600030101010101" pitchFamily="2" charset="-122"/>
                <a:ea typeface="SimSun" panose="02010600030101010101" pitchFamily="2" charset="-122"/>
              </a:rPr>
              <a:t>Q</a:t>
            </a:r>
            <a:r>
              <a:rPr lang="zh-CN" altLang="en-US" sz="2000" dirty="0">
                <a:effectLst>
                  <a:outerShdw blurRad="38100" dist="38100" dir="2700000" algn="tl">
                    <a:srgbClr val="C0C0C0"/>
                  </a:outerShdw>
                </a:effectLst>
                <a:latin typeface="SimSun" panose="02010600030101010101" pitchFamily="2" charset="-122"/>
                <a:ea typeface="SimSun" panose="02010600030101010101" pitchFamily="2" charset="-122"/>
              </a:rPr>
              <a:t>（</a:t>
            </a:r>
            <a:r>
              <a:rPr lang="en-US" altLang="zh-CN" sz="2000" dirty="0">
                <a:effectLst>
                  <a:outerShdw blurRad="38100" dist="38100" dir="2700000" algn="tl">
                    <a:srgbClr val="C0C0C0"/>
                  </a:outerShdw>
                </a:effectLst>
                <a:latin typeface="SimSun" panose="02010600030101010101" pitchFamily="2" charset="-122"/>
                <a:ea typeface="SimSun" panose="02010600030101010101" pitchFamily="2" charset="-122"/>
              </a:rPr>
              <a:t>y</a:t>
            </a:r>
            <a:r>
              <a:rPr lang="zh-CN" altLang="en-US" sz="2000" dirty="0">
                <a:effectLst>
                  <a:outerShdw blurRad="38100" dist="38100" dir="2700000" algn="tl">
                    <a:srgbClr val="C0C0C0"/>
                  </a:outerShdw>
                </a:effectLst>
                <a:latin typeface="SimSun" panose="02010600030101010101" pitchFamily="2" charset="-122"/>
                <a:ea typeface="SimSun" panose="02010600030101010101" pitchFamily="2" charset="-122"/>
              </a:rPr>
              <a:t>）；</a:t>
            </a:r>
            <a:r>
              <a:rPr lang="en-US" altLang="zh-CN" sz="2000" dirty="0">
                <a:effectLst>
                  <a:outerShdw blurRad="38100" dist="38100" dir="2700000" algn="tl">
                    <a:srgbClr val="C0C0C0"/>
                  </a:outerShdw>
                </a:effectLst>
                <a:latin typeface="SimSun" panose="02010600030101010101" pitchFamily="2" charset="-122"/>
                <a:ea typeface="SimSun" panose="02010600030101010101" pitchFamily="2" charset="-122"/>
                <a:cs typeface="Times New Roman" pitchFamily="18" charset="0"/>
              </a:rPr>
              <a:t>P</a:t>
            </a:r>
            <a:r>
              <a:rPr lang="zh-CN" altLang="en-US" sz="2000" dirty="0">
                <a:effectLst>
                  <a:outerShdw blurRad="38100" dist="38100" dir="2700000" algn="tl">
                    <a:srgbClr val="C0C0C0"/>
                  </a:outerShdw>
                </a:effectLst>
                <a:latin typeface="SimSun" panose="02010600030101010101" pitchFamily="2" charset="-122"/>
                <a:ea typeface="SimSun" panose="02010600030101010101" pitchFamily="2" charset="-122"/>
                <a:cs typeface="Times New Roman" pitchFamily="18" charset="0"/>
              </a:rPr>
              <a:t>（</a:t>
            </a:r>
            <a:r>
              <a:rPr lang="en-US" altLang="zh-CN" sz="2000" dirty="0">
                <a:effectLst>
                  <a:outerShdw blurRad="38100" dist="38100" dir="2700000" algn="tl">
                    <a:srgbClr val="C0C0C0"/>
                  </a:outerShdw>
                </a:effectLst>
                <a:latin typeface="SimSun" panose="02010600030101010101" pitchFamily="2" charset="-122"/>
                <a:ea typeface="SimSun" panose="02010600030101010101" pitchFamily="2" charset="-122"/>
                <a:cs typeface="Times New Roman" pitchFamily="18" charset="0"/>
              </a:rPr>
              <a:t>w</a:t>
            </a:r>
            <a:r>
              <a:rPr lang="zh-CN" altLang="en-US" sz="2000" dirty="0">
                <a:effectLst>
                  <a:outerShdw blurRad="38100" dist="38100" dir="2700000" algn="tl">
                    <a:srgbClr val="C0C0C0"/>
                  </a:outerShdw>
                </a:effectLst>
                <a:latin typeface="SimSun" panose="02010600030101010101" pitchFamily="2" charset="-122"/>
                <a:ea typeface="SimSun" panose="02010600030101010101" pitchFamily="2" charset="-122"/>
                <a:cs typeface="Times New Roman" pitchFamily="18" charset="0"/>
              </a:rPr>
              <a:t>）∨</a:t>
            </a:r>
            <a:r>
              <a:rPr lang="en-US" altLang="zh-CN" sz="2000" dirty="0">
                <a:effectLst>
                  <a:outerShdw blurRad="38100" dist="38100" dir="2700000" algn="tl">
                    <a:srgbClr val="C0C0C0"/>
                  </a:outerShdw>
                </a:effectLst>
                <a:latin typeface="SimSun" panose="02010600030101010101" pitchFamily="2" charset="-122"/>
                <a:ea typeface="SimSun" panose="02010600030101010101" pitchFamily="2" charset="-122"/>
                <a:cs typeface="Times New Roman" pitchFamily="18" charset="0"/>
              </a:rPr>
              <a:t>B</a:t>
            </a:r>
            <a:r>
              <a:rPr lang="zh-CN" altLang="en-US" sz="2000" dirty="0">
                <a:effectLst>
                  <a:outerShdw blurRad="38100" dist="38100" dir="2700000" algn="tl">
                    <a:srgbClr val="C0C0C0"/>
                  </a:outerShdw>
                </a:effectLst>
                <a:latin typeface="SimSun" panose="02010600030101010101" pitchFamily="2" charset="-122"/>
                <a:ea typeface="SimSun" panose="02010600030101010101" pitchFamily="2" charset="-122"/>
                <a:cs typeface="Times New Roman" pitchFamily="18" charset="0"/>
              </a:rPr>
              <a:t>（</a:t>
            </a:r>
            <a:r>
              <a:rPr lang="en-US" altLang="zh-CN" sz="2000" dirty="0">
                <a:effectLst>
                  <a:outerShdw blurRad="38100" dist="38100" dir="2700000" algn="tl">
                    <a:srgbClr val="C0C0C0"/>
                  </a:outerShdw>
                </a:effectLst>
                <a:latin typeface="SimSun" panose="02010600030101010101" pitchFamily="2" charset="-122"/>
                <a:ea typeface="SimSun" panose="02010600030101010101" pitchFamily="2" charset="-122"/>
                <a:cs typeface="Times New Roman" pitchFamily="18" charset="0"/>
              </a:rPr>
              <a:t>w</a:t>
            </a:r>
            <a:r>
              <a:rPr lang="zh-CN" altLang="en-US" sz="2000" dirty="0">
                <a:effectLst>
                  <a:outerShdw blurRad="38100" dist="38100" dir="2700000" algn="tl">
                    <a:srgbClr val="C0C0C0"/>
                  </a:outerShdw>
                </a:effectLst>
                <a:latin typeface="SimSun" panose="02010600030101010101" pitchFamily="2" charset="-122"/>
                <a:ea typeface="SimSun" panose="02010600030101010101" pitchFamily="2" charset="-122"/>
                <a:cs typeface="Times New Roman" pitchFamily="18" charset="0"/>
              </a:rPr>
              <a:t>）</a:t>
            </a:r>
            <a:endParaRPr lang="zh-CN" altLang="en-US" sz="2000"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D4A56A05-AE1B-9A86-3354-412F8CE98911}"/>
              </a:ext>
            </a:extLst>
          </p:cNvPr>
          <p:cNvSpPr txBox="1">
            <a:spLocks/>
          </p:cNvSpPr>
          <p:nvPr/>
        </p:nvSpPr>
        <p:spPr>
          <a:xfrm>
            <a:off x="376188" y="46830"/>
            <a:ext cx="704489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zh-CN" altLang="en-US" sz="3200" dirty="0">
                <a:solidFill>
                  <a:srgbClr val="FF0000"/>
                </a:solidFill>
                <a:latin typeface=".AppleSystemUIFont"/>
              </a:rPr>
              <a:t>归结原理及</a:t>
            </a:r>
            <a:r>
              <a:rPr lang="zh-CN" altLang="en-US" sz="3200" dirty="0">
                <a:solidFill>
                  <a:srgbClr val="FF0000"/>
                </a:solidFill>
              </a:rPr>
              <a:t>应用</a:t>
            </a:r>
            <a:r>
              <a:rPr lang="en-US" altLang="zh-CN" sz="3200" dirty="0">
                <a:solidFill>
                  <a:srgbClr val="FF0000"/>
                </a:solidFill>
              </a:rPr>
              <a:t>-</a:t>
            </a:r>
            <a:r>
              <a:rPr lang="zh-CN" altLang="en-US" sz="2000" dirty="0">
                <a:solidFill>
                  <a:srgbClr val="FF0000"/>
                </a:solidFill>
              </a:rPr>
              <a:t>一阶逻辑化为子句 </a:t>
            </a:r>
          </a:p>
        </p:txBody>
      </p:sp>
    </p:spTree>
    <p:extLst>
      <p:ext uri="{BB962C8B-B14F-4D97-AF65-F5344CB8AC3E}">
        <p14:creationId xmlns:p14="http://schemas.microsoft.com/office/powerpoint/2010/main" val="406798961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8DB1B8A5-D61B-4552-AC50-840E773DCC13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495023" y="1617044"/>
            <a:ext cx="9795409" cy="4292867"/>
          </a:xfrm>
        </p:spPr>
        <p:txBody>
          <a:bodyPr>
            <a:normAutofit/>
          </a:bodyPr>
          <a:lstStyle/>
          <a:p>
            <a:pPr fontAlgn="base">
              <a:lnSpc>
                <a:spcPct val="70000"/>
              </a:lnSpc>
              <a:spcAft>
                <a:spcPct val="0"/>
              </a:spcAft>
              <a:defRPr/>
            </a:pPr>
            <a:r>
              <a:rPr lang="zh-CN" altLang="en-US" sz="2200" b="1" dirty="0">
                <a:solidFill>
                  <a:srgbClr val="FF0000"/>
                </a:solidFill>
              </a:rPr>
              <a:t> 置换和合一 </a:t>
            </a:r>
          </a:p>
          <a:p>
            <a:pPr marL="0" indent="0">
              <a:lnSpc>
                <a:spcPct val="125000"/>
              </a:lnSpc>
              <a:buNone/>
              <a:tabLst>
                <a:tab pos="620713" algn="l"/>
              </a:tabLst>
              <a:defRPr/>
            </a:pPr>
            <a:r>
              <a:rPr lang="zh-CN" altLang="en-US" dirty="0">
                <a:solidFill>
                  <a:srgbClr val="000000"/>
                </a:solidFill>
                <a:latin typeface="宋体" pitchFamily="2" charset="-122"/>
                <a:cs typeface="Times New Roman" pitchFamily="18" charset="0"/>
              </a:rPr>
              <a:t>	</a:t>
            </a:r>
            <a:r>
              <a:rPr lang="zh-CN" altLang="en-US" sz="200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  <a:cs typeface="Times New Roman" pitchFamily="18" charset="0"/>
              </a:rPr>
              <a:t>为了使用推理规则，如假言推理、假言三段论等，一个推理系统必须决定两个表达式是否相同或</a:t>
            </a:r>
            <a:r>
              <a:rPr lang="zh-CN" altLang="en-US" sz="2000" dirty="0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  <a:cs typeface="Times New Roman" pitchFamily="18" charset="0"/>
              </a:rPr>
              <a:t>匹配</a:t>
            </a:r>
            <a:r>
              <a:rPr lang="zh-CN" altLang="en-US" sz="200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  <a:cs typeface="Times New Roman" pitchFamily="18" charset="0"/>
              </a:rPr>
              <a:t>：</a:t>
            </a:r>
          </a:p>
          <a:p>
            <a:pPr>
              <a:lnSpc>
                <a:spcPct val="125000"/>
              </a:lnSpc>
              <a:buFont typeface="Wingdings" pitchFamily="2" charset="2"/>
              <a:buNone/>
              <a:defRPr/>
            </a:pPr>
            <a:r>
              <a:rPr lang="zh-CN" altLang="en-US" sz="2000" b="1" dirty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SimSun" panose="02010600030101010101" pitchFamily="2" charset="-122"/>
                <a:ea typeface="SimSun" panose="02010600030101010101" pitchFamily="2" charset="-122"/>
                <a:cs typeface="Times New Roman" pitchFamily="18" charset="0"/>
              </a:rPr>
              <a:t>    </a:t>
            </a:r>
            <a:r>
              <a:rPr lang="zh-CN" altLang="en-US" sz="2000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SimSun" panose="02010600030101010101" pitchFamily="2" charset="-122"/>
                <a:ea typeface="SimSun" panose="02010600030101010101" pitchFamily="2" charset="-122"/>
                <a:cs typeface="Times New Roman" pitchFamily="18" charset="0"/>
              </a:rPr>
              <a:t>两个表达式匹配当且仅当其语法是等价的</a:t>
            </a:r>
          </a:p>
          <a:p>
            <a:pPr marL="85725" indent="-85725">
              <a:lnSpc>
                <a:spcPct val="125000"/>
              </a:lnSpc>
              <a:buNone/>
              <a:tabLst>
                <a:tab pos="723900" algn="l"/>
              </a:tabLst>
              <a:defRPr/>
            </a:pPr>
            <a:r>
              <a:rPr lang="zh-CN" altLang="en-US" sz="200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  <a:cs typeface="Times New Roman" pitchFamily="18" charset="0"/>
              </a:rPr>
              <a:t>	    一个表达式的项可以是常量、变量或函数，</a:t>
            </a:r>
            <a:r>
              <a:rPr lang="zh-CN" altLang="en-US" sz="2000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SimSun" panose="02010600030101010101" pitchFamily="2" charset="-122"/>
                <a:ea typeface="SimSun" panose="02010600030101010101" pitchFamily="2" charset="-122"/>
                <a:cs typeface="Times New Roman" pitchFamily="18" charset="0"/>
              </a:rPr>
              <a:t>合一</a:t>
            </a:r>
            <a:r>
              <a:rPr lang="zh-CN" altLang="en-US" sz="200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  <a:cs typeface="Times New Roman" pitchFamily="18" charset="0"/>
              </a:rPr>
              <a:t>就是寻找项对变量的</a:t>
            </a:r>
            <a:r>
              <a:rPr lang="zh-CN" altLang="en-US" sz="2000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SimSun" panose="02010600030101010101" pitchFamily="2" charset="-122"/>
                <a:ea typeface="SimSun" panose="02010600030101010101" pitchFamily="2" charset="-122"/>
                <a:cs typeface="Times New Roman" pitchFamily="18" charset="0"/>
              </a:rPr>
              <a:t>置换</a:t>
            </a:r>
            <a:r>
              <a:rPr lang="zh-CN" altLang="en-US" sz="200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  <a:cs typeface="Times New Roman" pitchFamily="18" charset="0"/>
              </a:rPr>
              <a:t>而使表达式一致的过程，合一是人工智能中很重要的过程。</a:t>
            </a:r>
          </a:p>
          <a:p>
            <a:pPr marL="85725" indent="-85725">
              <a:lnSpc>
                <a:spcPct val="125000"/>
              </a:lnSpc>
              <a:buNone/>
              <a:defRPr/>
            </a:pPr>
            <a:r>
              <a:rPr lang="zh-CN" altLang="en-US" sz="200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  <a:cs typeface="Times New Roman" pitchFamily="18" charset="0"/>
              </a:rPr>
              <a:t>	</a:t>
            </a:r>
            <a:r>
              <a:rPr lang="zh-CN" altLang="en-US" sz="2000" dirty="0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  <a:cs typeface="Times New Roman" pitchFamily="18" charset="0"/>
              </a:rPr>
              <a:t>    </a:t>
            </a:r>
            <a:r>
              <a:rPr lang="zh-CN" altLang="en-US" sz="2000" b="1" dirty="0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  <a:cs typeface="Times New Roman" pitchFamily="18" charset="0"/>
              </a:rPr>
              <a:t>如</a:t>
            </a:r>
            <a:r>
              <a:rPr lang="zh-CN" altLang="en-US" sz="200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  <a:cs typeface="Times New Roman" pitchFamily="18" charset="0"/>
              </a:rPr>
              <a:t>，为了使公式</a:t>
            </a:r>
            <a:r>
              <a:rPr lang="en-US" altLang="zh-CN" sz="200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P(</a:t>
            </a:r>
            <a:r>
              <a:rPr lang="en-US" altLang="zh-CN" sz="2000" dirty="0" err="1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x,f</a:t>
            </a:r>
            <a:r>
              <a:rPr lang="en-US" altLang="zh-CN" sz="200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(y),B)</a:t>
            </a:r>
            <a:r>
              <a:rPr lang="zh-CN" altLang="en-US" sz="200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与</a:t>
            </a:r>
            <a:r>
              <a:rPr lang="en-US" altLang="zh-CN" sz="200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P(</a:t>
            </a:r>
            <a:r>
              <a:rPr lang="en-US" altLang="zh-CN" sz="2000" dirty="0" err="1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x,f</a:t>
            </a:r>
            <a:r>
              <a:rPr lang="en-US" altLang="zh-CN" sz="200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(B),B </a:t>
            </a:r>
            <a:r>
              <a:rPr lang="zh-CN" altLang="en-US" sz="200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）</a:t>
            </a:r>
            <a:r>
              <a:rPr lang="zh-CN" altLang="en-US" sz="200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  <a:cs typeface="Times New Roman" pitchFamily="18" charset="0"/>
              </a:rPr>
              <a:t>匹配，可以用常量</a:t>
            </a:r>
            <a:r>
              <a:rPr lang="en-US" altLang="zh-CN" sz="200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B</a:t>
            </a:r>
            <a:r>
              <a:rPr lang="zh-CN" altLang="en-US" sz="200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  <a:cs typeface="Times New Roman" pitchFamily="18" charset="0"/>
              </a:rPr>
              <a:t>代替变量</a:t>
            </a:r>
            <a:r>
              <a:rPr lang="en-US" altLang="zh-CN" sz="200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y</a:t>
            </a:r>
            <a:r>
              <a:rPr lang="zh-CN" altLang="en-US" sz="200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，</a:t>
            </a:r>
            <a:r>
              <a:rPr lang="zh-CN" altLang="en-US" sz="200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  <a:cs typeface="Times New Roman" pitchFamily="18" charset="0"/>
              </a:rPr>
              <a:t>从而使两个公式一致。</a:t>
            </a:r>
            <a:r>
              <a:rPr lang="zh-CN" altLang="en-US" sz="200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 称为通个</a:t>
            </a:r>
            <a:r>
              <a:rPr lang="zh-CN" altLang="en-US" sz="2000" dirty="0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置换</a:t>
            </a:r>
            <a:r>
              <a:rPr lang="en-US" altLang="zh-CN" sz="200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{B/y}</a:t>
            </a:r>
            <a:r>
              <a:rPr lang="zh-CN" altLang="en-US" sz="200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就可使上述公式集</a:t>
            </a:r>
            <a:r>
              <a:rPr lang="zh-CN" altLang="en-US" sz="2000" dirty="0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合一。</a:t>
            </a:r>
          </a:p>
          <a:p>
            <a:pPr>
              <a:buFont typeface="Wingdings" pitchFamily="2" charset="2"/>
              <a:buNone/>
              <a:defRPr/>
            </a:pPr>
            <a:r>
              <a:rPr lang="zh-CN" altLang="en-US" dirty="0">
                <a:solidFill>
                  <a:srgbClr val="000000"/>
                </a:solidFill>
                <a:latin typeface="宋体" pitchFamily="2" charset="-122"/>
              </a:rPr>
              <a:t> </a:t>
            </a:r>
            <a:endParaRPr lang="en-US" altLang="zh-CN" dirty="0">
              <a:solidFill>
                <a:srgbClr val="000000"/>
              </a:solidFill>
              <a:latin typeface="宋体" pitchFamily="2" charset="-122"/>
            </a:endParaRPr>
          </a:p>
          <a:p>
            <a:pPr>
              <a:buFont typeface="Wingdings" pitchFamily="2" charset="2"/>
              <a:buNone/>
              <a:defRPr/>
            </a:pPr>
            <a:endParaRPr lang="zh-CN" altLang="en-US" dirty="0">
              <a:solidFill>
                <a:srgbClr val="000000"/>
              </a:solidFill>
              <a:latin typeface="宋体" pitchFamily="2" charset="-122"/>
            </a:endParaRPr>
          </a:p>
        </p:txBody>
      </p:sp>
      <p:sp>
        <p:nvSpPr>
          <p:cNvPr id="6" name="标题 1">
            <a:extLst>
              <a:ext uri="{FF2B5EF4-FFF2-40B4-BE49-F238E27FC236}">
                <a16:creationId xmlns:a16="http://schemas.microsoft.com/office/drawing/2014/main" id="{FA4D1EC3-C26F-C2C3-A13F-514CD5D8D7F9}"/>
              </a:ext>
            </a:extLst>
          </p:cNvPr>
          <p:cNvSpPr txBox="1">
            <a:spLocks/>
          </p:cNvSpPr>
          <p:nvPr/>
        </p:nvSpPr>
        <p:spPr>
          <a:xfrm>
            <a:off x="462815" y="162995"/>
            <a:ext cx="4080309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zh-CN" altLang="en-US" sz="3200" dirty="0">
                <a:solidFill>
                  <a:srgbClr val="FF0000"/>
                </a:solidFill>
                <a:latin typeface=".AppleSystemUIFont"/>
              </a:rPr>
              <a:t>归结原理</a:t>
            </a:r>
          </a:p>
        </p:txBody>
      </p:sp>
    </p:spTree>
    <p:extLst>
      <p:ext uri="{BB962C8B-B14F-4D97-AF65-F5344CB8AC3E}">
        <p14:creationId xmlns:p14="http://schemas.microsoft.com/office/powerpoint/2010/main" val="5468042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C9E35D1A-DE04-4ED2-9799-6C1B33F29A7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49254" y="1604061"/>
            <a:ext cx="8763000" cy="3834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228600" indent="-228600" eaLnBrk="1" hangingPunct="1">
              <a:lnSpc>
                <a:spcPct val="7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/>
            </a:pPr>
            <a:r>
              <a:rPr lang="zh-CN" altLang="en-US" sz="2200" b="1" dirty="0">
                <a:solidFill>
                  <a:srgbClr val="FF0000"/>
                </a:solidFill>
              </a:rPr>
              <a:t>置换和合一 </a:t>
            </a:r>
          </a:p>
          <a:p>
            <a:pPr>
              <a:lnSpc>
                <a:spcPct val="125000"/>
              </a:lnSpc>
              <a:buFont typeface="Wingdings" pitchFamily="2" charset="2"/>
              <a:buNone/>
              <a:defRPr/>
            </a:pPr>
            <a:r>
              <a:rPr lang="zh-CN" altLang="en-US" sz="2800" kern="0" dirty="0">
                <a:solidFill>
                  <a:srgbClr val="000000"/>
                </a:solidFill>
                <a:latin typeface="宋体" pitchFamily="2" charset="-122"/>
                <a:cs typeface="Times New Roman" pitchFamily="18" charset="0"/>
              </a:rPr>
              <a:t>	</a:t>
            </a:r>
            <a:endParaRPr lang="en-US" altLang="zh-CN" sz="2800" kern="0" dirty="0">
              <a:solidFill>
                <a:srgbClr val="000000"/>
              </a:solidFill>
              <a:latin typeface="宋体" pitchFamily="2" charset="-122"/>
              <a:cs typeface="Times New Roman" pitchFamily="18" charset="0"/>
            </a:endParaRPr>
          </a:p>
          <a:p>
            <a:pPr>
              <a:lnSpc>
                <a:spcPct val="125000"/>
              </a:lnSpc>
              <a:buFont typeface="Wingdings" pitchFamily="2" charset="2"/>
              <a:buNone/>
              <a:defRPr/>
            </a:pPr>
            <a:r>
              <a:rPr lang="zh-CN" altLang="en-US" sz="2000" kern="0" dirty="0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  <a:cs typeface="Times New Roman" pitchFamily="18" charset="0"/>
              </a:rPr>
              <a:t>置换</a:t>
            </a:r>
            <a:r>
              <a:rPr lang="zh-CN" altLang="en-US" sz="2000" kern="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  <a:cs typeface="Times New Roman" pitchFamily="18" charset="0"/>
              </a:rPr>
              <a:t>可用有序对的集合</a:t>
            </a:r>
            <a:r>
              <a:rPr lang="en-US" altLang="zh-CN" sz="2000" kern="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  <a:cs typeface="Times New Roman" pitchFamily="18" charset="0"/>
              </a:rPr>
              <a:t>s={t</a:t>
            </a:r>
            <a:r>
              <a:rPr lang="en-US" altLang="zh-CN" sz="2000" kern="0" baseline="-3000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  <a:cs typeface="Times New Roman" pitchFamily="18" charset="0"/>
              </a:rPr>
              <a:t>1</a:t>
            </a:r>
            <a:r>
              <a:rPr lang="en-US" altLang="zh-CN" sz="2000" kern="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  <a:cs typeface="Times New Roman" pitchFamily="18" charset="0"/>
              </a:rPr>
              <a:t>/v</a:t>
            </a:r>
            <a:r>
              <a:rPr lang="en-US" altLang="zh-CN" sz="2000" kern="0" baseline="-3000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  <a:cs typeface="Times New Roman" pitchFamily="18" charset="0"/>
              </a:rPr>
              <a:t>1</a:t>
            </a:r>
            <a:r>
              <a:rPr lang="zh-CN" altLang="en-US" sz="2000" kern="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  <a:cs typeface="Times New Roman" pitchFamily="18" charset="0"/>
              </a:rPr>
              <a:t>，</a:t>
            </a:r>
            <a:r>
              <a:rPr lang="en-US" altLang="zh-CN" sz="2000" kern="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  <a:cs typeface="Times New Roman" pitchFamily="18" charset="0"/>
              </a:rPr>
              <a:t>t</a:t>
            </a:r>
            <a:r>
              <a:rPr lang="en-US" altLang="zh-CN" sz="2000" kern="0" baseline="-3000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  <a:cs typeface="Times New Roman" pitchFamily="18" charset="0"/>
              </a:rPr>
              <a:t>2</a:t>
            </a:r>
            <a:r>
              <a:rPr lang="en-US" altLang="zh-CN" sz="2000" kern="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  <a:cs typeface="Times New Roman" pitchFamily="18" charset="0"/>
              </a:rPr>
              <a:t>/v</a:t>
            </a:r>
            <a:r>
              <a:rPr lang="en-US" altLang="zh-CN" sz="2000" kern="0" baseline="-3000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  <a:cs typeface="Times New Roman" pitchFamily="18" charset="0"/>
              </a:rPr>
              <a:t>2</a:t>
            </a:r>
            <a:r>
              <a:rPr lang="zh-CN" altLang="en-US" sz="2000" kern="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  <a:cs typeface="Times New Roman" pitchFamily="18" charset="0"/>
              </a:rPr>
              <a:t>，</a:t>
            </a:r>
            <a:r>
              <a:rPr lang="en-US" altLang="zh-CN" sz="2000" kern="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  <a:cs typeface="Times New Roman" pitchFamily="18" charset="0"/>
              </a:rPr>
              <a:t>…</a:t>
            </a:r>
            <a:r>
              <a:rPr lang="zh-CN" altLang="en-US" sz="2000" kern="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  <a:cs typeface="Times New Roman" pitchFamily="18" charset="0"/>
              </a:rPr>
              <a:t>，</a:t>
            </a:r>
            <a:r>
              <a:rPr lang="en-US" altLang="zh-CN" sz="2000" kern="0" dirty="0" err="1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  <a:cs typeface="Times New Roman" pitchFamily="18" charset="0"/>
              </a:rPr>
              <a:t>t</a:t>
            </a:r>
            <a:r>
              <a:rPr lang="en-US" altLang="zh-CN" sz="2000" kern="0" baseline="-30000" dirty="0" err="1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  <a:cs typeface="Times New Roman" pitchFamily="18" charset="0"/>
              </a:rPr>
              <a:t>n</a:t>
            </a:r>
            <a:r>
              <a:rPr lang="en-US" altLang="zh-CN" sz="2000" kern="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  <a:cs typeface="Times New Roman" pitchFamily="18" charset="0"/>
              </a:rPr>
              <a:t>/</a:t>
            </a:r>
            <a:r>
              <a:rPr lang="en-US" altLang="zh-CN" sz="2000" kern="0" dirty="0" err="1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  <a:cs typeface="Times New Roman" pitchFamily="18" charset="0"/>
              </a:rPr>
              <a:t>v</a:t>
            </a:r>
            <a:r>
              <a:rPr lang="en-US" altLang="zh-CN" sz="2000" kern="0" baseline="-30000" dirty="0" err="1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  <a:cs typeface="Times New Roman" pitchFamily="18" charset="0"/>
              </a:rPr>
              <a:t>n</a:t>
            </a:r>
            <a:r>
              <a:rPr lang="en-US" altLang="zh-CN" sz="2000" kern="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  <a:cs typeface="Times New Roman" pitchFamily="18" charset="0"/>
              </a:rPr>
              <a:t>}</a:t>
            </a:r>
            <a:r>
              <a:rPr lang="zh-CN" altLang="en-US" sz="2000" kern="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  <a:cs typeface="Times New Roman" pitchFamily="18" charset="0"/>
              </a:rPr>
              <a:t>表示，其中</a:t>
            </a:r>
            <a:r>
              <a:rPr lang="en-US" altLang="zh-CN" sz="2000" kern="0" dirty="0" err="1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  <a:cs typeface="Times New Roman" pitchFamily="18" charset="0"/>
              </a:rPr>
              <a:t>t</a:t>
            </a:r>
            <a:r>
              <a:rPr lang="en-US" altLang="zh-CN" sz="2000" kern="0" baseline="-30000" dirty="0" err="1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  <a:cs typeface="Times New Roman" pitchFamily="18" charset="0"/>
              </a:rPr>
              <a:t>i</a:t>
            </a:r>
            <a:r>
              <a:rPr lang="en-US" altLang="zh-CN" sz="2000" kern="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  <a:cs typeface="Times New Roman" pitchFamily="18" charset="0"/>
              </a:rPr>
              <a:t>/v</a:t>
            </a:r>
            <a:r>
              <a:rPr lang="en-US" altLang="zh-CN" sz="2000" kern="0" baseline="-3000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  <a:cs typeface="Times New Roman" pitchFamily="18" charset="0"/>
              </a:rPr>
              <a:t>i</a:t>
            </a:r>
            <a:r>
              <a:rPr lang="zh-CN" altLang="en-US" sz="2000" kern="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  <a:cs typeface="Times New Roman" pitchFamily="18" charset="0"/>
              </a:rPr>
              <a:t>表示将表达式中所有的变量</a:t>
            </a:r>
            <a:r>
              <a:rPr lang="en-US" altLang="zh-CN" sz="2000" kern="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  <a:cs typeface="Times New Roman" pitchFamily="18" charset="0"/>
              </a:rPr>
              <a:t>v</a:t>
            </a:r>
            <a:r>
              <a:rPr lang="en-US" altLang="zh-CN" sz="2000" kern="0" baseline="-3000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  <a:cs typeface="Times New Roman" pitchFamily="18" charset="0"/>
              </a:rPr>
              <a:t>i</a:t>
            </a:r>
            <a:r>
              <a:rPr lang="zh-CN" altLang="en-US" sz="2000" kern="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  <a:cs typeface="Times New Roman" pitchFamily="18" charset="0"/>
              </a:rPr>
              <a:t>都用项</a:t>
            </a:r>
            <a:r>
              <a:rPr lang="en-US" altLang="zh-CN" sz="2000" kern="0" dirty="0" err="1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  <a:cs typeface="Times New Roman" pitchFamily="18" charset="0"/>
              </a:rPr>
              <a:t>t</a:t>
            </a:r>
            <a:r>
              <a:rPr lang="en-US" altLang="zh-CN" sz="2000" kern="0" baseline="-30000" dirty="0" err="1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  <a:cs typeface="Times New Roman" pitchFamily="18" charset="0"/>
              </a:rPr>
              <a:t>i</a:t>
            </a:r>
            <a:r>
              <a:rPr lang="zh-CN" altLang="en-US" sz="2000" kern="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  <a:cs typeface="Times New Roman" pitchFamily="18" charset="0"/>
              </a:rPr>
              <a:t>代替，</a:t>
            </a:r>
            <a:r>
              <a:rPr lang="en-US" altLang="zh-CN" sz="2000" kern="0" dirty="0" err="1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  <a:cs typeface="Times New Roman" pitchFamily="18" charset="0"/>
              </a:rPr>
              <a:t>t</a:t>
            </a:r>
            <a:r>
              <a:rPr lang="en-US" altLang="zh-CN" sz="2000" kern="0" baseline="-30000" dirty="0" err="1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  <a:cs typeface="Times New Roman" pitchFamily="18" charset="0"/>
              </a:rPr>
              <a:t>i</a:t>
            </a:r>
            <a:r>
              <a:rPr lang="zh-CN" altLang="en-US" sz="2000" kern="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  <a:cs typeface="Times New Roman" pitchFamily="18" charset="0"/>
              </a:rPr>
              <a:t>可以是变量、常量或函数。</a:t>
            </a:r>
          </a:p>
          <a:p>
            <a:pPr>
              <a:lnSpc>
                <a:spcPct val="125000"/>
              </a:lnSpc>
              <a:buFont typeface="Wingdings" pitchFamily="2" charset="2"/>
              <a:buNone/>
              <a:defRPr/>
            </a:pPr>
            <a:r>
              <a:rPr lang="zh-CN" altLang="en-US" sz="2000" kern="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  <a:cs typeface="Times New Roman" pitchFamily="18" charset="0"/>
              </a:rPr>
              <a:t>	</a:t>
            </a:r>
            <a:endParaRPr lang="en-US" altLang="zh-CN" sz="2000" kern="0" dirty="0">
              <a:solidFill>
                <a:srgbClr val="000000"/>
              </a:solidFill>
              <a:latin typeface="SimSun" panose="02010600030101010101" pitchFamily="2" charset="-122"/>
              <a:ea typeface="SimSun" panose="02010600030101010101" pitchFamily="2" charset="-122"/>
              <a:cs typeface="Times New Roman" pitchFamily="18" charset="0"/>
            </a:endParaRPr>
          </a:p>
          <a:p>
            <a:pPr>
              <a:lnSpc>
                <a:spcPct val="125000"/>
              </a:lnSpc>
              <a:buFont typeface="Wingdings" pitchFamily="2" charset="2"/>
              <a:buNone/>
              <a:defRPr/>
            </a:pPr>
            <a:r>
              <a:rPr lang="zh-CN" altLang="en-US" sz="2000" kern="0" dirty="0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  <a:cs typeface="Times New Roman" pitchFamily="18" charset="0"/>
              </a:rPr>
              <a:t>注意</a:t>
            </a:r>
            <a:r>
              <a:rPr lang="zh-CN" altLang="en-US" sz="2000" kern="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  <a:cs typeface="Times New Roman" pitchFamily="18" charset="0"/>
              </a:rPr>
              <a:t>，一个变量不能用含有同一变量的项来代替，被置换的一定是变量 </a:t>
            </a:r>
          </a:p>
          <a:p>
            <a:pPr algn="just">
              <a:lnSpc>
                <a:spcPct val="125000"/>
              </a:lnSpc>
              <a:buFont typeface="Wingdings" pitchFamily="2" charset="2"/>
              <a:buNone/>
              <a:defRPr/>
            </a:pPr>
            <a:r>
              <a:rPr lang="zh-CN" altLang="en-US" sz="2000" kern="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	一般可用</a:t>
            </a:r>
            <a:r>
              <a:rPr lang="en-US" altLang="zh-CN" sz="2000" kern="0" dirty="0" err="1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Es</a:t>
            </a:r>
            <a:r>
              <a:rPr lang="zh-CN" altLang="en-US" sz="2000" kern="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表示一个表达式</a:t>
            </a:r>
            <a:r>
              <a:rPr lang="en-US" altLang="zh-CN" sz="2000" kern="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E</a:t>
            </a:r>
            <a:r>
              <a:rPr lang="zh-CN" altLang="en-US" sz="2000" kern="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用一个置换</a:t>
            </a:r>
            <a:r>
              <a:rPr lang="en-US" altLang="zh-CN" sz="2000" kern="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s</a:t>
            </a:r>
            <a:r>
              <a:rPr lang="zh-CN" altLang="en-US" sz="2000" kern="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所得到的表达式的置换。</a:t>
            </a:r>
          </a:p>
          <a:p>
            <a:pPr algn="just">
              <a:lnSpc>
                <a:spcPct val="125000"/>
              </a:lnSpc>
              <a:buFont typeface="Wingdings" pitchFamily="2" charset="2"/>
              <a:buNone/>
              <a:defRPr/>
            </a:pPr>
            <a:r>
              <a:rPr lang="zh-CN" altLang="en-US" sz="2000" kern="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	如：</a:t>
            </a:r>
            <a:r>
              <a:rPr lang="en-US" altLang="zh-CN" sz="2000" kern="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P</a:t>
            </a:r>
            <a:r>
              <a:rPr lang="zh-CN" altLang="en-US" sz="2000" kern="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（</a:t>
            </a:r>
            <a:r>
              <a:rPr lang="en-US" altLang="zh-CN" sz="2000" kern="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z</a:t>
            </a:r>
            <a:r>
              <a:rPr lang="zh-CN" altLang="en-US" sz="2000" kern="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，</a:t>
            </a:r>
            <a:r>
              <a:rPr lang="en-US" altLang="zh-CN" sz="2000" kern="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f</a:t>
            </a:r>
            <a:r>
              <a:rPr lang="zh-CN" altLang="en-US" sz="2000" kern="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（</a:t>
            </a:r>
            <a:r>
              <a:rPr lang="en-US" altLang="zh-CN" sz="2000" kern="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w</a:t>
            </a:r>
            <a:r>
              <a:rPr lang="zh-CN" altLang="en-US" sz="2000" kern="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），</a:t>
            </a:r>
            <a:r>
              <a:rPr lang="en-US" altLang="zh-CN" sz="2000" kern="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A</a:t>
            </a:r>
            <a:r>
              <a:rPr lang="zh-CN" altLang="en-US" sz="2000" kern="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）</a:t>
            </a:r>
            <a:r>
              <a:rPr lang="en-US" altLang="zh-CN" sz="2000" kern="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= </a:t>
            </a:r>
            <a:r>
              <a:rPr lang="zh-CN" altLang="en-US" sz="2000" kern="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（</a:t>
            </a:r>
            <a:r>
              <a:rPr lang="en-US" altLang="zh-CN" sz="2000" kern="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P</a:t>
            </a:r>
            <a:r>
              <a:rPr lang="zh-CN" altLang="en-US" sz="2000" kern="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（</a:t>
            </a:r>
            <a:r>
              <a:rPr lang="en-US" altLang="zh-CN" sz="2000" kern="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x</a:t>
            </a:r>
            <a:r>
              <a:rPr lang="zh-CN" altLang="en-US" sz="2000" kern="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，</a:t>
            </a:r>
            <a:r>
              <a:rPr lang="en-US" altLang="zh-CN" sz="2000" kern="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f</a:t>
            </a:r>
            <a:r>
              <a:rPr lang="zh-CN" altLang="en-US" sz="2000" kern="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（</a:t>
            </a:r>
            <a:r>
              <a:rPr lang="en-US" altLang="zh-CN" sz="2000" kern="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y</a:t>
            </a:r>
            <a:r>
              <a:rPr lang="zh-CN" altLang="en-US" sz="2000" kern="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），</a:t>
            </a:r>
            <a:r>
              <a:rPr lang="en-US" altLang="zh-CN" sz="2000" kern="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A</a:t>
            </a:r>
            <a:r>
              <a:rPr lang="zh-CN" altLang="en-US" sz="2000" kern="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））</a:t>
            </a:r>
            <a:r>
              <a:rPr lang="en-US" altLang="zh-CN" sz="2000" kern="0" baseline="-3000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s </a:t>
            </a:r>
            <a:endParaRPr lang="en-US" altLang="zh-CN" sz="2000" kern="0" dirty="0">
              <a:solidFill>
                <a:srgbClr val="000000"/>
              </a:solidFill>
              <a:latin typeface="SimSun" panose="02010600030101010101" pitchFamily="2" charset="-122"/>
              <a:ea typeface="SimSun" panose="02010600030101010101" pitchFamily="2" charset="-122"/>
              <a:cs typeface="Times New Roman" pitchFamily="18" charset="0"/>
            </a:endParaRPr>
          </a:p>
        </p:txBody>
      </p:sp>
      <p:sp>
        <p:nvSpPr>
          <p:cNvPr id="3" name="标题 1">
            <a:extLst>
              <a:ext uri="{FF2B5EF4-FFF2-40B4-BE49-F238E27FC236}">
                <a16:creationId xmlns:a16="http://schemas.microsoft.com/office/drawing/2014/main" id="{E53C5415-BFCA-FAD3-B101-ED91BD2343E7}"/>
              </a:ext>
            </a:extLst>
          </p:cNvPr>
          <p:cNvSpPr txBox="1">
            <a:spLocks/>
          </p:cNvSpPr>
          <p:nvPr/>
        </p:nvSpPr>
        <p:spPr>
          <a:xfrm>
            <a:off x="462815" y="162995"/>
            <a:ext cx="4080309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zh-CN" altLang="en-US" sz="3200" dirty="0">
                <a:solidFill>
                  <a:srgbClr val="FF0000"/>
                </a:solidFill>
                <a:latin typeface=".AppleSystemUIFont"/>
              </a:rPr>
              <a:t>归结原理</a:t>
            </a:r>
          </a:p>
        </p:txBody>
      </p:sp>
    </p:spTree>
    <p:extLst>
      <p:ext uri="{BB962C8B-B14F-4D97-AF65-F5344CB8AC3E}">
        <p14:creationId xmlns:p14="http://schemas.microsoft.com/office/powerpoint/2010/main" val="317156417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AE9F72C-D08A-4A7A-844D-4C891387B6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68387" y="1575185"/>
            <a:ext cx="9325794" cy="4402103"/>
          </a:xfrm>
        </p:spPr>
        <p:txBody>
          <a:bodyPr>
            <a:normAutofit fontScale="92500" lnSpcReduction="20000"/>
          </a:bodyPr>
          <a:lstStyle/>
          <a:p>
            <a:pPr fontAlgn="base">
              <a:spcAft>
                <a:spcPct val="0"/>
              </a:spcAft>
              <a:defRPr/>
            </a:pPr>
            <a:r>
              <a:rPr lang="zh-CN" altLang="en-US" sz="2400" b="1" dirty="0">
                <a:solidFill>
                  <a:srgbClr val="FF0000"/>
                </a:solidFill>
              </a:rPr>
              <a:t>置换和合一 </a:t>
            </a:r>
            <a:endParaRPr lang="en-US" altLang="zh-CN" sz="2400" b="1" dirty="0">
              <a:solidFill>
                <a:srgbClr val="FF0000"/>
              </a:solidFill>
            </a:endParaRPr>
          </a:p>
          <a:p>
            <a:pPr marL="0" indent="0" fontAlgn="base">
              <a:spcAft>
                <a:spcPct val="0"/>
              </a:spcAft>
              <a:buNone/>
              <a:defRPr/>
            </a:pPr>
            <a:endParaRPr lang="zh-CN" altLang="en-US" sz="2400" b="1" dirty="0">
              <a:solidFill>
                <a:srgbClr val="FF0000"/>
              </a:solidFill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pPr>
              <a:buFont typeface="Wingdings" pitchFamily="2" charset="2"/>
              <a:buNone/>
              <a:defRPr/>
            </a:pPr>
            <a:r>
              <a:rPr lang="zh-CN" altLang="en-US" sz="2000" dirty="0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例如：</a:t>
            </a:r>
            <a:r>
              <a:rPr lang="zh-CN" altLang="en-US" sz="2200" kern="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  <a:cs typeface="Times New Roman" pitchFamily="18" charset="0"/>
              </a:rPr>
              <a:t>有表达式</a:t>
            </a:r>
            <a:r>
              <a:rPr lang="en-US" altLang="zh-CN" sz="2200" kern="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  <a:cs typeface="Times New Roman" pitchFamily="18" charset="0"/>
              </a:rPr>
              <a:t>P</a:t>
            </a:r>
            <a:r>
              <a:rPr lang="zh-CN" altLang="en-US" sz="2200" kern="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  <a:cs typeface="Times New Roman" pitchFamily="18" charset="0"/>
              </a:rPr>
              <a:t>（</a:t>
            </a:r>
            <a:r>
              <a:rPr lang="en-US" altLang="zh-CN" sz="2200" kern="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  <a:cs typeface="Times New Roman" pitchFamily="18" charset="0"/>
              </a:rPr>
              <a:t>x</a:t>
            </a:r>
            <a:r>
              <a:rPr lang="zh-CN" altLang="en-US" sz="2200" kern="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  <a:cs typeface="Times New Roman" pitchFamily="18" charset="0"/>
              </a:rPr>
              <a:t>，</a:t>
            </a:r>
            <a:r>
              <a:rPr lang="en-US" altLang="zh-CN" sz="2200" kern="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  <a:cs typeface="Times New Roman" pitchFamily="18" charset="0"/>
              </a:rPr>
              <a:t>f</a:t>
            </a:r>
            <a:r>
              <a:rPr lang="zh-CN" altLang="en-US" sz="2200" kern="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  <a:cs typeface="Times New Roman" pitchFamily="18" charset="0"/>
              </a:rPr>
              <a:t>（</a:t>
            </a:r>
            <a:r>
              <a:rPr lang="en-US" altLang="zh-CN" sz="2200" kern="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  <a:cs typeface="Times New Roman" pitchFamily="18" charset="0"/>
              </a:rPr>
              <a:t>y</a:t>
            </a:r>
            <a:r>
              <a:rPr lang="zh-CN" altLang="en-US" sz="2200" kern="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  <a:cs typeface="Times New Roman" pitchFamily="18" charset="0"/>
              </a:rPr>
              <a:t>），</a:t>
            </a:r>
            <a:r>
              <a:rPr lang="en-US" altLang="zh-CN" sz="2200" kern="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  <a:cs typeface="Times New Roman" pitchFamily="18" charset="0"/>
              </a:rPr>
              <a:t>A</a:t>
            </a:r>
            <a:r>
              <a:rPr lang="zh-CN" altLang="en-US" sz="2200" kern="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  <a:cs typeface="Times New Roman" pitchFamily="18" charset="0"/>
              </a:rPr>
              <a:t>），通过不同的置换，可分别得到：</a:t>
            </a:r>
          </a:p>
          <a:p>
            <a:pPr algn="just">
              <a:lnSpc>
                <a:spcPct val="114000"/>
              </a:lnSpc>
              <a:buFont typeface="Wingdings" pitchFamily="2" charset="2"/>
              <a:buNone/>
              <a:defRPr/>
            </a:pPr>
            <a:r>
              <a:rPr lang="zh-CN" altLang="en-US" sz="2200" kern="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  <a:cs typeface="Times New Roman" pitchFamily="18" charset="0"/>
              </a:rPr>
              <a:t>	</a:t>
            </a:r>
            <a:r>
              <a:rPr lang="en-US" altLang="zh-CN" sz="2200" kern="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  <a:cs typeface="Times New Roman" pitchFamily="18" charset="0"/>
              </a:rPr>
              <a:t>P</a:t>
            </a:r>
            <a:r>
              <a:rPr lang="zh-CN" altLang="en-US" sz="2200" kern="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  <a:cs typeface="Times New Roman" pitchFamily="18" charset="0"/>
              </a:rPr>
              <a:t>（</a:t>
            </a:r>
            <a:r>
              <a:rPr lang="en-US" altLang="zh-CN" sz="2200" kern="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  <a:cs typeface="Times New Roman" pitchFamily="18" charset="0"/>
              </a:rPr>
              <a:t>z</a:t>
            </a:r>
            <a:r>
              <a:rPr lang="zh-CN" altLang="en-US" sz="2200" kern="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  <a:cs typeface="Times New Roman" pitchFamily="18" charset="0"/>
              </a:rPr>
              <a:t>，</a:t>
            </a:r>
            <a:r>
              <a:rPr lang="en-US" altLang="zh-CN" sz="2200" kern="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  <a:cs typeface="Times New Roman" pitchFamily="18" charset="0"/>
              </a:rPr>
              <a:t>f</a:t>
            </a:r>
            <a:r>
              <a:rPr lang="zh-CN" altLang="en-US" sz="2200" kern="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  <a:cs typeface="Times New Roman" pitchFamily="18" charset="0"/>
              </a:rPr>
              <a:t>（</a:t>
            </a:r>
            <a:r>
              <a:rPr lang="en-US" altLang="zh-CN" sz="2200" kern="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  <a:cs typeface="Times New Roman" pitchFamily="18" charset="0"/>
              </a:rPr>
              <a:t>w</a:t>
            </a:r>
            <a:r>
              <a:rPr lang="zh-CN" altLang="en-US" sz="2200" kern="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  <a:cs typeface="Times New Roman" pitchFamily="18" charset="0"/>
              </a:rPr>
              <a:t>），</a:t>
            </a:r>
            <a:r>
              <a:rPr lang="en-US" altLang="zh-CN" sz="2200" kern="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  <a:cs typeface="Times New Roman" pitchFamily="18" charset="0"/>
              </a:rPr>
              <a:t>A</a:t>
            </a:r>
            <a:r>
              <a:rPr lang="zh-CN" altLang="en-US" sz="2200" kern="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  <a:cs typeface="Times New Roman" pitchFamily="18" charset="0"/>
              </a:rPr>
              <a:t>） </a:t>
            </a:r>
            <a:endParaRPr lang="en-US" altLang="zh-CN" sz="2200" kern="0" dirty="0">
              <a:solidFill>
                <a:srgbClr val="000000"/>
              </a:solidFill>
              <a:latin typeface="SimSun" panose="02010600030101010101" pitchFamily="2" charset="-122"/>
              <a:ea typeface="SimSun" panose="02010600030101010101" pitchFamily="2" charset="-122"/>
              <a:cs typeface="Times New Roman" pitchFamily="18" charset="0"/>
            </a:endParaRPr>
          </a:p>
          <a:p>
            <a:pPr algn="just">
              <a:lnSpc>
                <a:spcPct val="114000"/>
              </a:lnSpc>
              <a:buFont typeface="Wingdings" pitchFamily="2" charset="2"/>
              <a:buNone/>
              <a:defRPr/>
            </a:pPr>
            <a:r>
              <a:rPr lang="en-US" altLang="zh-CN" sz="2200" kern="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  <a:cs typeface="Times New Roman" pitchFamily="18" charset="0"/>
              </a:rPr>
              <a:t>  </a:t>
            </a:r>
            <a:r>
              <a:rPr lang="zh-CN" altLang="en-US" sz="2200" kern="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  <a:cs typeface="Times New Roman" pitchFamily="18" charset="0"/>
              </a:rPr>
              <a:t>相应的置换为 </a:t>
            </a:r>
            <a:r>
              <a:rPr lang="en-US" altLang="zh-CN" sz="2200" kern="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  <a:cs typeface="Times New Roman" pitchFamily="18" charset="0"/>
              </a:rPr>
              <a:t>s1 = { z/x </a:t>
            </a:r>
            <a:r>
              <a:rPr lang="zh-CN" altLang="en-US" sz="2200" kern="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  <a:cs typeface="Times New Roman" pitchFamily="18" charset="0"/>
              </a:rPr>
              <a:t>，</a:t>
            </a:r>
            <a:r>
              <a:rPr lang="en-US" altLang="zh-CN" sz="2200" kern="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  <a:cs typeface="Times New Roman" pitchFamily="18" charset="0"/>
              </a:rPr>
              <a:t>w/y }</a:t>
            </a:r>
          </a:p>
          <a:p>
            <a:pPr algn="just">
              <a:lnSpc>
                <a:spcPct val="114000"/>
              </a:lnSpc>
              <a:buFont typeface="Wingdings" pitchFamily="2" charset="2"/>
              <a:buNone/>
              <a:defRPr/>
            </a:pPr>
            <a:r>
              <a:rPr lang="en-US" altLang="zh-CN" sz="2200" kern="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  <a:cs typeface="Times New Roman" pitchFamily="18" charset="0"/>
              </a:rPr>
              <a:t>	P</a:t>
            </a:r>
            <a:r>
              <a:rPr lang="zh-CN" altLang="en-US" sz="2200" kern="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  <a:cs typeface="Times New Roman" pitchFamily="18" charset="0"/>
              </a:rPr>
              <a:t>（</a:t>
            </a:r>
            <a:r>
              <a:rPr lang="en-US" altLang="zh-CN" sz="2200" kern="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  <a:cs typeface="Times New Roman" pitchFamily="18" charset="0"/>
              </a:rPr>
              <a:t>x</a:t>
            </a:r>
            <a:r>
              <a:rPr lang="zh-CN" altLang="en-US" sz="2200" kern="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  <a:cs typeface="Times New Roman" pitchFamily="18" charset="0"/>
              </a:rPr>
              <a:t>，</a:t>
            </a:r>
            <a:r>
              <a:rPr lang="en-US" altLang="zh-CN" sz="2200" kern="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  <a:cs typeface="Times New Roman" pitchFamily="18" charset="0"/>
              </a:rPr>
              <a:t>f</a:t>
            </a:r>
            <a:r>
              <a:rPr lang="zh-CN" altLang="en-US" sz="2200" kern="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  <a:cs typeface="Times New Roman" pitchFamily="18" charset="0"/>
              </a:rPr>
              <a:t>（</a:t>
            </a:r>
            <a:r>
              <a:rPr lang="en-US" altLang="zh-CN" sz="2200" kern="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  <a:cs typeface="Times New Roman" pitchFamily="18" charset="0"/>
              </a:rPr>
              <a:t>B</a:t>
            </a:r>
            <a:r>
              <a:rPr lang="zh-CN" altLang="en-US" sz="2200" kern="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  <a:cs typeface="Times New Roman" pitchFamily="18" charset="0"/>
              </a:rPr>
              <a:t>），</a:t>
            </a:r>
            <a:r>
              <a:rPr lang="en-US" altLang="zh-CN" sz="2200" kern="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  <a:cs typeface="Times New Roman" pitchFamily="18" charset="0"/>
              </a:rPr>
              <a:t>A</a:t>
            </a:r>
            <a:r>
              <a:rPr lang="zh-CN" altLang="en-US" sz="2200" kern="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  <a:cs typeface="Times New Roman" pitchFamily="18" charset="0"/>
              </a:rPr>
              <a:t>） 相应的置换为 </a:t>
            </a:r>
            <a:r>
              <a:rPr lang="en-US" altLang="zh-CN" sz="2200" kern="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  <a:cs typeface="Times New Roman" pitchFamily="18" charset="0"/>
              </a:rPr>
              <a:t>s2 = { B/ y }</a:t>
            </a:r>
          </a:p>
          <a:p>
            <a:pPr algn="just">
              <a:lnSpc>
                <a:spcPct val="114000"/>
              </a:lnSpc>
              <a:buFont typeface="Wingdings" pitchFamily="2" charset="2"/>
              <a:buNone/>
              <a:defRPr/>
            </a:pPr>
            <a:r>
              <a:rPr lang="en-US" altLang="zh-CN" sz="2200" kern="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  <a:cs typeface="Times New Roman" pitchFamily="18" charset="0"/>
              </a:rPr>
              <a:t>	P</a:t>
            </a:r>
            <a:r>
              <a:rPr lang="zh-CN" altLang="en-US" sz="2200" kern="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  <a:cs typeface="Times New Roman" pitchFamily="18" charset="0"/>
              </a:rPr>
              <a:t>（</a:t>
            </a:r>
            <a:r>
              <a:rPr lang="en-US" altLang="zh-CN" sz="2200" kern="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  <a:cs typeface="Times New Roman" pitchFamily="18" charset="0"/>
              </a:rPr>
              <a:t>g(z)</a:t>
            </a:r>
            <a:r>
              <a:rPr lang="zh-CN" altLang="en-US" sz="2200" kern="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  <a:cs typeface="Times New Roman" pitchFamily="18" charset="0"/>
              </a:rPr>
              <a:t>，</a:t>
            </a:r>
            <a:r>
              <a:rPr lang="en-US" altLang="zh-CN" sz="2200" kern="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  <a:cs typeface="Times New Roman" pitchFamily="18" charset="0"/>
              </a:rPr>
              <a:t>f</a:t>
            </a:r>
            <a:r>
              <a:rPr lang="zh-CN" altLang="en-US" sz="2200" kern="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  <a:cs typeface="Times New Roman" pitchFamily="18" charset="0"/>
              </a:rPr>
              <a:t>（</a:t>
            </a:r>
            <a:r>
              <a:rPr lang="en-US" altLang="zh-CN" sz="2200" kern="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  <a:cs typeface="Times New Roman" pitchFamily="18" charset="0"/>
              </a:rPr>
              <a:t>B</a:t>
            </a:r>
            <a:r>
              <a:rPr lang="zh-CN" altLang="en-US" sz="2200" kern="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  <a:cs typeface="Times New Roman" pitchFamily="18" charset="0"/>
              </a:rPr>
              <a:t>），</a:t>
            </a:r>
            <a:r>
              <a:rPr lang="en-US" altLang="zh-CN" sz="2200" kern="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  <a:cs typeface="Times New Roman" pitchFamily="18" charset="0"/>
              </a:rPr>
              <a:t>A</a:t>
            </a:r>
            <a:r>
              <a:rPr lang="zh-CN" altLang="en-US" sz="2200" kern="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  <a:cs typeface="Times New Roman" pitchFamily="18" charset="0"/>
              </a:rPr>
              <a:t>）  	</a:t>
            </a:r>
            <a:endParaRPr lang="en-US" altLang="zh-CN" sz="2200" kern="0" dirty="0">
              <a:solidFill>
                <a:srgbClr val="000000"/>
              </a:solidFill>
              <a:latin typeface="SimSun" panose="02010600030101010101" pitchFamily="2" charset="-122"/>
              <a:ea typeface="SimSun" panose="02010600030101010101" pitchFamily="2" charset="-122"/>
              <a:cs typeface="Times New Roman" pitchFamily="18" charset="0"/>
            </a:endParaRPr>
          </a:p>
          <a:p>
            <a:pPr algn="just">
              <a:lnSpc>
                <a:spcPct val="114000"/>
              </a:lnSpc>
              <a:buFont typeface="Wingdings" pitchFamily="2" charset="2"/>
              <a:buNone/>
              <a:defRPr/>
            </a:pPr>
            <a:r>
              <a:rPr lang="en-US" altLang="zh-CN" sz="2200" kern="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  <a:cs typeface="Times New Roman" pitchFamily="18" charset="0"/>
              </a:rPr>
              <a:t>  </a:t>
            </a:r>
            <a:r>
              <a:rPr lang="zh-CN" altLang="en-US" sz="2200" kern="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  <a:cs typeface="Times New Roman" pitchFamily="18" charset="0"/>
              </a:rPr>
              <a:t>相应的置换为 </a:t>
            </a:r>
            <a:r>
              <a:rPr lang="en-US" altLang="zh-CN" sz="2200" kern="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  <a:cs typeface="Times New Roman" pitchFamily="18" charset="0"/>
              </a:rPr>
              <a:t>s3 = { g(z)/x </a:t>
            </a:r>
            <a:r>
              <a:rPr lang="zh-CN" altLang="en-US" sz="2200" kern="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  <a:cs typeface="Times New Roman" pitchFamily="18" charset="0"/>
              </a:rPr>
              <a:t>，</a:t>
            </a:r>
            <a:r>
              <a:rPr lang="en-US" altLang="zh-CN" sz="2200" kern="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  <a:cs typeface="Times New Roman" pitchFamily="18" charset="0"/>
              </a:rPr>
              <a:t>B /y } </a:t>
            </a:r>
          </a:p>
          <a:p>
            <a:pPr>
              <a:lnSpc>
                <a:spcPct val="114000"/>
              </a:lnSpc>
              <a:buFont typeface="Wingdings" pitchFamily="2" charset="2"/>
              <a:buNone/>
              <a:defRPr/>
            </a:pPr>
            <a:r>
              <a:rPr lang="en-US" altLang="zh-CN" sz="2200" kern="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  <a:cs typeface="Times New Roman" pitchFamily="18" charset="0"/>
              </a:rPr>
              <a:t>	P</a:t>
            </a:r>
            <a:r>
              <a:rPr lang="zh-CN" altLang="en-US" sz="2200" kern="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  <a:cs typeface="Times New Roman" pitchFamily="18" charset="0"/>
              </a:rPr>
              <a:t>（</a:t>
            </a:r>
            <a:r>
              <a:rPr lang="en-US" altLang="zh-CN" sz="2200" kern="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  <a:cs typeface="Times New Roman" pitchFamily="18" charset="0"/>
              </a:rPr>
              <a:t>C</a:t>
            </a:r>
            <a:r>
              <a:rPr lang="zh-CN" altLang="en-US" sz="2200" kern="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  <a:cs typeface="Times New Roman" pitchFamily="18" charset="0"/>
              </a:rPr>
              <a:t>，</a:t>
            </a:r>
            <a:r>
              <a:rPr lang="en-US" altLang="zh-CN" sz="2200" kern="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  <a:cs typeface="Times New Roman" pitchFamily="18" charset="0"/>
              </a:rPr>
              <a:t>f</a:t>
            </a:r>
            <a:r>
              <a:rPr lang="zh-CN" altLang="en-US" sz="2200" kern="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  <a:cs typeface="Times New Roman" pitchFamily="18" charset="0"/>
              </a:rPr>
              <a:t>（</a:t>
            </a:r>
            <a:r>
              <a:rPr lang="en-US" altLang="zh-CN" sz="2200" kern="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  <a:cs typeface="Times New Roman" pitchFamily="18" charset="0"/>
              </a:rPr>
              <a:t>B</a:t>
            </a:r>
            <a:r>
              <a:rPr lang="zh-CN" altLang="en-US" sz="2200" kern="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  <a:cs typeface="Times New Roman" pitchFamily="18" charset="0"/>
              </a:rPr>
              <a:t>），</a:t>
            </a:r>
            <a:r>
              <a:rPr lang="en-US" altLang="zh-CN" sz="2200" kern="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  <a:cs typeface="Times New Roman" pitchFamily="18" charset="0"/>
              </a:rPr>
              <a:t>A</a:t>
            </a:r>
            <a:r>
              <a:rPr lang="zh-CN" altLang="en-US" sz="2200" kern="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  <a:cs typeface="Times New Roman" pitchFamily="18" charset="0"/>
              </a:rPr>
              <a:t>）    	</a:t>
            </a:r>
            <a:endParaRPr lang="en-US" altLang="zh-CN" sz="2200" kern="0" dirty="0">
              <a:solidFill>
                <a:srgbClr val="000000"/>
              </a:solidFill>
              <a:latin typeface="SimSun" panose="02010600030101010101" pitchFamily="2" charset="-122"/>
              <a:ea typeface="SimSun" panose="02010600030101010101" pitchFamily="2" charset="-122"/>
              <a:cs typeface="Times New Roman" pitchFamily="18" charset="0"/>
            </a:endParaRPr>
          </a:p>
          <a:p>
            <a:pPr>
              <a:lnSpc>
                <a:spcPct val="114000"/>
              </a:lnSpc>
              <a:buFont typeface="Wingdings" pitchFamily="2" charset="2"/>
              <a:buNone/>
              <a:defRPr/>
            </a:pPr>
            <a:r>
              <a:rPr lang="en-US" altLang="zh-CN" sz="2200" kern="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  <a:cs typeface="Times New Roman" pitchFamily="18" charset="0"/>
              </a:rPr>
              <a:t>  </a:t>
            </a:r>
            <a:r>
              <a:rPr lang="zh-CN" altLang="en-US" sz="2200" kern="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  <a:cs typeface="Times New Roman" pitchFamily="18" charset="0"/>
              </a:rPr>
              <a:t>相应的置换为 </a:t>
            </a:r>
            <a:r>
              <a:rPr lang="en-US" altLang="zh-CN" sz="2200" kern="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  <a:cs typeface="Times New Roman" pitchFamily="18" charset="0"/>
              </a:rPr>
              <a:t>s4 = { C/x </a:t>
            </a:r>
            <a:r>
              <a:rPr lang="zh-CN" altLang="en-US" sz="2200" kern="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  <a:cs typeface="Times New Roman" pitchFamily="18" charset="0"/>
              </a:rPr>
              <a:t>，</a:t>
            </a:r>
            <a:r>
              <a:rPr lang="en-US" altLang="zh-CN" sz="2200" kern="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  <a:cs typeface="Times New Roman" pitchFamily="18" charset="0"/>
              </a:rPr>
              <a:t>B/y }</a:t>
            </a:r>
          </a:p>
          <a:p>
            <a:pPr>
              <a:lnSpc>
                <a:spcPct val="114000"/>
              </a:lnSpc>
              <a:buFont typeface="Wingdings" pitchFamily="2" charset="2"/>
              <a:buNone/>
              <a:defRPr/>
            </a:pPr>
            <a:r>
              <a:rPr lang="en-US" altLang="zh-CN" sz="2000" dirty="0">
                <a:solidFill>
                  <a:srgbClr val="000000"/>
                </a:solidFill>
                <a:latin typeface="宋体" pitchFamily="2" charset="-122"/>
                <a:cs typeface="Times New Roman" pitchFamily="18" charset="0"/>
              </a:rPr>
              <a:t> </a:t>
            </a:r>
          </a:p>
          <a:p>
            <a:pPr>
              <a:lnSpc>
                <a:spcPct val="114000"/>
              </a:lnSpc>
              <a:buFont typeface="Wingdings" pitchFamily="2" charset="2"/>
              <a:buNone/>
              <a:defRPr/>
            </a:pPr>
            <a:endParaRPr lang="en-US" altLang="zh-CN" sz="2600" dirty="0">
              <a:solidFill>
                <a:srgbClr val="000000"/>
              </a:solidFill>
              <a:latin typeface="宋体" pitchFamily="2" charset="-122"/>
              <a:cs typeface="Times New Roman" pitchFamily="18" charset="0"/>
            </a:endParaRPr>
          </a:p>
          <a:p>
            <a:pPr>
              <a:defRPr/>
            </a:pPr>
            <a:endParaRPr lang="zh-CN" altLang="en-US" dirty="0"/>
          </a:p>
        </p:txBody>
      </p:sp>
      <p:sp>
        <p:nvSpPr>
          <p:cNvPr id="5" name="标题 1">
            <a:extLst>
              <a:ext uri="{FF2B5EF4-FFF2-40B4-BE49-F238E27FC236}">
                <a16:creationId xmlns:a16="http://schemas.microsoft.com/office/drawing/2014/main" id="{A491EA59-AD5B-EA8D-945E-106D8C709B03}"/>
              </a:ext>
            </a:extLst>
          </p:cNvPr>
          <p:cNvSpPr txBox="1">
            <a:spLocks/>
          </p:cNvSpPr>
          <p:nvPr/>
        </p:nvSpPr>
        <p:spPr>
          <a:xfrm>
            <a:off x="462815" y="162995"/>
            <a:ext cx="4080309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zh-CN" altLang="en-US" sz="3200" dirty="0">
                <a:solidFill>
                  <a:srgbClr val="FF0000"/>
                </a:solidFill>
                <a:latin typeface=".AppleSystemUIFont"/>
              </a:rPr>
              <a:t>归结原理</a:t>
            </a:r>
          </a:p>
        </p:txBody>
      </p:sp>
    </p:spTree>
    <p:extLst>
      <p:ext uri="{BB962C8B-B14F-4D97-AF65-F5344CB8AC3E}">
        <p14:creationId xmlns:p14="http://schemas.microsoft.com/office/powerpoint/2010/main" val="85862641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565A6E51-3B77-4671-B769-06856F538F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23723" y="1574531"/>
            <a:ext cx="9210575" cy="4113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228600" indent="-228600" ea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/>
            </a:pPr>
            <a:r>
              <a:rPr lang="zh-CN" altLang="en-US" sz="2400" b="1" dirty="0">
                <a:solidFill>
                  <a:srgbClr val="FF0000"/>
                </a:solidFill>
              </a:rPr>
              <a:t>归结原理</a:t>
            </a:r>
            <a:endParaRPr lang="en-US" altLang="zh-CN" sz="2400" b="1" dirty="0">
              <a:solidFill>
                <a:srgbClr val="FF0000"/>
              </a:solidFill>
            </a:endParaRPr>
          </a:p>
          <a:p>
            <a:pPr algn="just">
              <a:lnSpc>
                <a:spcPct val="125000"/>
              </a:lnSpc>
              <a:buFont typeface="Wingdings" pitchFamily="2" charset="2"/>
              <a:buNone/>
              <a:defRPr/>
            </a:pPr>
            <a:r>
              <a:rPr lang="en-US" altLang="zh-CN" sz="2400" b="1" dirty="0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  </a:t>
            </a:r>
            <a:r>
              <a:rPr lang="zh-CN" altLang="en-US" sz="2000" kern="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归结原理又称为消解原理，它是定理证明基础。</a:t>
            </a:r>
          </a:p>
          <a:p>
            <a:pPr>
              <a:lnSpc>
                <a:spcPct val="125000"/>
              </a:lnSpc>
              <a:buFont typeface="Wingdings" pitchFamily="2" charset="2"/>
              <a:buNone/>
              <a:defRPr/>
            </a:pPr>
            <a:r>
              <a:rPr lang="zh-CN" altLang="en-US" sz="2000" kern="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  <a:cs typeface="Times New Roman" pitchFamily="18" charset="0"/>
              </a:rPr>
              <a:t>	由谓词公式转化为子句集的过程中可以看出，在子句集中子句之间是</a:t>
            </a:r>
            <a:r>
              <a:rPr lang="zh-CN" altLang="en-US" sz="2000" kern="0" dirty="0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  <a:cs typeface="Times New Roman" pitchFamily="18" charset="0"/>
              </a:rPr>
              <a:t>合取</a:t>
            </a:r>
            <a:r>
              <a:rPr lang="zh-CN" altLang="en-US" sz="2000" kern="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  <a:cs typeface="Times New Roman" pitchFamily="18" charset="0"/>
              </a:rPr>
              <a:t>关系，其中只要有一个子句不可满足，则子句集就不可满足。若一个子句集中包含空子句，则这个子句集一定是不可满足的。	</a:t>
            </a:r>
            <a:endParaRPr lang="en-US" altLang="zh-CN" sz="2000" kern="0" dirty="0">
              <a:solidFill>
                <a:srgbClr val="000000"/>
              </a:solidFill>
              <a:latin typeface="SimSun" panose="02010600030101010101" pitchFamily="2" charset="-122"/>
              <a:ea typeface="SimSun" panose="02010600030101010101" pitchFamily="2" charset="-122"/>
              <a:cs typeface="Times New Roman" pitchFamily="18" charset="0"/>
            </a:endParaRPr>
          </a:p>
          <a:p>
            <a:pPr>
              <a:lnSpc>
                <a:spcPct val="125000"/>
              </a:lnSpc>
              <a:buFont typeface="Wingdings" pitchFamily="2" charset="2"/>
              <a:buNone/>
              <a:defRPr/>
            </a:pPr>
            <a:r>
              <a:rPr lang="en-US" altLang="zh-CN" sz="2000" kern="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  <a:cs typeface="Times New Roman" pitchFamily="18" charset="0"/>
              </a:rPr>
              <a:t>   </a:t>
            </a:r>
            <a:r>
              <a:rPr lang="zh-CN" altLang="en-US" sz="2000" kern="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  <a:cs typeface="Times New Roman" pitchFamily="18" charset="0"/>
              </a:rPr>
              <a:t>归结原理就是基于这一认识提出来的。</a:t>
            </a:r>
            <a:endParaRPr lang="en-US" altLang="zh-CN" sz="2000" kern="0" dirty="0">
              <a:solidFill>
                <a:srgbClr val="000000"/>
              </a:solidFill>
              <a:latin typeface="SimSun" panose="02010600030101010101" pitchFamily="2" charset="-122"/>
              <a:ea typeface="SimSun" panose="02010600030101010101" pitchFamily="2" charset="-122"/>
              <a:cs typeface="Times New Roman" pitchFamily="18" charset="0"/>
            </a:endParaRPr>
          </a:p>
          <a:p>
            <a:pPr>
              <a:lnSpc>
                <a:spcPct val="125000"/>
              </a:lnSpc>
              <a:buFont typeface="Wingdings" pitchFamily="2" charset="2"/>
              <a:buNone/>
              <a:defRPr/>
            </a:pPr>
            <a:endParaRPr lang="en-US" altLang="zh-CN" sz="2000" kern="0" dirty="0">
              <a:solidFill>
                <a:srgbClr val="000000"/>
              </a:solidFill>
              <a:latin typeface="SimSun" panose="02010600030101010101" pitchFamily="2" charset="-122"/>
              <a:ea typeface="SimSun" panose="02010600030101010101" pitchFamily="2" charset="-122"/>
              <a:cs typeface="Times New Roman" pitchFamily="18" charset="0"/>
            </a:endParaRPr>
          </a:p>
          <a:p>
            <a:pPr>
              <a:lnSpc>
                <a:spcPct val="125000"/>
              </a:lnSpc>
              <a:buFont typeface="Wingdings" pitchFamily="2" charset="2"/>
              <a:buNone/>
              <a:defRPr/>
            </a:pPr>
            <a:r>
              <a:rPr lang="en-US" altLang="zh-CN" sz="2000" b="1" kern="0" dirty="0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  <a:cs typeface="Times New Roman" pitchFamily="18" charset="0"/>
              </a:rPr>
              <a:t>【</a:t>
            </a:r>
            <a:r>
              <a:rPr lang="zh-CN" altLang="en-US" sz="2000" kern="0" dirty="0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  <a:cs typeface="Times New Roman" pitchFamily="18" charset="0"/>
              </a:rPr>
              <a:t>定义</a:t>
            </a:r>
            <a:r>
              <a:rPr lang="en-US" altLang="zh-CN" sz="2000" kern="0" dirty="0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  <a:cs typeface="Times New Roman" pitchFamily="18" charset="0"/>
              </a:rPr>
              <a:t>5.1</a:t>
            </a:r>
            <a:r>
              <a:rPr lang="en-US" altLang="zh-CN" sz="2000" b="1" kern="0" dirty="0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  <a:cs typeface="Times New Roman" pitchFamily="18" charset="0"/>
              </a:rPr>
              <a:t>】</a:t>
            </a:r>
            <a:r>
              <a:rPr lang="zh-CN" altLang="en-US" sz="2000" kern="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  <a:cs typeface="Times New Roman" pitchFamily="18" charset="0"/>
              </a:rPr>
              <a:t>若</a:t>
            </a:r>
            <a:r>
              <a:rPr lang="en-US" altLang="zh-CN" sz="2000" kern="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  <a:cs typeface="Times New Roman" pitchFamily="18" charset="0"/>
              </a:rPr>
              <a:t>P</a:t>
            </a:r>
            <a:r>
              <a:rPr lang="zh-CN" altLang="en-US" sz="2000" kern="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  <a:cs typeface="Times New Roman" pitchFamily="18" charset="0"/>
              </a:rPr>
              <a:t>是原子谓词公式，则称</a:t>
            </a:r>
            <a:r>
              <a:rPr lang="en-US" altLang="zh-CN" sz="2000" kern="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  <a:cs typeface="Times New Roman" pitchFamily="18" charset="0"/>
              </a:rPr>
              <a:t>P</a:t>
            </a:r>
            <a:r>
              <a:rPr lang="zh-CN" altLang="en-US" sz="2000" kern="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  <a:cs typeface="Times New Roman" pitchFamily="18" charset="0"/>
              </a:rPr>
              <a:t>与</a:t>
            </a:r>
            <a:r>
              <a:rPr lang="zh-CN" altLang="en-US" sz="2000" kern="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  <a:sym typeface="Symbol" pitchFamily="18" charset="2"/>
              </a:rPr>
              <a:t></a:t>
            </a:r>
            <a:r>
              <a:rPr lang="en-US" altLang="zh-CN" sz="2000" kern="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  <a:cs typeface="Times New Roman" pitchFamily="18" charset="0"/>
              </a:rPr>
              <a:t>P</a:t>
            </a:r>
            <a:r>
              <a:rPr lang="zh-CN" altLang="en-US" sz="2000" kern="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  <a:cs typeface="Times New Roman" pitchFamily="18" charset="0"/>
              </a:rPr>
              <a:t>为</a:t>
            </a:r>
            <a:r>
              <a:rPr lang="zh-CN" altLang="en-US" sz="2000" kern="0" dirty="0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  <a:cs typeface="Times New Roman" pitchFamily="18" charset="0"/>
              </a:rPr>
              <a:t>互补文字 。</a:t>
            </a:r>
          </a:p>
        </p:txBody>
      </p:sp>
      <p:sp>
        <p:nvSpPr>
          <p:cNvPr id="6" name="标题 1">
            <a:extLst>
              <a:ext uri="{FF2B5EF4-FFF2-40B4-BE49-F238E27FC236}">
                <a16:creationId xmlns:a16="http://schemas.microsoft.com/office/drawing/2014/main" id="{A3A47C84-107E-3C7C-4035-4427FA5629A2}"/>
              </a:ext>
            </a:extLst>
          </p:cNvPr>
          <p:cNvSpPr txBox="1">
            <a:spLocks/>
          </p:cNvSpPr>
          <p:nvPr/>
        </p:nvSpPr>
        <p:spPr>
          <a:xfrm>
            <a:off x="462815" y="162995"/>
            <a:ext cx="4080309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zh-CN" altLang="en-US" sz="3200" dirty="0">
                <a:solidFill>
                  <a:srgbClr val="FF0000"/>
                </a:solidFill>
                <a:latin typeface=".AppleSystemUIFont"/>
              </a:rPr>
              <a:t>归结原理</a:t>
            </a:r>
          </a:p>
        </p:txBody>
      </p:sp>
    </p:spTree>
    <p:extLst>
      <p:ext uri="{BB962C8B-B14F-4D97-AF65-F5344CB8AC3E}">
        <p14:creationId xmlns:p14="http://schemas.microsoft.com/office/powerpoint/2010/main" val="189512317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CF30F71-64A6-4CDE-B25E-27120CA146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30218" y="1488558"/>
            <a:ext cx="8836190" cy="4148488"/>
          </a:xfrm>
        </p:spPr>
        <p:txBody>
          <a:bodyPr/>
          <a:lstStyle/>
          <a:p>
            <a:pPr>
              <a:defRPr/>
            </a:pPr>
            <a:r>
              <a:rPr lang="zh-CN" altLang="en-US" sz="2400" b="1" dirty="0">
                <a:solidFill>
                  <a:srgbClr val="FF0000"/>
                </a:solidFill>
              </a:rPr>
              <a:t>一阶逻辑归结</a:t>
            </a:r>
            <a:endParaRPr lang="en-US" altLang="zh-CN" sz="2400" b="1" dirty="0">
              <a:solidFill>
                <a:srgbClr val="FF0000"/>
              </a:solidFill>
            </a:endParaRPr>
          </a:p>
          <a:p>
            <a:pPr marL="0" indent="0">
              <a:buNone/>
              <a:defRPr/>
            </a:pPr>
            <a:endParaRPr lang="en-US" altLang="zh-CN" sz="2400" b="1" dirty="0">
              <a:solidFill>
                <a:srgbClr val="FF0000"/>
              </a:solidFill>
            </a:endParaRPr>
          </a:p>
          <a:p>
            <a:pPr algn="just">
              <a:lnSpc>
                <a:spcPct val="114000"/>
              </a:lnSpc>
              <a:buFont typeface="Wingdings" pitchFamily="2" charset="2"/>
              <a:buNone/>
              <a:defRPr/>
            </a:pPr>
            <a:r>
              <a:rPr lang="zh-CN" altLang="en-US" sz="200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  <a:cs typeface="Times New Roman" pitchFamily="18" charset="0"/>
              </a:rPr>
              <a:t>     在</a:t>
            </a:r>
            <a:r>
              <a:rPr lang="zh-CN" altLang="en-US" sz="2000" dirty="0">
                <a:latin typeface="SimSun" panose="02010600030101010101" pitchFamily="2" charset="-122"/>
                <a:ea typeface="SimSun" panose="02010600030101010101" pitchFamily="2" charset="-122"/>
              </a:rPr>
              <a:t>一阶</a:t>
            </a:r>
            <a:r>
              <a:rPr lang="zh-CN" altLang="en-US" sz="200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  <a:cs typeface="Times New Roman" pitchFamily="18" charset="0"/>
              </a:rPr>
              <a:t>逻辑中，子句中含有变量</a:t>
            </a:r>
          </a:p>
          <a:p>
            <a:pPr algn="just">
              <a:lnSpc>
                <a:spcPct val="114000"/>
              </a:lnSpc>
              <a:buFont typeface="Wingdings" pitchFamily="2" charset="2"/>
              <a:buNone/>
              <a:defRPr/>
            </a:pPr>
            <a:r>
              <a:rPr lang="zh-CN" altLang="en-US" sz="200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  <a:cs typeface="Times New Roman" pitchFamily="18" charset="0"/>
              </a:rPr>
              <a:t>		为将归结原理应用于含有变量的子句，应找出一个</a:t>
            </a:r>
            <a:r>
              <a:rPr lang="zh-CN" altLang="en-US" sz="2000" dirty="0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  <a:cs typeface="Times New Roman" pitchFamily="18" charset="0"/>
              </a:rPr>
              <a:t>置换</a:t>
            </a:r>
            <a:r>
              <a:rPr lang="zh-CN" altLang="en-US" sz="200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  <a:cs typeface="Times New Roman" pitchFamily="18" charset="0"/>
              </a:rPr>
              <a:t>，作用于给定的两个子句，使它们包括互补的文字，然后才能进行归结。</a:t>
            </a:r>
          </a:p>
          <a:p>
            <a:pPr algn="just">
              <a:lnSpc>
                <a:spcPct val="114000"/>
              </a:lnSpc>
              <a:buFont typeface="Wingdings" pitchFamily="2" charset="2"/>
              <a:buNone/>
              <a:defRPr/>
            </a:pPr>
            <a:r>
              <a:rPr lang="zh-CN" altLang="en-US" sz="2000" dirty="0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  <a:cs typeface="Times New Roman" pitchFamily="18" charset="0"/>
              </a:rPr>
              <a:t>  例</a:t>
            </a:r>
            <a:r>
              <a:rPr lang="en-US" altLang="zh-CN" sz="2000" dirty="0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  <a:cs typeface="Times New Roman" pitchFamily="18" charset="0"/>
              </a:rPr>
              <a:t>1:</a:t>
            </a:r>
            <a:r>
              <a:rPr lang="zh-CN" altLang="en-US" sz="200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  <a:cs typeface="Times New Roman" pitchFamily="18" charset="0"/>
              </a:rPr>
              <a:t>子句集</a:t>
            </a:r>
            <a:r>
              <a:rPr lang="en-US" altLang="zh-CN" sz="200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  <a:cs typeface="Times New Roman" pitchFamily="18" charset="0"/>
              </a:rPr>
              <a:t>S={P(x)∨Q(x)</a:t>
            </a:r>
            <a:r>
              <a:rPr lang="zh-CN" altLang="en-US" sz="200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  <a:cs typeface="Times New Roman" pitchFamily="18" charset="0"/>
              </a:rPr>
              <a:t>，</a:t>
            </a:r>
            <a:r>
              <a:rPr lang="zh-CN" altLang="en-US" sz="200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  <a:sym typeface="Symbol" pitchFamily="18" charset="2"/>
              </a:rPr>
              <a:t></a:t>
            </a:r>
            <a:r>
              <a:rPr lang="en-US" altLang="zh-CN" sz="200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  <a:cs typeface="Times New Roman" pitchFamily="18" charset="0"/>
              </a:rPr>
              <a:t>P(A)∨R(y)}</a:t>
            </a:r>
            <a:r>
              <a:rPr lang="zh-CN" altLang="en-US" sz="200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  <a:cs typeface="Times New Roman" pitchFamily="18" charset="0"/>
              </a:rPr>
              <a:t>，子句集中的两个子句不能直接归结，但若对子句集先进行置换</a:t>
            </a:r>
            <a:r>
              <a:rPr lang="en-US" altLang="zh-CN" sz="200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  <a:cs typeface="Times New Roman" pitchFamily="18" charset="0"/>
              </a:rPr>
              <a:t>s={A/x}</a:t>
            </a:r>
            <a:r>
              <a:rPr lang="zh-CN" altLang="en-US" sz="200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  <a:cs typeface="Times New Roman" pitchFamily="18" charset="0"/>
              </a:rPr>
              <a:t>，则两个子句分别为</a:t>
            </a:r>
            <a:r>
              <a:rPr lang="en-US" altLang="zh-CN" sz="200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  <a:cs typeface="Times New Roman" pitchFamily="18" charset="0"/>
              </a:rPr>
              <a:t>P(A)∨Q(A)</a:t>
            </a:r>
            <a:r>
              <a:rPr lang="zh-CN" altLang="en-US" sz="200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  <a:cs typeface="Times New Roman" pitchFamily="18" charset="0"/>
              </a:rPr>
              <a:t>和</a:t>
            </a:r>
            <a:r>
              <a:rPr lang="zh-CN" altLang="en-US" sz="200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  <a:sym typeface="Symbol" pitchFamily="18" charset="2"/>
              </a:rPr>
              <a:t></a:t>
            </a:r>
            <a:r>
              <a:rPr lang="en-US" altLang="zh-CN" sz="200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  <a:cs typeface="Times New Roman" pitchFamily="18" charset="0"/>
              </a:rPr>
              <a:t>P(A)∨R(y)</a:t>
            </a:r>
            <a:r>
              <a:rPr lang="zh-CN" altLang="en-US" sz="200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  <a:cs typeface="Times New Roman" pitchFamily="18" charset="0"/>
              </a:rPr>
              <a:t>，这时再进行归结，归结结果为</a:t>
            </a:r>
            <a:r>
              <a:rPr lang="en-US" altLang="zh-CN" sz="200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  <a:cs typeface="Times New Roman" pitchFamily="18" charset="0"/>
              </a:rPr>
              <a:t>Q(A)∨R(y) </a:t>
            </a:r>
            <a:r>
              <a:rPr lang="en-US" altLang="zh-CN" sz="200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 </a:t>
            </a:r>
            <a:r>
              <a:rPr lang="zh-CN" altLang="en-US" sz="200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。</a:t>
            </a:r>
            <a:endParaRPr lang="en-US" altLang="zh-CN" sz="2000" dirty="0">
              <a:solidFill>
                <a:srgbClr val="000000"/>
              </a:solidFill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pPr marL="0" indent="0">
              <a:buNone/>
              <a:defRPr/>
            </a:pP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6" name="标题 1">
            <a:extLst>
              <a:ext uri="{FF2B5EF4-FFF2-40B4-BE49-F238E27FC236}">
                <a16:creationId xmlns:a16="http://schemas.microsoft.com/office/drawing/2014/main" id="{C8AFA3D4-E5B3-0B90-73BB-FD58702871C1}"/>
              </a:ext>
            </a:extLst>
          </p:cNvPr>
          <p:cNvSpPr txBox="1">
            <a:spLocks/>
          </p:cNvSpPr>
          <p:nvPr/>
        </p:nvSpPr>
        <p:spPr>
          <a:xfrm>
            <a:off x="462815" y="162995"/>
            <a:ext cx="4080309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zh-CN" altLang="en-US" sz="3200" dirty="0">
                <a:solidFill>
                  <a:srgbClr val="FF0000"/>
                </a:solidFill>
                <a:latin typeface=".AppleSystemUIFont"/>
              </a:rPr>
              <a:t>归结原理</a:t>
            </a:r>
          </a:p>
        </p:txBody>
      </p:sp>
    </p:spTree>
    <p:extLst>
      <p:ext uri="{BB962C8B-B14F-4D97-AF65-F5344CB8AC3E}">
        <p14:creationId xmlns:p14="http://schemas.microsoft.com/office/powerpoint/2010/main" val="275351016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7" name="内容占位符 2"/>
          <p:cNvSpPr>
            <a:spLocks noGrp="1" noChangeArrowheads="1"/>
          </p:cNvSpPr>
          <p:nvPr>
            <p:ph idx="1"/>
          </p:nvPr>
        </p:nvSpPr>
        <p:spPr>
          <a:xfrm>
            <a:off x="1751599" y="1803369"/>
            <a:ext cx="8435975" cy="3875538"/>
          </a:xfrm>
        </p:spPr>
        <p:txBody>
          <a:bodyPr/>
          <a:lstStyle/>
          <a:p>
            <a:pPr algn="just">
              <a:lnSpc>
                <a:spcPct val="125000"/>
              </a:lnSpc>
              <a:buFont typeface="Wingdings" panose="05000000000000000000" pitchFamily="2" charset="2"/>
              <a:buNone/>
            </a:pPr>
            <a:r>
              <a:rPr lang="en-US" altLang="zh-CN" sz="2000" b="1" dirty="0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【</a:t>
            </a:r>
            <a:r>
              <a:rPr lang="zh-CN" altLang="en-US" sz="2000" dirty="0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定义</a:t>
            </a:r>
            <a:r>
              <a:rPr lang="en-US" altLang="zh-CN" sz="2000" dirty="0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5.2</a:t>
            </a:r>
            <a:r>
              <a:rPr lang="en-US" altLang="zh-CN" sz="2000" b="1" dirty="0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】</a:t>
            </a:r>
            <a:r>
              <a:rPr lang="zh-CN" altLang="en-US" sz="200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设</a:t>
            </a:r>
            <a:r>
              <a:rPr lang="en-US" altLang="zh-CN" sz="200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C</a:t>
            </a:r>
            <a:r>
              <a:rPr lang="en-US" altLang="zh-CN" sz="2000" baseline="-3000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1</a:t>
            </a:r>
            <a:r>
              <a:rPr lang="zh-CN" altLang="en-US" sz="200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和</a:t>
            </a:r>
            <a:r>
              <a:rPr lang="en-US" altLang="zh-CN" sz="200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C</a:t>
            </a:r>
            <a:r>
              <a:rPr lang="en-US" altLang="zh-CN" sz="2000" baseline="-3000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2</a:t>
            </a:r>
            <a:r>
              <a:rPr lang="zh-CN" altLang="en-US" sz="200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是两个没有相同变量的子句，并分别表示成两个文字集合</a:t>
            </a:r>
            <a:r>
              <a:rPr lang="en-US" altLang="zh-CN" sz="200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{L</a:t>
            </a:r>
            <a:r>
              <a:rPr lang="en-US" altLang="zh-CN" sz="2000" baseline="-3000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i</a:t>
            </a:r>
            <a:r>
              <a:rPr lang="en-US" altLang="zh-CN" sz="200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}</a:t>
            </a:r>
            <a:r>
              <a:rPr lang="zh-CN" altLang="en-US" sz="200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和</a:t>
            </a:r>
            <a:r>
              <a:rPr lang="en-US" altLang="zh-CN" sz="200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{M</a:t>
            </a:r>
            <a:r>
              <a:rPr lang="en-US" altLang="zh-CN" sz="2000" baseline="-3000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i</a:t>
            </a:r>
            <a:r>
              <a:rPr lang="en-US" altLang="zh-CN" sz="200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}</a:t>
            </a:r>
            <a:r>
              <a:rPr lang="zh-CN" altLang="en-US" sz="200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，</a:t>
            </a:r>
            <a:r>
              <a:rPr lang="en-US" altLang="zh-CN" sz="200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{l</a:t>
            </a:r>
            <a:r>
              <a:rPr lang="en-US" altLang="zh-CN" sz="2000" baseline="-3000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i</a:t>
            </a:r>
            <a:r>
              <a:rPr lang="en-US" altLang="zh-CN" sz="200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}</a:t>
            </a:r>
            <a:r>
              <a:rPr lang="zh-CN" altLang="en-US" sz="200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是</a:t>
            </a:r>
            <a:r>
              <a:rPr lang="en-US" altLang="zh-CN" sz="200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{L</a:t>
            </a:r>
            <a:r>
              <a:rPr lang="en-US" altLang="zh-CN" sz="2000" baseline="-3000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i</a:t>
            </a:r>
            <a:r>
              <a:rPr lang="en-US" altLang="zh-CN" sz="200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}</a:t>
            </a:r>
            <a:r>
              <a:rPr lang="zh-CN" altLang="en-US" sz="200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的一个子集，</a:t>
            </a:r>
            <a:r>
              <a:rPr lang="en-US" altLang="zh-CN" sz="200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{m</a:t>
            </a:r>
            <a:r>
              <a:rPr lang="en-US" altLang="zh-CN" sz="2000" baseline="-3000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i</a:t>
            </a:r>
            <a:r>
              <a:rPr lang="en-US" altLang="zh-CN" sz="200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}</a:t>
            </a:r>
            <a:r>
              <a:rPr lang="zh-CN" altLang="en-US" sz="200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是</a:t>
            </a:r>
            <a:r>
              <a:rPr lang="en-US" altLang="zh-CN" sz="200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{M</a:t>
            </a:r>
            <a:r>
              <a:rPr lang="en-US" altLang="zh-CN" sz="2000" baseline="-3000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i</a:t>
            </a:r>
            <a:r>
              <a:rPr lang="en-US" altLang="zh-CN" sz="200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}</a:t>
            </a:r>
            <a:r>
              <a:rPr lang="zh-CN" altLang="en-US" sz="200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的一个子集，若</a:t>
            </a:r>
            <a:r>
              <a:rPr lang="en-US" altLang="zh-CN" sz="200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s</a:t>
            </a:r>
            <a:r>
              <a:rPr lang="zh-CN" altLang="en-US" sz="200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是集合</a:t>
            </a:r>
            <a:r>
              <a:rPr lang="en-US" altLang="zh-CN" sz="200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{l</a:t>
            </a:r>
            <a:r>
              <a:rPr lang="en-US" altLang="zh-CN" sz="2000" baseline="-3000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i</a:t>
            </a:r>
            <a:r>
              <a:rPr lang="en-US" altLang="zh-CN" sz="200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}</a:t>
            </a:r>
            <a:r>
              <a:rPr lang="zh-CN" altLang="en-US" sz="200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和</a:t>
            </a:r>
            <a:r>
              <a:rPr lang="en-US" altLang="zh-CN" sz="200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{</a:t>
            </a:r>
            <a:r>
              <a:rPr lang="en-US" altLang="zh-CN" sz="200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  <a:sym typeface="Symbol" panose="05050102010706020507" pitchFamily="18" charset="2"/>
              </a:rPr>
              <a:t></a:t>
            </a:r>
            <a:r>
              <a:rPr lang="en-US" altLang="zh-CN" sz="200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m</a:t>
            </a:r>
            <a:r>
              <a:rPr lang="en-US" altLang="zh-CN" sz="2000" baseline="-3000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i</a:t>
            </a:r>
            <a:r>
              <a:rPr lang="en-US" altLang="zh-CN" sz="200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}</a:t>
            </a:r>
            <a:r>
              <a:rPr lang="zh-CN" altLang="en-US" sz="200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的并集的最简合一者，则称</a:t>
            </a:r>
          </a:p>
          <a:p>
            <a:pPr algn="just">
              <a:lnSpc>
                <a:spcPct val="125000"/>
              </a:lnSpc>
              <a:buFont typeface="Wingdings" panose="05000000000000000000" pitchFamily="2" charset="2"/>
              <a:buNone/>
            </a:pPr>
            <a:r>
              <a:rPr lang="zh-CN" altLang="en-US" sz="200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		</a:t>
            </a:r>
            <a:r>
              <a:rPr lang="en-US" altLang="zh-CN" sz="200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C</a:t>
            </a:r>
            <a:r>
              <a:rPr lang="en-US" altLang="zh-CN" sz="2000" baseline="-3000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12 </a:t>
            </a:r>
            <a:r>
              <a:rPr lang="en-US" altLang="zh-CN" sz="200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= {{L</a:t>
            </a:r>
            <a:r>
              <a:rPr lang="en-US" altLang="zh-CN" sz="2000" baseline="-3000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i</a:t>
            </a:r>
            <a:r>
              <a:rPr lang="en-US" altLang="zh-CN" sz="200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}-{l</a:t>
            </a:r>
            <a:r>
              <a:rPr lang="en-US" altLang="zh-CN" sz="2000" baseline="-3000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i</a:t>
            </a:r>
            <a:r>
              <a:rPr lang="en-US" altLang="zh-CN" sz="200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}}</a:t>
            </a:r>
            <a:r>
              <a:rPr lang="en-US" altLang="zh-CN" sz="2000" baseline="-3000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s</a:t>
            </a:r>
            <a:r>
              <a:rPr lang="en-US" altLang="zh-CN" sz="200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∨{{M</a:t>
            </a:r>
            <a:r>
              <a:rPr lang="en-US" altLang="zh-CN" sz="2000" baseline="-3000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i</a:t>
            </a:r>
            <a:r>
              <a:rPr lang="en-US" altLang="zh-CN" sz="200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}-{m</a:t>
            </a:r>
            <a:r>
              <a:rPr lang="en-US" altLang="zh-CN" sz="2000" baseline="-3000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i</a:t>
            </a:r>
            <a:r>
              <a:rPr lang="en-US" altLang="zh-CN" sz="200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}}</a:t>
            </a:r>
            <a:r>
              <a:rPr lang="en-US" altLang="zh-CN" sz="2000" baseline="-3000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 s</a:t>
            </a:r>
            <a:endParaRPr lang="en-US" altLang="zh-CN" sz="2000" dirty="0">
              <a:solidFill>
                <a:srgbClr val="000000"/>
              </a:solidFill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pPr algn="just">
              <a:lnSpc>
                <a:spcPct val="125000"/>
              </a:lnSpc>
              <a:buFont typeface="Wingdings" panose="05000000000000000000" pitchFamily="2" charset="2"/>
              <a:buNone/>
            </a:pPr>
            <a:r>
              <a:rPr lang="en-US" altLang="zh-CN" sz="200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		</a:t>
            </a:r>
            <a:r>
              <a:rPr lang="zh-CN" altLang="en-US" sz="200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为</a:t>
            </a:r>
            <a:r>
              <a:rPr lang="en-US" altLang="zh-CN" sz="200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C</a:t>
            </a:r>
            <a:r>
              <a:rPr lang="en-US" altLang="zh-CN" sz="2000" baseline="-3000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1</a:t>
            </a:r>
            <a:r>
              <a:rPr lang="zh-CN" altLang="en-US" sz="200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和</a:t>
            </a:r>
            <a:r>
              <a:rPr lang="en-US" altLang="zh-CN" sz="200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C</a:t>
            </a:r>
            <a:r>
              <a:rPr lang="en-US" altLang="zh-CN" sz="2000" baseline="-3000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2</a:t>
            </a:r>
            <a:r>
              <a:rPr lang="zh-CN" altLang="en-US" sz="200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的归结式。</a:t>
            </a:r>
            <a:endParaRPr lang="zh-CN" altLang="en-US" sz="2000" dirty="0">
              <a:solidFill>
                <a:srgbClr val="000000"/>
              </a:solidFill>
              <a:latin typeface="SimSun" panose="02010600030101010101" pitchFamily="2" charset="-122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en-US" sz="200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  <a:cs typeface="Times New Roman" panose="02020603050405020304" pitchFamily="18" charset="0"/>
              </a:rPr>
              <a:t>	当两个子句作归结时，子集</a:t>
            </a:r>
            <a:r>
              <a:rPr lang="en-US" altLang="zh-CN" sz="200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  <a:cs typeface="Times New Roman" panose="02020603050405020304" pitchFamily="18" charset="0"/>
              </a:rPr>
              <a:t>{l</a:t>
            </a:r>
            <a:r>
              <a:rPr lang="en-US" altLang="zh-CN" sz="2000" baseline="-3000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sz="200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  <a:cs typeface="Times New Roman" panose="02020603050405020304" pitchFamily="18" charset="0"/>
              </a:rPr>
              <a:t>}</a:t>
            </a:r>
            <a:r>
              <a:rPr lang="zh-CN" altLang="en-US" sz="200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  <a:cs typeface="Times New Roman" panose="02020603050405020304" pitchFamily="18" charset="0"/>
              </a:rPr>
              <a:t>和</a:t>
            </a:r>
            <a:r>
              <a:rPr lang="en-US" altLang="zh-CN" sz="200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  <a:cs typeface="Times New Roman" panose="02020603050405020304" pitchFamily="18" charset="0"/>
              </a:rPr>
              <a:t>{m</a:t>
            </a:r>
            <a:r>
              <a:rPr lang="en-US" altLang="zh-CN" sz="2000" baseline="-3000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sz="200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  <a:cs typeface="Times New Roman" panose="02020603050405020304" pitchFamily="18" charset="0"/>
              </a:rPr>
              <a:t>}</a:t>
            </a:r>
            <a:r>
              <a:rPr lang="zh-CN" altLang="en-US" sz="200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  <a:cs typeface="Times New Roman" panose="02020603050405020304" pitchFamily="18" charset="0"/>
              </a:rPr>
              <a:t>的选取可能有多种形式，所以得到的归结式</a:t>
            </a:r>
            <a:r>
              <a:rPr lang="zh-CN" altLang="en-US" sz="2000" dirty="0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  <a:cs typeface="Times New Roman" panose="02020603050405020304" pitchFamily="18" charset="0"/>
              </a:rPr>
              <a:t>不是唯一的。</a:t>
            </a:r>
            <a:endParaRPr lang="en-US" altLang="zh-CN" sz="2000" dirty="0">
              <a:solidFill>
                <a:srgbClr val="FF0000"/>
              </a:solidFill>
              <a:latin typeface="SimSun" panose="02010600030101010101" pitchFamily="2" charset="-122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None/>
            </a:pPr>
            <a:endParaRPr lang="zh-CN" altLang="en-US" dirty="0"/>
          </a:p>
        </p:txBody>
      </p:sp>
      <p:sp>
        <p:nvSpPr>
          <p:cNvPr id="5" name="标题 1">
            <a:extLst>
              <a:ext uri="{FF2B5EF4-FFF2-40B4-BE49-F238E27FC236}">
                <a16:creationId xmlns:a16="http://schemas.microsoft.com/office/drawing/2014/main" id="{E8D9AABD-3CFA-E7E0-6362-28AE0E5F6480}"/>
              </a:ext>
            </a:extLst>
          </p:cNvPr>
          <p:cNvSpPr txBox="1">
            <a:spLocks/>
          </p:cNvSpPr>
          <p:nvPr/>
        </p:nvSpPr>
        <p:spPr>
          <a:xfrm>
            <a:off x="462815" y="162995"/>
            <a:ext cx="4080309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zh-CN" altLang="en-US" sz="3200" dirty="0">
                <a:solidFill>
                  <a:srgbClr val="FF0000"/>
                </a:solidFill>
                <a:latin typeface=".AppleSystemUIFont"/>
              </a:rPr>
              <a:t>归结原理</a:t>
            </a:r>
          </a:p>
        </p:txBody>
      </p:sp>
    </p:spTree>
    <p:extLst>
      <p:ext uri="{BB962C8B-B14F-4D97-AF65-F5344CB8AC3E}">
        <p14:creationId xmlns:p14="http://schemas.microsoft.com/office/powerpoint/2010/main" val="357911175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1" name="内容占位符 2"/>
          <p:cNvSpPr>
            <a:spLocks noGrp="1" noChangeArrowheads="1"/>
          </p:cNvSpPr>
          <p:nvPr>
            <p:ph idx="1"/>
          </p:nvPr>
        </p:nvSpPr>
        <p:spPr>
          <a:xfrm>
            <a:off x="1878012" y="1635492"/>
            <a:ext cx="8435975" cy="5334000"/>
          </a:xfrm>
        </p:spPr>
        <p:txBody>
          <a:bodyPr/>
          <a:lstStyle/>
          <a:p>
            <a:pPr algn="just">
              <a:lnSpc>
                <a:spcPct val="125000"/>
              </a:lnSpc>
              <a:buFont typeface="Wingdings" panose="05000000000000000000" pitchFamily="2" charset="2"/>
              <a:buNone/>
            </a:pPr>
            <a:r>
              <a:rPr lang="zh-CN" altLang="en-US" sz="2000" b="1" dirty="0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例</a:t>
            </a:r>
            <a:r>
              <a:rPr lang="en-US" altLang="zh-CN" sz="2000" b="1" dirty="0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2: </a:t>
            </a:r>
            <a:r>
              <a:rPr lang="zh-CN" altLang="en-US" sz="200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设有两个子句</a:t>
            </a:r>
            <a:r>
              <a:rPr lang="en-US" altLang="zh-CN" sz="200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P(A)∨</a:t>
            </a:r>
            <a:r>
              <a:rPr lang="en-US" altLang="zh-CN" sz="200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  <a:sym typeface="Symbol" panose="05050102010706020507" pitchFamily="18" charset="2"/>
              </a:rPr>
              <a:t></a:t>
            </a:r>
            <a:r>
              <a:rPr lang="en-US" altLang="zh-CN" sz="200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Q(x)∨R(x)</a:t>
            </a:r>
            <a:r>
              <a:rPr lang="zh-CN" altLang="en-US" sz="200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和</a:t>
            </a:r>
            <a:r>
              <a:rPr lang="zh-CN" altLang="en-US" sz="200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  <a:sym typeface="Symbol" panose="05050102010706020507" pitchFamily="18" charset="2"/>
              </a:rPr>
              <a:t></a:t>
            </a:r>
            <a:r>
              <a:rPr lang="en-US" altLang="zh-CN" sz="200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P(y)∨Q(B)</a:t>
            </a:r>
            <a:r>
              <a:rPr lang="zh-CN" altLang="en-US" sz="200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，则由如下两种归结方法：</a:t>
            </a:r>
          </a:p>
          <a:p>
            <a:pPr algn="just">
              <a:lnSpc>
                <a:spcPct val="125000"/>
              </a:lnSpc>
              <a:buFont typeface="Wingdings" panose="05000000000000000000" pitchFamily="2" charset="2"/>
              <a:buNone/>
            </a:pPr>
            <a:r>
              <a:rPr lang="zh-CN" altLang="en-US" sz="200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① 取</a:t>
            </a:r>
            <a:r>
              <a:rPr lang="en-US" altLang="zh-CN" sz="200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{l</a:t>
            </a:r>
            <a:r>
              <a:rPr lang="en-US" altLang="zh-CN" sz="2000" baseline="-3000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i</a:t>
            </a:r>
            <a:r>
              <a:rPr lang="en-US" altLang="zh-CN" sz="200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}={P(A)}</a:t>
            </a:r>
            <a:r>
              <a:rPr lang="zh-CN" altLang="en-US" sz="200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，</a:t>
            </a:r>
            <a:r>
              <a:rPr lang="en-US" altLang="zh-CN" sz="200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{m</a:t>
            </a:r>
            <a:r>
              <a:rPr lang="en-US" altLang="zh-CN" sz="2000" baseline="-3000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i</a:t>
            </a:r>
            <a:r>
              <a:rPr lang="en-US" altLang="zh-CN" sz="200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}={</a:t>
            </a:r>
            <a:r>
              <a:rPr lang="en-US" altLang="zh-CN" sz="200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  <a:sym typeface="Symbol" panose="05050102010706020507" pitchFamily="18" charset="2"/>
              </a:rPr>
              <a:t></a:t>
            </a:r>
            <a:r>
              <a:rPr lang="en-US" altLang="zh-CN" sz="200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P(y)}</a:t>
            </a:r>
            <a:r>
              <a:rPr lang="zh-CN" altLang="en-US" sz="200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，</a:t>
            </a:r>
            <a:r>
              <a:rPr lang="en-US" altLang="zh-CN" sz="200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{l</a:t>
            </a:r>
            <a:r>
              <a:rPr lang="en-US" altLang="zh-CN" sz="2000" baseline="-3000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i</a:t>
            </a:r>
            <a:r>
              <a:rPr lang="en-US" altLang="zh-CN" sz="200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}</a:t>
            </a:r>
            <a:r>
              <a:rPr lang="zh-CN" altLang="en-US" sz="200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和</a:t>
            </a:r>
            <a:r>
              <a:rPr lang="en-US" altLang="zh-CN" sz="200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{</a:t>
            </a:r>
            <a:r>
              <a:rPr lang="en-US" altLang="zh-CN" sz="200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  <a:sym typeface="Symbol" panose="05050102010706020507" pitchFamily="18" charset="2"/>
              </a:rPr>
              <a:t></a:t>
            </a:r>
            <a:r>
              <a:rPr lang="en-US" altLang="zh-CN" sz="200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m</a:t>
            </a:r>
            <a:r>
              <a:rPr lang="en-US" altLang="zh-CN" sz="2000" baseline="-3000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i</a:t>
            </a:r>
            <a:r>
              <a:rPr lang="en-US" altLang="zh-CN" sz="200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}</a:t>
            </a:r>
            <a:r>
              <a:rPr lang="zh-CN" altLang="en-US" sz="200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的最简合一者为</a:t>
            </a:r>
            <a:r>
              <a:rPr lang="en-US" altLang="zh-CN" sz="2000" dirty="0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s={A/y}</a:t>
            </a:r>
            <a:r>
              <a:rPr lang="zh-CN" altLang="en-US" sz="200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，此时归结结果为</a:t>
            </a:r>
            <a:r>
              <a:rPr lang="zh-CN" altLang="en-US" sz="2000" dirty="0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  <a:sym typeface="Symbol" panose="05050102010706020507" pitchFamily="18" charset="2"/>
              </a:rPr>
              <a:t></a:t>
            </a:r>
            <a:r>
              <a:rPr lang="en-US" altLang="zh-CN" sz="2000" dirty="0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Q(x)∨R(x)∨Q(B)</a:t>
            </a:r>
          </a:p>
          <a:p>
            <a:pPr algn="just">
              <a:lnSpc>
                <a:spcPct val="125000"/>
              </a:lnSpc>
              <a:buFont typeface="Wingdings" panose="05000000000000000000" pitchFamily="2" charset="2"/>
              <a:buNone/>
            </a:pPr>
            <a:r>
              <a:rPr lang="en-US" altLang="zh-CN" sz="200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② </a:t>
            </a:r>
            <a:r>
              <a:rPr lang="zh-CN" altLang="en-US" sz="200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取</a:t>
            </a:r>
            <a:r>
              <a:rPr lang="en-US" altLang="zh-CN" sz="200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{l</a:t>
            </a:r>
            <a:r>
              <a:rPr lang="en-US" altLang="zh-CN" sz="2000" baseline="-3000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i</a:t>
            </a:r>
            <a:r>
              <a:rPr lang="en-US" altLang="zh-CN" sz="200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}={</a:t>
            </a:r>
            <a:r>
              <a:rPr lang="en-US" altLang="zh-CN" sz="200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  <a:sym typeface="Symbol" panose="05050102010706020507" pitchFamily="18" charset="2"/>
              </a:rPr>
              <a:t></a:t>
            </a:r>
            <a:r>
              <a:rPr lang="en-US" altLang="zh-CN" sz="200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Q(x)}</a:t>
            </a:r>
            <a:r>
              <a:rPr lang="zh-CN" altLang="en-US" sz="200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，</a:t>
            </a:r>
            <a:r>
              <a:rPr lang="en-US" altLang="zh-CN" sz="200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{m</a:t>
            </a:r>
            <a:r>
              <a:rPr lang="en-US" altLang="zh-CN" sz="2000" baseline="-3000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i</a:t>
            </a:r>
            <a:r>
              <a:rPr lang="en-US" altLang="zh-CN" sz="200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}={Q(B)}</a:t>
            </a:r>
            <a:r>
              <a:rPr lang="zh-CN" altLang="en-US" sz="200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，</a:t>
            </a:r>
            <a:r>
              <a:rPr lang="en-US" altLang="zh-CN" sz="200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{l</a:t>
            </a:r>
            <a:r>
              <a:rPr lang="en-US" altLang="zh-CN" sz="2000" baseline="-3000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i</a:t>
            </a:r>
            <a:r>
              <a:rPr lang="en-US" altLang="zh-CN" sz="200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}</a:t>
            </a:r>
            <a:r>
              <a:rPr lang="zh-CN" altLang="en-US" sz="200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和</a:t>
            </a:r>
            <a:r>
              <a:rPr lang="en-US" altLang="zh-CN" sz="200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{</a:t>
            </a:r>
            <a:r>
              <a:rPr lang="en-US" altLang="zh-CN" sz="200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  <a:sym typeface="Symbol" panose="05050102010706020507" pitchFamily="18" charset="2"/>
              </a:rPr>
              <a:t></a:t>
            </a:r>
            <a:r>
              <a:rPr lang="en-US" altLang="zh-CN" sz="200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m</a:t>
            </a:r>
            <a:r>
              <a:rPr lang="en-US" altLang="zh-CN" sz="2000" baseline="-3000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i</a:t>
            </a:r>
            <a:r>
              <a:rPr lang="en-US" altLang="zh-CN" sz="200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}</a:t>
            </a:r>
            <a:r>
              <a:rPr lang="zh-CN" altLang="en-US" sz="200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的最简合一者为</a:t>
            </a:r>
            <a:r>
              <a:rPr lang="en-US" altLang="zh-CN" sz="2000" dirty="0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s={B/x}</a:t>
            </a:r>
            <a:r>
              <a:rPr lang="zh-CN" altLang="en-US" sz="200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，此时归结结果为</a:t>
            </a:r>
            <a:r>
              <a:rPr lang="en-US" altLang="zh-CN" sz="2000" dirty="0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P(A)∨R(B)∨</a:t>
            </a:r>
            <a:r>
              <a:rPr lang="en-US" altLang="zh-CN" sz="2000" dirty="0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  <a:sym typeface="Symbol" panose="05050102010706020507" pitchFamily="18" charset="2"/>
              </a:rPr>
              <a:t></a:t>
            </a:r>
            <a:r>
              <a:rPr lang="en-US" altLang="zh-CN" sz="2000" dirty="0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P(y)</a:t>
            </a:r>
            <a:r>
              <a:rPr lang="en-US" altLang="zh-CN" sz="200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  <a:cs typeface="Times New Roman" panose="02020603050405020304" pitchFamily="18" charset="0"/>
              </a:rPr>
              <a:t> </a:t>
            </a:r>
          </a:p>
          <a:p>
            <a:pPr algn="just">
              <a:lnSpc>
                <a:spcPct val="125000"/>
              </a:lnSpc>
              <a:buFont typeface="Wingdings" panose="05000000000000000000" pitchFamily="2" charset="2"/>
              <a:buNone/>
            </a:pPr>
            <a:endParaRPr lang="en-US" altLang="zh-CN" sz="2000" dirty="0">
              <a:solidFill>
                <a:srgbClr val="000000"/>
              </a:solidFill>
              <a:latin typeface="SimSun" panose="02010600030101010101" pitchFamily="2" charset="-122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25000"/>
              </a:lnSpc>
            </a:pPr>
            <a:r>
              <a:rPr lang="zh-CN" altLang="en-US" sz="2000" b="1" dirty="0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  <a:cs typeface="Times New Roman" panose="02020603050405020304" pitchFamily="18" charset="0"/>
              </a:rPr>
              <a:t>注意：</a:t>
            </a:r>
            <a:r>
              <a:rPr lang="zh-CN" altLang="en-US" sz="2000" dirty="0">
                <a:latin typeface="SimSun" panose="02010600030101010101" pitchFamily="2" charset="-122"/>
                <a:ea typeface="SimSun" panose="02010600030101010101" pitchFamily="2" charset="-122"/>
                <a:cs typeface="Times New Roman" panose="02020603050405020304" pitchFamily="18" charset="0"/>
              </a:rPr>
              <a:t>在求归结式时，</a:t>
            </a:r>
            <a:r>
              <a:rPr lang="zh-CN" altLang="en-US" sz="2000" b="1" dirty="0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  <a:cs typeface="Times New Roman" panose="02020603050405020304" pitchFamily="18" charset="0"/>
              </a:rPr>
              <a:t>不能同时消去两个互补文字</a:t>
            </a:r>
            <a:r>
              <a:rPr lang="zh-CN" altLang="en-US" sz="2000" dirty="0">
                <a:latin typeface="SimSun" panose="02010600030101010101" pitchFamily="2" charset="-122"/>
                <a:ea typeface="SimSun" panose="02010600030101010101" pitchFamily="2" charset="-122"/>
                <a:cs typeface="Times New Roman" panose="02020603050405020304" pitchFamily="18" charset="0"/>
              </a:rPr>
              <a:t>对，消去两个互补文字对所得的结果不是两个亲本子句的逻辑推论。</a:t>
            </a:r>
          </a:p>
          <a:p>
            <a:endParaRPr lang="zh-CN" altLang="en-US" dirty="0"/>
          </a:p>
        </p:txBody>
      </p:sp>
      <p:sp>
        <p:nvSpPr>
          <p:cNvPr id="5" name="标题 1">
            <a:extLst>
              <a:ext uri="{FF2B5EF4-FFF2-40B4-BE49-F238E27FC236}">
                <a16:creationId xmlns:a16="http://schemas.microsoft.com/office/drawing/2014/main" id="{2BF2C1D3-8C3F-5CEC-67D7-D0E39205B214}"/>
              </a:ext>
            </a:extLst>
          </p:cNvPr>
          <p:cNvSpPr txBox="1">
            <a:spLocks/>
          </p:cNvSpPr>
          <p:nvPr/>
        </p:nvSpPr>
        <p:spPr>
          <a:xfrm>
            <a:off x="462815" y="162995"/>
            <a:ext cx="4080309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zh-CN" altLang="en-US" sz="3200" dirty="0">
                <a:solidFill>
                  <a:srgbClr val="FF0000"/>
                </a:solidFill>
                <a:latin typeface=".AppleSystemUIFont"/>
              </a:rPr>
              <a:t>归结原理</a:t>
            </a:r>
          </a:p>
        </p:txBody>
      </p:sp>
    </p:spTree>
    <p:extLst>
      <p:ext uri="{BB962C8B-B14F-4D97-AF65-F5344CB8AC3E}">
        <p14:creationId xmlns:p14="http://schemas.microsoft.com/office/powerpoint/2010/main" val="135806491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8372CFE0-7281-4A37-BB8C-B28E8A50DD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50950" y="1273813"/>
            <a:ext cx="8540750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algn="just">
              <a:buFont typeface="Wingdings" pitchFamily="2" charset="2"/>
              <a:buNone/>
              <a:defRPr/>
            </a:pPr>
            <a:r>
              <a:rPr lang="zh-CN" altLang="en-US" sz="2400" b="1" kern="0" dirty="0">
                <a:solidFill>
                  <a:srgbClr val="FF0000"/>
                </a:solidFill>
                <a:latin typeface="宋体" pitchFamily="2" charset="-122"/>
              </a:rPr>
              <a:t>例</a:t>
            </a:r>
            <a:r>
              <a:rPr lang="en-US" altLang="zh-CN" sz="2400" b="1" kern="0" dirty="0">
                <a:solidFill>
                  <a:srgbClr val="FF0000"/>
                </a:solidFill>
                <a:latin typeface="宋体" pitchFamily="2" charset="-122"/>
              </a:rPr>
              <a:t>2</a:t>
            </a:r>
            <a:r>
              <a:rPr lang="zh-CN" altLang="en-US" sz="2400" kern="0" dirty="0">
                <a:solidFill>
                  <a:srgbClr val="000000"/>
                </a:solidFill>
                <a:latin typeface="宋体" pitchFamily="2" charset="-122"/>
              </a:rPr>
              <a:t>的</a:t>
            </a:r>
            <a:r>
              <a:rPr lang="zh-CN" altLang="en-US" sz="2400" kern="0" dirty="0">
                <a:solidFill>
                  <a:srgbClr val="000000"/>
                </a:solidFill>
                <a:latin typeface="宋体" pitchFamily="2" charset="-122"/>
                <a:cs typeface="Times New Roman" pitchFamily="18" charset="0"/>
              </a:rPr>
              <a:t>归结过程：</a:t>
            </a:r>
            <a:r>
              <a:rPr lang="zh-CN" altLang="en-US" sz="2400" kern="0" dirty="0">
                <a:solidFill>
                  <a:srgbClr val="000000"/>
                </a:solidFill>
                <a:latin typeface="宋体" pitchFamily="2" charset="-122"/>
              </a:rPr>
              <a:t> </a:t>
            </a:r>
          </a:p>
        </p:txBody>
      </p:sp>
      <p:grpSp>
        <p:nvGrpSpPr>
          <p:cNvPr id="59396" name="Group 4"/>
          <p:cNvGrpSpPr>
            <a:grpSpLocks/>
          </p:cNvGrpSpPr>
          <p:nvPr/>
        </p:nvGrpSpPr>
        <p:grpSpPr bwMode="auto">
          <a:xfrm>
            <a:off x="1752600" y="2209800"/>
            <a:ext cx="8839200" cy="2819400"/>
            <a:chOff x="1800" y="9396"/>
            <a:chExt cx="8688" cy="1716"/>
          </a:xfrm>
        </p:grpSpPr>
        <p:sp>
          <p:nvSpPr>
            <p:cNvPr id="59397" name="Rectangle 5"/>
            <p:cNvSpPr>
              <a:spLocks noChangeArrowheads="1"/>
            </p:cNvSpPr>
            <p:nvPr/>
          </p:nvSpPr>
          <p:spPr bwMode="auto">
            <a:xfrm>
              <a:off x="1800" y="9396"/>
              <a:ext cx="2172" cy="46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1600"/>
                <a:t>P(A) ∨</a:t>
              </a:r>
              <a:r>
                <a:rPr lang="en-US" altLang="zh-CN" sz="1600">
                  <a:sym typeface="Symbol" panose="05050102010706020507" pitchFamily="18" charset="2"/>
                </a:rPr>
                <a:t></a:t>
              </a:r>
              <a:r>
                <a:rPr lang="en-US" altLang="zh-CN" sz="1600"/>
                <a:t> Q(x)∨R(x)</a:t>
              </a:r>
            </a:p>
          </p:txBody>
        </p:sp>
        <p:sp>
          <p:nvSpPr>
            <p:cNvPr id="59398" name="Rectangle 6"/>
            <p:cNvSpPr>
              <a:spLocks noChangeArrowheads="1"/>
            </p:cNvSpPr>
            <p:nvPr/>
          </p:nvSpPr>
          <p:spPr bwMode="auto">
            <a:xfrm>
              <a:off x="4334" y="9396"/>
              <a:ext cx="1448" cy="46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1600">
                  <a:sym typeface="Symbol" panose="05050102010706020507" pitchFamily="18" charset="2"/>
                </a:rPr>
                <a:t></a:t>
              </a:r>
              <a:r>
                <a:rPr lang="en-US" altLang="zh-CN" sz="1600"/>
                <a:t> P(y) ∨Q(B)</a:t>
              </a:r>
            </a:p>
          </p:txBody>
        </p:sp>
        <p:sp>
          <p:nvSpPr>
            <p:cNvPr id="59399" name="Rectangle 7"/>
            <p:cNvSpPr>
              <a:spLocks noChangeArrowheads="1"/>
            </p:cNvSpPr>
            <p:nvPr/>
          </p:nvSpPr>
          <p:spPr bwMode="auto">
            <a:xfrm>
              <a:off x="6144" y="9396"/>
              <a:ext cx="2172" cy="46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1600"/>
                <a:t>P(A) ∨</a:t>
              </a:r>
              <a:r>
                <a:rPr lang="en-US" altLang="zh-CN" sz="1600">
                  <a:sym typeface="Symbol" panose="05050102010706020507" pitchFamily="18" charset="2"/>
                </a:rPr>
                <a:t></a:t>
              </a:r>
              <a:r>
                <a:rPr lang="en-US" altLang="zh-CN" sz="1600"/>
                <a:t> Q(x)∨R(x)</a:t>
              </a:r>
            </a:p>
          </p:txBody>
        </p:sp>
        <p:sp>
          <p:nvSpPr>
            <p:cNvPr id="59400" name="Rectangle 8"/>
            <p:cNvSpPr>
              <a:spLocks noChangeArrowheads="1"/>
            </p:cNvSpPr>
            <p:nvPr/>
          </p:nvSpPr>
          <p:spPr bwMode="auto">
            <a:xfrm>
              <a:off x="8678" y="9396"/>
              <a:ext cx="1448" cy="46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1600">
                  <a:sym typeface="Symbol" panose="05050102010706020507" pitchFamily="18" charset="2"/>
                </a:rPr>
                <a:t></a:t>
              </a:r>
              <a:r>
                <a:rPr lang="en-US" altLang="zh-CN" sz="1600"/>
                <a:t> P(y) ∨Q(B)</a:t>
              </a:r>
            </a:p>
          </p:txBody>
        </p:sp>
        <p:sp>
          <p:nvSpPr>
            <p:cNvPr id="59401" name="Rectangle 9"/>
            <p:cNvSpPr>
              <a:spLocks noChangeArrowheads="1"/>
            </p:cNvSpPr>
            <p:nvPr/>
          </p:nvSpPr>
          <p:spPr bwMode="auto">
            <a:xfrm>
              <a:off x="2886" y="10644"/>
              <a:ext cx="1991" cy="46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1400">
                  <a:sym typeface="Symbol" panose="05050102010706020507" pitchFamily="18" charset="2"/>
                </a:rPr>
                <a:t></a:t>
              </a:r>
              <a:r>
                <a:rPr lang="en-US" altLang="zh-CN" sz="1400"/>
                <a:t> Q(x)∨R(x) ∨Q(B)</a:t>
              </a:r>
            </a:p>
          </p:txBody>
        </p:sp>
        <p:sp>
          <p:nvSpPr>
            <p:cNvPr id="59402" name="Rectangle 10"/>
            <p:cNvSpPr>
              <a:spLocks noChangeArrowheads="1"/>
            </p:cNvSpPr>
            <p:nvPr/>
          </p:nvSpPr>
          <p:spPr bwMode="auto">
            <a:xfrm>
              <a:off x="7592" y="10644"/>
              <a:ext cx="2172" cy="46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1600"/>
                <a:t>P(A) ∨R(B) ∨ </a:t>
              </a:r>
              <a:r>
                <a:rPr lang="en-US" altLang="zh-CN" sz="1600">
                  <a:sym typeface="Symbol" panose="05050102010706020507" pitchFamily="18" charset="2"/>
                </a:rPr>
                <a:t></a:t>
              </a:r>
              <a:r>
                <a:rPr lang="en-US" altLang="zh-CN" sz="1600"/>
                <a:t> P(y)</a:t>
              </a:r>
            </a:p>
          </p:txBody>
        </p:sp>
        <p:sp>
          <p:nvSpPr>
            <p:cNvPr id="59403" name="Line 11"/>
            <p:cNvSpPr>
              <a:spLocks noChangeShapeType="1"/>
            </p:cNvSpPr>
            <p:nvPr/>
          </p:nvSpPr>
          <p:spPr bwMode="auto">
            <a:xfrm>
              <a:off x="2886" y="9864"/>
              <a:ext cx="724" cy="78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404" name="Line 12"/>
            <p:cNvSpPr>
              <a:spLocks noChangeShapeType="1"/>
            </p:cNvSpPr>
            <p:nvPr/>
          </p:nvSpPr>
          <p:spPr bwMode="auto">
            <a:xfrm flipV="1">
              <a:off x="3610" y="9864"/>
              <a:ext cx="1267" cy="78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405" name="Line 13"/>
            <p:cNvSpPr>
              <a:spLocks noChangeShapeType="1"/>
            </p:cNvSpPr>
            <p:nvPr/>
          </p:nvSpPr>
          <p:spPr bwMode="auto">
            <a:xfrm>
              <a:off x="7049" y="9864"/>
              <a:ext cx="1448" cy="78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406" name="Line 14"/>
            <p:cNvSpPr>
              <a:spLocks noChangeShapeType="1"/>
            </p:cNvSpPr>
            <p:nvPr/>
          </p:nvSpPr>
          <p:spPr bwMode="auto">
            <a:xfrm flipV="1">
              <a:off x="8497" y="9864"/>
              <a:ext cx="724" cy="78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407" name="Text Box 15"/>
            <p:cNvSpPr txBox="1">
              <a:spLocks noChangeArrowheads="1"/>
            </p:cNvSpPr>
            <p:nvPr/>
          </p:nvSpPr>
          <p:spPr bwMode="auto">
            <a:xfrm>
              <a:off x="4696" y="10020"/>
              <a:ext cx="1267" cy="46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just">
                <a:spcBef>
                  <a:spcPct val="0"/>
                </a:spcBef>
                <a:buFontTx/>
                <a:buNone/>
              </a:pPr>
              <a:r>
                <a:rPr lang="en-US" altLang="zh-CN" sz="1600"/>
                <a:t>s={A/ y }</a:t>
              </a:r>
            </a:p>
          </p:txBody>
        </p:sp>
        <p:sp>
          <p:nvSpPr>
            <p:cNvPr id="59408" name="Text Box 16"/>
            <p:cNvSpPr txBox="1">
              <a:spLocks noChangeArrowheads="1"/>
            </p:cNvSpPr>
            <p:nvPr/>
          </p:nvSpPr>
          <p:spPr bwMode="auto">
            <a:xfrm>
              <a:off x="9221" y="10020"/>
              <a:ext cx="1267" cy="46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just">
                <a:spcBef>
                  <a:spcPct val="0"/>
                </a:spcBef>
                <a:buFontTx/>
                <a:buNone/>
              </a:pPr>
              <a:r>
                <a:rPr lang="en-US" altLang="zh-CN" sz="1600"/>
                <a:t>s={B/ x }</a:t>
              </a:r>
            </a:p>
          </p:txBody>
        </p:sp>
      </p:grpSp>
      <p:sp>
        <p:nvSpPr>
          <p:cNvPr id="6" name="标题 1">
            <a:extLst>
              <a:ext uri="{FF2B5EF4-FFF2-40B4-BE49-F238E27FC236}">
                <a16:creationId xmlns:a16="http://schemas.microsoft.com/office/drawing/2014/main" id="{C13170AE-FDDE-7E3E-9C5E-AEFEFC89091F}"/>
              </a:ext>
            </a:extLst>
          </p:cNvPr>
          <p:cNvSpPr txBox="1">
            <a:spLocks/>
          </p:cNvSpPr>
          <p:nvPr/>
        </p:nvSpPr>
        <p:spPr>
          <a:xfrm>
            <a:off x="462815" y="162995"/>
            <a:ext cx="4080309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zh-CN" altLang="en-US" sz="3200" dirty="0">
                <a:solidFill>
                  <a:srgbClr val="FF0000"/>
                </a:solidFill>
                <a:latin typeface=".AppleSystemUIFont"/>
              </a:rPr>
              <a:t>归结原理</a:t>
            </a:r>
          </a:p>
        </p:txBody>
      </p:sp>
    </p:spTree>
    <p:extLst>
      <p:ext uri="{BB962C8B-B14F-4D97-AF65-F5344CB8AC3E}">
        <p14:creationId xmlns:p14="http://schemas.microsoft.com/office/powerpoint/2010/main" val="237667254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BA27DF8-6A61-470C-8887-BD50E455EC31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847851" y="1395415"/>
            <a:ext cx="8403053" cy="4764753"/>
          </a:xfrm>
        </p:spPr>
        <p:txBody>
          <a:bodyPr/>
          <a:lstStyle/>
          <a:p>
            <a:pPr>
              <a:lnSpc>
                <a:spcPct val="125000"/>
              </a:lnSpc>
              <a:defRPr/>
            </a:pPr>
            <a:r>
              <a:rPr lang="zh-CN" altLang="en-US" sz="2400" b="1" dirty="0">
                <a:solidFill>
                  <a:srgbClr val="FF0000"/>
                </a:solidFill>
              </a:rPr>
              <a:t>归结反演 </a:t>
            </a:r>
          </a:p>
          <a:p>
            <a:pPr>
              <a:buFont typeface="Wingdings" pitchFamily="2" charset="2"/>
              <a:buNone/>
              <a:defRPr/>
            </a:pPr>
            <a:r>
              <a:rPr lang="zh-CN" alt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  <a:ea typeface="楷体_GB2312" pitchFamily="49" charset="-122"/>
              </a:rPr>
              <a:t>	</a:t>
            </a:r>
            <a:endParaRPr lang="zh-CN" altLang="en-US" sz="2400" dirty="0">
              <a:solidFill>
                <a:srgbClr val="000000"/>
              </a:solidFill>
              <a:latin typeface="宋体" pitchFamily="2" charset="-122"/>
            </a:endParaRPr>
          </a:p>
        </p:txBody>
      </p:sp>
      <p:sp>
        <p:nvSpPr>
          <p:cNvPr id="60420" name="Oval 19"/>
          <p:cNvSpPr>
            <a:spLocks noChangeArrowheads="1"/>
          </p:cNvSpPr>
          <p:nvPr/>
        </p:nvSpPr>
        <p:spPr bwMode="auto">
          <a:xfrm>
            <a:off x="2514600" y="2438400"/>
            <a:ext cx="2362200" cy="533400"/>
          </a:xfrm>
          <a:prstGeom prst="ellips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zh-CN" altLang="en-US" sz="2400">
                <a:solidFill>
                  <a:srgbClr val="000000"/>
                </a:solidFill>
                <a:latin typeface="宋体" panose="02010600030101010101" pitchFamily="2" charset="-122"/>
              </a:rPr>
              <a:t>初始公式</a:t>
            </a:r>
          </a:p>
        </p:txBody>
      </p:sp>
      <p:sp>
        <p:nvSpPr>
          <p:cNvPr id="60421" name="Oval 20"/>
          <p:cNvSpPr>
            <a:spLocks noChangeArrowheads="1"/>
          </p:cNvSpPr>
          <p:nvPr/>
        </p:nvSpPr>
        <p:spPr bwMode="auto">
          <a:xfrm>
            <a:off x="7315200" y="2438400"/>
            <a:ext cx="1905000" cy="457200"/>
          </a:xfrm>
          <a:prstGeom prst="ellips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zh-CN" altLang="en-US" sz="2400" dirty="0">
                <a:solidFill>
                  <a:srgbClr val="000000"/>
                </a:solidFill>
                <a:latin typeface="宋体" panose="02010600030101010101" pitchFamily="2" charset="-122"/>
              </a:rPr>
              <a:t>目标公式</a:t>
            </a:r>
          </a:p>
        </p:txBody>
      </p:sp>
      <p:sp>
        <p:nvSpPr>
          <p:cNvPr id="60422" name="Oval 21"/>
          <p:cNvSpPr>
            <a:spLocks noChangeArrowheads="1"/>
          </p:cNvSpPr>
          <p:nvPr/>
        </p:nvSpPr>
        <p:spPr bwMode="auto">
          <a:xfrm>
            <a:off x="2514600" y="3581400"/>
            <a:ext cx="2362200" cy="457200"/>
          </a:xfrm>
          <a:prstGeom prst="ellips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zh-CN" altLang="en-US" sz="2400">
                <a:solidFill>
                  <a:srgbClr val="000000"/>
                </a:solidFill>
                <a:latin typeface="宋体" panose="02010600030101010101" pitchFamily="2" charset="-122"/>
              </a:rPr>
              <a:t>初始子句集</a:t>
            </a:r>
          </a:p>
        </p:txBody>
      </p:sp>
      <p:sp>
        <p:nvSpPr>
          <p:cNvPr id="60423" name="Oval 22"/>
          <p:cNvSpPr>
            <a:spLocks noChangeArrowheads="1"/>
          </p:cNvSpPr>
          <p:nvPr/>
        </p:nvSpPr>
        <p:spPr bwMode="auto">
          <a:xfrm>
            <a:off x="7315200" y="3581400"/>
            <a:ext cx="1905000" cy="457200"/>
          </a:xfrm>
          <a:prstGeom prst="ellips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zh-CN" altLang="en-US" sz="2400">
                <a:solidFill>
                  <a:srgbClr val="000000"/>
                </a:solidFill>
                <a:latin typeface="宋体" panose="02010600030101010101" pitchFamily="2" charset="-122"/>
              </a:rPr>
              <a:t>目标子句</a:t>
            </a:r>
          </a:p>
        </p:txBody>
      </p:sp>
      <p:sp>
        <p:nvSpPr>
          <p:cNvPr id="60424" name="Line 23"/>
          <p:cNvSpPr>
            <a:spLocks noChangeShapeType="1"/>
          </p:cNvSpPr>
          <p:nvPr/>
        </p:nvSpPr>
        <p:spPr bwMode="auto">
          <a:xfrm>
            <a:off x="4876800" y="2667000"/>
            <a:ext cx="243840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0425" name="Line 25"/>
          <p:cNvSpPr>
            <a:spLocks noChangeShapeType="1"/>
          </p:cNvSpPr>
          <p:nvPr/>
        </p:nvSpPr>
        <p:spPr bwMode="auto">
          <a:xfrm>
            <a:off x="3733800" y="2971800"/>
            <a:ext cx="0" cy="533400"/>
          </a:xfrm>
          <a:prstGeom prst="line">
            <a:avLst/>
          </a:prstGeom>
          <a:noFill/>
          <a:ln w="9525">
            <a:solidFill>
              <a:srgbClr val="000000"/>
            </a:solidFill>
            <a:prstDash val="dash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0426" name="Line 26"/>
          <p:cNvSpPr>
            <a:spLocks noChangeShapeType="1"/>
          </p:cNvSpPr>
          <p:nvPr/>
        </p:nvSpPr>
        <p:spPr bwMode="auto">
          <a:xfrm>
            <a:off x="8305800" y="2895600"/>
            <a:ext cx="0" cy="609600"/>
          </a:xfrm>
          <a:prstGeom prst="line">
            <a:avLst/>
          </a:prstGeom>
          <a:noFill/>
          <a:ln w="9525">
            <a:solidFill>
              <a:srgbClr val="000000"/>
            </a:solidFill>
            <a:prstDash val="dash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0427" name="Rectangle 30"/>
          <p:cNvSpPr>
            <a:spLocks noChangeArrowheads="1"/>
          </p:cNvSpPr>
          <p:nvPr/>
        </p:nvSpPr>
        <p:spPr bwMode="auto">
          <a:xfrm>
            <a:off x="5181600" y="2286000"/>
            <a:ext cx="1676400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zh-CN" altLang="en-US" sz="2400">
                <a:solidFill>
                  <a:srgbClr val="000000"/>
                </a:solidFill>
                <a:latin typeface="宋体" panose="02010600030101010101" pitchFamily="2" charset="-122"/>
              </a:rPr>
              <a:t>难；繁</a:t>
            </a:r>
          </a:p>
        </p:txBody>
      </p:sp>
      <p:sp>
        <p:nvSpPr>
          <p:cNvPr id="60428" name="Oval 31"/>
          <p:cNvSpPr>
            <a:spLocks noChangeArrowheads="1"/>
          </p:cNvSpPr>
          <p:nvPr/>
        </p:nvSpPr>
        <p:spPr bwMode="auto">
          <a:xfrm>
            <a:off x="2514600" y="5181600"/>
            <a:ext cx="2362200" cy="457200"/>
          </a:xfrm>
          <a:prstGeom prst="ellips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zh-CN" altLang="en-US" sz="2400">
                <a:solidFill>
                  <a:srgbClr val="000000"/>
                </a:solidFill>
                <a:latin typeface="宋体" panose="02010600030101010101" pitchFamily="2" charset="-122"/>
              </a:rPr>
              <a:t>初始子句集</a:t>
            </a:r>
          </a:p>
        </p:txBody>
      </p:sp>
      <p:sp>
        <p:nvSpPr>
          <p:cNvPr id="60429" name="Line 32"/>
          <p:cNvSpPr>
            <a:spLocks noChangeShapeType="1"/>
          </p:cNvSpPr>
          <p:nvPr/>
        </p:nvSpPr>
        <p:spPr bwMode="auto">
          <a:xfrm flipH="1">
            <a:off x="3733800" y="4038600"/>
            <a:ext cx="4572000" cy="11430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0430" name="Line 33"/>
          <p:cNvSpPr>
            <a:spLocks noChangeShapeType="1"/>
          </p:cNvSpPr>
          <p:nvPr/>
        </p:nvSpPr>
        <p:spPr bwMode="auto">
          <a:xfrm>
            <a:off x="3733800" y="4038600"/>
            <a:ext cx="0" cy="11430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0431" name="Line 34"/>
          <p:cNvSpPr>
            <a:spLocks noChangeShapeType="1"/>
          </p:cNvSpPr>
          <p:nvPr/>
        </p:nvSpPr>
        <p:spPr bwMode="auto">
          <a:xfrm>
            <a:off x="8305800" y="4038600"/>
            <a:ext cx="0" cy="1143000"/>
          </a:xfrm>
          <a:prstGeom prst="line">
            <a:avLst/>
          </a:prstGeom>
          <a:noFill/>
          <a:ln w="9525">
            <a:solidFill>
              <a:srgbClr val="000000"/>
            </a:solidFill>
            <a:prstDash val="dash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3" name="Oval 35">
            <a:extLst>
              <a:ext uri="{FF2B5EF4-FFF2-40B4-BE49-F238E27FC236}">
                <a16:creationId xmlns:a16="http://schemas.microsoft.com/office/drawing/2014/main" id="{53023410-1E07-4511-9319-7D7F0233EA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91400" y="5181600"/>
            <a:ext cx="1905000" cy="457200"/>
          </a:xfrm>
          <a:prstGeom prst="ellips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>
              <a:defRPr/>
            </a:pPr>
            <a:r>
              <a:rPr lang="zh-CN" altLang="en-US" sz="2400" b="1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空子句</a:t>
            </a:r>
          </a:p>
        </p:txBody>
      </p:sp>
      <p:sp>
        <p:nvSpPr>
          <p:cNvPr id="60433" name="Line 36"/>
          <p:cNvSpPr>
            <a:spLocks noChangeShapeType="1"/>
          </p:cNvSpPr>
          <p:nvPr/>
        </p:nvSpPr>
        <p:spPr bwMode="auto">
          <a:xfrm>
            <a:off x="4876800" y="5562600"/>
            <a:ext cx="2514600" cy="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0434" name="Rectangle 37"/>
          <p:cNvSpPr>
            <a:spLocks noChangeArrowheads="1"/>
          </p:cNvSpPr>
          <p:nvPr/>
        </p:nvSpPr>
        <p:spPr bwMode="auto">
          <a:xfrm>
            <a:off x="5334000" y="5105400"/>
            <a:ext cx="1676400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zh-CN" altLang="en-US" sz="2400">
                <a:solidFill>
                  <a:srgbClr val="FF0000"/>
                </a:solidFill>
                <a:latin typeface="宋体" panose="02010600030101010101" pitchFamily="2" charset="-122"/>
              </a:rPr>
              <a:t>可判定的！</a:t>
            </a:r>
          </a:p>
        </p:txBody>
      </p:sp>
      <p:sp>
        <p:nvSpPr>
          <p:cNvPr id="60435" name="Line 38"/>
          <p:cNvSpPr>
            <a:spLocks noChangeShapeType="1"/>
          </p:cNvSpPr>
          <p:nvPr/>
        </p:nvSpPr>
        <p:spPr bwMode="auto">
          <a:xfrm>
            <a:off x="4876800" y="3810000"/>
            <a:ext cx="2438400" cy="0"/>
          </a:xfrm>
          <a:prstGeom prst="line">
            <a:avLst/>
          </a:prstGeom>
          <a:noFill/>
          <a:ln w="9525">
            <a:solidFill>
              <a:srgbClr val="000000"/>
            </a:solidFill>
            <a:prstDash val="dash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0436" name="Rectangle 39"/>
          <p:cNvSpPr>
            <a:spLocks noChangeArrowheads="1"/>
          </p:cNvSpPr>
          <p:nvPr/>
        </p:nvSpPr>
        <p:spPr bwMode="auto">
          <a:xfrm>
            <a:off x="5181600" y="3352800"/>
            <a:ext cx="1676400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zh-CN" altLang="en-US" sz="2000" b="1" i="1">
                <a:solidFill>
                  <a:srgbClr val="FF0000"/>
                </a:solidFill>
                <a:latin typeface="宋体" panose="02010600030101010101" pitchFamily="2" charset="-122"/>
              </a:rPr>
              <a:t>永真：半可判定的</a:t>
            </a:r>
          </a:p>
        </p:txBody>
      </p:sp>
      <p:sp>
        <p:nvSpPr>
          <p:cNvPr id="6" name="标题 1">
            <a:extLst>
              <a:ext uri="{FF2B5EF4-FFF2-40B4-BE49-F238E27FC236}">
                <a16:creationId xmlns:a16="http://schemas.microsoft.com/office/drawing/2014/main" id="{6B26509F-B99F-0A15-63A5-19B99B8560AD}"/>
              </a:ext>
            </a:extLst>
          </p:cNvPr>
          <p:cNvSpPr txBox="1">
            <a:spLocks/>
          </p:cNvSpPr>
          <p:nvPr/>
        </p:nvSpPr>
        <p:spPr>
          <a:xfrm>
            <a:off x="462815" y="162995"/>
            <a:ext cx="4080309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zh-CN" altLang="en-US" sz="3200" dirty="0">
                <a:solidFill>
                  <a:srgbClr val="FF0000"/>
                </a:solidFill>
                <a:latin typeface=".AppleSystemUIFont"/>
              </a:rPr>
              <a:t>归结原理</a:t>
            </a:r>
          </a:p>
        </p:txBody>
      </p:sp>
    </p:spTree>
    <p:extLst>
      <p:ext uri="{BB962C8B-B14F-4D97-AF65-F5344CB8AC3E}">
        <p14:creationId xmlns:p14="http://schemas.microsoft.com/office/powerpoint/2010/main" val="382485070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3C39119-AFE2-4F78-853D-959BADF699B0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414713" y="1364381"/>
            <a:ext cx="9779467" cy="5105400"/>
          </a:xfrm>
        </p:spPr>
        <p:txBody>
          <a:bodyPr>
            <a:normAutofit/>
          </a:bodyPr>
          <a:lstStyle/>
          <a:p>
            <a:pPr>
              <a:lnSpc>
                <a:spcPct val="125000"/>
              </a:lnSpc>
              <a:defRPr/>
            </a:pPr>
            <a:r>
              <a:rPr lang="zh-CN" altLang="en-US" sz="2400" b="1" dirty="0">
                <a:solidFill>
                  <a:srgbClr val="FF0000"/>
                </a:solidFill>
              </a:rPr>
              <a:t>归结反演 </a:t>
            </a:r>
          </a:p>
          <a:p>
            <a:pPr>
              <a:lnSpc>
                <a:spcPct val="125000"/>
              </a:lnSpc>
              <a:buFont typeface="Wingdings" pitchFamily="2" charset="2"/>
              <a:buNone/>
              <a:defRPr/>
            </a:pPr>
            <a:r>
              <a:rPr lang="zh-CN" altLang="en-US" sz="2000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SimSun" panose="02010600030101010101" pitchFamily="2" charset="-122"/>
                <a:ea typeface="SimSun" panose="02010600030101010101" pitchFamily="2" charset="-122"/>
              </a:rPr>
              <a:t>	</a:t>
            </a:r>
            <a:r>
              <a:rPr lang="zh-CN" altLang="en-US" sz="200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归结反演就是利用归结和反演实现定理的证明</a:t>
            </a:r>
          </a:p>
          <a:p>
            <a:pPr>
              <a:lnSpc>
                <a:spcPct val="125000"/>
              </a:lnSpc>
              <a:buFont typeface="Wingdings" pitchFamily="2" charset="2"/>
              <a:buNone/>
              <a:defRPr/>
            </a:pPr>
            <a:r>
              <a:rPr lang="zh-CN" altLang="en-US" sz="200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	具体</a:t>
            </a:r>
            <a:r>
              <a:rPr lang="zh-CN" altLang="en-US" sz="2000" dirty="0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过程</a:t>
            </a:r>
            <a:r>
              <a:rPr lang="zh-CN" altLang="en-US" sz="200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：</a:t>
            </a:r>
          </a:p>
          <a:p>
            <a:pPr algn="just">
              <a:lnSpc>
                <a:spcPct val="125000"/>
              </a:lnSpc>
              <a:buFont typeface="Wingdings" pitchFamily="2" charset="2"/>
              <a:buNone/>
              <a:defRPr/>
            </a:pPr>
            <a:r>
              <a:rPr lang="zh-CN" altLang="en-US" sz="200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   </a:t>
            </a:r>
            <a:r>
              <a:rPr lang="en-US" altLang="zh-CN" sz="200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(1)</a:t>
            </a:r>
            <a:r>
              <a:rPr lang="en-US" altLang="zh-CN" sz="200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  <a:cs typeface="Times New Roman" pitchFamily="18" charset="0"/>
              </a:rPr>
              <a:t> </a:t>
            </a:r>
            <a:r>
              <a:rPr lang="zh-CN" altLang="en-US" sz="200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将定理证明的前提谓词公式转化为子句集</a:t>
            </a:r>
            <a:r>
              <a:rPr lang="en-US" altLang="zh-CN" sz="200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F</a:t>
            </a:r>
          </a:p>
          <a:p>
            <a:pPr algn="just">
              <a:lnSpc>
                <a:spcPct val="125000"/>
              </a:lnSpc>
              <a:buFont typeface="Wingdings" pitchFamily="2" charset="2"/>
              <a:buNone/>
              <a:defRPr/>
            </a:pPr>
            <a:r>
              <a:rPr lang="en-US" altLang="zh-CN" sz="200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   (2)</a:t>
            </a:r>
            <a:r>
              <a:rPr lang="en-US" altLang="zh-CN" sz="200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  <a:cs typeface="Times New Roman" pitchFamily="18" charset="0"/>
              </a:rPr>
              <a:t> </a:t>
            </a:r>
            <a:r>
              <a:rPr lang="zh-CN" altLang="en-US" sz="200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将求证的目标表示成合适的谓词公式</a:t>
            </a:r>
            <a:r>
              <a:rPr lang="en-US" altLang="zh-CN" sz="200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G</a:t>
            </a:r>
            <a:r>
              <a:rPr lang="zh-CN" altLang="en-US" sz="200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（目标公式）</a:t>
            </a:r>
          </a:p>
          <a:p>
            <a:pPr algn="just">
              <a:lnSpc>
                <a:spcPct val="125000"/>
              </a:lnSpc>
              <a:buFont typeface="Wingdings" pitchFamily="2" charset="2"/>
              <a:buNone/>
              <a:defRPr/>
            </a:pPr>
            <a:r>
              <a:rPr lang="zh-CN" altLang="en-US" sz="200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   </a:t>
            </a:r>
            <a:r>
              <a:rPr lang="en-US" altLang="zh-CN" sz="200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(3)</a:t>
            </a:r>
            <a:r>
              <a:rPr lang="en-US" altLang="zh-CN" sz="200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  <a:cs typeface="Times New Roman" pitchFamily="18" charset="0"/>
              </a:rPr>
              <a:t> </a:t>
            </a:r>
            <a:r>
              <a:rPr lang="zh-CN" altLang="en-US" sz="200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将目标公式的否定式</a:t>
            </a:r>
            <a:r>
              <a:rPr lang="zh-CN" altLang="en-US" sz="2000" dirty="0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  <a:sym typeface="Symbol" pitchFamily="18" charset="2"/>
              </a:rPr>
              <a:t></a:t>
            </a:r>
            <a:r>
              <a:rPr lang="en-US" altLang="zh-CN" sz="2000" dirty="0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G</a:t>
            </a:r>
            <a:r>
              <a:rPr lang="zh-CN" altLang="en-US" sz="200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转化成子句的形式，并加入到子句集</a:t>
            </a:r>
            <a:r>
              <a:rPr lang="en-US" altLang="zh-CN" sz="200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F</a:t>
            </a:r>
            <a:r>
              <a:rPr lang="zh-CN" altLang="en-US" sz="200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中，得到子句集</a:t>
            </a:r>
            <a:r>
              <a:rPr lang="en-US" altLang="zh-CN" sz="200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S</a:t>
            </a:r>
          </a:p>
          <a:p>
            <a:pPr algn="just">
              <a:lnSpc>
                <a:spcPct val="125000"/>
              </a:lnSpc>
              <a:buFont typeface="Wingdings" pitchFamily="2" charset="2"/>
              <a:buNone/>
              <a:defRPr/>
            </a:pPr>
            <a:r>
              <a:rPr lang="en-US" altLang="zh-CN" sz="200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   (4) </a:t>
            </a:r>
            <a:r>
              <a:rPr lang="zh-CN" altLang="en-US" sz="200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  <a:cs typeface="Times New Roman" pitchFamily="18" charset="0"/>
              </a:rPr>
              <a:t>应用归结原理对子句集中的子句进行归结，并把每次归结得到的归结式都并入</a:t>
            </a:r>
            <a:r>
              <a:rPr lang="en-US" altLang="zh-CN" sz="200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  <a:cs typeface="Times New Roman" pitchFamily="18" charset="0"/>
              </a:rPr>
              <a:t>S</a:t>
            </a:r>
            <a:r>
              <a:rPr lang="zh-CN" altLang="en-US" sz="200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  <a:cs typeface="Times New Roman" pitchFamily="18" charset="0"/>
              </a:rPr>
              <a:t>中。如此反复进行，若归结得到一个</a:t>
            </a:r>
            <a:r>
              <a:rPr lang="zh-CN" altLang="en-US" sz="2000" dirty="0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  <a:cs typeface="Times New Roman" pitchFamily="18" charset="0"/>
              </a:rPr>
              <a:t>空子句</a:t>
            </a:r>
            <a:r>
              <a:rPr lang="en-US" altLang="zh-CN" sz="2000" dirty="0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  <a:cs typeface="Times New Roman" pitchFamily="18" charset="0"/>
              </a:rPr>
              <a:t>NIL</a:t>
            </a:r>
            <a:r>
              <a:rPr lang="zh-CN" altLang="en-US" sz="200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  <a:cs typeface="Times New Roman" pitchFamily="18" charset="0"/>
              </a:rPr>
              <a:t>，则停止归结</a:t>
            </a:r>
            <a:r>
              <a:rPr lang="zh-CN" altLang="en-US" sz="200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  <a:cs typeface="Times New Roman" pitchFamily="18" charset="0"/>
                <a:sym typeface="Wingdings" pitchFamily="2" charset="2"/>
              </a:rPr>
              <a:t> </a:t>
            </a:r>
            <a:r>
              <a:rPr lang="zh-CN" altLang="en-US" sz="200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  <a:cs typeface="Times New Roman" pitchFamily="18" charset="0"/>
              </a:rPr>
              <a:t>证明了</a:t>
            </a:r>
            <a:r>
              <a:rPr lang="en-US" altLang="zh-CN" sz="200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  <a:cs typeface="Times New Roman" pitchFamily="18" charset="0"/>
              </a:rPr>
              <a:t>G</a:t>
            </a:r>
            <a:r>
              <a:rPr lang="zh-CN" altLang="en-US" sz="200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  <a:cs typeface="Times New Roman" pitchFamily="18" charset="0"/>
              </a:rPr>
              <a:t>为真</a:t>
            </a:r>
            <a:r>
              <a:rPr lang="zh-CN" altLang="en-US" sz="2000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SimSun" panose="02010600030101010101" pitchFamily="2" charset="-122"/>
                <a:ea typeface="SimSun" panose="02010600030101010101" pitchFamily="2" charset="-122"/>
              </a:rPr>
              <a:t> </a:t>
            </a:r>
          </a:p>
        </p:txBody>
      </p:sp>
      <p:sp>
        <p:nvSpPr>
          <p:cNvPr id="3" name="标题 1">
            <a:extLst>
              <a:ext uri="{FF2B5EF4-FFF2-40B4-BE49-F238E27FC236}">
                <a16:creationId xmlns:a16="http://schemas.microsoft.com/office/drawing/2014/main" id="{A9745370-851C-BDBE-5AC5-4EDA70555BDF}"/>
              </a:ext>
            </a:extLst>
          </p:cNvPr>
          <p:cNvSpPr txBox="1">
            <a:spLocks/>
          </p:cNvSpPr>
          <p:nvPr/>
        </p:nvSpPr>
        <p:spPr>
          <a:xfrm>
            <a:off x="462815" y="162995"/>
            <a:ext cx="4080309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zh-CN" altLang="en-US" sz="3200" dirty="0">
                <a:solidFill>
                  <a:srgbClr val="FF0000"/>
                </a:solidFill>
                <a:latin typeface=".AppleSystemUIFont"/>
              </a:rPr>
              <a:t>归结原理</a:t>
            </a:r>
          </a:p>
        </p:txBody>
      </p:sp>
    </p:spTree>
    <p:extLst>
      <p:ext uri="{BB962C8B-B14F-4D97-AF65-F5344CB8AC3E}">
        <p14:creationId xmlns:p14="http://schemas.microsoft.com/office/powerpoint/2010/main" val="242215924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5" name="内容占位符 2"/>
          <p:cNvSpPr>
            <a:spLocks noGrp="1" noChangeArrowheads="1"/>
          </p:cNvSpPr>
          <p:nvPr>
            <p:ph idx="1"/>
          </p:nvPr>
        </p:nvSpPr>
        <p:spPr>
          <a:xfrm>
            <a:off x="1269331" y="1421180"/>
            <a:ext cx="9653337" cy="4534401"/>
          </a:xfrm>
        </p:spPr>
        <p:txBody>
          <a:bodyPr>
            <a:normAutofit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应用归结原理进行定理证明</a:t>
            </a:r>
            <a:endParaRPr lang="en-US" altLang="zh-CN" dirty="0">
              <a:solidFill>
                <a:srgbClr val="FF0000"/>
              </a:solidFill>
            </a:endParaRPr>
          </a:p>
          <a:p>
            <a:pPr algn="just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zh-CN" altLang="en-US" sz="2000" b="1" dirty="0"/>
              <a:t>步骤：</a:t>
            </a:r>
          </a:p>
          <a:p>
            <a:pPr algn="just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zh-CN" altLang="en-US" sz="2000" b="1" dirty="0">
                <a:latin typeface="SimSun" panose="02010600030101010101" pitchFamily="2" charset="-122"/>
                <a:ea typeface="SimSun" panose="02010600030101010101" pitchFamily="2" charset="-122"/>
              </a:rPr>
              <a:t>    </a:t>
            </a:r>
            <a:r>
              <a:rPr lang="zh-CN" altLang="en-US" sz="2000" dirty="0">
                <a:latin typeface="SimSun" panose="02010600030101010101" pitchFamily="2" charset="-122"/>
                <a:ea typeface="SimSun" panose="02010600030101010101" pitchFamily="2" charset="-122"/>
              </a:rPr>
              <a:t>设要被证明的定理可用谓词公式表示为如下的形式：</a:t>
            </a:r>
          </a:p>
          <a:p>
            <a:pPr algn="just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zh-CN" altLang="en-US" sz="2000" b="1" dirty="0">
                <a:latin typeface="SimSun" panose="02010600030101010101" pitchFamily="2" charset="-122"/>
                <a:ea typeface="SimSun" panose="02010600030101010101" pitchFamily="2" charset="-122"/>
              </a:rPr>
              <a:t>           </a:t>
            </a:r>
            <a:r>
              <a:rPr lang="en-US" altLang="zh-CN" sz="2000" dirty="0">
                <a:latin typeface="SimSun" panose="02010600030101010101" pitchFamily="2" charset="-122"/>
                <a:ea typeface="SimSun" panose="02010600030101010101" pitchFamily="2" charset="-122"/>
              </a:rPr>
              <a:t>A</a:t>
            </a:r>
            <a:r>
              <a:rPr lang="en-US" altLang="zh-CN" sz="2000" baseline="-30000" dirty="0">
                <a:latin typeface="SimSun" panose="02010600030101010101" pitchFamily="2" charset="-122"/>
                <a:ea typeface="SimSun" panose="02010600030101010101" pitchFamily="2" charset="-122"/>
              </a:rPr>
              <a:t>1</a:t>
            </a:r>
            <a:r>
              <a:rPr lang="en-US" altLang="zh-CN" sz="2000" dirty="0">
                <a:latin typeface="SimSun" panose="02010600030101010101" pitchFamily="2" charset="-122"/>
                <a:ea typeface="SimSun" panose="02010600030101010101" pitchFamily="2" charset="-122"/>
              </a:rPr>
              <a:t>∧A</a:t>
            </a:r>
            <a:r>
              <a:rPr lang="en-US" altLang="zh-CN" sz="2000" baseline="-30000" dirty="0">
                <a:latin typeface="SimSun" panose="02010600030101010101" pitchFamily="2" charset="-122"/>
                <a:ea typeface="SimSun" panose="02010600030101010101" pitchFamily="2" charset="-122"/>
              </a:rPr>
              <a:t>2</a:t>
            </a:r>
            <a:r>
              <a:rPr lang="en-US" altLang="zh-CN" sz="2000" dirty="0">
                <a:latin typeface="SimSun" panose="02010600030101010101" pitchFamily="2" charset="-122"/>
                <a:ea typeface="SimSun" panose="02010600030101010101" pitchFamily="2" charset="-122"/>
              </a:rPr>
              <a:t>∧…∧</a:t>
            </a:r>
            <a:r>
              <a:rPr lang="en-US" altLang="zh-CN" sz="2000" dirty="0" err="1">
                <a:latin typeface="SimSun" panose="02010600030101010101" pitchFamily="2" charset="-122"/>
                <a:ea typeface="SimSun" panose="02010600030101010101" pitchFamily="2" charset="-122"/>
              </a:rPr>
              <a:t>A</a:t>
            </a:r>
            <a:r>
              <a:rPr lang="en-US" altLang="zh-CN" sz="2000" baseline="-30000" dirty="0" err="1">
                <a:latin typeface="SimSun" panose="02010600030101010101" pitchFamily="2" charset="-122"/>
                <a:ea typeface="SimSun" panose="02010600030101010101" pitchFamily="2" charset="-122"/>
              </a:rPr>
              <a:t>n</a:t>
            </a:r>
            <a:r>
              <a:rPr lang="en-US" altLang="zh-CN" sz="2000" dirty="0" err="1">
                <a:latin typeface="SimSun" panose="02010600030101010101" pitchFamily="2" charset="-122"/>
                <a:ea typeface="SimSun" panose="02010600030101010101" pitchFamily="2" charset="-122"/>
              </a:rPr>
              <a:t>→B</a:t>
            </a:r>
            <a:endParaRPr lang="en-US" altLang="zh-CN" sz="2000" dirty="0"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pPr algn="just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en-US" altLang="zh-CN" sz="2000" dirty="0">
                <a:latin typeface="SimSun" panose="02010600030101010101" pitchFamily="2" charset="-122"/>
                <a:ea typeface="SimSun" panose="02010600030101010101" pitchFamily="2" charset="-122"/>
              </a:rPr>
              <a:t>(1)</a:t>
            </a:r>
            <a:r>
              <a:rPr lang="zh-CN" altLang="en-US" sz="2000" dirty="0">
                <a:latin typeface="SimSun" panose="02010600030101010101" pitchFamily="2" charset="-122"/>
                <a:ea typeface="SimSun" panose="02010600030101010101" pitchFamily="2" charset="-122"/>
              </a:rPr>
              <a:t>首先否定结论</a:t>
            </a:r>
            <a:r>
              <a:rPr lang="en-US" altLang="zh-CN" sz="2000" dirty="0">
                <a:latin typeface="SimSun" panose="02010600030101010101" pitchFamily="2" charset="-122"/>
                <a:ea typeface="SimSun" panose="02010600030101010101" pitchFamily="2" charset="-122"/>
              </a:rPr>
              <a:t>B</a:t>
            </a:r>
            <a:r>
              <a:rPr lang="zh-CN" altLang="en-US" sz="2000" dirty="0">
                <a:latin typeface="SimSun" panose="02010600030101010101" pitchFamily="2" charset="-122"/>
                <a:ea typeface="SimSun" panose="02010600030101010101" pitchFamily="2" charset="-122"/>
              </a:rPr>
              <a:t>，并将否定后的公式～</a:t>
            </a:r>
            <a:r>
              <a:rPr lang="en-US" altLang="zh-CN" sz="2000" dirty="0">
                <a:latin typeface="SimSun" panose="02010600030101010101" pitchFamily="2" charset="-122"/>
                <a:ea typeface="SimSun" panose="02010600030101010101" pitchFamily="2" charset="-122"/>
              </a:rPr>
              <a:t>B</a:t>
            </a:r>
            <a:r>
              <a:rPr lang="zh-CN" altLang="en-US" sz="2000" dirty="0">
                <a:latin typeface="SimSun" panose="02010600030101010101" pitchFamily="2" charset="-122"/>
                <a:ea typeface="SimSun" panose="02010600030101010101" pitchFamily="2" charset="-122"/>
              </a:rPr>
              <a:t>与前提公式集组成如下形式的谓词公式：</a:t>
            </a:r>
            <a:endParaRPr lang="en-US" altLang="zh-CN" sz="2000" dirty="0"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pPr algn="just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zh-CN" altLang="en-US" sz="2000" dirty="0">
                <a:latin typeface="SimSun" panose="02010600030101010101" pitchFamily="2" charset="-122"/>
                <a:ea typeface="SimSun" panose="02010600030101010101" pitchFamily="2" charset="-122"/>
              </a:rPr>
              <a:t>    </a:t>
            </a:r>
            <a:r>
              <a:rPr lang="en-US" altLang="zh-CN" sz="2000" dirty="0">
                <a:latin typeface="SimSun" panose="02010600030101010101" pitchFamily="2" charset="-122"/>
                <a:ea typeface="SimSun" panose="02010600030101010101" pitchFamily="2" charset="-122"/>
              </a:rPr>
              <a:t>     </a:t>
            </a:r>
            <a:r>
              <a:rPr lang="zh-CN" altLang="en-US" sz="2000" dirty="0">
                <a:latin typeface="SimSun" panose="02010600030101010101" pitchFamily="2" charset="-122"/>
                <a:ea typeface="SimSun" panose="02010600030101010101" pitchFamily="2" charset="-122"/>
              </a:rPr>
              <a:t>  </a:t>
            </a:r>
            <a:r>
              <a:rPr lang="en-US" altLang="zh-CN" sz="2000" dirty="0">
                <a:latin typeface="SimSun" panose="02010600030101010101" pitchFamily="2" charset="-122"/>
                <a:ea typeface="SimSun" panose="02010600030101010101" pitchFamily="2" charset="-122"/>
              </a:rPr>
              <a:t>G= A</a:t>
            </a:r>
            <a:r>
              <a:rPr lang="en-US" altLang="zh-CN" sz="2000" baseline="-30000" dirty="0">
                <a:latin typeface="SimSun" panose="02010600030101010101" pitchFamily="2" charset="-122"/>
                <a:ea typeface="SimSun" panose="02010600030101010101" pitchFamily="2" charset="-122"/>
              </a:rPr>
              <a:t>1</a:t>
            </a:r>
            <a:r>
              <a:rPr lang="en-US" altLang="zh-CN" sz="2000" dirty="0">
                <a:latin typeface="SimSun" panose="02010600030101010101" pitchFamily="2" charset="-122"/>
                <a:ea typeface="SimSun" panose="02010600030101010101" pitchFamily="2" charset="-122"/>
              </a:rPr>
              <a:t>∧A</a:t>
            </a:r>
            <a:r>
              <a:rPr lang="en-US" altLang="zh-CN" sz="2000" baseline="-30000" dirty="0">
                <a:latin typeface="SimSun" panose="02010600030101010101" pitchFamily="2" charset="-122"/>
                <a:ea typeface="SimSun" panose="02010600030101010101" pitchFamily="2" charset="-122"/>
              </a:rPr>
              <a:t>2</a:t>
            </a:r>
            <a:r>
              <a:rPr lang="en-US" altLang="zh-CN" sz="2000" dirty="0">
                <a:latin typeface="SimSun" panose="02010600030101010101" pitchFamily="2" charset="-122"/>
                <a:ea typeface="SimSun" panose="02010600030101010101" pitchFamily="2" charset="-122"/>
              </a:rPr>
              <a:t>∧…∧A</a:t>
            </a:r>
            <a:r>
              <a:rPr lang="en-US" altLang="zh-CN" sz="2000" baseline="-30000" dirty="0">
                <a:latin typeface="SimSun" panose="02010600030101010101" pitchFamily="2" charset="-122"/>
                <a:ea typeface="SimSun" panose="02010600030101010101" pitchFamily="2" charset="-122"/>
              </a:rPr>
              <a:t>n</a:t>
            </a:r>
            <a:r>
              <a:rPr lang="en-US" altLang="zh-CN" sz="2000" dirty="0">
                <a:latin typeface="SimSun" panose="02010600030101010101" pitchFamily="2" charset="-122"/>
                <a:ea typeface="SimSun" panose="02010600030101010101" pitchFamily="2" charset="-122"/>
              </a:rPr>
              <a:t>∧</a:t>
            </a:r>
            <a:r>
              <a:rPr lang="zh-CN" altLang="en-US" sz="2000" dirty="0">
                <a:latin typeface="SimSun" panose="02010600030101010101" pitchFamily="2" charset="-122"/>
                <a:ea typeface="SimSun" panose="02010600030101010101" pitchFamily="2" charset="-122"/>
              </a:rPr>
              <a:t>～</a:t>
            </a:r>
            <a:r>
              <a:rPr lang="en-US" altLang="zh-CN" sz="2000" dirty="0">
                <a:latin typeface="SimSun" panose="02010600030101010101" pitchFamily="2" charset="-122"/>
                <a:ea typeface="SimSun" panose="02010600030101010101" pitchFamily="2" charset="-122"/>
              </a:rPr>
              <a:t>B</a:t>
            </a:r>
          </a:p>
          <a:p>
            <a:pPr algn="just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en-US" altLang="zh-CN" sz="2000" dirty="0">
                <a:latin typeface="SimSun" panose="02010600030101010101" pitchFamily="2" charset="-122"/>
                <a:ea typeface="SimSun" panose="02010600030101010101" pitchFamily="2" charset="-122"/>
              </a:rPr>
              <a:t>(2)</a:t>
            </a:r>
            <a:r>
              <a:rPr lang="en-US" altLang="zh-CN" sz="2000" dirty="0">
                <a:latin typeface="SimSun" panose="02010600030101010101" pitchFamily="2" charset="-122"/>
                <a:ea typeface="SimSun" panose="02010600030101010101" pitchFamily="2" charset="-122"/>
                <a:cs typeface="Times New Roman" panose="02020603050405020304" pitchFamily="18" charset="0"/>
              </a:rPr>
              <a:t>  </a:t>
            </a:r>
            <a:r>
              <a:rPr lang="zh-CN" altLang="en-US" sz="2000" dirty="0">
                <a:latin typeface="SimSun" panose="02010600030101010101" pitchFamily="2" charset="-122"/>
                <a:ea typeface="SimSun" panose="02010600030101010101" pitchFamily="2" charset="-122"/>
              </a:rPr>
              <a:t>求谓词公式</a:t>
            </a:r>
            <a:r>
              <a:rPr lang="en-US" altLang="zh-CN" sz="2000" dirty="0">
                <a:latin typeface="SimSun" panose="02010600030101010101" pitchFamily="2" charset="-122"/>
                <a:ea typeface="SimSun" panose="02010600030101010101" pitchFamily="2" charset="-122"/>
              </a:rPr>
              <a:t>G</a:t>
            </a:r>
            <a:r>
              <a:rPr lang="zh-CN" altLang="en-US" sz="2000" dirty="0">
                <a:latin typeface="SimSun" panose="02010600030101010101" pitchFamily="2" charset="-122"/>
                <a:ea typeface="SimSun" panose="02010600030101010101" pitchFamily="2" charset="-122"/>
              </a:rPr>
              <a:t>的子句集</a:t>
            </a:r>
            <a:r>
              <a:rPr lang="en-US" altLang="zh-CN" sz="2000" dirty="0">
                <a:latin typeface="SimSun" panose="02010600030101010101" pitchFamily="2" charset="-122"/>
                <a:ea typeface="SimSun" panose="02010600030101010101" pitchFamily="2" charset="-122"/>
              </a:rPr>
              <a:t>S</a:t>
            </a:r>
            <a:r>
              <a:rPr lang="zh-CN" altLang="en-US" sz="2000" dirty="0">
                <a:latin typeface="SimSun" panose="02010600030101010101" pitchFamily="2" charset="-122"/>
                <a:ea typeface="SimSun" panose="02010600030101010101" pitchFamily="2" charset="-122"/>
              </a:rPr>
              <a:t>。</a:t>
            </a:r>
          </a:p>
          <a:p>
            <a:pPr algn="just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en-US" altLang="zh-CN" sz="2000" dirty="0">
                <a:latin typeface="SimSun" panose="02010600030101010101" pitchFamily="2" charset="-122"/>
                <a:ea typeface="SimSun" panose="02010600030101010101" pitchFamily="2" charset="-122"/>
              </a:rPr>
              <a:t>(3)</a:t>
            </a:r>
            <a:r>
              <a:rPr lang="en-US" altLang="zh-CN" sz="2000" dirty="0">
                <a:latin typeface="SimSun" panose="02010600030101010101" pitchFamily="2" charset="-122"/>
                <a:ea typeface="SimSun" panose="02010600030101010101" pitchFamily="2" charset="-122"/>
                <a:cs typeface="Times New Roman" panose="02020603050405020304" pitchFamily="18" charset="0"/>
              </a:rPr>
              <a:t>  </a:t>
            </a:r>
            <a:r>
              <a:rPr lang="zh-CN" altLang="en-US" sz="2000" dirty="0">
                <a:latin typeface="SimSun" panose="02010600030101010101" pitchFamily="2" charset="-122"/>
                <a:ea typeface="SimSun" panose="02010600030101010101" pitchFamily="2" charset="-122"/>
              </a:rPr>
              <a:t>应用归结原理，证明子句集</a:t>
            </a:r>
            <a:r>
              <a:rPr lang="en-US" altLang="zh-CN" sz="2000" dirty="0">
                <a:latin typeface="SimSun" panose="02010600030101010101" pitchFamily="2" charset="-122"/>
                <a:ea typeface="SimSun" panose="02010600030101010101" pitchFamily="2" charset="-122"/>
              </a:rPr>
              <a:t>S</a:t>
            </a:r>
            <a:r>
              <a:rPr lang="zh-CN" altLang="en-US" sz="2000" dirty="0">
                <a:latin typeface="SimSun" panose="02010600030101010101" pitchFamily="2" charset="-122"/>
                <a:ea typeface="SimSun" panose="02010600030101010101" pitchFamily="2" charset="-122"/>
              </a:rPr>
              <a:t>的不可满足性。</a:t>
            </a:r>
          </a:p>
          <a:p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5" name="标题 1">
            <a:extLst>
              <a:ext uri="{FF2B5EF4-FFF2-40B4-BE49-F238E27FC236}">
                <a16:creationId xmlns:a16="http://schemas.microsoft.com/office/drawing/2014/main" id="{D992F574-87AE-3465-11C2-22220EA6FF55}"/>
              </a:ext>
            </a:extLst>
          </p:cNvPr>
          <p:cNvSpPr txBox="1">
            <a:spLocks/>
          </p:cNvSpPr>
          <p:nvPr/>
        </p:nvSpPr>
        <p:spPr>
          <a:xfrm>
            <a:off x="462815" y="162995"/>
            <a:ext cx="4080309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zh-CN" altLang="en-US" sz="3200" dirty="0">
                <a:solidFill>
                  <a:srgbClr val="FF0000"/>
                </a:solidFill>
                <a:latin typeface=".AppleSystemUIFont"/>
              </a:rPr>
              <a:t>归结原理的应用</a:t>
            </a:r>
          </a:p>
        </p:txBody>
      </p:sp>
    </p:spTree>
    <p:extLst>
      <p:ext uri="{BB962C8B-B14F-4D97-AF65-F5344CB8AC3E}">
        <p14:creationId xmlns:p14="http://schemas.microsoft.com/office/powerpoint/2010/main" val="247055381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76298728-D42F-436F-AFB3-E583425384C3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945389" y="1782513"/>
            <a:ext cx="8435975" cy="4670425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None/>
              <a:defRPr/>
            </a:pPr>
            <a:r>
              <a:rPr lang="zh-CN" altLang="en-US" sz="2000" b="1" dirty="0">
                <a:solidFill>
                  <a:srgbClr val="FF0000"/>
                </a:solidFill>
                <a:latin typeface="宋体" pitchFamily="2" charset="-122"/>
              </a:rPr>
              <a:t>例</a:t>
            </a:r>
            <a:r>
              <a:rPr lang="en-US" altLang="zh-CN" sz="2000" b="1" dirty="0">
                <a:solidFill>
                  <a:srgbClr val="FF0000"/>
                </a:solidFill>
                <a:latin typeface="宋体" pitchFamily="2" charset="-122"/>
              </a:rPr>
              <a:t>6.1】</a:t>
            </a:r>
          </a:p>
          <a:p>
            <a:pPr>
              <a:defRPr/>
            </a:pPr>
            <a:r>
              <a:rPr lang="zh-CN" altLang="en-US" sz="200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已知前提为</a:t>
            </a:r>
            <a:r>
              <a:rPr lang="en-US" altLang="zh-CN" sz="200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F:(</a:t>
            </a:r>
            <a:r>
              <a:rPr lang="en-US" altLang="zh-CN" sz="200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  <a:sym typeface="Symbol" pitchFamily="18" charset="2"/>
              </a:rPr>
              <a:t></a:t>
            </a:r>
            <a:r>
              <a:rPr lang="en-US" altLang="zh-CN" sz="200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x){[P(x,y)∧Q(y)]→(</a:t>
            </a:r>
            <a:r>
              <a:rPr lang="en-US" altLang="zh-CN" sz="200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  <a:sym typeface="Symbol" pitchFamily="18" charset="2"/>
              </a:rPr>
              <a:t></a:t>
            </a:r>
            <a:r>
              <a:rPr lang="en-US" altLang="zh-CN" sz="200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y)[R(y)∧S(x,y)]}</a:t>
            </a:r>
          </a:p>
          <a:p>
            <a:pPr>
              <a:defRPr/>
            </a:pPr>
            <a:r>
              <a:rPr lang="zh-CN" altLang="en-US" sz="200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求证结论</a:t>
            </a:r>
            <a:r>
              <a:rPr lang="en-US" altLang="zh-CN" sz="200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G:</a:t>
            </a:r>
            <a:r>
              <a:rPr lang="en-US" altLang="zh-CN" sz="200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  <a:sym typeface="Symbol" pitchFamily="18" charset="2"/>
              </a:rPr>
              <a:t></a:t>
            </a:r>
            <a:r>
              <a:rPr lang="en-US" altLang="zh-CN" sz="200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(</a:t>
            </a:r>
            <a:r>
              <a:rPr lang="en-US" altLang="zh-CN" sz="200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  <a:sym typeface="Symbol" pitchFamily="18" charset="2"/>
              </a:rPr>
              <a:t></a:t>
            </a:r>
            <a:r>
              <a:rPr lang="en-US" altLang="zh-CN" sz="200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x)R(x)→(</a:t>
            </a:r>
            <a:r>
              <a:rPr lang="en-US" altLang="zh-CN" sz="200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  <a:sym typeface="Symbol" pitchFamily="18" charset="2"/>
              </a:rPr>
              <a:t></a:t>
            </a:r>
            <a:r>
              <a:rPr lang="en-US" altLang="zh-CN" sz="200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x)(</a:t>
            </a:r>
            <a:r>
              <a:rPr lang="en-US" altLang="zh-CN" sz="200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  <a:sym typeface="Symbol" pitchFamily="18" charset="2"/>
              </a:rPr>
              <a:t></a:t>
            </a:r>
            <a:r>
              <a:rPr lang="en-US" altLang="zh-CN" sz="200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y)[P(x,y)→</a:t>
            </a:r>
            <a:r>
              <a:rPr lang="en-US" altLang="zh-CN" sz="200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  <a:sym typeface="Symbol" pitchFamily="18" charset="2"/>
              </a:rPr>
              <a:t></a:t>
            </a:r>
            <a:r>
              <a:rPr lang="en-US" altLang="zh-CN" sz="200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Q(y)]</a:t>
            </a:r>
            <a:r>
              <a:rPr lang="zh-CN" altLang="en-US" sz="200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成立</a:t>
            </a:r>
          </a:p>
          <a:p>
            <a:pPr algn="just">
              <a:defRPr/>
            </a:pPr>
            <a:r>
              <a:rPr lang="zh-CN" altLang="en-US" sz="200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证明：先按前面所讲的方法将前提和结论化为子句集：</a:t>
            </a:r>
          </a:p>
          <a:p>
            <a:pPr algn="just">
              <a:buFont typeface="Wingdings" pitchFamily="2" charset="2"/>
              <a:buNone/>
              <a:defRPr/>
            </a:pPr>
            <a:r>
              <a:rPr lang="zh-CN" altLang="en-US" sz="200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前提</a:t>
            </a:r>
            <a:r>
              <a:rPr lang="en-US" altLang="zh-CN" sz="200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F</a:t>
            </a:r>
            <a:r>
              <a:rPr lang="zh-CN" altLang="en-US" sz="200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所对应的子句集为：</a:t>
            </a:r>
            <a:r>
              <a:rPr lang="zh-CN" altLang="en-US" sz="200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  <a:sym typeface="Symbol" pitchFamily="18" charset="2"/>
              </a:rPr>
              <a:t></a:t>
            </a:r>
            <a:r>
              <a:rPr lang="en-US" altLang="zh-CN" sz="200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P(</a:t>
            </a:r>
            <a:r>
              <a:rPr lang="en-US" altLang="zh-CN" sz="2000" dirty="0" err="1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x,y</a:t>
            </a:r>
            <a:r>
              <a:rPr lang="en-US" altLang="zh-CN" sz="200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)∨</a:t>
            </a:r>
            <a:r>
              <a:rPr lang="en-US" altLang="zh-CN" sz="200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  <a:sym typeface="Symbol" pitchFamily="18" charset="2"/>
              </a:rPr>
              <a:t></a:t>
            </a:r>
            <a:r>
              <a:rPr lang="en-US" altLang="zh-CN" sz="200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Q(y)∨R(f(x))</a:t>
            </a:r>
          </a:p>
          <a:p>
            <a:pPr algn="just">
              <a:buFont typeface="Wingdings" pitchFamily="2" charset="2"/>
              <a:buNone/>
              <a:defRPr/>
            </a:pPr>
            <a:r>
              <a:rPr lang="en-US" altLang="zh-CN" sz="200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                      </a:t>
            </a:r>
            <a:r>
              <a:rPr lang="zh-CN" altLang="en-US" sz="200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  <a:sym typeface="Symbol" pitchFamily="18" charset="2"/>
              </a:rPr>
              <a:t> </a:t>
            </a:r>
            <a:r>
              <a:rPr lang="en-US" altLang="zh-CN" sz="200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P(</a:t>
            </a:r>
            <a:r>
              <a:rPr lang="en-US" altLang="zh-CN" sz="2000" dirty="0" err="1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x,y</a:t>
            </a:r>
            <a:r>
              <a:rPr lang="en-US" altLang="zh-CN" sz="200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)∨</a:t>
            </a:r>
            <a:r>
              <a:rPr lang="en-US" altLang="zh-CN" sz="200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  <a:sym typeface="Symbol" pitchFamily="18" charset="2"/>
              </a:rPr>
              <a:t></a:t>
            </a:r>
            <a:r>
              <a:rPr lang="en-US" altLang="zh-CN" sz="200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Q(y)∨S(x, f(x))</a:t>
            </a:r>
          </a:p>
          <a:p>
            <a:pPr algn="just">
              <a:buFont typeface="Wingdings" pitchFamily="2" charset="2"/>
              <a:buNone/>
              <a:defRPr/>
            </a:pPr>
            <a:r>
              <a:rPr lang="zh-CN" altLang="en-US" sz="200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结论</a:t>
            </a:r>
            <a:r>
              <a:rPr lang="en-US" altLang="zh-CN" sz="200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G</a:t>
            </a:r>
            <a:r>
              <a:rPr lang="zh-CN" altLang="en-US" sz="200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否定对应子句集为：</a:t>
            </a:r>
            <a:r>
              <a:rPr lang="zh-CN" altLang="en-US" sz="200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  <a:sym typeface="Symbol" pitchFamily="18" charset="2"/>
              </a:rPr>
              <a:t></a:t>
            </a:r>
            <a:r>
              <a:rPr lang="en-US" altLang="zh-CN" sz="200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R(z)</a:t>
            </a:r>
            <a:r>
              <a:rPr lang="zh-CN" altLang="en-US" sz="200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；</a:t>
            </a:r>
            <a:r>
              <a:rPr lang="en-US" altLang="zh-CN" sz="200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 P(A,B)</a:t>
            </a:r>
            <a:r>
              <a:rPr lang="zh-CN" altLang="en-US" sz="200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；</a:t>
            </a:r>
            <a:r>
              <a:rPr lang="en-US" altLang="zh-CN" sz="200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  <a:cs typeface="Times New Roman" pitchFamily="18" charset="0"/>
              </a:rPr>
              <a:t>Q(B</a:t>
            </a:r>
            <a:r>
              <a:rPr lang="en-US" altLang="zh-CN" sz="2000" b="1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  <a:cs typeface="Times New Roman" pitchFamily="18" charset="0"/>
              </a:rPr>
              <a:t>)</a:t>
            </a:r>
            <a:r>
              <a:rPr lang="en-US" altLang="zh-CN" sz="2000" b="1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 </a:t>
            </a:r>
          </a:p>
        </p:txBody>
      </p:sp>
      <p:sp>
        <p:nvSpPr>
          <p:cNvPr id="5" name="标题 1">
            <a:extLst>
              <a:ext uri="{FF2B5EF4-FFF2-40B4-BE49-F238E27FC236}">
                <a16:creationId xmlns:a16="http://schemas.microsoft.com/office/drawing/2014/main" id="{0320A90C-E79A-911E-CF83-CDFFE825921A}"/>
              </a:ext>
            </a:extLst>
          </p:cNvPr>
          <p:cNvSpPr txBox="1">
            <a:spLocks/>
          </p:cNvSpPr>
          <p:nvPr/>
        </p:nvSpPr>
        <p:spPr>
          <a:xfrm>
            <a:off x="462815" y="162995"/>
            <a:ext cx="4080309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zh-CN" altLang="en-US" sz="3200" dirty="0">
                <a:solidFill>
                  <a:srgbClr val="FF0000"/>
                </a:solidFill>
                <a:latin typeface=".AppleSystemUIFont"/>
              </a:rPr>
              <a:t>归结原理的应用</a:t>
            </a:r>
          </a:p>
        </p:txBody>
      </p:sp>
    </p:spTree>
    <p:extLst>
      <p:ext uri="{BB962C8B-B14F-4D97-AF65-F5344CB8AC3E}">
        <p14:creationId xmlns:p14="http://schemas.microsoft.com/office/powerpoint/2010/main" val="25178080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3" name="内容占位符 2"/>
          <p:cNvSpPr>
            <a:spLocks noGrp="1" noChangeArrowheads="1"/>
          </p:cNvSpPr>
          <p:nvPr>
            <p:ph idx="1"/>
          </p:nvPr>
        </p:nvSpPr>
        <p:spPr>
          <a:xfrm>
            <a:off x="1539841" y="1163379"/>
            <a:ext cx="8820150" cy="762000"/>
          </a:xfrm>
        </p:spPr>
        <p:txBody>
          <a:bodyPr>
            <a:normAutofit/>
          </a:bodyPr>
          <a:lstStyle/>
          <a:p>
            <a:r>
              <a:rPr lang="zh-CN" altLang="en-US" sz="2400" dirty="0"/>
              <a:t>归结过程如下：</a:t>
            </a:r>
          </a:p>
        </p:txBody>
      </p:sp>
      <p:grpSp>
        <p:nvGrpSpPr>
          <p:cNvPr id="66564" name="Group 4"/>
          <p:cNvGrpSpPr>
            <a:grpSpLocks/>
          </p:cNvGrpSpPr>
          <p:nvPr/>
        </p:nvGrpSpPr>
        <p:grpSpPr bwMode="auto">
          <a:xfrm>
            <a:off x="2885172" y="1619451"/>
            <a:ext cx="6781800" cy="4876800"/>
            <a:chOff x="3603" y="8345"/>
            <a:chExt cx="5068" cy="3744"/>
          </a:xfrm>
        </p:grpSpPr>
        <p:sp>
          <p:nvSpPr>
            <p:cNvPr id="66565" name="Rectangle 5"/>
            <p:cNvSpPr>
              <a:spLocks noChangeArrowheads="1"/>
            </p:cNvSpPr>
            <p:nvPr/>
          </p:nvSpPr>
          <p:spPr bwMode="auto">
            <a:xfrm>
              <a:off x="3603" y="8345"/>
              <a:ext cx="2534" cy="46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1600">
                  <a:sym typeface="Symbol" panose="05050102010706020507" pitchFamily="18" charset="2"/>
                </a:rPr>
                <a:t></a:t>
              </a:r>
              <a:r>
                <a:rPr lang="en-US" altLang="zh-CN" sz="1600"/>
                <a:t> P(x,y) ∨</a:t>
              </a:r>
              <a:r>
                <a:rPr lang="en-US" altLang="zh-CN" sz="1600">
                  <a:sym typeface="Symbol" panose="05050102010706020507" pitchFamily="18" charset="2"/>
                </a:rPr>
                <a:t></a:t>
              </a:r>
              <a:r>
                <a:rPr lang="en-US" altLang="zh-CN" sz="1600"/>
                <a:t> Q(y) ∨R(f(x))</a:t>
              </a:r>
            </a:p>
          </p:txBody>
        </p:sp>
        <p:sp>
          <p:nvSpPr>
            <p:cNvPr id="66566" name="Text Box 6"/>
            <p:cNvSpPr txBox="1">
              <a:spLocks noChangeArrowheads="1"/>
            </p:cNvSpPr>
            <p:nvPr/>
          </p:nvSpPr>
          <p:spPr bwMode="auto">
            <a:xfrm>
              <a:off x="6499" y="8345"/>
              <a:ext cx="905" cy="46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1600">
                  <a:sym typeface="Symbol" panose="05050102010706020507" pitchFamily="18" charset="2"/>
                </a:rPr>
                <a:t></a:t>
              </a:r>
              <a:r>
                <a:rPr lang="en-US" altLang="zh-CN" sz="1600"/>
                <a:t> R(z)</a:t>
              </a:r>
            </a:p>
          </p:txBody>
        </p:sp>
        <p:sp>
          <p:nvSpPr>
            <p:cNvPr id="66567" name="Text Box 7"/>
            <p:cNvSpPr txBox="1">
              <a:spLocks noChangeArrowheads="1"/>
            </p:cNvSpPr>
            <p:nvPr/>
          </p:nvSpPr>
          <p:spPr bwMode="auto">
            <a:xfrm>
              <a:off x="5051" y="9437"/>
              <a:ext cx="1810" cy="46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1600">
                  <a:sym typeface="Symbol" panose="05050102010706020507" pitchFamily="18" charset="2"/>
                </a:rPr>
                <a:t></a:t>
              </a:r>
              <a:r>
                <a:rPr lang="en-US" altLang="zh-CN" sz="1600"/>
                <a:t> P(x,y) ∨</a:t>
              </a:r>
              <a:r>
                <a:rPr lang="en-US" altLang="zh-CN" sz="1600">
                  <a:sym typeface="Symbol" panose="05050102010706020507" pitchFamily="18" charset="2"/>
                </a:rPr>
                <a:t></a:t>
              </a:r>
              <a:r>
                <a:rPr lang="en-US" altLang="zh-CN" sz="1600"/>
                <a:t> Q(y)</a:t>
              </a:r>
            </a:p>
          </p:txBody>
        </p:sp>
        <p:sp>
          <p:nvSpPr>
            <p:cNvPr id="66568" name="Line 8"/>
            <p:cNvSpPr>
              <a:spLocks noChangeShapeType="1"/>
            </p:cNvSpPr>
            <p:nvPr/>
          </p:nvSpPr>
          <p:spPr bwMode="auto">
            <a:xfrm>
              <a:off x="5232" y="8813"/>
              <a:ext cx="543" cy="62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6569" name="Line 9"/>
            <p:cNvSpPr>
              <a:spLocks noChangeShapeType="1"/>
            </p:cNvSpPr>
            <p:nvPr/>
          </p:nvSpPr>
          <p:spPr bwMode="auto">
            <a:xfrm flipV="1">
              <a:off x="5775" y="8813"/>
              <a:ext cx="905" cy="62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6570" name="Text Box 10"/>
            <p:cNvSpPr txBox="1">
              <a:spLocks noChangeArrowheads="1"/>
            </p:cNvSpPr>
            <p:nvPr/>
          </p:nvSpPr>
          <p:spPr bwMode="auto">
            <a:xfrm>
              <a:off x="6499" y="8969"/>
              <a:ext cx="1086" cy="46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just">
                <a:spcBef>
                  <a:spcPct val="0"/>
                </a:spcBef>
                <a:buFontTx/>
                <a:buNone/>
              </a:pPr>
              <a:r>
                <a:rPr lang="en-US" altLang="zh-CN" sz="1600"/>
                <a:t>{f(x)/ z}</a:t>
              </a:r>
            </a:p>
          </p:txBody>
        </p:sp>
        <p:sp>
          <p:nvSpPr>
            <p:cNvPr id="66571" name="Text Box 11"/>
            <p:cNvSpPr txBox="1">
              <a:spLocks noChangeArrowheads="1"/>
            </p:cNvSpPr>
            <p:nvPr/>
          </p:nvSpPr>
          <p:spPr bwMode="auto">
            <a:xfrm>
              <a:off x="7223" y="9437"/>
              <a:ext cx="905" cy="46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1600"/>
                <a:t>P(A,B)</a:t>
              </a:r>
            </a:p>
          </p:txBody>
        </p:sp>
        <p:sp>
          <p:nvSpPr>
            <p:cNvPr id="66572" name="Text Box 12"/>
            <p:cNvSpPr txBox="1">
              <a:spLocks noChangeArrowheads="1"/>
            </p:cNvSpPr>
            <p:nvPr/>
          </p:nvSpPr>
          <p:spPr bwMode="auto">
            <a:xfrm>
              <a:off x="6137" y="10685"/>
              <a:ext cx="1086" cy="46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1600">
                  <a:sym typeface="Symbol" panose="05050102010706020507" pitchFamily="18" charset="2"/>
                </a:rPr>
                <a:t></a:t>
              </a:r>
              <a:r>
                <a:rPr lang="en-US" altLang="zh-CN" sz="1600"/>
                <a:t> Q(B)</a:t>
              </a:r>
            </a:p>
          </p:txBody>
        </p:sp>
        <p:sp>
          <p:nvSpPr>
            <p:cNvPr id="66573" name="Line 13"/>
            <p:cNvSpPr>
              <a:spLocks noChangeShapeType="1"/>
            </p:cNvSpPr>
            <p:nvPr/>
          </p:nvSpPr>
          <p:spPr bwMode="auto">
            <a:xfrm>
              <a:off x="5956" y="9905"/>
              <a:ext cx="543" cy="78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6574" name="Line 14"/>
            <p:cNvSpPr>
              <a:spLocks noChangeShapeType="1"/>
            </p:cNvSpPr>
            <p:nvPr/>
          </p:nvSpPr>
          <p:spPr bwMode="auto">
            <a:xfrm flipV="1">
              <a:off x="6499" y="9905"/>
              <a:ext cx="1086" cy="78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6575" name="Text Box 15"/>
            <p:cNvSpPr txBox="1">
              <a:spLocks noChangeArrowheads="1"/>
            </p:cNvSpPr>
            <p:nvPr/>
          </p:nvSpPr>
          <p:spPr bwMode="auto">
            <a:xfrm>
              <a:off x="7223" y="10217"/>
              <a:ext cx="1086" cy="46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just">
                <a:spcBef>
                  <a:spcPct val="0"/>
                </a:spcBef>
                <a:buFontTx/>
                <a:buNone/>
              </a:pPr>
              <a:r>
                <a:rPr lang="en-US" altLang="zh-CN" sz="1600"/>
                <a:t>{A/x,B/y}</a:t>
              </a:r>
            </a:p>
          </p:txBody>
        </p:sp>
        <p:sp>
          <p:nvSpPr>
            <p:cNvPr id="66576" name="Text Box 16"/>
            <p:cNvSpPr txBox="1">
              <a:spLocks noChangeArrowheads="1"/>
            </p:cNvSpPr>
            <p:nvPr/>
          </p:nvSpPr>
          <p:spPr bwMode="auto">
            <a:xfrm>
              <a:off x="7766" y="10685"/>
              <a:ext cx="905" cy="46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1600"/>
                <a:t> Q(B)</a:t>
              </a:r>
            </a:p>
          </p:txBody>
        </p:sp>
        <p:sp>
          <p:nvSpPr>
            <p:cNvPr id="17" name="Text Box 17">
              <a:extLst>
                <a:ext uri="{FF2B5EF4-FFF2-40B4-BE49-F238E27FC236}">
                  <a16:creationId xmlns:a16="http://schemas.microsoft.com/office/drawing/2014/main" id="{65B0DEC0-7755-4064-BC8D-04C2D29980F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043" y="11621"/>
              <a:ext cx="904" cy="46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defRPr/>
              </a:pPr>
              <a:r>
                <a:rPr lang="en-US" altLang="zh-CN" sz="1600">
                  <a:latin typeface="Times New Roman" pitchFamily="18" charset="0"/>
                </a:rPr>
                <a:t> </a:t>
              </a:r>
              <a:r>
                <a:rPr lang="en-US" altLang="zh-CN" sz="1600" b="1">
                  <a:solidFill>
                    <a:srgbClr val="FF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itchFamily="18" charset="0"/>
                </a:rPr>
                <a:t>NIL</a:t>
              </a:r>
            </a:p>
          </p:txBody>
        </p:sp>
        <p:sp>
          <p:nvSpPr>
            <p:cNvPr id="66578" name="Line 18"/>
            <p:cNvSpPr>
              <a:spLocks noChangeShapeType="1"/>
            </p:cNvSpPr>
            <p:nvPr/>
          </p:nvSpPr>
          <p:spPr bwMode="auto">
            <a:xfrm>
              <a:off x="6680" y="11153"/>
              <a:ext cx="724" cy="468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6579" name="Line 19"/>
            <p:cNvSpPr>
              <a:spLocks noChangeShapeType="1"/>
            </p:cNvSpPr>
            <p:nvPr/>
          </p:nvSpPr>
          <p:spPr bwMode="auto">
            <a:xfrm flipV="1">
              <a:off x="7404" y="11153"/>
              <a:ext cx="724" cy="468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5" name="标题 1">
            <a:extLst>
              <a:ext uri="{FF2B5EF4-FFF2-40B4-BE49-F238E27FC236}">
                <a16:creationId xmlns:a16="http://schemas.microsoft.com/office/drawing/2014/main" id="{9010A7A8-0657-8303-32A8-720126B4B979}"/>
              </a:ext>
            </a:extLst>
          </p:cNvPr>
          <p:cNvSpPr txBox="1">
            <a:spLocks/>
          </p:cNvSpPr>
          <p:nvPr/>
        </p:nvSpPr>
        <p:spPr>
          <a:xfrm>
            <a:off x="462815" y="162995"/>
            <a:ext cx="4080309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zh-CN" altLang="en-US" sz="3200" dirty="0">
                <a:solidFill>
                  <a:srgbClr val="FF0000"/>
                </a:solidFill>
                <a:latin typeface=".AppleSystemUIFont"/>
              </a:rPr>
              <a:t>归结原理的应用</a:t>
            </a:r>
          </a:p>
        </p:txBody>
      </p:sp>
    </p:spTree>
    <p:extLst>
      <p:ext uri="{BB962C8B-B14F-4D97-AF65-F5344CB8AC3E}">
        <p14:creationId xmlns:p14="http://schemas.microsoft.com/office/powerpoint/2010/main" val="163297480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7" name="Rectangle 3"/>
          <p:cNvSpPr>
            <a:spLocks noGrp="1" noChangeArrowheads="1"/>
          </p:cNvSpPr>
          <p:nvPr>
            <p:ph idx="1"/>
          </p:nvPr>
        </p:nvSpPr>
        <p:spPr>
          <a:xfrm>
            <a:off x="1878012" y="1488558"/>
            <a:ext cx="8435975" cy="5638800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  <a:buClr>
                <a:schemeClr val="accent2"/>
              </a:buClr>
              <a:buSzPct val="80000"/>
              <a:buFont typeface="Wingdings" panose="05000000000000000000" pitchFamily="2" charset="2"/>
              <a:buNone/>
            </a:pPr>
            <a:r>
              <a:rPr kumimoji="1" lang="zh-CN" altLang="en-US" sz="2000" b="1" dirty="0">
                <a:solidFill>
                  <a:srgbClr val="FF0000"/>
                </a:solidFill>
              </a:rPr>
              <a:t>例</a:t>
            </a:r>
            <a:r>
              <a:rPr kumimoji="1" lang="en-US" altLang="zh-CN" sz="2000" b="1" dirty="0">
                <a:solidFill>
                  <a:srgbClr val="FF0000"/>
                </a:solidFill>
              </a:rPr>
              <a:t>6.2.</a:t>
            </a:r>
            <a:r>
              <a:rPr kumimoji="1" lang="zh-CN" altLang="en-US" sz="200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已知</a:t>
            </a:r>
            <a:r>
              <a:rPr kumimoji="1" lang="en-US" altLang="zh-CN" sz="200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:</a:t>
            </a:r>
            <a:r>
              <a:rPr kumimoji="1" lang="zh-CN" altLang="en-US" sz="200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某些病人喜欢所有的医生，</a:t>
            </a:r>
          </a:p>
          <a:p>
            <a:pPr>
              <a:lnSpc>
                <a:spcPct val="110000"/>
              </a:lnSpc>
              <a:buClr>
                <a:schemeClr val="accent2"/>
              </a:buClr>
              <a:buSzPct val="80000"/>
              <a:buFont typeface="Wingdings" panose="05000000000000000000" pitchFamily="2" charset="2"/>
              <a:buNone/>
            </a:pPr>
            <a:r>
              <a:rPr kumimoji="1" lang="zh-CN" altLang="en-US" sz="200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               没有一个病人喜欢任意一个骗子。</a:t>
            </a:r>
          </a:p>
          <a:p>
            <a:pPr>
              <a:lnSpc>
                <a:spcPct val="110000"/>
              </a:lnSpc>
              <a:buClr>
                <a:schemeClr val="accent2"/>
              </a:buClr>
              <a:buSzPct val="80000"/>
              <a:buFont typeface="Wingdings" panose="05000000000000000000" pitchFamily="2" charset="2"/>
              <a:buNone/>
            </a:pPr>
            <a:r>
              <a:rPr kumimoji="1" lang="zh-CN" altLang="en-US" sz="200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     证明</a:t>
            </a:r>
            <a:r>
              <a:rPr kumimoji="1" lang="en-US" altLang="zh-CN" sz="200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: </a:t>
            </a:r>
            <a:r>
              <a:rPr kumimoji="1" lang="zh-CN" altLang="en-US" sz="200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任意一个医生都不是骗子。</a:t>
            </a:r>
          </a:p>
          <a:p>
            <a:pPr>
              <a:lnSpc>
                <a:spcPct val="110000"/>
              </a:lnSpc>
              <a:buClr>
                <a:schemeClr val="accent2"/>
              </a:buClr>
              <a:buSzPct val="80000"/>
              <a:buFont typeface="Wingdings" panose="05000000000000000000" pitchFamily="2" charset="2"/>
              <a:buNone/>
            </a:pPr>
            <a:r>
              <a:rPr kumimoji="1" lang="zh-CN" altLang="en-US" sz="200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证明</a:t>
            </a:r>
            <a:r>
              <a:rPr kumimoji="1" lang="en-US" altLang="zh-CN" sz="200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:  </a:t>
            </a:r>
            <a:r>
              <a:rPr kumimoji="1" lang="zh-CN" altLang="en-US" sz="200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知识表示：令</a:t>
            </a:r>
          </a:p>
          <a:p>
            <a:pPr>
              <a:lnSpc>
                <a:spcPct val="110000"/>
              </a:lnSpc>
              <a:buClr>
                <a:schemeClr val="accent2"/>
              </a:buClr>
              <a:buSzPct val="80000"/>
              <a:buFont typeface="Wingdings" panose="05000000000000000000" pitchFamily="2" charset="2"/>
              <a:buNone/>
            </a:pPr>
            <a:r>
              <a:rPr kumimoji="1" lang="zh-CN" altLang="en-US" sz="200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         </a:t>
            </a:r>
            <a:r>
              <a:rPr kumimoji="1" lang="en-US" altLang="zh-CN" sz="200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P(x)</a:t>
            </a:r>
            <a:r>
              <a:rPr kumimoji="1" lang="zh-CN" altLang="en-US" sz="200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：</a:t>
            </a:r>
            <a:r>
              <a:rPr kumimoji="1" lang="en-US" altLang="zh-CN" sz="200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x</a:t>
            </a:r>
            <a:r>
              <a:rPr kumimoji="1" lang="zh-CN" altLang="en-US" sz="200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是病人         </a:t>
            </a:r>
            <a:r>
              <a:rPr kumimoji="1" lang="en-US" altLang="zh-CN" sz="200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D(x)</a:t>
            </a:r>
            <a:r>
              <a:rPr kumimoji="1" lang="zh-CN" altLang="en-US" sz="200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：</a:t>
            </a:r>
            <a:r>
              <a:rPr kumimoji="1" lang="en-US" altLang="zh-CN" sz="200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x</a:t>
            </a:r>
            <a:r>
              <a:rPr kumimoji="1" lang="zh-CN" altLang="en-US" sz="200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是医生</a:t>
            </a:r>
          </a:p>
          <a:p>
            <a:pPr>
              <a:lnSpc>
                <a:spcPct val="110000"/>
              </a:lnSpc>
              <a:buClr>
                <a:schemeClr val="accent2"/>
              </a:buClr>
              <a:buSzPct val="80000"/>
              <a:buFont typeface="Wingdings" panose="05000000000000000000" pitchFamily="2" charset="2"/>
              <a:buNone/>
            </a:pPr>
            <a:r>
              <a:rPr kumimoji="1" lang="zh-CN" altLang="en-US" sz="200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        </a:t>
            </a:r>
            <a:r>
              <a:rPr kumimoji="1" lang="en-US" altLang="zh-CN" sz="200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Q(x)</a:t>
            </a:r>
            <a:r>
              <a:rPr kumimoji="1" lang="zh-CN" altLang="en-US" sz="200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：</a:t>
            </a:r>
            <a:r>
              <a:rPr kumimoji="1" lang="en-US" altLang="zh-CN" sz="200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x</a:t>
            </a:r>
            <a:r>
              <a:rPr kumimoji="1" lang="zh-CN" altLang="en-US" sz="200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是骗子         </a:t>
            </a:r>
            <a:r>
              <a:rPr kumimoji="1" lang="en-US" altLang="zh-CN" sz="200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L(x, y)</a:t>
            </a:r>
            <a:r>
              <a:rPr kumimoji="1" lang="zh-CN" altLang="en-US" sz="200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：</a:t>
            </a:r>
            <a:r>
              <a:rPr kumimoji="1" lang="en-US" altLang="zh-CN" sz="200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x</a:t>
            </a:r>
            <a:r>
              <a:rPr kumimoji="1" lang="zh-CN" altLang="en-US" sz="200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喜欢</a:t>
            </a:r>
            <a:r>
              <a:rPr kumimoji="1" lang="en-US" altLang="zh-CN" sz="200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y</a:t>
            </a:r>
          </a:p>
          <a:p>
            <a:pPr>
              <a:lnSpc>
                <a:spcPct val="110000"/>
              </a:lnSpc>
              <a:buClr>
                <a:schemeClr val="accent2"/>
              </a:buClr>
              <a:buSzPct val="80000"/>
              <a:buFont typeface="Wingdings" panose="05000000000000000000" pitchFamily="2" charset="2"/>
              <a:buNone/>
            </a:pPr>
            <a:r>
              <a:rPr kumimoji="1" lang="en-US" altLang="zh-CN" sz="200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A1: </a:t>
            </a:r>
            <a:r>
              <a:rPr kumimoji="1" lang="en-US" altLang="zh-CN" sz="200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  <a:sym typeface="Symbol" panose="05050102010706020507" pitchFamily="18" charset="2"/>
              </a:rPr>
              <a:t></a:t>
            </a:r>
            <a:r>
              <a:rPr kumimoji="1" lang="en-US" altLang="zh-CN" sz="200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x (P(x) </a:t>
            </a:r>
            <a:r>
              <a:rPr kumimoji="1" lang="en-US" altLang="zh-CN" sz="200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  <a:sym typeface="Symbol" panose="05050102010706020507" pitchFamily="18" charset="2"/>
              </a:rPr>
              <a:t></a:t>
            </a:r>
            <a:r>
              <a:rPr kumimoji="1" lang="en-US" altLang="zh-CN" sz="200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 </a:t>
            </a:r>
            <a:r>
              <a:rPr kumimoji="1" lang="en-US" altLang="zh-CN" sz="200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  <a:sym typeface="Symbol" panose="05050102010706020507" pitchFamily="18" charset="2"/>
              </a:rPr>
              <a:t></a:t>
            </a:r>
            <a:r>
              <a:rPr kumimoji="1" lang="en-US" altLang="zh-CN" sz="200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y(D(y)</a:t>
            </a:r>
            <a:r>
              <a:rPr kumimoji="1" lang="en-US" altLang="zh-CN" sz="200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  <a:sym typeface="Symbol" panose="05050102010706020507" pitchFamily="18" charset="2"/>
              </a:rPr>
              <a:t></a:t>
            </a:r>
            <a:r>
              <a:rPr kumimoji="1" lang="en-US" altLang="zh-CN" sz="200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L(x, y)))</a:t>
            </a:r>
          </a:p>
          <a:p>
            <a:pPr>
              <a:lnSpc>
                <a:spcPct val="110000"/>
              </a:lnSpc>
              <a:buClr>
                <a:schemeClr val="accent2"/>
              </a:buClr>
              <a:buSzPct val="80000"/>
              <a:buFont typeface="Wingdings" panose="05000000000000000000" pitchFamily="2" charset="2"/>
              <a:buNone/>
            </a:pPr>
            <a:r>
              <a:rPr kumimoji="1" lang="en-US" altLang="zh-CN" sz="200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A2: </a:t>
            </a:r>
            <a:r>
              <a:rPr kumimoji="1" lang="en-US" altLang="zh-CN" sz="200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  <a:sym typeface="Symbol" panose="05050102010706020507" pitchFamily="18" charset="2"/>
              </a:rPr>
              <a:t></a:t>
            </a:r>
            <a:r>
              <a:rPr kumimoji="1" lang="en-US" altLang="zh-CN" sz="200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x(P(x) </a:t>
            </a:r>
            <a:r>
              <a:rPr kumimoji="1" lang="en-US" altLang="zh-CN" sz="200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  <a:sym typeface="Symbol" panose="05050102010706020507" pitchFamily="18" charset="2"/>
              </a:rPr>
              <a:t></a:t>
            </a:r>
            <a:r>
              <a:rPr kumimoji="1" lang="en-US" altLang="zh-CN" sz="200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y(Q(y) </a:t>
            </a:r>
            <a:r>
              <a:rPr kumimoji="1" lang="en-US" altLang="zh-CN" sz="200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  <a:sym typeface="Symbol" panose="05050102010706020507" pitchFamily="18" charset="2"/>
              </a:rPr>
              <a:t></a:t>
            </a:r>
            <a:r>
              <a:rPr kumimoji="1" lang="zh-CN" altLang="en-US" sz="200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～</a:t>
            </a:r>
            <a:r>
              <a:rPr kumimoji="1" lang="en-US" altLang="zh-CN" sz="200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L(x, y)))</a:t>
            </a:r>
          </a:p>
          <a:p>
            <a:pPr>
              <a:lnSpc>
                <a:spcPct val="110000"/>
              </a:lnSpc>
              <a:buClr>
                <a:schemeClr val="accent2"/>
              </a:buClr>
              <a:buSzPct val="80000"/>
              <a:buFont typeface="Wingdings" panose="05000000000000000000" pitchFamily="2" charset="2"/>
              <a:buNone/>
            </a:pPr>
            <a:r>
              <a:rPr kumimoji="1" lang="en-US" altLang="zh-CN" sz="200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B:  </a:t>
            </a:r>
            <a:r>
              <a:rPr kumimoji="1" lang="en-US" altLang="zh-CN" sz="200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  <a:sym typeface="Symbol" panose="05050102010706020507" pitchFamily="18" charset="2"/>
              </a:rPr>
              <a:t></a:t>
            </a:r>
            <a:r>
              <a:rPr kumimoji="1" lang="en-US" altLang="zh-CN" sz="200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x(D(x) </a:t>
            </a:r>
            <a:r>
              <a:rPr kumimoji="1" lang="en-US" altLang="zh-CN" sz="200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  <a:sym typeface="Symbol" panose="05050102010706020507" pitchFamily="18" charset="2"/>
              </a:rPr>
              <a:t></a:t>
            </a:r>
            <a:r>
              <a:rPr kumimoji="1" lang="zh-CN" altLang="en-US" sz="200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～</a:t>
            </a:r>
            <a:r>
              <a:rPr kumimoji="1" lang="en-US" altLang="zh-CN" sz="200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Q(x))</a:t>
            </a:r>
          </a:p>
          <a:p>
            <a:pPr>
              <a:lnSpc>
                <a:spcPct val="110000"/>
              </a:lnSpc>
              <a:buClr>
                <a:schemeClr val="accent2"/>
              </a:buClr>
              <a:buSzPct val="80000"/>
              <a:buFont typeface="Wingdings" panose="05000000000000000000" pitchFamily="2" charset="2"/>
              <a:buNone/>
            </a:pPr>
            <a:r>
              <a:rPr kumimoji="1" lang="zh-CN" altLang="en-US" sz="200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我们要证明</a:t>
            </a:r>
            <a:r>
              <a:rPr kumimoji="1" lang="en-US" altLang="zh-CN" sz="200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B</a:t>
            </a:r>
            <a:r>
              <a:rPr kumimoji="1" lang="zh-CN" altLang="en-US" sz="200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是</a:t>
            </a:r>
            <a:r>
              <a:rPr kumimoji="1" lang="en-US" altLang="zh-CN" sz="200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A1</a:t>
            </a:r>
            <a:r>
              <a:rPr kumimoji="1" lang="zh-CN" altLang="en-US" sz="200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和</a:t>
            </a:r>
            <a:r>
              <a:rPr kumimoji="1" lang="en-US" altLang="zh-CN" sz="200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A2</a:t>
            </a:r>
            <a:r>
              <a:rPr kumimoji="1" lang="zh-CN" altLang="en-US" sz="200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的逻辑结果，即公式</a:t>
            </a:r>
            <a:r>
              <a:rPr kumimoji="1" lang="en-US" altLang="zh-CN" sz="200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A1</a:t>
            </a:r>
            <a:r>
              <a:rPr kumimoji="1" lang="en-US" altLang="zh-CN" sz="200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  <a:sym typeface="Symbol" panose="05050102010706020507" pitchFamily="18" charset="2"/>
              </a:rPr>
              <a:t></a:t>
            </a:r>
            <a:r>
              <a:rPr kumimoji="1" lang="en-US" altLang="zh-CN" sz="200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A2</a:t>
            </a:r>
            <a:r>
              <a:rPr kumimoji="1" lang="en-US" altLang="zh-CN" sz="200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  <a:sym typeface="Symbol" panose="05050102010706020507" pitchFamily="18" charset="2"/>
              </a:rPr>
              <a:t></a:t>
            </a:r>
            <a:r>
              <a:rPr kumimoji="1" lang="zh-CN" altLang="en-US" sz="200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～</a:t>
            </a:r>
            <a:r>
              <a:rPr kumimoji="1" lang="en-US" altLang="zh-CN" sz="200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B</a:t>
            </a:r>
            <a:r>
              <a:rPr kumimoji="1" lang="zh-CN" altLang="en-US" sz="200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是不可满足的。 </a:t>
            </a:r>
          </a:p>
          <a:p>
            <a:pPr>
              <a:buFont typeface="Wingdings" panose="05000000000000000000" pitchFamily="2" charset="2"/>
              <a:buNone/>
            </a:pPr>
            <a:endParaRPr lang="en-US" altLang="zh-CN" sz="2600" dirty="0">
              <a:solidFill>
                <a:srgbClr val="000000"/>
              </a:solidFill>
            </a:endParaRPr>
          </a:p>
        </p:txBody>
      </p:sp>
      <p:sp>
        <p:nvSpPr>
          <p:cNvPr id="5" name="标题 1">
            <a:extLst>
              <a:ext uri="{FF2B5EF4-FFF2-40B4-BE49-F238E27FC236}">
                <a16:creationId xmlns:a16="http://schemas.microsoft.com/office/drawing/2014/main" id="{961D81CD-82E0-5DC8-DF1B-D4CAC52FD54F}"/>
              </a:ext>
            </a:extLst>
          </p:cNvPr>
          <p:cNvSpPr txBox="1">
            <a:spLocks/>
          </p:cNvSpPr>
          <p:nvPr/>
        </p:nvSpPr>
        <p:spPr>
          <a:xfrm>
            <a:off x="462815" y="162995"/>
            <a:ext cx="4080309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zh-CN" altLang="en-US" sz="3200" dirty="0">
                <a:solidFill>
                  <a:srgbClr val="FF0000"/>
                </a:solidFill>
                <a:latin typeface=".AppleSystemUIFont"/>
              </a:rPr>
              <a:t>归结原理的应用</a:t>
            </a:r>
          </a:p>
        </p:txBody>
      </p:sp>
    </p:spTree>
    <p:extLst>
      <p:ext uri="{BB962C8B-B14F-4D97-AF65-F5344CB8AC3E}">
        <p14:creationId xmlns:p14="http://schemas.microsoft.com/office/powerpoint/2010/main" val="180393003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1" name="Rectangle 3"/>
          <p:cNvSpPr>
            <a:spLocks noGrp="1" noChangeArrowheads="1"/>
          </p:cNvSpPr>
          <p:nvPr>
            <p:ph idx="1"/>
          </p:nvPr>
        </p:nvSpPr>
        <p:spPr>
          <a:xfrm>
            <a:off x="2079626" y="1196976"/>
            <a:ext cx="8435975" cy="5356225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  <a:buFont typeface="Wingdings" panose="05000000000000000000" pitchFamily="2" charset="2"/>
              <a:buNone/>
            </a:pPr>
            <a:r>
              <a:rPr lang="en-US" altLang="zh-CN" sz="2000" dirty="0">
                <a:latin typeface="SimSun" panose="02010600030101010101" pitchFamily="2" charset="-122"/>
                <a:ea typeface="SimSun" panose="02010600030101010101" pitchFamily="2" charset="-122"/>
              </a:rPr>
              <a:t>A1=</a:t>
            </a:r>
            <a:r>
              <a:rPr lang="en-US" altLang="zh-CN" sz="2000" dirty="0">
                <a:latin typeface="SimSun" panose="02010600030101010101" pitchFamily="2" charset="-122"/>
                <a:ea typeface="SimSun" panose="02010600030101010101" pitchFamily="2" charset="-122"/>
                <a:sym typeface="Symbol" panose="05050102010706020507" pitchFamily="18" charset="2"/>
              </a:rPr>
              <a:t></a:t>
            </a:r>
            <a:r>
              <a:rPr lang="en-US" altLang="zh-CN" sz="2000" dirty="0">
                <a:latin typeface="SimSun" panose="02010600030101010101" pitchFamily="2" charset="-122"/>
                <a:ea typeface="SimSun" panose="02010600030101010101" pitchFamily="2" charset="-122"/>
              </a:rPr>
              <a:t>x (P(x) </a:t>
            </a:r>
            <a:r>
              <a:rPr lang="en-US" altLang="zh-CN" sz="2000" dirty="0">
                <a:latin typeface="SimSun" panose="02010600030101010101" pitchFamily="2" charset="-122"/>
                <a:ea typeface="SimSun" panose="02010600030101010101" pitchFamily="2" charset="-122"/>
                <a:sym typeface="Symbol" panose="05050102010706020507" pitchFamily="18" charset="2"/>
              </a:rPr>
              <a:t></a:t>
            </a:r>
            <a:r>
              <a:rPr lang="en-US" altLang="zh-CN" sz="2000" dirty="0">
                <a:latin typeface="SimSun" panose="02010600030101010101" pitchFamily="2" charset="-122"/>
                <a:ea typeface="SimSun" panose="02010600030101010101" pitchFamily="2" charset="-122"/>
              </a:rPr>
              <a:t> </a:t>
            </a:r>
            <a:r>
              <a:rPr lang="en-US" altLang="zh-CN" sz="2000" dirty="0">
                <a:latin typeface="SimSun" panose="02010600030101010101" pitchFamily="2" charset="-122"/>
                <a:ea typeface="SimSun" panose="02010600030101010101" pitchFamily="2" charset="-122"/>
                <a:sym typeface="Symbol" panose="05050102010706020507" pitchFamily="18" charset="2"/>
              </a:rPr>
              <a:t></a:t>
            </a:r>
            <a:r>
              <a:rPr lang="en-US" altLang="zh-CN" sz="2000" dirty="0">
                <a:latin typeface="SimSun" panose="02010600030101010101" pitchFamily="2" charset="-122"/>
                <a:ea typeface="SimSun" panose="02010600030101010101" pitchFamily="2" charset="-122"/>
              </a:rPr>
              <a:t>y(</a:t>
            </a:r>
            <a:r>
              <a:rPr lang="zh-CN" altLang="en-US" sz="2000" dirty="0">
                <a:latin typeface="SimSun" panose="02010600030101010101" pitchFamily="2" charset="-122"/>
                <a:ea typeface="SimSun" panose="02010600030101010101" pitchFamily="2" charset="-122"/>
              </a:rPr>
              <a:t>～</a:t>
            </a:r>
            <a:r>
              <a:rPr lang="en-US" altLang="zh-CN" sz="2000" dirty="0">
                <a:latin typeface="SimSun" panose="02010600030101010101" pitchFamily="2" charset="-122"/>
                <a:ea typeface="SimSun" panose="02010600030101010101" pitchFamily="2" charset="-122"/>
              </a:rPr>
              <a:t>D(y) </a:t>
            </a:r>
            <a:r>
              <a:rPr lang="en-US" altLang="zh-CN" sz="2000" dirty="0">
                <a:latin typeface="SimSun" panose="02010600030101010101" pitchFamily="2" charset="-122"/>
                <a:ea typeface="SimSun" panose="02010600030101010101" pitchFamily="2" charset="-122"/>
                <a:sym typeface="Symbol" panose="05050102010706020507" pitchFamily="18" charset="2"/>
              </a:rPr>
              <a:t></a:t>
            </a:r>
            <a:r>
              <a:rPr lang="en-US" altLang="zh-CN" sz="2000" dirty="0">
                <a:latin typeface="SimSun" panose="02010600030101010101" pitchFamily="2" charset="-122"/>
                <a:ea typeface="SimSun" panose="02010600030101010101" pitchFamily="2" charset="-122"/>
              </a:rPr>
              <a:t> L(x, y)))</a:t>
            </a:r>
          </a:p>
          <a:p>
            <a:pPr>
              <a:lnSpc>
                <a:spcPct val="110000"/>
              </a:lnSpc>
              <a:buFont typeface="Wingdings" panose="05000000000000000000" pitchFamily="2" charset="2"/>
              <a:buNone/>
            </a:pPr>
            <a:r>
              <a:rPr lang="en-US" altLang="zh-CN" sz="2000" dirty="0">
                <a:latin typeface="SimSun" panose="02010600030101010101" pitchFamily="2" charset="-122"/>
                <a:ea typeface="SimSun" panose="02010600030101010101" pitchFamily="2" charset="-122"/>
              </a:rPr>
              <a:t>      =</a:t>
            </a:r>
            <a:r>
              <a:rPr lang="en-US" altLang="zh-CN" sz="2000" dirty="0">
                <a:latin typeface="SimSun" panose="02010600030101010101" pitchFamily="2" charset="-122"/>
                <a:ea typeface="SimSun" panose="02010600030101010101" pitchFamily="2" charset="-122"/>
                <a:sym typeface="Symbol" panose="05050102010706020507" pitchFamily="18" charset="2"/>
              </a:rPr>
              <a:t></a:t>
            </a:r>
            <a:r>
              <a:rPr lang="en-US" altLang="zh-CN" sz="2000" dirty="0">
                <a:latin typeface="SimSun" panose="02010600030101010101" pitchFamily="2" charset="-122"/>
                <a:ea typeface="SimSun" panose="02010600030101010101" pitchFamily="2" charset="-122"/>
              </a:rPr>
              <a:t>x </a:t>
            </a:r>
            <a:r>
              <a:rPr lang="en-US" altLang="zh-CN" sz="2000" dirty="0">
                <a:latin typeface="SimSun" panose="02010600030101010101" pitchFamily="2" charset="-122"/>
                <a:ea typeface="SimSun" panose="02010600030101010101" pitchFamily="2" charset="-122"/>
                <a:sym typeface="Symbol" panose="05050102010706020507" pitchFamily="18" charset="2"/>
              </a:rPr>
              <a:t></a:t>
            </a:r>
            <a:r>
              <a:rPr lang="en-US" altLang="zh-CN" sz="2000" dirty="0">
                <a:latin typeface="SimSun" panose="02010600030101010101" pitchFamily="2" charset="-122"/>
                <a:ea typeface="SimSun" panose="02010600030101010101" pitchFamily="2" charset="-122"/>
              </a:rPr>
              <a:t>y (P(x) </a:t>
            </a:r>
            <a:r>
              <a:rPr lang="en-US" altLang="zh-CN" sz="2000" dirty="0">
                <a:latin typeface="SimSun" panose="02010600030101010101" pitchFamily="2" charset="-122"/>
                <a:ea typeface="SimSun" panose="02010600030101010101" pitchFamily="2" charset="-122"/>
                <a:sym typeface="Symbol" panose="05050102010706020507" pitchFamily="18" charset="2"/>
              </a:rPr>
              <a:t></a:t>
            </a:r>
            <a:r>
              <a:rPr lang="en-US" altLang="zh-CN" sz="2000" dirty="0">
                <a:latin typeface="SimSun" panose="02010600030101010101" pitchFamily="2" charset="-122"/>
                <a:ea typeface="SimSun" panose="02010600030101010101" pitchFamily="2" charset="-122"/>
              </a:rPr>
              <a:t> (</a:t>
            </a:r>
            <a:r>
              <a:rPr lang="zh-CN" altLang="en-US" sz="2000" dirty="0">
                <a:latin typeface="SimSun" panose="02010600030101010101" pitchFamily="2" charset="-122"/>
                <a:ea typeface="SimSun" panose="02010600030101010101" pitchFamily="2" charset="-122"/>
              </a:rPr>
              <a:t>～</a:t>
            </a:r>
            <a:r>
              <a:rPr lang="en-US" altLang="zh-CN" sz="2000" dirty="0">
                <a:latin typeface="SimSun" panose="02010600030101010101" pitchFamily="2" charset="-122"/>
                <a:ea typeface="SimSun" panose="02010600030101010101" pitchFamily="2" charset="-122"/>
              </a:rPr>
              <a:t>D(y) </a:t>
            </a:r>
            <a:r>
              <a:rPr lang="en-US" altLang="zh-CN" sz="2000" dirty="0">
                <a:latin typeface="SimSun" panose="02010600030101010101" pitchFamily="2" charset="-122"/>
                <a:ea typeface="SimSun" panose="02010600030101010101" pitchFamily="2" charset="-122"/>
                <a:sym typeface="Symbol" panose="05050102010706020507" pitchFamily="18" charset="2"/>
              </a:rPr>
              <a:t></a:t>
            </a:r>
            <a:r>
              <a:rPr lang="en-US" altLang="zh-CN" sz="2000" dirty="0">
                <a:latin typeface="SimSun" panose="02010600030101010101" pitchFamily="2" charset="-122"/>
                <a:ea typeface="SimSun" panose="02010600030101010101" pitchFamily="2" charset="-122"/>
              </a:rPr>
              <a:t> L(x, y)))</a:t>
            </a:r>
          </a:p>
          <a:p>
            <a:pPr>
              <a:lnSpc>
                <a:spcPct val="110000"/>
              </a:lnSpc>
              <a:buFont typeface="Wingdings" panose="05000000000000000000" pitchFamily="2" charset="2"/>
              <a:buNone/>
            </a:pPr>
            <a:r>
              <a:rPr lang="en-US" altLang="zh-CN" sz="2000" dirty="0">
                <a:latin typeface="SimSun" panose="02010600030101010101" pitchFamily="2" charset="-122"/>
                <a:ea typeface="SimSun" panose="02010600030101010101" pitchFamily="2" charset="-122"/>
              </a:rPr>
              <a:t>   ---</a:t>
            </a:r>
            <a:r>
              <a:rPr lang="en-US" altLang="zh-CN" sz="2000" dirty="0">
                <a:latin typeface="SimSun" panose="02010600030101010101" pitchFamily="2" charset="-122"/>
                <a:ea typeface="SimSun" panose="02010600030101010101" pitchFamily="2" charset="-122"/>
                <a:sym typeface="Symbol" panose="05050102010706020507" pitchFamily="18" charset="2"/>
              </a:rPr>
              <a:t></a:t>
            </a:r>
            <a:r>
              <a:rPr lang="en-US" altLang="zh-CN" sz="2000" dirty="0">
                <a:latin typeface="SimSun" panose="02010600030101010101" pitchFamily="2" charset="-122"/>
                <a:ea typeface="SimSun" panose="02010600030101010101" pitchFamily="2" charset="-122"/>
              </a:rPr>
              <a:t> </a:t>
            </a:r>
            <a:r>
              <a:rPr lang="en-US" altLang="zh-CN" sz="2000" dirty="0">
                <a:latin typeface="SimSun" panose="02010600030101010101" pitchFamily="2" charset="-122"/>
                <a:ea typeface="SimSun" panose="02010600030101010101" pitchFamily="2" charset="-122"/>
                <a:sym typeface="Symbol" panose="05050102010706020507" pitchFamily="18" charset="2"/>
              </a:rPr>
              <a:t></a:t>
            </a:r>
            <a:r>
              <a:rPr lang="en-US" altLang="zh-CN" sz="2000" dirty="0">
                <a:latin typeface="SimSun" panose="02010600030101010101" pitchFamily="2" charset="-122"/>
                <a:ea typeface="SimSun" panose="02010600030101010101" pitchFamily="2" charset="-122"/>
              </a:rPr>
              <a:t>y (P(a) </a:t>
            </a:r>
            <a:r>
              <a:rPr lang="en-US" altLang="zh-CN" sz="2000" dirty="0">
                <a:latin typeface="SimSun" panose="02010600030101010101" pitchFamily="2" charset="-122"/>
                <a:ea typeface="SimSun" panose="02010600030101010101" pitchFamily="2" charset="-122"/>
                <a:sym typeface="Symbol" panose="05050102010706020507" pitchFamily="18" charset="2"/>
              </a:rPr>
              <a:t></a:t>
            </a:r>
            <a:r>
              <a:rPr lang="en-US" altLang="zh-CN" sz="2000" dirty="0">
                <a:latin typeface="SimSun" panose="02010600030101010101" pitchFamily="2" charset="-122"/>
                <a:ea typeface="SimSun" panose="02010600030101010101" pitchFamily="2" charset="-122"/>
              </a:rPr>
              <a:t> (</a:t>
            </a:r>
            <a:r>
              <a:rPr lang="zh-CN" altLang="en-US" sz="2000" dirty="0">
                <a:latin typeface="SimSun" panose="02010600030101010101" pitchFamily="2" charset="-122"/>
                <a:ea typeface="SimSun" panose="02010600030101010101" pitchFamily="2" charset="-122"/>
              </a:rPr>
              <a:t>～</a:t>
            </a:r>
            <a:r>
              <a:rPr lang="en-US" altLang="zh-CN" sz="2000" dirty="0">
                <a:latin typeface="SimSun" panose="02010600030101010101" pitchFamily="2" charset="-122"/>
                <a:ea typeface="SimSun" panose="02010600030101010101" pitchFamily="2" charset="-122"/>
              </a:rPr>
              <a:t>D(y) </a:t>
            </a:r>
            <a:r>
              <a:rPr lang="en-US" altLang="zh-CN" sz="2000" dirty="0">
                <a:latin typeface="SimSun" panose="02010600030101010101" pitchFamily="2" charset="-122"/>
                <a:ea typeface="SimSun" panose="02010600030101010101" pitchFamily="2" charset="-122"/>
                <a:sym typeface="Symbol" panose="05050102010706020507" pitchFamily="18" charset="2"/>
              </a:rPr>
              <a:t></a:t>
            </a:r>
            <a:r>
              <a:rPr lang="en-US" altLang="zh-CN" sz="2000" dirty="0">
                <a:latin typeface="SimSun" panose="02010600030101010101" pitchFamily="2" charset="-122"/>
                <a:ea typeface="SimSun" panose="02010600030101010101" pitchFamily="2" charset="-122"/>
              </a:rPr>
              <a:t> L(a, y)))</a:t>
            </a:r>
          </a:p>
          <a:p>
            <a:pPr>
              <a:lnSpc>
                <a:spcPct val="110000"/>
              </a:lnSpc>
              <a:buFont typeface="Wingdings" panose="05000000000000000000" pitchFamily="2" charset="2"/>
              <a:buNone/>
            </a:pPr>
            <a:r>
              <a:rPr lang="en-US" altLang="zh-CN" sz="2000" dirty="0">
                <a:latin typeface="SimSun" panose="02010600030101010101" pitchFamily="2" charset="-122"/>
                <a:ea typeface="SimSun" panose="02010600030101010101" pitchFamily="2" charset="-122"/>
              </a:rPr>
              <a:t>A2=</a:t>
            </a:r>
            <a:r>
              <a:rPr lang="en-US" altLang="zh-CN" sz="2000" dirty="0">
                <a:latin typeface="SimSun" panose="02010600030101010101" pitchFamily="2" charset="-122"/>
                <a:ea typeface="SimSun" panose="02010600030101010101" pitchFamily="2" charset="-122"/>
                <a:sym typeface="Symbol" panose="05050102010706020507" pitchFamily="18" charset="2"/>
              </a:rPr>
              <a:t></a:t>
            </a:r>
            <a:r>
              <a:rPr lang="en-US" altLang="zh-CN" sz="2000" dirty="0">
                <a:latin typeface="SimSun" panose="02010600030101010101" pitchFamily="2" charset="-122"/>
                <a:ea typeface="SimSun" panose="02010600030101010101" pitchFamily="2" charset="-122"/>
              </a:rPr>
              <a:t>x(P(x) </a:t>
            </a:r>
            <a:r>
              <a:rPr lang="en-US" altLang="zh-CN" sz="2000" dirty="0">
                <a:latin typeface="SimSun" panose="02010600030101010101" pitchFamily="2" charset="-122"/>
                <a:ea typeface="SimSun" panose="02010600030101010101" pitchFamily="2" charset="-122"/>
                <a:sym typeface="Symbol" panose="05050102010706020507" pitchFamily="18" charset="2"/>
              </a:rPr>
              <a:t></a:t>
            </a:r>
            <a:r>
              <a:rPr lang="en-US" altLang="zh-CN" sz="2000" dirty="0">
                <a:latin typeface="SimSun" panose="02010600030101010101" pitchFamily="2" charset="-122"/>
                <a:ea typeface="SimSun" panose="02010600030101010101" pitchFamily="2" charset="-122"/>
              </a:rPr>
              <a:t>y(</a:t>
            </a:r>
            <a:r>
              <a:rPr lang="zh-CN" altLang="en-US" sz="2000" dirty="0">
                <a:latin typeface="SimSun" panose="02010600030101010101" pitchFamily="2" charset="-122"/>
                <a:ea typeface="SimSun" panose="02010600030101010101" pitchFamily="2" charset="-122"/>
              </a:rPr>
              <a:t>～</a:t>
            </a:r>
            <a:r>
              <a:rPr lang="en-US" altLang="zh-CN" sz="2000" dirty="0">
                <a:latin typeface="SimSun" panose="02010600030101010101" pitchFamily="2" charset="-122"/>
                <a:ea typeface="SimSun" panose="02010600030101010101" pitchFamily="2" charset="-122"/>
              </a:rPr>
              <a:t>Q(y) </a:t>
            </a:r>
            <a:r>
              <a:rPr lang="en-US" altLang="zh-CN" sz="2000" dirty="0">
                <a:latin typeface="SimSun" panose="02010600030101010101" pitchFamily="2" charset="-122"/>
                <a:ea typeface="SimSun" panose="02010600030101010101" pitchFamily="2" charset="-122"/>
                <a:sym typeface="Symbol" panose="05050102010706020507" pitchFamily="18" charset="2"/>
              </a:rPr>
              <a:t></a:t>
            </a:r>
            <a:r>
              <a:rPr lang="zh-CN" altLang="en-US" sz="2000" dirty="0">
                <a:latin typeface="SimSun" panose="02010600030101010101" pitchFamily="2" charset="-122"/>
                <a:ea typeface="SimSun" panose="02010600030101010101" pitchFamily="2" charset="-122"/>
              </a:rPr>
              <a:t>～</a:t>
            </a:r>
            <a:r>
              <a:rPr lang="en-US" altLang="zh-CN" sz="2000" dirty="0">
                <a:latin typeface="SimSun" panose="02010600030101010101" pitchFamily="2" charset="-122"/>
                <a:ea typeface="SimSun" panose="02010600030101010101" pitchFamily="2" charset="-122"/>
              </a:rPr>
              <a:t>L(x, y)))</a:t>
            </a:r>
          </a:p>
          <a:p>
            <a:pPr>
              <a:lnSpc>
                <a:spcPct val="110000"/>
              </a:lnSpc>
              <a:buFont typeface="Wingdings" panose="05000000000000000000" pitchFamily="2" charset="2"/>
              <a:buNone/>
            </a:pPr>
            <a:r>
              <a:rPr lang="en-US" altLang="zh-CN" sz="2000" dirty="0">
                <a:latin typeface="SimSun" panose="02010600030101010101" pitchFamily="2" charset="-122"/>
                <a:ea typeface="SimSun" panose="02010600030101010101" pitchFamily="2" charset="-122"/>
              </a:rPr>
              <a:t>     =</a:t>
            </a:r>
            <a:r>
              <a:rPr lang="en-US" altLang="zh-CN" sz="2000" dirty="0">
                <a:latin typeface="SimSun" panose="02010600030101010101" pitchFamily="2" charset="-122"/>
                <a:ea typeface="SimSun" panose="02010600030101010101" pitchFamily="2" charset="-122"/>
                <a:sym typeface="Symbol" panose="05050102010706020507" pitchFamily="18" charset="2"/>
              </a:rPr>
              <a:t></a:t>
            </a:r>
            <a:r>
              <a:rPr lang="en-US" altLang="zh-CN" sz="2000" dirty="0">
                <a:latin typeface="SimSun" panose="02010600030101010101" pitchFamily="2" charset="-122"/>
                <a:ea typeface="SimSun" panose="02010600030101010101" pitchFamily="2" charset="-122"/>
              </a:rPr>
              <a:t>x(</a:t>
            </a:r>
            <a:r>
              <a:rPr lang="zh-CN" altLang="en-US" sz="2000" dirty="0">
                <a:latin typeface="SimSun" panose="02010600030101010101" pitchFamily="2" charset="-122"/>
                <a:ea typeface="SimSun" panose="02010600030101010101" pitchFamily="2" charset="-122"/>
              </a:rPr>
              <a:t>～</a:t>
            </a:r>
            <a:r>
              <a:rPr lang="en-US" altLang="zh-CN" sz="2000" dirty="0">
                <a:latin typeface="SimSun" panose="02010600030101010101" pitchFamily="2" charset="-122"/>
                <a:ea typeface="SimSun" panose="02010600030101010101" pitchFamily="2" charset="-122"/>
              </a:rPr>
              <a:t>P(x) </a:t>
            </a:r>
            <a:r>
              <a:rPr lang="en-US" altLang="zh-CN" sz="2000" dirty="0">
                <a:latin typeface="SimSun" panose="02010600030101010101" pitchFamily="2" charset="-122"/>
                <a:ea typeface="SimSun" panose="02010600030101010101" pitchFamily="2" charset="-122"/>
                <a:sym typeface="Symbol" panose="05050102010706020507" pitchFamily="18" charset="2"/>
              </a:rPr>
              <a:t></a:t>
            </a:r>
            <a:r>
              <a:rPr lang="en-US" altLang="zh-CN" sz="2000" dirty="0">
                <a:latin typeface="SimSun" panose="02010600030101010101" pitchFamily="2" charset="-122"/>
                <a:ea typeface="SimSun" panose="02010600030101010101" pitchFamily="2" charset="-122"/>
              </a:rPr>
              <a:t>y(</a:t>
            </a:r>
            <a:r>
              <a:rPr lang="zh-CN" altLang="en-US" sz="2000" dirty="0">
                <a:latin typeface="SimSun" panose="02010600030101010101" pitchFamily="2" charset="-122"/>
                <a:ea typeface="SimSun" panose="02010600030101010101" pitchFamily="2" charset="-122"/>
              </a:rPr>
              <a:t>～</a:t>
            </a:r>
            <a:r>
              <a:rPr lang="en-US" altLang="zh-CN" sz="2000" dirty="0">
                <a:latin typeface="SimSun" panose="02010600030101010101" pitchFamily="2" charset="-122"/>
                <a:ea typeface="SimSun" panose="02010600030101010101" pitchFamily="2" charset="-122"/>
              </a:rPr>
              <a:t>Q(y) </a:t>
            </a:r>
            <a:r>
              <a:rPr lang="en-US" altLang="zh-CN" sz="2000" dirty="0">
                <a:latin typeface="SimSun" panose="02010600030101010101" pitchFamily="2" charset="-122"/>
                <a:ea typeface="SimSun" panose="02010600030101010101" pitchFamily="2" charset="-122"/>
                <a:sym typeface="Symbol" panose="05050102010706020507" pitchFamily="18" charset="2"/>
              </a:rPr>
              <a:t></a:t>
            </a:r>
            <a:r>
              <a:rPr lang="zh-CN" altLang="en-US" sz="2000" dirty="0">
                <a:latin typeface="SimSun" panose="02010600030101010101" pitchFamily="2" charset="-122"/>
                <a:ea typeface="SimSun" panose="02010600030101010101" pitchFamily="2" charset="-122"/>
              </a:rPr>
              <a:t>～</a:t>
            </a:r>
            <a:r>
              <a:rPr lang="en-US" altLang="zh-CN" sz="2000" dirty="0">
                <a:latin typeface="SimSun" panose="02010600030101010101" pitchFamily="2" charset="-122"/>
                <a:ea typeface="SimSun" panose="02010600030101010101" pitchFamily="2" charset="-122"/>
              </a:rPr>
              <a:t>L(x, y)))</a:t>
            </a:r>
          </a:p>
          <a:p>
            <a:pPr>
              <a:lnSpc>
                <a:spcPct val="110000"/>
              </a:lnSpc>
              <a:buFont typeface="Wingdings" panose="05000000000000000000" pitchFamily="2" charset="2"/>
              <a:buNone/>
            </a:pPr>
            <a:r>
              <a:rPr lang="en-US" altLang="zh-CN" sz="2000" dirty="0">
                <a:latin typeface="SimSun" panose="02010600030101010101" pitchFamily="2" charset="-122"/>
                <a:ea typeface="SimSun" panose="02010600030101010101" pitchFamily="2" charset="-122"/>
              </a:rPr>
              <a:t>     =</a:t>
            </a:r>
            <a:r>
              <a:rPr lang="en-US" altLang="zh-CN" sz="2000" dirty="0">
                <a:latin typeface="SimSun" panose="02010600030101010101" pitchFamily="2" charset="-122"/>
                <a:ea typeface="SimSun" panose="02010600030101010101" pitchFamily="2" charset="-122"/>
                <a:sym typeface="Symbol" panose="05050102010706020507" pitchFamily="18" charset="2"/>
              </a:rPr>
              <a:t></a:t>
            </a:r>
            <a:r>
              <a:rPr lang="en-US" altLang="zh-CN" sz="2000" dirty="0" err="1">
                <a:latin typeface="SimSun" panose="02010600030101010101" pitchFamily="2" charset="-122"/>
                <a:ea typeface="SimSun" panose="02010600030101010101" pitchFamily="2" charset="-122"/>
              </a:rPr>
              <a:t>x</a:t>
            </a:r>
            <a:r>
              <a:rPr lang="en-US" altLang="zh-CN" sz="2000" dirty="0" err="1">
                <a:latin typeface="SimSun" panose="02010600030101010101" pitchFamily="2" charset="-122"/>
                <a:ea typeface="SimSun" panose="02010600030101010101" pitchFamily="2" charset="-122"/>
                <a:sym typeface="Symbol" panose="05050102010706020507" pitchFamily="18" charset="2"/>
              </a:rPr>
              <a:t></a:t>
            </a:r>
            <a:r>
              <a:rPr lang="en-US" altLang="zh-CN" sz="2000" dirty="0" err="1">
                <a:latin typeface="SimSun" panose="02010600030101010101" pitchFamily="2" charset="-122"/>
                <a:ea typeface="SimSun" panose="02010600030101010101" pitchFamily="2" charset="-122"/>
              </a:rPr>
              <a:t>y</a:t>
            </a:r>
            <a:r>
              <a:rPr lang="en-US" altLang="zh-CN" sz="2000" dirty="0">
                <a:latin typeface="SimSun" panose="02010600030101010101" pitchFamily="2" charset="-122"/>
                <a:ea typeface="SimSun" panose="02010600030101010101" pitchFamily="2" charset="-122"/>
              </a:rPr>
              <a:t> (</a:t>
            </a:r>
            <a:r>
              <a:rPr lang="zh-CN" altLang="en-US" sz="2000" dirty="0">
                <a:latin typeface="SimSun" panose="02010600030101010101" pitchFamily="2" charset="-122"/>
                <a:ea typeface="SimSun" panose="02010600030101010101" pitchFamily="2" charset="-122"/>
              </a:rPr>
              <a:t>～</a:t>
            </a:r>
            <a:r>
              <a:rPr lang="en-US" altLang="zh-CN" sz="2000" dirty="0">
                <a:latin typeface="SimSun" panose="02010600030101010101" pitchFamily="2" charset="-122"/>
                <a:ea typeface="SimSun" panose="02010600030101010101" pitchFamily="2" charset="-122"/>
              </a:rPr>
              <a:t>P(x) </a:t>
            </a:r>
            <a:r>
              <a:rPr lang="en-US" altLang="zh-CN" sz="2000" dirty="0">
                <a:latin typeface="SimSun" panose="02010600030101010101" pitchFamily="2" charset="-122"/>
                <a:ea typeface="SimSun" panose="02010600030101010101" pitchFamily="2" charset="-122"/>
                <a:sym typeface="Symbol" panose="05050102010706020507" pitchFamily="18" charset="2"/>
              </a:rPr>
              <a:t></a:t>
            </a:r>
            <a:r>
              <a:rPr lang="zh-CN" altLang="en-US" sz="2000" dirty="0">
                <a:latin typeface="SimSun" panose="02010600030101010101" pitchFamily="2" charset="-122"/>
                <a:ea typeface="SimSun" panose="02010600030101010101" pitchFamily="2" charset="-122"/>
              </a:rPr>
              <a:t>～</a:t>
            </a:r>
            <a:r>
              <a:rPr lang="en-US" altLang="zh-CN" sz="2000" dirty="0">
                <a:latin typeface="SimSun" panose="02010600030101010101" pitchFamily="2" charset="-122"/>
                <a:ea typeface="SimSun" panose="02010600030101010101" pitchFamily="2" charset="-122"/>
              </a:rPr>
              <a:t>Q(y) </a:t>
            </a:r>
            <a:r>
              <a:rPr lang="en-US" altLang="zh-CN" sz="2000" dirty="0">
                <a:latin typeface="SimSun" panose="02010600030101010101" pitchFamily="2" charset="-122"/>
                <a:ea typeface="SimSun" panose="02010600030101010101" pitchFamily="2" charset="-122"/>
                <a:sym typeface="Symbol" panose="05050102010706020507" pitchFamily="18" charset="2"/>
              </a:rPr>
              <a:t></a:t>
            </a:r>
            <a:r>
              <a:rPr lang="zh-CN" altLang="en-US" sz="2000" dirty="0">
                <a:latin typeface="SimSun" panose="02010600030101010101" pitchFamily="2" charset="-122"/>
                <a:ea typeface="SimSun" panose="02010600030101010101" pitchFamily="2" charset="-122"/>
              </a:rPr>
              <a:t>～</a:t>
            </a:r>
            <a:r>
              <a:rPr lang="en-US" altLang="zh-CN" sz="2000" dirty="0">
                <a:latin typeface="SimSun" panose="02010600030101010101" pitchFamily="2" charset="-122"/>
                <a:ea typeface="SimSun" panose="02010600030101010101" pitchFamily="2" charset="-122"/>
              </a:rPr>
              <a:t>L(x, y))</a:t>
            </a:r>
          </a:p>
          <a:p>
            <a:pPr>
              <a:lnSpc>
                <a:spcPct val="110000"/>
              </a:lnSpc>
              <a:buFont typeface="Wingdings" panose="05000000000000000000" pitchFamily="2" charset="2"/>
              <a:buNone/>
            </a:pPr>
            <a:r>
              <a:rPr lang="zh-CN" altLang="en-US" sz="2000" dirty="0">
                <a:latin typeface="SimSun" panose="02010600030101010101" pitchFamily="2" charset="-122"/>
                <a:ea typeface="SimSun" panose="02010600030101010101" pitchFamily="2" charset="-122"/>
              </a:rPr>
              <a:t>～</a:t>
            </a:r>
            <a:r>
              <a:rPr lang="en-US" altLang="zh-CN" sz="2000" dirty="0">
                <a:latin typeface="SimSun" panose="02010600030101010101" pitchFamily="2" charset="-122"/>
                <a:ea typeface="SimSun" panose="02010600030101010101" pitchFamily="2" charset="-122"/>
              </a:rPr>
              <a:t>B=</a:t>
            </a:r>
            <a:r>
              <a:rPr lang="zh-CN" altLang="en-US" sz="2000" dirty="0">
                <a:latin typeface="SimSun" panose="02010600030101010101" pitchFamily="2" charset="-122"/>
                <a:ea typeface="SimSun" panose="02010600030101010101" pitchFamily="2" charset="-122"/>
              </a:rPr>
              <a:t>～</a:t>
            </a:r>
            <a:r>
              <a:rPr lang="en-US" altLang="zh-CN" sz="2000" dirty="0">
                <a:latin typeface="SimSun" panose="02010600030101010101" pitchFamily="2" charset="-122"/>
                <a:ea typeface="SimSun" panose="02010600030101010101" pitchFamily="2" charset="-122"/>
              </a:rPr>
              <a:t>(</a:t>
            </a:r>
            <a:r>
              <a:rPr lang="en-US" altLang="zh-CN" sz="2000" dirty="0">
                <a:latin typeface="SimSun" panose="02010600030101010101" pitchFamily="2" charset="-122"/>
                <a:ea typeface="SimSun" panose="02010600030101010101" pitchFamily="2" charset="-122"/>
                <a:sym typeface="Symbol" panose="05050102010706020507" pitchFamily="18" charset="2"/>
              </a:rPr>
              <a:t></a:t>
            </a:r>
            <a:r>
              <a:rPr lang="en-US" altLang="zh-CN" sz="2000" dirty="0">
                <a:latin typeface="SimSun" panose="02010600030101010101" pitchFamily="2" charset="-122"/>
                <a:ea typeface="SimSun" panose="02010600030101010101" pitchFamily="2" charset="-122"/>
              </a:rPr>
              <a:t>x(D(x) </a:t>
            </a:r>
            <a:r>
              <a:rPr lang="en-US" altLang="zh-CN" sz="2000" dirty="0">
                <a:latin typeface="SimSun" panose="02010600030101010101" pitchFamily="2" charset="-122"/>
                <a:ea typeface="SimSun" panose="02010600030101010101" pitchFamily="2" charset="-122"/>
                <a:sym typeface="Symbol" panose="05050102010706020507" pitchFamily="18" charset="2"/>
              </a:rPr>
              <a:t></a:t>
            </a:r>
            <a:r>
              <a:rPr lang="zh-CN" altLang="en-US" sz="2000" dirty="0">
                <a:latin typeface="SimSun" panose="02010600030101010101" pitchFamily="2" charset="-122"/>
                <a:ea typeface="SimSun" panose="02010600030101010101" pitchFamily="2" charset="-122"/>
              </a:rPr>
              <a:t>～</a:t>
            </a:r>
            <a:r>
              <a:rPr lang="en-US" altLang="zh-CN" sz="2000" dirty="0">
                <a:latin typeface="SimSun" panose="02010600030101010101" pitchFamily="2" charset="-122"/>
                <a:ea typeface="SimSun" panose="02010600030101010101" pitchFamily="2" charset="-122"/>
              </a:rPr>
              <a:t>Q(x)))</a:t>
            </a:r>
          </a:p>
          <a:p>
            <a:pPr>
              <a:lnSpc>
                <a:spcPct val="110000"/>
              </a:lnSpc>
              <a:buFont typeface="Wingdings" panose="05000000000000000000" pitchFamily="2" charset="2"/>
              <a:buNone/>
            </a:pPr>
            <a:r>
              <a:rPr lang="en-US" altLang="zh-CN" sz="2000" dirty="0">
                <a:latin typeface="SimSun" panose="02010600030101010101" pitchFamily="2" charset="-122"/>
                <a:ea typeface="SimSun" panose="02010600030101010101" pitchFamily="2" charset="-122"/>
              </a:rPr>
              <a:t>      =</a:t>
            </a:r>
            <a:r>
              <a:rPr lang="en-US" altLang="zh-CN" sz="2000" dirty="0">
                <a:latin typeface="SimSun" panose="02010600030101010101" pitchFamily="2" charset="-122"/>
                <a:ea typeface="SimSun" panose="02010600030101010101" pitchFamily="2" charset="-122"/>
                <a:sym typeface="Symbol" panose="05050102010706020507" pitchFamily="18" charset="2"/>
              </a:rPr>
              <a:t></a:t>
            </a:r>
            <a:r>
              <a:rPr lang="en-US" altLang="zh-CN" sz="2000" dirty="0">
                <a:latin typeface="SimSun" panose="02010600030101010101" pitchFamily="2" charset="-122"/>
                <a:ea typeface="SimSun" panose="02010600030101010101" pitchFamily="2" charset="-122"/>
              </a:rPr>
              <a:t>x (D(x) </a:t>
            </a:r>
            <a:r>
              <a:rPr lang="en-US" altLang="zh-CN" sz="2000" dirty="0">
                <a:latin typeface="SimSun" panose="02010600030101010101" pitchFamily="2" charset="-122"/>
                <a:ea typeface="SimSun" panose="02010600030101010101" pitchFamily="2" charset="-122"/>
                <a:sym typeface="Symbol" panose="05050102010706020507" pitchFamily="18" charset="2"/>
              </a:rPr>
              <a:t></a:t>
            </a:r>
            <a:r>
              <a:rPr lang="en-US" altLang="zh-CN" sz="2000" dirty="0">
                <a:latin typeface="SimSun" panose="02010600030101010101" pitchFamily="2" charset="-122"/>
                <a:ea typeface="SimSun" panose="02010600030101010101" pitchFamily="2" charset="-122"/>
              </a:rPr>
              <a:t>Q(x))</a:t>
            </a:r>
          </a:p>
          <a:p>
            <a:pPr>
              <a:lnSpc>
                <a:spcPct val="110000"/>
              </a:lnSpc>
              <a:buFont typeface="Wingdings" panose="05000000000000000000" pitchFamily="2" charset="2"/>
              <a:buNone/>
            </a:pPr>
            <a:r>
              <a:rPr lang="en-US" altLang="zh-CN" sz="2000" dirty="0">
                <a:latin typeface="SimSun" panose="02010600030101010101" pitchFamily="2" charset="-122"/>
                <a:ea typeface="SimSun" panose="02010600030101010101" pitchFamily="2" charset="-122"/>
              </a:rPr>
              <a:t>---</a:t>
            </a:r>
            <a:r>
              <a:rPr lang="en-US" altLang="zh-CN" sz="2000" dirty="0">
                <a:latin typeface="SimSun" panose="02010600030101010101" pitchFamily="2" charset="-122"/>
                <a:ea typeface="SimSun" panose="02010600030101010101" pitchFamily="2" charset="-122"/>
                <a:sym typeface="Symbol" panose="05050102010706020507" pitchFamily="18" charset="2"/>
              </a:rPr>
              <a:t></a:t>
            </a:r>
            <a:r>
              <a:rPr lang="en-US" altLang="zh-CN" sz="2000" dirty="0">
                <a:latin typeface="SimSun" panose="02010600030101010101" pitchFamily="2" charset="-122"/>
                <a:ea typeface="SimSun" panose="02010600030101010101" pitchFamily="2" charset="-122"/>
              </a:rPr>
              <a:t> D(b)</a:t>
            </a:r>
            <a:r>
              <a:rPr lang="en-US" altLang="zh-CN" sz="2000" dirty="0">
                <a:latin typeface="SimSun" panose="02010600030101010101" pitchFamily="2" charset="-122"/>
                <a:ea typeface="SimSun" panose="02010600030101010101" pitchFamily="2" charset="-122"/>
                <a:sym typeface="Symbol" panose="05050102010706020507" pitchFamily="18" charset="2"/>
              </a:rPr>
              <a:t></a:t>
            </a:r>
            <a:r>
              <a:rPr lang="en-US" altLang="zh-CN" sz="2000" dirty="0">
                <a:latin typeface="SimSun" panose="02010600030101010101" pitchFamily="2" charset="-122"/>
                <a:ea typeface="SimSun" panose="02010600030101010101" pitchFamily="2" charset="-122"/>
              </a:rPr>
              <a:t>Q(b)</a:t>
            </a:r>
          </a:p>
          <a:p>
            <a:pPr>
              <a:lnSpc>
                <a:spcPct val="110000"/>
              </a:lnSpc>
              <a:buFont typeface="Wingdings" panose="05000000000000000000" pitchFamily="2" charset="2"/>
              <a:buNone/>
            </a:pPr>
            <a:r>
              <a:rPr lang="zh-CN" altLang="en-US" sz="2000" dirty="0">
                <a:latin typeface="SimSun" panose="02010600030101010101" pitchFamily="2" charset="-122"/>
                <a:ea typeface="SimSun" panose="02010600030101010101" pitchFamily="2" charset="-122"/>
              </a:rPr>
              <a:t>因此，公式</a:t>
            </a:r>
            <a:r>
              <a:rPr lang="en-US" altLang="zh-CN" sz="2000" dirty="0">
                <a:latin typeface="SimSun" panose="02010600030101010101" pitchFamily="2" charset="-122"/>
                <a:ea typeface="SimSun" panose="02010600030101010101" pitchFamily="2" charset="-122"/>
              </a:rPr>
              <a:t>A1</a:t>
            </a:r>
            <a:r>
              <a:rPr lang="en-US" altLang="zh-CN" sz="2000" dirty="0">
                <a:latin typeface="SimSun" panose="02010600030101010101" pitchFamily="2" charset="-122"/>
                <a:ea typeface="SimSun" panose="02010600030101010101" pitchFamily="2" charset="-122"/>
                <a:sym typeface="Symbol" panose="05050102010706020507" pitchFamily="18" charset="2"/>
              </a:rPr>
              <a:t></a:t>
            </a:r>
            <a:r>
              <a:rPr lang="en-US" altLang="zh-CN" sz="2000" dirty="0">
                <a:latin typeface="SimSun" panose="02010600030101010101" pitchFamily="2" charset="-122"/>
                <a:ea typeface="SimSun" panose="02010600030101010101" pitchFamily="2" charset="-122"/>
              </a:rPr>
              <a:t>A2</a:t>
            </a:r>
            <a:r>
              <a:rPr lang="en-US" altLang="zh-CN" sz="2000" dirty="0">
                <a:latin typeface="SimSun" panose="02010600030101010101" pitchFamily="2" charset="-122"/>
                <a:ea typeface="SimSun" panose="02010600030101010101" pitchFamily="2" charset="-122"/>
                <a:sym typeface="Symbol" panose="05050102010706020507" pitchFamily="18" charset="2"/>
              </a:rPr>
              <a:t></a:t>
            </a:r>
            <a:r>
              <a:rPr lang="zh-CN" altLang="en-US" sz="2000" dirty="0">
                <a:latin typeface="SimSun" panose="02010600030101010101" pitchFamily="2" charset="-122"/>
                <a:ea typeface="SimSun" panose="02010600030101010101" pitchFamily="2" charset="-122"/>
              </a:rPr>
              <a:t>～</a:t>
            </a:r>
            <a:r>
              <a:rPr lang="en-US" altLang="zh-CN" sz="2000" dirty="0">
                <a:latin typeface="SimSun" panose="02010600030101010101" pitchFamily="2" charset="-122"/>
                <a:ea typeface="SimSun" panose="02010600030101010101" pitchFamily="2" charset="-122"/>
              </a:rPr>
              <a:t>B</a:t>
            </a:r>
            <a:r>
              <a:rPr lang="zh-CN" altLang="en-US" sz="2000" dirty="0">
                <a:latin typeface="SimSun" panose="02010600030101010101" pitchFamily="2" charset="-122"/>
                <a:ea typeface="SimSun" panose="02010600030101010101" pitchFamily="2" charset="-122"/>
              </a:rPr>
              <a:t>的子句集为</a:t>
            </a:r>
          </a:p>
          <a:p>
            <a:pPr>
              <a:lnSpc>
                <a:spcPct val="110000"/>
              </a:lnSpc>
              <a:buFont typeface="Wingdings" panose="05000000000000000000" pitchFamily="2" charset="2"/>
              <a:buNone/>
            </a:pPr>
            <a:r>
              <a:rPr lang="en-US" altLang="zh-CN" sz="2000" dirty="0">
                <a:latin typeface="SimSun" panose="02010600030101010101" pitchFamily="2" charset="-122"/>
                <a:ea typeface="SimSun" panose="02010600030101010101" pitchFamily="2" charset="-122"/>
              </a:rPr>
              <a:t>S</a:t>
            </a:r>
            <a:r>
              <a:rPr lang="zh-CN" altLang="en-US" sz="2000" dirty="0">
                <a:latin typeface="SimSun" panose="02010600030101010101" pitchFamily="2" charset="-122"/>
                <a:ea typeface="SimSun" panose="02010600030101010101" pitchFamily="2" charset="-122"/>
              </a:rPr>
              <a:t>＝｛</a:t>
            </a:r>
            <a:r>
              <a:rPr lang="en-US" altLang="zh-CN" sz="2000" dirty="0">
                <a:latin typeface="SimSun" panose="02010600030101010101" pitchFamily="2" charset="-122"/>
                <a:ea typeface="SimSun" panose="02010600030101010101" pitchFamily="2" charset="-122"/>
              </a:rPr>
              <a:t>P(a),</a:t>
            </a:r>
            <a:r>
              <a:rPr lang="zh-CN" altLang="en-US" sz="2000" dirty="0">
                <a:latin typeface="SimSun" panose="02010600030101010101" pitchFamily="2" charset="-122"/>
                <a:ea typeface="SimSun" panose="02010600030101010101" pitchFamily="2" charset="-122"/>
              </a:rPr>
              <a:t>～</a:t>
            </a:r>
            <a:r>
              <a:rPr lang="en-US" altLang="zh-CN" sz="2000" dirty="0">
                <a:latin typeface="SimSun" panose="02010600030101010101" pitchFamily="2" charset="-122"/>
                <a:ea typeface="SimSun" panose="02010600030101010101" pitchFamily="2" charset="-122"/>
              </a:rPr>
              <a:t>D(y)</a:t>
            </a:r>
            <a:r>
              <a:rPr lang="en-US" altLang="zh-CN" sz="2000" dirty="0">
                <a:latin typeface="SimSun" panose="02010600030101010101" pitchFamily="2" charset="-122"/>
                <a:ea typeface="SimSun" panose="02010600030101010101" pitchFamily="2" charset="-122"/>
                <a:sym typeface="Symbol" panose="05050102010706020507" pitchFamily="18" charset="2"/>
              </a:rPr>
              <a:t></a:t>
            </a:r>
            <a:r>
              <a:rPr lang="en-US" altLang="zh-CN" sz="2000" dirty="0">
                <a:latin typeface="SimSun" panose="02010600030101010101" pitchFamily="2" charset="-122"/>
                <a:ea typeface="SimSun" panose="02010600030101010101" pitchFamily="2" charset="-122"/>
              </a:rPr>
              <a:t>L(</a:t>
            </a:r>
            <a:r>
              <a:rPr lang="en-US" altLang="zh-CN" sz="2000" dirty="0" err="1">
                <a:latin typeface="SimSun" panose="02010600030101010101" pitchFamily="2" charset="-122"/>
                <a:ea typeface="SimSun" panose="02010600030101010101" pitchFamily="2" charset="-122"/>
              </a:rPr>
              <a:t>a,y</a:t>
            </a:r>
            <a:r>
              <a:rPr lang="en-US" altLang="zh-CN" sz="2000" dirty="0">
                <a:latin typeface="SimSun" panose="02010600030101010101" pitchFamily="2" charset="-122"/>
                <a:ea typeface="SimSun" panose="02010600030101010101" pitchFamily="2" charset="-122"/>
              </a:rPr>
              <a:t>),</a:t>
            </a:r>
            <a:r>
              <a:rPr lang="zh-CN" altLang="en-US" sz="2000" dirty="0">
                <a:latin typeface="SimSun" panose="02010600030101010101" pitchFamily="2" charset="-122"/>
                <a:ea typeface="SimSun" panose="02010600030101010101" pitchFamily="2" charset="-122"/>
              </a:rPr>
              <a:t>～</a:t>
            </a:r>
            <a:r>
              <a:rPr lang="en-US" altLang="zh-CN" sz="2000" dirty="0">
                <a:latin typeface="SimSun" panose="02010600030101010101" pitchFamily="2" charset="-122"/>
                <a:ea typeface="SimSun" panose="02010600030101010101" pitchFamily="2" charset="-122"/>
              </a:rPr>
              <a:t>P(x)</a:t>
            </a:r>
            <a:r>
              <a:rPr lang="en-US" altLang="zh-CN" sz="2000" dirty="0">
                <a:latin typeface="SimSun" panose="02010600030101010101" pitchFamily="2" charset="-122"/>
                <a:ea typeface="SimSun" panose="02010600030101010101" pitchFamily="2" charset="-122"/>
                <a:sym typeface="Symbol" panose="05050102010706020507" pitchFamily="18" charset="2"/>
              </a:rPr>
              <a:t></a:t>
            </a:r>
            <a:r>
              <a:rPr lang="zh-CN" altLang="en-US" sz="2000" dirty="0">
                <a:latin typeface="SimSun" panose="02010600030101010101" pitchFamily="2" charset="-122"/>
                <a:ea typeface="SimSun" panose="02010600030101010101" pitchFamily="2" charset="-122"/>
              </a:rPr>
              <a:t>～</a:t>
            </a:r>
            <a:r>
              <a:rPr lang="en-US" altLang="zh-CN" sz="2000" dirty="0">
                <a:latin typeface="SimSun" panose="02010600030101010101" pitchFamily="2" charset="-122"/>
                <a:ea typeface="SimSun" panose="02010600030101010101" pitchFamily="2" charset="-122"/>
              </a:rPr>
              <a:t>Q(y)</a:t>
            </a:r>
            <a:r>
              <a:rPr lang="en-US" altLang="zh-CN" sz="2000" dirty="0">
                <a:latin typeface="SimSun" panose="02010600030101010101" pitchFamily="2" charset="-122"/>
                <a:ea typeface="SimSun" panose="02010600030101010101" pitchFamily="2" charset="-122"/>
                <a:sym typeface="Symbol" panose="05050102010706020507" pitchFamily="18" charset="2"/>
              </a:rPr>
              <a:t></a:t>
            </a:r>
            <a:r>
              <a:rPr lang="zh-CN" altLang="en-US" sz="2000" dirty="0">
                <a:latin typeface="SimSun" panose="02010600030101010101" pitchFamily="2" charset="-122"/>
                <a:ea typeface="SimSun" panose="02010600030101010101" pitchFamily="2" charset="-122"/>
              </a:rPr>
              <a:t>～</a:t>
            </a:r>
            <a:r>
              <a:rPr lang="en-US" altLang="zh-CN" sz="2000" dirty="0">
                <a:latin typeface="SimSun" panose="02010600030101010101" pitchFamily="2" charset="-122"/>
                <a:ea typeface="SimSun" panose="02010600030101010101" pitchFamily="2" charset="-122"/>
              </a:rPr>
              <a:t>L(x, y),D(b),Q(b)</a:t>
            </a:r>
            <a:r>
              <a:rPr lang="zh-CN" altLang="en-US" sz="2000" dirty="0">
                <a:latin typeface="SimSun" panose="02010600030101010101" pitchFamily="2" charset="-122"/>
                <a:ea typeface="SimSun" panose="02010600030101010101" pitchFamily="2" charset="-122"/>
              </a:rPr>
              <a:t>｝</a:t>
            </a:r>
          </a:p>
        </p:txBody>
      </p:sp>
      <p:sp>
        <p:nvSpPr>
          <p:cNvPr id="5" name="标题 1">
            <a:extLst>
              <a:ext uri="{FF2B5EF4-FFF2-40B4-BE49-F238E27FC236}">
                <a16:creationId xmlns:a16="http://schemas.microsoft.com/office/drawing/2014/main" id="{A26D7CE2-009A-BED2-D995-7E79E8D95166}"/>
              </a:ext>
            </a:extLst>
          </p:cNvPr>
          <p:cNvSpPr txBox="1">
            <a:spLocks/>
          </p:cNvSpPr>
          <p:nvPr/>
        </p:nvSpPr>
        <p:spPr>
          <a:xfrm>
            <a:off x="462815" y="162995"/>
            <a:ext cx="4080309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zh-CN" altLang="en-US" sz="3200" dirty="0">
                <a:solidFill>
                  <a:srgbClr val="FF0000"/>
                </a:solidFill>
                <a:latin typeface=".AppleSystemUIFont"/>
              </a:rPr>
              <a:t>归结原理的应用</a:t>
            </a:r>
          </a:p>
        </p:txBody>
      </p:sp>
    </p:spTree>
    <p:extLst>
      <p:ext uri="{BB962C8B-B14F-4D97-AF65-F5344CB8AC3E}">
        <p14:creationId xmlns:p14="http://schemas.microsoft.com/office/powerpoint/2010/main" val="51348930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5" name="Rectangle 3"/>
          <p:cNvSpPr>
            <a:spLocks noGrp="1" noChangeArrowheads="1"/>
          </p:cNvSpPr>
          <p:nvPr>
            <p:ph idx="1"/>
          </p:nvPr>
        </p:nvSpPr>
        <p:spPr>
          <a:xfrm>
            <a:off x="1993801" y="1562735"/>
            <a:ext cx="8435975" cy="4929188"/>
          </a:xfrm>
        </p:spPr>
        <p:txBody>
          <a:bodyPr>
            <a:normAutofit/>
          </a:bodyPr>
          <a:lstStyle/>
          <a:p>
            <a:pPr marL="533400" indent="-533400" algn="just">
              <a:buNone/>
            </a:pPr>
            <a:r>
              <a:rPr lang="en-US" altLang="zh-CN" sz="200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  <a:cs typeface="Times New Roman" panose="02020603050405020304" pitchFamily="18" charset="0"/>
              </a:rPr>
              <a:t>S</a:t>
            </a:r>
            <a:r>
              <a:rPr lang="zh-CN" altLang="en-US" sz="200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  <a:cs typeface="Times New Roman" panose="02020603050405020304" pitchFamily="18" charset="0"/>
              </a:rPr>
              <a:t>不可满足的归结演绎序列为：</a:t>
            </a:r>
          </a:p>
          <a:p>
            <a:pPr marL="533400" indent="-533400" algn="just">
              <a:buFont typeface="Wingdings" panose="05000000000000000000" pitchFamily="2" charset="2"/>
              <a:buAutoNum type="arabicParenBoth"/>
            </a:pPr>
            <a:r>
              <a:rPr lang="en-US" altLang="zh-CN" sz="200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  <a:cs typeface="Times New Roman" panose="02020603050405020304" pitchFamily="18" charset="0"/>
              </a:rPr>
              <a:t>P(a)</a:t>
            </a:r>
          </a:p>
          <a:p>
            <a:pPr marL="533400" indent="-533400" algn="just">
              <a:buFont typeface="Wingdings" panose="05000000000000000000" pitchFamily="2" charset="2"/>
              <a:buAutoNum type="arabicParenBoth"/>
            </a:pPr>
            <a:r>
              <a:rPr lang="zh-CN" altLang="en-US" sz="200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  <a:cs typeface="Times New Roman" panose="02020603050405020304" pitchFamily="18" charset="0"/>
              </a:rPr>
              <a:t>～</a:t>
            </a:r>
            <a:r>
              <a:rPr lang="en-US" altLang="zh-CN" sz="200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  <a:cs typeface="Times New Roman" panose="02020603050405020304" pitchFamily="18" charset="0"/>
              </a:rPr>
              <a:t>D(y) </a:t>
            </a:r>
            <a:r>
              <a:rPr lang="en-US" altLang="zh-CN" sz="200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lang="en-US" altLang="zh-CN" sz="200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  <a:cs typeface="Times New Roman" panose="02020603050405020304" pitchFamily="18" charset="0"/>
              </a:rPr>
              <a:t> L(a, y)</a:t>
            </a:r>
          </a:p>
          <a:p>
            <a:pPr marL="533400" indent="-533400" algn="just">
              <a:buFont typeface="Wingdings" panose="05000000000000000000" pitchFamily="2" charset="2"/>
              <a:buAutoNum type="arabicParenBoth"/>
            </a:pPr>
            <a:r>
              <a:rPr lang="zh-CN" altLang="en-US" sz="200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  <a:cs typeface="Times New Roman" panose="02020603050405020304" pitchFamily="18" charset="0"/>
              </a:rPr>
              <a:t>～</a:t>
            </a:r>
            <a:r>
              <a:rPr lang="en-US" altLang="zh-CN" sz="200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  <a:cs typeface="Times New Roman" panose="02020603050405020304" pitchFamily="18" charset="0"/>
              </a:rPr>
              <a:t>P(x) </a:t>
            </a:r>
            <a:r>
              <a:rPr lang="en-US" altLang="zh-CN" sz="200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lang="zh-CN" altLang="en-US" sz="200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  <a:cs typeface="Times New Roman" panose="02020603050405020304" pitchFamily="18" charset="0"/>
              </a:rPr>
              <a:t>～</a:t>
            </a:r>
            <a:r>
              <a:rPr lang="en-US" altLang="zh-CN" sz="200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  <a:cs typeface="Times New Roman" panose="02020603050405020304" pitchFamily="18" charset="0"/>
              </a:rPr>
              <a:t>Q(y) </a:t>
            </a:r>
            <a:r>
              <a:rPr lang="en-US" altLang="zh-CN" sz="200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lang="zh-CN" altLang="en-US" sz="200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  <a:cs typeface="Times New Roman" panose="02020603050405020304" pitchFamily="18" charset="0"/>
              </a:rPr>
              <a:t>～</a:t>
            </a:r>
            <a:r>
              <a:rPr lang="en-US" altLang="zh-CN" sz="200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  <a:cs typeface="Times New Roman" panose="02020603050405020304" pitchFamily="18" charset="0"/>
              </a:rPr>
              <a:t>L(x, y)</a:t>
            </a:r>
          </a:p>
          <a:p>
            <a:pPr marL="533400" indent="-533400" algn="just">
              <a:buFont typeface="Wingdings" panose="05000000000000000000" pitchFamily="2" charset="2"/>
              <a:buAutoNum type="arabicParenBoth"/>
            </a:pPr>
            <a:r>
              <a:rPr lang="en-US" altLang="zh-CN" sz="200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  <a:cs typeface="Times New Roman" panose="02020603050405020304" pitchFamily="18" charset="0"/>
              </a:rPr>
              <a:t>D(b)</a:t>
            </a:r>
          </a:p>
          <a:p>
            <a:pPr marL="533400" indent="-533400" algn="just">
              <a:buFont typeface="Wingdings" panose="05000000000000000000" pitchFamily="2" charset="2"/>
              <a:buAutoNum type="arabicParenBoth"/>
            </a:pPr>
            <a:r>
              <a:rPr lang="en-US" altLang="zh-CN" sz="200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  <a:cs typeface="Times New Roman" panose="02020603050405020304" pitchFamily="18" charset="0"/>
              </a:rPr>
              <a:t>Q(b)</a:t>
            </a:r>
          </a:p>
          <a:p>
            <a:pPr marL="533400" indent="-533400">
              <a:buFont typeface="Wingdings" panose="05000000000000000000" pitchFamily="2" charset="2"/>
              <a:buAutoNum type="arabicParenBoth"/>
            </a:pPr>
            <a:r>
              <a:rPr lang="en-US" altLang="zh-CN" sz="200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  <a:cs typeface="Times New Roman" panose="02020603050405020304" pitchFamily="18" charset="0"/>
              </a:rPr>
              <a:t>L(a, b)                     </a:t>
            </a:r>
            <a:r>
              <a:rPr lang="zh-CN" altLang="en-US" sz="200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  <a:cs typeface="Times New Roman" panose="02020603050405020304" pitchFamily="18" charset="0"/>
              </a:rPr>
              <a:t>  由</a:t>
            </a:r>
            <a:r>
              <a:rPr lang="en-US" altLang="zh-CN" sz="200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  <a:cs typeface="Times New Roman" panose="02020603050405020304" pitchFamily="18" charset="0"/>
              </a:rPr>
              <a:t>(2)</a:t>
            </a:r>
            <a:r>
              <a:rPr lang="zh-CN" altLang="en-US" sz="200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  <a:cs typeface="Times New Roman" panose="02020603050405020304" pitchFamily="18" charset="0"/>
              </a:rPr>
              <a:t>、</a:t>
            </a:r>
            <a:r>
              <a:rPr lang="en-US" altLang="zh-CN" sz="200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  <a:cs typeface="Times New Roman" panose="02020603050405020304" pitchFamily="18" charset="0"/>
              </a:rPr>
              <a:t>(4) </a:t>
            </a:r>
            <a:r>
              <a:rPr lang="en-US" altLang="zh-CN" sz="2000" dirty="0" err="1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  <a:cs typeface="Times New Roman" panose="02020603050405020304" pitchFamily="18" charset="0"/>
              </a:rPr>
              <a:t>mgu</a:t>
            </a:r>
            <a:r>
              <a:rPr lang="en-US" altLang="zh-CN" sz="200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  <a:cs typeface="Times New Roman" panose="02020603050405020304" pitchFamily="18" charset="0"/>
              </a:rPr>
              <a:t>:{b/y}</a:t>
            </a:r>
          </a:p>
          <a:p>
            <a:pPr marL="533400" indent="-533400">
              <a:buFont typeface="Wingdings" panose="05000000000000000000" pitchFamily="2" charset="2"/>
              <a:buAutoNum type="arabicParenBoth"/>
            </a:pPr>
            <a:r>
              <a:rPr lang="zh-CN" altLang="en-US" sz="200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  <a:cs typeface="Times New Roman" panose="02020603050405020304" pitchFamily="18" charset="0"/>
              </a:rPr>
              <a:t>～</a:t>
            </a:r>
            <a:r>
              <a:rPr lang="en-US" altLang="zh-CN" sz="200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  <a:cs typeface="Times New Roman" panose="02020603050405020304" pitchFamily="18" charset="0"/>
              </a:rPr>
              <a:t>Q(y) </a:t>
            </a:r>
            <a:r>
              <a:rPr lang="en-US" altLang="zh-CN" sz="200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lang="en-US" altLang="zh-CN" sz="200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zh-CN" altLang="en-US" sz="200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  <a:cs typeface="Times New Roman" panose="02020603050405020304" pitchFamily="18" charset="0"/>
              </a:rPr>
              <a:t>～</a:t>
            </a:r>
            <a:r>
              <a:rPr lang="en-US" altLang="zh-CN" sz="200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  <a:cs typeface="Times New Roman" panose="02020603050405020304" pitchFamily="18" charset="0"/>
              </a:rPr>
              <a:t>L(a, y)          </a:t>
            </a:r>
            <a:r>
              <a:rPr lang="zh-CN" altLang="en-US" sz="200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  <a:cs typeface="Times New Roman" panose="02020603050405020304" pitchFamily="18" charset="0"/>
              </a:rPr>
              <a:t>  由</a:t>
            </a:r>
            <a:r>
              <a:rPr lang="en-US" altLang="zh-CN" sz="200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  <a:cs typeface="Times New Roman" panose="02020603050405020304" pitchFamily="18" charset="0"/>
              </a:rPr>
              <a:t>(1)</a:t>
            </a:r>
            <a:r>
              <a:rPr lang="zh-CN" altLang="en-US" sz="200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  <a:cs typeface="Times New Roman" panose="02020603050405020304" pitchFamily="18" charset="0"/>
              </a:rPr>
              <a:t>、</a:t>
            </a:r>
            <a:r>
              <a:rPr lang="en-US" altLang="zh-CN" sz="200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  <a:cs typeface="Times New Roman" panose="02020603050405020304" pitchFamily="18" charset="0"/>
              </a:rPr>
              <a:t>(3) </a:t>
            </a:r>
            <a:r>
              <a:rPr lang="en-US" altLang="zh-CN" sz="2000" dirty="0" err="1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  <a:cs typeface="Times New Roman" panose="02020603050405020304" pitchFamily="18" charset="0"/>
              </a:rPr>
              <a:t>mgu</a:t>
            </a:r>
            <a:r>
              <a:rPr lang="en-US" altLang="zh-CN" sz="200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  <a:cs typeface="Times New Roman" panose="02020603050405020304" pitchFamily="18" charset="0"/>
              </a:rPr>
              <a:t>:{a/x}</a:t>
            </a:r>
          </a:p>
          <a:p>
            <a:pPr marL="533400" indent="-533400">
              <a:buFont typeface="Wingdings" panose="05000000000000000000" pitchFamily="2" charset="2"/>
              <a:buAutoNum type="arabicParenBoth"/>
            </a:pPr>
            <a:r>
              <a:rPr lang="zh-CN" altLang="en-US" sz="200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  <a:cs typeface="Times New Roman" panose="02020603050405020304" pitchFamily="18" charset="0"/>
              </a:rPr>
              <a:t>～</a:t>
            </a:r>
            <a:r>
              <a:rPr lang="en-US" altLang="zh-CN" sz="200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  <a:cs typeface="Times New Roman" panose="02020603050405020304" pitchFamily="18" charset="0"/>
              </a:rPr>
              <a:t>L(a, b)                   </a:t>
            </a:r>
            <a:r>
              <a:rPr lang="zh-CN" altLang="en-US" sz="200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  <a:cs typeface="Times New Roman" panose="02020603050405020304" pitchFamily="18" charset="0"/>
              </a:rPr>
              <a:t>  由</a:t>
            </a:r>
            <a:r>
              <a:rPr lang="en-US" altLang="zh-CN" sz="200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  <a:cs typeface="Times New Roman" panose="02020603050405020304" pitchFamily="18" charset="0"/>
              </a:rPr>
              <a:t>(5)</a:t>
            </a:r>
            <a:r>
              <a:rPr lang="zh-CN" altLang="en-US" sz="200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  <a:cs typeface="Times New Roman" panose="02020603050405020304" pitchFamily="18" charset="0"/>
              </a:rPr>
              <a:t>、</a:t>
            </a:r>
            <a:r>
              <a:rPr lang="en-US" altLang="zh-CN" sz="200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  <a:cs typeface="Times New Roman" panose="02020603050405020304" pitchFamily="18" charset="0"/>
              </a:rPr>
              <a:t>(7) </a:t>
            </a:r>
            <a:r>
              <a:rPr lang="en-US" altLang="zh-CN" sz="2000" dirty="0" err="1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  <a:cs typeface="Times New Roman" panose="02020603050405020304" pitchFamily="18" charset="0"/>
              </a:rPr>
              <a:t>mgu</a:t>
            </a:r>
            <a:r>
              <a:rPr lang="en-US" altLang="zh-CN" sz="200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  <a:cs typeface="Times New Roman" panose="02020603050405020304" pitchFamily="18" charset="0"/>
              </a:rPr>
              <a:t>:{b/y}</a:t>
            </a:r>
          </a:p>
          <a:p>
            <a:pPr marL="533400" indent="-533400">
              <a:buFont typeface="Wingdings" panose="05000000000000000000" pitchFamily="2" charset="2"/>
              <a:buAutoNum type="arabicParenBoth"/>
            </a:pPr>
            <a:r>
              <a:rPr lang="en-US" altLang="zh-CN" sz="200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</a:t>
            </a:r>
            <a:r>
              <a:rPr lang="en-US" altLang="zh-CN" sz="200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  <a:cs typeface="Times New Roman" panose="02020603050405020304" pitchFamily="18" charset="0"/>
              </a:rPr>
              <a:t>                           </a:t>
            </a:r>
            <a:r>
              <a:rPr lang="zh-CN" altLang="en-US" sz="200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  <a:cs typeface="Times New Roman" panose="02020603050405020304" pitchFamily="18" charset="0"/>
              </a:rPr>
              <a:t>  由</a:t>
            </a:r>
            <a:r>
              <a:rPr lang="en-US" altLang="zh-CN" sz="200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  <a:cs typeface="Times New Roman" panose="02020603050405020304" pitchFamily="18" charset="0"/>
              </a:rPr>
              <a:t>(6)</a:t>
            </a:r>
            <a:r>
              <a:rPr lang="zh-CN" altLang="en-US" sz="200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  <a:cs typeface="Times New Roman" panose="02020603050405020304" pitchFamily="18" charset="0"/>
              </a:rPr>
              <a:t>、</a:t>
            </a:r>
            <a:r>
              <a:rPr lang="en-US" altLang="zh-CN" sz="200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  <a:cs typeface="Times New Roman" panose="02020603050405020304" pitchFamily="18" charset="0"/>
              </a:rPr>
              <a:t>(8)</a:t>
            </a:r>
          </a:p>
        </p:txBody>
      </p:sp>
      <p:sp>
        <p:nvSpPr>
          <p:cNvPr id="5" name="标题 1">
            <a:extLst>
              <a:ext uri="{FF2B5EF4-FFF2-40B4-BE49-F238E27FC236}">
                <a16:creationId xmlns:a16="http://schemas.microsoft.com/office/drawing/2014/main" id="{BBCD15C3-2338-A7F2-10D6-ECA283692990}"/>
              </a:ext>
            </a:extLst>
          </p:cNvPr>
          <p:cNvSpPr txBox="1">
            <a:spLocks/>
          </p:cNvSpPr>
          <p:nvPr/>
        </p:nvSpPr>
        <p:spPr>
          <a:xfrm>
            <a:off x="462815" y="162995"/>
            <a:ext cx="4080309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zh-CN" altLang="en-US" sz="3200" dirty="0">
                <a:solidFill>
                  <a:srgbClr val="FF0000"/>
                </a:solidFill>
                <a:latin typeface=".AppleSystemUIFont"/>
              </a:rPr>
              <a:t>归结原理的应用</a:t>
            </a:r>
          </a:p>
        </p:txBody>
      </p:sp>
    </p:spTree>
    <p:extLst>
      <p:ext uri="{BB962C8B-B14F-4D97-AF65-F5344CB8AC3E}">
        <p14:creationId xmlns:p14="http://schemas.microsoft.com/office/powerpoint/2010/main" val="2993645174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3" name="内容占位符 2"/>
          <p:cNvSpPr>
            <a:spLocks noGrp="1" noChangeArrowheads="1"/>
          </p:cNvSpPr>
          <p:nvPr>
            <p:ph idx="1"/>
          </p:nvPr>
        </p:nvSpPr>
        <p:spPr>
          <a:xfrm>
            <a:off x="1091130" y="912269"/>
            <a:ext cx="8435975" cy="4609950"/>
          </a:xfrm>
        </p:spPr>
        <p:txBody>
          <a:bodyPr/>
          <a:lstStyle/>
          <a:p>
            <a:pPr marL="0" indent="0">
              <a:buNone/>
            </a:pPr>
            <a:endParaRPr lang="en-US" altLang="zh-CN" sz="2000" dirty="0">
              <a:solidFill>
                <a:srgbClr val="FF0000"/>
              </a:solidFill>
            </a:endParaRPr>
          </a:p>
          <a:p>
            <a:r>
              <a:rPr lang="zh-CN" altLang="en-US" sz="2400" dirty="0">
                <a:solidFill>
                  <a:srgbClr val="FF0000"/>
                </a:solidFill>
              </a:rPr>
              <a:t>利用归结原理求取问题答案</a:t>
            </a:r>
            <a:endParaRPr lang="en-US" altLang="zh-CN" sz="2400" dirty="0">
              <a:solidFill>
                <a:srgbClr val="FF0000"/>
              </a:solidFill>
            </a:endParaRPr>
          </a:p>
          <a:p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7CA12FA-4282-46B4-AB1C-18C151F85B5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85652" y="1893558"/>
            <a:ext cx="9167897" cy="48014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algn="just">
              <a:lnSpc>
                <a:spcPct val="125000"/>
              </a:lnSpc>
              <a:buFont typeface="Wingdings" pitchFamily="2" charset="2"/>
              <a:buNone/>
              <a:defRPr/>
            </a:pPr>
            <a:r>
              <a:rPr lang="zh-CN" altLang="en-US" sz="2000" b="1" kern="0" dirty="0">
                <a:solidFill>
                  <a:srgbClr val="000000"/>
                </a:solidFill>
              </a:rPr>
              <a:t>步骤</a:t>
            </a:r>
            <a:r>
              <a:rPr lang="zh-CN" altLang="en-US" sz="2000" kern="0" dirty="0">
                <a:solidFill>
                  <a:srgbClr val="000000"/>
                </a:solidFill>
              </a:rPr>
              <a:t>：</a:t>
            </a:r>
          </a:p>
          <a:p>
            <a:pPr algn="just">
              <a:lnSpc>
                <a:spcPct val="125000"/>
              </a:lnSpc>
              <a:buFont typeface="Wingdings" pitchFamily="2" charset="2"/>
              <a:buNone/>
              <a:defRPr/>
            </a:pPr>
            <a:r>
              <a:rPr lang="zh-CN" altLang="en-US" sz="2000" kern="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（</a:t>
            </a:r>
            <a:r>
              <a:rPr lang="en-US" altLang="zh-CN" sz="2000" kern="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1</a:t>
            </a:r>
            <a:r>
              <a:rPr lang="zh-CN" altLang="en-US" sz="2000" kern="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）把已知前提条件用谓词公式表示出来，并化成相应的子句集，设该子句集的名字为</a:t>
            </a:r>
            <a:r>
              <a:rPr lang="en-US" altLang="zh-CN" sz="2000" kern="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S</a:t>
            </a:r>
            <a:r>
              <a:rPr lang="en-US" altLang="zh-CN" sz="2000" kern="0" baseline="-3000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1</a:t>
            </a:r>
            <a:r>
              <a:rPr lang="zh-CN" altLang="en-US" sz="2000" kern="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。</a:t>
            </a:r>
          </a:p>
          <a:p>
            <a:pPr algn="just">
              <a:lnSpc>
                <a:spcPct val="125000"/>
              </a:lnSpc>
              <a:buFont typeface="Wingdings" pitchFamily="2" charset="2"/>
              <a:buNone/>
              <a:defRPr/>
            </a:pPr>
            <a:r>
              <a:rPr lang="zh-CN" altLang="en-US" sz="2000" kern="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（</a:t>
            </a:r>
            <a:r>
              <a:rPr lang="en-US" altLang="zh-CN" sz="2000" kern="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2</a:t>
            </a:r>
            <a:r>
              <a:rPr lang="zh-CN" altLang="en-US" sz="2000" kern="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）把待求解的问题也用谓词公式表示出来，然后将其否定，并与一谓词</a:t>
            </a:r>
            <a:r>
              <a:rPr lang="en-US" altLang="zh-CN" sz="2000" kern="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ANSWER</a:t>
            </a:r>
            <a:r>
              <a:rPr lang="zh-CN" altLang="en-US" sz="2000" kern="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构成析取式。谓词</a:t>
            </a:r>
            <a:r>
              <a:rPr lang="en-US" altLang="zh-CN" sz="2000" kern="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ANSWER</a:t>
            </a:r>
            <a:r>
              <a:rPr lang="zh-CN" altLang="en-US" sz="2000" kern="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是一个专为求解问题而设置的谓词，其变量必须与问题公式的变量完全一致。</a:t>
            </a:r>
          </a:p>
          <a:p>
            <a:pPr algn="just">
              <a:lnSpc>
                <a:spcPct val="125000"/>
              </a:lnSpc>
              <a:buFont typeface="Wingdings" pitchFamily="2" charset="2"/>
              <a:buNone/>
              <a:defRPr/>
            </a:pPr>
            <a:r>
              <a:rPr lang="zh-CN" altLang="en-US" sz="2000" kern="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（</a:t>
            </a:r>
            <a:r>
              <a:rPr lang="en-US" altLang="zh-CN" sz="2000" kern="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3</a:t>
            </a:r>
            <a:r>
              <a:rPr lang="zh-CN" altLang="en-US" sz="2000" kern="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）把（</a:t>
            </a:r>
            <a:r>
              <a:rPr lang="en-US" altLang="zh-CN" sz="2000" kern="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2</a:t>
            </a:r>
            <a:r>
              <a:rPr lang="zh-CN" altLang="en-US" sz="2000" kern="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）中的析取式化为子句集，并把该子句集与</a:t>
            </a:r>
            <a:r>
              <a:rPr lang="en-US" altLang="zh-CN" sz="2000" kern="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S</a:t>
            </a:r>
            <a:r>
              <a:rPr lang="en-US" altLang="zh-CN" sz="2000" kern="0" baseline="-3000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1</a:t>
            </a:r>
            <a:r>
              <a:rPr lang="zh-CN" altLang="en-US" sz="2000" kern="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合并构成子句集</a:t>
            </a:r>
            <a:r>
              <a:rPr lang="en-US" altLang="zh-CN" sz="2000" kern="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S</a:t>
            </a:r>
            <a:r>
              <a:rPr lang="zh-CN" altLang="en-US" sz="2000" kern="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。</a:t>
            </a:r>
            <a:endParaRPr lang="en-US" altLang="zh-CN" sz="2000" kern="0" dirty="0">
              <a:solidFill>
                <a:srgbClr val="000000"/>
              </a:solidFill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pPr algn="just">
              <a:lnSpc>
                <a:spcPct val="150000"/>
              </a:lnSpc>
              <a:buFont typeface="Wingdings" pitchFamily="2" charset="2"/>
              <a:buNone/>
              <a:defRPr/>
            </a:pPr>
            <a:r>
              <a:rPr lang="zh-CN" altLang="en-US" sz="200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（</a:t>
            </a:r>
            <a:r>
              <a:rPr lang="en-US" altLang="zh-CN" sz="200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4</a:t>
            </a:r>
            <a:r>
              <a:rPr lang="zh-CN" altLang="en-US" sz="200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）对子句集</a:t>
            </a:r>
            <a:r>
              <a:rPr lang="en-US" altLang="zh-CN" sz="200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S</a:t>
            </a:r>
            <a:r>
              <a:rPr lang="zh-CN" altLang="en-US" sz="200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应用归结原理进行归结，在归结的过程中，通过合一，改变</a:t>
            </a:r>
            <a:r>
              <a:rPr lang="en-US" altLang="zh-CN" sz="200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 ANSWER</a:t>
            </a:r>
            <a:r>
              <a:rPr lang="zh-CN" altLang="en-US" sz="200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中的变元。</a:t>
            </a:r>
          </a:p>
          <a:p>
            <a:pPr algn="just">
              <a:lnSpc>
                <a:spcPct val="150000"/>
              </a:lnSpc>
              <a:buFont typeface="Wingdings" pitchFamily="2" charset="2"/>
              <a:buNone/>
              <a:defRPr/>
            </a:pPr>
            <a:r>
              <a:rPr lang="zh-CN" altLang="en-US" sz="200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（</a:t>
            </a:r>
            <a:r>
              <a:rPr lang="en-US" altLang="zh-CN" sz="200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5</a:t>
            </a:r>
            <a:r>
              <a:rPr lang="zh-CN" altLang="en-US" sz="200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）如果得到归结式</a:t>
            </a:r>
            <a:r>
              <a:rPr lang="en-US" altLang="zh-CN" sz="200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ANSWER</a:t>
            </a:r>
            <a:r>
              <a:rPr lang="zh-CN" altLang="en-US" sz="200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，则问题的答案即在</a:t>
            </a:r>
            <a:r>
              <a:rPr lang="en-US" altLang="zh-CN" sz="200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ANSWER</a:t>
            </a:r>
            <a:r>
              <a:rPr lang="zh-CN" altLang="en-US" sz="200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谓词中。</a:t>
            </a:r>
          </a:p>
          <a:p>
            <a:pPr algn="just">
              <a:lnSpc>
                <a:spcPct val="125000"/>
              </a:lnSpc>
              <a:buFont typeface="Wingdings" pitchFamily="2" charset="2"/>
              <a:buNone/>
              <a:defRPr/>
            </a:pPr>
            <a:endParaRPr lang="zh-CN" altLang="en-US" sz="2000" kern="0" dirty="0">
              <a:solidFill>
                <a:srgbClr val="000000"/>
              </a:solidFill>
            </a:endParaRPr>
          </a:p>
        </p:txBody>
      </p:sp>
      <p:sp>
        <p:nvSpPr>
          <p:cNvPr id="6" name="标题 1">
            <a:extLst>
              <a:ext uri="{FF2B5EF4-FFF2-40B4-BE49-F238E27FC236}">
                <a16:creationId xmlns:a16="http://schemas.microsoft.com/office/drawing/2014/main" id="{DD3E130E-A3CC-7940-9C5A-7072494D105D}"/>
              </a:ext>
            </a:extLst>
          </p:cNvPr>
          <p:cNvSpPr txBox="1">
            <a:spLocks/>
          </p:cNvSpPr>
          <p:nvPr/>
        </p:nvSpPr>
        <p:spPr>
          <a:xfrm>
            <a:off x="462815" y="162995"/>
            <a:ext cx="4080309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zh-CN" altLang="en-US" sz="3200" dirty="0">
                <a:solidFill>
                  <a:srgbClr val="FF0000"/>
                </a:solidFill>
                <a:latin typeface=".AppleSystemUIFont"/>
              </a:rPr>
              <a:t>归结原理的应用</a:t>
            </a:r>
          </a:p>
        </p:txBody>
      </p:sp>
    </p:spTree>
    <p:extLst>
      <p:ext uri="{BB962C8B-B14F-4D97-AF65-F5344CB8AC3E}">
        <p14:creationId xmlns:p14="http://schemas.microsoft.com/office/powerpoint/2010/main" val="1667949821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1" name="Rectangle 3"/>
          <p:cNvSpPr>
            <a:spLocks noGrp="1" noChangeArrowheads="1"/>
          </p:cNvSpPr>
          <p:nvPr>
            <p:ph idx="1"/>
          </p:nvPr>
        </p:nvSpPr>
        <p:spPr>
          <a:xfrm>
            <a:off x="1849654" y="1819996"/>
            <a:ext cx="8815137" cy="4061042"/>
          </a:xfrm>
        </p:spPr>
        <p:txBody>
          <a:bodyPr>
            <a:noAutofit/>
          </a:bodyPr>
          <a:lstStyle/>
          <a:p>
            <a:pPr algn="just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zh-CN" altLang="en-US" sz="2000" kern="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例</a:t>
            </a:r>
            <a:r>
              <a:rPr lang="en-US" altLang="zh-CN" sz="2000" kern="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6.3. </a:t>
            </a:r>
            <a:r>
              <a:rPr lang="zh-CN" altLang="en-US" sz="2000" kern="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任何兄弟都有同一个父亲，</a:t>
            </a:r>
          </a:p>
          <a:p>
            <a:pPr algn="just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zh-CN" altLang="en-US" sz="2000" kern="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     </a:t>
            </a:r>
            <a:r>
              <a:rPr lang="en-US" altLang="zh-CN" sz="2000" kern="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John</a:t>
            </a:r>
            <a:r>
              <a:rPr lang="zh-CN" altLang="en-US" sz="2000" kern="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和</a:t>
            </a:r>
            <a:r>
              <a:rPr lang="en-US" altLang="zh-CN" sz="2000" kern="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Peter</a:t>
            </a:r>
            <a:r>
              <a:rPr lang="zh-CN" altLang="en-US" sz="2000" kern="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是兄弟，且</a:t>
            </a:r>
            <a:r>
              <a:rPr lang="en-US" altLang="zh-CN" sz="2000" kern="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John</a:t>
            </a:r>
            <a:r>
              <a:rPr lang="zh-CN" altLang="en-US" sz="2000" kern="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的父亲是</a:t>
            </a:r>
            <a:r>
              <a:rPr lang="en-US" altLang="zh-CN" sz="2000" kern="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David</a:t>
            </a:r>
            <a:r>
              <a:rPr lang="zh-CN" altLang="en-US" sz="2000" kern="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，</a:t>
            </a:r>
          </a:p>
          <a:p>
            <a:pPr algn="just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zh-CN" altLang="en-US" sz="2000" kern="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    问</a:t>
            </a:r>
            <a:r>
              <a:rPr lang="en-US" altLang="zh-CN" sz="2000" kern="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:Peter</a:t>
            </a:r>
            <a:r>
              <a:rPr lang="zh-CN" altLang="en-US" sz="2000" kern="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的父亲是谁？</a:t>
            </a:r>
          </a:p>
          <a:p>
            <a:pPr algn="just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zh-CN" altLang="en-US" sz="2000" kern="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解 第一步：将已知条件用谓词公式表示出来，并化成子句集，那么要先定义谓词。</a:t>
            </a:r>
          </a:p>
          <a:p>
            <a:pPr algn="just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zh-CN" altLang="en-US" sz="2000" kern="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（</a:t>
            </a:r>
            <a:r>
              <a:rPr lang="en-US" altLang="zh-CN" sz="2000" kern="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en-US" sz="2000" kern="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） 定义谓词：</a:t>
            </a:r>
          </a:p>
          <a:p>
            <a:pPr algn="just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zh-CN" altLang="en-US" sz="2000" kern="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设</a:t>
            </a:r>
            <a:r>
              <a:rPr lang="en-US" altLang="zh-CN" sz="2000" kern="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Father(</a:t>
            </a:r>
            <a:r>
              <a:rPr lang="en-US" altLang="zh-CN" sz="2000" kern="0" dirty="0" err="1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x,y</a:t>
            </a:r>
            <a:r>
              <a:rPr lang="en-US" altLang="zh-CN" sz="2000" kern="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en-US" sz="2000" kern="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表示</a:t>
            </a:r>
            <a:r>
              <a:rPr lang="en-US" altLang="zh-CN" sz="2000" kern="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zh-CN" altLang="en-US" sz="2000" kern="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是</a:t>
            </a:r>
            <a:r>
              <a:rPr lang="en-US" altLang="zh-CN" sz="2000" kern="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y</a:t>
            </a:r>
            <a:r>
              <a:rPr lang="zh-CN" altLang="en-US" sz="2000" kern="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的父亲。</a:t>
            </a:r>
          </a:p>
          <a:p>
            <a:pPr algn="just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zh-CN" altLang="en-US" sz="2000" kern="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    </a:t>
            </a:r>
            <a:r>
              <a:rPr lang="en-US" altLang="zh-CN" sz="2000" kern="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Brother(</a:t>
            </a:r>
            <a:r>
              <a:rPr lang="en-US" altLang="zh-CN" sz="2000" kern="0" dirty="0" err="1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x,y</a:t>
            </a:r>
            <a:r>
              <a:rPr lang="en-US" altLang="zh-CN" sz="2000" kern="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en-US" sz="2000" kern="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表示</a:t>
            </a:r>
            <a:r>
              <a:rPr lang="en-US" altLang="zh-CN" sz="2000" kern="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zh-CN" altLang="en-US" sz="2000" kern="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和</a:t>
            </a:r>
            <a:r>
              <a:rPr lang="en-US" altLang="zh-CN" sz="2000" kern="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y</a:t>
            </a:r>
            <a:r>
              <a:rPr lang="zh-CN" altLang="en-US" sz="2000" kern="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是兄弟。</a:t>
            </a:r>
          </a:p>
        </p:txBody>
      </p:sp>
      <p:sp>
        <p:nvSpPr>
          <p:cNvPr id="5" name="标题 1">
            <a:extLst>
              <a:ext uri="{FF2B5EF4-FFF2-40B4-BE49-F238E27FC236}">
                <a16:creationId xmlns:a16="http://schemas.microsoft.com/office/drawing/2014/main" id="{358C215D-10F4-A9F7-9DB1-87441B387F13}"/>
              </a:ext>
            </a:extLst>
          </p:cNvPr>
          <p:cNvSpPr txBox="1">
            <a:spLocks/>
          </p:cNvSpPr>
          <p:nvPr/>
        </p:nvSpPr>
        <p:spPr>
          <a:xfrm>
            <a:off x="462815" y="162995"/>
            <a:ext cx="4080309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zh-CN" altLang="en-US" sz="3200" dirty="0">
                <a:solidFill>
                  <a:srgbClr val="FF0000"/>
                </a:solidFill>
                <a:latin typeface=".AppleSystemUIFont"/>
              </a:rPr>
              <a:t>归结原理的应用</a:t>
            </a:r>
          </a:p>
        </p:txBody>
      </p:sp>
    </p:spTree>
    <p:extLst>
      <p:ext uri="{BB962C8B-B14F-4D97-AF65-F5344CB8AC3E}">
        <p14:creationId xmlns:p14="http://schemas.microsoft.com/office/powerpoint/2010/main" val="3976486741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40E9927-D476-4087-BD04-64CB2DEB28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84672" y="1746184"/>
            <a:ext cx="8531993" cy="47219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algn="just">
              <a:lnSpc>
                <a:spcPct val="114000"/>
              </a:lnSpc>
              <a:buFontTx/>
              <a:buNone/>
              <a:defRPr/>
            </a:pPr>
            <a:r>
              <a:rPr lang="zh-CN" altLang="en-US" sz="2000" kern="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（</a:t>
            </a:r>
            <a:r>
              <a:rPr lang="en-US" altLang="zh-CN" sz="2000" kern="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en-US" sz="2000" kern="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） 将已知事实用谓词公式表示出来。</a:t>
            </a:r>
          </a:p>
          <a:p>
            <a:pPr algn="just">
              <a:lnSpc>
                <a:spcPct val="114000"/>
              </a:lnSpc>
              <a:buFontTx/>
              <a:buNone/>
              <a:defRPr/>
            </a:pPr>
            <a:r>
              <a:rPr lang="zh-CN" altLang="en-US" sz="2000" kern="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          </a:t>
            </a:r>
            <a:r>
              <a:rPr lang="en-US" altLang="zh-CN" sz="2000" kern="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F1 </a:t>
            </a:r>
            <a:r>
              <a:rPr lang="zh-CN" altLang="en-US" sz="2000" kern="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：任何兄弟都有同一个父亲。</a:t>
            </a:r>
          </a:p>
          <a:p>
            <a:pPr algn="just">
              <a:lnSpc>
                <a:spcPct val="114000"/>
              </a:lnSpc>
              <a:buFontTx/>
              <a:buNone/>
              <a:defRPr/>
            </a:pPr>
            <a:r>
              <a:rPr lang="zh-CN" altLang="en-US" sz="2000" kern="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              </a:t>
            </a:r>
            <a:r>
              <a:rPr lang="zh-CN" altLang="en-US" sz="2000" kern="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  <a:sym typeface="Symbol" pitchFamily="18" charset="2"/>
              </a:rPr>
              <a:t></a:t>
            </a:r>
            <a:r>
              <a:rPr lang="en-US" altLang="zh-CN" sz="2000" kern="0" dirty="0" err="1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sz="2000" kern="0" dirty="0" err="1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  <a:sym typeface="Symbol" pitchFamily="18" charset="2"/>
              </a:rPr>
              <a:t>yz</a:t>
            </a:r>
            <a:r>
              <a:rPr lang="en-US" altLang="zh-CN" sz="2000" kern="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 (Brother(</a:t>
            </a:r>
            <a:r>
              <a:rPr lang="en-US" altLang="zh-CN" sz="2000" kern="0" dirty="0" err="1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x,y</a:t>
            </a:r>
            <a:r>
              <a:rPr lang="en-US" altLang="zh-CN" sz="2000" kern="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)∧Father(</a:t>
            </a:r>
            <a:r>
              <a:rPr lang="en-US" altLang="zh-CN" sz="2000" kern="0" dirty="0" err="1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z,x</a:t>
            </a:r>
            <a:r>
              <a:rPr lang="en-US" altLang="zh-CN" sz="2000" kern="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)→Father(</a:t>
            </a:r>
            <a:r>
              <a:rPr lang="en-US" altLang="zh-CN" sz="2000" kern="0" dirty="0" err="1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z,y</a:t>
            </a:r>
            <a:r>
              <a:rPr lang="en-US" altLang="zh-CN" sz="2000" kern="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))</a:t>
            </a:r>
          </a:p>
          <a:p>
            <a:pPr algn="just">
              <a:lnSpc>
                <a:spcPct val="114000"/>
              </a:lnSpc>
              <a:buFontTx/>
              <a:buNone/>
              <a:defRPr/>
            </a:pPr>
            <a:r>
              <a:rPr lang="en-US" altLang="zh-CN" sz="2000" kern="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          F2</a:t>
            </a:r>
            <a:r>
              <a:rPr lang="zh-CN" altLang="en-US" sz="2000" kern="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：</a:t>
            </a:r>
            <a:r>
              <a:rPr lang="en-US" altLang="zh-CN" sz="2000" kern="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John</a:t>
            </a:r>
            <a:r>
              <a:rPr lang="zh-CN" altLang="en-US" sz="2000" kern="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和</a:t>
            </a:r>
            <a:r>
              <a:rPr lang="en-US" altLang="zh-CN" sz="2000" kern="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Peter</a:t>
            </a:r>
            <a:r>
              <a:rPr lang="zh-CN" altLang="en-US" sz="2000" kern="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是兄弟。</a:t>
            </a:r>
          </a:p>
          <a:p>
            <a:pPr algn="just">
              <a:lnSpc>
                <a:spcPct val="114000"/>
              </a:lnSpc>
              <a:buFontTx/>
              <a:buNone/>
              <a:defRPr/>
            </a:pPr>
            <a:r>
              <a:rPr lang="zh-CN" altLang="en-US" sz="2000" kern="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              </a:t>
            </a:r>
            <a:r>
              <a:rPr lang="en-US" altLang="zh-CN" sz="2000" kern="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Brother(</a:t>
            </a:r>
            <a:r>
              <a:rPr lang="en-US" altLang="zh-CN" sz="2000" kern="0" dirty="0" err="1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John,Peter</a:t>
            </a:r>
            <a:r>
              <a:rPr lang="en-US" altLang="zh-CN" sz="2000" kern="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</a:p>
          <a:p>
            <a:pPr algn="just">
              <a:lnSpc>
                <a:spcPct val="114000"/>
              </a:lnSpc>
              <a:buFontTx/>
              <a:buNone/>
              <a:defRPr/>
            </a:pPr>
            <a:r>
              <a:rPr lang="en-US" altLang="zh-CN" sz="2000" kern="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          F3</a:t>
            </a:r>
            <a:r>
              <a:rPr lang="zh-CN" altLang="en-US" sz="2000" kern="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： </a:t>
            </a:r>
            <a:r>
              <a:rPr lang="en-US" altLang="zh-CN" sz="2000" kern="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John</a:t>
            </a:r>
            <a:r>
              <a:rPr lang="zh-CN" altLang="en-US" sz="2000" kern="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的父亲是</a:t>
            </a:r>
            <a:r>
              <a:rPr lang="en-US" altLang="zh-CN" sz="2000" kern="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David</a:t>
            </a:r>
            <a:r>
              <a:rPr lang="zh-CN" altLang="en-US" sz="2000" kern="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。</a:t>
            </a:r>
          </a:p>
          <a:p>
            <a:pPr algn="just">
              <a:lnSpc>
                <a:spcPct val="114000"/>
              </a:lnSpc>
              <a:buFontTx/>
              <a:buNone/>
              <a:defRPr/>
            </a:pPr>
            <a:r>
              <a:rPr lang="zh-CN" altLang="en-US" sz="2000" kern="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              </a:t>
            </a:r>
            <a:r>
              <a:rPr lang="en-US" altLang="zh-CN" sz="2000" kern="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Father(David, John)</a:t>
            </a:r>
          </a:p>
          <a:p>
            <a:pPr algn="just">
              <a:lnSpc>
                <a:spcPct val="114000"/>
              </a:lnSpc>
              <a:buFontTx/>
              <a:buNone/>
              <a:defRPr/>
            </a:pPr>
            <a:r>
              <a:rPr lang="zh-CN" altLang="en-US" sz="2000" kern="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（</a:t>
            </a:r>
            <a:r>
              <a:rPr lang="en-US" altLang="zh-CN" sz="2000" kern="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zh-CN" altLang="en-US" sz="2000" kern="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） 将它们化成子句集得：</a:t>
            </a:r>
          </a:p>
          <a:p>
            <a:pPr algn="just">
              <a:lnSpc>
                <a:spcPct val="114000"/>
              </a:lnSpc>
              <a:buFontTx/>
              <a:buNone/>
              <a:defRPr/>
            </a:pPr>
            <a:r>
              <a:rPr lang="zh-CN" altLang="en-US" sz="2000" kern="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          </a:t>
            </a:r>
            <a:r>
              <a:rPr lang="en-US" altLang="zh-CN" sz="2000" kern="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S1={</a:t>
            </a:r>
            <a:r>
              <a:rPr lang="zh-CN" altLang="en-US" sz="2000" kern="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～</a:t>
            </a:r>
            <a:r>
              <a:rPr lang="en-US" altLang="zh-CN" sz="2000" kern="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Brother(</a:t>
            </a:r>
            <a:r>
              <a:rPr lang="en-US" altLang="zh-CN" sz="2000" kern="0" dirty="0" err="1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x,y</a:t>
            </a:r>
            <a:r>
              <a:rPr lang="en-US" altLang="zh-CN" sz="2000" kern="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)∨</a:t>
            </a:r>
            <a:r>
              <a:rPr lang="zh-CN" altLang="en-US" sz="2000" kern="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～</a:t>
            </a:r>
            <a:r>
              <a:rPr lang="en-US" altLang="zh-CN" sz="2000" kern="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Father(</a:t>
            </a:r>
            <a:r>
              <a:rPr lang="en-US" altLang="zh-CN" sz="2000" kern="0" dirty="0" err="1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z,x</a:t>
            </a:r>
            <a:r>
              <a:rPr lang="en-US" altLang="zh-CN" sz="2000" kern="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)∨Father(</a:t>
            </a:r>
            <a:r>
              <a:rPr lang="en-US" altLang="zh-CN" sz="2000" kern="0" dirty="0" err="1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z,y</a:t>
            </a:r>
            <a:r>
              <a:rPr lang="en-US" altLang="zh-CN" sz="2000" kern="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),</a:t>
            </a:r>
          </a:p>
          <a:p>
            <a:pPr algn="just">
              <a:lnSpc>
                <a:spcPct val="114000"/>
              </a:lnSpc>
              <a:buFontTx/>
              <a:buNone/>
              <a:defRPr/>
            </a:pPr>
            <a:r>
              <a:rPr lang="en-US" altLang="zh-CN" sz="2000" kern="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                 Brother(</a:t>
            </a:r>
            <a:r>
              <a:rPr lang="en-US" altLang="zh-CN" sz="2000" kern="0" dirty="0" err="1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John,Peter</a:t>
            </a:r>
            <a:r>
              <a:rPr lang="en-US" altLang="zh-CN" sz="2000" kern="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), Father(</a:t>
            </a:r>
            <a:r>
              <a:rPr lang="en-US" altLang="zh-CN" sz="2000" kern="0" dirty="0" err="1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David,John</a:t>
            </a:r>
            <a:r>
              <a:rPr lang="en-US" altLang="zh-CN" sz="2000" kern="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)}</a:t>
            </a:r>
          </a:p>
        </p:txBody>
      </p:sp>
      <p:sp>
        <p:nvSpPr>
          <p:cNvPr id="6" name="标题 1">
            <a:extLst>
              <a:ext uri="{FF2B5EF4-FFF2-40B4-BE49-F238E27FC236}">
                <a16:creationId xmlns:a16="http://schemas.microsoft.com/office/drawing/2014/main" id="{AD79F15D-0976-6BEB-A125-92B77A330FDE}"/>
              </a:ext>
            </a:extLst>
          </p:cNvPr>
          <p:cNvSpPr txBox="1">
            <a:spLocks/>
          </p:cNvSpPr>
          <p:nvPr/>
        </p:nvSpPr>
        <p:spPr>
          <a:xfrm>
            <a:off x="462815" y="162995"/>
            <a:ext cx="4080309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zh-CN" altLang="en-US" sz="3200" dirty="0">
                <a:solidFill>
                  <a:srgbClr val="FF0000"/>
                </a:solidFill>
                <a:latin typeface=".AppleSystemUIFont"/>
              </a:rPr>
              <a:t>归结原理的应用</a:t>
            </a:r>
          </a:p>
        </p:txBody>
      </p:sp>
    </p:spTree>
    <p:extLst>
      <p:ext uri="{BB962C8B-B14F-4D97-AF65-F5344CB8AC3E}">
        <p14:creationId xmlns:p14="http://schemas.microsoft.com/office/powerpoint/2010/main" val="3525105012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9" name="Rectangle 3"/>
          <p:cNvSpPr>
            <a:spLocks noGrp="1" noChangeArrowheads="1"/>
          </p:cNvSpPr>
          <p:nvPr>
            <p:ph idx="1"/>
          </p:nvPr>
        </p:nvSpPr>
        <p:spPr>
          <a:xfrm>
            <a:off x="1886350" y="1697805"/>
            <a:ext cx="7864042" cy="4135104"/>
          </a:xfrm>
        </p:spPr>
        <p:txBody>
          <a:bodyPr>
            <a:normAutofit/>
          </a:bodyPr>
          <a:lstStyle/>
          <a:p>
            <a:pPr algn="just">
              <a:lnSpc>
                <a:spcPct val="120000"/>
              </a:lnSpc>
              <a:buFontTx/>
              <a:buNone/>
            </a:pPr>
            <a:r>
              <a:rPr lang="zh-CN" altLang="en-US" sz="2000" kern="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第二步：把问题用谓词公式表示出来，</a:t>
            </a:r>
          </a:p>
          <a:p>
            <a:pPr algn="just">
              <a:lnSpc>
                <a:spcPct val="120000"/>
              </a:lnSpc>
              <a:buFontTx/>
              <a:buNone/>
            </a:pPr>
            <a:r>
              <a:rPr lang="zh-CN" altLang="en-US" sz="2000" kern="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                 并将其否定与谓词</a:t>
            </a:r>
            <a:r>
              <a:rPr lang="en-US" altLang="zh-CN" sz="2000" kern="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ANSWER</a:t>
            </a:r>
            <a:r>
              <a:rPr lang="zh-CN" altLang="en-US" sz="2000" kern="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作析取。</a:t>
            </a:r>
          </a:p>
          <a:p>
            <a:pPr algn="just">
              <a:lnSpc>
                <a:spcPct val="120000"/>
              </a:lnSpc>
              <a:buFontTx/>
              <a:buNone/>
            </a:pPr>
            <a:r>
              <a:rPr lang="zh-CN" altLang="en-US" sz="2000" kern="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     </a:t>
            </a:r>
            <a:r>
              <a:rPr lang="en-US" altLang="zh-CN" sz="2000" kern="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   </a:t>
            </a:r>
            <a:r>
              <a:rPr lang="zh-CN" altLang="en-US" sz="2000" kern="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设</a:t>
            </a:r>
            <a:r>
              <a:rPr lang="en-US" altLang="zh-CN" sz="2000" kern="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Peter</a:t>
            </a:r>
            <a:r>
              <a:rPr lang="zh-CN" altLang="en-US" sz="2000" kern="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的父亲是</a:t>
            </a:r>
            <a:r>
              <a:rPr lang="en-US" altLang="zh-CN" sz="2000" kern="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u</a:t>
            </a:r>
            <a:r>
              <a:rPr lang="zh-CN" altLang="en-US" sz="2000" kern="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，则有：</a:t>
            </a:r>
            <a:r>
              <a:rPr lang="en-US" altLang="zh-CN" sz="2000" kern="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Father(</a:t>
            </a:r>
            <a:r>
              <a:rPr lang="en-US" altLang="zh-CN" sz="2000" kern="0" dirty="0" err="1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u,Peter</a:t>
            </a:r>
            <a:r>
              <a:rPr lang="en-US" altLang="zh-CN" sz="2000" kern="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en-US" sz="2000" kern="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。</a:t>
            </a:r>
          </a:p>
          <a:p>
            <a:pPr algn="just">
              <a:lnSpc>
                <a:spcPct val="120000"/>
              </a:lnSpc>
              <a:buFontTx/>
              <a:buNone/>
            </a:pPr>
            <a:r>
              <a:rPr lang="zh-CN" altLang="en-US" sz="2000" kern="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  将其否定与</a:t>
            </a:r>
            <a:r>
              <a:rPr lang="en-US" altLang="zh-CN" sz="2000" kern="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ANSWER</a:t>
            </a:r>
            <a:r>
              <a:rPr lang="zh-CN" altLang="en-US" sz="2000" kern="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作析取，得：</a:t>
            </a:r>
          </a:p>
          <a:p>
            <a:pPr algn="just">
              <a:lnSpc>
                <a:spcPct val="120000"/>
              </a:lnSpc>
              <a:buFontTx/>
              <a:buNone/>
            </a:pPr>
            <a:r>
              <a:rPr lang="zh-CN" altLang="en-US" sz="2000" kern="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     </a:t>
            </a:r>
            <a:r>
              <a:rPr lang="en-US" altLang="zh-CN" sz="2000" kern="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   </a:t>
            </a:r>
            <a:r>
              <a:rPr lang="zh-CN" altLang="en-US" sz="2000" kern="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000" kern="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G</a:t>
            </a:r>
            <a:r>
              <a:rPr lang="zh-CN" altLang="en-US" sz="2000" kern="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：～</a:t>
            </a:r>
            <a:r>
              <a:rPr lang="en-US" altLang="zh-CN" sz="2000" kern="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Father(</a:t>
            </a:r>
            <a:r>
              <a:rPr lang="en-US" altLang="zh-CN" sz="2000" kern="0" dirty="0" err="1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u,Peter</a:t>
            </a:r>
            <a:r>
              <a:rPr lang="en-US" altLang="zh-CN" sz="2000" kern="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)∨ANSWER(u)</a:t>
            </a:r>
          </a:p>
          <a:p>
            <a:pPr algn="just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zh-CN" altLang="en-US" sz="2000" kern="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第三步：将上述公式</a:t>
            </a:r>
            <a:r>
              <a:rPr lang="en-US" altLang="zh-CN" sz="2000" kern="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G</a:t>
            </a:r>
            <a:r>
              <a:rPr lang="zh-CN" altLang="en-US" sz="2000" kern="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化为子句集</a:t>
            </a:r>
            <a:r>
              <a:rPr lang="en-US" altLang="zh-CN" sz="2000" kern="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S2,</a:t>
            </a:r>
            <a:r>
              <a:rPr lang="zh-CN" altLang="en-US" sz="2000" kern="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并将</a:t>
            </a:r>
            <a:r>
              <a:rPr lang="en-US" altLang="zh-CN" sz="2000" kern="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S1</a:t>
            </a:r>
            <a:r>
              <a:rPr lang="zh-CN" altLang="en-US" sz="2000" kern="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和</a:t>
            </a:r>
            <a:r>
              <a:rPr lang="en-US" altLang="zh-CN" sz="2000" kern="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S2</a:t>
            </a:r>
            <a:r>
              <a:rPr lang="zh-CN" altLang="en-US" sz="2000" kern="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合并到</a:t>
            </a:r>
            <a:r>
              <a:rPr lang="en-US" altLang="zh-CN" sz="2000" kern="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S</a:t>
            </a:r>
            <a:r>
              <a:rPr lang="zh-CN" altLang="en-US" sz="2000" kern="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。</a:t>
            </a:r>
          </a:p>
          <a:p>
            <a:pPr algn="just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zh-CN" altLang="en-US" sz="2000" kern="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    </a:t>
            </a:r>
            <a:r>
              <a:rPr lang="en-US" altLang="zh-CN" sz="2000" kern="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S2 ={</a:t>
            </a:r>
            <a:r>
              <a:rPr lang="zh-CN" altLang="en-US" sz="2000" kern="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～</a:t>
            </a:r>
            <a:r>
              <a:rPr lang="en-US" altLang="zh-CN" sz="2000" kern="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Father(</a:t>
            </a:r>
            <a:r>
              <a:rPr lang="en-US" altLang="zh-CN" sz="2000" kern="0" dirty="0" err="1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u,Peter</a:t>
            </a:r>
            <a:r>
              <a:rPr lang="en-US" altLang="zh-CN" sz="2000" kern="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)∨ANSWER(u)}</a:t>
            </a:r>
          </a:p>
          <a:p>
            <a:pPr algn="just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en-US" altLang="zh-CN" sz="2000" kern="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    S= S1∪S2</a:t>
            </a:r>
          </a:p>
          <a:p>
            <a:pPr algn="just">
              <a:lnSpc>
                <a:spcPct val="120000"/>
              </a:lnSpc>
              <a:buFontTx/>
              <a:buNone/>
            </a:pPr>
            <a:endParaRPr kumimoji="1" lang="en-US" altLang="zh-CN" sz="2400" b="1" dirty="0">
              <a:solidFill>
                <a:srgbClr val="000000"/>
              </a:solidFill>
            </a:endParaRPr>
          </a:p>
          <a:p>
            <a:pPr algn="just">
              <a:lnSpc>
                <a:spcPct val="120000"/>
              </a:lnSpc>
              <a:buFontTx/>
              <a:buNone/>
            </a:pPr>
            <a:endParaRPr kumimoji="1" lang="en-US" altLang="zh-CN" sz="2400" b="1" dirty="0">
              <a:solidFill>
                <a:srgbClr val="000000"/>
              </a:solidFill>
            </a:endParaRPr>
          </a:p>
          <a:p>
            <a:pPr>
              <a:buFont typeface="Wingdings" panose="05000000000000000000" pitchFamily="2" charset="2"/>
              <a:buNone/>
            </a:pPr>
            <a:endParaRPr lang="en-US" altLang="zh-CN" dirty="0"/>
          </a:p>
        </p:txBody>
      </p:sp>
      <p:sp>
        <p:nvSpPr>
          <p:cNvPr id="5" name="标题 1">
            <a:extLst>
              <a:ext uri="{FF2B5EF4-FFF2-40B4-BE49-F238E27FC236}">
                <a16:creationId xmlns:a16="http://schemas.microsoft.com/office/drawing/2014/main" id="{FB49F00E-9257-83AF-F2B5-B8205382B95E}"/>
              </a:ext>
            </a:extLst>
          </p:cNvPr>
          <p:cNvSpPr txBox="1">
            <a:spLocks/>
          </p:cNvSpPr>
          <p:nvPr/>
        </p:nvSpPr>
        <p:spPr>
          <a:xfrm>
            <a:off x="462815" y="162995"/>
            <a:ext cx="4080309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zh-CN" altLang="en-US" sz="3200" dirty="0">
                <a:solidFill>
                  <a:srgbClr val="FF0000"/>
                </a:solidFill>
                <a:latin typeface=".AppleSystemUIFont"/>
              </a:rPr>
              <a:t>归结原理的应用</a:t>
            </a:r>
          </a:p>
        </p:txBody>
      </p:sp>
    </p:spTree>
    <p:extLst>
      <p:ext uri="{BB962C8B-B14F-4D97-AF65-F5344CB8AC3E}">
        <p14:creationId xmlns:p14="http://schemas.microsoft.com/office/powerpoint/2010/main" val="1536271954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FE8C2A0-D078-4F9E-BD22-DFF878866E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2815" y="162995"/>
            <a:ext cx="4080309" cy="1325563"/>
          </a:xfrm>
        </p:spPr>
        <p:txBody>
          <a:bodyPr/>
          <a:lstStyle/>
          <a:p>
            <a:pPr>
              <a:defRPr/>
            </a:pPr>
            <a:r>
              <a:rPr lang="zh-CN" altLang="en-US" sz="3200" dirty="0">
                <a:solidFill>
                  <a:srgbClr val="FF0000"/>
                </a:solidFill>
                <a:latin typeface=".AppleSystemUIFont"/>
              </a:rPr>
              <a:t>归结原理的应用</a:t>
            </a:r>
          </a:p>
        </p:txBody>
      </p:sp>
      <p:sp>
        <p:nvSpPr>
          <p:cNvPr id="76803" name="Rectangle 3"/>
          <p:cNvSpPr>
            <a:spLocks noGrp="1" noChangeArrowheads="1"/>
          </p:cNvSpPr>
          <p:nvPr>
            <p:ph idx="1"/>
          </p:nvPr>
        </p:nvSpPr>
        <p:spPr>
          <a:xfrm>
            <a:off x="1847851" y="1395414"/>
            <a:ext cx="8435975" cy="4929187"/>
          </a:xfrm>
        </p:spPr>
        <p:txBody>
          <a:bodyPr>
            <a:normAutofit/>
          </a:bodyPr>
          <a:lstStyle/>
          <a:p>
            <a:pPr algn="just">
              <a:lnSpc>
                <a:spcPct val="120000"/>
              </a:lnSpc>
              <a:buFontTx/>
              <a:buNone/>
            </a:pPr>
            <a:r>
              <a:rPr lang="zh-CN" altLang="en-US" sz="2000" kern="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第四步：应用归结原理进行归结</a:t>
            </a:r>
          </a:p>
          <a:p>
            <a:pPr algn="just">
              <a:lnSpc>
                <a:spcPct val="120000"/>
              </a:lnSpc>
              <a:buFontTx/>
              <a:buNone/>
            </a:pPr>
            <a:r>
              <a:rPr lang="zh-CN" altLang="en-US" sz="2000" kern="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（</a:t>
            </a:r>
            <a:r>
              <a:rPr lang="en-US" altLang="zh-CN" sz="2000" kern="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5</a:t>
            </a:r>
            <a:r>
              <a:rPr lang="zh-CN" altLang="en-US" sz="2000" kern="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）～</a:t>
            </a:r>
            <a:r>
              <a:rPr lang="en-US" altLang="zh-CN" sz="2000" kern="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Brother(</a:t>
            </a:r>
            <a:r>
              <a:rPr lang="en-US" altLang="zh-CN" sz="2000" kern="0" dirty="0" err="1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John,y</a:t>
            </a:r>
            <a:r>
              <a:rPr lang="en-US" altLang="zh-CN" sz="2000" kern="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)∨Father(</a:t>
            </a:r>
            <a:r>
              <a:rPr lang="en-US" altLang="zh-CN" sz="2000" kern="0" dirty="0" err="1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David,y</a:t>
            </a:r>
            <a:r>
              <a:rPr lang="en-US" altLang="zh-CN" sz="2000" kern="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)        </a:t>
            </a:r>
          </a:p>
          <a:p>
            <a:pPr algn="just">
              <a:lnSpc>
                <a:spcPct val="120000"/>
              </a:lnSpc>
              <a:buFontTx/>
              <a:buNone/>
            </a:pPr>
            <a:r>
              <a:rPr lang="en-US" altLang="zh-CN" sz="2000" kern="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                  </a:t>
            </a:r>
            <a:r>
              <a:rPr lang="zh-CN" altLang="en-US" sz="2000" kern="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（</a:t>
            </a:r>
            <a:r>
              <a:rPr lang="en-US" altLang="zh-CN" sz="2000" kern="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en-US" sz="2000" kern="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）与（</a:t>
            </a:r>
            <a:r>
              <a:rPr lang="en-US" altLang="zh-CN" sz="2000" kern="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zh-CN" altLang="en-US" sz="2000" kern="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）归结 </a:t>
            </a:r>
            <a:r>
              <a:rPr lang="en-US" altLang="zh-CN" sz="2000" kern="0" dirty="0" err="1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σ</a:t>
            </a:r>
            <a:r>
              <a:rPr lang="en-US" altLang="zh-CN" sz="2000" kern="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={David/</a:t>
            </a:r>
            <a:r>
              <a:rPr lang="en-US" altLang="zh-CN" sz="2000" kern="0" dirty="0" err="1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z,John</a:t>
            </a:r>
            <a:r>
              <a:rPr lang="en-US" altLang="zh-CN" sz="2000" kern="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/x}</a:t>
            </a:r>
          </a:p>
          <a:p>
            <a:pPr algn="just">
              <a:lnSpc>
                <a:spcPct val="120000"/>
              </a:lnSpc>
              <a:buFontTx/>
              <a:buNone/>
            </a:pPr>
            <a:r>
              <a:rPr lang="zh-CN" altLang="en-US" sz="2000" kern="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（</a:t>
            </a:r>
            <a:r>
              <a:rPr lang="en-US" altLang="zh-CN" sz="2000" kern="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6</a:t>
            </a:r>
            <a:r>
              <a:rPr lang="zh-CN" altLang="en-US" sz="2000" kern="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）～</a:t>
            </a:r>
            <a:r>
              <a:rPr lang="en-US" altLang="zh-CN" sz="2000" kern="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Brother(</a:t>
            </a:r>
            <a:r>
              <a:rPr lang="en-US" altLang="zh-CN" sz="2000" kern="0" dirty="0" err="1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John,Peter</a:t>
            </a:r>
            <a:r>
              <a:rPr lang="en-US" altLang="zh-CN" sz="2000" kern="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)∨ANSWER(David) </a:t>
            </a:r>
          </a:p>
          <a:p>
            <a:pPr algn="just">
              <a:lnSpc>
                <a:spcPct val="120000"/>
              </a:lnSpc>
              <a:buFontTx/>
              <a:buNone/>
            </a:pPr>
            <a:r>
              <a:rPr lang="en-US" altLang="zh-CN" sz="2000" kern="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                   </a:t>
            </a:r>
            <a:r>
              <a:rPr lang="zh-CN" altLang="en-US" sz="2000" kern="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（</a:t>
            </a:r>
            <a:r>
              <a:rPr lang="en-US" altLang="zh-CN" sz="2000" kern="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4</a:t>
            </a:r>
            <a:r>
              <a:rPr lang="zh-CN" altLang="en-US" sz="2000" kern="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）与（</a:t>
            </a:r>
            <a:r>
              <a:rPr lang="en-US" altLang="zh-CN" sz="2000" kern="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5</a:t>
            </a:r>
            <a:r>
              <a:rPr lang="zh-CN" altLang="en-US" sz="2000" kern="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）归结</a:t>
            </a:r>
            <a:r>
              <a:rPr lang="en-US" altLang="zh-CN" sz="2000" kern="0" dirty="0" err="1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σ</a:t>
            </a:r>
            <a:r>
              <a:rPr lang="en-US" altLang="zh-CN" sz="2000" kern="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={David/</a:t>
            </a:r>
            <a:r>
              <a:rPr lang="en-US" altLang="zh-CN" sz="2000" kern="0" dirty="0" err="1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u,Peter</a:t>
            </a:r>
            <a:r>
              <a:rPr lang="en-US" altLang="zh-CN" sz="2000" kern="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/y}</a:t>
            </a:r>
          </a:p>
          <a:p>
            <a:pPr algn="just">
              <a:lnSpc>
                <a:spcPct val="120000"/>
              </a:lnSpc>
              <a:buFontTx/>
              <a:buNone/>
            </a:pPr>
            <a:r>
              <a:rPr lang="zh-CN" altLang="en-US" sz="2000" kern="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（</a:t>
            </a:r>
            <a:r>
              <a:rPr lang="en-US" altLang="zh-CN" sz="2000" kern="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7</a:t>
            </a:r>
            <a:r>
              <a:rPr lang="zh-CN" altLang="en-US" sz="2000" kern="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）</a:t>
            </a:r>
            <a:r>
              <a:rPr lang="en-US" altLang="zh-CN" sz="2000" kern="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ANSWER(David) </a:t>
            </a:r>
            <a:r>
              <a:rPr lang="zh-CN" altLang="en-US" sz="2000" kern="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（</a:t>
            </a:r>
            <a:r>
              <a:rPr lang="en-US" altLang="zh-CN" sz="2000" kern="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en-US" sz="2000" kern="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）与（</a:t>
            </a:r>
            <a:r>
              <a:rPr lang="en-US" altLang="zh-CN" sz="2000" kern="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6</a:t>
            </a:r>
            <a:r>
              <a:rPr lang="zh-CN" altLang="en-US" sz="2000" kern="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）归结</a:t>
            </a:r>
          </a:p>
          <a:p>
            <a:pPr algn="just">
              <a:lnSpc>
                <a:spcPct val="120000"/>
              </a:lnSpc>
              <a:buFontTx/>
              <a:buNone/>
            </a:pPr>
            <a:r>
              <a:rPr lang="zh-CN" altLang="en-US" sz="2000" kern="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第五步：</a:t>
            </a:r>
            <a:endParaRPr lang="en-US" altLang="zh-CN" sz="2000" kern="0" dirty="0"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lnSpc>
                <a:spcPct val="120000"/>
              </a:lnSpc>
              <a:buFontTx/>
              <a:buNone/>
            </a:pPr>
            <a:r>
              <a:rPr lang="en-US" altLang="zh-CN" sz="2000" kern="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   </a:t>
            </a:r>
            <a:r>
              <a:rPr lang="zh-CN" altLang="en-US" sz="2000" kern="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得到了归结式</a:t>
            </a:r>
            <a:r>
              <a:rPr lang="en-US" altLang="zh-CN" sz="2000" kern="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ANSWER(David)</a:t>
            </a:r>
            <a:r>
              <a:rPr lang="zh-CN" altLang="en-US" sz="2000" kern="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，答案即在其中，所以</a:t>
            </a:r>
            <a:r>
              <a:rPr lang="en-US" altLang="zh-CN" sz="2000" kern="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u=David</a:t>
            </a:r>
            <a:r>
              <a:rPr lang="zh-CN" altLang="en-US" sz="2000" kern="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。</a:t>
            </a:r>
            <a:endParaRPr lang="en-US" altLang="zh-CN" sz="2000" kern="0" dirty="0"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lnSpc>
                <a:spcPct val="120000"/>
              </a:lnSpc>
              <a:buFontTx/>
              <a:buNone/>
            </a:pPr>
            <a:r>
              <a:rPr lang="en-US" altLang="zh-CN" sz="2000" kern="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   </a:t>
            </a:r>
            <a:r>
              <a:rPr lang="zh-CN" altLang="en-US" sz="2000" kern="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即</a:t>
            </a:r>
            <a:r>
              <a:rPr lang="en-US" altLang="zh-CN" sz="2000" kern="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Peter</a:t>
            </a:r>
            <a:r>
              <a:rPr lang="zh-CN" altLang="en-US" sz="2000" kern="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的父亲是</a:t>
            </a:r>
            <a:r>
              <a:rPr lang="en-US" altLang="zh-CN" sz="2000" kern="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David</a:t>
            </a:r>
            <a:r>
              <a:rPr lang="zh-CN" altLang="en-US" sz="2000" kern="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3764131979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" name="组合 37"/>
          <p:cNvGrpSpPr/>
          <p:nvPr/>
        </p:nvGrpSpPr>
        <p:grpSpPr>
          <a:xfrm>
            <a:off x="3869989" y="1594509"/>
            <a:ext cx="4452022" cy="4487848"/>
            <a:chOff x="3872379" y="1383943"/>
            <a:chExt cx="4452022" cy="4487848"/>
          </a:xfrm>
        </p:grpSpPr>
        <p:sp>
          <p:nvSpPr>
            <p:cNvPr id="3" name="Freeform 5"/>
            <p:cNvSpPr>
              <a:spLocks/>
            </p:cNvSpPr>
            <p:nvPr/>
          </p:nvSpPr>
          <p:spPr bwMode="auto">
            <a:xfrm>
              <a:off x="3872379" y="1383943"/>
              <a:ext cx="2161524" cy="2161524"/>
            </a:xfrm>
            <a:custGeom>
              <a:avLst/>
              <a:gdLst/>
              <a:ahLst/>
              <a:cxnLst>
                <a:cxn ang="0">
                  <a:pos x="673" y="233"/>
                </a:cxn>
                <a:cxn ang="0">
                  <a:pos x="233" y="233"/>
                </a:cxn>
                <a:cxn ang="0">
                  <a:pos x="233" y="673"/>
                </a:cxn>
                <a:cxn ang="0">
                  <a:pos x="0" y="905"/>
                </a:cxn>
                <a:cxn ang="0">
                  <a:pos x="905" y="905"/>
                </a:cxn>
                <a:cxn ang="0">
                  <a:pos x="905" y="0"/>
                </a:cxn>
                <a:cxn ang="0">
                  <a:pos x="673" y="233"/>
                </a:cxn>
              </a:cxnLst>
              <a:rect l="0" t="0" r="r" b="b"/>
              <a:pathLst>
                <a:path w="905" h="905">
                  <a:moveTo>
                    <a:pt x="673" y="233"/>
                  </a:moveTo>
                  <a:lnTo>
                    <a:pt x="233" y="233"/>
                  </a:lnTo>
                  <a:lnTo>
                    <a:pt x="233" y="673"/>
                  </a:lnTo>
                  <a:lnTo>
                    <a:pt x="0" y="905"/>
                  </a:lnTo>
                  <a:lnTo>
                    <a:pt x="905" y="905"/>
                  </a:lnTo>
                  <a:lnTo>
                    <a:pt x="905" y="0"/>
                  </a:lnTo>
                  <a:lnTo>
                    <a:pt x="673" y="233"/>
                  </a:lnTo>
                  <a:close/>
                </a:path>
              </a:pathLst>
            </a:custGeom>
            <a:solidFill>
              <a:srgbClr val="24569D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sym typeface="+mn-lt"/>
              </a:endParaRPr>
            </a:p>
          </p:txBody>
        </p:sp>
        <p:sp>
          <p:nvSpPr>
            <p:cNvPr id="4" name="Freeform 6"/>
            <p:cNvSpPr>
              <a:spLocks/>
            </p:cNvSpPr>
            <p:nvPr/>
          </p:nvSpPr>
          <p:spPr bwMode="auto">
            <a:xfrm>
              <a:off x="6162877" y="1383943"/>
              <a:ext cx="2161524" cy="2161524"/>
            </a:xfrm>
            <a:custGeom>
              <a:avLst/>
              <a:gdLst/>
              <a:ahLst/>
              <a:cxnLst>
                <a:cxn ang="0">
                  <a:pos x="672" y="673"/>
                </a:cxn>
                <a:cxn ang="0">
                  <a:pos x="672" y="233"/>
                </a:cxn>
                <a:cxn ang="0">
                  <a:pos x="232" y="233"/>
                </a:cxn>
                <a:cxn ang="0">
                  <a:pos x="0" y="0"/>
                </a:cxn>
                <a:cxn ang="0">
                  <a:pos x="0" y="905"/>
                </a:cxn>
                <a:cxn ang="0">
                  <a:pos x="905" y="905"/>
                </a:cxn>
                <a:cxn ang="0">
                  <a:pos x="672" y="673"/>
                </a:cxn>
              </a:cxnLst>
              <a:rect l="0" t="0" r="r" b="b"/>
              <a:pathLst>
                <a:path w="905" h="905">
                  <a:moveTo>
                    <a:pt x="672" y="673"/>
                  </a:moveTo>
                  <a:lnTo>
                    <a:pt x="672" y="233"/>
                  </a:lnTo>
                  <a:lnTo>
                    <a:pt x="232" y="233"/>
                  </a:lnTo>
                  <a:lnTo>
                    <a:pt x="0" y="0"/>
                  </a:lnTo>
                  <a:lnTo>
                    <a:pt x="0" y="905"/>
                  </a:lnTo>
                  <a:lnTo>
                    <a:pt x="905" y="905"/>
                  </a:lnTo>
                  <a:lnTo>
                    <a:pt x="672" y="673"/>
                  </a:lnTo>
                  <a:close/>
                </a:path>
              </a:pathLst>
            </a:custGeom>
            <a:solidFill>
              <a:srgbClr val="24569D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sym typeface="+mn-lt"/>
              </a:endParaRPr>
            </a:p>
          </p:txBody>
        </p:sp>
        <p:sp>
          <p:nvSpPr>
            <p:cNvPr id="5" name="Freeform 7"/>
            <p:cNvSpPr>
              <a:spLocks/>
            </p:cNvSpPr>
            <p:nvPr/>
          </p:nvSpPr>
          <p:spPr bwMode="auto">
            <a:xfrm>
              <a:off x="3872379" y="3710267"/>
              <a:ext cx="2161524" cy="2161524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33" y="232"/>
                </a:cxn>
                <a:cxn ang="0">
                  <a:pos x="233" y="672"/>
                </a:cxn>
                <a:cxn ang="0">
                  <a:pos x="673" y="672"/>
                </a:cxn>
                <a:cxn ang="0">
                  <a:pos x="905" y="905"/>
                </a:cxn>
                <a:cxn ang="0">
                  <a:pos x="905" y="0"/>
                </a:cxn>
                <a:cxn ang="0">
                  <a:pos x="0" y="0"/>
                </a:cxn>
              </a:cxnLst>
              <a:rect l="0" t="0" r="r" b="b"/>
              <a:pathLst>
                <a:path w="905" h="905">
                  <a:moveTo>
                    <a:pt x="0" y="0"/>
                  </a:moveTo>
                  <a:lnTo>
                    <a:pt x="233" y="232"/>
                  </a:lnTo>
                  <a:lnTo>
                    <a:pt x="233" y="672"/>
                  </a:lnTo>
                  <a:lnTo>
                    <a:pt x="673" y="672"/>
                  </a:lnTo>
                  <a:lnTo>
                    <a:pt x="905" y="905"/>
                  </a:lnTo>
                  <a:lnTo>
                    <a:pt x="90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4569D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sym typeface="+mn-lt"/>
              </a:endParaRPr>
            </a:p>
          </p:txBody>
        </p:sp>
        <p:sp>
          <p:nvSpPr>
            <p:cNvPr id="6" name="Freeform 8"/>
            <p:cNvSpPr>
              <a:spLocks/>
            </p:cNvSpPr>
            <p:nvPr/>
          </p:nvSpPr>
          <p:spPr bwMode="auto">
            <a:xfrm>
              <a:off x="6162877" y="3710267"/>
              <a:ext cx="2161524" cy="2161524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905"/>
                </a:cxn>
                <a:cxn ang="0">
                  <a:pos x="232" y="672"/>
                </a:cxn>
                <a:cxn ang="0">
                  <a:pos x="672" y="672"/>
                </a:cxn>
                <a:cxn ang="0">
                  <a:pos x="672" y="232"/>
                </a:cxn>
                <a:cxn ang="0">
                  <a:pos x="905" y="0"/>
                </a:cxn>
                <a:cxn ang="0">
                  <a:pos x="0" y="0"/>
                </a:cxn>
              </a:cxnLst>
              <a:rect l="0" t="0" r="r" b="b"/>
              <a:pathLst>
                <a:path w="905" h="905">
                  <a:moveTo>
                    <a:pt x="0" y="0"/>
                  </a:moveTo>
                  <a:lnTo>
                    <a:pt x="0" y="905"/>
                  </a:lnTo>
                  <a:lnTo>
                    <a:pt x="232" y="672"/>
                  </a:lnTo>
                  <a:lnTo>
                    <a:pt x="672" y="672"/>
                  </a:lnTo>
                  <a:lnTo>
                    <a:pt x="672" y="232"/>
                  </a:lnTo>
                  <a:lnTo>
                    <a:pt x="90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4569D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sym typeface="+mn-lt"/>
              </a:endParaRPr>
            </a:p>
          </p:txBody>
        </p:sp>
        <p:grpSp>
          <p:nvGrpSpPr>
            <p:cNvPr id="7" name="Group 44"/>
            <p:cNvGrpSpPr/>
            <p:nvPr/>
          </p:nvGrpSpPr>
          <p:grpSpPr>
            <a:xfrm>
              <a:off x="4569798" y="4627422"/>
              <a:ext cx="527842" cy="535007"/>
              <a:chOff x="3557588" y="3654425"/>
              <a:chExt cx="350838" cy="355600"/>
            </a:xfrm>
          </p:grpSpPr>
          <p:sp>
            <p:nvSpPr>
              <p:cNvPr id="20" name="Freeform 9"/>
              <p:cNvSpPr>
                <a:spLocks noEditPoints="1"/>
              </p:cNvSpPr>
              <p:nvPr/>
            </p:nvSpPr>
            <p:spPr bwMode="auto">
              <a:xfrm>
                <a:off x="3619501" y="3654425"/>
                <a:ext cx="288925" cy="163513"/>
              </a:xfrm>
              <a:custGeom>
                <a:avLst/>
                <a:gdLst/>
                <a:ahLst/>
                <a:cxnLst>
                  <a:cxn ang="0">
                    <a:pos x="40" y="55"/>
                  </a:cxn>
                  <a:cxn ang="0">
                    <a:pos x="41" y="55"/>
                  </a:cxn>
                  <a:cxn ang="0">
                    <a:pos x="95" y="55"/>
                  </a:cxn>
                  <a:cxn ang="0">
                    <a:pos x="97" y="55"/>
                  </a:cxn>
                  <a:cxn ang="0">
                    <a:pos x="97" y="53"/>
                  </a:cxn>
                  <a:cxn ang="0">
                    <a:pos x="78" y="15"/>
                  </a:cxn>
                  <a:cxn ang="0">
                    <a:pos x="38" y="0"/>
                  </a:cxn>
                  <a:cxn ang="0">
                    <a:pos x="1" y="13"/>
                  </a:cxn>
                  <a:cxn ang="0">
                    <a:pos x="0" y="15"/>
                  </a:cxn>
                  <a:cxn ang="0">
                    <a:pos x="1" y="16"/>
                  </a:cxn>
                  <a:cxn ang="0">
                    <a:pos x="40" y="55"/>
                  </a:cxn>
                  <a:cxn ang="0">
                    <a:pos x="32" y="34"/>
                  </a:cxn>
                  <a:cxn ang="0">
                    <a:pos x="48" y="11"/>
                  </a:cxn>
                  <a:cxn ang="0">
                    <a:pos x="53" y="12"/>
                  </a:cxn>
                  <a:cxn ang="0">
                    <a:pos x="36" y="38"/>
                  </a:cxn>
                  <a:cxn ang="0">
                    <a:pos x="32" y="34"/>
                  </a:cxn>
                  <a:cxn ang="0">
                    <a:pos x="38" y="10"/>
                  </a:cxn>
                  <a:cxn ang="0">
                    <a:pos x="40" y="10"/>
                  </a:cxn>
                  <a:cxn ang="0">
                    <a:pos x="27" y="29"/>
                  </a:cxn>
                  <a:cxn ang="0">
                    <a:pos x="23" y="25"/>
                  </a:cxn>
                  <a:cxn ang="0">
                    <a:pos x="33" y="10"/>
                  </a:cxn>
                  <a:cxn ang="0">
                    <a:pos x="38" y="10"/>
                  </a:cxn>
                  <a:cxn ang="0">
                    <a:pos x="23" y="12"/>
                  </a:cxn>
                  <a:cxn ang="0">
                    <a:pos x="18" y="19"/>
                  </a:cxn>
                  <a:cxn ang="0">
                    <a:pos x="14" y="16"/>
                  </a:cxn>
                  <a:cxn ang="0">
                    <a:pos x="21" y="13"/>
                  </a:cxn>
                  <a:cxn ang="0">
                    <a:pos x="23" y="12"/>
                  </a:cxn>
                  <a:cxn ang="0">
                    <a:pos x="69" y="46"/>
                  </a:cxn>
                  <a:cxn ang="0">
                    <a:pos x="79" y="31"/>
                  </a:cxn>
                  <a:cxn ang="0">
                    <a:pos x="81" y="34"/>
                  </a:cxn>
                  <a:cxn ang="0">
                    <a:pos x="73" y="46"/>
                  </a:cxn>
                  <a:cxn ang="0">
                    <a:pos x="69" y="46"/>
                  </a:cxn>
                  <a:cxn ang="0">
                    <a:pos x="82" y="46"/>
                  </a:cxn>
                  <a:cxn ang="0">
                    <a:pos x="85" y="41"/>
                  </a:cxn>
                  <a:cxn ang="0">
                    <a:pos x="86" y="46"/>
                  </a:cxn>
                  <a:cxn ang="0">
                    <a:pos x="82" y="46"/>
                  </a:cxn>
                  <a:cxn ang="0">
                    <a:pos x="54" y="46"/>
                  </a:cxn>
                  <a:cxn ang="0">
                    <a:pos x="70" y="22"/>
                  </a:cxn>
                  <a:cxn ang="0">
                    <a:pos x="72" y="23"/>
                  </a:cxn>
                  <a:cxn ang="0">
                    <a:pos x="74" y="25"/>
                  </a:cxn>
                  <a:cxn ang="0">
                    <a:pos x="60" y="46"/>
                  </a:cxn>
                  <a:cxn ang="0">
                    <a:pos x="54" y="46"/>
                  </a:cxn>
                  <a:cxn ang="0">
                    <a:pos x="46" y="46"/>
                  </a:cxn>
                  <a:cxn ang="0">
                    <a:pos x="44" y="46"/>
                  </a:cxn>
                  <a:cxn ang="0">
                    <a:pos x="41" y="43"/>
                  </a:cxn>
                  <a:cxn ang="0">
                    <a:pos x="60" y="15"/>
                  </a:cxn>
                  <a:cxn ang="0">
                    <a:pos x="65" y="17"/>
                  </a:cxn>
                  <a:cxn ang="0">
                    <a:pos x="46" y="46"/>
                  </a:cxn>
                  <a:cxn ang="0">
                    <a:pos x="46" y="46"/>
                  </a:cxn>
                  <a:cxn ang="0">
                    <a:pos x="46" y="46"/>
                  </a:cxn>
                </a:cxnLst>
                <a:rect l="0" t="0" r="r" b="b"/>
                <a:pathLst>
                  <a:path w="97" h="55">
                    <a:moveTo>
                      <a:pt x="40" y="55"/>
                    </a:moveTo>
                    <a:cubicBezTo>
                      <a:pt x="40" y="55"/>
                      <a:pt x="40" y="55"/>
                      <a:pt x="41" y="55"/>
                    </a:cubicBezTo>
                    <a:cubicBezTo>
                      <a:pt x="95" y="55"/>
                      <a:pt x="95" y="55"/>
                      <a:pt x="95" y="55"/>
                    </a:cubicBezTo>
                    <a:cubicBezTo>
                      <a:pt x="96" y="55"/>
                      <a:pt x="96" y="55"/>
                      <a:pt x="97" y="55"/>
                    </a:cubicBezTo>
                    <a:cubicBezTo>
                      <a:pt x="97" y="54"/>
                      <a:pt x="97" y="54"/>
                      <a:pt x="97" y="53"/>
                    </a:cubicBezTo>
                    <a:cubicBezTo>
                      <a:pt x="96" y="39"/>
                      <a:pt x="89" y="25"/>
                      <a:pt x="78" y="15"/>
                    </a:cubicBezTo>
                    <a:cubicBezTo>
                      <a:pt x="67" y="6"/>
                      <a:pt x="53" y="0"/>
                      <a:pt x="38" y="0"/>
                    </a:cubicBezTo>
                    <a:cubicBezTo>
                      <a:pt x="25" y="0"/>
                      <a:pt x="12" y="5"/>
                      <a:pt x="1" y="13"/>
                    </a:cubicBezTo>
                    <a:cubicBezTo>
                      <a:pt x="1" y="14"/>
                      <a:pt x="0" y="14"/>
                      <a:pt x="0" y="15"/>
                    </a:cubicBezTo>
                    <a:cubicBezTo>
                      <a:pt x="0" y="15"/>
                      <a:pt x="1" y="16"/>
                      <a:pt x="1" y="16"/>
                    </a:cubicBezTo>
                    <a:lnTo>
                      <a:pt x="40" y="55"/>
                    </a:lnTo>
                    <a:close/>
                    <a:moveTo>
                      <a:pt x="32" y="34"/>
                    </a:moveTo>
                    <a:cubicBezTo>
                      <a:pt x="48" y="11"/>
                      <a:pt x="48" y="11"/>
                      <a:pt x="48" y="11"/>
                    </a:cubicBezTo>
                    <a:cubicBezTo>
                      <a:pt x="50" y="11"/>
                      <a:pt x="51" y="12"/>
                      <a:pt x="53" y="12"/>
                    </a:cubicBezTo>
                    <a:cubicBezTo>
                      <a:pt x="36" y="38"/>
                      <a:pt x="36" y="38"/>
                      <a:pt x="36" y="38"/>
                    </a:cubicBezTo>
                    <a:lnTo>
                      <a:pt x="32" y="34"/>
                    </a:lnTo>
                    <a:close/>
                    <a:moveTo>
                      <a:pt x="38" y="10"/>
                    </a:moveTo>
                    <a:cubicBezTo>
                      <a:pt x="39" y="10"/>
                      <a:pt x="39" y="10"/>
                      <a:pt x="40" y="10"/>
                    </a:cubicBezTo>
                    <a:cubicBezTo>
                      <a:pt x="27" y="29"/>
                      <a:pt x="27" y="29"/>
                      <a:pt x="27" y="29"/>
                    </a:cubicBezTo>
                    <a:cubicBezTo>
                      <a:pt x="23" y="25"/>
                      <a:pt x="23" y="25"/>
                      <a:pt x="23" y="25"/>
                    </a:cubicBezTo>
                    <a:cubicBezTo>
                      <a:pt x="33" y="10"/>
                      <a:pt x="33" y="10"/>
                      <a:pt x="33" y="10"/>
                    </a:cubicBezTo>
                    <a:cubicBezTo>
                      <a:pt x="35" y="10"/>
                      <a:pt x="37" y="10"/>
                      <a:pt x="38" y="10"/>
                    </a:cubicBezTo>
                    <a:close/>
                    <a:moveTo>
                      <a:pt x="23" y="12"/>
                    </a:moveTo>
                    <a:cubicBezTo>
                      <a:pt x="18" y="19"/>
                      <a:pt x="18" y="19"/>
                      <a:pt x="18" y="19"/>
                    </a:cubicBezTo>
                    <a:cubicBezTo>
                      <a:pt x="14" y="16"/>
                      <a:pt x="14" y="16"/>
                      <a:pt x="14" y="16"/>
                    </a:cubicBezTo>
                    <a:cubicBezTo>
                      <a:pt x="16" y="15"/>
                      <a:pt x="19" y="14"/>
                      <a:pt x="21" y="13"/>
                    </a:cubicBezTo>
                    <a:cubicBezTo>
                      <a:pt x="22" y="13"/>
                      <a:pt x="22" y="12"/>
                      <a:pt x="23" y="12"/>
                    </a:cubicBezTo>
                    <a:close/>
                    <a:moveTo>
                      <a:pt x="69" y="46"/>
                    </a:moveTo>
                    <a:cubicBezTo>
                      <a:pt x="79" y="31"/>
                      <a:pt x="79" y="31"/>
                      <a:pt x="79" y="31"/>
                    </a:cubicBezTo>
                    <a:cubicBezTo>
                      <a:pt x="80" y="32"/>
                      <a:pt x="80" y="33"/>
                      <a:pt x="81" y="34"/>
                    </a:cubicBezTo>
                    <a:cubicBezTo>
                      <a:pt x="73" y="46"/>
                      <a:pt x="73" y="46"/>
                      <a:pt x="73" y="46"/>
                    </a:cubicBezTo>
                    <a:lnTo>
                      <a:pt x="69" y="46"/>
                    </a:lnTo>
                    <a:close/>
                    <a:moveTo>
                      <a:pt x="82" y="46"/>
                    </a:moveTo>
                    <a:cubicBezTo>
                      <a:pt x="85" y="41"/>
                      <a:pt x="85" y="41"/>
                      <a:pt x="85" y="41"/>
                    </a:cubicBezTo>
                    <a:cubicBezTo>
                      <a:pt x="85" y="43"/>
                      <a:pt x="86" y="44"/>
                      <a:pt x="86" y="46"/>
                    </a:cubicBezTo>
                    <a:lnTo>
                      <a:pt x="82" y="46"/>
                    </a:lnTo>
                    <a:close/>
                    <a:moveTo>
                      <a:pt x="54" y="46"/>
                    </a:moveTo>
                    <a:cubicBezTo>
                      <a:pt x="70" y="22"/>
                      <a:pt x="70" y="22"/>
                      <a:pt x="70" y="22"/>
                    </a:cubicBezTo>
                    <a:cubicBezTo>
                      <a:pt x="71" y="22"/>
                      <a:pt x="71" y="22"/>
                      <a:pt x="72" y="23"/>
                    </a:cubicBezTo>
                    <a:cubicBezTo>
                      <a:pt x="73" y="24"/>
                      <a:pt x="73" y="24"/>
                      <a:pt x="74" y="25"/>
                    </a:cubicBezTo>
                    <a:cubicBezTo>
                      <a:pt x="60" y="46"/>
                      <a:pt x="60" y="46"/>
                      <a:pt x="60" y="46"/>
                    </a:cubicBezTo>
                    <a:lnTo>
                      <a:pt x="54" y="46"/>
                    </a:lnTo>
                    <a:close/>
                    <a:moveTo>
                      <a:pt x="46" y="46"/>
                    </a:moveTo>
                    <a:cubicBezTo>
                      <a:pt x="44" y="46"/>
                      <a:pt x="44" y="46"/>
                      <a:pt x="44" y="46"/>
                    </a:cubicBezTo>
                    <a:cubicBezTo>
                      <a:pt x="41" y="43"/>
                      <a:pt x="41" y="43"/>
                      <a:pt x="41" y="43"/>
                    </a:cubicBezTo>
                    <a:cubicBezTo>
                      <a:pt x="60" y="15"/>
                      <a:pt x="60" y="15"/>
                      <a:pt x="60" y="15"/>
                    </a:cubicBezTo>
                    <a:cubicBezTo>
                      <a:pt x="62" y="16"/>
                      <a:pt x="63" y="16"/>
                      <a:pt x="65" y="17"/>
                    </a:cubicBezTo>
                    <a:lnTo>
                      <a:pt x="46" y="46"/>
                    </a:lnTo>
                    <a:close/>
                    <a:moveTo>
                      <a:pt x="46" y="46"/>
                    </a:moveTo>
                    <a:cubicBezTo>
                      <a:pt x="46" y="46"/>
                      <a:pt x="46" y="46"/>
                      <a:pt x="46" y="46"/>
                    </a:cubicBezTo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4572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sym typeface="+mn-lt"/>
                </a:endParaRPr>
              </a:p>
            </p:txBody>
          </p:sp>
          <p:sp>
            <p:nvSpPr>
              <p:cNvPr id="21" name="Freeform 10"/>
              <p:cNvSpPr>
                <a:spLocks noEditPoints="1"/>
              </p:cNvSpPr>
              <p:nvPr/>
            </p:nvSpPr>
            <p:spPr bwMode="auto">
              <a:xfrm>
                <a:off x="3557588" y="3719513"/>
                <a:ext cx="157163" cy="254000"/>
              </a:xfrm>
              <a:custGeom>
                <a:avLst/>
                <a:gdLst/>
                <a:ahLst/>
                <a:cxnLst>
                  <a:cxn ang="0">
                    <a:pos x="53" y="37"/>
                  </a:cxn>
                  <a:cxn ang="0">
                    <a:pos x="16" y="0"/>
                  </a:cxn>
                  <a:cxn ang="0">
                    <a:pos x="14" y="0"/>
                  </a:cxn>
                  <a:cxn ang="0">
                    <a:pos x="13" y="0"/>
                  </a:cxn>
                  <a:cxn ang="0">
                    <a:pos x="0" y="38"/>
                  </a:cxn>
                  <a:cxn ang="0">
                    <a:pos x="23" y="85"/>
                  </a:cxn>
                  <a:cxn ang="0">
                    <a:pos x="24" y="85"/>
                  </a:cxn>
                  <a:cxn ang="0">
                    <a:pos x="24" y="85"/>
                  </a:cxn>
                  <a:cxn ang="0">
                    <a:pos x="26" y="84"/>
                  </a:cxn>
                  <a:cxn ang="0">
                    <a:pos x="53" y="40"/>
                  </a:cxn>
                  <a:cxn ang="0">
                    <a:pos x="53" y="37"/>
                  </a:cxn>
                  <a:cxn ang="0">
                    <a:pos x="42" y="40"/>
                  </a:cxn>
                  <a:cxn ang="0">
                    <a:pos x="22" y="71"/>
                  </a:cxn>
                  <a:cxn ang="0">
                    <a:pos x="15" y="60"/>
                  </a:cxn>
                  <a:cxn ang="0">
                    <a:pos x="9" y="38"/>
                  </a:cxn>
                  <a:cxn ang="0">
                    <a:pos x="12" y="20"/>
                  </a:cxn>
                  <a:cxn ang="0">
                    <a:pos x="16" y="14"/>
                  </a:cxn>
                  <a:cxn ang="0">
                    <a:pos x="42" y="40"/>
                  </a:cxn>
                  <a:cxn ang="0">
                    <a:pos x="42" y="40"/>
                  </a:cxn>
                  <a:cxn ang="0">
                    <a:pos x="42" y="40"/>
                  </a:cxn>
                </a:cxnLst>
                <a:rect l="0" t="0" r="r" b="b"/>
                <a:pathLst>
                  <a:path w="53" h="85">
                    <a:moveTo>
                      <a:pt x="53" y="37"/>
                    </a:moveTo>
                    <a:cubicBezTo>
                      <a:pt x="16" y="0"/>
                      <a:pt x="16" y="0"/>
                      <a:pt x="16" y="0"/>
                    </a:cubicBezTo>
                    <a:cubicBezTo>
                      <a:pt x="15" y="0"/>
                      <a:pt x="15" y="0"/>
                      <a:pt x="14" y="0"/>
                    </a:cubicBezTo>
                    <a:cubicBezTo>
                      <a:pt x="14" y="0"/>
                      <a:pt x="13" y="0"/>
                      <a:pt x="13" y="0"/>
                    </a:cubicBezTo>
                    <a:cubicBezTo>
                      <a:pt x="5" y="11"/>
                      <a:pt x="0" y="24"/>
                      <a:pt x="0" y="38"/>
                    </a:cubicBezTo>
                    <a:cubicBezTo>
                      <a:pt x="0" y="56"/>
                      <a:pt x="8" y="73"/>
                      <a:pt x="23" y="85"/>
                    </a:cubicBezTo>
                    <a:cubicBezTo>
                      <a:pt x="23" y="85"/>
                      <a:pt x="24" y="85"/>
                      <a:pt x="24" y="85"/>
                    </a:cubicBezTo>
                    <a:cubicBezTo>
                      <a:pt x="24" y="85"/>
                      <a:pt x="24" y="85"/>
                      <a:pt x="24" y="85"/>
                    </a:cubicBezTo>
                    <a:cubicBezTo>
                      <a:pt x="25" y="85"/>
                      <a:pt x="25" y="85"/>
                      <a:pt x="26" y="84"/>
                    </a:cubicBezTo>
                    <a:cubicBezTo>
                      <a:pt x="53" y="40"/>
                      <a:pt x="53" y="40"/>
                      <a:pt x="53" y="40"/>
                    </a:cubicBezTo>
                    <a:cubicBezTo>
                      <a:pt x="53" y="39"/>
                      <a:pt x="53" y="38"/>
                      <a:pt x="53" y="37"/>
                    </a:cubicBezTo>
                    <a:close/>
                    <a:moveTo>
                      <a:pt x="42" y="40"/>
                    </a:moveTo>
                    <a:cubicBezTo>
                      <a:pt x="22" y="71"/>
                      <a:pt x="22" y="71"/>
                      <a:pt x="22" y="71"/>
                    </a:cubicBezTo>
                    <a:cubicBezTo>
                      <a:pt x="19" y="68"/>
                      <a:pt x="17" y="64"/>
                      <a:pt x="15" y="60"/>
                    </a:cubicBezTo>
                    <a:cubicBezTo>
                      <a:pt x="11" y="53"/>
                      <a:pt x="9" y="46"/>
                      <a:pt x="9" y="38"/>
                    </a:cubicBezTo>
                    <a:cubicBezTo>
                      <a:pt x="9" y="32"/>
                      <a:pt x="10" y="26"/>
                      <a:pt x="12" y="20"/>
                    </a:cubicBezTo>
                    <a:cubicBezTo>
                      <a:pt x="13" y="18"/>
                      <a:pt x="14" y="16"/>
                      <a:pt x="16" y="14"/>
                    </a:cubicBezTo>
                    <a:lnTo>
                      <a:pt x="42" y="40"/>
                    </a:lnTo>
                    <a:close/>
                    <a:moveTo>
                      <a:pt x="42" y="40"/>
                    </a:moveTo>
                    <a:cubicBezTo>
                      <a:pt x="42" y="40"/>
                      <a:pt x="42" y="40"/>
                      <a:pt x="42" y="40"/>
                    </a:cubicBezTo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4572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sym typeface="+mn-lt"/>
                </a:endParaRPr>
              </a:p>
            </p:txBody>
          </p:sp>
          <p:sp>
            <p:nvSpPr>
              <p:cNvPr id="22" name="Freeform 11"/>
              <p:cNvSpPr>
                <a:spLocks noEditPoints="1"/>
              </p:cNvSpPr>
              <p:nvPr/>
            </p:nvSpPr>
            <p:spPr bwMode="auto">
              <a:xfrm>
                <a:off x="3656013" y="3844925"/>
                <a:ext cx="252413" cy="165100"/>
              </a:xfrm>
              <a:custGeom>
                <a:avLst/>
                <a:gdLst/>
                <a:ahLst/>
                <a:cxnLst>
                  <a:cxn ang="0">
                    <a:pos x="83" y="0"/>
                  </a:cxn>
                  <a:cxn ang="0">
                    <a:pos x="30" y="0"/>
                  </a:cxn>
                  <a:cxn ang="0">
                    <a:pos x="28" y="1"/>
                  </a:cxn>
                  <a:cxn ang="0">
                    <a:pos x="0" y="47"/>
                  </a:cxn>
                  <a:cxn ang="0">
                    <a:pos x="0" y="48"/>
                  </a:cxn>
                  <a:cxn ang="0">
                    <a:pos x="1" y="49"/>
                  </a:cxn>
                  <a:cxn ang="0">
                    <a:pos x="26" y="55"/>
                  </a:cxn>
                  <a:cxn ang="0">
                    <a:pos x="66" y="40"/>
                  </a:cxn>
                  <a:cxn ang="0">
                    <a:pos x="85" y="2"/>
                  </a:cxn>
                  <a:cxn ang="0">
                    <a:pos x="85" y="1"/>
                  </a:cxn>
                  <a:cxn ang="0">
                    <a:pos x="83" y="0"/>
                  </a:cxn>
                  <a:cxn ang="0">
                    <a:pos x="83" y="0"/>
                  </a:cxn>
                  <a:cxn ang="0">
                    <a:pos x="83" y="0"/>
                  </a:cxn>
                </a:cxnLst>
                <a:rect l="0" t="0" r="r" b="b"/>
                <a:pathLst>
                  <a:path w="85" h="55">
                    <a:moveTo>
                      <a:pt x="83" y="0"/>
                    </a:moveTo>
                    <a:cubicBezTo>
                      <a:pt x="30" y="0"/>
                      <a:pt x="30" y="0"/>
                      <a:pt x="30" y="0"/>
                    </a:cubicBezTo>
                    <a:cubicBezTo>
                      <a:pt x="29" y="0"/>
                      <a:pt x="29" y="0"/>
                      <a:pt x="28" y="1"/>
                    </a:cubicBezTo>
                    <a:cubicBezTo>
                      <a:pt x="0" y="47"/>
                      <a:pt x="0" y="47"/>
                      <a:pt x="0" y="47"/>
                    </a:cubicBezTo>
                    <a:cubicBezTo>
                      <a:pt x="0" y="47"/>
                      <a:pt x="0" y="48"/>
                      <a:pt x="0" y="48"/>
                    </a:cubicBezTo>
                    <a:cubicBezTo>
                      <a:pt x="0" y="49"/>
                      <a:pt x="0" y="49"/>
                      <a:pt x="1" y="49"/>
                    </a:cubicBezTo>
                    <a:cubicBezTo>
                      <a:pt x="9" y="53"/>
                      <a:pt x="17" y="55"/>
                      <a:pt x="26" y="55"/>
                    </a:cubicBezTo>
                    <a:cubicBezTo>
                      <a:pt x="41" y="55"/>
                      <a:pt x="55" y="50"/>
                      <a:pt x="66" y="40"/>
                    </a:cubicBezTo>
                    <a:cubicBezTo>
                      <a:pt x="77" y="30"/>
                      <a:pt x="84" y="17"/>
                      <a:pt x="85" y="2"/>
                    </a:cubicBezTo>
                    <a:cubicBezTo>
                      <a:pt x="85" y="2"/>
                      <a:pt x="85" y="1"/>
                      <a:pt x="85" y="1"/>
                    </a:cubicBezTo>
                    <a:cubicBezTo>
                      <a:pt x="84" y="0"/>
                      <a:pt x="84" y="0"/>
                      <a:pt x="83" y="0"/>
                    </a:cubicBezTo>
                    <a:close/>
                    <a:moveTo>
                      <a:pt x="83" y="0"/>
                    </a:moveTo>
                    <a:cubicBezTo>
                      <a:pt x="83" y="0"/>
                      <a:pt x="83" y="0"/>
                      <a:pt x="83" y="0"/>
                    </a:cubicBezTo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4572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sym typeface="+mn-lt"/>
                </a:endParaRPr>
              </a:p>
            </p:txBody>
          </p:sp>
        </p:grpSp>
        <p:grpSp>
          <p:nvGrpSpPr>
            <p:cNvPr id="8" name="Group 48"/>
            <p:cNvGrpSpPr/>
            <p:nvPr/>
          </p:nvGrpSpPr>
          <p:grpSpPr>
            <a:xfrm>
              <a:off x="7025097" y="2098082"/>
              <a:ext cx="606660" cy="539784"/>
              <a:chOff x="5189538" y="1973263"/>
              <a:chExt cx="403225" cy="358775"/>
            </a:xfrm>
          </p:grpSpPr>
          <p:sp>
            <p:nvSpPr>
              <p:cNvPr id="18" name="Freeform 12"/>
              <p:cNvSpPr>
                <a:spLocks noEditPoints="1"/>
              </p:cNvSpPr>
              <p:nvPr/>
            </p:nvSpPr>
            <p:spPr bwMode="auto">
              <a:xfrm>
                <a:off x="5310188" y="1973263"/>
                <a:ext cx="282575" cy="260350"/>
              </a:xfrm>
              <a:custGeom>
                <a:avLst/>
                <a:gdLst/>
                <a:ahLst/>
                <a:cxnLst>
                  <a:cxn ang="0">
                    <a:pos x="3" y="23"/>
                  </a:cxn>
                  <a:cxn ang="0">
                    <a:pos x="13" y="25"/>
                  </a:cxn>
                  <a:cxn ang="0">
                    <a:pos x="54" y="33"/>
                  </a:cxn>
                  <a:cxn ang="0">
                    <a:pos x="65" y="55"/>
                  </a:cxn>
                  <a:cxn ang="0">
                    <a:pos x="61" y="52"/>
                  </a:cxn>
                  <a:cxn ang="0">
                    <a:pos x="56" y="52"/>
                  </a:cxn>
                  <a:cxn ang="0">
                    <a:pos x="55" y="57"/>
                  </a:cxn>
                  <a:cxn ang="0">
                    <a:pos x="65" y="85"/>
                  </a:cxn>
                  <a:cxn ang="0">
                    <a:pos x="68" y="87"/>
                  </a:cxn>
                  <a:cxn ang="0">
                    <a:pos x="72" y="86"/>
                  </a:cxn>
                  <a:cxn ang="0">
                    <a:pos x="93" y="65"/>
                  </a:cxn>
                  <a:cxn ang="0">
                    <a:pos x="94" y="60"/>
                  </a:cxn>
                  <a:cxn ang="0">
                    <a:pos x="90" y="58"/>
                  </a:cxn>
                  <a:cxn ang="0">
                    <a:pos x="83" y="60"/>
                  </a:cxn>
                  <a:cxn ang="0">
                    <a:pos x="67" y="21"/>
                  </a:cxn>
                  <a:cxn ang="0">
                    <a:pos x="6" y="9"/>
                  </a:cxn>
                  <a:cxn ang="0">
                    <a:pos x="1" y="15"/>
                  </a:cxn>
                  <a:cxn ang="0">
                    <a:pos x="3" y="23"/>
                  </a:cxn>
                  <a:cxn ang="0">
                    <a:pos x="3" y="23"/>
                  </a:cxn>
                  <a:cxn ang="0">
                    <a:pos x="3" y="23"/>
                  </a:cxn>
                </a:cxnLst>
                <a:rect l="0" t="0" r="r" b="b"/>
                <a:pathLst>
                  <a:path w="95" h="87">
                    <a:moveTo>
                      <a:pt x="3" y="23"/>
                    </a:moveTo>
                    <a:cubicBezTo>
                      <a:pt x="6" y="26"/>
                      <a:pt x="10" y="27"/>
                      <a:pt x="13" y="25"/>
                    </a:cubicBezTo>
                    <a:cubicBezTo>
                      <a:pt x="27" y="20"/>
                      <a:pt x="43" y="22"/>
                      <a:pt x="54" y="33"/>
                    </a:cubicBezTo>
                    <a:cubicBezTo>
                      <a:pt x="60" y="39"/>
                      <a:pt x="64" y="47"/>
                      <a:pt x="65" y="55"/>
                    </a:cubicBezTo>
                    <a:cubicBezTo>
                      <a:pt x="61" y="52"/>
                      <a:pt x="61" y="52"/>
                      <a:pt x="61" y="52"/>
                    </a:cubicBezTo>
                    <a:cubicBezTo>
                      <a:pt x="59" y="51"/>
                      <a:pt x="57" y="51"/>
                      <a:pt x="56" y="52"/>
                    </a:cubicBezTo>
                    <a:cubicBezTo>
                      <a:pt x="55" y="53"/>
                      <a:pt x="54" y="55"/>
                      <a:pt x="55" y="57"/>
                    </a:cubicBezTo>
                    <a:cubicBezTo>
                      <a:pt x="65" y="85"/>
                      <a:pt x="65" y="85"/>
                      <a:pt x="65" y="85"/>
                    </a:cubicBezTo>
                    <a:cubicBezTo>
                      <a:pt x="66" y="86"/>
                      <a:pt x="67" y="87"/>
                      <a:pt x="68" y="87"/>
                    </a:cubicBezTo>
                    <a:cubicBezTo>
                      <a:pt x="69" y="87"/>
                      <a:pt x="71" y="87"/>
                      <a:pt x="72" y="86"/>
                    </a:cubicBezTo>
                    <a:cubicBezTo>
                      <a:pt x="93" y="65"/>
                      <a:pt x="93" y="65"/>
                      <a:pt x="93" y="65"/>
                    </a:cubicBezTo>
                    <a:cubicBezTo>
                      <a:pt x="94" y="64"/>
                      <a:pt x="95" y="62"/>
                      <a:pt x="94" y="60"/>
                    </a:cubicBezTo>
                    <a:cubicBezTo>
                      <a:pt x="93" y="59"/>
                      <a:pt x="91" y="58"/>
                      <a:pt x="90" y="58"/>
                    </a:cubicBezTo>
                    <a:cubicBezTo>
                      <a:pt x="83" y="60"/>
                      <a:pt x="83" y="60"/>
                      <a:pt x="83" y="60"/>
                    </a:cubicBezTo>
                    <a:cubicBezTo>
                      <a:pt x="83" y="46"/>
                      <a:pt x="77" y="31"/>
                      <a:pt x="67" y="21"/>
                    </a:cubicBezTo>
                    <a:cubicBezTo>
                      <a:pt x="50" y="4"/>
                      <a:pt x="26" y="0"/>
                      <a:pt x="6" y="9"/>
                    </a:cubicBezTo>
                    <a:cubicBezTo>
                      <a:pt x="4" y="10"/>
                      <a:pt x="1" y="12"/>
                      <a:pt x="1" y="15"/>
                    </a:cubicBezTo>
                    <a:cubicBezTo>
                      <a:pt x="0" y="18"/>
                      <a:pt x="1" y="21"/>
                      <a:pt x="3" y="23"/>
                    </a:cubicBezTo>
                    <a:close/>
                    <a:moveTo>
                      <a:pt x="3" y="23"/>
                    </a:moveTo>
                    <a:cubicBezTo>
                      <a:pt x="3" y="23"/>
                      <a:pt x="3" y="23"/>
                      <a:pt x="3" y="23"/>
                    </a:cubicBezTo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4572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sym typeface="+mn-lt"/>
                </a:endParaRPr>
              </a:p>
            </p:txBody>
          </p:sp>
          <p:sp>
            <p:nvSpPr>
              <p:cNvPr id="19" name="Freeform 13"/>
              <p:cNvSpPr>
                <a:spLocks noEditPoints="1"/>
              </p:cNvSpPr>
              <p:nvPr/>
            </p:nvSpPr>
            <p:spPr bwMode="auto">
              <a:xfrm>
                <a:off x="5189538" y="2071688"/>
                <a:ext cx="280988" cy="260350"/>
              </a:xfrm>
              <a:custGeom>
                <a:avLst/>
                <a:gdLst/>
                <a:ahLst/>
                <a:cxnLst>
                  <a:cxn ang="0">
                    <a:pos x="94" y="72"/>
                  </a:cxn>
                  <a:cxn ang="0">
                    <a:pos x="91" y="64"/>
                  </a:cxn>
                  <a:cxn ang="0">
                    <a:pos x="82" y="62"/>
                  </a:cxn>
                  <a:cxn ang="0">
                    <a:pos x="41" y="54"/>
                  </a:cxn>
                  <a:cxn ang="0">
                    <a:pos x="30" y="32"/>
                  </a:cxn>
                  <a:cxn ang="0">
                    <a:pos x="34" y="35"/>
                  </a:cxn>
                  <a:cxn ang="0">
                    <a:pos x="39" y="35"/>
                  </a:cxn>
                  <a:cxn ang="0">
                    <a:pos x="40" y="31"/>
                  </a:cxn>
                  <a:cxn ang="0">
                    <a:pos x="29" y="2"/>
                  </a:cxn>
                  <a:cxn ang="0">
                    <a:pos x="26" y="0"/>
                  </a:cxn>
                  <a:cxn ang="0">
                    <a:pos x="23" y="1"/>
                  </a:cxn>
                  <a:cxn ang="0">
                    <a:pos x="1" y="22"/>
                  </a:cxn>
                  <a:cxn ang="0">
                    <a:pos x="1" y="27"/>
                  </a:cxn>
                  <a:cxn ang="0">
                    <a:pos x="5" y="29"/>
                  </a:cxn>
                  <a:cxn ang="0">
                    <a:pos x="12" y="28"/>
                  </a:cxn>
                  <a:cxn ang="0">
                    <a:pos x="28" y="66"/>
                  </a:cxn>
                  <a:cxn ang="0">
                    <a:pos x="88" y="79"/>
                  </a:cxn>
                  <a:cxn ang="0">
                    <a:pos x="94" y="72"/>
                  </a:cxn>
                  <a:cxn ang="0">
                    <a:pos x="94" y="72"/>
                  </a:cxn>
                  <a:cxn ang="0">
                    <a:pos x="94" y="72"/>
                  </a:cxn>
                </a:cxnLst>
                <a:rect l="0" t="0" r="r" b="b"/>
                <a:pathLst>
                  <a:path w="94" h="87">
                    <a:moveTo>
                      <a:pt x="94" y="72"/>
                    </a:moveTo>
                    <a:cubicBezTo>
                      <a:pt x="94" y="69"/>
                      <a:pt x="93" y="66"/>
                      <a:pt x="91" y="64"/>
                    </a:cubicBezTo>
                    <a:cubicBezTo>
                      <a:pt x="89" y="61"/>
                      <a:pt x="85" y="61"/>
                      <a:pt x="82" y="62"/>
                    </a:cubicBezTo>
                    <a:cubicBezTo>
                      <a:pt x="68" y="68"/>
                      <a:pt x="52" y="65"/>
                      <a:pt x="41" y="54"/>
                    </a:cubicBezTo>
                    <a:cubicBezTo>
                      <a:pt x="34" y="48"/>
                      <a:pt x="31" y="40"/>
                      <a:pt x="30" y="32"/>
                    </a:cubicBezTo>
                    <a:cubicBezTo>
                      <a:pt x="34" y="35"/>
                      <a:pt x="34" y="35"/>
                      <a:pt x="34" y="35"/>
                    </a:cubicBezTo>
                    <a:cubicBezTo>
                      <a:pt x="35" y="36"/>
                      <a:pt x="37" y="36"/>
                      <a:pt x="39" y="35"/>
                    </a:cubicBezTo>
                    <a:cubicBezTo>
                      <a:pt x="40" y="34"/>
                      <a:pt x="41" y="32"/>
                      <a:pt x="40" y="31"/>
                    </a:cubicBezTo>
                    <a:cubicBezTo>
                      <a:pt x="29" y="2"/>
                      <a:pt x="29" y="2"/>
                      <a:pt x="29" y="2"/>
                    </a:cubicBezTo>
                    <a:cubicBezTo>
                      <a:pt x="29" y="1"/>
                      <a:pt x="28" y="0"/>
                      <a:pt x="26" y="0"/>
                    </a:cubicBezTo>
                    <a:cubicBezTo>
                      <a:pt x="25" y="0"/>
                      <a:pt x="24" y="0"/>
                      <a:pt x="23" y="1"/>
                    </a:cubicBezTo>
                    <a:cubicBezTo>
                      <a:pt x="1" y="22"/>
                      <a:pt x="1" y="22"/>
                      <a:pt x="1" y="22"/>
                    </a:cubicBezTo>
                    <a:cubicBezTo>
                      <a:pt x="0" y="24"/>
                      <a:pt x="0" y="25"/>
                      <a:pt x="1" y="27"/>
                    </a:cubicBezTo>
                    <a:cubicBezTo>
                      <a:pt x="2" y="28"/>
                      <a:pt x="3" y="29"/>
                      <a:pt x="5" y="29"/>
                    </a:cubicBezTo>
                    <a:cubicBezTo>
                      <a:pt x="12" y="28"/>
                      <a:pt x="12" y="28"/>
                      <a:pt x="12" y="28"/>
                    </a:cubicBezTo>
                    <a:cubicBezTo>
                      <a:pt x="12" y="42"/>
                      <a:pt x="17" y="56"/>
                      <a:pt x="28" y="66"/>
                    </a:cubicBezTo>
                    <a:cubicBezTo>
                      <a:pt x="44" y="83"/>
                      <a:pt x="68" y="87"/>
                      <a:pt x="88" y="79"/>
                    </a:cubicBezTo>
                    <a:cubicBezTo>
                      <a:pt x="91" y="77"/>
                      <a:pt x="93" y="75"/>
                      <a:pt x="94" y="72"/>
                    </a:cubicBezTo>
                    <a:close/>
                    <a:moveTo>
                      <a:pt x="94" y="72"/>
                    </a:moveTo>
                    <a:cubicBezTo>
                      <a:pt x="94" y="72"/>
                      <a:pt x="94" y="72"/>
                      <a:pt x="94" y="72"/>
                    </a:cubicBezTo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4572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sym typeface="+mn-lt"/>
                </a:endParaRPr>
              </a:p>
            </p:txBody>
          </p:sp>
        </p:grpSp>
        <p:grpSp>
          <p:nvGrpSpPr>
            <p:cNvPr id="9" name="Group 51"/>
            <p:cNvGrpSpPr/>
            <p:nvPr/>
          </p:nvGrpSpPr>
          <p:grpSpPr>
            <a:xfrm>
              <a:off x="6984495" y="4601150"/>
              <a:ext cx="599495" cy="587552"/>
              <a:chOff x="5162551" y="3636963"/>
              <a:chExt cx="398463" cy="390525"/>
            </a:xfrm>
          </p:grpSpPr>
          <p:sp>
            <p:nvSpPr>
              <p:cNvPr id="15" name="Freeform 14"/>
              <p:cNvSpPr>
                <a:spLocks noEditPoints="1"/>
              </p:cNvSpPr>
              <p:nvPr/>
            </p:nvSpPr>
            <p:spPr bwMode="auto">
              <a:xfrm>
                <a:off x="5162551" y="3636963"/>
                <a:ext cx="233363" cy="234950"/>
              </a:xfrm>
              <a:custGeom>
                <a:avLst/>
                <a:gdLst/>
                <a:ahLst/>
                <a:cxnLst>
                  <a:cxn ang="0">
                    <a:pos x="9" y="48"/>
                  </a:cxn>
                  <a:cxn ang="0">
                    <a:pos x="12" y="55"/>
                  </a:cxn>
                  <a:cxn ang="0">
                    <a:pos x="8" y="59"/>
                  </a:cxn>
                  <a:cxn ang="0">
                    <a:pos x="8" y="64"/>
                  </a:cxn>
                  <a:cxn ang="0">
                    <a:pos x="14" y="70"/>
                  </a:cxn>
                  <a:cxn ang="0">
                    <a:pos x="19" y="70"/>
                  </a:cxn>
                  <a:cxn ang="0">
                    <a:pos x="23" y="67"/>
                  </a:cxn>
                  <a:cxn ang="0">
                    <a:pos x="31" y="70"/>
                  </a:cxn>
                  <a:cxn ang="0">
                    <a:pos x="31" y="75"/>
                  </a:cxn>
                  <a:cxn ang="0">
                    <a:pos x="35" y="79"/>
                  </a:cxn>
                  <a:cxn ang="0">
                    <a:pos x="43" y="79"/>
                  </a:cxn>
                  <a:cxn ang="0">
                    <a:pos x="47" y="75"/>
                  </a:cxn>
                  <a:cxn ang="0">
                    <a:pos x="47" y="70"/>
                  </a:cxn>
                  <a:cxn ang="0">
                    <a:pos x="55" y="67"/>
                  </a:cxn>
                  <a:cxn ang="0">
                    <a:pos x="59" y="70"/>
                  </a:cxn>
                  <a:cxn ang="0">
                    <a:pos x="64" y="70"/>
                  </a:cxn>
                  <a:cxn ang="0">
                    <a:pos x="70" y="64"/>
                  </a:cxn>
                  <a:cxn ang="0">
                    <a:pos x="70" y="59"/>
                  </a:cxn>
                  <a:cxn ang="0">
                    <a:pos x="67" y="55"/>
                  </a:cxn>
                  <a:cxn ang="0">
                    <a:pos x="70" y="48"/>
                  </a:cxn>
                  <a:cxn ang="0">
                    <a:pos x="75" y="47"/>
                  </a:cxn>
                  <a:cxn ang="0">
                    <a:pos x="78" y="43"/>
                  </a:cxn>
                  <a:cxn ang="0">
                    <a:pos x="78" y="35"/>
                  </a:cxn>
                  <a:cxn ang="0">
                    <a:pos x="75" y="31"/>
                  </a:cxn>
                  <a:cxn ang="0">
                    <a:pos x="70" y="31"/>
                  </a:cxn>
                  <a:cxn ang="0">
                    <a:pos x="67" y="23"/>
                  </a:cxn>
                  <a:cxn ang="0">
                    <a:pos x="70" y="20"/>
                  </a:cxn>
                  <a:cxn ang="0">
                    <a:pos x="70" y="15"/>
                  </a:cxn>
                  <a:cxn ang="0">
                    <a:pos x="64" y="9"/>
                  </a:cxn>
                  <a:cxn ang="0">
                    <a:pos x="59" y="8"/>
                  </a:cxn>
                  <a:cxn ang="0">
                    <a:pos x="56" y="11"/>
                  </a:cxn>
                  <a:cxn ang="0">
                    <a:pos x="48" y="8"/>
                  </a:cxn>
                  <a:cxn ang="0">
                    <a:pos x="47" y="3"/>
                  </a:cxn>
                  <a:cxn ang="0">
                    <a:pos x="44" y="0"/>
                  </a:cxn>
                  <a:cxn ang="0">
                    <a:pos x="35" y="0"/>
                  </a:cxn>
                  <a:cxn ang="0">
                    <a:pos x="32" y="3"/>
                  </a:cxn>
                  <a:cxn ang="0">
                    <a:pos x="31" y="8"/>
                  </a:cxn>
                  <a:cxn ang="0">
                    <a:pos x="23" y="12"/>
                  </a:cxn>
                  <a:cxn ang="0">
                    <a:pos x="19" y="8"/>
                  </a:cxn>
                  <a:cxn ang="0">
                    <a:pos x="14" y="9"/>
                  </a:cxn>
                  <a:cxn ang="0">
                    <a:pos x="8" y="15"/>
                  </a:cxn>
                  <a:cxn ang="0">
                    <a:pos x="8" y="20"/>
                  </a:cxn>
                  <a:cxn ang="0">
                    <a:pos x="11" y="24"/>
                  </a:cxn>
                  <a:cxn ang="0">
                    <a:pos x="8" y="31"/>
                  </a:cxn>
                  <a:cxn ang="0">
                    <a:pos x="3" y="32"/>
                  </a:cxn>
                  <a:cxn ang="0">
                    <a:pos x="0" y="35"/>
                  </a:cxn>
                  <a:cxn ang="0">
                    <a:pos x="0" y="44"/>
                  </a:cxn>
                  <a:cxn ang="0">
                    <a:pos x="3" y="47"/>
                  </a:cxn>
                  <a:cxn ang="0">
                    <a:pos x="9" y="48"/>
                  </a:cxn>
                  <a:cxn ang="0">
                    <a:pos x="39" y="25"/>
                  </a:cxn>
                  <a:cxn ang="0">
                    <a:pos x="53" y="39"/>
                  </a:cxn>
                  <a:cxn ang="0">
                    <a:pos x="39" y="53"/>
                  </a:cxn>
                  <a:cxn ang="0">
                    <a:pos x="25" y="39"/>
                  </a:cxn>
                  <a:cxn ang="0">
                    <a:pos x="39" y="25"/>
                  </a:cxn>
                  <a:cxn ang="0">
                    <a:pos x="39" y="25"/>
                  </a:cxn>
                  <a:cxn ang="0">
                    <a:pos x="39" y="25"/>
                  </a:cxn>
                </a:cxnLst>
                <a:rect l="0" t="0" r="r" b="b"/>
                <a:pathLst>
                  <a:path w="78" h="79">
                    <a:moveTo>
                      <a:pt x="9" y="48"/>
                    </a:moveTo>
                    <a:cubicBezTo>
                      <a:pt x="9" y="50"/>
                      <a:pt x="10" y="53"/>
                      <a:pt x="12" y="55"/>
                    </a:cubicBezTo>
                    <a:cubicBezTo>
                      <a:pt x="8" y="59"/>
                      <a:pt x="8" y="59"/>
                      <a:pt x="8" y="59"/>
                    </a:cubicBezTo>
                    <a:cubicBezTo>
                      <a:pt x="7" y="61"/>
                      <a:pt x="7" y="63"/>
                      <a:pt x="8" y="64"/>
                    </a:cubicBezTo>
                    <a:cubicBezTo>
                      <a:pt x="14" y="70"/>
                      <a:pt x="14" y="70"/>
                      <a:pt x="14" y="70"/>
                    </a:cubicBezTo>
                    <a:cubicBezTo>
                      <a:pt x="16" y="71"/>
                      <a:pt x="18" y="71"/>
                      <a:pt x="19" y="70"/>
                    </a:cubicBezTo>
                    <a:cubicBezTo>
                      <a:pt x="23" y="67"/>
                      <a:pt x="23" y="67"/>
                      <a:pt x="23" y="67"/>
                    </a:cubicBezTo>
                    <a:cubicBezTo>
                      <a:pt x="26" y="68"/>
                      <a:pt x="28" y="69"/>
                      <a:pt x="31" y="70"/>
                    </a:cubicBezTo>
                    <a:cubicBezTo>
                      <a:pt x="31" y="75"/>
                      <a:pt x="31" y="75"/>
                      <a:pt x="31" y="75"/>
                    </a:cubicBezTo>
                    <a:cubicBezTo>
                      <a:pt x="31" y="77"/>
                      <a:pt x="33" y="79"/>
                      <a:pt x="35" y="79"/>
                    </a:cubicBezTo>
                    <a:cubicBezTo>
                      <a:pt x="43" y="79"/>
                      <a:pt x="43" y="79"/>
                      <a:pt x="43" y="79"/>
                    </a:cubicBezTo>
                    <a:cubicBezTo>
                      <a:pt x="45" y="79"/>
                      <a:pt x="47" y="77"/>
                      <a:pt x="47" y="75"/>
                    </a:cubicBezTo>
                    <a:cubicBezTo>
                      <a:pt x="47" y="70"/>
                      <a:pt x="47" y="70"/>
                      <a:pt x="47" y="70"/>
                    </a:cubicBezTo>
                    <a:cubicBezTo>
                      <a:pt x="50" y="69"/>
                      <a:pt x="53" y="68"/>
                      <a:pt x="55" y="67"/>
                    </a:cubicBezTo>
                    <a:cubicBezTo>
                      <a:pt x="59" y="70"/>
                      <a:pt x="59" y="70"/>
                      <a:pt x="59" y="70"/>
                    </a:cubicBezTo>
                    <a:cubicBezTo>
                      <a:pt x="61" y="71"/>
                      <a:pt x="63" y="71"/>
                      <a:pt x="64" y="70"/>
                    </a:cubicBezTo>
                    <a:cubicBezTo>
                      <a:pt x="70" y="64"/>
                      <a:pt x="70" y="64"/>
                      <a:pt x="70" y="64"/>
                    </a:cubicBezTo>
                    <a:cubicBezTo>
                      <a:pt x="71" y="63"/>
                      <a:pt x="71" y="61"/>
                      <a:pt x="70" y="59"/>
                    </a:cubicBezTo>
                    <a:cubicBezTo>
                      <a:pt x="67" y="55"/>
                      <a:pt x="67" y="55"/>
                      <a:pt x="67" y="55"/>
                    </a:cubicBezTo>
                    <a:cubicBezTo>
                      <a:pt x="68" y="53"/>
                      <a:pt x="70" y="50"/>
                      <a:pt x="70" y="48"/>
                    </a:cubicBezTo>
                    <a:cubicBezTo>
                      <a:pt x="75" y="47"/>
                      <a:pt x="75" y="47"/>
                      <a:pt x="75" y="47"/>
                    </a:cubicBezTo>
                    <a:cubicBezTo>
                      <a:pt x="77" y="47"/>
                      <a:pt x="78" y="45"/>
                      <a:pt x="78" y="43"/>
                    </a:cubicBezTo>
                    <a:cubicBezTo>
                      <a:pt x="78" y="35"/>
                      <a:pt x="78" y="35"/>
                      <a:pt x="78" y="35"/>
                    </a:cubicBezTo>
                    <a:cubicBezTo>
                      <a:pt x="78" y="33"/>
                      <a:pt x="77" y="32"/>
                      <a:pt x="75" y="31"/>
                    </a:cubicBezTo>
                    <a:cubicBezTo>
                      <a:pt x="70" y="31"/>
                      <a:pt x="70" y="31"/>
                      <a:pt x="70" y="31"/>
                    </a:cubicBezTo>
                    <a:cubicBezTo>
                      <a:pt x="70" y="28"/>
                      <a:pt x="69" y="26"/>
                      <a:pt x="67" y="23"/>
                    </a:cubicBezTo>
                    <a:cubicBezTo>
                      <a:pt x="70" y="20"/>
                      <a:pt x="70" y="20"/>
                      <a:pt x="70" y="20"/>
                    </a:cubicBezTo>
                    <a:cubicBezTo>
                      <a:pt x="71" y="18"/>
                      <a:pt x="71" y="16"/>
                      <a:pt x="70" y="15"/>
                    </a:cubicBezTo>
                    <a:cubicBezTo>
                      <a:pt x="64" y="9"/>
                      <a:pt x="64" y="9"/>
                      <a:pt x="64" y="9"/>
                    </a:cubicBezTo>
                    <a:cubicBezTo>
                      <a:pt x="63" y="7"/>
                      <a:pt x="61" y="7"/>
                      <a:pt x="59" y="8"/>
                    </a:cubicBezTo>
                    <a:cubicBezTo>
                      <a:pt x="56" y="11"/>
                      <a:pt x="56" y="11"/>
                      <a:pt x="56" y="11"/>
                    </a:cubicBezTo>
                    <a:cubicBezTo>
                      <a:pt x="53" y="10"/>
                      <a:pt x="51" y="9"/>
                      <a:pt x="48" y="8"/>
                    </a:cubicBezTo>
                    <a:cubicBezTo>
                      <a:pt x="47" y="3"/>
                      <a:pt x="47" y="3"/>
                      <a:pt x="47" y="3"/>
                    </a:cubicBezTo>
                    <a:cubicBezTo>
                      <a:pt x="47" y="2"/>
                      <a:pt x="45" y="0"/>
                      <a:pt x="44" y="0"/>
                    </a:cubicBezTo>
                    <a:cubicBezTo>
                      <a:pt x="35" y="0"/>
                      <a:pt x="35" y="0"/>
                      <a:pt x="35" y="0"/>
                    </a:cubicBezTo>
                    <a:cubicBezTo>
                      <a:pt x="33" y="0"/>
                      <a:pt x="32" y="2"/>
                      <a:pt x="32" y="3"/>
                    </a:cubicBezTo>
                    <a:cubicBezTo>
                      <a:pt x="31" y="8"/>
                      <a:pt x="31" y="8"/>
                      <a:pt x="31" y="8"/>
                    </a:cubicBezTo>
                    <a:cubicBezTo>
                      <a:pt x="28" y="9"/>
                      <a:pt x="26" y="10"/>
                      <a:pt x="23" y="12"/>
                    </a:cubicBezTo>
                    <a:cubicBezTo>
                      <a:pt x="19" y="8"/>
                      <a:pt x="19" y="8"/>
                      <a:pt x="19" y="8"/>
                    </a:cubicBezTo>
                    <a:cubicBezTo>
                      <a:pt x="18" y="7"/>
                      <a:pt x="16" y="7"/>
                      <a:pt x="14" y="9"/>
                    </a:cubicBezTo>
                    <a:cubicBezTo>
                      <a:pt x="8" y="15"/>
                      <a:pt x="8" y="15"/>
                      <a:pt x="8" y="15"/>
                    </a:cubicBezTo>
                    <a:cubicBezTo>
                      <a:pt x="7" y="16"/>
                      <a:pt x="7" y="18"/>
                      <a:pt x="8" y="20"/>
                    </a:cubicBezTo>
                    <a:cubicBezTo>
                      <a:pt x="11" y="24"/>
                      <a:pt x="11" y="24"/>
                      <a:pt x="11" y="24"/>
                    </a:cubicBezTo>
                    <a:cubicBezTo>
                      <a:pt x="10" y="26"/>
                      <a:pt x="9" y="29"/>
                      <a:pt x="8" y="31"/>
                    </a:cubicBezTo>
                    <a:cubicBezTo>
                      <a:pt x="3" y="32"/>
                      <a:pt x="3" y="32"/>
                      <a:pt x="3" y="32"/>
                    </a:cubicBezTo>
                    <a:cubicBezTo>
                      <a:pt x="1" y="32"/>
                      <a:pt x="0" y="33"/>
                      <a:pt x="0" y="35"/>
                    </a:cubicBezTo>
                    <a:cubicBezTo>
                      <a:pt x="0" y="44"/>
                      <a:pt x="0" y="44"/>
                      <a:pt x="0" y="44"/>
                    </a:cubicBezTo>
                    <a:cubicBezTo>
                      <a:pt x="0" y="46"/>
                      <a:pt x="1" y="47"/>
                      <a:pt x="3" y="47"/>
                    </a:cubicBezTo>
                    <a:lnTo>
                      <a:pt x="9" y="48"/>
                    </a:lnTo>
                    <a:close/>
                    <a:moveTo>
                      <a:pt x="39" y="25"/>
                    </a:moveTo>
                    <a:cubicBezTo>
                      <a:pt x="47" y="25"/>
                      <a:pt x="53" y="31"/>
                      <a:pt x="53" y="39"/>
                    </a:cubicBezTo>
                    <a:cubicBezTo>
                      <a:pt x="53" y="47"/>
                      <a:pt x="47" y="53"/>
                      <a:pt x="39" y="53"/>
                    </a:cubicBezTo>
                    <a:cubicBezTo>
                      <a:pt x="32" y="53"/>
                      <a:pt x="25" y="47"/>
                      <a:pt x="25" y="39"/>
                    </a:cubicBezTo>
                    <a:cubicBezTo>
                      <a:pt x="25" y="31"/>
                      <a:pt x="32" y="25"/>
                      <a:pt x="39" y="25"/>
                    </a:cubicBezTo>
                    <a:close/>
                    <a:moveTo>
                      <a:pt x="39" y="25"/>
                    </a:moveTo>
                    <a:cubicBezTo>
                      <a:pt x="39" y="25"/>
                      <a:pt x="39" y="25"/>
                      <a:pt x="39" y="25"/>
                    </a:cubicBezTo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4572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sym typeface="+mn-lt"/>
                </a:endParaRPr>
              </a:p>
            </p:txBody>
          </p:sp>
          <p:sp>
            <p:nvSpPr>
              <p:cNvPr id="16" name="Freeform 15"/>
              <p:cNvSpPr>
                <a:spLocks noEditPoints="1"/>
              </p:cNvSpPr>
              <p:nvPr/>
            </p:nvSpPr>
            <p:spPr bwMode="auto">
              <a:xfrm>
                <a:off x="5365751" y="3756025"/>
                <a:ext cx="195263" cy="193675"/>
              </a:xfrm>
              <a:custGeom>
                <a:avLst/>
                <a:gdLst/>
                <a:ahLst/>
                <a:cxnLst>
                  <a:cxn ang="0">
                    <a:pos x="55" y="10"/>
                  </a:cxn>
                  <a:cxn ang="0">
                    <a:pos x="51" y="6"/>
                  </a:cxn>
                  <a:cxn ang="0">
                    <a:pos x="46" y="6"/>
                  </a:cxn>
                  <a:cxn ang="0">
                    <a:pos x="44" y="9"/>
                  </a:cxn>
                  <a:cxn ang="0">
                    <a:pos x="37" y="7"/>
                  </a:cxn>
                  <a:cxn ang="0">
                    <a:pos x="36" y="3"/>
                  </a:cxn>
                  <a:cxn ang="0">
                    <a:pos x="32" y="0"/>
                  </a:cxn>
                  <a:cxn ang="0">
                    <a:pos x="27" y="1"/>
                  </a:cxn>
                  <a:cxn ang="0">
                    <a:pos x="23" y="4"/>
                  </a:cxn>
                  <a:cxn ang="0">
                    <a:pos x="23" y="8"/>
                  </a:cxn>
                  <a:cxn ang="0">
                    <a:pos x="17" y="11"/>
                  </a:cxn>
                  <a:cxn ang="0">
                    <a:pos x="14" y="9"/>
                  </a:cxn>
                  <a:cxn ang="0">
                    <a:pos x="9" y="10"/>
                  </a:cxn>
                  <a:cxn ang="0">
                    <a:pos x="6" y="14"/>
                  </a:cxn>
                  <a:cxn ang="0">
                    <a:pos x="6" y="19"/>
                  </a:cxn>
                  <a:cxn ang="0">
                    <a:pos x="8" y="22"/>
                  </a:cxn>
                  <a:cxn ang="0">
                    <a:pos x="6" y="28"/>
                  </a:cxn>
                  <a:cxn ang="0">
                    <a:pos x="3" y="29"/>
                  </a:cxn>
                  <a:cxn ang="0">
                    <a:pos x="0" y="33"/>
                  </a:cxn>
                  <a:cxn ang="0">
                    <a:pos x="0" y="38"/>
                  </a:cxn>
                  <a:cxn ang="0">
                    <a:pos x="4" y="42"/>
                  </a:cxn>
                  <a:cxn ang="0">
                    <a:pos x="8" y="42"/>
                  </a:cxn>
                  <a:cxn ang="0">
                    <a:pos x="11" y="47"/>
                  </a:cxn>
                  <a:cxn ang="0">
                    <a:pos x="8" y="51"/>
                  </a:cxn>
                  <a:cxn ang="0">
                    <a:pos x="9" y="55"/>
                  </a:cxn>
                  <a:cxn ang="0">
                    <a:pos x="14" y="59"/>
                  </a:cxn>
                  <a:cxn ang="0">
                    <a:pos x="18" y="59"/>
                  </a:cxn>
                  <a:cxn ang="0">
                    <a:pos x="21" y="56"/>
                  </a:cxn>
                  <a:cxn ang="0">
                    <a:pos x="27" y="58"/>
                  </a:cxn>
                  <a:cxn ang="0">
                    <a:pos x="28" y="62"/>
                  </a:cxn>
                  <a:cxn ang="0">
                    <a:pos x="32" y="65"/>
                  </a:cxn>
                  <a:cxn ang="0">
                    <a:pos x="38" y="64"/>
                  </a:cxn>
                  <a:cxn ang="0">
                    <a:pos x="41" y="61"/>
                  </a:cxn>
                  <a:cxn ang="0">
                    <a:pos x="41" y="57"/>
                  </a:cxn>
                  <a:cxn ang="0">
                    <a:pos x="47" y="54"/>
                  </a:cxn>
                  <a:cxn ang="0">
                    <a:pos x="50" y="56"/>
                  </a:cxn>
                  <a:cxn ang="0">
                    <a:pos x="55" y="56"/>
                  </a:cxn>
                  <a:cxn ang="0">
                    <a:pos x="59" y="51"/>
                  </a:cxn>
                  <a:cxn ang="0">
                    <a:pos x="59" y="46"/>
                  </a:cxn>
                  <a:cxn ang="0">
                    <a:pos x="56" y="44"/>
                  </a:cxn>
                  <a:cxn ang="0">
                    <a:pos x="58" y="37"/>
                  </a:cxn>
                  <a:cxn ang="0">
                    <a:pos x="62" y="37"/>
                  </a:cxn>
                  <a:cxn ang="0">
                    <a:pos x="64" y="33"/>
                  </a:cxn>
                  <a:cxn ang="0">
                    <a:pos x="64" y="27"/>
                  </a:cxn>
                  <a:cxn ang="0">
                    <a:pos x="60" y="24"/>
                  </a:cxn>
                  <a:cxn ang="0">
                    <a:pos x="57" y="24"/>
                  </a:cxn>
                  <a:cxn ang="0">
                    <a:pos x="54" y="18"/>
                  </a:cxn>
                  <a:cxn ang="0">
                    <a:pos x="56" y="15"/>
                  </a:cxn>
                  <a:cxn ang="0">
                    <a:pos x="55" y="10"/>
                  </a:cxn>
                  <a:cxn ang="0">
                    <a:pos x="33" y="44"/>
                  </a:cxn>
                  <a:cxn ang="0">
                    <a:pos x="21" y="33"/>
                  </a:cxn>
                  <a:cxn ang="0">
                    <a:pos x="31" y="21"/>
                  </a:cxn>
                  <a:cxn ang="0">
                    <a:pos x="44" y="31"/>
                  </a:cxn>
                  <a:cxn ang="0">
                    <a:pos x="33" y="44"/>
                  </a:cxn>
                  <a:cxn ang="0">
                    <a:pos x="33" y="44"/>
                  </a:cxn>
                  <a:cxn ang="0">
                    <a:pos x="33" y="44"/>
                  </a:cxn>
                </a:cxnLst>
                <a:rect l="0" t="0" r="r" b="b"/>
                <a:pathLst>
                  <a:path w="65" h="65">
                    <a:moveTo>
                      <a:pt x="55" y="10"/>
                    </a:moveTo>
                    <a:cubicBezTo>
                      <a:pt x="51" y="6"/>
                      <a:pt x="51" y="6"/>
                      <a:pt x="51" y="6"/>
                    </a:cubicBezTo>
                    <a:cubicBezTo>
                      <a:pt x="49" y="5"/>
                      <a:pt x="47" y="5"/>
                      <a:pt x="46" y="6"/>
                    </a:cubicBezTo>
                    <a:cubicBezTo>
                      <a:pt x="44" y="9"/>
                      <a:pt x="44" y="9"/>
                      <a:pt x="44" y="9"/>
                    </a:cubicBezTo>
                    <a:cubicBezTo>
                      <a:pt x="41" y="8"/>
                      <a:pt x="39" y="7"/>
                      <a:pt x="37" y="7"/>
                    </a:cubicBezTo>
                    <a:cubicBezTo>
                      <a:pt x="36" y="3"/>
                      <a:pt x="36" y="3"/>
                      <a:pt x="36" y="3"/>
                    </a:cubicBezTo>
                    <a:cubicBezTo>
                      <a:pt x="36" y="1"/>
                      <a:pt x="34" y="0"/>
                      <a:pt x="32" y="0"/>
                    </a:cubicBezTo>
                    <a:cubicBezTo>
                      <a:pt x="27" y="1"/>
                      <a:pt x="27" y="1"/>
                      <a:pt x="27" y="1"/>
                    </a:cubicBezTo>
                    <a:cubicBezTo>
                      <a:pt x="25" y="1"/>
                      <a:pt x="23" y="2"/>
                      <a:pt x="23" y="4"/>
                    </a:cubicBezTo>
                    <a:cubicBezTo>
                      <a:pt x="23" y="8"/>
                      <a:pt x="23" y="8"/>
                      <a:pt x="23" y="8"/>
                    </a:cubicBezTo>
                    <a:cubicBezTo>
                      <a:pt x="21" y="9"/>
                      <a:pt x="19" y="10"/>
                      <a:pt x="17" y="11"/>
                    </a:cubicBezTo>
                    <a:cubicBezTo>
                      <a:pt x="14" y="9"/>
                      <a:pt x="14" y="9"/>
                      <a:pt x="14" y="9"/>
                    </a:cubicBezTo>
                    <a:cubicBezTo>
                      <a:pt x="13" y="8"/>
                      <a:pt x="11" y="8"/>
                      <a:pt x="9" y="10"/>
                    </a:cubicBezTo>
                    <a:cubicBezTo>
                      <a:pt x="6" y="14"/>
                      <a:pt x="6" y="14"/>
                      <a:pt x="6" y="14"/>
                    </a:cubicBezTo>
                    <a:cubicBezTo>
                      <a:pt x="4" y="16"/>
                      <a:pt x="4" y="18"/>
                      <a:pt x="6" y="19"/>
                    </a:cubicBezTo>
                    <a:cubicBezTo>
                      <a:pt x="8" y="22"/>
                      <a:pt x="8" y="22"/>
                      <a:pt x="8" y="22"/>
                    </a:cubicBezTo>
                    <a:cubicBezTo>
                      <a:pt x="7" y="24"/>
                      <a:pt x="7" y="26"/>
                      <a:pt x="6" y="28"/>
                    </a:cubicBezTo>
                    <a:cubicBezTo>
                      <a:pt x="3" y="29"/>
                      <a:pt x="3" y="29"/>
                      <a:pt x="3" y="29"/>
                    </a:cubicBezTo>
                    <a:cubicBezTo>
                      <a:pt x="1" y="29"/>
                      <a:pt x="0" y="31"/>
                      <a:pt x="0" y="33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1" y="40"/>
                      <a:pt x="2" y="42"/>
                      <a:pt x="4" y="42"/>
                    </a:cubicBezTo>
                    <a:cubicBezTo>
                      <a:pt x="8" y="42"/>
                      <a:pt x="8" y="42"/>
                      <a:pt x="8" y="42"/>
                    </a:cubicBezTo>
                    <a:cubicBezTo>
                      <a:pt x="9" y="44"/>
                      <a:pt x="9" y="45"/>
                      <a:pt x="11" y="47"/>
                    </a:cubicBezTo>
                    <a:cubicBezTo>
                      <a:pt x="8" y="51"/>
                      <a:pt x="8" y="51"/>
                      <a:pt x="8" y="51"/>
                    </a:cubicBezTo>
                    <a:cubicBezTo>
                      <a:pt x="7" y="52"/>
                      <a:pt x="8" y="54"/>
                      <a:pt x="9" y="55"/>
                    </a:cubicBezTo>
                    <a:cubicBezTo>
                      <a:pt x="14" y="59"/>
                      <a:pt x="14" y="59"/>
                      <a:pt x="14" y="59"/>
                    </a:cubicBezTo>
                    <a:cubicBezTo>
                      <a:pt x="15" y="60"/>
                      <a:pt x="17" y="60"/>
                      <a:pt x="18" y="59"/>
                    </a:cubicBezTo>
                    <a:cubicBezTo>
                      <a:pt x="21" y="56"/>
                      <a:pt x="21" y="56"/>
                      <a:pt x="21" y="56"/>
                    </a:cubicBezTo>
                    <a:cubicBezTo>
                      <a:pt x="23" y="57"/>
                      <a:pt x="25" y="58"/>
                      <a:pt x="27" y="58"/>
                    </a:cubicBezTo>
                    <a:cubicBezTo>
                      <a:pt x="28" y="62"/>
                      <a:pt x="28" y="62"/>
                      <a:pt x="28" y="62"/>
                    </a:cubicBezTo>
                    <a:cubicBezTo>
                      <a:pt x="28" y="64"/>
                      <a:pt x="30" y="65"/>
                      <a:pt x="32" y="65"/>
                    </a:cubicBezTo>
                    <a:cubicBezTo>
                      <a:pt x="38" y="64"/>
                      <a:pt x="38" y="64"/>
                      <a:pt x="38" y="64"/>
                    </a:cubicBezTo>
                    <a:cubicBezTo>
                      <a:pt x="39" y="64"/>
                      <a:pt x="41" y="63"/>
                      <a:pt x="41" y="61"/>
                    </a:cubicBezTo>
                    <a:cubicBezTo>
                      <a:pt x="41" y="57"/>
                      <a:pt x="41" y="57"/>
                      <a:pt x="41" y="57"/>
                    </a:cubicBezTo>
                    <a:cubicBezTo>
                      <a:pt x="43" y="56"/>
                      <a:pt x="45" y="55"/>
                      <a:pt x="47" y="54"/>
                    </a:cubicBezTo>
                    <a:cubicBezTo>
                      <a:pt x="50" y="56"/>
                      <a:pt x="50" y="56"/>
                      <a:pt x="50" y="56"/>
                    </a:cubicBezTo>
                    <a:cubicBezTo>
                      <a:pt x="52" y="57"/>
                      <a:pt x="54" y="57"/>
                      <a:pt x="55" y="56"/>
                    </a:cubicBezTo>
                    <a:cubicBezTo>
                      <a:pt x="59" y="51"/>
                      <a:pt x="59" y="51"/>
                      <a:pt x="59" y="51"/>
                    </a:cubicBezTo>
                    <a:cubicBezTo>
                      <a:pt x="60" y="50"/>
                      <a:pt x="60" y="48"/>
                      <a:pt x="59" y="46"/>
                    </a:cubicBezTo>
                    <a:cubicBezTo>
                      <a:pt x="56" y="44"/>
                      <a:pt x="56" y="44"/>
                      <a:pt x="56" y="44"/>
                    </a:cubicBezTo>
                    <a:cubicBezTo>
                      <a:pt x="57" y="42"/>
                      <a:pt x="58" y="39"/>
                      <a:pt x="58" y="37"/>
                    </a:cubicBezTo>
                    <a:cubicBezTo>
                      <a:pt x="62" y="37"/>
                      <a:pt x="62" y="37"/>
                      <a:pt x="62" y="37"/>
                    </a:cubicBezTo>
                    <a:cubicBezTo>
                      <a:pt x="63" y="36"/>
                      <a:pt x="65" y="35"/>
                      <a:pt x="64" y="33"/>
                    </a:cubicBezTo>
                    <a:cubicBezTo>
                      <a:pt x="64" y="27"/>
                      <a:pt x="64" y="27"/>
                      <a:pt x="64" y="27"/>
                    </a:cubicBezTo>
                    <a:cubicBezTo>
                      <a:pt x="64" y="25"/>
                      <a:pt x="62" y="24"/>
                      <a:pt x="60" y="24"/>
                    </a:cubicBezTo>
                    <a:cubicBezTo>
                      <a:pt x="57" y="24"/>
                      <a:pt x="57" y="24"/>
                      <a:pt x="57" y="24"/>
                    </a:cubicBezTo>
                    <a:cubicBezTo>
                      <a:pt x="56" y="21"/>
                      <a:pt x="55" y="20"/>
                      <a:pt x="54" y="18"/>
                    </a:cubicBezTo>
                    <a:cubicBezTo>
                      <a:pt x="56" y="15"/>
                      <a:pt x="56" y="15"/>
                      <a:pt x="56" y="15"/>
                    </a:cubicBezTo>
                    <a:cubicBezTo>
                      <a:pt x="57" y="13"/>
                      <a:pt x="57" y="11"/>
                      <a:pt x="55" y="10"/>
                    </a:cubicBezTo>
                    <a:close/>
                    <a:moveTo>
                      <a:pt x="33" y="44"/>
                    </a:moveTo>
                    <a:cubicBezTo>
                      <a:pt x="27" y="44"/>
                      <a:pt x="21" y="40"/>
                      <a:pt x="21" y="33"/>
                    </a:cubicBezTo>
                    <a:cubicBezTo>
                      <a:pt x="20" y="27"/>
                      <a:pt x="25" y="21"/>
                      <a:pt x="31" y="21"/>
                    </a:cubicBezTo>
                    <a:cubicBezTo>
                      <a:pt x="38" y="20"/>
                      <a:pt x="43" y="25"/>
                      <a:pt x="44" y="31"/>
                    </a:cubicBezTo>
                    <a:cubicBezTo>
                      <a:pt x="44" y="38"/>
                      <a:pt x="40" y="43"/>
                      <a:pt x="33" y="44"/>
                    </a:cubicBezTo>
                    <a:close/>
                    <a:moveTo>
                      <a:pt x="33" y="44"/>
                    </a:moveTo>
                    <a:cubicBezTo>
                      <a:pt x="33" y="44"/>
                      <a:pt x="33" y="44"/>
                      <a:pt x="33" y="44"/>
                    </a:cubicBezTo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4572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sym typeface="+mn-lt"/>
                </a:endParaRPr>
              </a:p>
            </p:txBody>
          </p:sp>
          <p:sp>
            <p:nvSpPr>
              <p:cNvPr id="17" name="Freeform 16"/>
              <p:cNvSpPr>
                <a:spLocks noEditPoints="1"/>
              </p:cNvSpPr>
              <p:nvPr/>
            </p:nvSpPr>
            <p:spPr bwMode="auto">
              <a:xfrm>
                <a:off x="5240338" y="3871913"/>
                <a:ext cx="155575" cy="155575"/>
              </a:xfrm>
              <a:custGeom>
                <a:avLst/>
                <a:gdLst/>
                <a:ahLst/>
                <a:cxnLst>
                  <a:cxn ang="0">
                    <a:pos x="3" y="21"/>
                  </a:cxn>
                  <a:cxn ang="0">
                    <a:pos x="0" y="24"/>
                  </a:cxn>
                  <a:cxn ang="0">
                    <a:pos x="0" y="28"/>
                  </a:cxn>
                  <a:cxn ang="0">
                    <a:pos x="3" y="31"/>
                  </a:cxn>
                  <a:cxn ang="0">
                    <a:pos x="6" y="32"/>
                  </a:cxn>
                  <a:cxn ang="0">
                    <a:pos x="7" y="36"/>
                  </a:cxn>
                  <a:cxn ang="0">
                    <a:pos x="6" y="38"/>
                  </a:cxn>
                  <a:cxn ang="0">
                    <a:pos x="6" y="43"/>
                  </a:cxn>
                  <a:cxn ang="0">
                    <a:pos x="9" y="45"/>
                  </a:cxn>
                  <a:cxn ang="0">
                    <a:pos x="13" y="46"/>
                  </a:cxn>
                  <a:cxn ang="0">
                    <a:pos x="15" y="44"/>
                  </a:cxn>
                  <a:cxn ang="0">
                    <a:pos x="20" y="46"/>
                  </a:cxn>
                  <a:cxn ang="0">
                    <a:pos x="20" y="49"/>
                  </a:cxn>
                  <a:cxn ang="0">
                    <a:pos x="24" y="52"/>
                  </a:cxn>
                  <a:cxn ang="0">
                    <a:pos x="27" y="52"/>
                  </a:cxn>
                  <a:cxn ang="0">
                    <a:pos x="31" y="49"/>
                  </a:cxn>
                  <a:cxn ang="0">
                    <a:pos x="31" y="47"/>
                  </a:cxn>
                  <a:cxn ang="0">
                    <a:pos x="36" y="45"/>
                  </a:cxn>
                  <a:cxn ang="0">
                    <a:pos x="38" y="46"/>
                  </a:cxn>
                  <a:cxn ang="0">
                    <a:pos x="43" y="46"/>
                  </a:cxn>
                  <a:cxn ang="0">
                    <a:pos x="46" y="43"/>
                  </a:cxn>
                  <a:cxn ang="0">
                    <a:pos x="46" y="39"/>
                  </a:cxn>
                  <a:cxn ang="0">
                    <a:pos x="45" y="37"/>
                  </a:cxn>
                  <a:cxn ang="0">
                    <a:pos x="47" y="32"/>
                  </a:cxn>
                  <a:cxn ang="0">
                    <a:pos x="49" y="32"/>
                  </a:cxn>
                  <a:cxn ang="0">
                    <a:pos x="52" y="28"/>
                  </a:cxn>
                  <a:cxn ang="0">
                    <a:pos x="52" y="24"/>
                  </a:cxn>
                  <a:cxn ang="0">
                    <a:pos x="49" y="21"/>
                  </a:cxn>
                  <a:cxn ang="0">
                    <a:pos x="47" y="21"/>
                  </a:cxn>
                  <a:cxn ang="0">
                    <a:pos x="45" y="16"/>
                  </a:cxn>
                  <a:cxn ang="0">
                    <a:pos x="46" y="14"/>
                  </a:cxn>
                  <a:cxn ang="0">
                    <a:pos x="46" y="9"/>
                  </a:cxn>
                  <a:cxn ang="0">
                    <a:pos x="44" y="7"/>
                  </a:cxn>
                  <a:cxn ang="0">
                    <a:pos x="39" y="6"/>
                  </a:cxn>
                  <a:cxn ang="0">
                    <a:pos x="37" y="8"/>
                  </a:cxn>
                  <a:cxn ang="0">
                    <a:pos x="32" y="5"/>
                  </a:cxn>
                  <a:cxn ang="0">
                    <a:pos x="32" y="3"/>
                  </a:cxn>
                  <a:cxn ang="0">
                    <a:pos x="28" y="0"/>
                  </a:cxn>
                  <a:cxn ang="0">
                    <a:pos x="25" y="0"/>
                  </a:cxn>
                  <a:cxn ang="0">
                    <a:pos x="21" y="3"/>
                  </a:cxn>
                  <a:cxn ang="0">
                    <a:pos x="21" y="5"/>
                  </a:cxn>
                  <a:cxn ang="0">
                    <a:pos x="16" y="7"/>
                  </a:cxn>
                  <a:cxn ang="0">
                    <a:pos x="14" y="6"/>
                  </a:cxn>
                  <a:cxn ang="0">
                    <a:pos x="9" y="6"/>
                  </a:cxn>
                  <a:cxn ang="0">
                    <a:pos x="6" y="9"/>
                  </a:cxn>
                  <a:cxn ang="0">
                    <a:pos x="6" y="13"/>
                  </a:cxn>
                  <a:cxn ang="0">
                    <a:pos x="8" y="15"/>
                  </a:cxn>
                  <a:cxn ang="0">
                    <a:pos x="6" y="20"/>
                  </a:cxn>
                  <a:cxn ang="0">
                    <a:pos x="3" y="21"/>
                  </a:cxn>
                  <a:cxn ang="0">
                    <a:pos x="26" y="16"/>
                  </a:cxn>
                  <a:cxn ang="0">
                    <a:pos x="36" y="26"/>
                  </a:cxn>
                  <a:cxn ang="0">
                    <a:pos x="26" y="35"/>
                  </a:cxn>
                  <a:cxn ang="0">
                    <a:pos x="17" y="26"/>
                  </a:cxn>
                  <a:cxn ang="0">
                    <a:pos x="26" y="16"/>
                  </a:cxn>
                  <a:cxn ang="0">
                    <a:pos x="26" y="16"/>
                  </a:cxn>
                  <a:cxn ang="0">
                    <a:pos x="26" y="16"/>
                  </a:cxn>
                </a:cxnLst>
                <a:rect l="0" t="0" r="r" b="b"/>
                <a:pathLst>
                  <a:path w="52" h="52">
                    <a:moveTo>
                      <a:pt x="3" y="21"/>
                    </a:moveTo>
                    <a:cubicBezTo>
                      <a:pt x="1" y="21"/>
                      <a:pt x="0" y="22"/>
                      <a:pt x="0" y="24"/>
                    </a:cubicBezTo>
                    <a:cubicBezTo>
                      <a:pt x="0" y="28"/>
                      <a:pt x="0" y="28"/>
                      <a:pt x="0" y="28"/>
                    </a:cubicBezTo>
                    <a:cubicBezTo>
                      <a:pt x="0" y="29"/>
                      <a:pt x="1" y="31"/>
                      <a:pt x="3" y="31"/>
                    </a:cubicBezTo>
                    <a:cubicBezTo>
                      <a:pt x="6" y="32"/>
                      <a:pt x="6" y="32"/>
                      <a:pt x="6" y="32"/>
                    </a:cubicBezTo>
                    <a:cubicBezTo>
                      <a:pt x="6" y="33"/>
                      <a:pt x="7" y="35"/>
                      <a:pt x="7" y="36"/>
                    </a:cubicBezTo>
                    <a:cubicBezTo>
                      <a:pt x="6" y="38"/>
                      <a:pt x="6" y="38"/>
                      <a:pt x="6" y="38"/>
                    </a:cubicBezTo>
                    <a:cubicBezTo>
                      <a:pt x="5" y="40"/>
                      <a:pt x="5" y="42"/>
                      <a:pt x="6" y="43"/>
                    </a:cubicBezTo>
                    <a:cubicBezTo>
                      <a:pt x="9" y="45"/>
                      <a:pt x="9" y="45"/>
                      <a:pt x="9" y="45"/>
                    </a:cubicBezTo>
                    <a:cubicBezTo>
                      <a:pt x="10" y="47"/>
                      <a:pt x="12" y="47"/>
                      <a:pt x="13" y="46"/>
                    </a:cubicBezTo>
                    <a:cubicBezTo>
                      <a:pt x="15" y="44"/>
                      <a:pt x="15" y="44"/>
                      <a:pt x="15" y="44"/>
                    </a:cubicBezTo>
                    <a:cubicBezTo>
                      <a:pt x="17" y="45"/>
                      <a:pt x="18" y="46"/>
                      <a:pt x="20" y="46"/>
                    </a:cubicBezTo>
                    <a:cubicBezTo>
                      <a:pt x="20" y="49"/>
                      <a:pt x="20" y="49"/>
                      <a:pt x="20" y="49"/>
                    </a:cubicBezTo>
                    <a:cubicBezTo>
                      <a:pt x="21" y="51"/>
                      <a:pt x="22" y="52"/>
                      <a:pt x="24" y="52"/>
                    </a:cubicBezTo>
                    <a:cubicBezTo>
                      <a:pt x="27" y="52"/>
                      <a:pt x="27" y="52"/>
                      <a:pt x="27" y="52"/>
                    </a:cubicBezTo>
                    <a:cubicBezTo>
                      <a:pt x="29" y="52"/>
                      <a:pt x="31" y="51"/>
                      <a:pt x="31" y="49"/>
                    </a:cubicBezTo>
                    <a:cubicBezTo>
                      <a:pt x="31" y="47"/>
                      <a:pt x="31" y="47"/>
                      <a:pt x="31" y="47"/>
                    </a:cubicBezTo>
                    <a:cubicBezTo>
                      <a:pt x="33" y="46"/>
                      <a:pt x="35" y="45"/>
                      <a:pt x="36" y="45"/>
                    </a:cubicBezTo>
                    <a:cubicBezTo>
                      <a:pt x="38" y="46"/>
                      <a:pt x="38" y="46"/>
                      <a:pt x="38" y="46"/>
                    </a:cubicBezTo>
                    <a:cubicBezTo>
                      <a:pt x="40" y="47"/>
                      <a:pt x="42" y="47"/>
                      <a:pt x="43" y="46"/>
                    </a:cubicBezTo>
                    <a:cubicBezTo>
                      <a:pt x="46" y="43"/>
                      <a:pt x="46" y="43"/>
                      <a:pt x="46" y="43"/>
                    </a:cubicBezTo>
                    <a:cubicBezTo>
                      <a:pt x="47" y="42"/>
                      <a:pt x="47" y="40"/>
                      <a:pt x="46" y="39"/>
                    </a:cubicBezTo>
                    <a:cubicBezTo>
                      <a:pt x="45" y="37"/>
                      <a:pt x="45" y="37"/>
                      <a:pt x="45" y="37"/>
                    </a:cubicBezTo>
                    <a:cubicBezTo>
                      <a:pt x="45" y="35"/>
                      <a:pt x="46" y="33"/>
                      <a:pt x="47" y="32"/>
                    </a:cubicBezTo>
                    <a:cubicBezTo>
                      <a:pt x="49" y="32"/>
                      <a:pt x="49" y="32"/>
                      <a:pt x="49" y="32"/>
                    </a:cubicBezTo>
                    <a:cubicBezTo>
                      <a:pt x="51" y="31"/>
                      <a:pt x="52" y="30"/>
                      <a:pt x="52" y="28"/>
                    </a:cubicBezTo>
                    <a:cubicBezTo>
                      <a:pt x="52" y="24"/>
                      <a:pt x="52" y="24"/>
                      <a:pt x="52" y="24"/>
                    </a:cubicBezTo>
                    <a:cubicBezTo>
                      <a:pt x="52" y="23"/>
                      <a:pt x="51" y="21"/>
                      <a:pt x="49" y="21"/>
                    </a:cubicBezTo>
                    <a:cubicBezTo>
                      <a:pt x="47" y="21"/>
                      <a:pt x="47" y="21"/>
                      <a:pt x="47" y="21"/>
                    </a:cubicBezTo>
                    <a:cubicBezTo>
                      <a:pt x="46" y="19"/>
                      <a:pt x="46" y="17"/>
                      <a:pt x="45" y="16"/>
                    </a:cubicBezTo>
                    <a:cubicBezTo>
                      <a:pt x="46" y="14"/>
                      <a:pt x="46" y="14"/>
                      <a:pt x="46" y="14"/>
                    </a:cubicBezTo>
                    <a:cubicBezTo>
                      <a:pt x="47" y="12"/>
                      <a:pt x="47" y="10"/>
                      <a:pt x="46" y="9"/>
                    </a:cubicBezTo>
                    <a:cubicBezTo>
                      <a:pt x="44" y="7"/>
                      <a:pt x="44" y="7"/>
                      <a:pt x="44" y="7"/>
                    </a:cubicBezTo>
                    <a:cubicBezTo>
                      <a:pt x="42" y="5"/>
                      <a:pt x="40" y="5"/>
                      <a:pt x="39" y="6"/>
                    </a:cubicBezTo>
                    <a:cubicBezTo>
                      <a:pt x="37" y="8"/>
                      <a:pt x="37" y="8"/>
                      <a:pt x="37" y="8"/>
                    </a:cubicBezTo>
                    <a:cubicBezTo>
                      <a:pt x="36" y="7"/>
                      <a:pt x="34" y="6"/>
                      <a:pt x="32" y="5"/>
                    </a:cubicBezTo>
                    <a:cubicBezTo>
                      <a:pt x="32" y="3"/>
                      <a:pt x="32" y="3"/>
                      <a:pt x="32" y="3"/>
                    </a:cubicBezTo>
                    <a:cubicBezTo>
                      <a:pt x="32" y="1"/>
                      <a:pt x="30" y="0"/>
                      <a:pt x="28" y="0"/>
                    </a:cubicBezTo>
                    <a:cubicBezTo>
                      <a:pt x="25" y="0"/>
                      <a:pt x="25" y="0"/>
                      <a:pt x="25" y="0"/>
                    </a:cubicBezTo>
                    <a:cubicBezTo>
                      <a:pt x="23" y="0"/>
                      <a:pt x="21" y="1"/>
                      <a:pt x="21" y="3"/>
                    </a:cubicBezTo>
                    <a:cubicBezTo>
                      <a:pt x="21" y="5"/>
                      <a:pt x="21" y="5"/>
                      <a:pt x="21" y="5"/>
                    </a:cubicBezTo>
                    <a:cubicBezTo>
                      <a:pt x="19" y="6"/>
                      <a:pt x="17" y="6"/>
                      <a:pt x="16" y="7"/>
                    </a:cubicBezTo>
                    <a:cubicBezTo>
                      <a:pt x="14" y="6"/>
                      <a:pt x="14" y="6"/>
                      <a:pt x="14" y="6"/>
                    </a:cubicBezTo>
                    <a:cubicBezTo>
                      <a:pt x="12" y="5"/>
                      <a:pt x="10" y="5"/>
                      <a:pt x="9" y="6"/>
                    </a:cubicBezTo>
                    <a:cubicBezTo>
                      <a:pt x="6" y="9"/>
                      <a:pt x="6" y="9"/>
                      <a:pt x="6" y="9"/>
                    </a:cubicBezTo>
                    <a:cubicBezTo>
                      <a:pt x="5" y="10"/>
                      <a:pt x="5" y="12"/>
                      <a:pt x="6" y="13"/>
                    </a:cubicBezTo>
                    <a:cubicBezTo>
                      <a:pt x="8" y="15"/>
                      <a:pt x="8" y="15"/>
                      <a:pt x="8" y="15"/>
                    </a:cubicBezTo>
                    <a:cubicBezTo>
                      <a:pt x="7" y="17"/>
                      <a:pt x="6" y="19"/>
                      <a:pt x="6" y="20"/>
                    </a:cubicBezTo>
                    <a:lnTo>
                      <a:pt x="3" y="21"/>
                    </a:lnTo>
                    <a:close/>
                    <a:moveTo>
                      <a:pt x="26" y="16"/>
                    </a:moveTo>
                    <a:cubicBezTo>
                      <a:pt x="31" y="17"/>
                      <a:pt x="36" y="21"/>
                      <a:pt x="36" y="26"/>
                    </a:cubicBezTo>
                    <a:cubicBezTo>
                      <a:pt x="35" y="31"/>
                      <a:pt x="31" y="35"/>
                      <a:pt x="26" y="35"/>
                    </a:cubicBezTo>
                    <a:cubicBezTo>
                      <a:pt x="21" y="35"/>
                      <a:pt x="17" y="31"/>
                      <a:pt x="17" y="26"/>
                    </a:cubicBezTo>
                    <a:cubicBezTo>
                      <a:pt x="17" y="21"/>
                      <a:pt x="21" y="16"/>
                      <a:pt x="26" y="16"/>
                    </a:cubicBezTo>
                    <a:close/>
                    <a:moveTo>
                      <a:pt x="26" y="16"/>
                    </a:moveTo>
                    <a:cubicBezTo>
                      <a:pt x="26" y="16"/>
                      <a:pt x="26" y="16"/>
                      <a:pt x="26" y="16"/>
                    </a:cubicBezTo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4572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sym typeface="+mn-lt"/>
                </a:endParaRPr>
              </a:p>
            </p:txBody>
          </p:sp>
        </p:grpSp>
        <p:sp>
          <p:nvSpPr>
            <p:cNvPr id="10" name="Freeform 17"/>
            <p:cNvSpPr>
              <a:spLocks noEditPoints="1"/>
            </p:cNvSpPr>
            <p:nvPr/>
          </p:nvSpPr>
          <p:spPr bwMode="auto">
            <a:xfrm>
              <a:off x="4622344" y="2067032"/>
              <a:ext cx="422752" cy="628156"/>
            </a:xfrm>
            <a:custGeom>
              <a:avLst/>
              <a:gdLst/>
              <a:ahLst/>
              <a:cxnLst>
                <a:cxn ang="0">
                  <a:pos x="47" y="0"/>
                </a:cxn>
                <a:cxn ang="0">
                  <a:pos x="10" y="76"/>
                </a:cxn>
                <a:cxn ang="0">
                  <a:pos x="24" y="124"/>
                </a:cxn>
                <a:cxn ang="0">
                  <a:pos x="34" y="128"/>
                </a:cxn>
                <a:cxn ang="0">
                  <a:pos x="44" y="140"/>
                </a:cxn>
                <a:cxn ang="0">
                  <a:pos x="62" y="130"/>
                </a:cxn>
                <a:cxn ang="0">
                  <a:pos x="67" y="128"/>
                </a:cxn>
                <a:cxn ang="0">
                  <a:pos x="72" y="94"/>
                </a:cxn>
                <a:cxn ang="0">
                  <a:pos x="94" y="46"/>
                </a:cxn>
                <a:cxn ang="0">
                  <a:pos x="32" y="53"/>
                </a:cxn>
                <a:cxn ang="0">
                  <a:pos x="43" y="56"/>
                </a:cxn>
                <a:cxn ang="0">
                  <a:pos x="47" y="56"/>
                </a:cxn>
                <a:cxn ang="0">
                  <a:pos x="55" y="55"/>
                </a:cxn>
                <a:cxn ang="0">
                  <a:pos x="58" y="56"/>
                </a:cxn>
                <a:cxn ang="0">
                  <a:pos x="54" y="89"/>
                </a:cxn>
                <a:cxn ang="0">
                  <a:pos x="62" y="98"/>
                </a:cxn>
                <a:cxn ang="0">
                  <a:pos x="33" y="106"/>
                </a:cxn>
                <a:cxn ang="0">
                  <a:pos x="62" y="98"/>
                </a:cxn>
                <a:cxn ang="0">
                  <a:pos x="33" y="111"/>
                </a:cxn>
                <a:cxn ang="0">
                  <a:pos x="62" y="118"/>
                </a:cxn>
                <a:cxn ang="0">
                  <a:pos x="64" y="88"/>
                </a:cxn>
                <a:cxn ang="0">
                  <a:pos x="70" y="49"/>
                </a:cxn>
                <a:cxn ang="0">
                  <a:pos x="63" y="48"/>
                </a:cxn>
                <a:cxn ang="0">
                  <a:pos x="58" y="51"/>
                </a:cxn>
                <a:cxn ang="0">
                  <a:pos x="52" y="42"/>
                </a:cxn>
                <a:cxn ang="0">
                  <a:pos x="44" y="51"/>
                </a:cxn>
                <a:cxn ang="0">
                  <a:pos x="36" y="45"/>
                </a:cxn>
                <a:cxn ang="0">
                  <a:pos x="31" y="48"/>
                </a:cxn>
                <a:cxn ang="0">
                  <a:pos x="24" y="50"/>
                </a:cxn>
                <a:cxn ang="0">
                  <a:pos x="31" y="89"/>
                </a:cxn>
                <a:cxn ang="0">
                  <a:pos x="9" y="47"/>
                </a:cxn>
                <a:cxn ang="0">
                  <a:pos x="85" y="47"/>
                </a:cxn>
                <a:cxn ang="0">
                  <a:pos x="64" y="88"/>
                </a:cxn>
                <a:cxn ang="0">
                  <a:pos x="64" y="88"/>
                </a:cxn>
              </a:cxnLst>
              <a:rect l="0" t="0" r="r" b="b"/>
              <a:pathLst>
                <a:path w="94" h="140">
                  <a:moveTo>
                    <a:pt x="94" y="46"/>
                  </a:moveTo>
                  <a:cubicBezTo>
                    <a:pt x="94" y="20"/>
                    <a:pt x="73" y="0"/>
                    <a:pt x="47" y="0"/>
                  </a:cubicBezTo>
                  <a:cubicBezTo>
                    <a:pt x="21" y="0"/>
                    <a:pt x="0" y="21"/>
                    <a:pt x="0" y="47"/>
                  </a:cubicBezTo>
                  <a:cubicBezTo>
                    <a:pt x="0" y="58"/>
                    <a:pt x="4" y="68"/>
                    <a:pt x="10" y="76"/>
                  </a:cubicBezTo>
                  <a:cubicBezTo>
                    <a:pt x="15" y="82"/>
                    <a:pt x="20" y="89"/>
                    <a:pt x="23" y="95"/>
                  </a:cubicBezTo>
                  <a:cubicBezTo>
                    <a:pt x="24" y="124"/>
                    <a:pt x="24" y="124"/>
                    <a:pt x="24" y="124"/>
                  </a:cubicBezTo>
                  <a:cubicBezTo>
                    <a:pt x="24" y="126"/>
                    <a:pt x="26" y="128"/>
                    <a:pt x="28" y="128"/>
                  </a:cubicBezTo>
                  <a:cubicBezTo>
                    <a:pt x="34" y="128"/>
                    <a:pt x="34" y="128"/>
                    <a:pt x="34" y="128"/>
                  </a:cubicBezTo>
                  <a:cubicBezTo>
                    <a:pt x="34" y="130"/>
                    <a:pt x="34" y="130"/>
                    <a:pt x="34" y="130"/>
                  </a:cubicBezTo>
                  <a:cubicBezTo>
                    <a:pt x="34" y="136"/>
                    <a:pt x="38" y="140"/>
                    <a:pt x="44" y="140"/>
                  </a:cubicBezTo>
                  <a:cubicBezTo>
                    <a:pt x="52" y="140"/>
                    <a:pt x="52" y="140"/>
                    <a:pt x="52" y="140"/>
                  </a:cubicBezTo>
                  <a:cubicBezTo>
                    <a:pt x="58" y="140"/>
                    <a:pt x="62" y="136"/>
                    <a:pt x="62" y="130"/>
                  </a:cubicBezTo>
                  <a:cubicBezTo>
                    <a:pt x="62" y="128"/>
                    <a:pt x="62" y="128"/>
                    <a:pt x="62" y="128"/>
                  </a:cubicBezTo>
                  <a:cubicBezTo>
                    <a:pt x="67" y="128"/>
                    <a:pt x="67" y="128"/>
                    <a:pt x="67" y="128"/>
                  </a:cubicBezTo>
                  <a:cubicBezTo>
                    <a:pt x="70" y="128"/>
                    <a:pt x="72" y="126"/>
                    <a:pt x="72" y="123"/>
                  </a:cubicBezTo>
                  <a:cubicBezTo>
                    <a:pt x="72" y="94"/>
                    <a:pt x="72" y="94"/>
                    <a:pt x="72" y="94"/>
                  </a:cubicBezTo>
                  <a:cubicBezTo>
                    <a:pt x="75" y="88"/>
                    <a:pt x="80" y="82"/>
                    <a:pt x="84" y="76"/>
                  </a:cubicBezTo>
                  <a:cubicBezTo>
                    <a:pt x="91" y="67"/>
                    <a:pt x="94" y="57"/>
                    <a:pt x="94" y="46"/>
                  </a:cubicBezTo>
                  <a:close/>
                  <a:moveTo>
                    <a:pt x="41" y="89"/>
                  </a:moveTo>
                  <a:cubicBezTo>
                    <a:pt x="32" y="53"/>
                    <a:pt x="32" y="53"/>
                    <a:pt x="32" y="53"/>
                  </a:cubicBezTo>
                  <a:cubicBezTo>
                    <a:pt x="37" y="50"/>
                    <a:pt x="37" y="50"/>
                    <a:pt x="37" y="50"/>
                  </a:cubicBezTo>
                  <a:cubicBezTo>
                    <a:pt x="43" y="56"/>
                    <a:pt x="43" y="56"/>
                    <a:pt x="43" y="56"/>
                  </a:cubicBezTo>
                  <a:cubicBezTo>
                    <a:pt x="44" y="56"/>
                    <a:pt x="44" y="56"/>
                    <a:pt x="45" y="56"/>
                  </a:cubicBezTo>
                  <a:cubicBezTo>
                    <a:pt x="46" y="56"/>
                    <a:pt x="46" y="56"/>
                    <a:pt x="47" y="56"/>
                  </a:cubicBezTo>
                  <a:cubicBezTo>
                    <a:pt x="52" y="49"/>
                    <a:pt x="52" y="49"/>
                    <a:pt x="52" y="49"/>
                  </a:cubicBezTo>
                  <a:cubicBezTo>
                    <a:pt x="55" y="55"/>
                    <a:pt x="55" y="55"/>
                    <a:pt x="55" y="55"/>
                  </a:cubicBezTo>
                  <a:cubicBezTo>
                    <a:pt x="55" y="56"/>
                    <a:pt x="56" y="56"/>
                    <a:pt x="57" y="56"/>
                  </a:cubicBezTo>
                  <a:cubicBezTo>
                    <a:pt x="57" y="56"/>
                    <a:pt x="58" y="56"/>
                    <a:pt x="58" y="56"/>
                  </a:cubicBezTo>
                  <a:cubicBezTo>
                    <a:pt x="62" y="54"/>
                    <a:pt x="62" y="54"/>
                    <a:pt x="62" y="54"/>
                  </a:cubicBezTo>
                  <a:cubicBezTo>
                    <a:pt x="54" y="89"/>
                    <a:pt x="54" y="89"/>
                    <a:pt x="54" y="89"/>
                  </a:cubicBezTo>
                  <a:lnTo>
                    <a:pt x="41" y="89"/>
                  </a:lnTo>
                  <a:close/>
                  <a:moveTo>
                    <a:pt x="62" y="98"/>
                  </a:moveTo>
                  <a:cubicBezTo>
                    <a:pt x="62" y="106"/>
                    <a:pt x="62" y="106"/>
                    <a:pt x="62" y="106"/>
                  </a:cubicBezTo>
                  <a:cubicBezTo>
                    <a:pt x="33" y="106"/>
                    <a:pt x="33" y="106"/>
                    <a:pt x="33" y="106"/>
                  </a:cubicBezTo>
                  <a:cubicBezTo>
                    <a:pt x="33" y="98"/>
                    <a:pt x="33" y="98"/>
                    <a:pt x="33" y="98"/>
                  </a:cubicBezTo>
                  <a:lnTo>
                    <a:pt x="62" y="98"/>
                  </a:lnTo>
                  <a:close/>
                  <a:moveTo>
                    <a:pt x="33" y="119"/>
                  </a:moveTo>
                  <a:cubicBezTo>
                    <a:pt x="33" y="111"/>
                    <a:pt x="33" y="111"/>
                    <a:pt x="33" y="111"/>
                  </a:cubicBezTo>
                  <a:cubicBezTo>
                    <a:pt x="62" y="111"/>
                    <a:pt x="62" y="111"/>
                    <a:pt x="62" y="111"/>
                  </a:cubicBezTo>
                  <a:cubicBezTo>
                    <a:pt x="62" y="118"/>
                    <a:pt x="62" y="118"/>
                    <a:pt x="62" y="118"/>
                  </a:cubicBezTo>
                  <a:lnTo>
                    <a:pt x="33" y="119"/>
                  </a:lnTo>
                  <a:close/>
                  <a:moveTo>
                    <a:pt x="64" y="88"/>
                  </a:moveTo>
                  <a:cubicBezTo>
                    <a:pt x="62" y="88"/>
                    <a:pt x="62" y="88"/>
                    <a:pt x="62" y="88"/>
                  </a:cubicBezTo>
                  <a:cubicBezTo>
                    <a:pt x="70" y="49"/>
                    <a:pt x="70" y="49"/>
                    <a:pt x="70" y="49"/>
                  </a:cubicBezTo>
                  <a:cubicBezTo>
                    <a:pt x="71" y="48"/>
                    <a:pt x="69" y="46"/>
                    <a:pt x="67" y="45"/>
                  </a:cubicBezTo>
                  <a:cubicBezTo>
                    <a:pt x="66" y="45"/>
                    <a:pt x="64" y="46"/>
                    <a:pt x="63" y="48"/>
                  </a:cubicBezTo>
                  <a:cubicBezTo>
                    <a:pt x="63" y="49"/>
                    <a:pt x="63" y="49"/>
                    <a:pt x="63" y="49"/>
                  </a:cubicBezTo>
                  <a:cubicBezTo>
                    <a:pt x="58" y="51"/>
                    <a:pt x="58" y="51"/>
                    <a:pt x="58" y="51"/>
                  </a:cubicBezTo>
                  <a:cubicBezTo>
                    <a:pt x="54" y="44"/>
                    <a:pt x="54" y="44"/>
                    <a:pt x="54" y="44"/>
                  </a:cubicBezTo>
                  <a:cubicBezTo>
                    <a:pt x="54" y="43"/>
                    <a:pt x="53" y="43"/>
                    <a:pt x="52" y="42"/>
                  </a:cubicBezTo>
                  <a:cubicBezTo>
                    <a:pt x="52" y="42"/>
                    <a:pt x="51" y="43"/>
                    <a:pt x="50" y="43"/>
                  </a:cubicBezTo>
                  <a:cubicBezTo>
                    <a:pt x="44" y="51"/>
                    <a:pt x="44" y="51"/>
                    <a:pt x="44" y="51"/>
                  </a:cubicBezTo>
                  <a:cubicBezTo>
                    <a:pt x="39" y="45"/>
                    <a:pt x="39" y="45"/>
                    <a:pt x="39" y="45"/>
                  </a:cubicBezTo>
                  <a:cubicBezTo>
                    <a:pt x="38" y="45"/>
                    <a:pt x="37" y="45"/>
                    <a:pt x="36" y="45"/>
                  </a:cubicBezTo>
                  <a:cubicBezTo>
                    <a:pt x="31" y="48"/>
                    <a:pt x="31" y="48"/>
                    <a:pt x="31" y="48"/>
                  </a:cubicBezTo>
                  <a:cubicBezTo>
                    <a:pt x="31" y="48"/>
                    <a:pt x="31" y="48"/>
                    <a:pt x="31" y="48"/>
                  </a:cubicBezTo>
                  <a:cubicBezTo>
                    <a:pt x="31" y="46"/>
                    <a:pt x="29" y="45"/>
                    <a:pt x="27" y="46"/>
                  </a:cubicBezTo>
                  <a:cubicBezTo>
                    <a:pt x="25" y="46"/>
                    <a:pt x="24" y="48"/>
                    <a:pt x="24" y="50"/>
                  </a:cubicBezTo>
                  <a:cubicBezTo>
                    <a:pt x="33" y="89"/>
                    <a:pt x="33" y="89"/>
                    <a:pt x="33" y="89"/>
                  </a:cubicBezTo>
                  <a:cubicBezTo>
                    <a:pt x="31" y="89"/>
                    <a:pt x="31" y="89"/>
                    <a:pt x="31" y="89"/>
                  </a:cubicBezTo>
                  <a:cubicBezTo>
                    <a:pt x="27" y="82"/>
                    <a:pt x="22" y="76"/>
                    <a:pt x="18" y="70"/>
                  </a:cubicBezTo>
                  <a:cubicBezTo>
                    <a:pt x="12" y="64"/>
                    <a:pt x="10" y="56"/>
                    <a:pt x="9" y="47"/>
                  </a:cubicBezTo>
                  <a:cubicBezTo>
                    <a:pt x="9" y="26"/>
                    <a:pt x="26" y="9"/>
                    <a:pt x="47" y="9"/>
                  </a:cubicBezTo>
                  <a:cubicBezTo>
                    <a:pt x="68" y="9"/>
                    <a:pt x="85" y="26"/>
                    <a:pt x="85" y="47"/>
                  </a:cubicBezTo>
                  <a:cubicBezTo>
                    <a:pt x="85" y="55"/>
                    <a:pt x="82" y="63"/>
                    <a:pt x="77" y="70"/>
                  </a:cubicBezTo>
                  <a:cubicBezTo>
                    <a:pt x="72" y="76"/>
                    <a:pt x="68" y="82"/>
                    <a:pt x="64" y="88"/>
                  </a:cubicBezTo>
                  <a:close/>
                  <a:moveTo>
                    <a:pt x="64" y="88"/>
                  </a:moveTo>
                  <a:cubicBezTo>
                    <a:pt x="64" y="88"/>
                    <a:pt x="64" y="88"/>
                    <a:pt x="64" y="88"/>
                  </a:cubicBezTo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sym typeface="+mn-lt"/>
              </a:endParaRPr>
            </a:p>
          </p:txBody>
        </p:sp>
        <p:sp>
          <p:nvSpPr>
            <p:cNvPr id="11" name="TextBox 56"/>
            <p:cNvSpPr txBox="1"/>
            <p:nvPr/>
          </p:nvSpPr>
          <p:spPr>
            <a:xfrm>
              <a:off x="5281860" y="2496032"/>
              <a:ext cx="550151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800" b="1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sym typeface="+mn-lt"/>
                </a:rPr>
                <a:t>01</a:t>
              </a:r>
              <a:br>
                <a: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sym typeface="+mn-lt"/>
                </a:rPr>
              </a:br>
              <a:endParaRPr kumimoji="0" lang="en-US" sz="12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sym typeface="+mn-lt"/>
              </a:endParaRPr>
            </a:p>
          </p:txBody>
        </p:sp>
        <p:sp>
          <p:nvSpPr>
            <p:cNvPr id="12" name="TextBox 57"/>
            <p:cNvSpPr txBox="1"/>
            <p:nvPr/>
          </p:nvSpPr>
          <p:spPr>
            <a:xfrm>
              <a:off x="6355124" y="2496032"/>
              <a:ext cx="550151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800" b="1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sym typeface="+mn-lt"/>
                </a:rPr>
                <a:t>02</a:t>
              </a:r>
              <a:br>
                <a: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sym typeface="+mn-lt"/>
                </a:rPr>
              </a:br>
              <a:endParaRPr kumimoji="0" lang="en-US" sz="12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sym typeface="+mn-lt"/>
              </a:endParaRPr>
            </a:p>
          </p:txBody>
        </p:sp>
        <p:sp>
          <p:nvSpPr>
            <p:cNvPr id="13" name="TextBox 58"/>
            <p:cNvSpPr txBox="1"/>
            <p:nvPr/>
          </p:nvSpPr>
          <p:spPr>
            <a:xfrm>
              <a:off x="5281860" y="4095994"/>
              <a:ext cx="550151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800" b="1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sym typeface="+mn-lt"/>
                </a:rPr>
                <a:t>03</a:t>
              </a:r>
              <a:br>
                <a: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sym typeface="+mn-lt"/>
                </a:rPr>
              </a:br>
              <a:endParaRPr kumimoji="0" lang="en-US" sz="12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sym typeface="+mn-lt"/>
              </a:endParaRPr>
            </a:p>
          </p:txBody>
        </p:sp>
        <p:sp>
          <p:nvSpPr>
            <p:cNvPr id="14" name="TextBox 59"/>
            <p:cNvSpPr txBox="1"/>
            <p:nvPr/>
          </p:nvSpPr>
          <p:spPr>
            <a:xfrm>
              <a:off x="6355124" y="4095994"/>
              <a:ext cx="550151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800" b="1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sym typeface="+mn-lt"/>
                </a:rPr>
                <a:t>04</a:t>
              </a:r>
              <a:br>
                <a: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sym typeface="+mn-lt"/>
                </a:rPr>
              </a:br>
              <a:endParaRPr kumimoji="0" lang="en-US" sz="12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sym typeface="+mn-lt"/>
              </a:endParaRPr>
            </a:p>
          </p:txBody>
        </p:sp>
      </p:grpSp>
      <p:grpSp>
        <p:nvGrpSpPr>
          <p:cNvPr id="26" name="PA_组合 25"/>
          <p:cNvGrpSpPr/>
          <p:nvPr>
            <p:custDataLst>
              <p:tags r:id="rId1"/>
            </p:custDataLst>
          </p:nvPr>
        </p:nvGrpSpPr>
        <p:grpSpPr>
          <a:xfrm>
            <a:off x="1628282" y="2526644"/>
            <a:ext cx="2855980" cy="823738"/>
            <a:chOff x="656868" y="2381121"/>
            <a:chExt cx="2855980" cy="823738"/>
          </a:xfrm>
        </p:grpSpPr>
        <p:sp>
          <p:nvSpPr>
            <p:cNvPr id="24" name="文本框 23"/>
            <p:cNvSpPr txBox="1"/>
            <p:nvPr/>
          </p:nvSpPr>
          <p:spPr>
            <a:xfrm>
              <a:off x="928440" y="2381121"/>
              <a:ext cx="2031325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400" b="1" dirty="0">
                  <a:solidFill>
                    <a:srgbClr val="24569D"/>
                  </a:solidFill>
                </a:rPr>
                <a:t>知识表示方法</a:t>
              </a:r>
            </a:p>
          </p:txBody>
        </p:sp>
        <p:sp>
          <p:nvSpPr>
            <p:cNvPr id="25" name="文本框 24"/>
            <p:cNvSpPr txBox="1"/>
            <p:nvPr/>
          </p:nvSpPr>
          <p:spPr>
            <a:xfrm>
              <a:off x="656868" y="2743194"/>
              <a:ext cx="285598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en-US" altLang="zh-CN" sz="2400" dirty="0">
                <a:latin typeface="微软雅黑" panose="020B0503020204020204" pitchFamily="34" charset="-122"/>
              </a:endParaRPr>
            </a:p>
          </p:txBody>
        </p:sp>
      </p:grpSp>
      <p:sp>
        <p:nvSpPr>
          <p:cNvPr id="28" name="文本框 27"/>
          <p:cNvSpPr txBox="1"/>
          <p:nvPr/>
        </p:nvSpPr>
        <p:spPr>
          <a:xfrm>
            <a:off x="8502923" y="4920321"/>
            <a:ext cx="203132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dirty="0">
                <a:solidFill>
                  <a:srgbClr val="FF0000"/>
                </a:solidFill>
              </a:rPr>
              <a:t>逻辑推理案例</a:t>
            </a:r>
          </a:p>
        </p:txBody>
      </p:sp>
      <p:sp>
        <p:nvSpPr>
          <p:cNvPr id="30" name="文本框 29"/>
          <p:cNvSpPr txBox="1"/>
          <p:nvPr/>
        </p:nvSpPr>
        <p:spPr>
          <a:xfrm>
            <a:off x="8441833" y="2411796"/>
            <a:ext cx="295465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dirty="0">
                <a:solidFill>
                  <a:srgbClr val="24569D"/>
                </a:solidFill>
              </a:rPr>
              <a:t>命题逻辑与谓词逻辑</a:t>
            </a:r>
          </a:p>
        </p:txBody>
      </p:sp>
      <p:sp>
        <p:nvSpPr>
          <p:cNvPr id="29" name="矩形 28"/>
          <p:cNvSpPr/>
          <p:nvPr/>
        </p:nvSpPr>
        <p:spPr>
          <a:xfrm>
            <a:off x="1898705" y="4869981"/>
            <a:ext cx="233910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/>
            <a:r>
              <a:rPr lang="zh-CN" altLang="en-US" sz="2400" b="1" dirty="0">
                <a:solidFill>
                  <a:srgbClr val="24569D"/>
                </a:solidFill>
              </a:rPr>
              <a:t>归结原理及应用</a:t>
            </a:r>
          </a:p>
        </p:txBody>
      </p:sp>
    </p:spTree>
    <p:extLst>
      <p:ext uri="{BB962C8B-B14F-4D97-AF65-F5344CB8AC3E}">
        <p14:creationId xmlns:p14="http://schemas.microsoft.com/office/powerpoint/2010/main" val="1411101537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3" name="Rectangle 3"/>
          <p:cNvSpPr>
            <a:spLocks noGrp="1" noChangeArrowheads="1"/>
          </p:cNvSpPr>
          <p:nvPr>
            <p:ph idx="1"/>
          </p:nvPr>
        </p:nvSpPr>
        <p:spPr>
          <a:xfrm>
            <a:off x="1089116" y="1479964"/>
            <a:ext cx="10773032" cy="3730863"/>
          </a:xfrm>
        </p:spPr>
        <p:txBody>
          <a:bodyPr>
            <a:normAutofit/>
          </a:bodyPr>
          <a:lstStyle/>
          <a:p>
            <a:pPr marL="0" indent="0">
              <a:lnSpc>
                <a:spcPct val="115000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rPr kumimoji="1" lang="zh-CN" altLang="en-US" sz="2700" dirty="0">
                <a:solidFill>
                  <a:srgbClr val="000000"/>
                </a:solidFill>
              </a:rPr>
              <a:t>案例背景：</a:t>
            </a:r>
            <a:endParaRPr kumimoji="1" lang="en-US" altLang="zh-CN" sz="2700" dirty="0">
              <a:solidFill>
                <a:srgbClr val="000000"/>
              </a:solidFill>
            </a:endParaRPr>
          </a:p>
          <a:p>
            <a:pPr marL="0" indent="0">
              <a:lnSpc>
                <a:spcPct val="115000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rPr lang="zh-CN" altLang="en-US" sz="1800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在某刑事案件中，一名侦探正在调查一桩</a:t>
            </a:r>
            <a:r>
              <a:rPr lang="zh-CN" altLang="en-US" sz="1800" b="1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盗窃案</a:t>
            </a:r>
            <a:r>
              <a:rPr lang="zh-CN" altLang="en-US" sz="1800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。已知：</a:t>
            </a:r>
            <a:endParaRPr lang="zh-CN" altLang="en-US" sz="18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Bef>
                <a:spcPts val="500"/>
              </a:spcBef>
              <a:spcAft>
                <a:spcPts val="500"/>
              </a:spcAft>
              <a:buFont typeface="Symbol" pitchFamily="2" charset="2"/>
              <a:buChar char=""/>
            </a:pPr>
            <a:r>
              <a:rPr lang="zh-CN" altLang="en-US" sz="1800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盗窃发生在</a:t>
            </a:r>
            <a:r>
              <a:rPr lang="zh-CN" altLang="en-US" sz="1800" b="1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晚上</a:t>
            </a:r>
            <a:r>
              <a:rPr lang="zh-CN" altLang="en-US" sz="1800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。</a:t>
            </a:r>
            <a:endParaRPr lang="zh-CN" altLang="en-US" sz="18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Bef>
                <a:spcPts val="500"/>
              </a:spcBef>
              <a:spcAft>
                <a:spcPts val="500"/>
              </a:spcAft>
              <a:buFont typeface="Symbol" pitchFamily="2" charset="2"/>
              <a:buChar char=""/>
            </a:pPr>
            <a:r>
              <a:rPr lang="zh-CN" altLang="en-US" sz="1800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犯罪嫌疑人要么是</a:t>
            </a:r>
            <a:r>
              <a:rPr lang="zh-CN" altLang="en-US" sz="1800" b="1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张三</a:t>
            </a:r>
            <a:r>
              <a:rPr lang="zh-CN" altLang="en-US" sz="1800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（</a:t>
            </a:r>
            <a:r>
              <a:rPr lang="en" altLang="zh-CN" sz="1800" kern="0" dirty="0" err="1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ZhangSan</a:t>
            </a:r>
            <a:r>
              <a:rPr lang="zh-CN" altLang="en" sz="1800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），</a:t>
            </a:r>
            <a:r>
              <a:rPr lang="zh-CN" altLang="en-US" sz="1800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要么是</a:t>
            </a:r>
            <a:r>
              <a:rPr lang="zh-CN" altLang="en-US" sz="1800" b="1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李四</a:t>
            </a:r>
            <a:r>
              <a:rPr lang="zh-CN" altLang="en-US" sz="1800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（</a:t>
            </a:r>
            <a:r>
              <a:rPr lang="en" altLang="zh-CN" sz="1800" kern="0" dirty="0" err="1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LiSi</a:t>
            </a:r>
            <a:r>
              <a:rPr lang="zh-CN" altLang="en" sz="1800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），</a:t>
            </a:r>
            <a:r>
              <a:rPr lang="zh-CN" altLang="en-US" sz="1800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但不可能是两人一起作案。</a:t>
            </a:r>
            <a:endParaRPr lang="zh-CN" altLang="en-US" sz="18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Bef>
                <a:spcPts val="500"/>
              </a:spcBef>
              <a:spcAft>
                <a:spcPts val="500"/>
              </a:spcAft>
              <a:buFont typeface="Symbol" pitchFamily="2" charset="2"/>
              <a:buChar char=""/>
            </a:pPr>
            <a:r>
              <a:rPr lang="zh-CN" altLang="en-US" sz="1800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目击者证实：</a:t>
            </a:r>
            <a:r>
              <a:rPr lang="zh-CN" altLang="en-US" sz="1800" b="1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罪犯在案发时戴着黑色手套</a:t>
            </a:r>
            <a:r>
              <a:rPr lang="zh-CN" altLang="en-US" sz="1800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。</a:t>
            </a:r>
            <a:endParaRPr lang="zh-CN" altLang="en-US" sz="18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Bef>
                <a:spcPts val="500"/>
              </a:spcBef>
              <a:spcAft>
                <a:spcPts val="500"/>
              </a:spcAft>
              <a:buFont typeface="Symbol" pitchFamily="2" charset="2"/>
              <a:buChar char=""/>
            </a:pPr>
            <a:r>
              <a:rPr lang="zh-CN" altLang="en-US" sz="1800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调查发现：张三家中有</a:t>
            </a:r>
            <a:r>
              <a:rPr lang="zh-CN" altLang="en-US" sz="1800" b="1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黑色手套</a:t>
            </a:r>
            <a:r>
              <a:rPr lang="zh-CN" altLang="en-US" sz="1800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，但李四没有。</a:t>
            </a:r>
            <a:endParaRPr lang="zh-CN" altLang="en-US" sz="18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Bef>
                <a:spcPts val="500"/>
              </a:spcBef>
              <a:spcAft>
                <a:spcPts val="500"/>
              </a:spcAft>
              <a:buFont typeface="Symbol" pitchFamily="2" charset="2"/>
              <a:buChar char=""/>
            </a:pPr>
            <a:r>
              <a:rPr lang="zh-CN" altLang="en-US" sz="1800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另有证据表明：</a:t>
            </a:r>
            <a:r>
              <a:rPr lang="zh-CN" altLang="en-US" sz="1800" b="1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罪犯作案时必须会撬锁</a:t>
            </a:r>
            <a:r>
              <a:rPr lang="zh-CN" altLang="en-US" sz="1800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，但张三不会撬锁，而李四是锁匠。</a:t>
            </a:r>
            <a:endParaRPr lang="zh-CN" altLang="en-US" sz="18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Bef>
                <a:spcPts val="500"/>
              </a:spcBef>
              <a:spcAft>
                <a:spcPts val="500"/>
              </a:spcAft>
              <a:buFont typeface="Symbol" pitchFamily="2" charset="2"/>
              <a:buChar char=""/>
            </a:pPr>
            <a:r>
              <a:rPr lang="zh-CN" altLang="en-US" sz="1800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由于犯罪现场没有强行进入的痕迹，说明</a:t>
            </a:r>
            <a:r>
              <a:rPr lang="zh-CN" altLang="en-US" sz="1800" b="1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罪犯是用撬锁进入的</a:t>
            </a:r>
            <a:r>
              <a:rPr lang="zh-CN" altLang="en-US" sz="1800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。</a:t>
            </a:r>
            <a:endParaRPr lang="zh-CN" altLang="en-US" sz="18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lnSpc>
                <a:spcPct val="120000"/>
              </a:lnSpc>
              <a:buNone/>
            </a:pPr>
            <a:endParaRPr kumimoji="1" lang="en-US" altLang="zh-CN" sz="2700" dirty="0">
              <a:solidFill>
                <a:srgbClr val="000000"/>
              </a:solidFill>
            </a:endParaRPr>
          </a:p>
          <a:p>
            <a:pPr algn="just">
              <a:lnSpc>
                <a:spcPct val="120000"/>
              </a:lnSpc>
              <a:buNone/>
            </a:pPr>
            <a:endParaRPr lang="en-US" altLang="zh-CN" sz="1800" kern="0" dirty="0">
              <a:effectLst/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lnSpc>
                <a:spcPct val="120000"/>
              </a:lnSpc>
              <a:buFontTx/>
              <a:buNone/>
            </a:pPr>
            <a:endParaRPr kumimoji="1" lang="zh-CN" altLang="en-US" sz="2700" dirty="0">
              <a:solidFill>
                <a:srgbClr val="000000"/>
              </a:solidFill>
            </a:endParaRP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DB960FD4-17BD-6117-6E1A-B03D90CA80A2}"/>
              </a:ext>
            </a:extLst>
          </p:cNvPr>
          <p:cNvSpPr txBox="1">
            <a:spLocks noChangeArrowheads="1"/>
          </p:cNvSpPr>
          <p:nvPr/>
        </p:nvSpPr>
        <p:spPr>
          <a:xfrm>
            <a:off x="3188135" y="5569710"/>
            <a:ext cx="8674013" cy="101460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5000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rPr lang="zh-CN" altLang="en-US" sz="1800" kern="0" dirty="0">
                <a:solidFill>
                  <a:srgbClr val="FF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目标</a:t>
            </a:r>
            <a:r>
              <a:rPr lang="zh-CN" altLang="en-US" sz="1800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：使用</a:t>
            </a:r>
            <a:r>
              <a:rPr lang="zh-CN" altLang="en-US" sz="1800" b="1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归结原理</a:t>
            </a:r>
            <a:r>
              <a:rPr lang="zh-CN" altLang="en-US" sz="1800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进行逻辑推理，确定罪犯是谁。</a:t>
            </a:r>
            <a:endParaRPr lang="zh-CN" altLang="en-US" sz="18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lnSpc>
                <a:spcPct val="120000"/>
              </a:lnSpc>
              <a:buFont typeface="Arial" panose="020B0604020202020204" pitchFamily="34" charset="0"/>
              <a:buNone/>
            </a:pPr>
            <a:endParaRPr kumimoji="1" lang="zh-CN" altLang="en-US" sz="2700" dirty="0">
              <a:solidFill>
                <a:srgbClr val="000000"/>
              </a:solidFill>
            </a:endParaRP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CD30538A-32A3-54D2-046A-40718036F1E0}"/>
              </a:ext>
            </a:extLst>
          </p:cNvPr>
          <p:cNvSpPr txBox="1">
            <a:spLocks/>
          </p:cNvSpPr>
          <p:nvPr/>
        </p:nvSpPr>
        <p:spPr>
          <a:xfrm>
            <a:off x="552342" y="485383"/>
            <a:ext cx="8806446" cy="11448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zh-CN" altLang="en-US" sz="3600" dirty="0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案例</a:t>
            </a:r>
            <a:r>
              <a:rPr lang="en-US" altLang="zh-CN" sz="3600" dirty="0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1</a:t>
            </a:r>
            <a:r>
              <a:rPr lang="zh-CN" altLang="en-US" sz="3600" dirty="0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：</a:t>
            </a:r>
            <a:r>
              <a:rPr lang="zh-CN" altLang="en-US" sz="2700" dirty="0">
                <a:solidFill>
                  <a:schemeClr val="accent1">
                    <a:lumMod val="75000"/>
                  </a:schemeClr>
                </a:solidFill>
                <a:latin typeface=".AppleSystemUIFont"/>
              </a:rPr>
              <a:t>破案推理</a:t>
            </a:r>
            <a:br>
              <a:rPr lang="zh-CN" altLang="en-US" dirty="0">
                <a:solidFill>
                  <a:srgbClr val="0E0E0E"/>
                </a:solidFill>
                <a:latin typeface=".AppleSystemUIFont"/>
              </a:rPr>
            </a:b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383655745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3" name="Rectangle 3"/>
          <p:cNvSpPr>
            <a:spLocks noGrp="1" noChangeArrowheads="1"/>
          </p:cNvSpPr>
          <p:nvPr>
            <p:ph idx="1"/>
          </p:nvPr>
        </p:nvSpPr>
        <p:spPr>
          <a:xfrm>
            <a:off x="922732" y="2594944"/>
            <a:ext cx="4853035" cy="2814709"/>
          </a:xfrm>
        </p:spPr>
        <p:txBody>
          <a:bodyPr>
            <a:normAutofit/>
          </a:bodyPr>
          <a:lstStyle/>
          <a:p>
            <a:pPr marL="342900" lvl="0" indent="-342900">
              <a:lnSpc>
                <a:spcPct val="115000"/>
              </a:lnSpc>
              <a:spcBef>
                <a:spcPts val="500"/>
              </a:spcBef>
              <a:spcAft>
                <a:spcPts val="500"/>
              </a:spcAft>
              <a:buFont typeface="Symbol" pitchFamily="2" charset="2"/>
              <a:buChar char=""/>
            </a:pPr>
            <a:r>
              <a:rPr lang="en" altLang="zh-CN" sz="1800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Suspect(X)</a:t>
            </a:r>
            <a:r>
              <a:rPr lang="zh-CN" altLang="en" sz="1800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：</a:t>
            </a:r>
            <a:r>
              <a:rPr lang="en" altLang="zh-CN" sz="1800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X </a:t>
            </a:r>
            <a:r>
              <a:rPr lang="zh-CN" altLang="en-US" sz="1800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是嫌疑人</a:t>
            </a:r>
          </a:p>
          <a:p>
            <a:pPr marL="342900" lvl="0" indent="-342900">
              <a:lnSpc>
                <a:spcPct val="115000"/>
              </a:lnSpc>
              <a:spcBef>
                <a:spcPts val="500"/>
              </a:spcBef>
              <a:spcAft>
                <a:spcPts val="500"/>
              </a:spcAft>
              <a:buFont typeface="Symbol" pitchFamily="2" charset="2"/>
              <a:buChar char=""/>
            </a:pPr>
            <a:r>
              <a:rPr lang="en" altLang="zh-CN" sz="1800" kern="0" dirty="0" err="1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BlackGloves</a:t>
            </a:r>
            <a:r>
              <a:rPr lang="en" altLang="zh-CN" sz="1800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(X)</a:t>
            </a:r>
            <a:r>
              <a:rPr lang="zh-CN" altLang="en" sz="1800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：</a:t>
            </a:r>
            <a:r>
              <a:rPr lang="en" altLang="zh-CN" sz="1800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X </a:t>
            </a:r>
            <a:r>
              <a:rPr lang="zh-CN" altLang="en-US" sz="1800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有黑色手套</a:t>
            </a:r>
          </a:p>
          <a:p>
            <a:pPr marL="342900" lvl="0" indent="-342900">
              <a:lnSpc>
                <a:spcPct val="115000"/>
              </a:lnSpc>
              <a:spcBef>
                <a:spcPts val="500"/>
              </a:spcBef>
              <a:spcAft>
                <a:spcPts val="500"/>
              </a:spcAft>
              <a:buFont typeface="Symbol" pitchFamily="2" charset="2"/>
              <a:buChar char=""/>
            </a:pPr>
            <a:r>
              <a:rPr lang="en" altLang="zh-CN" sz="1800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Criminal(X)</a:t>
            </a:r>
            <a:r>
              <a:rPr lang="zh-CN" altLang="en" sz="1800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：</a:t>
            </a:r>
            <a:r>
              <a:rPr lang="en" altLang="zh-CN" sz="1800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X </a:t>
            </a:r>
            <a:r>
              <a:rPr lang="zh-CN" altLang="en-US" sz="1800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是罪犯</a:t>
            </a:r>
          </a:p>
          <a:p>
            <a:pPr marL="342900" lvl="0" indent="-342900">
              <a:lnSpc>
                <a:spcPct val="115000"/>
              </a:lnSpc>
              <a:spcBef>
                <a:spcPts val="500"/>
              </a:spcBef>
              <a:spcAft>
                <a:spcPts val="500"/>
              </a:spcAft>
              <a:buFont typeface="Symbol" pitchFamily="2" charset="2"/>
              <a:buChar char=""/>
            </a:pPr>
            <a:r>
              <a:rPr lang="en" altLang="zh-CN" sz="1800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Lock(X)</a:t>
            </a:r>
            <a:r>
              <a:rPr lang="zh-CN" altLang="en" sz="1800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：</a:t>
            </a:r>
            <a:r>
              <a:rPr lang="en" altLang="zh-CN" sz="1800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X </a:t>
            </a:r>
            <a:r>
              <a:rPr lang="zh-CN" altLang="en-US" sz="1800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会撬锁</a:t>
            </a:r>
          </a:p>
          <a:p>
            <a:pPr marL="342900" lvl="0" indent="-342900">
              <a:lnSpc>
                <a:spcPct val="115000"/>
              </a:lnSpc>
              <a:spcBef>
                <a:spcPts val="500"/>
              </a:spcBef>
              <a:spcAft>
                <a:spcPts val="500"/>
              </a:spcAft>
              <a:buFont typeface="Symbol" pitchFamily="2" charset="2"/>
              <a:buChar char=""/>
            </a:pPr>
            <a:r>
              <a:rPr lang="en" altLang="zh-CN" sz="1800" kern="0" dirty="0" err="1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WearsGloves</a:t>
            </a:r>
            <a:r>
              <a:rPr lang="en" altLang="zh-CN" sz="1800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(X)</a:t>
            </a:r>
            <a:r>
              <a:rPr lang="zh-CN" altLang="en" sz="1800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：</a:t>
            </a:r>
            <a:r>
              <a:rPr lang="en" altLang="zh-CN" sz="1800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X </a:t>
            </a:r>
            <a:r>
              <a:rPr lang="zh-CN" altLang="en-US" sz="1800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戴黑色手套</a:t>
            </a:r>
          </a:p>
          <a:p>
            <a:pPr marL="342900" lvl="0" indent="-342900">
              <a:lnSpc>
                <a:spcPct val="115000"/>
              </a:lnSpc>
              <a:spcBef>
                <a:spcPts val="500"/>
              </a:spcBef>
              <a:spcAft>
                <a:spcPts val="500"/>
              </a:spcAft>
              <a:buFont typeface="Symbol" pitchFamily="2" charset="2"/>
              <a:buChar char=""/>
            </a:pPr>
            <a:r>
              <a:rPr lang="en" altLang="zh-CN" sz="1800" kern="0" dirty="0" err="1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CrimeEntry</a:t>
            </a:r>
            <a:r>
              <a:rPr lang="en" altLang="zh-CN" sz="1800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(Lock)</a:t>
            </a:r>
            <a:r>
              <a:rPr lang="zh-CN" altLang="en" sz="1800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：</a:t>
            </a:r>
            <a:r>
              <a:rPr lang="zh-CN" altLang="en-US" sz="1800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犯罪通过撬锁进入</a:t>
            </a:r>
          </a:p>
          <a:p>
            <a:pPr algn="just">
              <a:lnSpc>
                <a:spcPct val="120000"/>
              </a:lnSpc>
              <a:buNone/>
            </a:pPr>
            <a:endParaRPr kumimoji="1" lang="en-US" altLang="zh-CN" sz="2700" dirty="0">
              <a:solidFill>
                <a:srgbClr val="000000"/>
              </a:solidFill>
            </a:endParaRPr>
          </a:p>
          <a:p>
            <a:pPr algn="just">
              <a:lnSpc>
                <a:spcPct val="120000"/>
              </a:lnSpc>
              <a:buNone/>
            </a:pPr>
            <a:endParaRPr lang="en-US" altLang="zh-CN" sz="1800" kern="0" dirty="0">
              <a:effectLst/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lnSpc>
                <a:spcPct val="120000"/>
              </a:lnSpc>
              <a:buFontTx/>
              <a:buNone/>
            </a:pPr>
            <a:endParaRPr kumimoji="1" lang="zh-CN" altLang="en-US" sz="2700" dirty="0">
              <a:solidFill>
                <a:srgbClr val="000000"/>
              </a:solidFill>
            </a:endParaRP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CD30538A-32A3-54D2-046A-40718036F1E0}"/>
              </a:ext>
            </a:extLst>
          </p:cNvPr>
          <p:cNvSpPr txBox="1">
            <a:spLocks/>
          </p:cNvSpPr>
          <p:nvPr/>
        </p:nvSpPr>
        <p:spPr>
          <a:xfrm>
            <a:off x="552342" y="485383"/>
            <a:ext cx="8806446" cy="11448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zh-CN" altLang="en-US" sz="3600" dirty="0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案例</a:t>
            </a:r>
            <a:r>
              <a:rPr lang="en-US" altLang="zh-CN" sz="3600" dirty="0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1</a:t>
            </a:r>
            <a:r>
              <a:rPr lang="zh-CN" altLang="en-US" sz="3600" dirty="0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：</a:t>
            </a:r>
            <a:r>
              <a:rPr lang="zh-CN" altLang="en-US" sz="2700" dirty="0">
                <a:solidFill>
                  <a:schemeClr val="accent1">
                    <a:lumMod val="75000"/>
                  </a:schemeClr>
                </a:solidFill>
                <a:latin typeface=".AppleSystemUIFont"/>
              </a:rPr>
              <a:t>破案推理</a:t>
            </a:r>
            <a:br>
              <a:rPr lang="zh-CN" altLang="en-US" dirty="0">
                <a:solidFill>
                  <a:srgbClr val="0E0E0E"/>
                </a:solidFill>
                <a:latin typeface=".AppleSystemUIFont"/>
              </a:rPr>
            </a:br>
            <a:endParaRPr lang="zh-CN" altLang="en-US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A50B065-C853-900E-719E-42EE4797EB96}"/>
              </a:ext>
            </a:extLst>
          </p:cNvPr>
          <p:cNvSpPr txBox="1"/>
          <p:nvPr/>
        </p:nvSpPr>
        <p:spPr>
          <a:xfrm>
            <a:off x="633365" y="1852314"/>
            <a:ext cx="3142527" cy="520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defRPr/>
            </a:pPr>
            <a:r>
              <a:rPr lang="zh-CN" altLang="en-US" sz="2400" dirty="0">
                <a:solidFill>
                  <a:schemeClr val="accent1">
                    <a:lumMod val="75000"/>
                  </a:schemeClr>
                </a:solidFill>
                <a:latin typeface=".AppleSystemUIFont"/>
                <a:ea typeface="+mj-ea"/>
                <a:cs typeface="+mj-cs"/>
              </a:rPr>
              <a:t>（</a:t>
            </a:r>
            <a:r>
              <a:rPr lang="en-US" altLang="zh-CN" sz="2400" dirty="0">
                <a:solidFill>
                  <a:schemeClr val="accent1">
                    <a:lumMod val="75000"/>
                  </a:schemeClr>
                </a:solidFill>
                <a:latin typeface=".AppleSystemUIFont"/>
                <a:ea typeface="+mj-ea"/>
                <a:cs typeface="+mj-cs"/>
              </a:rPr>
              <a:t>1</a:t>
            </a:r>
            <a:r>
              <a:rPr lang="zh-CN" altLang="en-US" sz="2400" dirty="0">
                <a:solidFill>
                  <a:schemeClr val="accent1">
                    <a:lumMod val="75000"/>
                  </a:schemeClr>
                </a:solidFill>
                <a:latin typeface=".AppleSystemUIFont"/>
                <a:ea typeface="+mj-ea"/>
                <a:cs typeface="+mj-cs"/>
              </a:rPr>
              <a:t>）定义谓词 </a:t>
            </a: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D6A2591E-9D2A-0FFF-7CE9-EA7BEA97B6AB}"/>
              </a:ext>
            </a:extLst>
          </p:cNvPr>
          <p:cNvSpPr txBox="1">
            <a:spLocks noChangeArrowheads="1"/>
          </p:cNvSpPr>
          <p:nvPr/>
        </p:nvSpPr>
        <p:spPr>
          <a:xfrm>
            <a:off x="5877537" y="1710348"/>
            <a:ext cx="7213430" cy="5060842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5000"/>
              </a:lnSpc>
              <a:spcBef>
                <a:spcPts val="500"/>
              </a:spcBef>
              <a:spcAft>
                <a:spcPts val="500"/>
              </a:spcAft>
              <a:buFont typeface="Arial" panose="020B0604020202020204" pitchFamily="34" charset="0"/>
              <a:buNone/>
            </a:pPr>
            <a:r>
              <a:rPr lang="zh-CN" altLang="en-US" sz="1800" kern="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在某刑事案件中，一名侦探正在调查一桩</a:t>
            </a:r>
            <a:r>
              <a:rPr lang="zh-CN" altLang="en-US" sz="1800" b="1" kern="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盗窃案</a:t>
            </a:r>
            <a:r>
              <a:rPr lang="zh-CN" altLang="en-US" sz="1800" kern="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。已知：</a:t>
            </a:r>
            <a:endParaRPr lang="zh-CN" altLang="en-US" sz="1800" kern="100" dirty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0" indent="0">
              <a:lnSpc>
                <a:spcPct val="115000"/>
              </a:lnSpc>
              <a:spcBef>
                <a:spcPts val="500"/>
              </a:spcBef>
              <a:spcAft>
                <a:spcPts val="500"/>
              </a:spcAft>
              <a:buFont typeface="Arial" panose="020B0604020202020204" pitchFamily="34" charset="0"/>
              <a:buNone/>
            </a:pPr>
            <a:r>
              <a:rPr lang="en-US" altLang="zh-CN" sz="1800" kern="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F1</a:t>
            </a:r>
            <a:r>
              <a:rPr lang="en-US" altLang="zh-CN" sz="1800" kern="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:</a:t>
            </a:r>
            <a:r>
              <a:rPr lang="zh-CN" altLang="en-US" sz="1800" kern="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罪犯只能是张三或李四：</a:t>
            </a:r>
            <a:endParaRPr lang="en-US" altLang="zh-CN" sz="1800" kern="0" dirty="0"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indent="0">
              <a:lnSpc>
                <a:spcPct val="115000"/>
              </a:lnSpc>
              <a:spcBef>
                <a:spcPts val="500"/>
              </a:spcBef>
              <a:spcAft>
                <a:spcPts val="500"/>
              </a:spcAft>
              <a:buFont typeface="Arial" panose="020B0604020202020204" pitchFamily="34" charset="0"/>
              <a:buNone/>
            </a:pPr>
            <a:r>
              <a:rPr lang="zh-CN" altLang="en-US" sz="1800" kern="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   </a:t>
            </a:r>
            <a:r>
              <a:rPr lang="en" altLang="zh-CN" sz="1800" kern="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Suspect(X) → (X = </a:t>
            </a:r>
            <a:r>
              <a:rPr lang="en" altLang="zh-CN" sz="1800" kern="0" dirty="0" err="1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ZhangSan</a:t>
            </a:r>
            <a:r>
              <a:rPr lang="en" altLang="zh-CN" sz="1800" kern="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 ∨ X = </a:t>
            </a:r>
            <a:r>
              <a:rPr lang="en" altLang="zh-CN" sz="1800" kern="0" dirty="0" err="1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LiSi</a:t>
            </a:r>
            <a:r>
              <a:rPr lang="en" altLang="zh-CN" sz="1800" kern="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endParaRPr lang="zh-CN" altLang="en-US" sz="1800" kern="0" dirty="0"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indent="0">
              <a:lnSpc>
                <a:spcPct val="115000"/>
              </a:lnSpc>
              <a:spcBef>
                <a:spcPts val="500"/>
              </a:spcBef>
              <a:spcAft>
                <a:spcPts val="500"/>
              </a:spcAft>
              <a:buFont typeface="Arial" panose="020B0604020202020204" pitchFamily="34" charset="0"/>
              <a:buNone/>
            </a:pPr>
            <a:r>
              <a:rPr lang="en-US" altLang="zh-CN" sz="1800" kern="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F2</a:t>
            </a:r>
            <a:r>
              <a:rPr lang="en-US" altLang="zh-CN" sz="1800" kern="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:</a:t>
            </a:r>
            <a:r>
              <a:rPr lang="zh-CN" altLang="en-US" sz="1800" kern="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罪犯戴黑色手套：</a:t>
            </a:r>
            <a:endParaRPr lang="en-US" altLang="zh-CN" sz="1800" kern="0" dirty="0"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indent="0">
              <a:lnSpc>
                <a:spcPct val="115000"/>
              </a:lnSpc>
              <a:spcBef>
                <a:spcPts val="500"/>
              </a:spcBef>
              <a:spcAft>
                <a:spcPts val="500"/>
              </a:spcAft>
              <a:buFont typeface="Arial" panose="020B0604020202020204" pitchFamily="34" charset="0"/>
              <a:buNone/>
            </a:pPr>
            <a:r>
              <a:rPr lang="zh-CN" altLang="en-US" sz="1800" kern="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   </a:t>
            </a:r>
            <a:r>
              <a:rPr lang="en" altLang="zh-CN" sz="1800" kern="0" dirty="0" err="1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WearsGloves</a:t>
            </a:r>
            <a:r>
              <a:rPr lang="en" altLang="zh-CN" sz="1800" kern="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(X) → </a:t>
            </a:r>
            <a:r>
              <a:rPr lang="en" altLang="zh-CN" sz="1800" kern="0" dirty="0" err="1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BlackGloves</a:t>
            </a:r>
            <a:r>
              <a:rPr lang="en" altLang="zh-CN" sz="1800" kern="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(X)</a:t>
            </a:r>
            <a:endParaRPr lang="zh-CN" altLang="en-US" sz="1800" kern="0" dirty="0"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indent="0">
              <a:lnSpc>
                <a:spcPct val="115000"/>
              </a:lnSpc>
              <a:spcBef>
                <a:spcPts val="500"/>
              </a:spcBef>
              <a:spcAft>
                <a:spcPts val="500"/>
              </a:spcAft>
              <a:buFont typeface="Arial" panose="020B0604020202020204" pitchFamily="34" charset="0"/>
              <a:buNone/>
            </a:pPr>
            <a:r>
              <a:rPr lang="en-US" altLang="zh-CN" sz="1800" kern="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F3</a:t>
            </a:r>
            <a:r>
              <a:rPr lang="en-US" altLang="zh-CN" sz="1800" kern="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:</a:t>
            </a:r>
            <a:r>
              <a:rPr lang="zh-CN" altLang="en-US" sz="1800" kern="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张三有黑色手套，李四没有：</a:t>
            </a:r>
            <a:endParaRPr lang="en-US" altLang="zh-CN" sz="1800" kern="0" dirty="0"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indent="0">
              <a:lnSpc>
                <a:spcPct val="115000"/>
              </a:lnSpc>
              <a:spcBef>
                <a:spcPts val="500"/>
              </a:spcBef>
              <a:spcAft>
                <a:spcPts val="500"/>
              </a:spcAft>
              <a:buFont typeface="Arial" panose="020B0604020202020204" pitchFamily="34" charset="0"/>
              <a:buNone/>
            </a:pPr>
            <a:r>
              <a:rPr lang="zh-CN" altLang="en-US" sz="1800" kern="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   </a:t>
            </a:r>
            <a:r>
              <a:rPr lang="en" altLang="zh-CN" sz="1800" kern="0" dirty="0" err="1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BlackGloves</a:t>
            </a:r>
            <a:r>
              <a:rPr lang="en" altLang="zh-CN" sz="1800" kern="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" altLang="zh-CN" sz="1800" kern="0" dirty="0" err="1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ZhangSan</a:t>
            </a:r>
            <a:r>
              <a:rPr lang="en" altLang="zh-CN" sz="1800" kern="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en-US" sz="1800" kern="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lang="en" altLang="zh-CN" sz="1800" kern="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¬</a:t>
            </a:r>
            <a:r>
              <a:rPr lang="en" altLang="zh-CN" sz="1800" kern="0" dirty="0" err="1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BlackGloves</a:t>
            </a:r>
            <a:r>
              <a:rPr lang="en" altLang="zh-CN" sz="1800" kern="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" altLang="zh-CN" sz="1800" kern="0" dirty="0" err="1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LiSi</a:t>
            </a:r>
            <a:r>
              <a:rPr lang="en" altLang="zh-CN" sz="1800" kern="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endParaRPr lang="zh-CN" altLang="en-US" sz="1800" kern="0" dirty="0"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indent="0">
              <a:lnSpc>
                <a:spcPct val="115000"/>
              </a:lnSpc>
              <a:spcBef>
                <a:spcPts val="500"/>
              </a:spcBef>
              <a:spcAft>
                <a:spcPts val="500"/>
              </a:spcAft>
              <a:buFont typeface="Arial" panose="020B0604020202020204" pitchFamily="34" charset="0"/>
              <a:buNone/>
            </a:pPr>
            <a:r>
              <a:rPr lang="en-US" altLang="zh-CN" sz="1800" kern="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F4</a:t>
            </a:r>
            <a:r>
              <a:rPr lang="en-US" altLang="zh-CN" sz="1800" kern="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:</a:t>
            </a:r>
            <a:r>
              <a:rPr lang="zh-CN" altLang="en-US" sz="1800" kern="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罪犯必须会撬锁：</a:t>
            </a:r>
            <a:endParaRPr lang="en-US" altLang="zh-CN" sz="1800" kern="0" dirty="0"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indent="0">
              <a:lnSpc>
                <a:spcPct val="115000"/>
              </a:lnSpc>
              <a:spcBef>
                <a:spcPts val="500"/>
              </a:spcBef>
              <a:spcAft>
                <a:spcPts val="500"/>
              </a:spcAft>
              <a:buFont typeface="Arial" panose="020B0604020202020204" pitchFamily="34" charset="0"/>
              <a:buNone/>
            </a:pPr>
            <a:r>
              <a:rPr lang="zh-CN" altLang="en-US" sz="1800" kern="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   </a:t>
            </a:r>
            <a:r>
              <a:rPr lang="en" altLang="zh-CN" sz="1800" kern="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Criminal(X) → Lock (X)</a:t>
            </a:r>
            <a:endParaRPr lang="zh-CN" altLang="en-US" sz="1800" kern="0" dirty="0"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indent="0">
              <a:lnSpc>
                <a:spcPct val="115000"/>
              </a:lnSpc>
              <a:spcBef>
                <a:spcPts val="500"/>
              </a:spcBef>
              <a:spcAft>
                <a:spcPts val="500"/>
              </a:spcAft>
              <a:buFont typeface="Arial" panose="020B0604020202020204" pitchFamily="34" charset="0"/>
              <a:buNone/>
            </a:pPr>
            <a:r>
              <a:rPr lang="en-US" altLang="zh-CN" sz="1800" kern="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F5</a:t>
            </a:r>
            <a:r>
              <a:rPr lang="en-US" altLang="zh-CN" sz="1800" kern="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:</a:t>
            </a:r>
            <a:r>
              <a:rPr lang="zh-CN" altLang="en-US" sz="1800" kern="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张三不会撬锁，李四是锁匠：</a:t>
            </a:r>
            <a:endParaRPr lang="en-US" altLang="zh-CN" sz="1800" kern="0" dirty="0"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indent="0">
              <a:lnSpc>
                <a:spcPct val="115000"/>
              </a:lnSpc>
              <a:spcBef>
                <a:spcPts val="500"/>
              </a:spcBef>
              <a:spcAft>
                <a:spcPts val="500"/>
              </a:spcAft>
              <a:buFont typeface="Arial" panose="020B0604020202020204" pitchFamily="34" charset="0"/>
              <a:buNone/>
            </a:pPr>
            <a:r>
              <a:rPr lang="zh-CN" altLang="en-US" sz="1800" kern="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   </a:t>
            </a:r>
            <a:r>
              <a:rPr lang="en" altLang="zh-CN" sz="1800" kern="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¬Lock (</a:t>
            </a:r>
            <a:r>
              <a:rPr lang="en" altLang="zh-CN" sz="1800" kern="0" dirty="0" err="1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ZhangSan</a:t>
            </a:r>
            <a:r>
              <a:rPr lang="en" altLang="zh-CN" sz="1800" kern="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en-US" sz="1800" kern="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lang="en" altLang="zh-CN" sz="1800" kern="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Lock (</a:t>
            </a:r>
            <a:r>
              <a:rPr lang="en" altLang="zh-CN" sz="1800" kern="0" dirty="0" err="1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LiSi</a:t>
            </a:r>
            <a:r>
              <a:rPr lang="en" altLang="zh-CN" sz="1800" kern="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</a:p>
          <a:p>
            <a:pPr marL="0" indent="0">
              <a:lnSpc>
                <a:spcPct val="115000"/>
              </a:lnSpc>
              <a:spcBef>
                <a:spcPts val="500"/>
              </a:spcBef>
              <a:spcAft>
                <a:spcPts val="500"/>
              </a:spcAft>
              <a:buFont typeface="Arial" panose="020B0604020202020204" pitchFamily="34" charset="0"/>
              <a:buNone/>
            </a:pPr>
            <a:r>
              <a:rPr lang="en-US" altLang="zh-CN" sz="1800" kern="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F6</a:t>
            </a:r>
            <a:r>
              <a:rPr lang="en-US" altLang="zh-CN" sz="1800" kern="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:</a:t>
            </a:r>
            <a:r>
              <a:rPr lang="zh-CN" altLang="en-US" sz="1800" kern="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罪犯作案时是通过撬锁进入的：</a:t>
            </a:r>
            <a:r>
              <a:rPr lang="en" altLang="zh-CN" sz="1800" kern="0" dirty="0" err="1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CrimeEntry</a:t>
            </a:r>
            <a:r>
              <a:rPr lang="en" altLang="zh-CN" sz="1800" kern="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 (Lock)</a:t>
            </a:r>
            <a:endParaRPr lang="zh-CN" altLang="en-US" sz="1800" kern="0" dirty="0"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lnSpc>
                <a:spcPct val="120000"/>
              </a:lnSpc>
              <a:buFont typeface="Arial" panose="020B0604020202020204" pitchFamily="34" charset="0"/>
              <a:buNone/>
            </a:pPr>
            <a:endParaRPr lang="en-US" altLang="zh-CN" sz="1800" kern="0" dirty="0"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lnSpc>
                <a:spcPct val="120000"/>
              </a:lnSpc>
              <a:buFontTx/>
              <a:buNone/>
            </a:pPr>
            <a:endParaRPr kumimoji="1" lang="zh-CN" altLang="en-US" sz="2700" dirty="0">
              <a:solidFill>
                <a:srgbClr val="000000"/>
              </a:solidFill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788E85F2-F0FF-9634-F61C-9315F0452763}"/>
              </a:ext>
            </a:extLst>
          </p:cNvPr>
          <p:cNvSpPr txBox="1"/>
          <p:nvPr/>
        </p:nvSpPr>
        <p:spPr>
          <a:xfrm>
            <a:off x="5600221" y="1062362"/>
            <a:ext cx="3142527" cy="520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defRPr/>
            </a:pPr>
            <a:r>
              <a:rPr lang="zh-CN" altLang="en-US" sz="2400" dirty="0">
                <a:solidFill>
                  <a:schemeClr val="accent1">
                    <a:lumMod val="75000"/>
                  </a:schemeClr>
                </a:solidFill>
                <a:latin typeface=".AppleSystemUIFont"/>
                <a:ea typeface="+mj-ea"/>
                <a:cs typeface="+mj-cs"/>
              </a:rPr>
              <a:t>（</a:t>
            </a:r>
            <a:r>
              <a:rPr lang="en-US" altLang="zh-CN" sz="2400" dirty="0">
                <a:solidFill>
                  <a:schemeClr val="accent1">
                    <a:lumMod val="75000"/>
                  </a:schemeClr>
                </a:solidFill>
                <a:latin typeface=".AppleSystemUIFont"/>
                <a:ea typeface="+mj-ea"/>
                <a:cs typeface="+mj-cs"/>
              </a:rPr>
              <a:t>2</a:t>
            </a:r>
            <a:r>
              <a:rPr lang="zh-CN" altLang="en-US" sz="2400" dirty="0">
                <a:solidFill>
                  <a:schemeClr val="accent1">
                    <a:lumMod val="75000"/>
                  </a:schemeClr>
                </a:solidFill>
                <a:latin typeface=".AppleSystemUIFont"/>
                <a:ea typeface="+mj-ea"/>
                <a:cs typeface="+mj-cs"/>
              </a:rPr>
              <a:t>）谓词公式 </a:t>
            </a:r>
          </a:p>
        </p:txBody>
      </p:sp>
    </p:spTree>
    <p:extLst>
      <p:ext uri="{BB962C8B-B14F-4D97-AF65-F5344CB8AC3E}">
        <p14:creationId xmlns:p14="http://schemas.microsoft.com/office/powerpoint/2010/main" val="3054891611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3" name="Rectangle 3"/>
          <p:cNvSpPr>
            <a:spLocks noGrp="1" noChangeArrowheads="1"/>
          </p:cNvSpPr>
          <p:nvPr>
            <p:ph idx="1"/>
          </p:nvPr>
        </p:nvSpPr>
        <p:spPr>
          <a:xfrm>
            <a:off x="764544" y="1999936"/>
            <a:ext cx="6878605" cy="1926232"/>
          </a:xfrm>
        </p:spPr>
        <p:txBody>
          <a:bodyPr>
            <a:normAutofit/>
          </a:bodyPr>
          <a:lstStyle/>
          <a:p>
            <a:pPr marL="0" lvl="0" indent="0">
              <a:lnSpc>
                <a:spcPct val="115000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rPr lang="zh-CN" altLang="en-US" sz="1800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步骤</a:t>
            </a:r>
            <a:r>
              <a:rPr lang="en-US" altLang="zh-CN" sz="1800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en-US" sz="1800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：转化为子句集</a:t>
            </a:r>
            <a:endParaRPr lang="en-US" altLang="zh-CN" sz="1800" kern="0" dirty="0">
              <a:effectLst/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lvl="0" indent="0">
              <a:lnSpc>
                <a:spcPct val="115000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rPr lang="en-US" altLang="zh-CN" sz="1800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S1 = {</a:t>
            </a:r>
            <a:r>
              <a:rPr lang="en" altLang="zh-CN" sz="1800" kern="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¬</a:t>
            </a:r>
            <a:r>
              <a:rPr lang="en-US" altLang="zh-CN" sz="1800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Suspect(X)</a:t>
            </a:r>
            <a:r>
              <a:rPr lang="en" altLang="zh-CN" sz="1800" kern="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∨</a:t>
            </a:r>
            <a:r>
              <a:rPr lang="en-US" altLang="zh-CN" sz="1800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(X = </a:t>
            </a:r>
            <a:r>
              <a:rPr lang="en-US" altLang="zh-CN" sz="1800" kern="0" dirty="0" err="1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ZhangSan</a:t>
            </a:r>
            <a:r>
              <a:rPr lang="en" altLang="zh-CN" sz="1800" kern="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∨ </a:t>
            </a:r>
            <a:r>
              <a:rPr lang="en-US" altLang="zh-CN" sz="1800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X = </a:t>
            </a:r>
            <a:r>
              <a:rPr lang="en-US" altLang="zh-CN" sz="1800" kern="0" dirty="0" err="1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LiSi</a:t>
            </a:r>
            <a:r>
              <a:rPr lang="en-US" altLang="zh-CN" sz="1800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),</a:t>
            </a:r>
            <a:r>
              <a:rPr lang="en" altLang="zh-CN" sz="1800" kern="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 ¬</a:t>
            </a:r>
            <a:r>
              <a:rPr lang="en-US" altLang="zh-CN" sz="1800" kern="0" dirty="0" err="1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WearsGloves</a:t>
            </a:r>
            <a:r>
              <a:rPr lang="en-US" altLang="zh-CN" sz="1800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(X)</a:t>
            </a:r>
            <a:r>
              <a:rPr lang="en" altLang="zh-CN" sz="1800" kern="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∨</a:t>
            </a:r>
            <a:r>
              <a:rPr lang="en-US" altLang="zh-CN" sz="1800" kern="0" dirty="0" err="1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BlackGloves</a:t>
            </a:r>
            <a:r>
              <a:rPr lang="en-US" altLang="zh-CN" sz="1800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(X),</a:t>
            </a:r>
            <a:r>
              <a:rPr lang="en-US" altLang="zh-CN" sz="1800" kern="0" dirty="0" err="1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BlackGloves</a:t>
            </a:r>
            <a:r>
              <a:rPr lang="en-US" altLang="zh-CN" sz="1800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sz="1800" kern="0" dirty="0" err="1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ZhangSan</a:t>
            </a:r>
            <a:r>
              <a:rPr lang="en-US" altLang="zh-CN" sz="1800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),</a:t>
            </a:r>
            <a:r>
              <a:rPr lang="en" altLang="zh-CN" sz="1800" kern="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 ¬</a:t>
            </a:r>
            <a:r>
              <a:rPr lang="en-US" altLang="zh-CN" sz="1800" kern="0" dirty="0" err="1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BlackGloves</a:t>
            </a:r>
            <a:r>
              <a:rPr lang="en-US" altLang="zh-CN" sz="1800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sz="1800" kern="0" dirty="0" err="1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LiSi</a:t>
            </a:r>
            <a:r>
              <a:rPr lang="en-US" altLang="zh-CN" sz="1800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),</a:t>
            </a:r>
            <a:r>
              <a:rPr lang="en" altLang="zh-CN" sz="1800" kern="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 ¬</a:t>
            </a:r>
            <a:r>
              <a:rPr lang="en-US" altLang="zh-CN" sz="1800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Criminal(X)</a:t>
            </a:r>
            <a:r>
              <a:rPr lang="en" altLang="zh-CN" sz="1800" kern="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∨</a:t>
            </a:r>
            <a:r>
              <a:rPr lang="en-US" altLang="zh-CN" sz="1800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Lock(X),</a:t>
            </a:r>
            <a:r>
              <a:rPr lang="en" altLang="zh-CN" sz="1800" kern="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 ¬</a:t>
            </a:r>
            <a:r>
              <a:rPr lang="en-US" altLang="zh-CN" sz="1800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Lock(</a:t>
            </a:r>
            <a:r>
              <a:rPr lang="en-US" altLang="zh-CN" sz="1800" kern="0" dirty="0" err="1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ZhangSan</a:t>
            </a:r>
            <a:r>
              <a:rPr lang="en-US" altLang="zh-CN" sz="1800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),Lock(</a:t>
            </a:r>
            <a:r>
              <a:rPr lang="en-US" altLang="zh-CN" sz="1800" kern="0" dirty="0" err="1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LiSi</a:t>
            </a:r>
            <a:r>
              <a:rPr lang="en-US" altLang="zh-CN" sz="1800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),</a:t>
            </a:r>
            <a:r>
              <a:rPr lang="en-US" altLang="zh-CN" sz="1800" kern="0" dirty="0" err="1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CrimeEntry</a:t>
            </a:r>
            <a:r>
              <a:rPr lang="en-US" altLang="zh-CN" sz="1800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(Lock)}</a:t>
            </a:r>
          </a:p>
          <a:p>
            <a:pPr marL="0" lvl="0" indent="0">
              <a:lnSpc>
                <a:spcPct val="115000"/>
              </a:lnSpc>
              <a:spcBef>
                <a:spcPts val="500"/>
              </a:spcBef>
              <a:spcAft>
                <a:spcPts val="500"/>
              </a:spcAft>
              <a:buNone/>
            </a:pPr>
            <a:endParaRPr lang="en-US" altLang="zh-CN" sz="1800" kern="0" dirty="0">
              <a:effectLst/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lnSpc>
                <a:spcPct val="120000"/>
              </a:lnSpc>
              <a:buNone/>
            </a:pPr>
            <a:endParaRPr kumimoji="1" lang="en-US" altLang="zh-CN" sz="2700" dirty="0">
              <a:solidFill>
                <a:srgbClr val="000000"/>
              </a:solidFill>
            </a:endParaRPr>
          </a:p>
          <a:p>
            <a:pPr algn="just">
              <a:lnSpc>
                <a:spcPct val="120000"/>
              </a:lnSpc>
              <a:buNone/>
            </a:pPr>
            <a:endParaRPr lang="en-US" altLang="zh-CN" sz="1800" kern="0" dirty="0">
              <a:effectLst/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lnSpc>
                <a:spcPct val="120000"/>
              </a:lnSpc>
              <a:buFontTx/>
              <a:buNone/>
            </a:pPr>
            <a:endParaRPr kumimoji="1" lang="zh-CN" altLang="en-US" sz="2700" dirty="0">
              <a:solidFill>
                <a:srgbClr val="000000"/>
              </a:solidFill>
            </a:endParaRP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CD30538A-32A3-54D2-046A-40718036F1E0}"/>
              </a:ext>
            </a:extLst>
          </p:cNvPr>
          <p:cNvSpPr txBox="1">
            <a:spLocks/>
          </p:cNvSpPr>
          <p:nvPr/>
        </p:nvSpPr>
        <p:spPr>
          <a:xfrm>
            <a:off x="552342" y="485383"/>
            <a:ext cx="8806446" cy="11448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zh-CN" altLang="en-US" sz="3600" dirty="0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案例</a:t>
            </a:r>
            <a:r>
              <a:rPr lang="en-US" altLang="zh-CN" sz="3600" dirty="0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1</a:t>
            </a:r>
            <a:r>
              <a:rPr lang="zh-CN" altLang="en-US" sz="3600" dirty="0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：</a:t>
            </a:r>
            <a:r>
              <a:rPr lang="zh-CN" altLang="en-US" sz="2700" dirty="0">
                <a:solidFill>
                  <a:schemeClr val="accent1">
                    <a:lumMod val="75000"/>
                  </a:schemeClr>
                </a:solidFill>
                <a:latin typeface=".AppleSystemUIFont"/>
              </a:rPr>
              <a:t>破案推理</a:t>
            </a:r>
            <a:br>
              <a:rPr lang="zh-CN" altLang="en-US" dirty="0">
                <a:solidFill>
                  <a:srgbClr val="0E0E0E"/>
                </a:solidFill>
                <a:latin typeface=".AppleSystemUIFont"/>
              </a:rPr>
            </a:br>
            <a:endParaRPr lang="zh-CN" altLang="en-US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A50B065-C853-900E-719E-42EE4797EB96}"/>
              </a:ext>
            </a:extLst>
          </p:cNvPr>
          <p:cNvSpPr txBox="1"/>
          <p:nvPr/>
        </p:nvSpPr>
        <p:spPr>
          <a:xfrm>
            <a:off x="552342" y="1369980"/>
            <a:ext cx="3142527" cy="520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defRPr/>
            </a:pPr>
            <a:r>
              <a:rPr lang="zh-CN" altLang="en-US" sz="2400" dirty="0">
                <a:solidFill>
                  <a:schemeClr val="accent1">
                    <a:lumMod val="75000"/>
                  </a:schemeClr>
                </a:solidFill>
                <a:latin typeface=".AppleSystemUIFont"/>
                <a:ea typeface="+mj-ea"/>
                <a:cs typeface="+mj-cs"/>
              </a:rPr>
              <a:t>（</a:t>
            </a:r>
            <a:r>
              <a:rPr lang="en-US" altLang="zh-CN" sz="2400" dirty="0">
                <a:solidFill>
                  <a:schemeClr val="accent1">
                    <a:lumMod val="75000"/>
                  </a:schemeClr>
                </a:solidFill>
                <a:latin typeface=".AppleSystemUIFont"/>
                <a:ea typeface="+mj-ea"/>
                <a:cs typeface="+mj-cs"/>
              </a:rPr>
              <a:t>3</a:t>
            </a:r>
            <a:r>
              <a:rPr lang="zh-CN" altLang="en-US" sz="2400" dirty="0">
                <a:solidFill>
                  <a:schemeClr val="accent1">
                    <a:lumMod val="75000"/>
                  </a:schemeClr>
                </a:solidFill>
                <a:latin typeface=".AppleSystemUIFont"/>
                <a:ea typeface="+mj-ea"/>
                <a:cs typeface="+mj-cs"/>
              </a:rPr>
              <a:t>）子句集</a:t>
            </a: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626E3362-57D8-D89C-DEBE-EEBB0A42D414}"/>
              </a:ext>
            </a:extLst>
          </p:cNvPr>
          <p:cNvSpPr txBox="1">
            <a:spLocks noChangeArrowheads="1"/>
          </p:cNvSpPr>
          <p:nvPr/>
        </p:nvSpPr>
        <p:spPr>
          <a:xfrm>
            <a:off x="687380" y="4262724"/>
            <a:ext cx="6380895" cy="23843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5000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rPr lang="zh-CN" altLang="en-US" sz="1800" kern="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步骤</a:t>
            </a:r>
            <a:r>
              <a:rPr lang="en-US" altLang="zh-CN" sz="1800" kern="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en-US" sz="1800" kern="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：把待求解的问题用谓词公式表示，并构成析取式</a:t>
            </a:r>
          </a:p>
          <a:p>
            <a:pPr marL="0" indent="0">
              <a:lnSpc>
                <a:spcPct val="115000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rPr lang="zh-CN" altLang="en-US" sz="1800" kern="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谁是罪犯？</a:t>
            </a:r>
            <a:r>
              <a:rPr lang="en-US" altLang="zh-CN" sz="1800" kern="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Criminal(Y)</a:t>
            </a:r>
            <a:r>
              <a:rPr lang="zh-CN" altLang="en-US" sz="1800" kern="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然后，我们取它的否定：</a:t>
            </a:r>
          </a:p>
          <a:p>
            <a:pPr marL="0" indent="0">
              <a:lnSpc>
                <a:spcPct val="115000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rPr lang="en" altLang="zh-CN" sz="1800" kern="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¬</a:t>
            </a:r>
            <a:r>
              <a:rPr lang="en-US" altLang="zh-CN" sz="1800" kern="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Criminal(Y)</a:t>
            </a:r>
          </a:p>
          <a:p>
            <a:pPr marL="0" indent="0">
              <a:lnSpc>
                <a:spcPct val="115000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rPr lang="zh-CN" altLang="en-US" sz="1800" kern="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并与谓词</a:t>
            </a:r>
            <a:r>
              <a:rPr lang="en-US" altLang="zh-CN" sz="1800" kern="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ANSWER(Y)</a:t>
            </a:r>
            <a:r>
              <a:rPr lang="zh-CN" altLang="en-US" sz="1800" kern="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结合形成析取式：</a:t>
            </a:r>
          </a:p>
          <a:p>
            <a:pPr marL="0" indent="0">
              <a:lnSpc>
                <a:spcPct val="115000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rPr lang="en" altLang="zh-CN" sz="1800" kern="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¬</a:t>
            </a:r>
            <a:r>
              <a:rPr lang="en-US" altLang="zh-CN" sz="1800" kern="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Criminal(Y)</a:t>
            </a:r>
            <a:r>
              <a:rPr lang="en" altLang="zh-CN" sz="1800" kern="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∨</a:t>
            </a:r>
            <a:r>
              <a:rPr lang="en-US" altLang="zh-CN" sz="1800" kern="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ANSWER(Y)</a:t>
            </a:r>
          </a:p>
          <a:p>
            <a:pPr marL="0" indent="0">
              <a:lnSpc>
                <a:spcPct val="115000"/>
              </a:lnSpc>
              <a:spcBef>
                <a:spcPts val="500"/>
              </a:spcBef>
              <a:spcAft>
                <a:spcPts val="500"/>
              </a:spcAft>
              <a:buNone/>
            </a:pPr>
            <a:endParaRPr lang="en-US" altLang="zh-CN" sz="1800" kern="0" dirty="0"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indent="0">
              <a:lnSpc>
                <a:spcPct val="115000"/>
              </a:lnSpc>
              <a:spcBef>
                <a:spcPts val="500"/>
              </a:spcBef>
              <a:spcAft>
                <a:spcPts val="500"/>
              </a:spcAft>
              <a:buNone/>
            </a:pPr>
            <a:endParaRPr lang="en-US" altLang="zh-CN" sz="1800" kern="0" dirty="0"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lnSpc>
                <a:spcPct val="120000"/>
              </a:lnSpc>
              <a:buFont typeface="Arial" panose="020B0604020202020204" pitchFamily="34" charset="0"/>
              <a:buNone/>
            </a:pPr>
            <a:endParaRPr kumimoji="1" lang="en-US" altLang="zh-CN" sz="2700" dirty="0">
              <a:solidFill>
                <a:srgbClr val="000000"/>
              </a:solidFill>
            </a:endParaRPr>
          </a:p>
          <a:p>
            <a:pPr algn="just">
              <a:lnSpc>
                <a:spcPct val="120000"/>
              </a:lnSpc>
              <a:buFont typeface="Arial" panose="020B0604020202020204" pitchFamily="34" charset="0"/>
              <a:buNone/>
            </a:pPr>
            <a:endParaRPr lang="en-US" altLang="zh-CN" sz="1800" kern="0" dirty="0"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lnSpc>
                <a:spcPct val="120000"/>
              </a:lnSpc>
              <a:buFontTx/>
              <a:buNone/>
            </a:pPr>
            <a:endParaRPr kumimoji="1" lang="zh-CN" altLang="en-US" sz="2700" dirty="0">
              <a:solidFill>
                <a:srgbClr val="000000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8ED49BC-49A8-4778-A432-F9FAFB174C82}"/>
              </a:ext>
            </a:extLst>
          </p:cNvPr>
          <p:cNvSpPr txBox="1">
            <a:spLocks noChangeArrowheads="1"/>
          </p:cNvSpPr>
          <p:nvPr/>
        </p:nvSpPr>
        <p:spPr>
          <a:xfrm>
            <a:off x="7245753" y="2902254"/>
            <a:ext cx="5148148" cy="2384384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5000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rPr lang="zh-CN" altLang="en-US" sz="1800" kern="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步骤</a:t>
            </a:r>
            <a:r>
              <a:rPr lang="en-US" altLang="zh-CN" sz="1800" kern="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zh-CN" altLang="en-US" sz="1800" kern="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：把析取式化为子句集，并合并到</a:t>
            </a:r>
            <a:r>
              <a:rPr lang="en" altLang="zh-CN" sz="1800" kern="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S1</a:t>
            </a:r>
            <a:r>
              <a:rPr lang="zh-CN" altLang="en" sz="1800" kern="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lang="zh-CN" altLang="en-US" sz="1800" kern="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形成</a:t>
            </a:r>
            <a:r>
              <a:rPr lang="en" altLang="zh-CN" sz="1800" kern="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S</a:t>
            </a:r>
          </a:p>
          <a:p>
            <a:pPr marL="0" indent="0">
              <a:lnSpc>
                <a:spcPct val="115000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rPr lang="zh-CN" altLang="en-US" sz="1800" kern="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将上述问题的析取式转换为子句集</a:t>
            </a:r>
            <a:r>
              <a:rPr lang="en" altLang="zh-CN" sz="1800" kern="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S2 </a:t>
            </a:r>
            <a:r>
              <a:rPr lang="zh-CN" altLang="en" sz="1800" kern="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：</a:t>
            </a:r>
          </a:p>
          <a:p>
            <a:pPr marL="0" indent="0">
              <a:lnSpc>
                <a:spcPct val="115000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rPr lang="en" altLang="zh-CN" sz="1800" kern="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S2 = {¬Criminal(Y)∨ANSWER(Y)}</a:t>
            </a:r>
          </a:p>
          <a:p>
            <a:pPr marL="0" indent="0">
              <a:lnSpc>
                <a:spcPct val="115000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rPr lang="zh-CN" altLang="en-US" sz="1800" kern="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合并</a:t>
            </a:r>
            <a:r>
              <a:rPr lang="en" altLang="zh-CN" sz="1800" kern="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S1</a:t>
            </a:r>
            <a:r>
              <a:rPr lang="zh-CN" altLang="en-US" sz="1800" kern="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和</a:t>
            </a:r>
            <a:r>
              <a:rPr lang="en" altLang="zh-CN" sz="1800" kern="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S2 </a:t>
            </a:r>
            <a:r>
              <a:rPr lang="zh-CN" altLang="en" sz="1800" kern="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：</a:t>
            </a:r>
          </a:p>
          <a:p>
            <a:pPr marL="0" indent="0">
              <a:lnSpc>
                <a:spcPct val="115000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rPr lang="en" altLang="zh-CN" sz="1800" kern="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S = S1</a:t>
            </a:r>
            <a:r>
              <a:rPr lang="en-US" altLang="zh-CN" sz="1800" kern="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∪</a:t>
            </a:r>
            <a:r>
              <a:rPr lang="en" altLang="zh-CN" sz="1800" kern="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S2</a:t>
            </a:r>
          </a:p>
          <a:p>
            <a:pPr marL="0" indent="0">
              <a:lnSpc>
                <a:spcPct val="115000"/>
              </a:lnSpc>
              <a:spcBef>
                <a:spcPts val="500"/>
              </a:spcBef>
              <a:spcAft>
                <a:spcPts val="500"/>
              </a:spcAft>
              <a:buNone/>
            </a:pPr>
            <a:endParaRPr lang="en-US" altLang="zh-CN" sz="1800" kern="0" dirty="0"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indent="0">
              <a:lnSpc>
                <a:spcPct val="115000"/>
              </a:lnSpc>
              <a:spcBef>
                <a:spcPts val="500"/>
              </a:spcBef>
              <a:spcAft>
                <a:spcPts val="500"/>
              </a:spcAft>
              <a:buNone/>
            </a:pPr>
            <a:endParaRPr lang="en-US" altLang="zh-CN" sz="1800" kern="0" dirty="0"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lnSpc>
                <a:spcPct val="120000"/>
              </a:lnSpc>
              <a:buFont typeface="Arial" panose="020B0604020202020204" pitchFamily="34" charset="0"/>
              <a:buNone/>
            </a:pPr>
            <a:endParaRPr kumimoji="1" lang="en-US" altLang="zh-CN" sz="2700" dirty="0">
              <a:solidFill>
                <a:srgbClr val="000000"/>
              </a:solidFill>
            </a:endParaRPr>
          </a:p>
          <a:p>
            <a:pPr algn="just">
              <a:lnSpc>
                <a:spcPct val="120000"/>
              </a:lnSpc>
              <a:buFont typeface="Arial" panose="020B0604020202020204" pitchFamily="34" charset="0"/>
              <a:buNone/>
            </a:pPr>
            <a:endParaRPr lang="en-US" altLang="zh-CN" sz="1800" kern="0" dirty="0"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lnSpc>
                <a:spcPct val="120000"/>
              </a:lnSpc>
              <a:buFontTx/>
              <a:buNone/>
            </a:pPr>
            <a:endParaRPr kumimoji="1" lang="zh-CN" altLang="en-US" sz="2700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09770253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>
            <a:extLst>
              <a:ext uri="{FF2B5EF4-FFF2-40B4-BE49-F238E27FC236}">
                <a16:creationId xmlns:a16="http://schemas.microsoft.com/office/drawing/2014/main" id="{CD30538A-32A3-54D2-046A-40718036F1E0}"/>
              </a:ext>
            </a:extLst>
          </p:cNvPr>
          <p:cNvSpPr txBox="1">
            <a:spLocks/>
          </p:cNvSpPr>
          <p:nvPr/>
        </p:nvSpPr>
        <p:spPr>
          <a:xfrm>
            <a:off x="552342" y="485383"/>
            <a:ext cx="8806446" cy="11448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zh-CN" altLang="en-US" sz="3600" dirty="0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案例</a:t>
            </a:r>
            <a:r>
              <a:rPr lang="en-US" altLang="zh-CN" sz="3600" dirty="0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1</a:t>
            </a:r>
            <a:r>
              <a:rPr lang="zh-CN" altLang="en-US" sz="3600" dirty="0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：</a:t>
            </a:r>
            <a:r>
              <a:rPr lang="zh-CN" altLang="en-US" sz="2700" dirty="0">
                <a:solidFill>
                  <a:schemeClr val="accent1">
                    <a:lumMod val="75000"/>
                  </a:schemeClr>
                </a:solidFill>
                <a:latin typeface=".AppleSystemUIFont"/>
              </a:rPr>
              <a:t>破案推理</a:t>
            </a:r>
            <a:br>
              <a:rPr lang="zh-CN" altLang="en-US" dirty="0">
                <a:solidFill>
                  <a:srgbClr val="0E0E0E"/>
                </a:solidFill>
                <a:latin typeface=".AppleSystemUIFont"/>
              </a:rPr>
            </a:br>
            <a:endParaRPr lang="zh-CN" altLang="en-US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A50B065-C853-900E-719E-42EE4797EB96}"/>
              </a:ext>
            </a:extLst>
          </p:cNvPr>
          <p:cNvSpPr txBox="1"/>
          <p:nvPr/>
        </p:nvSpPr>
        <p:spPr>
          <a:xfrm>
            <a:off x="552342" y="1369980"/>
            <a:ext cx="3142527" cy="520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defRPr/>
            </a:pPr>
            <a:r>
              <a:rPr lang="zh-CN" altLang="en-US" sz="2400" dirty="0">
                <a:solidFill>
                  <a:schemeClr val="accent1">
                    <a:lumMod val="75000"/>
                  </a:schemeClr>
                </a:solidFill>
                <a:latin typeface=".AppleSystemUIFont"/>
                <a:ea typeface="+mj-ea"/>
                <a:cs typeface="+mj-cs"/>
              </a:rPr>
              <a:t>（</a:t>
            </a:r>
            <a:r>
              <a:rPr lang="en-US" altLang="zh-CN" sz="2400" dirty="0">
                <a:solidFill>
                  <a:schemeClr val="accent1">
                    <a:lumMod val="75000"/>
                  </a:schemeClr>
                </a:solidFill>
                <a:latin typeface=".AppleSystemUIFont"/>
                <a:ea typeface="+mj-ea"/>
                <a:cs typeface="+mj-cs"/>
              </a:rPr>
              <a:t>4</a:t>
            </a:r>
            <a:r>
              <a:rPr lang="zh-CN" altLang="en-US" sz="2400" dirty="0">
                <a:solidFill>
                  <a:schemeClr val="accent1">
                    <a:lumMod val="75000"/>
                  </a:schemeClr>
                </a:solidFill>
                <a:latin typeface=".AppleSystemUIFont"/>
                <a:ea typeface="+mj-ea"/>
                <a:cs typeface="+mj-cs"/>
              </a:rPr>
              <a:t>）归结原理归结</a:t>
            </a: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2E04E724-A7FE-51F0-E772-084C6D981E73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984943" y="1949691"/>
            <a:ext cx="10358247" cy="4908309"/>
          </a:xfrm>
        </p:spPr>
        <p:txBody>
          <a:bodyPr>
            <a:normAutofit/>
          </a:bodyPr>
          <a:lstStyle/>
          <a:p>
            <a:pPr marL="0" indent="0">
              <a:lnSpc>
                <a:spcPct val="115000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rPr lang="zh-CN" altLang="en-US" sz="1800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步骤</a:t>
            </a:r>
            <a:r>
              <a:rPr lang="en-US" altLang="zh-CN" sz="1800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1:</a:t>
            </a:r>
            <a:r>
              <a:rPr lang="zh-CN" altLang="en-US" sz="1800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假设张三是罪犯</a:t>
            </a:r>
            <a:r>
              <a:rPr lang="en" altLang="zh-CN" sz="1800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Criminal(</a:t>
            </a:r>
            <a:r>
              <a:rPr lang="en" altLang="zh-CN" sz="1800" kern="0" dirty="0" err="1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ZhangSan</a:t>
            </a:r>
            <a:r>
              <a:rPr lang="en" altLang="zh-CN" sz="1800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en-US" sz="1800" kern="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，跟</a:t>
            </a:r>
            <a:r>
              <a:rPr lang="en-US" altLang="zh-CN" sz="1800" kern="0" dirty="0">
                <a:solidFill>
                  <a:srgbClr val="FF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F4</a:t>
            </a:r>
            <a:r>
              <a:rPr lang="zh-CN" altLang="en-US" sz="1800" kern="0" dirty="0">
                <a:solidFill>
                  <a:srgbClr val="FF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的子句归结</a:t>
            </a:r>
            <a:r>
              <a:rPr lang="zh-CN" altLang="en-US" sz="1800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，罪犯必须会撬锁：</a:t>
            </a:r>
            <a:r>
              <a:rPr lang="en" altLang="zh-CN" sz="1800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Lock(</a:t>
            </a:r>
            <a:r>
              <a:rPr lang="en" altLang="zh-CN" sz="1800" kern="0" dirty="0" err="1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ZhangSan</a:t>
            </a:r>
            <a:r>
              <a:rPr lang="en" altLang="zh-CN" sz="1800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endParaRPr lang="zh-CN" altLang="en-US" sz="1800" kern="0" dirty="0">
              <a:effectLst/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indent="0">
              <a:lnSpc>
                <a:spcPct val="115000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rPr lang="zh-CN" altLang="en-US" sz="1800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步骤</a:t>
            </a:r>
            <a:r>
              <a:rPr lang="en-US" altLang="zh-CN" sz="1800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2:</a:t>
            </a:r>
            <a:r>
              <a:rPr lang="zh-CN" altLang="en-US" sz="1800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已知张三不会撬锁（</a:t>
            </a:r>
            <a:r>
              <a:rPr lang="en-US" altLang="zh-CN" sz="1800" kern="0" dirty="0">
                <a:solidFill>
                  <a:srgbClr val="FF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F5</a:t>
            </a:r>
            <a:r>
              <a:rPr lang="zh-CN" altLang="en-US" sz="1800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）：</a:t>
            </a:r>
            <a:r>
              <a:rPr lang="en" altLang="zh-CN" sz="1800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¬Lock(</a:t>
            </a:r>
            <a:r>
              <a:rPr lang="en" altLang="zh-CN" sz="1800" kern="0" dirty="0" err="1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ZhangSan</a:t>
            </a:r>
            <a:r>
              <a:rPr lang="en" altLang="zh-CN" sz="1800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en-US" sz="1800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，</a:t>
            </a:r>
            <a:endParaRPr lang="en-US" altLang="zh-CN" sz="1800" kern="0" dirty="0">
              <a:effectLst/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indent="0">
              <a:lnSpc>
                <a:spcPct val="115000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rPr lang="zh-CN" altLang="en-US" sz="1800" kern="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      </a:t>
            </a:r>
            <a:r>
              <a:rPr lang="zh-CN" altLang="en-US" sz="1800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与</a:t>
            </a:r>
            <a:r>
              <a:rPr lang="zh-CN" altLang="en-US" sz="1800" kern="0" dirty="0">
                <a:solidFill>
                  <a:schemeClr val="accent1">
                    <a:lumMod val="75000"/>
                  </a:schemeClr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步骤</a:t>
            </a:r>
            <a:r>
              <a:rPr lang="en-US" altLang="zh-CN" sz="1800" kern="0" dirty="0">
                <a:solidFill>
                  <a:schemeClr val="accent1">
                    <a:lumMod val="75000"/>
                  </a:schemeClr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en-US" sz="1800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归结，</a:t>
            </a:r>
            <a:r>
              <a:rPr lang="zh-CN" altLang="en-US" sz="1800" kern="0" dirty="0">
                <a:solidFill>
                  <a:srgbClr val="FF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矛盾</a:t>
            </a:r>
            <a:r>
              <a:rPr lang="zh-CN" altLang="en-US" sz="1800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（</a:t>
            </a:r>
            <a:r>
              <a:rPr lang="en" altLang="zh-CN" sz="1800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Lock (</a:t>
            </a:r>
            <a:r>
              <a:rPr lang="en" altLang="zh-CN" sz="1800" kern="0" dirty="0" err="1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ZhangSan</a:t>
            </a:r>
            <a:r>
              <a:rPr lang="en" altLang="zh-CN" sz="1800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) </a:t>
            </a:r>
            <a:r>
              <a:rPr lang="zh-CN" altLang="en-US" sz="1800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和 </a:t>
            </a:r>
            <a:r>
              <a:rPr lang="en-US" altLang="zh-CN" sz="1800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¬</a:t>
            </a:r>
            <a:r>
              <a:rPr lang="en" altLang="zh-CN" sz="1800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Lock(</a:t>
            </a:r>
            <a:r>
              <a:rPr lang="en" altLang="zh-CN" sz="1800" kern="0" dirty="0" err="1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ZhangSan</a:t>
            </a:r>
            <a:r>
              <a:rPr lang="en" altLang="zh-CN" sz="1800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en" sz="1800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），</a:t>
            </a:r>
            <a:endParaRPr lang="en-US" altLang="zh-CN" sz="1800" kern="0" dirty="0">
              <a:effectLst/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indent="0">
              <a:lnSpc>
                <a:spcPct val="115000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rPr lang="zh-CN" altLang="en-US" sz="1800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      得出结论：张三不可能是罪犯</a:t>
            </a:r>
            <a:r>
              <a:rPr lang="en" altLang="zh-CN" sz="1800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" altLang="zh-CN" sz="1800" kern="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" altLang="zh-CN" sz="1800" kern="0" dirty="0">
                <a:solidFill>
                  <a:srgbClr val="FF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¬Criminal(</a:t>
            </a:r>
            <a:r>
              <a:rPr lang="en" altLang="zh-CN" sz="1800" kern="0" dirty="0" err="1">
                <a:solidFill>
                  <a:srgbClr val="FF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ZhangSan</a:t>
            </a:r>
            <a:r>
              <a:rPr lang="en" altLang="zh-CN" sz="1800" kern="0" dirty="0">
                <a:solidFill>
                  <a:srgbClr val="FF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en-US" sz="1800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。</a:t>
            </a:r>
          </a:p>
          <a:p>
            <a:pPr marL="0" indent="0">
              <a:lnSpc>
                <a:spcPct val="115000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rPr lang="zh-CN" altLang="en-US" sz="1800" kern="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步骤</a:t>
            </a:r>
            <a:r>
              <a:rPr lang="en-US" altLang="zh-CN" sz="1800" kern="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3:</a:t>
            </a:r>
            <a:r>
              <a:rPr lang="zh-CN" altLang="en-US" sz="1800" kern="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由于</a:t>
            </a:r>
            <a:r>
              <a:rPr lang="en-US" altLang="zh-CN" sz="1800" kern="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F1</a:t>
            </a:r>
            <a:r>
              <a:rPr lang="zh-CN" altLang="en-US" sz="1800" kern="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指出罪犯只能是张三或李四：</a:t>
            </a:r>
            <a:r>
              <a:rPr lang="en" altLang="zh-CN" sz="1800" kern="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Criminal(</a:t>
            </a:r>
            <a:r>
              <a:rPr lang="en" altLang="zh-CN" sz="1800" kern="0" dirty="0" err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ZhangSan</a:t>
            </a:r>
            <a:r>
              <a:rPr lang="en" altLang="zh-CN" sz="1800" kern="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)∨Criminal(</a:t>
            </a:r>
            <a:r>
              <a:rPr lang="en" altLang="zh-CN" sz="1800" kern="0" dirty="0" err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LiSi</a:t>
            </a:r>
            <a:r>
              <a:rPr lang="en" altLang="zh-CN" sz="1800" kern="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</a:p>
          <a:p>
            <a:pPr marL="0" indent="0">
              <a:lnSpc>
                <a:spcPct val="115000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rPr lang="zh-CN" altLang="en-US" sz="1800" kern="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      归结得到：</a:t>
            </a:r>
            <a:r>
              <a:rPr lang="en" altLang="zh-CN" sz="1800" kern="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Criminal(</a:t>
            </a:r>
            <a:r>
              <a:rPr lang="en" altLang="zh-CN" sz="1800" kern="0" dirty="0" err="1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LiSi</a:t>
            </a:r>
            <a:r>
              <a:rPr lang="en" altLang="zh-CN" sz="1800" kern="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</a:p>
          <a:p>
            <a:pPr marL="0" indent="0">
              <a:lnSpc>
                <a:spcPct val="115000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rPr lang="zh-CN" altLang="en-US" sz="1800" kern="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步骤</a:t>
            </a:r>
            <a:r>
              <a:rPr lang="en-US" altLang="zh-CN" sz="1800" kern="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4:</a:t>
            </a:r>
            <a:r>
              <a:rPr lang="zh-CN" altLang="en-US" sz="1800" kern="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归结到</a:t>
            </a:r>
            <a:r>
              <a:rPr lang="en" altLang="zh-CN" sz="1800" kern="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ANSWER</a:t>
            </a:r>
          </a:p>
          <a:p>
            <a:pPr marL="0" indent="0">
              <a:lnSpc>
                <a:spcPct val="115000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rPr lang="zh-CN" altLang="en-US" sz="1800" kern="0" dirty="0">
                <a:solidFill>
                  <a:srgbClr val="FF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      </a:t>
            </a:r>
            <a:r>
              <a:rPr lang="zh-CN" altLang="en-US" sz="1800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" altLang="zh-CN" sz="1800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¬</a:t>
            </a:r>
            <a:r>
              <a:rPr lang="en-US" altLang="zh-CN" sz="1800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Criminal(Y)</a:t>
            </a:r>
            <a:r>
              <a:rPr lang="en" altLang="zh-CN" sz="1800" kern="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∨</a:t>
            </a:r>
            <a:r>
              <a:rPr lang="en-US" altLang="zh-CN" sz="1800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ANSWER(Y)</a:t>
            </a:r>
          </a:p>
          <a:p>
            <a:pPr marL="0" indent="0">
              <a:lnSpc>
                <a:spcPct val="115000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rPr lang="zh-CN" altLang="en-US" sz="1800" kern="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       与</a:t>
            </a:r>
            <a:r>
              <a:rPr lang="zh-CN" altLang="en" sz="1800" kern="0" dirty="0">
                <a:solidFill>
                  <a:schemeClr val="accent1">
                    <a:lumMod val="7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步骤</a:t>
            </a:r>
            <a:r>
              <a:rPr lang="en-US" altLang="zh-CN" sz="1800" kern="0" dirty="0">
                <a:solidFill>
                  <a:schemeClr val="accent1">
                    <a:lumMod val="7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zh-CN" altLang="en-US" sz="1800" kern="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归结：</a:t>
            </a:r>
            <a:r>
              <a:rPr lang="en" altLang="zh-CN" sz="1800" kern="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ANSWER(</a:t>
            </a:r>
            <a:r>
              <a:rPr lang="en" altLang="zh-CN" sz="1800" kern="0" dirty="0" err="1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LiSi</a:t>
            </a:r>
            <a:r>
              <a:rPr lang="en" altLang="zh-CN" sz="1800" kern="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</a:p>
          <a:p>
            <a:pPr marL="0" indent="0">
              <a:lnSpc>
                <a:spcPct val="115000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rPr lang="zh-CN" altLang="en-US" sz="1800" kern="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步骤</a:t>
            </a:r>
            <a:r>
              <a:rPr lang="en-US" altLang="zh-CN" sz="1800" kern="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5:</a:t>
            </a:r>
            <a:r>
              <a:rPr lang="zh-CN" altLang="en-US" sz="1800" kern="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李四</a:t>
            </a:r>
            <a:r>
              <a:rPr lang="zh-CN" altLang="en-US" sz="1800" kern="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是罪犯！</a:t>
            </a:r>
          </a:p>
          <a:p>
            <a:pPr marL="0" indent="0">
              <a:lnSpc>
                <a:spcPct val="115000"/>
              </a:lnSpc>
              <a:spcBef>
                <a:spcPts val="500"/>
              </a:spcBef>
              <a:spcAft>
                <a:spcPts val="500"/>
              </a:spcAft>
              <a:buNone/>
            </a:pPr>
            <a:endParaRPr lang="zh-CN" altLang="en-US" sz="1800" kern="0" dirty="0"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indent="0">
              <a:lnSpc>
                <a:spcPct val="115000"/>
              </a:lnSpc>
              <a:spcBef>
                <a:spcPts val="500"/>
              </a:spcBef>
              <a:spcAft>
                <a:spcPts val="500"/>
              </a:spcAft>
              <a:buNone/>
            </a:pPr>
            <a:endParaRPr lang="en-US" altLang="zh-CN" sz="1800" kern="0" dirty="0">
              <a:effectLst/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lnSpc>
                <a:spcPct val="120000"/>
              </a:lnSpc>
              <a:buNone/>
            </a:pPr>
            <a:endParaRPr lang="en-US" altLang="zh-CN" sz="1800" kern="0" dirty="0">
              <a:effectLst/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lnSpc>
                <a:spcPct val="120000"/>
              </a:lnSpc>
              <a:buFontTx/>
              <a:buNone/>
            </a:pPr>
            <a:endParaRPr kumimoji="1" lang="zh-CN" altLang="en-US" sz="2700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35429563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>
            <a:extLst>
              <a:ext uri="{FF2B5EF4-FFF2-40B4-BE49-F238E27FC236}">
                <a16:creationId xmlns:a16="http://schemas.microsoft.com/office/drawing/2014/main" id="{1138DD02-1C21-EB71-20C9-9DCD71AB6600}"/>
              </a:ext>
            </a:extLst>
          </p:cNvPr>
          <p:cNvSpPr txBox="1">
            <a:spLocks/>
          </p:cNvSpPr>
          <p:nvPr/>
        </p:nvSpPr>
        <p:spPr>
          <a:xfrm>
            <a:off x="552342" y="485383"/>
            <a:ext cx="8806446" cy="11448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zh-CN" altLang="en-US" sz="3600" dirty="0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案例</a:t>
            </a:r>
            <a:r>
              <a:rPr lang="en-US" altLang="zh-CN" sz="3600" dirty="0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1</a:t>
            </a:r>
            <a:r>
              <a:rPr lang="zh-CN" altLang="en-US" sz="3600" dirty="0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：</a:t>
            </a:r>
            <a:r>
              <a:rPr lang="zh-CN" altLang="en-US" sz="2700" dirty="0">
                <a:solidFill>
                  <a:schemeClr val="accent1">
                    <a:lumMod val="75000"/>
                  </a:schemeClr>
                </a:solidFill>
                <a:latin typeface=".AppleSystemUIFont"/>
              </a:rPr>
              <a:t>破案推理</a:t>
            </a:r>
            <a:br>
              <a:rPr lang="zh-CN" altLang="en-US" dirty="0">
                <a:solidFill>
                  <a:srgbClr val="0E0E0E"/>
                </a:solidFill>
                <a:latin typeface=".AppleSystemUIFont"/>
              </a:rPr>
            </a:br>
            <a:endParaRPr lang="zh-CN" altLang="en-US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99005733-04F1-A078-3570-3789BE4CC749}"/>
              </a:ext>
            </a:extLst>
          </p:cNvPr>
          <p:cNvSpPr txBox="1"/>
          <p:nvPr/>
        </p:nvSpPr>
        <p:spPr>
          <a:xfrm>
            <a:off x="584606" y="1687354"/>
            <a:ext cx="5642941" cy="51706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dirty="0">
                <a:solidFill>
                  <a:srgbClr val="808080"/>
                </a:solidFill>
                <a:effectLst/>
              </a:rPr>
              <a:t># </a:t>
            </a:r>
            <a:r>
              <a:rPr lang="zh-CN" altLang="en-US" sz="1400" dirty="0">
                <a:solidFill>
                  <a:srgbClr val="808080"/>
                </a:solidFill>
                <a:effectLst/>
                <a:latin typeface="Menlo-Regular" panose="020B0609030804020204" pitchFamily="49" charset="0"/>
              </a:rPr>
              <a:t>定义规则和已知事实</a:t>
            </a:r>
            <a:br>
              <a:rPr lang="zh-CN" altLang="en-US" sz="1400" dirty="0">
                <a:solidFill>
                  <a:srgbClr val="808080"/>
                </a:solidFill>
                <a:effectLst/>
                <a:latin typeface="Menlo-Regular" panose="020B0609030804020204" pitchFamily="49" charset="0"/>
              </a:rPr>
            </a:br>
            <a:r>
              <a:rPr lang="en" altLang="zh-CN" sz="1400" dirty="0">
                <a:solidFill>
                  <a:srgbClr val="CC7832"/>
                </a:solidFill>
                <a:effectLst/>
              </a:rPr>
              <a:t>def </a:t>
            </a:r>
            <a:r>
              <a:rPr lang="en" altLang="zh-CN" sz="1400" dirty="0" err="1">
                <a:solidFill>
                  <a:srgbClr val="FFC66D"/>
                </a:solidFill>
                <a:effectLst/>
              </a:rPr>
              <a:t>rules_and_facts</a:t>
            </a:r>
            <a:r>
              <a:rPr lang="en" altLang="zh-CN" sz="1400" dirty="0"/>
              <a:t>():</a:t>
            </a:r>
            <a:br>
              <a:rPr lang="en" altLang="zh-CN" sz="1400" dirty="0"/>
            </a:br>
            <a:r>
              <a:rPr lang="en" altLang="zh-CN" sz="1400" dirty="0"/>
              <a:t>    </a:t>
            </a:r>
            <a:r>
              <a:rPr lang="en" altLang="zh-CN" sz="1400" dirty="0">
                <a:solidFill>
                  <a:srgbClr val="808080"/>
                </a:solidFill>
                <a:effectLst/>
              </a:rPr>
              <a:t># </a:t>
            </a:r>
            <a:r>
              <a:rPr lang="zh-CN" altLang="en-US" sz="1400" dirty="0">
                <a:solidFill>
                  <a:srgbClr val="808080"/>
                </a:solidFill>
                <a:effectLst/>
                <a:latin typeface="Menlo-Regular" panose="020B0609030804020204" pitchFamily="49" charset="0"/>
              </a:rPr>
              <a:t>规则</a:t>
            </a:r>
            <a:r>
              <a:rPr lang="en-US" altLang="zh-CN" sz="1400" dirty="0">
                <a:solidFill>
                  <a:srgbClr val="808080"/>
                </a:solidFill>
                <a:effectLst/>
              </a:rPr>
              <a:t>1: </a:t>
            </a:r>
            <a:r>
              <a:rPr lang="zh-CN" altLang="en-US" sz="1400" dirty="0">
                <a:solidFill>
                  <a:srgbClr val="808080"/>
                </a:solidFill>
                <a:effectLst/>
                <a:latin typeface="Menlo-Regular" panose="020B0609030804020204" pitchFamily="49" charset="0"/>
              </a:rPr>
              <a:t>罪犯只能是张三或李四</a:t>
            </a:r>
            <a:br>
              <a:rPr lang="zh-CN" altLang="en-US" sz="1400" dirty="0">
                <a:solidFill>
                  <a:srgbClr val="808080"/>
                </a:solidFill>
                <a:effectLst/>
                <a:latin typeface="Menlo-Regular" panose="020B0609030804020204" pitchFamily="49" charset="0"/>
              </a:rPr>
            </a:br>
            <a:r>
              <a:rPr lang="zh-CN" altLang="en-US" sz="1400" dirty="0">
                <a:solidFill>
                  <a:srgbClr val="808080"/>
                </a:solidFill>
                <a:effectLst/>
                <a:latin typeface="Menlo-Regular" panose="020B0609030804020204" pitchFamily="49" charset="0"/>
              </a:rPr>
              <a:t>    </a:t>
            </a:r>
            <a:r>
              <a:rPr lang="en" altLang="zh-CN" sz="1400" dirty="0">
                <a:solidFill>
                  <a:srgbClr val="CC7832"/>
                </a:solidFill>
                <a:effectLst/>
              </a:rPr>
              <a:t>def </a:t>
            </a:r>
            <a:r>
              <a:rPr lang="en" altLang="zh-CN" sz="1400" dirty="0">
                <a:solidFill>
                  <a:srgbClr val="FFC66D"/>
                </a:solidFill>
                <a:effectLst/>
              </a:rPr>
              <a:t>rule1</a:t>
            </a:r>
            <a:r>
              <a:rPr lang="en" altLang="zh-CN" sz="1400" dirty="0"/>
              <a:t>(x):</a:t>
            </a:r>
            <a:br>
              <a:rPr lang="en" altLang="zh-CN" sz="1400" dirty="0"/>
            </a:br>
            <a:r>
              <a:rPr lang="en" altLang="zh-CN" sz="1400" dirty="0"/>
              <a:t>        </a:t>
            </a:r>
            <a:r>
              <a:rPr lang="en" altLang="zh-CN" sz="1400" dirty="0">
                <a:solidFill>
                  <a:srgbClr val="CC7832"/>
                </a:solidFill>
                <a:effectLst/>
              </a:rPr>
              <a:t>return </a:t>
            </a:r>
            <a:r>
              <a:rPr lang="en" altLang="zh-CN" sz="1400" dirty="0"/>
              <a:t>x == </a:t>
            </a:r>
            <a:r>
              <a:rPr lang="en" altLang="zh-CN" sz="1400" dirty="0">
                <a:solidFill>
                  <a:srgbClr val="6A8759"/>
                </a:solidFill>
                <a:effectLst/>
              </a:rPr>
              <a:t>"</a:t>
            </a:r>
            <a:r>
              <a:rPr lang="en" altLang="zh-CN" sz="1400" dirty="0" err="1">
                <a:solidFill>
                  <a:srgbClr val="6A8759"/>
                </a:solidFill>
                <a:effectLst/>
              </a:rPr>
              <a:t>ZhangSan</a:t>
            </a:r>
            <a:r>
              <a:rPr lang="en" altLang="zh-CN" sz="1400" dirty="0">
                <a:solidFill>
                  <a:srgbClr val="6A8759"/>
                </a:solidFill>
                <a:effectLst/>
              </a:rPr>
              <a:t>" </a:t>
            </a:r>
            <a:r>
              <a:rPr lang="en" altLang="zh-CN" sz="1400" dirty="0">
                <a:solidFill>
                  <a:srgbClr val="CC7832"/>
                </a:solidFill>
                <a:effectLst/>
              </a:rPr>
              <a:t>or </a:t>
            </a:r>
            <a:r>
              <a:rPr lang="en" altLang="zh-CN" sz="1400" dirty="0"/>
              <a:t>x == </a:t>
            </a:r>
            <a:r>
              <a:rPr lang="en" altLang="zh-CN" sz="1400" dirty="0">
                <a:solidFill>
                  <a:srgbClr val="6A8759"/>
                </a:solidFill>
                <a:effectLst/>
              </a:rPr>
              <a:t>"</a:t>
            </a:r>
            <a:r>
              <a:rPr lang="en" altLang="zh-CN" sz="1400" dirty="0" err="1">
                <a:solidFill>
                  <a:srgbClr val="6A8759"/>
                </a:solidFill>
                <a:effectLst/>
              </a:rPr>
              <a:t>LiSi</a:t>
            </a:r>
            <a:r>
              <a:rPr lang="en" altLang="zh-CN" sz="1400" dirty="0">
                <a:solidFill>
                  <a:srgbClr val="6A8759"/>
                </a:solidFill>
                <a:effectLst/>
              </a:rPr>
              <a:t>"</a:t>
            </a:r>
            <a:br>
              <a:rPr lang="en" altLang="zh-CN" sz="1400" dirty="0">
                <a:solidFill>
                  <a:srgbClr val="6A8759"/>
                </a:solidFill>
                <a:effectLst/>
              </a:rPr>
            </a:br>
            <a:r>
              <a:rPr lang="en" altLang="zh-CN" sz="1400" dirty="0">
                <a:solidFill>
                  <a:srgbClr val="6A8759"/>
                </a:solidFill>
                <a:effectLst/>
              </a:rPr>
              <a:t>    </a:t>
            </a:r>
            <a:r>
              <a:rPr lang="en" altLang="zh-CN" sz="1400" dirty="0">
                <a:solidFill>
                  <a:srgbClr val="808080"/>
                </a:solidFill>
                <a:effectLst/>
              </a:rPr>
              <a:t># </a:t>
            </a:r>
            <a:r>
              <a:rPr lang="zh-CN" altLang="en-US" sz="1400" dirty="0">
                <a:solidFill>
                  <a:srgbClr val="808080"/>
                </a:solidFill>
                <a:effectLst/>
                <a:latin typeface="Menlo-Regular" panose="020B0609030804020204" pitchFamily="49" charset="0"/>
              </a:rPr>
              <a:t>规则</a:t>
            </a:r>
            <a:r>
              <a:rPr lang="en-US" altLang="zh-CN" sz="1400" dirty="0">
                <a:solidFill>
                  <a:srgbClr val="808080"/>
                </a:solidFill>
                <a:effectLst/>
              </a:rPr>
              <a:t>2: </a:t>
            </a:r>
            <a:r>
              <a:rPr lang="zh-CN" altLang="en-US" sz="1400" dirty="0">
                <a:solidFill>
                  <a:srgbClr val="808080"/>
                </a:solidFill>
                <a:effectLst/>
                <a:latin typeface="Menlo-Regular" panose="020B0609030804020204" pitchFamily="49" charset="0"/>
              </a:rPr>
              <a:t>罪犯必须戴黑色手套</a:t>
            </a:r>
            <a:br>
              <a:rPr lang="zh-CN" altLang="en-US" sz="1400" dirty="0">
                <a:solidFill>
                  <a:srgbClr val="808080"/>
                </a:solidFill>
                <a:effectLst/>
                <a:latin typeface="Menlo-Regular" panose="020B0609030804020204" pitchFamily="49" charset="0"/>
              </a:rPr>
            </a:br>
            <a:r>
              <a:rPr lang="zh-CN" altLang="en-US" sz="1400" dirty="0">
                <a:solidFill>
                  <a:srgbClr val="808080"/>
                </a:solidFill>
                <a:effectLst/>
                <a:latin typeface="Menlo-Regular" panose="020B0609030804020204" pitchFamily="49" charset="0"/>
              </a:rPr>
              <a:t>    </a:t>
            </a:r>
            <a:r>
              <a:rPr lang="en" altLang="zh-CN" sz="1400" dirty="0">
                <a:solidFill>
                  <a:srgbClr val="CC7832"/>
                </a:solidFill>
                <a:effectLst/>
              </a:rPr>
              <a:t>def </a:t>
            </a:r>
            <a:r>
              <a:rPr lang="en" altLang="zh-CN" sz="1400" dirty="0">
                <a:solidFill>
                  <a:srgbClr val="FFC66D"/>
                </a:solidFill>
                <a:effectLst/>
              </a:rPr>
              <a:t>rule2</a:t>
            </a:r>
            <a:r>
              <a:rPr lang="en" altLang="zh-CN" sz="1400" dirty="0"/>
              <a:t>(x):</a:t>
            </a:r>
            <a:br>
              <a:rPr lang="en" altLang="zh-CN" sz="1400" dirty="0"/>
            </a:br>
            <a:r>
              <a:rPr lang="en" altLang="zh-CN" sz="1400" dirty="0"/>
              <a:t>        </a:t>
            </a:r>
            <a:r>
              <a:rPr lang="en" altLang="zh-CN" sz="1400" dirty="0">
                <a:solidFill>
                  <a:srgbClr val="CC7832"/>
                </a:solidFill>
                <a:effectLst/>
              </a:rPr>
              <a:t>return </a:t>
            </a:r>
            <a:r>
              <a:rPr lang="en" altLang="zh-CN" sz="1400" dirty="0" err="1">
                <a:solidFill>
                  <a:srgbClr val="6A8759"/>
                </a:solidFill>
                <a:effectLst/>
              </a:rPr>
              <a:t>f"WearsGloves</a:t>
            </a:r>
            <a:r>
              <a:rPr lang="en" altLang="zh-CN" sz="1400" dirty="0">
                <a:solidFill>
                  <a:srgbClr val="6A8759"/>
                </a:solidFill>
                <a:effectLst/>
              </a:rPr>
              <a:t>(</a:t>
            </a:r>
            <a:r>
              <a:rPr lang="en" altLang="zh-CN" sz="1400" dirty="0">
                <a:solidFill>
                  <a:srgbClr val="CC7832"/>
                </a:solidFill>
                <a:effectLst/>
              </a:rPr>
              <a:t>{</a:t>
            </a:r>
            <a:r>
              <a:rPr lang="en" altLang="zh-CN" sz="1400" dirty="0"/>
              <a:t>x</a:t>
            </a:r>
            <a:r>
              <a:rPr lang="en" altLang="zh-CN" sz="1400" dirty="0">
                <a:solidFill>
                  <a:srgbClr val="CC7832"/>
                </a:solidFill>
                <a:effectLst/>
              </a:rPr>
              <a:t>}</a:t>
            </a:r>
            <a:r>
              <a:rPr lang="en" altLang="zh-CN" sz="1400" dirty="0">
                <a:solidFill>
                  <a:srgbClr val="6A8759"/>
                </a:solidFill>
                <a:effectLst/>
              </a:rPr>
              <a:t>) → </a:t>
            </a:r>
            <a:r>
              <a:rPr lang="en" altLang="zh-CN" sz="1400" dirty="0" err="1">
                <a:solidFill>
                  <a:srgbClr val="6A8759"/>
                </a:solidFill>
                <a:effectLst/>
              </a:rPr>
              <a:t>BlackGloves</a:t>
            </a:r>
            <a:r>
              <a:rPr lang="en" altLang="zh-CN" sz="1400" dirty="0">
                <a:solidFill>
                  <a:srgbClr val="6A8759"/>
                </a:solidFill>
                <a:effectLst/>
              </a:rPr>
              <a:t>(</a:t>
            </a:r>
            <a:r>
              <a:rPr lang="en" altLang="zh-CN" sz="1400" dirty="0">
                <a:solidFill>
                  <a:srgbClr val="CC7832"/>
                </a:solidFill>
                <a:effectLst/>
              </a:rPr>
              <a:t>{</a:t>
            </a:r>
            <a:r>
              <a:rPr lang="en" altLang="zh-CN" sz="1400" dirty="0"/>
              <a:t>x</a:t>
            </a:r>
            <a:r>
              <a:rPr lang="en" altLang="zh-CN" sz="1400" dirty="0">
                <a:solidFill>
                  <a:srgbClr val="CC7832"/>
                </a:solidFill>
                <a:effectLst/>
              </a:rPr>
              <a:t>}</a:t>
            </a:r>
            <a:r>
              <a:rPr lang="en" altLang="zh-CN" sz="1400" dirty="0">
                <a:solidFill>
                  <a:srgbClr val="6A8759"/>
                </a:solidFill>
                <a:effectLst/>
              </a:rPr>
              <a:t>)"</a:t>
            </a:r>
            <a:br>
              <a:rPr lang="en" altLang="zh-CN" sz="1400" dirty="0">
                <a:solidFill>
                  <a:srgbClr val="6A8759"/>
                </a:solidFill>
                <a:effectLst/>
              </a:rPr>
            </a:br>
            <a:r>
              <a:rPr lang="en" altLang="zh-CN" sz="1400" dirty="0">
                <a:solidFill>
                  <a:srgbClr val="6A8759"/>
                </a:solidFill>
                <a:effectLst/>
              </a:rPr>
              <a:t>    </a:t>
            </a:r>
            <a:r>
              <a:rPr lang="en" altLang="zh-CN" sz="1400" dirty="0">
                <a:solidFill>
                  <a:srgbClr val="808080"/>
                </a:solidFill>
                <a:effectLst/>
              </a:rPr>
              <a:t># </a:t>
            </a:r>
            <a:r>
              <a:rPr lang="zh-CN" altLang="en-US" sz="1400" dirty="0">
                <a:solidFill>
                  <a:srgbClr val="808080"/>
                </a:solidFill>
                <a:effectLst/>
                <a:latin typeface="Menlo-Regular" panose="020B0609030804020204" pitchFamily="49" charset="0"/>
              </a:rPr>
              <a:t>规则</a:t>
            </a:r>
            <a:r>
              <a:rPr lang="en-US" altLang="zh-CN" sz="1400" dirty="0">
                <a:solidFill>
                  <a:srgbClr val="808080"/>
                </a:solidFill>
                <a:effectLst/>
              </a:rPr>
              <a:t>3: </a:t>
            </a:r>
            <a:r>
              <a:rPr lang="zh-CN" altLang="en-US" sz="1400" dirty="0">
                <a:solidFill>
                  <a:srgbClr val="808080"/>
                </a:solidFill>
                <a:effectLst/>
                <a:latin typeface="Menlo-Regular" panose="020B0609030804020204" pitchFamily="49" charset="0"/>
              </a:rPr>
              <a:t>张三有黑色手套，李四没有</a:t>
            </a:r>
            <a:br>
              <a:rPr lang="zh-CN" altLang="en-US" sz="1400" dirty="0">
                <a:solidFill>
                  <a:srgbClr val="808080"/>
                </a:solidFill>
                <a:effectLst/>
                <a:latin typeface="Menlo-Regular" panose="020B0609030804020204" pitchFamily="49" charset="0"/>
              </a:rPr>
            </a:br>
            <a:r>
              <a:rPr lang="zh-CN" altLang="en-US" sz="1400" dirty="0">
                <a:solidFill>
                  <a:srgbClr val="808080"/>
                </a:solidFill>
                <a:effectLst/>
                <a:latin typeface="Menlo-Regular" panose="020B0609030804020204" pitchFamily="49" charset="0"/>
              </a:rPr>
              <a:t>    </a:t>
            </a:r>
            <a:r>
              <a:rPr lang="en" altLang="zh-CN" sz="1400" dirty="0">
                <a:solidFill>
                  <a:srgbClr val="CC7832"/>
                </a:solidFill>
                <a:effectLst/>
              </a:rPr>
              <a:t>def </a:t>
            </a:r>
            <a:r>
              <a:rPr lang="en" altLang="zh-CN" sz="1400" dirty="0">
                <a:solidFill>
                  <a:srgbClr val="FFC66D"/>
                </a:solidFill>
                <a:effectLst/>
              </a:rPr>
              <a:t>rule3</a:t>
            </a:r>
            <a:r>
              <a:rPr lang="en" altLang="zh-CN" sz="1400" dirty="0"/>
              <a:t>():</a:t>
            </a:r>
            <a:br>
              <a:rPr lang="en" altLang="zh-CN" sz="1400" dirty="0"/>
            </a:br>
            <a:r>
              <a:rPr lang="en" altLang="zh-CN" sz="1400" dirty="0"/>
              <a:t>        </a:t>
            </a:r>
            <a:r>
              <a:rPr lang="en" altLang="zh-CN" sz="1400" dirty="0">
                <a:solidFill>
                  <a:srgbClr val="CC7832"/>
                </a:solidFill>
                <a:effectLst/>
              </a:rPr>
              <a:t>return </a:t>
            </a:r>
            <a:r>
              <a:rPr lang="en" altLang="zh-CN" sz="1400" dirty="0"/>
              <a:t>[</a:t>
            </a:r>
            <a:r>
              <a:rPr lang="en" altLang="zh-CN" sz="1400" dirty="0">
                <a:solidFill>
                  <a:srgbClr val="6A8759"/>
                </a:solidFill>
                <a:effectLst/>
              </a:rPr>
              <a:t>"</a:t>
            </a:r>
            <a:r>
              <a:rPr lang="en" altLang="zh-CN" sz="1400" dirty="0" err="1">
                <a:solidFill>
                  <a:srgbClr val="6A8759"/>
                </a:solidFill>
                <a:effectLst/>
              </a:rPr>
              <a:t>BlackGloves</a:t>
            </a:r>
            <a:r>
              <a:rPr lang="en" altLang="zh-CN" sz="1400" dirty="0">
                <a:solidFill>
                  <a:srgbClr val="6A8759"/>
                </a:solidFill>
                <a:effectLst/>
              </a:rPr>
              <a:t>(</a:t>
            </a:r>
            <a:r>
              <a:rPr lang="en" altLang="zh-CN" sz="1400" dirty="0" err="1">
                <a:solidFill>
                  <a:srgbClr val="6A8759"/>
                </a:solidFill>
                <a:effectLst/>
              </a:rPr>
              <a:t>ZhangSan</a:t>
            </a:r>
            <a:r>
              <a:rPr lang="en" altLang="zh-CN" sz="1400" dirty="0">
                <a:solidFill>
                  <a:srgbClr val="6A8759"/>
                </a:solidFill>
                <a:effectLst/>
              </a:rPr>
              <a:t>)"</a:t>
            </a:r>
            <a:r>
              <a:rPr lang="en" altLang="zh-CN" sz="1400" dirty="0">
                <a:solidFill>
                  <a:srgbClr val="CC7832"/>
                </a:solidFill>
                <a:effectLst/>
              </a:rPr>
              <a:t>, </a:t>
            </a:r>
            <a:r>
              <a:rPr lang="en" altLang="zh-CN" sz="1400" dirty="0">
                <a:solidFill>
                  <a:srgbClr val="6A8759"/>
                </a:solidFill>
                <a:effectLst/>
              </a:rPr>
              <a:t>"¬</a:t>
            </a:r>
            <a:r>
              <a:rPr lang="en" altLang="zh-CN" sz="1400" dirty="0" err="1">
                <a:solidFill>
                  <a:srgbClr val="6A8759"/>
                </a:solidFill>
                <a:effectLst/>
              </a:rPr>
              <a:t>BlackGloves</a:t>
            </a:r>
            <a:r>
              <a:rPr lang="en" altLang="zh-CN" sz="1400" dirty="0">
                <a:solidFill>
                  <a:srgbClr val="6A8759"/>
                </a:solidFill>
                <a:effectLst/>
              </a:rPr>
              <a:t>(</a:t>
            </a:r>
            <a:r>
              <a:rPr lang="en" altLang="zh-CN" sz="1400" dirty="0" err="1">
                <a:solidFill>
                  <a:srgbClr val="6A8759"/>
                </a:solidFill>
                <a:effectLst/>
              </a:rPr>
              <a:t>LiSi</a:t>
            </a:r>
            <a:r>
              <a:rPr lang="en" altLang="zh-CN" sz="1400" dirty="0">
                <a:solidFill>
                  <a:srgbClr val="6A8759"/>
                </a:solidFill>
                <a:effectLst/>
              </a:rPr>
              <a:t>)"</a:t>
            </a:r>
            <a:r>
              <a:rPr lang="en" altLang="zh-CN" sz="1400" dirty="0"/>
              <a:t>]</a:t>
            </a:r>
            <a:br>
              <a:rPr lang="en" altLang="zh-CN" sz="1400" dirty="0"/>
            </a:br>
            <a:r>
              <a:rPr lang="en" altLang="zh-CN" sz="1400" dirty="0"/>
              <a:t>    </a:t>
            </a:r>
            <a:r>
              <a:rPr lang="en" altLang="zh-CN" sz="1400" dirty="0">
                <a:solidFill>
                  <a:srgbClr val="808080"/>
                </a:solidFill>
                <a:effectLst/>
              </a:rPr>
              <a:t># </a:t>
            </a:r>
            <a:r>
              <a:rPr lang="zh-CN" altLang="en-US" sz="1400" dirty="0">
                <a:solidFill>
                  <a:srgbClr val="808080"/>
                </a:solidFill>
                <a:effectLst/>
                <a:latin typeface="Menlo-Regular" panose="020B0609030804020204" pitchFamily="49" charset="0"/>
              </a:rPr>
              <a:t>规则</a:t>
            </a:r>
            <a:r>
              <a:rPr lang="en-US" altLang="zh-CN" sz="1400" dirty="0">
                <a:solidFill>
                  <a:srgbClr val="808080"/>
                </a:solidFill>
                <a:effectLst/>
              </a:rPr>
              <a:t>4: </a:t>
            </a:r>
            <a:r>
              <a:rPr lang="zh-CN" altLang="en-US" sz="1400" dirty="0">
                <a:solidFill>
                  <a:srgbClr val="808080"/>
                </a:solidFill>
                <a:effectLst/>
                <a:latin typeface="Menlo-Regular" panose="020B0609030804020204" pitchFamily="49" charset="0"/>
              </a:rPr>
              <a:t>罪犯必须会撬锁</a:t>
            </a:r>
            <a:br>
              <a:rPr lang="zh-CN" altLang="en-US" sz="1400" dirty="0">
                <a:solidFill>
                  <a:srgbClr val="808080"/>
                </a:solidFill>
                <a:effectLst/>
                <a:latin typeface="Menlo-Regular" panose="020B0609030804020204" pitchFamily="49" charset="0"/>
              </a:rPr>
            </a:br>
            <a:r>
              <a:rPr lang="zh-CN" altLang="en-US" sz="1400" dirty="0">
                <a:solidFill>
                  <a:srgbClr val="808080"/>
                </a:solidFill>
                <a:effectLst/>
                <a:latin typeface="Menlo-Regular" panose="020B0609030804020204" pitchFamily="49" charset="0"/>
              </a:rPr>
              <a:t>    </a:t>
            </a:r>
            <a:r>
              <a:rPr lang="en" altLang="zh-CN" sz="1400" dirty="0">
                <a:solidFill>
                  <a:srgbClr val="CC7832"/>
                </a:solidFill>
                <a:effectLst/>
              </a:rPr>
              <a:t>def </a:t>
            </a:r>
            <a:r>
              <a:rPr lang="en" altLang="zh-CN" sz="1400" dirty="0">
                <a:solidFill>
                  <a:srgbClr val="FFC66D"/>
                </a:solidFill>
                <a:effectLst/>
              </a:rPr>
              <a:t>rule4</a:t>
            </a:r>
            <a:r>
              <a:rPr lang="en" altLang="zh-CN" sz="1400" dirty="0"/>
              <a:t>(x):</a:t>
            </a:r>
            <a:br>
              <a:rPr lang="en" altLang="zh-CN" sz="1400" dirty="0"/>
            </a:br>
            <a:r>
              <a:rPr lang="en" altLang="zh-CN" sz="1400" dirty="0"/>
              <a:t>        </a:t>
            </a:r>
            <a:r>
              <a:rPr lang="en" altLang="zh-CN" sz="1400" dirty="0">
                <a:solidFill>
                  <a:srgbClr val="CC7832"/>
                </a:solidFill>
                <a:effectLst/>
              </a:rPr>
              <a:t>return </a:t>
            </a:r>
            <a:r>
              <a:rPr lang="en" altLang="zh-CN" sz="1400" dirty="0" err="1">
                <a:solidFill>
                  <a:srgbClr val="6A8759"/>
                </a:solidFill>
                <a:effectLst/>
              </a:rPr>
              <a:t>f"Criminal</a:t>
            </a:r>
            <a:r>
              <a:rPr lang="en" altLang="zh-CN" sz="1400" dirty="0">
                <a:solidFill>
                  <a:srgbClr val="6A8759"/>
                </a:solidFill>
                <a:effectLst/>
              </a:rPr>
              <a:t>(</a:t>
            </a:r>
            <a:r>
              <a:rPr lang="en" altLang="zh-CN" sz="1400" dirty="0">
                <a:solidFill>
                  <a:srgbClr val="CC7832"/>
                </a:solidFill>
                <a:effectLst/>
              </a:rPr>
              <a:t>{</a:t>
            </a:r>
            <a:r>
              <a:rPr lang="en" altLang="zh-CN" sz="1400" dirty="0"/>
              <a:t>x</a:t>
            </a:r>
            <a:r>
              <a:rPr lang="en" altLang="zh-CN" sz="1400" dirty="0">
                <a:solidFill>
                  <a:srgbClr val="CC7832"/>
                </a:solidFill>
                <a:effectLst/>
              </a:rPr>
              <a:t>}</a:t>
            </a:r>
            <a:r>
              <a:rPr lang="en" altLang="zh-CN" sz="1400" dirty="0">
                <a:solidFill>
                  <a:srgbClr val="6A8759"/>
                </a:solidFill>
                <a:effectLst/>
              </a:rPr>
              <a:t>) → Lock(</a:t>
            </a:r>
            <a:r>
              <a:rPr lang="en" altLang="zh-CN" sz="1400" dirty="0">
                <a:solidFill>
                  <a:srgbClr val="CC7832"/>
                </a:solidFill>
                <a:effectLst/>
              </a:rPr>
              <a:t>{</a:t>
            </a:r>
            <a:r>
              <a:rPr lang="en" altLang="zh-CN" sz="1400" dirty="0"/>
              <a:t>x</a:t>
            </a:r>
            <a:r>
              <a:rPr lang="en" altLang="zh-CN" sz="1400" dirty="0">
                <a:solidFill>
                  <a:srgbClr val="CC7832"/>
                </a:solidFill>
                <a:effectLst/>
              </a:rPr>
              <a:t>}</a:t>
            </a:r>
            <a:r>
              <a:rPr lang="en" altLang="zh-CN" sz="1400" dirty="0">
                <a:solidFill>
                  <a:srgbClr val="6A8759"/>
                </a:solidFill>
                <a:effectLst/>
              </a:rPr>
              <a:t>)"</a:t>
            </a:r>
            <a:br>
              <a:rPr lang="en" altLang="zh-CN" sz="1400" dirty="0">
                <a:solidFill>
                  <a:srgbClr val="6A8759"/>
                </a:solidFill>
                <a:effectLst/>
              </a:rPr>
            </a:br>
            <a:r>
              <a:rPr lang="en" altLang="zh-CN" sz="1400" dirty="0">
                <a:solidFill>
                  <a:srgbClr val="6A8759"/>
                </a:solidFill>
                <a:effectLst/>
              </a:rPr>
              <a:t>    </a:t>
            </a:r>
            <a:r>
              <a:rPr lang="en" altLang="zh-CN" sz="1400" dirty="0">
                <a:solidFill>
                  <a:srgbClr val="808080"/>
                </a:solidFill>
                <a:effectLst/>
              </a:rPr>
              <a:t># </a:t>
            </a:r>
            <a:r>
              <a:rPr lang="zh-CN" altLang="en-US" sz="1400" dirty="0">
                <a:solidFill>
                  <a:srgbClr val="808080"/>
                </a:solidFill>
                <a:effectLst/>
                <a:latin typeface="Menlo-Regular" panose="020B0609030804020204" pitchFamily="49" charset="0"/>
              </a:rPr>
              <a:t>规则</a:t>
            </a:r>
            <a:r>
              <a:rPr lang="en-US" altLang="zh-CN" sz="1400" dirty="0">
                <a:solidFill>
                  <a:srgbClr val="808080"/>
                </a:solidFill>
                <a:effectLst/>
              </a:rPr>
              <a:t>5: </a:t>
            </a:r>
            <a:r>
              <a:rPr lang="zh-CN" altLang="en-US" sz="1400" dirty="0">
                <a:solidFill>
                  <a:srgbClr val="808080"/>
                </a:solidFill>
                <a:effectLst/>
                <a:latin typeface="Menlo-Regular" panose="020B0609030804020204" pitchFamily="49" charset="0"/>
              </a:rPr>
              <a:t>张三不会撬锁，李四是锁匠</a:t>
            </a:r>
            <a:br>
              <a:rPr lang="zh-CN" altLang="en-US" sz="1400" dirty="0">
                <a:solidFill>
                  <a:srgbClr val="808080"/>
                </a:solidFill>
                <a:effectLst/>
                <a:latin typeface="Menlo-Regular" panose="020B0609030804020204" pitchFamily="49" charset="0"/>
              </a:rPr>
            </a:br>
            <a:r>
              <a:rPr lang="zh-CN" altLang="en-US" sz="1400" dirty="0">
                <a:solidFill>
                  <a:srgbClr val="808080"/>
                </a:solidFill>
                <a:effectLst/>
                <a:latin typeface="Menlo-Regular" panose="020B0609030804020204" pitchFamily="49" charset="0"/>
              </a:rPr>
              <a:t>    </a:t>
            </a:r>
            <a:r>
              <a:rPr lang="en" altLang="zh-CN" sz="1400" dirty="0">
                <a:solidFill>
                  <a:srgbClr val="CC7832"/>
                </a:solidFill>
                <a:effectLst/>
              </a:rPr>
              <a:t>def </a:t>
            </a:r>
            <a:r>
              <a:rPr lang="en" altLang="zh-CN" sz="1400" dirty="0">
                <a:solidFill>
                  <a:srgbClr val="FFC66D"/>
                </a:solidFill>
                <a:effectLst/>
              </a:rPr>
              <a:t>rule5</a:t>
            </a:r>
            <a:r>
              <a:rPr lang="en" altLang="zh-CN" sz="1400" dirty="0"/>
              <a:t>():</a:t>
            </a:r>
            <a:br>
              <a:rPr lang="en" altLang="zh-CN" sz="1400" dirty="0"/>
            </a:br>
            <a:r>
              <a:rPr lang="en" altLang="zh-CN" sz="1400" dirty="0"/>
              <a:t>        </a:t>
            </a:r>
            <a:r>
              <a:rPr lang="en" altLang="zh-CN" sz="1400" dirty="0">
                <a:solidFill>
                  <a:srgbClr val="CC7832"/>
                </a:solidFill>
                <a:effectLst/>
              </a:rPr>
              <a:t>return </a:t>
            </a:r>
            <a:r>
              <a:rPr lang="en" altLang="zh-CN" sz="1400" dirty="0"/>
              <a:t>[</a:t>
            </a:r>
            <a:r>
              <a:rPr lang="en" altLang="zh-CN" sz="1400" dirty="0">
                <a:solidFill>
                  <a:srgbClr val="6A8759"/>
                </a:solidFill>
                <a:effectLst/>
              </a:rPr>
              <a:t>"¬Lock(</a:t>
            </a:r>
            <a:r>
              <a:rPr lang="en" altLang="zh-CN" sz="1400" dirty="0" err="1">
                <a:solidFill>
                  <a:srgbClr val="6A8759"/>
                </a:solidFill>
                <a:effectLst/>
              </a:rPr>
              <a:t>ZhangSan</a:t>
            </a:r>
            <a:r>
              <a:rPr lang="en" altLang="zh-CN" sz="1400" dirty="0">
                <a:solidFill>
                  <a:srgbClr val="6A8759"/>
                </a:solidFill>
                <a:effectLst/>
              </a:rPr>
              <a:t>)"</a:t>
            </a:r>
            <a:r>
              <a:rPr lang="en" altLang="zh-CN" sz="1400" dirty="0">
                <a:solidFill>
                  <a:srgbClr val="CC7832"/>
                </a:solidFill>
                <a:effectLst/>
              </a:rPr>
              <a:t>, </a:t>
            </a:r>
            <a:r>
              <a:rPr lang="en" altLang="zh-CN" sz="1400" dirty="0">
                <a:solidFill>
                  <a:srgbClr val="6A8759"/>
                </a:solidFill>
                <a:effectLst/>
              </a:rPr>
              <a:t>"Lock(</a:t>
            </a:r>
            <a:r>
              <a:rPr lang="en" altLang="zh-CN" sz="1400" dirty="0" err="1">
                <a:solidFill>
                  <a:srgbClr val="6A8759"/>
                </a:solidFill>
                <a:effectLst/>
              </a:rPr>
              <a:t>LiSi</a:t>
            </a:r>
            <a:r>
              <a:rPr lang="en" altLang="zh-CN" sz="1400" dirty="0">
                <a:solidFill>
                  <a:srgbClr val="6A8759"/>
                </a:solidFill>
                <a:effectLst/>
              </a:rPr>
              <a:t>)"</a:t>
            </a:r>
            <a:r>
              <a:rPr lang="en" altLang="zh-CN" sz="1400" dirty="0"/>
              <a:t>]</a:t>
            </a:r>
            <a:br>
              <a:rPr lang="en" altLang="zh-CN" sz="1400" dirty="0"/>
            </a:br>
            <a:r>
              <a:rPr lang="en" altLang="zh-CN" sz="1400" dirty="0"/>
              <a:t>    </a:t>
            </a:r>
            <a:r>
              <a:rPr lang="en" altLang="zh-CN" sz="1400" dirty="0">
                <a:solidFill>
                  <a:srgbClr val="808080"/>
                </a:solidFill>
                <a:effectLst/>
              </a:rPr>
              <a:t># </a:t>
            </a:r>
            <a:r>
              <a:rPr lang="zh-CN" altLang="en-US" sz="1400" dirty="0">
                <a:solidFill>
                  <a:srgbClr val="808080"/>
                </a:solidFill>
                <a:effectLst/>
                <a:latin typeface="Menlo-Regular" panose="020B0609030804020204" pitchFamily="49" charset="0"/>
              </a:rPr>
              <a:t>规则</a:t>
            </a:r>
            <a:r>
              <a:rPr lang="en-US" altLang="zh-CN" sz="1400" dirty="0">
                <a:solidFill>
                  <a:srgbClr val="808080"/>
                </a:solidFill>
                <a:effectLst/>
              </a:rPr>
              <a:t>6: </a:t>
            </a:r>
            <a:r>
              <a:rPr lang="zh-CN" altLang="en-US" sz="1400" dirty="0">
                <a:solidFill>
                  <a:srgbClr val="808080"/>
                </a:solidFill>
                <a:effectLst/>
                <a:latin typeface="Menlo-Regular" panose="020B0609030804020204" pitchFamily="49" charset="0"/>
              </a:rPr>
              <a:t>罪犯作案时是通过撬锁进入的</a:t>
            </a:r>
            <a:br>
              <a:rPr lang="zh-CN" altLang="en-US" sz="1400" dirty="0">
                <a:solidFill>
                  <a:srgbClr val="808080"/>
                </a:solidFill>
                <a:effectLst/>
                <a:latin typeface="Menlo-Regular" panose="020B0609030804020204" pitchFamily="49" charset="0"/>
              </a:rPr>
            </a:br>
            <a:r>
              <a:rPr lang="zh-CN" altLang="en-US" sz="1400" dirty="0">
                <a:solidFill>
                  <a:srgbClr val="808080"/>
                </a:solidFill>
                <a:effectLst/>
                <a:latin typeface="Menlo-Regular" panose="020B0609030804020204" pitchFamily="49" charset="0"/>
              </a:rPr>
              <a:t>    </a:t>
            </a:r>
            <a:r>
              <a:rPr lang="en" altLang="zh-CN" sz="1400" dirty="0">
                <a:solidFill>
                  <a:srgbClr val="CC7832"/>
                </a:solidFill>
                <a:effectLst/>
              </a:rPr>
              <a:t>def </a:t>
            </a:r>
            <a:r>
              <a:rPr lang="en" altLang="zh-CN" sz="1400" dirty="0">
                <a:solidFill>
                  <a:srgbClr val="FFC66D"/>
                </a:solidFill>
                <a:effectLst/>
              </a:rPr>
              <a:t>rule6</a:t>
            </a:r>
            <a:r>
              <a:rPr lang="en" altLang="zh-CN" sz="1400" dirty="0"/>
              <a:t>():</a:t>
            </a:r>
            <a:br>
              <a:rPr lang="en" altLang="zh-CN" sz="1400" dirty="0"/>
            </a:br>
            <a:r>
              <a:rPr lang="en" altLang="zh-CN" sz="1400" dirty="0"/>
              <a:t>        </a:t>
            </a:r>
            <a:r>
              <a:rPr lang="en" altLang="zh-CN" sz="1400" dirty="0">
                <a:solidFill>
                  <a:srgbClr val="CC7832"/>
                </a:solidFill>
                <a:effectLst/>
              </a:rPr>
              <a:t>return </a:t>
            </a:r>
            <a:r>
              <a:rPr lang="en" altLang="zh-CN" sz="1400" dirty="0">
                <a:solidFill>
                  <a:srgbClr val="6A8759"/>
                </a:solidFill>
                <a:effectLst/>
              </a:rPr>
              <a:t>"</a:t>
            </a:r>
            <a:r>
              <a:rPr lang="en" altLang="zh-CN" sz="1400" dirty="0" err="1">
                <a:solidFill>
                  <a:srgbClr val="6A8759"/>
                </a:solidFill>
                <a:effectLst/>
              </a:rPr>
              <a:t>CrimeEntry</a:t>
            </a:r>
            <a:r>
              <a:rPr lang="en" altLang="zh-CN" sz="1400" dirty="0">
                <a:solidFill>
                  <a:srgbClr val="6A8759"/>
                </a:solidFill>
                <a:effectLst/>
              </a:rPr>
              <a:t>(Lock)"</a:t>
            </a:r>
            <a:br>
              <a:rPr lang="en" altLang="zh-CN" sz="1400" dirty="0">
                <a:solidFill>
                  <a:srgbClr val="6A8759"/>
                </a:solidFill>
                <a:effectLst/>
              </a:rPr>
            </a:br>
            <a:r>
              <a:rPr lang="en" altLang="zh-CN" sz="1400" dirty="0">
                <a:solidFill>
                  <a:srgbClr val="6A8759"/>
                </a:solidFill>
                <a:effectLst/>
              </a:rPr>
              <a:t>    </a:t>
            </a:r>
            <a:r>
              <a:rPr lang="en" altLang="zh-CN" sz="1400" dirty="0">
                <a:solidFill>
                  <a:srgbClr val="CC7832"/>
                </a:solidFill>
                <a:effectLst/>
              </a:rPr>
              <a:t>return </a:t>
            </a:r>
            <a:r>
              <a:rPr lang="en" altLang="zh-CN" sz="1400" dirty="0"/>
              <a:t>rule1</a:t>
            </a:r>
            <a:r>
              <a:rPr lang="en" altLang="zh-CN" sz="1400" dirty="0">
                <a:solidFill>
                  <a:srgbClr val="CC7832"/>
                </a:solidFill>
                <a:effectLst/>
              </a:rPr>
              <a:t>, </a:t>
            </a:r>
            <a:r>
              <a:rPr lang="en" altLang="zh-CN" sz="1400" dirty="0"/>
              <a:t>rule2</a:t>
            </a:r>
            <a:r>
              <a:rPr lang="en" altLang="zh-CN" sz="1400" dirty="0">
                <a:solidFill>
                  <a:srgbClr val="CC7832"/>
                </a:solidFill>
                <a:effectLst/>
              </a:rPr>
              <a:t>, </a:t>
            </a:r>
            <a:r>
              <a:rPr lang="en" altLang="zh-CN" sz="1400" dirty="0"/>
              <a:t>rule3</a:t>
            </a:r>
            <a:r>
              <a:rPr lang="en" altLang="zh-CN" sz="1400" dirty="0">
                <a:solidFill>
                  <a:srgbClr val="CC7832"/>
                </a:solidFill>
                <a:effectLst/>
              </a:rPr>
              <a:t>, </a:t>
            </a:r>
            <a:r>
              <a:rPr lang="en" altLang="zh-CN" sz="1400" dirty="0"/>
              <a:t>rule4</a:t>
            </a:r>
            <a:r>
              <a:rPr lang="en" altLang="zh-CN" sz="1400" dirty="0">
                <a:solidFill>
                  <a:srgbClr val="CC7832"/>
                </a:solidFill>
                <a:effectLst/>
              </a:rPr>
              <a:t>, </a:t>
            </a:r>
            <a:r>
              <a:rPr lang="en" altLang="zh-CN" sz="1400" dirty="0"/>
              <a:t>rule5</a:t>
            </a:r>
            <a:r>
              <a:rPr lang="en" altLang="zh-CN" sz="1400" dirty="0">
                <a:solidFill>
                  <a:srgbClr val="CC7832"/>
                </a:solidFill>
                <a:effectLst/>
              </a:rPr>
              <a:t>, </a:t>
            </a:r>
            <a:r>
              <a:rPr lang="en" altLang="zh-CN" sz="1400" dirty="0"/>
              <a:t>rule6</a:t>
            </a:r>
            <a:br>
              <a:rPr lang="en" altLang="zh-CN" sz="1200" dirty="0"/>
            </a:br>
            <a:br>
              <a:rPr lang="en" altLang="zh-CN" sz="1200" dirty="0"/>
            </a:br>
            <a:br>
              <a:rPr lang="en" altLang="zh-CN" sz="1200" dirty="0"/>
            </a:br>
            <a:endParaRPr lang="zh-CN" altLang="en-US" sz="1200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4EA6B020-050E-9871-B82C-27800C471138}"/>
              </a:ext>
            </a:extLst>
          </p:cNvPr>
          <p:cNvSpPr txBox="1"/>
          <p:nvPr/>
        </p:nvSpPr>
        <p:spPr>
          <a:xfrm>
            <a:off x="6227547" y="1933586"/>
            <a:ext cx="6742939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altLang="zh-CN" sz="1400" dirty="0">
                <a:solidFill>
                  <a:srgbClr val="808080"/>
                </a:solidFill>
                <a:effectLst/>
              </a:rPr>
              <a:t># </a:t>
            </a:r>
            <a:r>
              <a:rPr lang="zh-CN" altLang="en-US" sz="1400" dirty="0">
                <a:solidFill>
                  <a:srgbClr val="808080"/>
                </a:solidFill>
                <a:effectLst/>
                <a:latin typeface="Menlo-Regular" panose="020B0609030804020204" pitchFamily="49" charset="0"/>
              </a:rPr>
              <a:t>归结推理过程</a:t>
            </a:r>
            <a:br>
              <a:rPr lang="zh-CN" altLang="en-US" sz="1400" dirty="0">
                <a:solidFill>
                  <a:srgbClr val="808080"/>
                </a:solidFill>
                <a:effectLst/>
                <a:latin typeface="Menlo-Regular" panose="020B0609030804020204" pitchFamily="49" charset="0"/>
              </a:rPr>
            </a:br>
            <a:r>
              <a:rPr lang="en" altLang="zh-CN" sz="1400" dirty="0">
                <a:solidFill>
                  <a:srgbClr val="CC7832"/>
                </a:solidFill>
                <a:effectLst/>
              </a:rPr>
              <a:t>def </a:t>
            </a:r>
            <a:r>
              <a:rPr lang="en" altLang="zh-CN" sz="1400" dirty="0">
                <a:solidFill>
                  <a:srgbClr val="FFC66D"/>
                </a:solidFill>
                <a:effectLst/>
              </a:rPr>
              <a:t>reasoning</a:t>
            </a:r>
            <a:r>
              <a:rPr lang="en" altLang="zh-CN" sz="1400" dirty="0"/>
              <a:t>():</a:t>
            </a:r>
            <a:br>
              <a:rPr lang="en" altLang="zh-CN" sz="1400" dirty="0"/>
            </a:br>
            <a:r>
              <a:rPr lang="en" altLang="zh-CN" sz="1400" dirty="0"/>
              <a:t>    </a:t>
            </a:r>
            <a:r>
              <a:rPr lang="en" altLang="zh-CN" sz="1400" dirty="0">
                <a:solidFill>
                  <a:srgbClr val="72737A"/>
                </a:solidFill>
                <a:effectLst/>
              </a:rPr>
              <a:t>rule1</a:t>
            </a:r>
            <a:r>
              <a:rPr lang="en" altLang="zh-CN" sz="1400" dirty="0">
                <a:solidFill>
                  <a:srgbClr val="CC7832"/>
                </a:solidFill>
                <a:effectLst/>
              </a:rPr>
              <a:t>, </a:t>
            </a:r>
            <a:r>
              <a:rPr lang="en" altLang="zh-CN" sz="1400" dirty="0">
                <a:solidFill>
                  <a:srgbClr val="72737A"/>
                </a:solidFill>
                <a:effectLst/>
              </a:rPr>
              <a:t>rule2</a:t>
            </a:r>
            <a:r>
              <a:rPr lang="en" altLang="zh-CN" sz="1400" dirty="0">
                <a:solidFill>
                  <a:srgbClr val="CC7832"/>
                </a:solidFill>
                <a:effectLst/>
              </a:rPr>
              <a:t>, </a:t>
            </a:r>
            <a:r>
              <a:rPr lang="en" altLang="zh-CN" sz="1400" dirty="0">
                <a:solidFill>
                  <a:srgbClr val="72737A"/>
                </a:solidFill>
                <a:effectLst/>
              </a:rPr>
              <a:t>rule3</a:t>
            </a:r>
            <a:r>
              <a:rPr lang="en" altLang="zh-CN" sz="1400" dirty="0">
                <a:solidFill>
                  <a:srgbClr val="CC7832"/>
                </a:solidFill>
                <a:effectLst/>
              </a:rPr>
              <a:t>, </a:t>
            </a:r>
            <a:r>
              <a:rPr lang="en" altLang="zh-CN" sz="1400" dirty="0">
                <a:solidFill>
                  <a:srgbClr val="72737A"/>
                </a:solidFill>
                <a:effectLst/>
              </a:rPr>
              <a:t>rule4</a:t>
            </a:r>
            <a:r>
              <a:rPr lang="en" altLang="zh-CN" sz="1400" dirty="0">
                <a:solidFill>
                  <a:srgbClr val="CC7832"/>
                </a:solidFill>
                <a:effectLst/>
              </a:rPr>
              <a:t>, </a:t>
            </a:r>
            <a:r>
              <a:rPr lang="en" altLang="zh-CN" sz="1400" dirty="0">
                <a:solidFill>
                  <a:srgbClr val="72737A"/>
                </a:solidFill>
                <a:effectLst/>
              </a:rPr>
              <a:t>rule5</a:t>
            </a:r>
            <a:r>
              <a:rPr lang="en" altLang="zh-CN" sz="1400" dirty="0">
                <a:solidFill>
                  <a:srgbClr val="CC7832"/>
                </a:solidFill>
                <a:effectLst/>
              </a:rPr>
              <a:t>, </a:t>
            </a:r>
            <a:r>
              <a:rPr lang="en" altLang="zh-CN" sz="1400" dirty="0">
                <a:solidFill>
                  <a:srgbClr val="72737A"/>
                </a:solidFill>
                <a:effectLst/>
              </a:rPr>
              <a:t>rule6 </a:t>
            </a:r>
            <a:r>
              <a:rPr lang="en" altLang="zh-CN" sz="1400" dirty="0"/>
              <a:t>= </a:t>
            </a:r>
            <a:r>
              <a:rPr lang="en" altLang="zh-CN" sz="1400" dirty="0" err="1"/>
              <a:t>rules_and_facts</a:t>
            </a:r>
            <a:r>
              <a:rPr lang="en" altLang="zh-CN" sz="1400" dirty="0"/>
              <a:t>()</a:t>
            </a:r>
            <a:br>
              <a:rPr lang="en" altLang="zh-CN" sz="1400" dirty="0"/>
            </a:br>
            <a:r>
              <a:rPr lang="en" altLang="zh-CN" sz="1400" dirty="0"/>
              <a:t>    </a:t>
            </a:r>
            <a:r>
              <a:rPr lang="en" altLang="zh-CN" sz="1400" dirty="0">
                <a:solidFill>
                  <a:srgbClr val="808080"/>
                </a:solidFill>
                <a:effectLst/>
              </a:rPr>
              <a:t># </a:t>
            </a:r>
            <a:r>
              <a:rPr lang="zh-CN" altLang="en-US" sz="1400" dirty="0">
                <a:solidFill>
                  <a:srgbClr val="808080"/>
                </a:solidFill>
                <a:effectLst/>
                <a:latin typeface="Menlo-Regular" panose="020B0609030804020204" pitchFamily="49" charset="0"/>
              </a:rPr>
              <a:t>步骤</a:t>
            </a:r>
            <a:r>
              <a:rPr lang="en-US" altLang="zh-CN" sz="1400" dirty="0">
                <a:solidFill>
                  <a:srgbClr val="808080"/>
                </a:solidFill>
                <a:effectLst/>
              </a:rPr>
              <a:t>1</a:t>
            </a:r>
            <a:r>
              <a:rPr lang="zh-CN" altLang="en-US" sz="1400" dirty="0">
                <a:solidFill>
                  <a:srgbClr val="808080"/>
                </a:solidFill>
                <a:effectLst/>
                <a:latin typeface="Menlo-Regular" panose="020B0609030804020204" pitchFamily="49" charset="0"/>
              </a:rPr>
              <a:t>：假设张三是罪犯</a:t>
            </a:r>
            <a:br>
              <a:rPr lang="zh-CN" altLang="en-US" sz="1400" dirty="0">
                <a:solidFill>
                  <a:srgbClr val="808080"/>
                </a:solidFill>
                <a:effectLst/>
                <a:latin typeface="Menlo-Regular" panose="020B0609030804020204" pitchFamily="49" charset="0"/>
              </a:rPr>
            </a:br>
            <a:r>
              <a:rPr lang="zh-CN" altLang="en-US" sz="1400" dirty="0">
                <a:solidFill>
                  <a:srgbClr val="808080"/>
                </a:solidFill>
                <a:effectLst/>
                <a:latin typeface="Menlo-Regular" panose="020B0609030804020204" pitchFamily="49" charset="0"/>
              </a:rPr>
              <a:t>    </a:t>
            </a:r>
            <a:r>
              <a:rPr lang="en" altLang="zh-CN" sz="1400" dirty="0"/>
              <a:t>suspect = </a:t>
            </a:r>
            <a:r>
              <a:rPr lang="en" altLang="zh-CN" sz="1400" dirty="0">
                <a:solidFill>
                  <a:srgbClr val="6A8759"/>
                </a:solidFill>
                <a:effectLst/>
              </a:rPr>
              <a:t>"</a:t>
            </a:r>
            <a:r>
              <a:rPr lang="en" altLang="zh-CN" sz="1400" dirty="0" err="1">
                <a:solidFill>
                  <a:srgbClr val="6A8759"/>
                </a:solidFill>
                <a:effectLst/>
              </a:rPr>
              <a:t>ZhangSan</a:t>
            </a:r>
            <a:r>
              <a:rPr lang="en" altLang="zh-CN" sz="1400" dirty="0">
                <a:solidFill>
                  <a:srgbClr val="6A8759"/>
                </a:solidFill>
                <a:effectLst/>
              </a:rPr>
              <a:t>"</a:t>
            </a:r>
            <a:br>
              <a:rPr lang="en" altLang="zh-CN" sz="1400" dirty="0">
                <a:solidFill>
                  <a:srgbClr val="6A8759"/>
                </a:solidFill>
                <a:effectLst/>
              </a:rPr>
            </a:br>
            <a:r>
              <a:rPr lang="en" altLang="zh-CN" sz="1400" dirty="0">
                <a:solidFill>
                  <a:srgbClr val="6A8759"/>
                </a:solidFill>
                <a:effectLst/>
              </a:rPr>
              <a:t>    </a:t>
            </a:r>
            <a:r>
              <a:rPr lang="en" altLang="zh-CN" sz="1400" dirty="0">
                <a:solidFill>
                  <a:srgbClr val="8888C6"/>
                </a:solidFill>
                <a:effectLst/>
              </a:rPr>
              <a:t>print</a:t>
            </a:r>
            <a:r>
              <a:rPr lang="en" altLang="zh-CN" sz="1400" dirty="0"/>
              <a:t>(</a:t>
            </a:r>
            <a:r>
              <a:rPr lang="en" altLang="zh-CN" sz="1400" dirty="0">
                <a:solidFill>
                  <a:srgbClr val="6A8759"/>
                </a:solidFill>
                <a:effectLst/>
              </a:rPr>
              <a:t>f"</a:t>
            </a:r>
            <a:r>
              <a:rPr lang="zh-CN" altLang="en-US" sz="1400" dirty="0">
                <a:solidFill>
                  <a:srgbClr val="6A8759"/>
                </a:solidFill>
                <a:effectLst/>
                <a:latin typeface="Menlo-Regular" panose="020B0609030804020204" pitchFamily="49" charset="0"/>
              </a:rPr>
              <a:t>假设 </a:t>
            </a:r>
            <a:r>
              <a:rPr lang="en-US" altLang="zh-CN" sz="1400" dirty="0">
                <a:solidFill>
                  <a:srgbClr val="CC7832"/>
                </a:solidFill>
                <a:effectLst/>
              </a:rPr>
              <a:t>{</a:t>
            </a:r>
            <a:r>
              <a:rPr lang="en" altLang="zh-CN" sz="1400" dirty="0"/>
              <a:t>suspect</a:t>
            </a:r>
            <a:r>
              <a:rPr lang="en" altLang="zh-CN" sz="1400" dirty="0">
                <a:solidFill>
                  <a:srgbClr val="CC7832"/>
                </a:solidFill>
                <a:effectLst/>
              </a:rPr>
              <a:t>} </a:t>
            </a:r>
            <a:r>
              <a:rPr lang="zh-CN" altLang="en-US" sz="1400" dirty="0">
                <a:solidFill>
                  <a:srgbClr val="6A8759"/>
                </a:solidFill>
                <a:effectLst/>
                <a:latin typeface="Menlo-Regular" panose="020B0609030804020204" pitchFamily="49" charset="0"/>
              </a:rPr>
              <a:t>是罪犯</a:t>
            </a:r>
            <a:r>
              <a:rPr lang="en-US" altLang="zh-CN" sz="1400" dirty="0">
                <a:solidFill>
                  <a:srgbClr val="6A8759"/>
                </a:solidFill>
                <a:effectLst/>
              </a:rPr>
              <a:t>"</a:t>
            </a:r>
            <a:r>
              <a:rPr lang="en-US" altLang="zh-CN" sz="1400" dirty="0"/>
              <a:t>)</a:t>
            </a:r>
            <a:br>
              <a:rPr lang="en-US" altLang="zh-CN" sz="1400" dirty="0"/>
            </a:br>
            <a:r>
              <a:rPr lang="en-US" altLang="zh-CN" sz="1400" dirty="0"/>
              <a:t>    </a:t>
            </a:r>
            <a:r>
              <a:rPr lang="en-US" altLang="zh-CN" sz="1400" dirty="0">
                <a:solidFill>
                  <a:srgbClr val="808080"/>
                </a:solidFill>
                <a:effectLst/>
              </a:rPr>
              <a:t># </a:t>
            </a:r>
            <a:r>
              <a:rPr lang="zh-CN" altLang="en-US" sz="1400" dirty="0">
                <a:solidFill>
                  <a:srgbClr val="808080"/>
                </a:solidFill>
                <a:effectLst/>
                <a:latin typeface="Menlo-Regular" panose="020B0609030804020204" pitchFamily="49" charset="0"/>
              </a:rPr>
              <a:t>步骤</a:t>
            </a:r>
            <a:r>
              <a:rPr lang="en-US" altLang="zh-CN" sz="1400" dirty="0">
                <a:solidFill>
                  <a:srgbClr val="808080"/>
                </a:solidFill>
                <a:effectLst/>
              </a:rPr>
              <a:t>2</a:t>
            </a:r>
            <a:r>
              <a:rPr lang="zh-CN" altLang="en-US" sz="1400" dirty="0">
                <a:solidFill>
                  <a:srgbClr val="808080"/>
                </a:solidFill>
                <a:effectLst/>
                <a:latin typeface="Menlo-Regular" panose="020B0609030804020204" pitchFamily="49" charset="0"/>
              </a:rPr>
              <a:t>：根据规则</a:t>
            </a:r>
            <a:r>
              <a:rPr lang="en-US" altLang="zh-CN" sz="1400" dirty="0">
                <a:solidFill>
                  <a:srgbClr val="808080"/>
                </a:solidFill>
                <a:effectLst/>
              </a:rPr>
              <a:t>4</a:t>
            </a:r>
            <a:r>
              <a:rPr lang="zh-CN" altLang="en-US" sz="1400" dirty="0">
                <a:solidFill>
                  <a:srgbClr val="808080"/>
                </a:solidFill>
                <a:effectLst/>
                <a:latin typeface="Menlo-Regular" panose="020B0609030804020204" pitchFamily="49" charset="0"/>
              </a:rPr>
              <a:t>推导出张三必须会撬锁</a:t>
            </a:r>
            <a:br>
              <a:rPr lang="zh-CN" altLang="en-US" sz="1400" dirty="0">
                <a:solidFill>
                  <a:srgbClr val="808080"/>
                </a:solidFill>
                <a:effectLst/>
                <a:latin typeface="Menlo-Regular" panose="020B0609030804020204" pitchFamily="49" charset="0"/>
              </a:rPr>
            </a:br>
            <a:r>
              <a:rPr lang="zh-CN" altLang="en-US" sz="1400" dirty="0">
                <a:solidFill>
                  <a:srgbClr val="808080"/>
                </a:solidFill>
                <a:effectLst/>
                <a:latin typeface="Menlo-Regular" panose="020B0609030804020204" pitchFamily="49" charset="0"/>
              </a:rPr>
              <a:t>    </a:t>
            </a:r>
            <a:r>
              <a:rPr lang="en" altLang="zh-CN" sz="1400" dirty="0">
                <a:solidFill>
                  <a:srgbClr val="8888C6"/>
                </a:solidFill>
                <a:effectLst/>
              </a:rPr>
              <a:t>print</a:t>
            </a:r>
            <a:r>
              <a:rPr lang="en" altLang="zh-CN" sz="1400" dirty="0"/>
              <a:t>(</a:t>
            </a:r>
            <a:r>
              <a:rPr lang="en" altLang="zh-CN" sz="1400" dirty="0">
                <a:solidFill>
                  <a:srgbClr val="6A8759"/>
                </a:solidFill>
                <a:effectLst/>
              </a:rPr>
              <a:t>f"</a:t>
            </a:r>
            <a:r>
              <a:rPr lang="zh-CN" altLang="en-US" sz="1400" dirty="0">
                <a:solidFill>
                  <a:srgbClr val="6A8759"/>
                </a:solidFill>
                <a:effectLst/>
                <a:latin typeface="Menlo-Regular" panose="020B0609030804020204" pitchFamily="49" charset="0"/>
              </a:rPr>
              <a:t>根据规则</a:t>
            </a:r>
            <a:r>
              <a:rPr lang="en-US" altLang="zh-CN" sz="1400" dirty="0">
                <a:solidFill>
                  <a:srgbClr val="6A8759"/>
                </a:solidFill>
                <a:effectLst/>
              </a:rPr>
              <a:t>4</a:t>
            </a:r>
            <a:r>
              <a:rPr lang="zh-CN" altLang="en-US" sz="1400" dirty="0">
                <a:solidFill>
                  <a:srgbClr val="6A8759"/>
                </a:solidFill>
                <a:effectLst/>
                <a:latin typeface="Menlo-Regular" panose="020B0609030804020204" pitchFamily="49" charset="0"/>
              </a:rPr>
              <a:t>，罪犯必须会撬锁：</a:t>
            </a:r>
            <a:r>
              <a:rPr lang="en" altLang="zh-CN" sz="1400" dirty="0">
                <a:solidFill>
                  <a:srgbClr val="6A8759"/>
                </a:solidFill>
                <a:effectLst/>
              </a:rPr>
              <a:t>Lock(</a:t>
            </a:r>
            <a:r>
              <a:rPr lang="en" altLang="zh-CN" sz="1400" dirty="0">
                <a:solidFill>
                  <a:srgbClr val="CC7832"/>
                </a:solidFill>
                <a:effectLst/>
              </a:rPr>
              <a:t>{</a:t>
            </a:r>
            <a:r>
              <a:rPr lang="en" altLang="zh-CN" sz="1400" dirty="0"/>
              <a:t>suspect</a:t>
            </a:r>
            <a:r>
              <a:rPr lang="en" altLang="zh-CN" sz="1400" dirty="0">
                <a:solidFill>
                  <a:srgbClr val="CC7832"/>
                </a:solidFill>
                <a:effectLst/>
              </a:rPr>
              <a:t>}</a:t>
            </a:r>
            <a:r>
              <a:rPr lang="en" altLang="zh-CN" sz="1400" dirty="0">
                <a:solidFill>
                  <a:srgbClr val="6A8759"/>
                </a:solidFill>
                <a:effectLst/>
              </a:rPr>
              <a:t>)"</a:t>
            </a:r>
            <a:r>
              <a:rPr lang="en" altLang="zh-CN" sz="1400" dirty="0"/>
              <a:t>)</a:t>
            </a:r>
            <a:br>
              <a:rPr lang="en" altLang="zh-CN" sz="1400" dirty="0"/>
            </a:br>
            <a:r>
              <a:rPr lang="en" altLang="zh-CN" sz="1400" dirty="0"/>
              <a:t>    </a:t>
            </a:r>
            <a:r>
              <a:rPr lang="en" altLang="zh-CN" sz="1400" dirty="0">
                <a:solidFill>
                  <a:srgbClr val="808080"/>
                </a:solidFill>
                <a:effectLst/>
              </a:rPr>
              <a:t># </a:t>
            </a:r>
            <a:r>
              <a:rPr lang="zh-CN" altLang="en-US" sz="1400" dirty="0">
                <a:solidFill>
                  <a:srgbClr val="808080"/>
                </a:solidFill>
                <a:effectLst/>
                <a:latin typeface="Menlo-Regular" panose="020B0609030804020204" pitchFamily="49" charset="0"/>
              </a:rPr>
              <a:t>步骤</a:t>
            </a:r>
            <a:r>
              <a:rPr lang="en-US" altLang="zh-CN" sz="1400" dirty="0">
                <a:solidFill>
                  <a:srgbClr val="808080"/>
                </a:solidFill>
                <a:effectLst/>
              </a:rPr>
              <a:t>3</a:t>
            </a:r>
            <a:r>
              <a:rPr lang="zh-CN" altLang="en-US" sz="1400" dirty="0">
                <a:solidFill>
                  <a:srgbClr val="808080"/>
                </a:solidFill>
                <a:effectLst/>
                <a:latin typeface="Menlo-Regular" panose="020B0609030804020204" pitchFamily="49" charset="0"/>
              </a:rPr>
              <a:t>：根据事实，张三不会撬锁（规则</a:t>
            </a:r>
            <a:r>
              <a:rPr lang="en-US" altLang="zh-CN" sz="1400" dirty="0">
                <a:solidFill>
                  <a:srgbClr val="808080"/>
                </a:solidFill>
                <a:effectLst/>
              </a:rPr>
              <a:t>5</a:t>
            </a:r>
            <a:r>
              <a:rPr lang="zh-CN" altLang="en-US" sz="1400" dirty="0">
                <a:solidFill>
                  <a:srgbClr val="808080"/>
                </a:solidFill>
                <a:effectLst/>
                <a:latin typeface="Menlo-Regular" panose="020B0609030804020204" pitchFamily="49" charset="0"/>
              </a:rPr>
              <a:t>）</a:t>
            </a:r>
            <a:br>
              <a:rPr lang="zh-CN" altLang="en-US" sz="1400" dirty="0">
                <a:solidFill>
                  <a:srgbClr val="808080"/>
                </a:solidFill>
                <a:effectLst/>
                <a:latin typeface="Menlo-Regular" panose="020B0609030804020204" pitchFamily="49" charset="0"/>
              </a:rPr>
            </a:br>
            <a:r>
              <a:rPr lang="zh-CN" altLang="en-US" sz="1400" dirty="0">
                <a:solidFill>
                  <a:srgbClr val="808080"/>
                </a:solidFill>
                <a:effectLst/>
                <a:latin typeface="Menlo-Regular" panose="020B0609030804020204" pitchFamily="49" charset="0"/>
              </a:rPr>
              <a:t>    </a:t>
            </a:r>
            <a:r>
              <a:rPr lang="en" altLang="zh-CN" sz="1400" dirty="0">
                <a:solidFill>
                  <a:srgbClr val="8888C6"/>
                </a:solidFill>
                <a:effectLst/>
              </a:rPr>
              <a:t>print</a:t>
            </a:r>
            <a:r>
              <a:rPr lang="en" altLang="zh-CN" sz="1400" dirty="0"/>
              <a:t>(</a:t>
            </a:r>
            <a:r>
              <a:rPr lang="en" altLang="zh-CN" sz="1400" dirty="0">
                <a:solidFill>
                  <a:srgbClr val="6A8759"/>
                </a:solidFill>
                <a:effectLst/>
              </a:rPr>
              <a:t>f"</a:t>
            </a:r>
            <a:r>
              <a:rPr lang="zh-CN" altLang="en-US" sz="1400" dirty="0">
                <a:solidFill>
                  <a:srgbClr val="6A8759"/>
                </a:solidFill>
                <a:effectLst/>
                <a:latin typeface="Menlo-Regular" panose="020B0609030804020204" pitchFamily="49" charset="0"/>
              </a:rPr>
              <a:t>已知张三不会撬锁：</a:t>
            </a:r>
            <a:r>
              <a:rPr lang="en-US" altLang="zh-CN" sz="1400" dirty="0">
                <a:solidFill>
                  <a:srgbClr val="6A8759"/>
                </a:solidFill>
                <a:effectLst/>
              </a:rPr>
              <a:t>¬</a:t>
            </a:r>
            <a:r>
              <a:rPr lang="en" altLang="zh-CN" sz="1400" dirty="0">
                <a:solidFill>
                  <a:srgbClr val="6A8759"/>
                </a:solidFill>
                <a:effectLst/>
              </a:rPr>
              <a:t>Lock(</a:t>
            </a:r>
            <a:r>
              <a:rPr lang="en" altLang="zh-CN" sz="1400" dirty="0">
                <a:solidFill>
                  <a:srgbClr val="CC7832"/>
                </a:solidFill>
                <a:effectLst/>
              </a:rPr>
              <a:t>{</a:t>
            </a:r>
            <a:r>
              <a:rPr lang="en" altLang="zh-CN" sz="1400" dirty="0"/>
              <a:t>suspect</a:t>
            </a:r>
            <a:r>
              <a:rPr lang="en" altLang="zh-CN" sz="1400" dirty="0">
                <a:solidFill>
                  <a:srgbClr val="CC7832"/>
                </a:solidFill>
                <a:effectLst/>
              </a:rPr>
              <a:t>}</a:t>
            </a:r>
            <a:r>
              <a:rPr lang="en" altLang="zh-CN" sz="1400" dirty="0">
                <a:solidFill>
                  <a:srgbClr val="6A8759"/>
                </a:solidFill>
                <a:effectLst/>
              </a:rPr>
              <a:t>)"</a:t>
            </a:r>
            <a:r>
              <a:rPr lang="en" altLang="zh-CN" sz="1400" dirty="0"/>
              <a:t>)</a:t>
            </a:r>
            <a:br>
              <a:rPr lang="en" altLang="zh-CN" sz="1400" dirty="0"/>
            </a:br>
            <a:r>
              <a:rPr lang="en" altLang="zh-CN" sz="1400" dirty="0"/>
              <a:t>    </a:t>
            </a:r>
            <a:r>
              <a:rPr lang="en" altLang="zh-CN" sz="1400" dirty="0">
                <a:solidFill>
                  <a:srgbClr val="808080"/>
                </a:solidFill>
                <a:effectLst/>
              </a:rPr>
              <a:t># </a:t>
            </a:r>
            <a:r>
              <a:rPr lang="zh-CN" altLang="en-US" sz="1400" dirty="0">
                <a:solidFill>
                  <a:srgbClr val="808080"/>
                </a:solidFill>
                <a:effectLst/>
                <a:latin typeface="Menlo-Regular" panose="020B0609030804020204" pitchFamily="49" charset="0"/>
              </a:rPr>
              <a:t>步骤</a:t>
            </a:r>
            <a:r>
              <a:rPr lang="en-US" altLang="zh-CN" sz="1400" dirty="0">
                <a:solidFill>
                  <a:srgbClr val="808080"/>
                </a:solidFill>
                <a:effectLst/>
              </a:rPr>
              <a:t>4</a:t>
            </a:r>
            <a:r>
              <a:rPr lang="zh-CN" altLang="en-US" sz="1400" dirty="0">
                <a:solidFill>
                  <a:srgbClr val="808080"/>
                </a:solidFill>
                <a:effectLst/>
                <a:latin typeface="Menlo-Regular" panose="020B0609030804020204" pitchFamily="49" charset="0"/>
              </a:rPr>
              <a:t>：得出矛盾（</a:t>
            </a:r>
            <a:r>
              <a:rPr lang="en" altLang="zh-CN" sz="1400" dirty="0">
                <a:solidFill>
                  <a:srgbClr val="808080"/>
                </a:solidFill>
                <a:effectLst/>
              </a:rPr>
              <a:t>Lock(</a:t>
            </a:r>
            <a:r>
              <a:rPr lang="en" altLang="zh-CN" sz="1400" dirty="0" err="1">
                <a:solidFill>
                  <a:srgbClr val="808080"/>
                </a:solidFill>
                <a:effectLst/>
              </a:rPr>
              <a:t>ZhangSan</a:t>
            </a:r>
            <a:r>
              <a:rPr lang="en" altLang="zh-CN" sz="1400" dirty="0">
                <a:solidFill>
                  <a:srgbClr val="808080"/>
                </a:solidFill>
                <a:effectLst/>
              </a:rPr>
              <a:t>) </a:t>
            </a:r>
            <a:r>
              <a:rPr lang="zh-CN" altLang="en-US" sz="1400" dirty="0">
                <a:solidFill>
                  <a:srgbClr val="808080"/>
                </a:solidFill>
                <a:effectLst/>
                <a:latin typeface="Menlo-Regular" panose="020B0609030804020204" pitchFamily="49" charset="0"/>
              </a:rPr>
              <a:t>和</a:t>
            </a:r>
            <a:r>
              <a:rPr lang="en-US" altLang="zh-CN" sz="1400" dirty="0">
                <a:solidFill>
                  <a:srgbClr val="808080"/>
                </a:solidFill>
                <a:effectLst/>
              </a:rPr>
              <a:t>¬</a:t>
            </a:r>
            <a:r>
              <a:rPr lang="en" altLang="zh-CN" sz="1400" dirty="0">
                <a:solidFill>
                  <a:srgbClr val="808080"/>
                </a:solidFill>
                <a:effectLst/>
              </a:rPr>
              <a:t>Lock(</a:t>
            </a:r>
            <a:r>
              <a:rPr lang="en" altLang="zh-CN" sz="1400" dirty="0" err="1">
                <a:solidFill>
                  <a:srgbClr val="808080"/>
                </a:solidFill>
                <a:effectLst/>
              </a:rPr>
              <a:t>ZhangSan</a:t>
            </a:r>
            <a:r>
              <a:rPr lang="en" altLang="zh-CN" sz="1400" dirty="0">
                <a:solidFill>
                  <a:srgbClr val="808080"/>
                </a:solidFill>
                <a:effectLst/>
              </a:rPr>
              <a:t>)</a:t>
            </a:r>
            <a:r>
              <a:rPr lang="zh-CN" altLang="en" sz="1400" dirty="0">
                <a:solidFill>
                  <a:srgbClr val="808080"/>
                </a:solidFill>
                <a:effectLst/>
                <a:latin typeface="Menlo-Regular" panose="020B0609030804020204" pitchFamily="49" charset="0"/>
              </a:rPr>
              <a:t>）</a:t>
            </a:r>
            <a:br>
              <a:rPr lang="zh-CN" altLang="en" sz="1400" dirty="0">
                <a:solidFill>
                  <a:srgbClr val="808080"/>
                </a:solidFill>
                <a:effectLst/>
                <a:latin typeface="Menlo-Regular" panose="020B0609030804020204" pitchFamily="49" charset="0"/>
              </a:rPr>
            </a:br>
            <a:r>
              <a:rPr lang="zh-CN" altLang="en" sz="1400" dirty="0">
                <a:solidFill>
                  <a:srgbClr val="808080"/>
                </a:solidFill>
                <a:effectLst/>
                <a:latin typeface="Menlo-Regular" panose="020B0609030804020204" pitchFamily="49" charset="0"/>
              </a:rPr>
              <a:t>    </a:t>
            </a:r>
            <a:r>
              <a:rPr lang="en" altLang="zh-CN" sz="1400" dirty="0">
                <a:solidFill>
                  <a:srgbClr val="CC7832"/>
                </a:solidFill>
                <a:effectLst/>
              </a:rPr>
              <a:t>if </a:t>
            </a:r>
            <a:r>
              <a:rPr lang="en" altLang="zh-CN" sz="1400" dirty="0">
                <a:solidFill>
                  <a:srgbClr val="6A8759"/>
                </a:solidFill>
                <a:effectLst/>
              </a:rPr>
              <a:t>"Lock(</a:t>
            </a:r>
            <a:r>
              <a:rPr lang="en" altLang="zh-CN" sz="1400" dirty="0" err="1">
                <a:solidFill>
                  <a:srgbClr val="6A8759"/>
                </a:solidFill>
                <a:effectLst/>
              </a:rPr>
              <a:t>ZhangSan</a:t>
            </a:r>
            <a:r>
              <a:rPr lang="en" altLang="zh-CN" sz="1400" dirty="0">
                <a:solidFill>
                  <a:srgbClr val="6A8759"/>
                </a:solidFill>
                <a:effectLst/>
              </a:rPr>
              <a:t>)" </a:t>
            </a:r>
            <a:r>
              <a:rPr lang="en" altLang="zh-CN" sz="1400" dirty="0"/>
              <a:t>!= </a:t>
            </a:r>
            <a:r>
              <a:rPr lang="en" altLang="zh-CN" sz="1400" dirty="0">
                <a:solidFill>
                  <a:srgbClr val="6A8759"/>
                </a:solidFill>
                <a:effectLst/>
              </a:rPr>
              <a:t>"¬Lock(</a:t>
            </a:r>
            <a:r>
              <a:rPr lang="en" altLang="zh-CN" sz="1400" dirty="0" err="1">
                <a:solidFill>
                  <a:srgbClr val="6A8759"/>
                </a:solidFill>
                <a:effectLst/>
              </a:rPr>
              <a:t>ZhangSan</a:t>
            </a:r>
            <a:r>
              <a:rPr lang="en" altLang="zh-CN" sz="1400" dirty="0">
                <a:solidFill>
                  <a:srgbClr val="6A8759"/>
                </a:solidFill>
                <a:effectLst/>
              </a:rPr>
              <a:t>)"</a:t>
            </a:r>
            <a:r>
              <a:rPr lang="en" altLang="zh-CN" sz="1400" dirty="0"/>
              <a:t>:</a:t>
            </a:r>
            <a:br>
              <a:rPr lang="en" altLang="zh-CN" sz="1400" dirty="0"/>
            </a:br>
            <a:r>
              <a:rPr lang="en" altLang="zh-CN" sz="1400" dirty="0"/>
              <a:t>        </a:t>
            </a:r>
            <a:r>
              <a:rPr lang="en" altLang="zh-CN" sz="1400" dirty="0">
                <a:solidFill>
                  <a:srgbClr val="8888C6"/>
                </a:solidFill>
                <a:effectLst/>
              </a:rPr>
              <a:t>print</a:t>
            </a:r>
            <a:r>
              <a:rPr lang="en" altLang="zh-CN" sz="1400" dirty="0"/>
              <a:t>(</a:t>
            </a:r>
            <a:r>
              <a:rPr lang="en" altLang="zh-CN" sz="1400" dirty="0">
                <a:solidFill>
                  <a:srgbClr val="6A8759"/>
                </a:solidFill>
                <a:effectLst/>
              </a:rPr>
              <a:t>f"</a:t>
            </a:r>
            <a:r>
              <a:rPr lang="zh-CN" altLang="en-US" sz="1400" dirty="0">
                <a:solidFill>
                  <a:srgbClr val="6A8759"/>
                </a:solidFill>
                <a:effectLst/>
                <a:latin typeface="Menlo-Regular" panose="020B0609030804020204" pitchFamily="49" charset="0"/>
              </a:rPr>
              <a:t>发生矛盾，推导出：</a:t>
            </a:r>
            <a:r>
              <a:rPr lang="en-US" altLang="zh-CN" sz="1400" dirty="0">
                <a:solidFill>
                  <a:srgbClr val="6A8759"/>
                </a:solidFill>
                <a:effectLst/>
              </a:rPr>
              <a:t>¬</a:t>
            </a:r>
            <a:r>
              <a:rPr lang="en" altLang="zh-CN" sz="1400" dirty="0">
                <a:solidFill>
                  <a:srgbClr val="6A8759"/>
                </a:solidFill>
                <a:effectLst/>
              </a:rPr>
              <a:t>Criminal(</a:t>
            </a:r>
            <a:r>
              <a:rPr lang="en" altLang="zh-CN" sz="1400" dirty="0" err="1">
                <a:solidFill>
                  <a:srgbClr val="6A8759"/>
                </a:solidFill>
                <a:effectLst/>
              </a:rPr>
              <a:t>ZhangSan</a:t>
            </a:r>
            <a:r>
              <a:rPr lang="en" altLang="zh-CN" sz="1400" dirty="0">
                <a:solidFill>
                  <a:srgbClr val="6A8759"/>
                </a:solidFill>
                <a:effectLst/>
              </a:rPr>
              <a:t>)"</a:t>
            </a:r>
            <a:r>
              <a:rPr lang="en" altLang="zh-CN" sz="1400" dirty="0"/>
              <a:t>)</a:t>
            </a:r>
            <a:br>
              <a:rPr lang="en" altLang="zh-CN" sz="1400" dirty="0"/>
            </a:br>
            <a:r>
              <a:rPr lang="en" altLang="zh-CN" sz="1400" dirty="0"/>
              <a:t>    </a:t>
            </a:r>
            <a:r>
              <a:rPr lang="en" altLang="zh-CN" sz="1400" dirty="0">
                <a:solidFill>
                  <a:srgbClr val="808080"/>
                </a:solidFill>
                <a:effectLst/>
              </a:rPr>
              <a:t># </a:t>
            </a:r>
            <a:r>
              <a:rPr lang="zh-CN" altLang="en-US" sz="1400" dirty="0">
                <a:solidFill>
                  <a:srgbClr val="808080"/>
                </a:solidFill>
                <a:effectLst/>
                <a:latin typeface="Menlo-Regular" panose="020B0609030804020204" pitchFamily="49" charset="0"/>
              </a:rPr>
              <a:t>步骤</a:t>
            </a:r>
            <a:r>
              <a:rPr lang="en-US" altLang="zh-CN" sz="1400" dirty="0">
                <a:solidFill>
                  <a:srgbClr val="808080"/>
                </a:solidFill>
                <a:effectLst/>
              </a:rPr>
              <a:t>5</a:t>
            </a:r>
            <a:r>
              <a:rPr lang="zh-CN" altLang="en-US" sz="1400" dirty="0">
                <a:solidFill>
                  <a:srgbClr val="808080"/>
                </a:solidFill>
                <a:effectLst/>
                <a:latin typeface="Menlo-Regular" panose="020B0609030804020204" pitchFamily="49" charset="0"/>
              </a:rPr>
              <a:t>：通过排除法，得出罪犯只能是李四</a:t>
            </a:r>
            <a:br>
              <a:rPr lang="zh-CN" altLang="en-US" sz="1400" dirty="0">
                <a:solidFill>
                  <a:srgbClr val="808080"/>
                </a:solidFill>
                <a:effectLst/>
                <a:latin typeface="Menlo-Regular" panose="020B0609030804020204" pitchFamily="49" charset="0"/>
              </a:rPr>
            </a:br>
            <a:r>
              <a:rPr lang="zh-CN" altLang="en-US" sz="1400" dirty="0">
                <a:solidFill>
                  <a:srgbClr val="808080"/>
                </a:solidFill>
                <a:effectLst/>
                <a:latin typeface="Menlo-Regular" panose="020B0609030804020204" pitchFamily="49" charset="0"/>
              </a:rPr>
              <a:t>    </a:t>
            </a:r>
            <a:r>
              <a:rPr lang="en" altLang="zh-CN" sz="1400" dirty="0">
                <a:solidFill>
                  <a:srgbClr val="8888C6"/>
                </a:solidFill>
                <a:effectLst/>
              </a:rPr>
              <a:t>print</a:t>
            </a:r>
            <a:r>
              <a:rPr lang="en" altLang="zh-CN" sz="1400" dirty="0"/>
              <a:t>(</a:t>
            </a:r>
            <a:r>
              <a:rPr lang="en" altLang="zh-CN" sz="1400" dirty="0">
                <a:solidFill>
                  <a:srgbClr val="6A8759"/>
                </a:solidFill>
                <a:effectLst/>
              </a:rPr>
              <a:t>"</a:t>
            </a:r>
            <a:r>
              <a:rPr lang="zh-CN" altLang="en-US" sz="1400" dirty="0">
                <a:solidFill>
                  <a:srgbClr val="6A8759"/>
                </a:solidFill>
                <a:effectLst/>
                <a:latin typeface="Menlo-Regular" panose="020B0609030804020204" pitchFamily="49" charset="0"/>
              </a:rPr>
              <a:t>由于张三被排除为罪犯，根据规则</a:t>
            </a:r>
            <a:r>
              <a:rPr lang="en-US" altLang="zh-CN" sz="1400" dirty="0">
                <a:solidFill>
                  <a:srgbClr val="6A8759"/>
                </a:solidFill>
                <a:effectLst/>
              </a:rPr>
              <a:t>1</a:t>
            </a:r>
            <a:r>
              <a:rPr lang="zh-CN" altLang="en-US" sz="1400" dirty="0">
                <a:solidFill>
                  <a:srgbClr val="6A8759"/>
                </a:solidFill>
                <a:effectLst/>
                <a:latin typeface="Menlo-Regular" panose="020B0609030804020204" pitchFamily="49" charset="0"/>
              </a:rPr>
              <a:t>，得出：</a:t>
            </a:r>
            <a:r>
              <a:rPr lang="en" altLang="zh-CN" sz="1400" dirty="0">
                <a:solidFill>
                  <a:srgbClr val="6A8759"/>
                </a:solidFill>
                <a:effectLst/>
              </a:rPr>
              <a:t>Criminal(</a:t>
            </a:r>
            <a:r>
              <a:rPr lang="en" altLang="zh-CN" sz="1400" dirty="0" err="1">
                <a:solidFill>
                  <a:srgbClr val="6A8759"/>
                </a:solidFill>
                <a:effectLst/>
              </a:rPr>
              <a:t>LiSi</a:t>
            </a:r>
            <a:r>
              <a:rPr lang="en" altLang="zh-CN" sz="1400" dirty="0">
                <a:solidFill>
                  <a:srgbClr val="6A8759"/>
                </a:solidFill>
                <a:effectLst/>
              </a:rPr>
              <a:t>)"</a:t>
            </a:r>
            <a:r>
              <a:rPr lang="en" altLang="zh-CN" sz="1400" dirty="0"/>
              <a:t>)</a:t>
            </a:r>
            <a:br>
              <a:rPr lang="en" altLang="zh-CN" sz="1400" dirty="0"/>
            </a:br>
            <a:r>
              <a:rPr lang="en" altLang="zh-CN" sz="1400" dirty="0"/>
              <a:t>    </a:t>
            </a:r>
            <a:r>
              <a:rPr lang="en" altLang="zh-CN" sz="1400" dirty="0">
                <a:solidFill>
                  <a:srgbClr val="8888C6"/>
                </a:solidFill>
                <a:effectLst/>
              </a:rPr>
              <a:t>print</a:t>
            </a:r>
            <a:r>
              <a:rPr lang="en" altLang="zh-CN" sz="1400" dirty="0"/>
              <a:t>(</a:t>
            </a:r>
            <a:r>
              <a:rPr lang="en" altLang="zh-CN" sz="1400" dirty="0">
                <a:solidFill>
                  <a:srgbClr val="6A8759"/>
                </a:solidFill>
                <a:effectLst/>
              </a:rPr>
              <a:t>"</a:t>
            </a:r>
            <a:r>
              <a:rPr lang="zh-CN" altLang="en-US" sz="1400" dirty="0">
                <a:solidFill>
                  <a:srgbClr val="6A8759"/>
                </a:solidFill>
                <a:effectLst/>
                <a:latin typeface="Menlo-Regular" panose="020B0609030804020204" pitchFamily="49" charset="0"/>
              </a:rPr>
              <a:t>因此，李四是罪犯：</a:t>
            </a:r>
            <a:r>
              <a:rPr lang="en" altLang="zh-CN" sz="1400" dirty="0">
                <a:solidFill>
                  <a:srgbClr val="6A8759"/>
                </a:solidFill>
                <a:effectLst/>
              </a:rPr>
              <a:t>Criminal(</a:t>
            </a:r>
            <a:r>
              <a:rPr lang="en" altLang="zh-CN" sz="1400" dirty="0" err="1">
                <a:solidFill>
                  <a:srgbClr val="6A8759"/>
                </a:solidFill>
                <a:effectLst/>
              </a:rPr>
              <a:t>LiSi</a:t>
            </a:r>
            <a:r>
              <a:rPr lang="en" altLang="zh-CN" sz="1400" dirty="0">
                <a:solidFill>
                  <a:srgbClr val="6A8759"/>
                </a:solidFill>
                <a:effectLst/>
              </a:rPr>
              <a:t>)"</a:t>
            </a:r>
            <a:r>
              <a:rPr lang="en" altLang="zh-CN" sz="1400" dirty="0"/>
              <a:t>)</a:t>
            </a:r>
          </a:p>
          <a:p>
            <a:r>
              <a:rPr lang="en" altLang="zh-CN" sz="1400" dirty="0">
                <a:solidFill>
                  <a:srgbClr val="808080"/>
                </a:solidFill>
                <a:effectLst/>
              </a:rPr>
              <a:t># </a:t>
            </a:r>
            <a:r>
              <a:rPr lang="zh-CN" altLang="en-US" sz="1400" dirty="0">
                <a:solidFill>
                  <a:srgbClr val="808080"/>
                </a:solidFill>
                <a:effectLst/>
                <a:latin typeface="Menlo-Regular" panose="020B0609030804020204" pitchFamily="49" charset="0"/>
              </a:rPr>
              <a:t>执行推理过程</a:t>
            </a:r>
            <a:br>
              <a:rPr lang="zh-CN" altLang="en-US" sz="1400" dirty="0">
                <a:solidFill>
                  <a:srgbClr val="808080"/>
                </a:solidFill>
                <a:effectLst/>
                <a:latin typeface="Menlo-Regular" panose="020B0609030804020204" pitchFamily="49" charset="0"/>
              </a:rPr>
            </a:br>
            <a:r>
              <a:rPr lang="en" altLang="zh-CN" sz="1400" dirty="0"/>
              <a:t>reasoning()</a:t>
            </a:r>
            <a:br>
              <a:rPr lang="en" altLang="zh-CN" sz="1200" dirty="0"/>
            </a:br>
            <a:endParaRPr lang="zh-CN" altLang="en-US" sz="1200" dirty="0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39B7409B-AC30-5861-934D-B5A5B039523F}"/>
              </a:ext>
            </a:extLst>
          </p:cNvPr>
          <p:cNvSpPr txBox="1"/>
          <p:nvPr/>
        </p:nvSpPr>
        <p:spPr>
          <a:xfrm>
            <a:off x="552342" y="1150371"/>
            <a:ext cx="135956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chemeClr val="accent1">
                    <a:lumMod val="75000"/>
                  </a:schemeClr>
                </a:solidFill>
                <a:latin typeface=".AppleSystemUIFont"/>
              </a:rPr>
              <a:t>Python</a:t>
            </a:r>
            <a:r>
              <a:rPr lang="zh-CN" altLang="en-US" sz="1800" dirty="0">
                <a:solidFill>
                  <a:schemeClr val="accent1">
                    <a:lumMod val="75000"/>
                  </a:schemeClr>
                </a:solidFill>
                <a:latin typeface=".AppleSystemUIFont"/>
              </a:rPr>
              <a:t>实现：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34833722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3" name="Rectangle 3"/>
          <p:cNvSpPr>
            <a:spLocks noGrp="1" noChangeArrowheads="1"/>
          </p:cNvSpPr>
          <p:nvPr>
            <p:ph idx="1"/>
          </p:nvPr>
        </p:nvSpPr>
        <p:spPr>
          <a:xfrm>
            <a:off x="1089116" y="1479964"/>
            <a:ext cx="10773032" cy="3730863"/>
          </a:xfrm>
        </p:spPr>
        <p:txBody>
          <a:bodyPr>
            <a:normAutofit/>
          </a:bodyPr>
          <a:lstStyle/>
          <a:p>
            <a:pPr marL="0" indent="0">
              <a:lnSpc>
                <a:spcPct val="115000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rPr kumimoji="1" lang="zh-CN" altLang="en-US" sz="2700" dirty="0">
                <a:solidFill>
                  <a:srgbClr val="000000"/>
                </a:solidFill>
              </a:rPr>
              <a:t>案例背景：</a:t>
            </a:r>
            <a:endParaRPr kumimoji="1" lang="en-US" altLang="zh-CN" sz="2700" dirty="0">
              <a:solidFill>
                <a:srgbClr val="000000"/>
              </a:solidFill>
            </a:endParaRPr>
          </a:p>
          <a:p>
            <a:pPr marL="0" indent="0">
              <a:lnSpc>
                <a:spcPct val="115000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rPr lang="zh-CN" altLang="en-US" sz="1800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在复杂的城市交叉路口，自动驾驶系统需要根据实时感知信息做出决策：</a:t>
            </a:r>
          </a:p>
          <a:p>
            <a:pPr marL="342900" lvl="0" indent="-342900">
              <a:lnSpc>
                <a:spcPct val="115000"/>
              </a:lnSpc>
              <a:spcBef>
                <a:spcPts val="500"/>
              </a:spcBef>
              <a:spcAft>
                <a:spcPts val="500"/>
              </a:spcAft>
              <a:buFont typeface="Symbol" pitchFamily="2" charset="2"/>
              <a:buChar char=""/>
            </a:pPr>
            <a:r>
              <a:rPr lang="zh-CN" altLang="en-US" sz="1800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交通信号灯：红灯。</a:t>
            </a:r>
          </a:p>
          <a:p>
            <a:pPr marL="342900" lvl="0" indent="-342900">
              <a:lnSpc>
                <a:spcPct val="115000"/>
              </a:lnSpc>
              <a:spcBef>
                <a:spcPts val="500"/>
              </a:spcBef>
              <a:spcAft>
                <a:spcPts val="500"/>
              </a:spcAft>
              <a:buFont typeface="Symbol" pitchFamily="2" charset="2"/>
              <a:buChar char=""/>
            </a:pPr>
            <a:r>
              <a:rPr lang="zh-CN" altLang="en-US" sz="1800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前方车辆：前方有一辆汽车正在变道，且其速度较快。</a:t>
            </a:r>
          </a:p>
          <a:p>
            <a:pPr marL="342900" lvl="0" indent="-342900">
              <a:lnSpc>
                <a:spcPct val="115000"/>
              </a:lnSpc>
              <a:spcBef>
                <a:spcPts val="500"/>
              </a:spcBef>
              <a:spcAft>
                <a:spcPts val="500"/>
              </a:spcAft>
              <a:buFont typeface="Symbol" pitchFamily="2" charset="2"/>
              <a:buChar char=""/>
            </a:pPr>
            <a:r>
              <a:rPr lang="zh-CN" altLang="en-US" sz="1800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行人：行人在斑马线位置，距离车辆较近。</a:t>
            </a:r>
          </a:p>
          <a:p>
            <a:pPr marL="342900" lvl="0" indent="-342900">
              <a:lnSpc>
                <a:spcPct val="115000"/>
              </a:lnSpc>
              <a:spcBef>
                <a:spcPts val="500"/>
              </a:spcBef>
              <a:spcAft>
                <a:spcPts val="500"/>
              </a:spcAft>
              <a:buFont typeface="Symbol" pitchFamily="2" charset="2"/>
              <a:buChar char=""/>
            </a:pPr>
            <a:r>
              <a:rPr lang="zh-CN" altLang="en-US" sz="1800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紧急情况：后方有急救车正在逼近，且正在发出警报声。</a:t>
            </a:r>
          </a:p>
          <a:p>
            <a:pPr marL="342900" lvl="0" indent="-342900">
              <a:lnSpc>
                <a:spcPct val="115000"/>
              </a:lnSpc>
              <a:spcBef>
                <a:spcPts val="500"/>
              </a:spcBef>
              <a:spcAft>
                <a:spcPts val="500"/>
              </a:spcAft>
              <a:buFont typeface="Symbol" pitchFamily="2" charset="2"/>
              <a:buChar char=""/>
            </a:pPr>
            <a:r>
              <a:rPr lang="zh-CN" altLang="en-US" sz="1800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路况信息：前方有坑洼路段，限速为</a:t>
            </a:r>
            <a:r>
              <a:rPr lang="en-US" altLang="zh-CN" sz="1800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30</a:t>
            </a:r>
            <a:r>
              <a:rPr lang="en" altLang="zh-CN" sz="1800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km/h</a:t>
            </a:r>
            <a:r>
              <a:rPr lang="zh-CN" altLang="en" sz="1800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。</a:t>
            </a:r>
          </a:p>
          <a:p>
            <a:pPr algn="just">
              <a:lnSpc>
                <a:spcPct val="120000"/>
              </a:lnSpc>
              <a:buNone/>
            </a:pPr>
            <a:endParaRPr kumimoji="1" lang="en-US" altLang="zh-CN" sz="2700" dirty="0">
              <a:solidFill>
                <a:srgbClr val="000000"/>
              </a:solidFill>
            </a:endParaRPr>
          </a:p>
          <a:p>
            <a:pPr algn="just">
              <a:lnSpc>
                <a:spcPct val="120000"/>
              </a:lnSpc>
              <a:buNone/>
            </a:pPr>
            <a:endParaRPr lang="en-US" altLang="zh-CN" sz="1800" kern="0" dirty="0">
              <a:effectLst/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lnSpc>
                <a:spcPct val="120000"/>
              </a:lnSpc>
              <a:buFontTx/>
              <a:buNone/>
            </a:pPr>
            <a:endParaRPr kumimoji="1" lang="zh-CN" altLang="en-US" sz="2700" dirty="0">
              <a:solidFill>
                <a:srgbClr val="000000"/>
              </a:solidFill>
            </a:endParaRP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DB960FD4-17BD-6117-6E1A-B03D90CA80A2}"/>
              </a:ext>
            </a:extLst>
          </p:cNvPr>
          <p:cNvSpPr txBox="1">
            <a:spLocks noChangeArrowheads="1"/>
          </p:cNvSpPr>
          <p:nvPr/>
        </p:nvSpPr>
        <p:spPr>
          <a:xfrm>
            <a:off x="1089116" y="5295377"/>
            <a:ext cx="10322095" cy="8016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5000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rPr lang="zh-CN" altLang="en-US" sz="1800" kern="0" dirty="0">
                <a:solidFill>
                  <a:srgbClr val="FF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目标</a:t>
            </a:r>
            <a:r>
              <a:rPr lang="zh-CN" altLang="en-US" sz="1800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：通过归结原理推理出如何安全通过交叉口，避免发生碰撞，同时考虑紧急车辆的优先通行。</a:t>
            </a:r>
          </a:p>
          <a:p>
            <a:pPr algn="just">
              <a:lnSpc>
                <a:spcPct val="120000"/>
              </a:lnSpc>
              <a:buFont typeface="Arial" panose="020B0604020202020204" pitchFamily="34" charset="0"/>
              <a:buNone/>
            </a:pPr>
            <a:endParaRPr kumimoji="1" lang="zh-CN" altLang="en-US" sz="2700" dirty="0">
              <a:solidFill>
                <a:srgbClr val="000000"/>
              </a:solidFill>
            </a:endParaRPr>
          </a:p>
        </p:txBody>
      </p:sp>
      <p:sp>
        <p:nvSpPr>
          <p:cNvPr id="4" name="标题 1">
            <a:extLst>
              <a:ext uri="{FF2B5EF4-FFF2-40B4-BE49-F238E27FC236}">
                <a16:creationId xmlns:a16="http://schemas.microsoft.com/office/drawing/2014/main" id="{5713E178-9F7F-513A-8BC1-31AE22FD73DD}"/>
              </a:ext>
            </a:extLst>
          </p:cNvPr>
          <p:cNvSpPr txBox="1">
            <a:spLocks/>
          </p:cNvSpPr>
          <p:nvPr/>
        </p:nvSpPr>
        <p:spPr>
          <a:xfrm>
            <a:off x="552342" y="485383"/>
            <a:ext cx="8806446" cy="11448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zh-CN" altLang="en-US" sz="3600" dirty="0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案例</a:t>
            </a:r>
            <a:r>
              <a:rPr lang="en-US" altLang="zh-CN" sz="3600" dirty="0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2</a:t>
            </a:r>
            <a:r>
              <a:rPr lang="zh-CN" altLang="en-US" sz="3600" dirty="0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：</a:t>
            </a:r>
            <a:r>
              <a:rPr lang="zh-CN" altLang="en-US" sz="2700" dirty="0">
                <a:solidFill>
                  <a:schemeClr val="accent1">
                    <a:lumMod val="75000"/>
                  </a:schemeClr>
                </a:solidFill>
                <a:effectLst/>
                <a:latin typeface=".AppleSystemUIFont"/>
              </a:rPr>
              <a:t>复杂自动驾驶场景推理与决策</a:t>
            </a:r>
            <a:br>
              <a:rPr lang="zh-CN" altLang="en-US" dirty="0">
                <a:solidFill>
                  <a:srgbClr val="0E0E0E"/>
                </a:solidFill>
                <a:latin typeface=".AppleSystemUIFont"/>
              </a:rPr>
            </a:b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156960991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3" name="Rectangle 3"/>
          <p:cNvSpPr>
            <a:spLocks noGrp="1" noChangeArrowheads="1"/>
          </p:cNvSpPr>
          <p:nvPr>
            <p:ph idx="1"/>
          </p:nvPr>
        </p:nvSpPr>
        <p:spPr>
          <a:xfrm>
            <a:off x="5856793" y="2259670"/>
            <a:ext cx="6381507" cy="3203582"/>
          </a:xfrm>
        </p:spPr>
        <p:txBody>
          <a:bodyPr>
            <a:normAutofit fontScale="92500" lnSpcReduction="20000"/>
          </a:bodyPr>
          <a:lstStyle/>
          <a:p>
            <a:pPr marL="342900" indent="-342900">
              <a:lnSpc>
                <a:spcPct val="115000"/>
              </a:lnSpc>
              <a:spcBef>
                <a:spcPts val="500"/>
              </a:spcBef>
              <a:spcAft>
                <a:spcPts val="500"/>
              </a:spcAft>
              <a:buFont typeface="Symbol" pitchFamily="2" charset="2"/>
              <a:buChar char=""/>
            </a:pPr>
            <a:r>
              <a:rPr lang="en-US" altLang="zh-CN" sz="1600" kern="0" dirty="0" err="1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VehicleChangLane</a:t>
            </a:r>
            <a:r>
              <a:rPr lang="en-US" altLang="zh-CN" sz="1600" kern="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(F)</a:t>
            </a:r>
            <a:r>
              <a:rPr lang="zh-CN" altLang="en-US" sz="1600" kern="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：前方车辆 </a:t>
            </a:r>
            <a:r>
              <a:rPr lang="en-US" altLang="zh-CN" sz="1600" kern="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F </a:t>
            </a:r>
            <a:r>
              <a:rPr lang="zh-CN" altLang="en-US" sz="1600" kern="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变道</a:t>
            </a:r>
            <a:endParaRPr lang="en-US" altLang="zh-CN" sz="1600" kern="0" dirty="0"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15000"/>
              </a:lnSpc>
              <a:spcBef>
                <a:spcPts val="500"/>
              </a:spcBef>
              <a:spcAft>
                <a:spcPts val="500"/>
              </a:spcAft>
              <a:buFont typeface="Symbol" pitchFamily="2" charset="2"/>
              <a:buChar char=""/>
            </a:pPr>
            <a:r>
              <a:rPr lang="en-US" altLang="zh-CN" sz="1600" kern="0" dirty="0" err="1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VehicleSpeed</a:t>
            </a:r>
            <a:r>
              <a:rPr lang="en-US" altLang="zh-CN" sz="1600" kern="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(F, S)</a:t>
            </a:r>
            <a:r>
              <a:rPr lang="zh-CN" altLang="en-US" sz="1600" kern="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：前方车辆 </a:t>
            </a:r>
            <a:r>
              <a:rPr lang="en-US" altLang="zh-CN" sz="1600" kern="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F </a:t>
            </a:r>
            <a:r>
              <a:rPr lang="zh-CN" altLang="en-US" sz="1600" kern="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的速度为 </a:t>
            </a:r>
            <a:r>
              <a:rPr lang="en-US" altLang="zh-CN" sz="1600" kern="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S</a:t>
            </a:r>
            <a:r>
              <a:rPr lang="zh-CN" altLang="en-US" sz="1600" kern="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（快</a:t>
            </a:r>
            <a:r>
              <a:rPr lang="en-US" altLang="zh-CN" sz="1600" kern="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/</a:t>
            </a:r>
            <a:r>
              <a:rPr lang="zh-CN" altLang="en-US" sz="1600" kern="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慢）</a:t>
            </a:r>
            <a:endParaRPr lang="en-US" altLang="zh-CN" sz="1600" kern="0" dirty="0"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15000"/>
              </a:lnSpc>
              <a:spcBef>
                <a:spcPts val="500"/>
              </a:spcBef>
              <a:spcAft>
                <a:spcPts val="500"/>
              </a:spcAft>
              <a:buFont typeface="Symbol" pitchFamily="2" charset="2"/>
              <a:buChar char=""/>
            </a:pPr>
            <a:r>
              <a:rPr lang="en" altLang="zh-CN" sz="1600" kern="0" dirty="0" err="1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EmergencyVehicle</a:t>
            </a:r>
            <a:r>
              <a:rPr lang="en" altLang="zh-CN" sz="1600" kern="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(EV)</a:t>
            </a:r>
            <a:r>
              <a:rPr lang="zh-CN" altLang="en" sz="1600" kern="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：</a:t>
            </a:r>
            <a:r>
              <a:rPr lang="zh-CN" altLang="en-US" sz="1600" kern="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急救车 </a:t>
            </a:r>
            <a:r>
              <a:rPr lang="en" altLang="zh-CN" sz="1600" kern="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EV </a:t>
            </a:r>
            <a:r>
              <a:rPr lang="zh-CN" altLang="en-US" sz="1600" kern="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逼近。</a:t>
            </a:r>
          </a:p>
          <a:p>
            <a:pPr marL="342900" indent="-342900">
              <a:lnSpc>
                <a:spcPct val="115000"/>
              </a:lnSpc>
              <a:spcBef>
                <a:spcPts val="500"/>
              </a:spcBef>
              <a:spcAft>
                <a:spcPts val="500"/>
              </a:spcAft>
              <a:buFont typeface="Symbol" pitchFamily="2" charset="2"/>
              <a:buChar char=""/>
            </a:pPr>
            <a:r>
              <a:rPr lang="en" altLang="zh-CN" sz="1600" kern="0" dirty="0" err="1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SirenActive</a:t>
            </a:r>
            <a:r>
              <a:rPr lang="en" altLang="zh-CN" sz="1600" kern="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(EV)</a:t>
            </a:r>
            <a:r>
              <a:rPr lang="zh-CN" altLang="en" sz="1600" kern="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：</a:t>
            </a:r>
            <a:r>
              <a:rPr lang="zh-CN" altLang="en-US" sz="1600" kern="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急救车 </a:t>
            </a:r>
            <a:r>
              <a:rPr lang="en" altLang="zh-CN" sz="1600" kern="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EV </a:t>
            </a:r>
            <a:r>
              <a:rPr lang="zh-CN" altLang="en-US" sz="1600" kern="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发出警报。</a:t>
            </a:r>
            <a:endParaRPr lang="en" altLang="zh-CN" sz="1600" kern="0" dirty="0">
              <a:effectLst/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Bef>
                <a:spcPts val="500"/>
              </a:spcBef>
              <a:spcAft>
                <a:spcPts val="500"/>
              </a:spcAft>
              <a:buFont typeface="Symbol" pitchFamily="2" charset="2"/>
              <a:buChar char=""/>
            </a:pPr>
            <a:r>
              <a:rPr lang="en" altLang="zh-CN" sz="1600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Yield(EV)</a:t>
            </a:r>
            <a:r>
              <a:rPr lang="zh-CN" altLang="en" sz="1600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：</a:t>
            </a:r>
            <a:r>
              <a:rPr lang="zh-CN" altLang="en-US" sz="1600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车辆需要让行急救车 </a:t>
            </a:r>
            <a:r>
              <a:rPr lang="en" altLang="zh-CN" sz="1600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EV </a:t>
            </a:r>
            <a:endParaRPr lang="zh-CN" altLang="en" sz="1600" kern="0" dirty="0">
              <a:effectLst/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Bef>
                <a:spcPts val="500"/>
              </a:spcBef>
              <a:spcAft>
                <a:spcPts val="500"/>
              </a:spcAft>
              <a:buFont typeface="Symbol" pitchFamily="2" charset="2"/>
              <a:buChar char=""/>
            </a:pPr>
            <a:r>
              <a:rPr lang="en" altLang="zh-CN" sz="1600" kern="0" dirty="0" err="1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RoadCondition</a:t>
            </a:r>
            <a:r>
              <a:rPr lang="en" altLang="zh-CN" sz="1600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(R, C)</a:t>
            </a:r>
            <a:r>
              <a:rPr lang="zh-CN" altLang="en" sz="1600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：</a:t>
            </a:r>
            <a:r>
              <a:rPr lang="zh-CN" altLang="en-US" sz="1600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道路 </a:t>
            </a:r>
            <a:r>
              <a:rPr lang="en" altLang="zh-CN" sz="1600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R </a:t>
            </a:r>
            <a:r>
              <a:rPr lang="zh-CN" altLang="en-US" sz="1600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的状态为 </a:t>
            </a:r>
            <a:r>
              <a:rPr lang="en" altLang="zh-CN" sz="1600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r>
              <a:rPr lang="zh-CN" altLang="en" sz="1600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（</a:t>
            </a:r>
            <a:r>
              <a:rPr lang="zh-CN" altLang="en-US" sz="1600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坑洼、限速等）</a:t>
            </a:r>
          </a:p>
          <a:p>
            <a:pPr marL="342900" lvl="0" indent="-342900">
              <a:lnSpc>
                <a:spcPct val="115000"/>
              </a:lnSpc>
              <a:spcBef>
                <a:spcPts val="500"/>
              </a:spcBef>
              <a:spcAft>
                <a:spcPts val="500"/>
              </a:spcAft>
              <a:buFont typeface="Symbol" pitchFamily="2" charset="2"/>
              <a:buChar char=""/>
            </a:pPr>
            <a:r>
              <a:rPr lang="en" altLang="zh-CN" sz="1600" kern="0" dirty="0" err="1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RoadSpeedLimit</a:t>
            </a:r>
            <a:r>
              <a:rPr lang="en" altLang="zh-CN" sz="1600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(R, S)</a:t>
            </a:r>
            <a:r>
              <a:rPr lang="zh-CN" altLang="en" sz="1600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：</a:t>
            </a:r>
            <a:r>
              <a:rPr lang="zh-CN" altLang="en-US" sz="1600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道路 </a:t>
            </a:r>
            <a:r>
              <a:rPr lang="en" altLang="zh-CN" sz="1600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R </a:t>
            </a:r>
            <a:r>
              <a:rPr lang="zh-CN" altLang="en-US" sz="1600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的限速为 </a:t>
            </a:r>
            <a:r>
              <a:rPr lang="en" altLang="zh-CN" sz="1600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S</a:t>
            </a:r>
          </a:p>
          <a:p>
            <a:pPr marL="342900" lvl="0" indent="-342900">
              <a:lnSpc>
                <a:spcPct val="115000"/>
              </a:lnSpc>
              <a:spcBef>
                <a:spcPts val="500"/>
              </a:spcBef>
              <a:spcAft>
                <a:spcPts val="500"/>
              </a:spcAft>
              <a:buFont typeface="Symbol" pitchFamily="2" charset="2"/>
              <a:buChar char=""/>
            </a:pPr>
            <a:r>
              <a:rPr lang="en" altLang="zh-CN" sz="1600" kern="0" dirty="0" err="1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SpeedLimit</a:t>
            </a:r>
            <a:r>
              <a:rPr lang="en" altLang="zh-CN" sz="1600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(R, S)</a:t>
            </a:r>
            <a:r>
              <a:rPr lang="zh-CN" altLang="en" sz="1600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：</a:t>
            </a:r>
            <a:r>
              <a:rPr lang="zh-CN" altLang="en-US" sz="1600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道路  </a:t>
            </a:r>
            <a:r>
              <a:rPr lang="en" altLang="zh-CN" sz="1600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R  </a:t>
            </a:r>
            <a:r>
              <a:rPr lang="zh-CN" altLang="en-US" sz="1600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的限速为 </a:t>
            </a:r>
            <a:r>
              <a:rPr lang="en" altLang="zh-CN" sz="1600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S km/h</a:t>
            </a:r>
            <a:r>
              <a:rPr lang="zh-CN" altLang="en" sz="1600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。</a:t>
            </a:r>
          </a:p>
          <a:p>
            <a:pPr marL="342900" lvl="0" indent="-342900">
              <a:lnSpc>
                <a:spcPct val="115000"/>
              </a:lnSpc>
              <a:spcBef>
                <a:spcPts val="500"/>
              </a:spcBef>
              <a:spcAft>
                <a:spcPts val="500"/>
              </a:spcAft>
              <a:buFont typeface="Symbol" pitchFamily="2" charset="2"/>
              <a:buChar char=""/>
            </a:pPr>
            <a:r>
              <a:rPr lang="en" altLang="zh-CN" sz="1600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Decision(V, A)</a:t>
            </a:r>
            <a:r>
              <a:rPr lang="zh-CN" altLang="en" sz="1600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：</a:t>
            </a:r>
            <a:r>
              <a:rPr lang="zh-CN" altLang="en-US" sz="1600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车辆 </a:t>
            </a:r>
            <a:r>
              <a:rPr lang="en" altLang="zh-CN" sz="1600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V </a:t>
            </a:r>
            <a:r>
              <a:rPr lang="zh-CN" altLang="en-US" sz="1600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的决策为 </a:t>
            </a:r>
            <a:r>
              <a:rPr lang="en" altLang="zh-CN" sz="1600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en" sz="1600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（</a:t>
            </a:r>
            <a:r>
              <a:rPr lang="zh-CN" altLang="en-US" sz="1600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停车、行驶、减速、让行）</a:t>
            </a:r>
          </a:p>
          <a:p>
            <a:pPr marL="0" lvl="0" indent="0">
              <a:lnSpc>
                <a:spcPct val="115000"/>
              </a:lnSpc>
              <a:spcBef>
                <a:spcPts val="500"/>
              </a:spcBef>
              <a:spcAft>
                <a:spcPts val="500"/>
              </a:spcAft>
              <a:buNone/>
            </a:pPr>
            <a:endParaRPr lang="en-US" altLang="zh-CN" sz="1800" kern="0" dirty="0">
              <a:effectLst/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Bef>
                <a:spcPts val="500"/>
              </a:spcBef>
              <a:spcAft>
                <a:spcPts val="500"/>
              </a:spcAft>
              <a:buFont typeface="Symbol" pitchFamily="2" charset="2"/>
              <a:buChar char=""/>
            </a:pPr>
            <a:endParaRPr lang="en-US" altLang="zh-CN" sz="1800" kern="0" dirty="0"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Bef>
                <a:spcPts val="500"/>
              </a:spcBef>
              <a:spcAft>
                <a:spcPts val="500"/>
              </a:spcAft>
              <a:buFont typeface="Symbol" pitchFamily="2" charset="2"/>
              <a:buChar char=""/>
            </a:pPr>
            <a:endParaRPr lang="en-US" altLang="zh-CN" sz="1800" kern="0" dirty="0">
              <a:effectLst/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Bef>
                <a:spcPts val="500"/>
              </a:spcBef>
              <a:spcAft>
                <a:spcPts val="500"/>
              </a:spcAft>
              <a:buFont typeface="Symbol" pitchFamily="2" charset="2"/>
              <a:buChar char=""/>
            </a:pPr>
            <a:endParaRPr lang="zh-CN" altLang="en-US" sz="1800" kern="0" dirty="0">
              <a:effectLst/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lnSpc>
                <a:spcPct val="120000"/>
              </a:lnSpc>
              <a:buNone/>
            </a:pPr>
            <a:endParaRPr kumimoji="1" lang="en-US" altLang="zh-CN" sz="2700" dirty="0">
              <a:solidFill>
                <a:srgbClr val="000000"/>
              </a:solidFill>
            </a:endParaRPr>
          </a:p>
          <a:p>
            <a:pPr algn="just">
              <a:lnSpc>
                <a:spcPct val="120000"/>
              </a:lnSpc>
              <a:buNone/>
            </a:pPr>
            <a:endParaRPr lang="en-US" altLang="zh-CN" sz="1800" kern="0" dirty="0">
              <a:effectLst/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lnSpc>
                <a:spcPct val="120000"/>
              </a:lnSpc>
              <a:buFontTx/>
              <a:buNone/>
            </a:pPr>
            <a:endParaRPr kumimoji="1" lang="zh-CN" altLang="en-US" sz="2700" dirty="0">
              <a:solidFill>
                <a:srgbClr val="000000"/>
              </a:solidFill>
            </a:endParaRP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CD30538A-32A3-54D2-046A-40718036F1E0}"/>
              </a:ext>
            </a:extLst>
          </p:cNvPr>
          <p:cNvSpPr txBox="1">
            <a:spLocks/>
          </p:cNvSpPr>
          <p:nvPr/>
        </p:nvSpPr>
        <p:spPr>
          <a:xfrm>
            <a:off x="552342" y="485383"/>
            <a:ext cx="8806446" cy="11448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zh-CN" altLang="en-US" sz="3600" dirty="0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案例</a:t>
            </a:r>
            <a:r>
              <a:rPr lang="en-US" altLang="zh-CN" sz="3600" dirty="0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2</a:t>
            </a:r>
            <a:r>
              <a:rPr lang="zh-CN" altLang="en-US" sz="3600" dirty="0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：</a:t>
            </a:r>
            <a:r>
              <a:rPr lang="zh-CN" altLang="en-US" sz="2700" dirty="0">
                <a:solidFill>
                  <a:schemeClr val="accent1">
                    <a:lumMod val="75000"/>
                  </a:schemeClr>
                </a:solidFill>
                <a:effectLst/>
                <a:latin typeface=".AppleSystemUIFont"/>
              </a:rPr>
              <a:t>复杂自动驾驶场景推理与决策</a:t>
            </a:r>
            <a:br>
              <a:rPr lang="zh-CN" altLang="en-US" dirty="0">
                <a:solidFill>
                  <a:srgbClr val="0E0E0E"/>
                </a:solidFill>
                <a:latin typeface=".AppleSystemUIFont"/>
              </a:rPr>
            </a:br>
            <a:endParaRPr lang="zh-CN" altLang="en-US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A50B065-C853-900E-719E-42EE4797EB96}"/>
              </a:ext>
            </a:extLst>
          </p:cNvPr>
          <p:cNvSpPr txBox="1"/>
          <p:nvPr/>
        </p:nvSpPr>
        <p:spPr>
          <a:xfrm>
            <a:off x="0" y="1204521"/>
            <a:ext cx="3142527" cy="520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defRPr/>
            </a:pPr>
            <a:r>
              <a:rPr lang="zh-CN" altLang="en-US" sz="2400" dirty="0">
                <a:solidFill>
                  <a:schemeClr val="accent1">
                    <a:lumMod val="75000"/>
                  </a:schemeClr>
                </a:solidFill>
                <a:latin typeface=".AppleSystemUIFont"/>
                <a:ea typeface="+mj-ea"/>
                <a:cs typeface="+mj-cs"/>
              </a:rPr>
              <a:t>（</a:t>
            </a:r>
            <a:r>
              <a:rPr lang="en-US" altLang="zh-CN" sz="2400" dirty="0">
                <a:solidFill>
                  <a:schemeClr val="accent1">
                    <a:lumMod val="75000"/>
                  </a:schemeClr>
                </a:solidFill>
                <a:latin typeface=".AppleSystemUIFont"/>
                <a:ea typeface="+mj-ea"/>
                <a:cs typeface="+mj-cs"/>
              </a:rPr>
              <a:t>1</a:t>
            </a:r>
            <a:r>
              <a:rPr lang="zh-CN" altLang="en-US" sz="2400" dirty="0">
                <a:solidFill>
                  <a:schemeClr val="accent1">
                    <a:lumMod val="75000"/>
                  </a:schemeClr>
                </a:solidFill>
                <a:latin typeface=".AppleSystemUIFont"/>
                <a:ea typeface="+mj-ea"/>
                <a:cs typeface="+mj-cs"/>
              </a:rPr>
              <a:t>）定义谓词 </a:t>
            </a:r>
          </a:p>
        </p:txBody>
      </p:sp>
      <p:sp>
        <p:nvSpPr>
          <p:cNvPr id="2" name="Rectangle 3">
            <a:extLst>
              <a:ext uri="{FF2B5EF4-FFF2-40B4-BE49-F238E27FC236}">
                <a16:creationId xmlns:a16="http://schemas.microsoft.com/office/drawing/2014/main" id="{3C9A755A-33AD-4D81-EC56-2BF82D719A5D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2349414"/>
            <a:ext cx="5995685" cy="3477686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lnSpc>
                <a:spcPct val="115000"/>
              </a:lnSpc>
              <a:spcBef>
                <a:spcPts val="500"/>
              </a:spcBef>
              <a:spcAft>
                <a:spcPts val="500"/>
              </a:spcAft>
              <a:buFont typeface="Symbol" pitchFamily="2" charset="2"/>
              <a:buChar char=""/>
            </a:pPr>
            <a:r>
              <a:rPr lang="en" altLang="zh-CN" sz="1800" kern="0" dirty="0" err="1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TrafficSignal</a:t>
            </a:r>
            <a:r>
              <a:rPr lang="en" altLang="zh-CN" sz="1800" kern="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(S, C)</a:t>
            </a:r>
            <a:r>
              <a:rPr lang="zh-CN" altLang="en" sz="1800" kern="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：</a:t>
            </a:r>
            <a:r>
              <a:rPr lang="zh-CN" altLang="en-US" sz="1800" kern="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信号灯 </a:t>
            </a:r>
            <a:r>
              <a:rPr lang="en" altLang="zh-CN" sz="1800" kern="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S</a:t>
            </a:r>
            <a:r>
              <a:rPr lang="zh-CN" altLang="en-US" sz="1800" kern="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 的状态为 </a:t>
            </a:r>
            <a:r>
              <a:rPr lang="en" altLang="zh-CN" sz="1800" kern="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r>
              <a:rPr lang="zh-CN" altLang="en" sz="1800" kern="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（</a:t>
            </a:r>
            <a:r>
              <a:rPr lang="zh-CN" altLang="en-US" sz="1800" kern="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红、绿、黄）</a:t>
            </a:r>
          </a:p>
          <a:p>
            <a:pPr marL="342900" indent="-342900">
              <a:lnSpc>
                <a:spcPct val="115000"/>
              </a:lnSpc>
              <a:spcBef>
                <a:spcPts val="500"/>
              </a:spcBef>
              <a:spcAft>
                <a:spcPts val="500"/>
              </a:spcAft>
              <a:buFont typeface="Symbol" pitchFamily="2" charset="2"/>
              <a:buChar char=""/>
            </a:pPr>
            <a:r>
              <a:rPr lang="en" altLang="zh-CN" sz="1800" kern="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Stop(V)</a:t>
            </a:r>
            <a:r>
              <a:rPr lang="zh-CN" altLang="en" sz="1800" kern="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：</a:t>
            </a:r>
            <a:r>
              <a:rPr lang="zh-CN" altLang="en-US" sz="1800" kern="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车辆 </a:t>
            </a:r>
            <a:r>
              <a:rPr lang="en" altLang="zh-CN" sz="1800" kern="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V </a:t>
            </a:r>
            <a:r>
              <a:rPr lang="zh-CN" altLang="en-US" sz="1800" kern="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停止</a:t>
            </a:r>
          </a:p>
          <a:p>
            <a:pPr marL="342900" indent="-342900">
              <a:lnSpc>
                <a:spcPct val="115000"/>
              </a:lnSpc>
              <a:spcBef>
                <a:spcPts val="500"/>
              </a:spcBef>
              <a:spcAft>
                <a:spcPts val="500"/>
              </a:spcAft>
              <a:buFont typeface="Symbol" pitchFamily="2" charset="2"/>
              <a:buChar char=""/>
            </a:pPr>
            <a:r>
              <a:rPr lang="en" altLang="zh-CN" sz="1800" kern="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Proceed(V)</a:t>
            </a:r>
            <a:r>
              <a:rPr lang="zh-CN" altLang="en" sz="1800" kern="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：</a:t>
            </a:r>
            <a:r>
              <a:rPr lang="zh-CN" altLang="en-US" sz="1800" kern="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车辆 </a:t>
            </a:r>
            <a:r>
              <a:rPr lang="en" altLang="zh-CN" sz="1800" kern="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V </a:t>
            </a:r>
            <a:r>
              <a:rPr lang="zh-CN" altLang="en-US" sz="1800" kern="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继续行驶</a:t>
            </a:r>
          </a:p>
          <a:p>
            <a:pPr marL="342900" indent="-342900">
              <a:lnSpc>
                <a:spcPct val="115000"/>
              </a:lnSpc>
              <a:spcBef>
                <a:spcPts val="500"/>
              </a:spcBef>
              <a:spcAft>
                <a:spcPts val="500"/>
              </a:spcAft>
              <a:buFont typeface="Symbol" pitchFamily="2" charset="2"/>
              <a:buChar char=""/>
            </a:pPr>
            <a:r>
              <a:rPr lang="en" altLang="zh-CN" sz="1800" kern="0" dirty="0" err="1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SlowDown</a:t>
            </a:r>
            <a:r>
              <a:rPr lang="en" altLang="zh-CN" sz="1800" kern="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(V)</a:t>
            </a:r>
            <a:r>
              <a:rPr lang="zh-CN" altLang="en" sz="1800" kern="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：</a:t>
            </a:r>
            <a:r>
              <a:rPr lang="zh-CN" altLang="en-US" sz="1800" kern="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车辆 </a:t>
            </a:r>
            <a:r>
              <a:rPr lang="en" altLang="zh-CN" sz="1800" kern="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V </a:t>
            </a:r>
            <a:r>
              <a:rPr lang="zh-CN" altLang="en-US" sz="1800" kern="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减速</a:t>
            </a:r>
          </a:p>
          <a:p>
            <a:pPr marL="342900" indent="-342900">
              <a:lnSpc>
                <a:spcPct val="115000"/>
              </a:lnSpc>
              <a:spcBef>
                <a:spcPts val="500"/>
              </a:spcBef>
              <a:spcAft>
                <a:spcPts val="500"/>
              </a:spcAft>
              <a:buFont typeface="Symbol" pitchFamily="2" charset="2"/>
              <a:buChar char=""/>
            </a:pPr>
            <a:r>
              <a:rPr lang="en" altLang="zh-CN" sz="1800" kern="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Near(V, O)</a:t>
            </a:r>
            <a:r>
              <a:rPr lang="zh-CN" altLang="en" sz="1800" kern="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：</a:t>
            </a:r>
            <a:r>
              <a:rPr lang="zh-CN" altLang="en-US" sz="1800" kern="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车辆 </a:t>
            </a:r>
            <a:r>
              <a:rPr lang="en" altLang="zh-CN" sz="1800" kern="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V </a:t>
            </a:r>
            <a:r>
              <a:rPr lang="zh-CN" altLang="en-US" sz="1800" kern="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靠近对象 </a:t>
            </a:r>
            <a:r>
              <a:rPr lang="en" altLang="zh-CN" sz="1800" kern="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O</a:t>
            </a:r>
            <a:r>
              <a:rPr lang="zh-CN" altLang="en" sz="1800" kern="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（</a:t>
            </a:r>
            <a:r>
              <a:rPr lang="zh-CN" altLang="en-US" sz="1800" kern="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行人、前方车辆）</a:t>
            </a:r>
            <a:endParaRPr lang="en-US" altLang="zh-CN" sz="1800" kern="0" dirty="0"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15000"/>
              </a:lnSpc>
              <a:spcBef>
                <a:spcPts val="500"/>
              </a:spcBef>
              <a:spcAft>
                <a:spcPts val="500"/>
              </a:spcAft>
              <a:buFont typeface="Symbol" pitchFamily="2" charset="2"/>
              <a:buChar char=""/>
            </a:pPr>
            <a:r>
              <a:rPr lang="en" altLang="zh-CN" sz="1800" kern="0" dirty="0" err="1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CrossRoadSignal</a:t>
            </a:r>
            <a:r>
              <a:rPr lang="en" altLang="zh-CN" sz="1800" kern="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(S, C)</a:t>
            </a:r>
            <a:r>
              <a:rPr lang="zh-CN" altLang="en" sz="1800" kern="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：</a:t>
            </a:r>
            <a:r>
              <a:rPr lang="zh-CN" altLang="en-US" sz="1800" kern="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表示交叉车道信号 </a:t>
            </a:r>
            <a:r>
              <a:rPr lang="en" altLang="zh-CN" sz="1800" kern="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S </a:t>
            </a:r>
            <a:r>
              <a:rPr lang="zh-CN" altLang="en-US" sz="1800" kern="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的状态为 </a:t>
            </a:r>
            <a:r>
              <a:rPr lang="en" altLang="zh-CN" sz="1800" kern="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C </a:t>
            </a:r>
            <a:endParaRPr lang="zh-CN" altLang="en-US" sz="1800" kern="0" dirty="0"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15000"/>
              </a:lnSpc>
              <a:spcBef>
                <a:spcPts val="500"/>
              </a:spcBef>
              <a:spcAft>
                <a:spcPts val="500"/>
              </a:spcAft>
              <a:buFont typeface="Symbol" pitchFamily="2" charset="2"/>
              <a:buChar char=""/>
            </a:pPr>
            <a:r>
              <a:rPr lang="en" altLang="zh-CN" sz="1800" kern="0" dirty="0" err="1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PedestrianNear</a:t>
            </a:r>
            <a:r>
              <a:rPr lang="en" altLang="zh-CN" sz="1800" kern="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(P)</a:t>
            </a:r>
            <a:r>
              <a:rPr lang="zh-CN" altLang="en" sz="1800" kern="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：</a:t>
            </a:r>
            <a:r>
              <a:rPr lang="zh-CN" altLang="en-US" sz="1800" kern="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行人 </a:t>
            </a:r>
            <a:r>
              <a:rPr lang="en" altLang="zh-CN" sz="1800" kern="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P </a:t>
            </a:r>
            <a:r>
              <a:rPr lang="zh-CN" altLang="en-US" sz="1800" kern="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靠近斑马线</a:t>
            </a:r>
            <a:endParaRPr lang="en-US" altLang="zh-CN" sz="1800" kern="0" dirty="0"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15000"/>
              </a:lnSpc>
              <a:spcBef>
                <a:spcPts val="500"/>
              </a:spcBef>
              <a:spcAft>
                <a:spcPts val="500"/>
              </a:spcAft>
              <a:buFont typeface="Symbol" pitchFamily="2" charset="2"/>
              <a:buChar char=""/>
            </a:pPr>
            <a:r>
              <a:rPr lang="en-US" altLang="zh-CN" sz="1800" kern="0" dirty="0" err="1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PedestrianFar</a:t>
            </a:r>
            <a:r>
              <a:rPr lang="en-US" altLang="zh-CN" sz="1800" kern="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(P)</a:t>
            </a:r>
            <a:r>
              <a:rPr lang="zh-CN" altLang="en-US" sz="1800" kern="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：行人  </a:t>
            </a:r>
            <a:r>
              <a:rPr lang="en-US" altLang="zh-CN" sz="1800" kern="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P  </a:t>
            </a:r>
            <a:r>
              <a:rPr lang="zh-CN" altLang="en-US" sz="1800" kern="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远离车辆。</a:t>
            </a:r>
          </a:p>
          <a:p>
            <a:pPr marL="0" indent="0">
              <a:lnSpc>
                <a:spcPct val="115000"/>
              </a:lnSpc>
              <a:spcBef>
                <a:spcPts val="500"/>
              </a:spcBef>
              <a:spcAft>
                <a:spcPts val="500"/>
              </a:spcAft>
              <a:buNone/>
            </a:pPr>
            <a:endParaRPr lang="en-US" altLang="zh-CN" sz="1800" kern="0" dirty="0"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15000"/>
              </a:lnSpc>
              <a:spcBef>
                <a:spcPts val="500"/>
              </a:spcBef>
              <a:spcAft>
                <a:spcPts val="500"/>
              </a:spcAft>
              <a:buFont typeface="Symbol" pitchFamily="2" charset="2"/>
              <a:buChar char=""/>
            </a:pPr>
            <a:endParaRPr lang="en-US" altLang="zh-CN" sz="1800" kern="0" dirty="0"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15000"/>
              </a:lnSpc>
              <a:spcBef>
                <a:spcPts val="500"/>
              </a:spcBef>
              <a:spcAft>
                <a:spcPts val="500"/>
              </a:spcAft>
              <a:buFont typeface="Symbol" pitchFamily="2" charset="2"/>
              <a:buChar char=""/>
            </a:pPr>
            <a:endParaRPr lang="zh-CN" altLang="en-US" sz="1800" kern="0" dirty="0"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lnSpc>
                <a:spcPct val="120000"/>
              </a:lnSpc>
              <a:buFont typeface="Arial" panose="020B0604020202020204" pitchFamily="34" charset="0"/>
              <a:buNone/>
            </a:pPr>
            <a:endParaRPr kumimoji="1" lang="en-US" altLang="zh-CN" sz="2700" dirty="0">
              <a:solidFill>
                <a:srgbClr val="000000"/>
              </a:solidFill>
            </a:endParaRPr>
          </a:p>
          <a:p>
            <a:pPr algn="just">
              <a:lnSpc>
                <a:spcPct val="120000"/>
              </a:lnSpc>
              <a:buFont typeface="Arial" panose="020B0604020202020204" pitchFamily="34" charset="0"/>
              <a:buNone/>
            </a:pPr>
            <a:endParaRPr lang="en-US" altLang="zh-CN" sz="1800" kern="0" dirty="0"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lnSpc>
                <a:spcPct val="120000"/>
              </a:lnSpc>
              <a:buFontTx/>
              <a:buNone/>
            </a:pPr>
            <a:endParaRPr kumimoji="1" lang="zh-CN" altLang="en-US" sz="2700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0904561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>
            <a:extLst>
              <a:ext uri="{FF2B5EF4-FFF2-40B4-BE49-F238E27FC236}">
                <a16:creationId xmlns:a16="http://schemas.microsoft.com/office/drawing/2014/main" id="{CD30538A-32A3-54D2-046A-40718036F1E0}"/>
              </a:ext>
            </a:extLst>
          </p:cNvPr>
          <p:cNvSpPr txBox="1">
            <a:spLocks/>
          </p:cNvSpPr>
          <p:nvPr/>
        </p:nvSpPr>
        <p:spPr>
          <a:xfrm>
            <a:off x="552342" y="485383"/>
            <a:ext cx="8806446" cy="11448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zh-CN" altLang="en-US" sz="3600" dirty="0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案例</a:t>
            </a:r>
            <a:r>
              <a:rPr lang="en-US" altLang="zh-CN" sz="3600" dirty="0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2</a:t>
            </a:r>
            <a:r>
              <a:rPr lang="zh-CN" altLang="en-US" sz="3600" dirty="0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：</a:t>
            </a:r>
            <a:r>
              <a:rPr lang="zh-CN" altLang="en-US" sz="2700" dirty="0">
                <a:solidFill>
                  <a:schemeClr val="accent1">
                    <a:lumMod val="75000"/>
                  </a:schemeClr>
                </a:solidFill>
                <a:effectLst/>
                <a:latin typeface=".AppleSystemUIFont"/>
              </a:rPr>
              <a:t>复杂自动驾驶场景推理与决策</a:t>
            </a:r>
            <a:br>
              <a:rPr lang="zh-CN" altLang="en-US" dirty="0">
                <a:solidFill>
                  <a:srgbClr val="0E0E0E"/>
                </a:solidFill>
                <a:latin typeface=".AppleSystemUIFont"/>
              </a:rPr>
            </a:br>
            <a:endParaRPr lang="zh-CN" altLang="en-US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A50B065-C853-900E-719E-42EE4797EB96}"/>
              </a:ext>
            </a:extLst>
          </p:cNvPr>
          <p:cNvSpPr txBox="1"/>
          <p:nvPr/>
        </p:nvSpPr>
        <p:spPr>
          <a:xfrm>
            <a:off x="0" y="1204521"/>
            <a:ext cx="3142527" cy="520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defRPr/>
            </a:pPr>
            <a:r>
              <a:rPr lang="zh-CN" altLang="en-US" sz="2400" dirty="0">
                <a:solidFill>
                  <a:schemeClr val="accent1">
                    <a:lumMod val="75000"/>
                  </a:schemeClr>
                </a:solidFill>
                <a:latin typeface=".AppleSystemUIFont"/>
                <a:ea typeface="+mj-ea"/>
                <a:cs typeface="+mj-cs"/>
              </a:rPr>
              <a:t>（</a:t>
            </a:r>
            <a:r>
              <a:rPr lang="en-US" altLang="zh-CN" sz="2400" dirty="0">
                <a:solidFill>
                  <a:schemeClr val="accent1">
                    <a:lumMod val="75000"/>
                  </a:schemeClr>
                </a:solidFill>
                <a:latin typeface=".AppleSystemUIFont"/>
                <a:ea typeface="+mj-ea"/>
                <a:cs typeface="+mj-cs"/>
              </a:rPr>
              <a:t>2</a:t>
            </a:r>
            <a:r>
              <a:rPr lang="zh-CN" altLang="en-US" sz="2400" dirty="0">
                <a:solidFill>
                  <a:schemeClr val="accent1">
                    <a:lumMod val="75000"/>
                  </a:schemeClr>
                </a:solidFill>
                <a:latin typeface=".AppleSystemUIFont"/>
                <a:ea typeface="+mj-ea"/>
                <a:cs typeface="+mj-cs"/>
              </a:rPr>
              <a:t>）谓词公式 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FBBEF39C-C746-A553-93A7-DEFABE5F73C0}"/>
              </a:ext>
            </a:extLst>
          </p:cNvPr>
          <p:cNvSpPr txBox="1"/>
          <p:nvPr/>
        </p:nvSpPr>
        <p:spPr>
          <a:xfrm>
            <a:off x="232109" y="1817710"/>
            <a:ext cx="11959891" cy="39444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115000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rPr lang="en-US" altLang="zh-CN" sz="1800" kern="0" dirty="0">
                <a:solidFill>
                  <a:srgbClr val="FF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F1</a:t>
            </a:r>
            <a:r>
              <a:rPr lang="zh-CN" altLang="en-US" sz="1800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：交通信号规则</a:t>
            </a:r>
            <a:endParaRPr lang="en-US" altLang="zh-CN" sz="1800" kern="0" dirty="0">
              <a:effectLst/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indent="0">
              <a:lnSpc>
                <a:spcPct val="115000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rPr lang="zh-CN" altLang="en-US" sz="1800" kern="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lang="zh-CN" altLang="en-US" sz="1800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 如果信号灯是红灯，车辆应停车。</a:t>
            </a:r>
            <a:r>
              <a:rPr lang="en" altLang="zh-CN" sz="1800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</a:p>
          <a:p>
            <a:pPr marL="0" indent="0">
              <a:lnSpc>
                <a:spcPct val="115000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rPr lang="zh-CN" altLang="en-US" sz="1800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   </a:t>
            </a:r>
            <a:r>
              <a:rPr lang="en" altLang="zh-CN" sz="1800" kern="0" dirty="0" err="1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TrafficSignal</a:t>
            </a:r>
            <a:r>
              <a:rPr lang="en" altLang="zh-CN" sz="1800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" altLang="zh-CN" sz="1800" kern="0" dirty="0" err="1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TrafficLight,Red</a:t>
            </a:r>
            <a:r>
              <a:rPr lang="en" altLang="zh-CN" sz="1800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)→Stop(Vehicle)</a:t>
            </a:r>
          </a:p>
          <a:p>
            <a:pPr marL="0" indent="0">
              <a:lnSpc>
                <a:spcPct val="115000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rPr lang="zh-CN" altLang="en-US" sz="1800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   如果信号灯是绿灯，且没有行人在斑马线上，车辆可以行驶。</a:t>
            </a:r>
            <a:endParaRPr lang="en-US" altLang="zh-CN" sz="1800" kern="0" dirty="0">
              <a:effectLst/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indent="0">
              <a:lnSpc>
                <a:spcPct val="115000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rPr lang="zh-CN" altLang="en-US" sz="1800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   </a:t>
            </a:r>
            <a:r>
              <a:rPr lang="en" altLang="zh-CN" sz="1800" kern="0" dirty="0" err="1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TrafficSignal</a:t>
            </a:r>
            <a:r>
              <a:rPr lang="en" altLang="zh-CN" sz="1800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" altLang="zh-CN" sz="1800" kern="0" dirty="0" err="1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TrafficLight,Green</a:t>
            </a:r>
            <a:r>
              <a:rPr lang="en" altLang="zh-CN" sz="1800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)∧¬</a:t>
            </a:r>
            <a:r>
              <a:rPr lang="en" altLang="zh-CN" sz="1800" kern="0" dirty="0" err="1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PedestrianNear</a:t>
            </a:r>
            <a:r>
              <a:rPr lang="en" altLang="zh-CN" sz="1800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(Pedestrian)→Proceed(Vehicle)</a:t>
            </a:r>
            <a:endParaRPr lang="zh-CN" altLang="en-US" sz="1800" kern="0" dirty="0">
              <a:effectLst/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indent="0">
              <a:lnSpc>
                <a:spcPct val="115000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rPr lang="zh-CN" altLang="en-US" sz="1800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   如果信号灯是黄灯，且距离交叉口较近，车辆应减速并准备停车。</a:t>
            </a:r>
            <a:endParaRPr lang="en-US" altLang="zh-CN" sz="1800" kern="0" dirty="0">
              <a:effectLst/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indent="0">
              <a:lnSpc>
                <a:spcPct val="115000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rPr lang="zh-CN" altLang="en-US" sz="1800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   </a:t>
            </a:r>
            <a:r>
              <a:rPr lang="en" altLang="zh-CN" sz="1800" kern="0" dirty="0" err="1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TrafficSignal</a:t>
            </a:r>
            <a:r>
              <a:rPr lang="en" altLang="zh-CN" sz="1800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" altLang="zh-CN" sz="1800" kern="0" dirty="0" err="1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TrafficLight,Yellow</a:t>
            </a:r>
            <a:r>
              <a:rPr lang="en" altLang="zh-CN" sz="1800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)∧Near(</a:t>
            </a:r>
            <a:r>
              <a:rPr lang="en" altLang="zh-CN" sz="1800" kern="0" dirty="0" err="1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Vehicle,Intersection</a:t>
            </a:r>
            <a:r>
              <a:rPr lang="en" altLang="zh-CN" sz="1800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)→</a:t>
            </a:r>
            <a:r>
              <a:rPr lang="en" altLang="zh-CN" sz="1800" kern="0" dirty="0" err="1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SlowDown</a:t>
            </a:r>
            <a:r>
              <a:rPr lang="en" altLang="zh-CN" sz="1800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(Vehicle)</a:t>
            </a:r>
          </a:p>
          <a:p>
            <a:pPr marL="0" indent="0">
              <a:lnSpc>
                <a:spcPct val="115000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rPr lang="zh-CN" altLang="en-US" sz="1800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   如果交叉道口有交叉车道信号，且信号允许通行，车辆可以继续行驶。</a:t>
            </a:r>
          </a:p>
          <a:p>
            <a:pPr marL="0" indent="0">
              <a:lnSpc>
                <a:spcPct val="115000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rPr lang="zh-CN" altLang="en-US" sz="1800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   </a:t>
            </a:r>
            <a:r>
              <a:rPr lang="en" altLang="zh-CN" sz="1800" kern="0" dirty="0" err="1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CrossRoadSignal</a:t>
            </a:r>
            <a:r>
              <a:rPr lang="en" altLang="zh-CN" sz="1800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" altLang="zh-CN" sz="1800" kern="0" dirty="0" err="1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CrosswalkSignal,Green</a:t>
            </a:r>
            <a:r>
              <a:rPr lang="en" altLang="zh-CN" sz="1800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)→Proceed(Vehicle)</a:t>
            </a:r>
            <a:endParaRPr lang="zh-CN" altLang="en-US" sz="1800" kern="0" dirty="0">
              <a:effectLst/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21807616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>
            <a:extLst>
              <a:ext uri="{FF2B5EF4-FFF2-40B4-BE49-F238E27FC236}">
                <a16:creationId xmlns:a16="http://schemas.microsoft.com/office/drawing/2014/main" id="{CD30538A-32A3-54D2-046A-40718036F1E0}"/>
              </a:ext>
            </a:extLst>
          </p:cNvPr>
          <p:cNvSpPr txBox="1">
            <a:spLocks/>
          </p:cNvSpPr>
          <p:nvPr/>
        </p:nvSpPr>
        <p:spPr>
          <a:xfrm>
            <a:off x="552342" y="485383"/>
            <a:ext cx="8806446" cy="11448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zh-CN" altLang="en-US" sz="3600" dirty="0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案例</a:t>
            </a:r>
            <a:r>
              <a:rPr lang="en-US" altLang="zh-CN" sz="3600" dirty="0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2</a:t>
            </a:r>
            <a:r>
              <a:rPr lang="zh-CN" altLang="en-US" sz="3600" dirty="0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：</a:t>
            </a:r>
            <a:r>
              <a:rPr lang="zh-CN" altLang="en-US" sz="2700" dirty="0">
                <a:solidFill>
                  <a:schemeClr val="accent1">
                    <a:lumMod val="75000"/>
                  </a:schemeClr>
                </a:solidFill>
                <a:effectLst/>
                <a:latin typeface=".AppleSystemUIFont"/>
              </a:rPr>
              <a:t>复杂自动驾驶场景推理与决策</a:t>
            </a:r>
            <a:br>
              <a:rPr lang="zh-CN" altLang="en-US" dirty="0">
                <a:solidFill>
                  <a:srgbClr val="0E0E0E"/>
                </a:solidFill>
                <a:latin typeface=".AppleSystemUIFont"/>
              </a:rPr>
            </a:br>
            <a:endParaRPr lang="zh-CN" altLang="en-US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A50B065-C853-900E-719E-42EE4797EB96}"/>
              </a:ext>
            </a:extLst>
          </p:cNvPr>
          <p:cNvSpPr txBox="1"/>
          <p:nvPr/>
        </p:nvSpPr>
        <p:spPr>
          <a:xfrm>
            <a:off x="0" y="1204521"/>
            <a:ext cx="3142527" cy="520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defRPr/>
            </a:pPr>
            <a:r>
              <a:rPr lang="zh-CN" altLang="en-US" sz="2400" dirty="0">
                <a:solidFill>
                  <a:schemeClr val="accent1">
                    <a:lumMod val="75000"/>
                  </a:schemeClr>
                </a:solidFill>
                <a:latin typeface=".AppleSystemUIFont"/>
                <a:ea typeface="+mj-ea"/>
                <a:cs typeface="+mj-cs"/>
              </a:rPr>
              <a:t>（</a:t>
            </a:r>
            <a:r>
              <a:rPr lang="en-US" altLang="zh-CN" sz="2400" dirty="0">
                <a:solidFill>
                  <a:schemeClr val="accent1">
                    <a:lumMod val="75000"/>
                  </a:schemeClr>
                </a:solidFill>
                <a:latin typeface=".AppleSystemUIFont"/>
                <a:ea typeface="+mj-ea"/>
                <a:cs typeface="+mj-cs"/>
              </a:rPr>
              <a:t>2</a:t>
            </a:r>
            <a:r>
              <a:rPr lang="zh-CN" altLang="en-US" sz="2400" dirty="0">
                <a:solidFill>
                  <a:schemeClr val="accent1">
                    <a:lumMod val="75000"/>
                  </a:schemeClr>
                </a:solidFill>
                <a:latin typeface=".AppleSystemUIFont"/>
                <a:ea typeface="+mj-ea"/>
                <a:cs typeface="+mj-cs"/>
              </a:rPr>
              <a:t>）谓词公式 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FBBEF39C-C746-A553-93A7-DEFABE5F73C0}"/>
              </a:ext>
            </a:extLst>
          </p:cNvPr>
          <p:cNvSpPr txBox="1"/>
          <p:nvPr/>
        </p:nvSpPr>
        <p:spPr>
          <a:xfrm>
            <a:off x="232109" y="1817710"/>
            <a:ext cx="11959891" cy="43912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115000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rPr lang="en-US" altLang="zh-CN" sz="1800" kern="0" dirty="0">
                <a:solidFill>
                  <a:srgbClr val="FF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F</a:t>
            </a:r>
            <a:r>
              <a:rPr lang="en-US" altLang="zh-CN" sz="1800" kern="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en-US" sz="1800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：行人规则</a:t>
            </a:r>
            <a:endParaRPr lang="en-US" altLang="zh-CN" sz="1800" kern="0" dirty="0">
              <a:effectLst/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indent="0">
              <a:lnSpc>
                <a:spcPct val="115000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rPr lang="zh-CN" altLang="en-US" sz="1800" kern="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   如果行人处于斑马线上，且与车辆较近，车辆应停车。</a:t>
            </a:r>
          </a:p>
          <a:p>
            <a:pPr marL="0" indent="0">
              <a:lnSpc>
                <a:spcPct val="115000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rPr lang="zh-CN" altLang="en-US" sz="1800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   </a:t>
            </a:r>
            <a:r>
              <a:rPr lang="en" altLang="zh-CN" sz="1800" kern="0" dirty="0" err="1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PedestrianNear</a:t>
            </a:r>
            <a:r>
              <a:rPr lang="en" altLang="zh-CN" sz="1800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(Pedestrian) → Stop(Vehicle)</a:t>
            </a:r>
          </a:p>
          <a:p>
            <a:pPr marL="0" indent="0">
              <a:lnSpc>
                <a:spcPct val="115000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rPr lang="zh-CN" altLang="en-US" sz="1800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   如果行人离车辆较远，车辆可以通过。</a:t>
            </a:r>
          </a:p>
          <a:p>
            <a:pPr marL="0" indent="0">
              <a:lnSpc>
                <a:spcPct val="115000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rPr lang="zh-CN" altLang="en-US" sz="1800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   </a:t>
            </a:r>
            <a:r>
              <a:rPr lang="en" altLang="zh-CN" sz="1800" kern="0" dirty="0" err="1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PedestrianFar</a:t>
            </a:r>
            <a:r>
              <a:rPr lang="en" altLang="zh-CN" sz="1800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(Pedestrian) → Proceed(Vehicle)</a:t>
            </a:r>
            <a:endParaRPr lang="en-US" altLang="zh-CN" sz="1800" kern="0" dirty="0">
              <a:effectLst/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indent="0">
              <a:lnSpc>
                <a:spcPct val="115000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rPr lang="en-US" altLang="zh-CN" sz="1800" kern="0" dirty="0">
                <a:solidFill>
                  <a:srgbClr val="FF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F</a:t>
            </a:r>
            <a:r>
              <a:rPr lang="en-US" altLang="zh-CN" sz="1800" kern="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zh-CN" altLang="en-US" sz="1800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：前方车辆规则</a:t>
            </a:r>
          </a:p>
          <a:p>
            <a:pPr marL="0" indent="0">
              <a:lnSpc>
                <a:spcPct val="115000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rPr lang="zh-CN" altLang="en-US" sz="1800" kern="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   如果前方车辆变道且接近，车辆应减速。</a:t>
            </a:r>
          </a:p>
          <a:p>
            <a:pPr marL="0" indent="0">
              <a:lnSpc>
                <a:spcPct val="115000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rPr lang="zh-CN" altLang="en-US" sz="1800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   </a:t>
            </a:r>
            <a:r>
              <a:rPr lang="en" altLang="zh-CN" sz="1800" kern="0" dirty="0" err="1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VehicleChangLane</a:t>
            </a:r>
            <a:r>
              <a:rPr lang="en" altLang="zh-CN" sz="1800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" altLang="zh-CN" sz="1800" kern="0" dirty="0" err="1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FrontVehicle</a:t>
            </a:r>
            <a:r>
              <a:rPr lang="en" altLang="zh-CN" sz="1800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) ∧ Near(Vehicle, </a:t>
            </a:r>
            <a:r>
              <a:rPr lang="en" altLang="zh-CN" sz="1800" kern="0" dirty="0" err="1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FrontVehicle</a:t>
            </a:r>
            <a:r>
              <a:rPr lang="en" altLang="zh-CN" sz="1800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) → </a:t>
            </a:r>
            <a:r>
              <a:rPr lang="en" altLang="zh-CN" sz="1800" kern="0" dirty="0" err="1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SlowDown</a:t>
            </a:r>
            <a:r>
              <a:rPr lang="en" altLang="zh-CN" sz="1800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(Vehicle)</a:t>
            </a:r>
          </a:p>
          <a:p>
            <a:pPr marL="0" indent="0">
              <a:lnSpc>
                <a:spcPct val="115000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rPr lang="zh-CN" altLang="en-US" sz="1800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   如果前方车辆速度过快，且车辆接近，车辆应减速。</a:t>
            </a:r>
          </a:p>
          <a:p>
            <a:pPr marL="0" indent="0">
              <a:lnSpc>
                <a:spcPct val="115000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rPr lang="zh-CN" altLang="en-US" sz="1800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   </a:t>
            </a:r>
            <a:r>
              <a:rPr lang="en" altLang="zh-CN" sz="1800" kern="0" dirty="0" err="1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VehicleSpeed</a:t>
            </a:r>
            <a:r>
              <a:rPr lang="en" altLang="zh-CN" sz="1800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" altLang="zh-CN" sz="1800" kern="0" dirty="0" err="1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FrontVehicle</a:t>
            </a:r>
            <a:r>
              <a:rPr lang="en" altLang="zh-CN" sz="1800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, Fast) ∧ Near(Vehicle, </a:t>
            </a:r>
            <a:r>
              <a:rPr lang="en" altLang="zh-CN" sz="1800" kern="0" dirty="0" err="1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FrontVehicle</a:t>
            </a:r>
            <a:r>
              <a:rPr lang="en" altLang="zh-CN" sz="1800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) → </a:t>
            </a:r>
            <a:r>
              <a:rPr lang="en" altLang="zh-CN" sz="1800" kern="0" dirty="0" err="1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SlowDown</a:t>
            </a:r>
            <a:r>
              <a:rPr lang="en" altLang="zh-CN" sz="1800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(Vehicle)</a:t>
            </a:r>
          </a:p>
        </p:txBody>
      </p:sp>
    </p:spTree>
    <p:extLst>
      <p:ext uri="{BB962C8B-B14F-4D97-AF65-F5344CB8AC3E}">
        <p14:creationId xmlns:p14="http://schemas.microsoft.com/office/powerpoint/2010/main" val="365548864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>
            <a:extLst>
              <a:ext uri="{FF2B5EF4-FFF2-40B4-BE49-F238E27FC236}">
                <a16:creationId xmlns:a16="http://schemas.microsoft.com/office/drawing/2014/main" id="{CD30538A-32A3-54D2-046A-40718036F1E0}"/>
              </a:ext>
            </a:extLst>
          </p:cNvPr>
          <p:cNvSpPr txBox="1">
            <a:spLocks/>
          </p:cNvSpPr>
          <p:nvPr/>
        </p:nvSpPr>
        <p:spPr>
          <a:xfrm>
            <a:off x="552342" y="485383"/>
            <a:ext cx="8806446" cy="11448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zh-CN" altLang="en-US" sz="3600" dirty="0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案例</a:t>
            </a:r>
            <a:r>
              <a:rPr lang="en-US" altLang="zh-CN" sz="3600" dirty="0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2</a:t>
            </a:r>
            <a:r>
              <a:rPr lang="zh-CN" altLang="en-US" sz="3600" dirty="0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：</a:t>
            </a:r>
            <a:r>
              <a:rPr lang="zh-CN" altLang="en-US" sz="2700" dirty="0">
                <a:solidFill>
                  <a:schemeClr val="accent1">
                    <a:lumMod val="75000"/>
                  </a:schemeClr>
                </a:solidFill>
                <a:effectLst/>
                <a:latin typeface=".AppleSystemUIFont"/>
              </a:rPr>
              <a:t>复杂自动驾驶场景推理与决策</a:t>
            </a:r>
            <a:br>
              <a:rPr lang="zh-CN" altLang="en-US" dirty="0">
                <a:solidFill>
                  <a:srgbClr val="0E0E0E"/>
                </a:solidFill>
                <a:latin typeface=".AppleSystemUIFont"/>
              </a:rPr>
            </a:br>
            <a:endParaRPr lang="zh-CN" altLang="en-US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A50B065-C853-900E-719E-42EE4797EB96}"/>
              </a:ext>
            </a:extLst>
          </p:cNvPr>
          <p:cNvSpPr txBox="1"/>
          <p:nvPr/>
        </p:nvSpPr>
        <p:spPr>
          <a:xfrm>
            <a:off x="0" y="1204521"/>
            <a:ext cx="3142527" cy="520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defRPr/>
            </a:pPr>
            <a:r>
              <a:rPr lang="zh-CN" altLang="en-US" sz="2400" dirty="0">
                <a:solidFill>
                  <a:schemeClr val="accent1">
                    <a:lumMod val="75000"/>
                  </a:schemeClr>
                </a:solidFill>
                <a:latin typeface=".AppleSystemUIFont"/>
                <a:ea typeface="+mj-ea"/>
                <a:cs typeface="+mj-cs"/>
              </a:rPr>
              <a:t>（</a:t>
            </a:r>
            <a:r>
              <a:rPr lang="en-US" altLang="zh-CN" sz="2400" dirty="0">
                <a:solidFill>
                  <a:schemeClr val="accent1">
                    <a:lumMod val="75000"/>
                  </a:schemeClr>
                </a:solidFill>
                <a:latin typeface=".AppleSystemUIFont"/>
                <a:ea typeface="+mj-ea"/>
                <a:cs typeface="+mj-cs"/>
              </a:rPr>
              <a:t>2</a:t>
            </a:r>
            <a:r>
              <a:rPr lang="zh-CN" altLang="en-US" sz="2400" dirty="0">
                <a:solidFill>
                  <a:schemeClr val="accent1">
                    <a:lumMod val="75000"/>
                  </a:schemeClr>
                </a:solidFill>
                <a:latin typeface=".AppleSystemUIFont"/>
                <a:ea typeface="+mj-ea"/>
                <a:cs typeface="+mj-cs"/>
              </a:rPr>
              <a:t>）谓词公式 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FBBEF39C-C746-A553-93A7-DEFABE5F73C0}"/>
              </a:ext>
            </a:extLst>
          </p:cNvPr>
          <p:cNvSpPr txBox="1"/>
          <p:nvPr/>
        </p:nvSpPr>
        <p:spPr>
          <a:xfrm>
            <a:off x="266834" y="1817710"/>
            <a:ext cx="10798563" cy="39444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115000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rPr lang="en-US" altLang="zh-CN" sz="1800" kern="0" dirty="0">
                <a:solidFill>
                  <a:srgbClr val="FF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F</a:t>
            </a:r>
            <a:r>
              <a:rPr lang="en-US" altLang="zh-CN" sz="1800" kern="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4</a:t>
            </a:r>
            <a:r>
              <a:rPr lang="zh-CN" altLang="en-US" sz="1800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：紧急车辆规则</a:t>
            </a:r>
          </a:p>
          <a:p>
            <a:pPr marL="0" indent="0">
              <a:lnSpc>
                <a:spcPct val="115000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rPr lang="zh-CN" altLang="en-US" sz="1800" kern="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   如果后方有急救车且正在发出警报，其他车辆必须给急救车让路。</a:t>
            </a:r>
          </a:p>
          <a:p>
            <a:pPr marL="0" indent="0">
              <a:lnSpc>
                <a:spcPct val="115000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rPr lang="zh-CN" altLang="en-US" sz="1800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   </a:t>
            </a:r>
            <a:r>
              <a:rPr lang="en" altLang="zh-CN" sz="1800" kern="0" dirty="0" err="1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EmergencyVehicle</a:t>
            </a:r>
            <a:r>
              <a:rPr lang="en" altLang="zh-CN" sz="1800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(EV) ∧ </a:t>
            </a:r>
            <a:r>
              <a:rPr lang="en" altLang="zh-CN" sz="1800" kern="0" dirty="0" err="1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SirenActive</a:t>
            </a:r>
            <a:r>
              <a:rPr lang="en" altLang="zh-CN" sz="1800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(EV)→ Yield(EV)</a:t>
            </a:r>
          </a:p>
          <a:p>
            <a:pPr marL="0" indent="0">
              <a:lnSpc>
                <a:spcPct val="115000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rPr lang="en-US" altLang="zh-CN" sz="1800" kern="0" dirty="0">
                <a:solidFill>
                  <a:srgbClr val="FF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F</a:t>
            </a:r>
            <a:r>
              <a:rPr lang="en-US" altLang="zh-CN" sz="1800" kern="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5</a:t>
            </a:r>
            <a:r>
              <a:rPr lang="zh-CN" altLang="en-US" sz="1800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：路况信息规则</a:t>
            </a:r>
            <a:endParaRPr lang="en-US" altLang="zh-CN" sz="1800" kern="0" dirty="0">
              <a:effectLst/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indent="0">
              <a:lnSpc>
                <a:spcPct val="115000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rPr lang="zh-CN" altLang="en-US" sz="1800" kern="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   如果前方道路上有坑洼且限速为</a:t>
            </a:r>
            <a:r>
              <a:rPr lang="en-US" altLang="zh-CN" sz="1800" kern="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30</a:t>
            </a:r>
            <a:r>
              <a:rPr lang="en" altLang="zh-CN" sz="1800" kern="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km/h</a:t>
            </a:r>
            <a:r>
              <a:rPr lang="zh-CN" altLang="en" sz="1800" kern="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lang="zh-CN" altLang="en-US" sz="1800" kern="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车辆应减速。</a:t>
            </a:r>
          </a:p>
          <a:p>
            <a:pPr marL="0" indent="0">
              <a:lnSpc>
                <a:spcPct val="115000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rPr lang="zh-CN" altLang="en-US" sz="1800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   </a:t>
            </a:r>
            <a:r>
              <a:rPr lang="en" altLang="zh-CN" sz="1800" kern="0" dirty="0" err="1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RoadCondition</a:t>
            </a:r>
            <a:r>
              <a:rPr lang="en" altLang="zh-CN" sz="1800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(Pothole) ∧ </a:t>
            </a:r>
            <a:r>
              <a:rPr lang="en" altLang="zh-CN" sz="1800" kern="0" dirty="0" err="1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RoadSpeedLimit</a:t>
            </a:r>
            <a:r>
              <a:rPr lang="en" altLang="zh-CN" sz="1800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(Road, 30) → </a:t>
            </a:r>
            <a:r>
              <a:rPr lang="en" altLang="zh-CN" sz="1800" kern="0" dirty="0" err="1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SlowDown</a:t>
            </a:r>
            <a:r>
              <a:rPr lang="en" altLang="zh-CN" sz="1800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(Vehicle)</a:t>
            </a:r>
            <a:endParaRPr lang="en-US" altLang="zh-CN" sz="1800" kern="0" dirty="0"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indent="0">
              <a:lnSpc>
                <a:spcPct val="115000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rPr lang="en-US" altLang="zh-CN" sz="1800" kern="0" dirty="0">
                <a:solidFill>
                  <a:srgbClr val="FF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F</a:t>
            </a:r>
            <a:r>
              <a:rPr lang="en-US" altLang="zh-CN" sz="1800" kern="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6</a:t>
            </a:r>
            <a:r>
              <a:rPr lang="zh-CN" altLang="en-US" sz="1800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：车辆速度规则</a:t>
            </a:r>
            <a:endParaRPr lang="en-US" altLang="zh-CN" sz="1800" kern="0" dirty="0">
              <a:effectLst/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indent="0">
              <a:lnSpc>
                <a:spcPct val="115000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rPr lang="zh-CN" altLang="en-US" sz="1800" kern="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   如果车辆的速度超过限速，车辆应减速。</a:t>
            </a:r>
          </a:p>
          <a:p>
            <a:pPr marL="0" indent="0">
              <a:lnSpc>
                <a:spcPct val="115000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rPr lang="zh-CN" altLang="en-US" sz="1800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   </a:t>
            </a:r>
            <a:r>
              <a:rPr lang="en" altLang="zh-CN" sz="1800" kern="0" dirty="0" err="1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VehicleSpeed</a:t>
            </a:r>
            <a:r>
              <a:rPr lang="en" altLang="zh-CN" sz="1800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(Vehicle, Speed) ∧ Speed &gt; </a:t>
            </a:r>
            <a:r>
              <a:rPr lang="en" altLang="zh-CN" sz="1800" kern="0" dirty="0" err="1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SpeedLimit</a:t>
            </a:r>
            <a:r>
              <a:rPr lang="en" altLang="zh-CN" sz="1800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(Road</a:t>
            </a:r>
            <a:r>
              <a:rPr lang="zh-CN" altLang="en-US" kern="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lang="en-US" altLang="zh-CN" kern="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S</a:t>
            </a:r>
            <a:r>
              <a:rPr lang="en" altLang="zh-CN" sz="1800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) → </a:t>
            </a:r>
            <a:r>
              <a:rPr lang="en" altLang="zh-CN" sz="1800" kern="0" dirty="0" err="1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SlowDown</a:t>
            </a:r>
            <a:r>
              <a:rPr lang="en" altLang="zh-CN" sz="1800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(Vehicle)</a:t>
            </a:r>
          </a:p>
        </p:txBody>
      </p:sp>
    </p:spTree>
    <p:extLst>
      <p:ext uri="{BB962C8B-B14F-4D97-AF65-F5344CB8AC3E}">
        <p14:creationId xmlns:p14="http://schemas.microsoft.com/office/powerpoint/2010/main" val="30354455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76803" name="Rectangle 3"/>
              <p:cNvSpPr>
                <a:spLocks noGrp="1" noChangeArrowheads="1"/>
              </p:cNvSpPr>
              <p:nvPr>
                <p:ph idx="1"/>
              </p:nvPr>
            </p:nvSpPr>
            <p:spPr>
              <a:xfrm>
                <a:off x="895724" y="1779736"/>
                <a:ext cx="11296276" cy="4928805"/>
              </a:xfrm>
            </p:spPr>
            <p:txBody>
              <a:bodyPr>
                <a:normAutofit/>
              </a:bodyPr>
              <a:lstStyle/>
              <a:p>
                <a:pPr marL="0" lvl="0" indent="0">
                  <a:lnSpc>
                    <a:spcPct val="115000"/>
                  </a:lnSpc>
                  <a:spcBef>
                    <a:spcPts val="500"/>
                  </a:spcBef>
                  <a:spcAft>
                    <a:spcPts val="500"/>
                  </a:spcAft>
                  <a:buNone/>
                </a:pPr>
                <a:r>
                  <a:rPr lang="zh-CN" altLang="en-US" sz="1800" kern="0" dirty="0">
                    <a:effectLst/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rPr>
                  <a:t>步骤</a:t>
                </a:r>
                <a:r>
                  <a:rPr lang="en-US" altLang="zh-CN" sz="1800" kern="0" dirty="0">
                    <a:effectLst/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rPr>
                  <a:t>1</a:t>
                </a:r>
                <a:r>
                  <a:rPr lang="zh-CN" altLang="en-US" sz="1800" kern="0" dirty="0">
                    <a:effectLst/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rPr>
                  <a:t>：转化为子句集</a:t>
                </a:r>
                <a:endParaRPr lang="en-US" altLang="zh-CN" sz="1800" kern="0" dirty="0">
                  <a:effectLst/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pPr marL="0" lvl="0" indent="0">
                  <a:lnSpc>
                    <a:spcPct val="115000"/>
                  </a:lnSpc>
                  <a:spcBef>
                    <a:spcPts val="500"/>
                  </a:spcBef>
                  <a:spcAft>
                    <a:spcPts val="500"/>
                  </a:spcAft>
                  <a:buNone/>
                </a:pPr>
                <a:r>
                  <a:rPr lang="en-US" altLang="zh-CN" sz="1800" kern="0" dirty="0">
                    <a:effectLst/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rPr>
                  <a:t>S1 = {</a:t>
                </a:r>
                <a:r>
                  <a:rPr lang="en" altLang="zh-CN" sz="1800" kern="0" dirty="0"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rPr>
                  <a:t>¬</a:t>
                </a:r>
                <a:r>
                  <a:rPr lang="en-US" altLang="zh-CN" sz="1800" kern="0" dirty="0" err="1">
                    <a:effectLst/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rPr>
                  <a:t>TrafficSignal</a:t>
                </a:r>
                <a:r>
                  <a:rPr lang="en-US" altLang="zh-CN" sz="1800" kern="0" dirty="0">
                    <a:effectLst/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rPr>
                  <a:t>(</a:t>
                </a:r>
                <a:r>
                  <a:rPr lang="en-US" altLang="zh-CN" sz="1800" kern="0" dirty="0" err="1">
                    <a:effectLst/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rPr>
                  <a:t>TrafficLight,Red</a:t>
                </a:r>
                <a:r>
                  <a:rPr lang="en-US" altLang="zh-CN" sz="1800" kern="0" dirty="0">
                    <a:effectLst/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rPr>
                  <a:t>)</a:t>
                </a:r>
                <a:r>
                  <a:rPr lang="en" altLang="zh-CN" sz="1800" kern="0" dirty="0"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rPr>
                  <a:t>∨</a:t>
                </a:r>
                <a:r>
                  <a:rPr lang="en-US" altLang="zh-CN" sz="1800" kern="0" dirty="0">
                    <a:effectLst/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rPr>
                  <a:t>Stop(Vehicle)</a:t>
                </a:r>
                <a:r>
                  <a:rPr lang="zh-CN" altLang="en-US" sz="1800" kern="0" dirty="0">
                    <a:effectLst/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rPr>
                  <a:t>， </a:t>
                </a:r>
                <a:r>
                  <a:rPr lang="en" altLang="zh-CN" sz="1800" kern="0" dirty="0"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rPr>
                  <a:t>¬</a:t>
                </a:r>
                <a:r>
                  <a:rPr lang="en" altLang="zh-CN" sz="1800" kern="0" dirty="0" err="1">
                    <a:effectLst/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rPr>
                  <a:t>TrafficSignal</a:t>
                </a:r>
                <a:r>
                  <a:rPr lang="en" altLang="zh-CN" sz="1800" kern="0" dirty="0">
                    <a:effectLst/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rPr>
                  <a:t>(</a:t>
                </a:r>
                <a:r>
                  <a:rPr lang="en" altLang="zh-CN" sz="1800" kern="0" dirty="0" err="1">
                    <a:effectLst/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rPr>
                  <a:t>TrafficLight,Green</a:t>
                </a:r>
                <a:r>
                  <a:rPr lang="en" altLang="zh-CN" sz="1800" kern="0" dirty="0">
                    <a:effectLst/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rPr>
                  <a:t>)</a:t>
                </a:r>
                <a:r>
                  <a:rPr lang="en" altLang="zh-CN" sz="1800" kern="0" dirty="0"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rPr>
                  <a:t>∨</a:t>
                </a:r>
                <a:r>
                  <a:rPr lang="en" altLang="zh-CN" sz="1800" kern="0" dirty="0" err="1">
                    <a:effectLst/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rPr>
                  <a:t>PedestrianNear</a:t>
                </a:r>
                <a:r>
                  <a:rPr lang="en" altLang="zh-CN" sz="1800" kern="0" dirty="0">
                    <a:effectLst/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rPr>
                  <a:t>(Pedestrian)</a:t>
                </a:r>
                <a:r>
                  <a:rPr lang="en" altLang="zh-CN" sz="1800" kern="0" dirty="0"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rPr>
                  <a:t>∨</a:t>
                </a:r>
                <a:r>
                  <a:rPr lang="en" altLang="zh-CN" sz="1800" kern="0" dirty="0">
                    <a:effectLst/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rPr>
                  <a:t>Proceed(Vehicle)</a:t>
                </a:r>
                <a:r>
                  <a:rPr lang="zh-CN" altLang="en-US" sz="1800" kern="0" dirty="0">
                    <a:effectLst/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rPr>
                  <a:t>，</a:t>
                </a:r>
                <a:endParaRPr lang="en-US" altLang="zh-CN" sz="1800" kern="0" dirty="0">
                  <a:effectLst/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15000"/>
                  </a:lnSpc>
                  <a:spcBef>
                    <a:spcPts val="500"/>
                  </a:spcBef>
                  <a:spcAft>
                    <a:spcPts val="500"/>
                  </a:spcAft>
                  <a:buNone/>
                </a:pPr>
                <a:r>
                  <a:rPr lang="en" altLang="zh-CN" sz="1800" kern="0" dirty="0"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rPr>
                  <a:t>¬</a:t>
                </a:r>
                <a:r>
                  <a:rPr lang="en" altLang="zh-CN" sz="1800" kern="0" dirty="0" err="1">
                    <a:effectLst/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rPr>
                  <a:t>TrafficSignal</a:t>
                </a:r>
                <a:r>
                  <a:rPr lang="en" altLang="zh-CN" sz="1800" kern="0" dirty="0">
                    <a:effectLst/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rPr>
                  <a:t>(</a:t>
                </a:r>
                <a:r>
                  <a:rPr lang="en" altLang="zh-CN" sz="1800" kern="0" dirty="0" err="1">
                    <a:effectLst/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rPr>
                  <a:t>TrafficLight,Yellow</a:t>
                </a:r>
                <a:r>
                  <a:rPr lang="en" altLang="zh-CN" sz="1800" kern="0" dirty="0">
                    <a:effectLst/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rPr>
                  <a:t>)</a:t>
                </a:r>
                <a:r>
                  <a:rPr lang="en" altLang="zh-CN" sz="1800" kern="0" dirty="0"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rPr>
                  <a:t>∨¬</a:t>
                </a:r>
                <a:r>
                  <a:rPr lang="en" altLang="zh-CN" sz="1800" kern="0" dirty="0">
                    <a:effectLst/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rPr>
                  <a:t>Near(</a:t>
                </a:r>
                <a:r>
                  <a:rPr lang="en" altLang="zh-CN" sz="1800" kern="0" dirty="0" err="1">
                    <a:effectLst/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rPr>
                  <a:t>Vehicle,Intersection</a:t>
                </a:r>
                <a:r>
                  <a:rPr lang="en" altLang="zh-CN" sz="1800" kern="0" dirty="0">
                    <a:effectLst/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rPr>
                  <a:t>)</a:t>
                </a:r>
                <a:r>
                  <a:rPr lang="en" altLang="zh-CN" sz="1800" kern="0" dirty="0"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rPr>
                  <a:t>∨</a:t>
                </a:r>
                <a:r>
                  <a:rPr lang="en" altLang="zh-CN" sz="1800" kern="0" dirty="0" err="1">
                    <a:effectLst/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rPr>
                  <a:t>SlowDown</a:t>
                </a:r>
                <a:r>
                  <a:rPr lang="en" altLang="zh-CN" sz="1800" kern="0" dirty="0">
                    <a:effectLst/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rPr>
                  <a:t>(Vehicle)</a:t>
                </a:r>
                <a:r>
                  <a:rPr lang="zh-CN" altLang="en-US" sz="1800" kern="0" dirty="0">
                    <a:effectLst/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rPr>
                  <a:t>，</a:t>
                </a:r>
                <a:endParaRPr lang="en-US" altLang="zh-CN" sz="1800" kern="0" dirty="0">
                  <a:effectLst/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15000"/>
                  </a:lnSpc>
                  <a:spcBef>
                    <a:spcPts val="500"/>
                  </a:spcBef>
                  <a:spcAft>
                    <a:spcPts val="500"/>
                  </a:spcAft>
                  <a:buNone/>
                </a:pPr>
                <a:r>
                  <a:rPr lang="en" altLang="zh-CN" sz="1800" kern="0" dirty="0"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rPr>
                  <a:t>¬</a:t>
                </a:r>
                <a:r>
                  <a:rPr lang="en" altLang="zh-CN" sz="1800" kern="0" dirty="0" err="1">
                    <a:effectLst/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rPr>
                  <a:t>CrossRoadSignal</a:t>
                </a:r>
                <a:r>
                  <a:rPr lang="en" altLang="zh-CN" sz="1800" kern="0" dirty="0">
                    <a:effectLst/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rPr>
                  <a:t>(</a:t>
                </a:r>
                <a:r>
                  <a:rPr lang="en" altLang="zh-CN" sz="1800" kern="0" dirty="0" err="1">
                    <a:effectLst/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rPr>
                  <a:t>CrosswalkSignal,Green</a:t>
                </a:r>
                <a:r>
                  <a:rPr lang="en" altLang="zh-CN" sz="1800" kern="0" dirty="0">
                    <a:effectLst/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rPr>
                  <a:t>)</a:t>
                </a:r>
                <a:r>
                  <a:rPr lang="en" altLang="zh-CN" sz="1800" kern="0" dirty="0"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rPr>
                  <a:t>∨</a:t>
                </a:r>
                <a:r>
                  <a:rPr lang="en" altLang="zh-CN" sz="1800" kern="0" dirty="0">
                    <a:effectLst/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rPr>
                  <a:t>Proceed(Vehicle)</a:t>
                </a:r>
                <a:r>
                  <a:rPr lang="zh-CN" altLang="en-US" sz="1800" kern="0" dirty="0">
                    <a:effectLst/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rPr>
                  <a:t>，</a:t>
                </a:r>
                <a:endParaRPr lang="en-US" altLang="zh-CN" sz="1800" kern="0" dirty="0">
                  <a:effectLst/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15000"/>
                  </a:lnSpc>
                  <a:spcBef>
                    <a:spcPts val="500"/>
                  </a:spcBef>
                  <a:spcAft>
                    <a:spcPts val="500"/>
                  </a:spcAft>
                  <a:buNone/>
                </a:pPr>
                <a:r>
                  <a:rPr lang="en" altLang="zh-CN" sz="1800" kern="0" dirty="0"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rPr>
                  <a:t>¬</a:t>
                </a:r>
                <a:r>
                  <a:rPr lang="en" altLang="zh-CN" sz="1800" kern="0" dirty="0" err="1">
                    <a:effectLst/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rPr>
                  <a:t>PedestrianNear</a:t>
                </a:r>
                <a:r>
                  <a:rPr lang="en" altLang="zh-CN" sz="1800" kern="0" dirty="0">
                    <a:effectLst/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rPr>
                  <a:t>(Pedestrian)</a:t>
                </a:r>
                <a:r>
                  <a:rPr lang="en" altLang="zh-CN" sz="1800" kern="0" dirty="0"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rPr>
                  <a:t>∨</a:t>
                </a:r>
                <a:r>
                  <a:rPr lang="en" altLang="zh-CN" sz="1800" kern="0" dirty="0">
                    <a:effectLst/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rPr>
                  <a:t>Stop(Vehicle)</a:t>
                </a:r>
                <a:r>
                  <a:rPr lang="zh-CN" altLang="en-US" sz="1800" kern="0" dirty="0">
                    <a:effectLst/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rPr>
                  <a:t>，</a:t>
                </a:r>
                <a:r>
                  <a:rPr lang="en" altLang="zh-CN" sz="1800" kern="0" dirty="0"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rPr>
                  <a:t>¬</a:t>
                </a:r>
                <a:r>
                  <a:rPr lang="en" altLang="zh-CN" sz="1800" kern="0" dirty="0" err="1">
                    <a:effectLst/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rPr>
                  <a:t>PedestrianFar</a:t>
                </a:r>
                <a:r>
                  <a:rPr lang="en" altLang="zh-CN" sz="1800" kern="0" dirty="0">
                    <a:effectLst/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rPr>
                  <a:t>(Pedestrian)</a:t>
                </a:r>
                <a:r>
                  <a:rPr lang="en" altLang="zh-CN" sz="1800" kern="0" dirty="0"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rPr>
                  <a:t>∨</a:t>
                </a:r>
                <a:r>
                  <a:rPr lang="en" altLang="zh-CN" sz="1800" kern="0" dirty="0">
                    <a:effectLst/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rPr>
                  <a:t>Proceed(Vehicle)</a:t>
                </a:r>
                <a:r>
                  <a:rPr lang="zh-CN" altLang="en-US" sz="1800" kern="0" dirty="0">
                    <a:effectLst/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rPr>
                  <a:t>，</a:t>
                </a:r>
                <a:endParaRPr lang="en-US" altLang="zh-CN" sz="1800" kern="0" dirty="0">
                  <a:effectLst/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15000"/>
                  </a:lnSpc>
                  <a:spcBef>
                    <a:spcPts val="500"/>
                  </a:spcBef>
                  <a:spcAft>
                    <a:spcPts val="500"/>
                  </a:spcAft>
                  <a:buNone/>
                </a:pPr>
                <a:r>
                  <a:rPr lang="en" altLang="zh-CN" sz="1800" kern="0" dirty="0"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rPr>
                  <a:t>¬</a:t>
                </a:r>
                <a:r>
                  <a:rPr lang="en" altLang="zh-CN" sz="1800" kern="0" dirty="0" err="1">
                    <a:effectLst/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rPr>
                  <a:t>VehicleChangLane</a:t>
                </a:r>
                <a:r>
                  <a:rPr lang="en" altLang="zh-CN" sz="1800" kern="0" dirty="0">
                    <a:effectLst/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rPr>
                  <a:t>(</a:t>
                </a:r>
                <a:r>
                  <a:rPr lang="en" altLang="zh-CN" sz="1800" kern="0" dirty="0" err="1">
                    <a:effectLst/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rPr>
                  <a:t>FrontVehicle</a:t>
                </a:r>
                <a:r>
                  <a:rPr lang="en" altLang="zh-CN" sz="1800" kern="0" dirty="0">
                    <a:effectLst/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rPr>
                  <a:t>)</a:t>
                </a:r>
                <a:r>
                  <a:rPr lang="en" altLang="zh-CN" sz="1800" kern="0" dirty="0"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rPr>
                  <a:t>∨¬</a:t>
                </a:r>
                <a:r>
                  <a:rPr lang="en" altLang="zh-CN" sz="1800" kern="0" dirty="0">
                    <a:effectLst/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rPr>
                  <a:t>Near(Vehicle, </a:t>
                </a:r>
                <a:r>
                  <a:rPr lang="en" altLang="zh-CN" sz="1800" kern="0" dirty="0" err="1">
                    <a:effectLst/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rPr>
                  <a:t>FrontVehicle</a:t>
                </a:r>
                <a:r>
                  <a:rPr lang="en" altLang="zh-CN" sz="1800" kern="0" dirty="0">
                    <a:effectLst/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rPr>
                  <a:t>)</a:t>
                </a:r>
                <a:r>
                  <a:rPr lang="en" altLang="zh-CN" sz="1800" kern="0" dirty="0"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rPr>
                  <a:t>∨</a:t>
                </a:r>
                <a:r>
                  <a:rPr lang="en" altLang="zh-CN" sz="1800" kern="0" dirty="0" err="1">
                    <a:effectLst/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rPr>
                  <a:t>SlowDown</a:t>
                </a:r>
                <a:r>
                  <a:rPr lang="en" altLang="zh-CN" sz="1800" kern="0" dirty="0">
                    <a:effectLst/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rPr>
                  <a:t>(Vehicle)</a:t>
                </a:r>
                <a:r>
                  <a:rPr lang="zh-CN" altLang="en-US" sz="1800" kern="0" dirty="0">
                    <a:effectLst/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rPr>
                  <a:t>，</a:t>
                </a:r>
                <a:endParaRPr lang="en-US" altLang="zh-CN" sz="1800" kern="0" dirty="0">
                  <a:effectLst/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15000"/>
                  </a:lnSpc>
                  <a:spcBef>
                    <a:spcPts val="500"/>
                  </a:spcBef>
                  <a:spcAft>
                    <a:spcPts val="500"/>
                  </a:spcAft>
                  <a:buNone/>
                </a:pPr>
                <a:r>
                  <a:rPr lang="en" altLang="zh-CN" sz="1800" kern="0" dirty="0"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rPr>
                  <a:t>¬</a:t>
                </a:r>
                <a:r>
                  <a:rPr lang="en" altLang="zh-CN" sz="1800" kern="0" dirty="0" err="1">
                    <a:effectLst/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rPr>
                  <a:t>VehicleSpeed</a:t>
                </a:r>
                <a:r>
                  <a:rPr lang="en" altLang="zh-CN" sz="1800" kern="0" dirty="0">
                    <a:effectLst/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rPr>
                  <a:t>(</a:t>
                </a:r>
                <a:r>
                  <a:rPr lang="en" altLang="zh-CN" sz="1800" kern="0" dirty="0" err="1">
                    <a:effectLst/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rPr>
                  <a:t>FrontVehicle,Fast</a:t>
                </a:r>
                <a:r>
                  <a:rPr lang="en" altLang="zh-CN" sz="1800" kern="0" dirty="0">
                    <a:effectLst/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rPr>
                  <a:t>)</a:t>
                </a:r>
                <a:r>
                  <a:rPr lang="en" altLang="zh-CN" sz="1800" kern="0" dirty="0"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rPr>
                  <a:t>∨¬</a:t>
                </a:r>
                <a:r>
                  <a:rPr lang="en" altLang="zh-CN" sz="1800" kern="0" dirty="0">
                    <a:effectLst/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rPr>
                  <a:t>Near(Vehicle, </a:t>
                </a:r>
                <a:r>
                  <a:rPr lang="en" altLang="zh-CN" sz="1800" kern="0" dirty="0" err="1">
                    <a:effectLst/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rPr>
                  <a:t>FrontVehicle</a:t>
                </a:r>
                <a:r>
                  <a:rPr lang="en" altLang="zh-CN" sz="1800" kern="0" dirty="0">
                    <a:effectLst/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rPr>
                  <a:t>)</a:t>
                </a:r>
                <a:r>
                  <a:rPr lang="en" altLang="zh-CN" sz="1800" kern="0" dirty="0"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rPr>
                  <a:t>∨</a:t>
                </a:r>
                <a:r>
                  <a:rPr lang="en" altLang="zh-CN" sz="1800" kern="0" dirty="0" err="1">
                    <a:effectLst/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rPr>
                  <a:t>SlowDown</a:t>
                </a:r>
                <a:r>
                  <a:rPr lang="en" altLang="zh-CN" sz="1800" kern="0" dirty="0">
                    <a:effectLst/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rPr>
                  <a:t>(Vehicle)</a:t>
                </a:r>
                <a:r>
                  <a:rPr lang="zh-CN" altLang="en-US" sz="1800" kern="0" dirty="0">
                    <a:effectLst/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rPr>
                  <a:t>，</a:t>
                </a:r>
                <a:endParaRPr lang="en-US" altLang="zh-CN" sz="1800" kern="0" dirty="0">
                  <a:effectLst/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15000"/>
                  </a:lnSpc>
                  <a:spcBef>
                    <a:spcPts val="500"/>
                  </a:spcBef>
                  <a:spcAft>
                    <a:spcPts val="500"/>
                  </a:spcAft>
                  <a:buNone/>
                </a:pPr>
                <a:r>
                  <a:rPr lang="en" altLang="zh-CN" sz="1800" kern="0" dirty="0"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rPr>
                  <a:t>¬</a:t>
                </a:r>
                <a:r>
                  <a:rPr lang="en" altLang="zh-CN" sz="1800" kern="0" dirty="0" err="1">
                    <a:effectLst/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rPr>
                  <a:t>EmergencyVehicle</a:t>
                </a:r>
                <a:r>
                  <a:rPr lang="en" altLang="zh-CN" sz="1800" kern="0" dirty="0">
                    <a:effectLst/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rPr>
                  <a:t>(EV)</a:t>
                </a:r>
                <a:r>
                  <a:rPr lang="en" altLang="zh-CN" sz="1800" kern="0" dirty="0"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rPr>
                  <a:t>∨¬</a:t>
                </a:r>
                <a:r>
                  <a:rPr lang="en" altLang="zh-CN" sz="1800" kern="0" dirty="0" err="1">
                    <a:effectLst/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rPr>
                  <a:t>SirenActive</a:t>
                </a:r>
                <a:r>
                  <a:rPr lang="en" altLang="zh-CN" sz="1800" kern="0" dirty="0">
                    <a:effectLst/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rPr>
                  <a:t>(EV)</a:t>
                </a:r>
                <a:r>
                  <a:rPr lang="en" altLang="zh-CN" sz="1800" kern="0" dirty="0"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rPr>
                  <a:t>∨</a:t>
                </a:r>
                <a:r>
                  <a:rPr lang="en" altLang="zh-CN" sz="1800" kern="0" dirty="0">
                    <a:effectLst/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rPr>
                  <a:t>Yield(EV)</a:t>
                </a:r>
                <a:r>
                  <a:rPr lang="zh-CN" altLang="en-US" sz="1800" kern="0" dirty="0">
                    <a:effectLst/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rPr>
                  <a:t>，</a:t>
                </a:r>
                <a:endParaRPr lang="en-US" altLang="zh-CN" sz="1800" kern="0" dirty="0">
                  <a:effectLst/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15000"/>
                  </a:lnSpc>
                  <a:spcBef>
                    <a:spcPts val="500"/>
                  </a:spcBef>
                  <a:spcAft>
                    <a:spcPts val="500"/>
                  </a:spcAft>
                  <a:buNone/>
                </a:pPr>
                <a:r>
                  <a:rPr lang="en" altLang="zh-CN" sz="1800" kern="0" dirty="0"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rPr>
                  <a:t>¬</a:t>
                </a:r>
                <a:r>
                  <a:rPr lang="en" altLang="zh-CN" sz="1800" kern="0" dirty="0" err="1">
                    <a:effectLst/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rPr>
                  <a:t>RoadCondition</a:t>
                </a:r>
                <a:r>
                  <a:rPr lang="en" altLang="zh-CN" sz="1800" kern="0" dirty="0">
                    <a:effectLst/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rPr>
                  <a:t>(Pothole)</a:t>
                </a:r>
                <a:r>
                  <a:rPr lang="en" altLang="zh-CN" sz="1800" kern="0" dirty="0"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rPr>
                  <a:t>∨¬</a:t>
                </a:r>
                <a:r>
                  <a:rPr lang="en" altLang="zh-CN" sz="1800" kern="0" dirty="0" err="1">
                    <a:effectLst/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rPr>
                  <a:t>RoadSpeedLimit</a:t>
                </a:r>
                <a:r>
                  <a:rPr lang="en" altLang="zh-CN" sz="1800" kern="0" dirty="0">
                    <a:effectLst/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rPr>
                  <a:t>(Road,30)</a:t>
                </a:r>
                <a:r>
                  <a:rPr lang="en" altLang="zh-CN" sz="1800" kern="0" dirty="0"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rPr>
                  <a:t>∨</a:t>
                </a:r>
                <a:r>
                  <a:rPr lang="en" altLang="zh-CN" sz="1800" kern="0" dirty="0" err="1">
                    <a:effectLst/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rPr>
                  <a:t>SlowDown</a:t>
                </a:r>
                <a:r>
                  <a:rPr lang="en" altLang="zh-CN" sz="1800" kern="0" dirty="0">
                    <a:effectLst/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rPr>
                  <a:t>(Vehicle)</a:t>
                </a:r>
                <a:r>
                  <a:rPr lang="zh-CN" altLang="en-US" sz="1800" kern="0" dirty="0">
                    <a:effectLst/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rPr>
                  <a:t>，</a:t>
                </a:r>
                <a:endParaRPr lang="en-US" altLang="zh-CN" sz="1800" kern="0" dirty="0">
                  <a:effectLst/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15000"/>
                  </a:lnSpc>
                  <a:spcBef>
                    <a:spcPts val="500"/>
                  </a:spcBef>
                  <a:spcAft>
                    <a:spcPts val="500"/>
                  </a:spcAft>
                  <a:buNone/>
                </a:pPr>
                <a:r>
                  <a:rPr lang="en" altLang="zh-CN" sz="1800" kern="0" dirty="0"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rPr>
                  <a:t>¬</a:t>
                </a:r>
                <a:r>
                  <a:rPr lang="en" altLang="zh-CN" sz="1800" kern="0" dirty="0" err="1">
                    <a:effectLst/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rPr>
                  <a:t>VehicleSpeed</a:t>
                </a:r>
                <a:r>
                  <a:rPr lang="en" altLang="zh-CN" sz="1800" kern="0" dirty="0">
                    <a:effectLst/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rPr>
                  <a:t>(Vehicle, Speed)</a:t>
                </a:r>
                <a:r>
                  <a:rPr lang="en" altLang="zh-CN" sz="1800" kern="0" dirty="0"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rPr>
                  <a:t>∨</a:t>
                </a:r>
                <a:r>
                  <a:rPr lang="en" altLang="zh-CN" sz="1800" kern="0" dirty="0">
                    <a:effectLst/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rPr>
                  <a:t>Speed </a:t>
                </a:r>
                <a14:m>
                  <m:oMath xmlns:m="http://schemas.openxmlformats.org/officeDocument/2006/math">
                    <m:r>
                      <a:rPr lang="en" altLang="zh-CN" sz="1800" i="1" kern="0" smtClean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≤</m:t>
                    </m:r>
                  </m:oMath>
                </a14:m>
                <a:r>
                  <a:rPr lang="en" altLang="zh-CN" sz="1800" kern="0" dirty="0">
                    <a:effectLst/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rPr>
                  <a:t> </a:t>
                </a:r>
                <a:r>
                  <a:rPr lang="en" altLang="zh-CN" sz="1800" kern="0" dirty="0" err="1">
                    <a:effectLst/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rPr>
                  <a:t>SpeedLimit</a:t>
                </a:r>
                <a:r>
                  <a:rPr lang="en" altLang="zh-CN" sz="1800" kern="0" dirty="0">
                    <a:effectLst/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rPr>
                  <a:t>(Road</a:t>
                </a:r>
                <a:r>
                  <a:rPr lang="en-US" altLang="zh-CN" sz="1800" kern="0" dirty="0">
                    <a:effectLst/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rPr>
                  <a:t>S</a:t>
                </a:r>
                <a:r>
                  <a:rPr lang="en" altLang="zh-CN" sz="1800" kern="0" dirty="0">
                    <a:effectLst/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rPr>
                  <a:t>)</a:t>
                </a:r>
                <a:r>
                  <a:rPr lang="en" altLang="zh-CN" sz="1800" kern="0" dirty="0"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rPr>
                  <a:t>∨</a:t>
                </a:r>
                <a:r>
                  <a:rPr lang="en" altLang="zh-CN" sz="1800" kern="0" dirty="0" err="1">
                    <a:effectLst/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rPr>
                  <a:t>SlowDown</a:t>
                </a:r>
                <a:r>
                  <a:rPr lang="en" altLang="zh-CN" sz="1800" kern="0" dirty="0">
                    <a:effectLst/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rPr>
                  <a:t>(Vehicle)</a:t>
                </a:r>
                <a:r>
                  <a:rPr lang="en-US" altLang="zh-CN" sz="1800" kern="0" dirty="0"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rPr>
                  <a:t>}</a:t>
                </a:r>
              </a:p>
              <a:p>
                <a:pPr marL="0" indent="0">
                  <a:lnSpc>
                    <a:spcPct val="115000"/>
                  </a:lnSpc>
                  <a:spcBef>
                    <a:spcPts val="500"/>
                  </a:spcBef>
                  <a:spcAft>
                    <a:spcPts val="500"/>
                  </a:spcAft>
                  <a:buNone/>
                </a:pPr>
                <a:endParaRPr lang="en" altLang="zh-CN" sz="1800" kern="0" dirty="0">
                  <a:effectLst/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15000"/>
                  </a:lnSpc>
                  <a:spcBef>
                    <a:spcPts val="500"/>
                  </a:spcBef>
                  <a:spcAft>
                    <a:spcPts val="500"/>
                  </a:spcAft>
                  <a:buNone/>
                </a:pPr>
                <a:endParaRPr lang="en-US" altLang="zh-CN" sz="1800" kern="0" dirty="0">
                  <a:effectLst/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15000"/>
                  </a:lnSpc>
                  <a:spcBef>
                    <a:spcPts val="500"/>
                  </a:spcBef>
                  <a:spcAft>
                    <a:spcPts val="500"/>
                  </a:spcAft>
                  <a:buNone/>
                </a:pPr>
                <a:endParaRPr lang="en-US" altLang="zh-CN" sz="1800" kern="0" dirty="0"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15000"/>
                  </a:lnSpc>
                  <a:spcBef>
                    <a:spcPts val="500"/>
                  </a:spcBef>
                  <a:spcAft>
                    <a:spcPts val="500"/>
                  </a:spcAft>
                  <a:buNone/>
                </a:pPr>
                <a:endParaRPr lang="en-US" altLang="zh-CN" sz="1800" kern="0" dirty="0">
                  <a:effectLst/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15000"/>
                  </a:lnSpc>
                  <a:spcBef>
                    <a:spcPts val="500"/>
                  </a:spcBef>
                  <a:spcAft>
                    <a:spcPts val="500"/>
                  </a:spcAft>
                  <a:buNone/>
                </a:pPr>
                <a:endParaRPr lang="en" altLang="zh-CN" sz="1800" kern="0" dirty="0">
                  <a:effectLst/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15000"/>
                  </a:lnSpc>
                  <a:spcBef>
                    <a:spcPts val="500"/>
                  </a:spcBef>
                  <a:spcAft>
                    <a:spcPts val="500"/>
                  </a:spcAft>
                  <a:buNone/>
                </a:pPr>
                <a:endParaRPr lang="en-US" altLang="zh-CN" sz="1800" kern="0" dirty="0">
                  <a:effectLst/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15000"/>
                  </a:lnSpc>
                  <a:spcBef>
                    <a:spcPts val="500"/>
                  </a:spcBef>
                  <a:spcAft>
                    <a:spcPts val="500"/>
                  </a:spcAft>
                  <a:buNone/>
                </a:pPr>
                <a:endParaRPr lang="en" altLang="zh-CN" sz="1800" kern="0" dirty="0">
                  <a:effectLst/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15000"/>
                  </a:lnSpc>
                  <a:spcBef>
                    <a:spcPts val="500"/>
                  </a:spcBef>
                  <a:spcAft>
                    <a:spcPts val="500"/>
                  </a:spcAft>
                  <a:buNone/>
                </a:pPr>
                <a:endParaRPr lang="en-US" altLang="zh-CN" sz="1800" kern="0" dirty="0">
                  <a:effectLst/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15000"/>
                  </a:lnSpc>
                  <a:spcBef>
                    <a:spcPts val="500"/>
                  </a:spcBef>
                  <a:spcAft>
                    <a:spcPts val="500"/>
                  </a:spcAft>
                  <a:buNone/>
                </a:pPr>
                <a:endParaRPr lang="en-US" altLang="zh-CN" sz="1800" kern="0" dirty="0">
                  <a:effectLst/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15000"/>
                  </a:lnSpc>
                  <a:spcBef>
                    <a:spcPts val="500"/>
                  </a:spcBef>
                  <a:spcAft>
                    <a:spcPts val="500"/>
                  </a:spcAft>
                  <a:buNone/>
                </a:pPr>
                <a:endParaRPr lang="en-US" altLang="zh-CN" sz="1800" kern="0" dirty="0">
                  <a:effectLst/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15000"/>
                  </a:lnSpc>
                  <a:spcBef>
                    <a:spcPts val="500"/>
                  </a:spcBef>
                  <a:spcAft>
                    <a:spcPts val="500"/>
                  </a:spcAft>
                  <a:buNone/>
                </a:pPr>
                <a:endParaRPr lang="en" altLang="zh-CN" sz="1800" kern="0" dirty="0">
                  <a:effectLst/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15000"/>
                  </a:lnSpc>
                  <a:spcBef>
                    <a:spcPts val="500"/>
                  </a:spcBef>
                  <a:spcAft>
                    <a:spcPts val="500"/>
                  </a:spcAft>
                  <a:buNone/>
                </a:pPr>
                <a:endParaRPr lang="en" altLang="zh-CN" sz="1800" kern="0" dirty="0">
                  <a:effectLst/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15000"/>
                  </a:lnSpc>
                  <a:spcBef>
                    <a:spcPts val="500"/>
                  </a:spcBef>
                  <a:spcAft>
                    <a:spcPts val="500"/>
                  </a:spcAft>
                  <a:buNone/>
                </a:pPr>
                <a:endParaRPr lang="en-US" altLang="zh-CN" sz="1800" kern="0" dirty="0">
                  <a:effectLst/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15000"/>
                  </a:lnSpc>
                  <a:spcBef>
                    <a:spcPts val="500"/>
                  </a:spcBef>
                  <a:spcAft>
                    <a:spcPts val="500"/>
                  </a:spcAft>
                  <a:buNone/>
                </a:pPr>
                <a:endParaRPr lang="en-US" altLang="zh-CN" sz="1800" kern="0" dirty="0">
                  <a:effectLst/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15000"/>
                  </a:lnSpc>
                  <a:spcBef>
                    <a:spcPts val="500"/>
                  </a:spcBef>
                  <a:spcAft>
                    <a:spcPts val="500"/>
                  </a:spcAft>
                  <a:buNone/>
                </a:pPr>
                <a:endParaRPr lang="en" altLang="zh-CN" sz="1800" kern="0" dirty="0">
                  <a:effectLst/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pPr marL="0" lvl="0" indent="0">
                  <a:lnSpc>
                    <a:spcPct val="115000"/>
                  </a:lnSpc>
                  <a:spcBef>
                    <a:spcPts val="500"/>
                  </a:spcBef>
                  <a:spcAft>
                    <a:spcPts val="500"/>
                  </a:spcAft>
                  <a:buNone/>
                </a:pPr>
                <a:endParaRPr lang="en-US" altLang="zh-CN" sz="1800" kern="0" dirty="0">
                  <a:effectLst/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pPr marL="0" lvl="0" indent="0">
                  <a:lnSpc>
                    <a:spcPct val="115000"/>
                  </a:lnSpc>
                  <a:spcBef>
                    <a:spcPts val="500"/>
                  </a:spcBef>
                  <a:spcAft>
                    <a:spcPts val="500"/>
                  </a:spcAft>
                  <a:buNone/>
                </a:pPr>
                <a:endParaRPr lang="en-US" altLang="zh-CN" sz="1800" kern="0" dirty="0">
                  <a:effectLst/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pPr marL="0" lvl="0" indent="0">
                  <a:lnSpc>
                    <a:spcPct val="115000"/>
                  </a:lnSpc>
                  <a:spcBef>
                    <a:spcPts val="500"/>
                  </a:spcBef>
                  <a:spcAft>
                    <a:spcPts val="500"/>
                  </a:spcAft>
                  <a:buNone/>
                </a:pPr>
                <a:endParaRPr lang="en-US" altLang="zh-CN" sz="1800" kern="0" dirty="0">
                  <a:effectLst/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pPr marL="0" lvl="0" indent="0">
                  <a:lnSpc>
                    <a:spcPct val="115000"/>
                  </a:lnSpc>
                  <a:spcBef>
                    <a:spcPts val="500"/>
                  </a:spcBef>
                  <a:spcAft>
                    <a:spcPts val="500"/>
                  </a:spcAft>
                  <a:buNone/>
                </a:pPr>
                <a:endParaRPr lang="en-US" altLang="zh-CN" sz="1800" kern="0" dirty="0">
                  <a:effectLst/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pPr algn="just">
                  <a:lnSpc>
                    <a:spcPct val="120000"/>
                  </a:lnSpc>
                  <a:buNone/>
                </a:pPr>
                <a:endParaRPr kumimoji="1" lang="en-US" altLang="zh-CN" sz="2700" dirty="0">
                  <a:solidFill>
                    <a:srgbClr val="000000"/>
                  </a:solidFill>
                </a:endParaRPr>
              </a:p>
              <a:p>
                <a:pPr algn="just">
                  <a:lnSpc>
                    <a:spcPct val="120000"/>
                  </a:lnSpc>
                  <a:buNone/>
                </a:pPr>
                <a:endParaRPr lang="en-US" altLang="zh-CN" sz="1800" kern="0" dirty="0">
                  <a:effectLst/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pPr algn="just">
                  <a:lnSpc>
                    <a:spcPct val="120000"/>
                  </a:lnSpc>
                  <a:buFontTx/>
                  <a:buNone/>
                </a:pPr>
                <a:endParaRPr kumimoji="1" lang="zh-CN" altLang="en-US" sz="2700" dirty="0">
                  <a:solidFill>
                    <a:srgbClr val="000000"/>
                  </a:solidFill>
                </a:endParaRPr>
              </a:p>
            </p:txBody>
          </p:sp>
        </mc:Choice>
        <mc:Fallback xmlns="">
          <p:sp>
            <p:nvSpPr>
              <p:cNvPr id="76803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95724" y="1779736"/>
                <a:ext cx="11296276" cy="4928805"/>
              </a:xfrm>
              <a:blipFill>
                <a:blip r:embed="rId2"/>
                <a:stretch>
                  <a:fillRect l="-449" t="-77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标题 1">
            <a:extLst>
              <a:ext uri="{FF2B5EF4-FFF2-40B4-BE49-F238E27FC236}">
                <a16:creationId xmlns:a16="http://schemas.microsoft.com/office/drawing/2014/main" id="{CD30538A-32A3-54D2-046A-40718036F1E0}"/>
              </a:ext>
            </a:extLst>
          </p:cNvPr>
          <p:cNvSpPr txBox="1">
            <a:spLocks/>
          </p:cNvSpPr>
          <p:nvPr/>
        </p:nvSpPr>
        <p:spPr>
          <a:xfrm>
            <a:off x="552342" y="485383"/>
            <a:ext cx="8806446" cy="11448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zh-CN" altLang="en-US" sz="3600" dirty="0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案例</a:t>
            </a:r>
            <a:r>
              <a:rPr lang="en-US" altLang="zh-CN" sz="3600" dirty="0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2</a:t>
            </a:r>
            <a:r>
              <a:rPr lang="zh-CN" altLang="en-US" sz="3600" dirty="0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：</a:t>
            </a:r>
            <a:r>
              <a:rPr lang="zh-CN" altLang="en-US" sz="2700" dirty="0">
                <a:solidFill>
                  <a:schemeClr val="accent1">
                    <a:lumMod val="75000"/>
                  </a:schemeClr>
                </a:solidFill>
                <a:effectLst/>
                <a:latin typeface=".AppleSystemUIFont"/>
              </a:rPr>
              <a:t>复杂自动驾驶场景推理与决策</a:t>
            </a:r>
            <a:br>
              <a:rPr lang="zh-CN" altLang="en-US" dirty="0">
                <a:solidFill>
                  <a:srgbClr val="0E0E0E"/>
                </a:solidFill>
                <a:latin typeface=".AppleSystemUIFont"/>
              </a:rPr>
            </a:br>
            <a:endParaRPr lang="zh-CN" altLang="en-US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A50B065-C853-900E-719E-42EE4797EB96}"/>
              </a:ext>
            </a:extLst>
          </p:cNvPr>
          <p:cNvSpPr txBox="1"/>
          <p:nvPr/>
        </p:nvSpPr>
        <p:spPr>
          <a:xfrm>
            <a:off x="358815" y="1259144"/>
            <a:ext cx="3142527" cy="520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defRPr/>
            </a:pPr>
            <a:r>
              <a:rPr lang="zh-CN" altLang="en-US" sz="2400" dirty="0">
                <a:solidFill>
                  <a:schemeClr val="accent1">
                    <a:lumMod val="75000"/>
                  </a:schemeClr>
                </a:solidFill>
                <a:latin typeface=".AppleSystemUIFont"/>
                <a:ea typeface="+mj-ea"/>
                <a:cs typeface="+mj-cs"/>
              </a:rPr>
              <a:t>（</a:t>
            </a:r>
            <a:r>
              <a:rPr lang="en-US" altLang="zh-CN" sz="2400" dirty="0">
                <a:solidFill>
                  <a:schemeClr val="accent1">
                    <a:lumMod val="75000"/>
                  </a:schemeClr>
                </a:solidFill>
                <a:latin typeface=".AppleSystemUIFont"/>
                <a:ea typeface="+mj-ea"/>
                <a:cs typeface="+mj-cs"/>
              </a:rPr>
              <a:t>3</a:t>
            </a:r>
            <a:r>
              <a:rPr lang="zh-CN" altLang="en-US" sz="2400" dirty="0">
                <a:solidFill>
                  <a:schemeClr val="accent1">
                    <a:lumMod val="75000"/>
                  </a:schemeClr>
                </a:solidFill>
                <a:latin typeface=".AppleSystemUIFont"/>
                <a:ea typeface="+mj-ea"/>
                <a:cs typeface="+mj-cs"/>
              </a:rPr>
              <a:t>）子句集</a:t>
            </a:r>
          </a:p>
        </p:txBody>
      </p:sp>
    </p:spTree>
    <p:extLst>
      <p:ext uri="{BB962C8B-B14F-4D97-AF65-F5344CB8AC3E}">
        <p14:creationId xmlns:p14="http://schemas.microsoft.com/office/powerpoint/2010/main" val="1293644356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>
            <a:extLst>
              <a:ext uri="{FF2B5EF4-FFF2-40B4-BE49-F238E27FC236}">
                <a16:creationId xmlns:a16="http://schemas.microsoft.com/office/drawing/2014/main" id="{CD30538A-32A3-54D2-046A-40718036F1E0}"/>
              </a:ext>
            </a:extLst>
          </p:cNvPr>
          <p:cNvSpPr txBox="1">
            <a:spLocks/>
          </p:cNvSpPr>
          <p:nvPr/>
        </p:nvSpPr>
        <p:spPr>
          <a:xfrm>
            <a:off x="552342" y="485383"/>
            <a:ext cx="8806446" cy="11448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zh-CN" altLang="en-US" sz="3600" dirty="0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案例</a:t>
            </a:r>
            <a:r>
              <a:rPr lang="en-US" altLang="zh-CN" sz="3600" dirty="0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2</a:t>
            </a:r>
            <a:r>
              <a:rPr lang="zh-CN" altLang="en-US" sz="3600" dirty="0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：</a:t>
            </a:r>
            <a:r>
              <a:rPr lang="zh-CN" altLang="en-US" sz="2700" dirty="0">
                <a:solidFill>
                  <a:schemeClr val="accent1">
                    <a:lumMod val="75000"/>
                  </a:schemeClr>
                </a:solidFill>
                <a:effectLst/>
                <a:latin typeface=".AppleSystemUIFont"/>
              </a:rPr>
              <a:t>复杂自动驾驶场景推理与决策</a:t>
            </a:r>
            <a:br>
              <a:rPr lang="zh-CN" altLang="en-US" dirty="0">
                <a:solidFill>
                  <a:srgbClr val="0E0E0E"/>
                </a:solidFill>
                <a:latin typeface=".AppleSystemUIFont"/>
              </a:rPr>
            </a:br>
            <a:endParaRPr lang="zh-CN" altLang="en-US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A50B065-C853-900E-719E-42EE4797EB96}"/>
              </a:ext>
            </a:extLst>
          </p:cNvPr>
          <p:cNvSpPr txBox="1"/>
          <p:nvPr/>
        </p:nvSpPr>
        <p:spPr>
          <a:xfrm>
            <a:off x="355573" y="1219509"/>
            <a:ext cx="3142527" cy="520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defRPr/>
            </a:pPr>
            <a:r>
              <a:rPr lang="zh-CN" altLang="en-US" sz="2400" dirty="0">
                <a:solidFill>
                  <a:schemeClr val="accent1">
                    <a:lumMod val="75000"/>
                  </a:schemeClr>
                </a:solidFill>
                <a:latin typeface=".AppleSystemUIFont"/>
                <a:ea typeface="+mj-ea"/>
                <a:cs typeface="+mj-cs"/>
              </a:rPr>
              <a:t>（</a:t>
            </a:r>
            <a:r>
              <a:rPr lang="en-US" altLang="zh-CN" sz="2400" dirty="0">
                <a:solidFill>
                  <a:schemeClr val="accent1">
                    <a:lumMod val="75000"/>
                  </a:schemeClr>
                </a:solidFill>
                <a:latin typeface=".AppleSystemUIFont"/>
                <a:ea typeface="+mj-ea"/>
                <a:cs typeface="+mj-cs"/>
              </a:rPr>
              <a:t>3</a:t>
            </a:r>
            <a:r>
              <a:rPr lang="zh-CN" altLang="en-US" sz="2400" dirty="0">
                <a:solidFill>
                  <a:schemeClr val="accent1">
                    <a:lumMod val="75000"/>
                  </a:schemeClr>
                </a:solidFill>
                <a:latin typeface=".AppleSystemUIFont"/>
                <a:ea typeface="+mj-ea"/>
                <a:cs typeface="+mj-cs"/>
              </a:rPr>
              <a:t>）子句集</a:t>
            </a: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626E3362-57D8-D89C-DEBE-EEBB0A42D414}"/>
              </a:ext>
            </a:extLst>
          </p:cNvPr>
          <p:cNvSpPr txBox="1">
            <a:spLocks noChangeArrowheads="1"/>
          </p:cNvSpPr>
          <p:nvPr/>
        </p:nvSpPr>
        <p:spPr>
          <a:xfrm>
            <a:off x="786882" y="2070733"/>
            <a:ext cx="5815973" cy="43018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5000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rPr lang="zh-CN" altLang="en-US" sz="1800" kern="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步骤</a:t>
            </a:r>
            <a:r>
              <a:rPr lang="en-US" altLang="zh-CN" sz="1800" kern="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en-US" sz="1800" kern="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：把待求解的问题用谓词公式表示，并构成析取式</a:t>
            </a:r>
          </a:p>
          <a:p>
            <a:pPr marL="0" indent="0">
              <a:lnSpc>
                <a:spcPct val="115000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rPr lang="zh-CN" altLang="en-US" sz="1800" kern="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在当前环境下，自动驾驶车辆的最优决策是什么？</a:t>
            </a:r>
            <a:endParaRPr lang="en-US" altLang="zh-CN" sz="1800" kern="0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indent="0">
              <a:lnSpc>
                <a:spcPct val="115000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rPr lang="zh-CN" altLang="en-US" sz="1800" kern="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用谓词表示：</a:t>
            </a:r>
            <a:r>
              <a:rPr lang="en-US" altLang="zh-CN" sz="1800" kern="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Decision(V,A)</a:t>
            </a:r>
            <a:r>
              <a:rPr lang="zh-CN" altLang="en-US" sz="1800" kern="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取其否定：</a:t>
            </a:r>
            <a:endParaRPr lang="en-US" altLang="zh-CN" sz="1800" kern="0" dirty="0"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indent="0">
              <a:lnSpc>
                <a:spcPct val="115000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rPr lang="en" altLang="zh-CN" sz="1800" kern="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¬</a:t>
            </a:r>
            <a:r>
              <a:rPr lang="en-US" altLang="zh-CN" sz="1800" kern="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Decision(V,A)</a:t>
            </a:r>
          </a:p>
          <a:p>
            <a:pPr marL="0" indent="0">
              <a:buNone/>
            </a:pPr>
            <a:r>
              <a:rPr lang="zh-CN" altLang="en-US" sz="1800" kern="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并与谓词 </a:t>
            </a:r>
            <a:r>
              <a:rPr lang="en" altLang="zh-CN" sz="1800" kern="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ANSWER(V,A) </a:t>
            </a:r>
            <a:r>
              <a:rPr lang="zh-CN" altLang="en-US" sz="1800" kern="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结合形成析取式：</a:t>
            </a:r>
          </a:p>
          <a:p>
            <a:pPr marL="0" indent="0">
              <a:buNone/>
            </a:pPr>
            <a:r>
              <a:rPr lang="en" altLang="zh-CN" sz="1800" kern="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¬Decision(V,A)∨ANSWER(V,A)</a:t>
            </a:r>
            <a:endParaRPr lang="en-US" altLang="zh-CN" sz="1800" kern="0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indent="0">
              <a:lnSpc>
                <a:spcPct val="115000"/>
              </a:lnSpc>
              <a:spcBef>
                <a:spcPts val="500"/>
              </a:spcBef>
              <a:spcAft>
                <a:spcPts val="500"/>
              </a:spcAft>
              <a:buNone/>
            </a:pPr>
            <a:endParaRPr lang="en-US" altLang="zh-CN" sz="1800" kern="0" dirty="0"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lnSpc>
                <a:spcPct val="120000"/>
              </a:lnSpc>
              <a:buFont typeface="Arial" panose="020B0604020202020204" pitchFamily="34" charset="0"/>
              <a:buNone/>
            </a:pPr>
            <a:endParaRPr kumimoji="1" lang="en-US" altLang="zh-CN" sz="2700" dirty="0">
              <a:solidFill>
                <a:srgbClr val="000000"/>
              </a:solidFill>
            </a:endParaRPr>
          </a:p>
          <a:p>
            <a:pPr algn="just">
              <a:lnSpc>
                <a:spcPct val="120000"/>
              </a:lnSpc>
              <a:buFont typeface="Arial" panose="020B0604020202020204" pitchFamily="34" charset="0"/>
              <a:buNone/>
            </a:pPr>
            <a:endParaRPr lang="en-US" altLang="zh-CN" sz="1800" kern="0" dirty="0"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lnSpc>
                <a:spcPct val="120000"/>
              </a:lnSpc>
              <a:buFontTx/>
              <a:buNone/>
            </a:pPr>
            <a:endParaRPr kumimoji="1" lang="zh-CN" altLang="en-US" sz="2700" dirty="0">
              <a:solidFill>
                <a:srgbClr val="000000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8ED49BC-49A8-4778-A432-F9FAFB174C82}"/>
              </a:ext>
            </a:extLst>
          </p:cNvPr>
          <p:cNvSpPr txBox="1">
            <a:spLocks noChangeArrowheads="1"/>
          </p:cNvSpPr>
          <p:nvPr/>
        </p:nvSpPr>
        <p:spPr>
          <a:xfrm>
            <a:off x="6880648" y="2070733"/>
            <a:ext cx="5400092" cy="32999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5000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rPr lang="zh-CN" altLang="en-US" sz="1800" kern="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步骤</a:t>
            </a:r>
            <a:r>
              <a:rPr lang="en-US" altLang="zh-CN" sz="1800" kern="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zh-CN" altLang="en-US" sz="1800" kern="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：把析取式化为子句集，并合并到</a:t>
            </a:r>
            <a:r>
              <a:rPr lang="en" altLang="zh-CN" sz="1800" kern="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S1</a:t>
            </a:r>
            <a:r>
              <a:rPr lang="zh-CN" altLang="en" sz="1800" kern="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lang="zh-CN" altLang="en-US" sz="1800" kern="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形成</a:t>
            </a:r>
            <a:r>
              <a:rPr lang="en" altLang="zh-CN" sz="1800" kern="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S</a:t>
            </a:r>
          </a:p>
          <a:p>
            <a:pPr marL="0" indent="0">
              <a:lnSpc>
                <a:spcPct val="115000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rPr lang="zh-CN" altLang="en-US" sz="1800" kern="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将上述问题的析取式转换为子句集</a:t>
            </a:r>
            <a:r>
              <a:rPr lang="en" altLang="zh-CN" sz="1800" kern="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S2 </a:t>
            </a:r>
            <a:r>
              <a:rPr lang="zh-CN" altLang="en" sz="1800" kern="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：</a:t>
            </a:r>
            <a:endParaRPr lang="en" altLang="zh-CN" sz="1800" kern="0" dirty="0"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indent="0">
              <a:lnSpc>
                <a:spcPct val="115000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rPr lang="en" altLang="zh-CN" sz="1800" kern="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S2 = {</a:t>
            </a:r>
            <a:r>
              <a:rPr lang="en" altLang="zh-CN" sz="1800" kern="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¬Decision(V,A)∨ANSWER(V,A)</a:t>
            </a:r>
            <a:r>
              <a:rPr lang="en" altLang="zh-CN" sz="1800" kern="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}</a:t>
            </a:r>
          </a:p>
          <a:p>
            <a:pPr marL="0" indent="0">
              <a:lnSpc>
                <a:spcPct val="115000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rPr lang="zh-CN" altLang="en-US" sz="1800" kern="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合并</a:t>
            </a:r>
            <a:r>
              <a:rPr lang="en" altLang="zh-CN" sz="1800" kern="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S1</a:t>
            </a:r>
            <a:r>
              <a:rPr lang="zh-CN" altLang="en-US" sz="1800" kern="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和</a:t>
            </a:r>
            <a:r>
              <a:rPr lang="en" altLang="zh-CN" sz="1800" kern="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S2 </a:t>
            </a:r>
            <a:r>
              <a:rPr lang="zh-CN" altLang="en" sz="1800" kern="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：</a:t>
            </a:r>
          </a:p>
          <a:p>
            <a:pPr marL="0" indent="0">
              <a:lnSpc>
                <a:spcPct val="115000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rPr lang="en" altLang="zh-CN" sz="1800" kern="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S = S1</a:t>
            </a:r>
            <a:r>
              <a:rPr lang="en-US" altLang="zh-CN" sz="1800" kern="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∪</a:t>
            </a:r>
            <a:r>
              <a:rPr lang="en" altLang="zh-CN" sz="1800" kern="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S2</a:t>
            </a:r>
          </a:p>
          <a:p>
            <a:pPr marL="0" indent="0">
              <a:lnSpc>
                <a:spcPct val="115000"/>
              </a:lnSpc>
              <a:spcBef>
                <a:spcPts val="500"/>
              </a:spcBef>
              <a:spcAft>
                <a:spcPts val="500"/>
              </a:spcAft>
              <a:buNone/>
            </a:pPr>
            <a:endParaRPr lang="en-US" altLang="zh-CN" sz="1800" kern="0" dirty="0"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lnSpc>
                <a:spcPct val="120000"/>
              </a:lnSpc>
              <a:buFont typeface="Arial" panose="020B0604020202020204" pitchFamily="34" charset="0"/>
              <a:buNone/>
            </a:pPr>
            <a:endParaRPr kumimoji="1" lang="en-US" altLang="zh-CN" sz="2700" dirty="0">
              <a:solidFill>
                <a:srgbClr val="000000"/>
              </a:solidFill>
            </a:endParaRPr>
          </a:p>
          <a:p>
            <a:pPr algn="just">
              <a:lnSpc>
                <a:spcPct val="120000"/>
              </a:lnSpc>
              <a:buFont typeface="Arial" panose="020B0604020202020204" pitchFamily="34" charset="0"/>
              <a:buNone/>
            </a:pPr>
            <a:endParaRPr lang="en-US" altLang="zh-CN" sz="1800" kern="0" dirty="0"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lnSpc>
                <a:spcPct val="120000"/>
              </a:lnSpc>
              <a:buFontTx/>
              <a:buNone/>
            </a:pPr>
            <a:endParaRPr kumimoji="1" lang="zh-CN" altLang="en-US" sz="2700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15268646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>
            <a:extLst>
              <a:ext uri="{FF2B5EF4-FFF2-40B4-BE49-F238E27FC236}">
                <a16:creationId xmlns:a16="http://schemas.microsoft.com/office/drawing/2014/main" id="{CD30538A-32A3-54D2-046A-40718036F1E0}"/>
              </a:ext>
            </a:extLst>
          </p:cNvPr>
          <p:cNvSpPr txBox="1">
            <a:spLocks/>
          </p:cNvSpPr>
          <p:nvPr/>
        </p:nvSpPr>
        <p:spPr>
          <a:xfrm>
            <a:off x="552342" y="485383"/>
            <a:ext cx="8806446" cy="11448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zh-CN" altLang="en-US" sz="3600" dirty="0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案例</a:t>
            </a:r>
            <a:r>
              <a:rPr lang="en-US" altLang="zh-CN" sz="3600" dirty="0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2</a:t>
            </a:r>
            <a:r>
              <a:rPr lang="zh-CN" altLang="en-US" sz="3600" dirty="0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：</a:t>
            </a:r>
            <a:r>
              <a:rPr lang="zh-CN" altLang="en-US" sz="2700" dirty="0">
                <a:solidFill>
                  <a:schemeClr val="accent1">
                    <a:lumMod val="75000"/>
                  </a:schemeClr>
                </a:solidFill>
                <a:effectLst/>
                <a:latin typeface=".AppleSystemUIFont"/>
              </a:rPr>
              <a:t>复杂自动驾驶场景推理与决策</a:t>
            </a:r>
            <a:br>
              <a:rPr lang="zh-CN" altLang="en-US" dirty="0">
                <a:solidFill>
                  <a:srgbClr val="0E0E0E"/>
                </a:solidFill>
                <a:latin typeface=".AppleSystemUIFont"/>
              </a:rPr>
            </a:br>
            <a:endParaRPr lang="zh-CN" altLang="en-US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A50B065-C853-900E-719E-42EE4797EB96}"/>
              </a:ext>
            </a:extLst>
          </p:cNvPr>
          <p:cNvSpPr txBox="1"/>
          <p:nvPr/>
        </p:nvSpPr>
        <p:spPr>
          <a:xfrm>
            <a:off x="332423" y="1144409"/>
            <a:ext cx="3142527" cy="520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defRPr/>
            </a:pPr>
            <a:r>
              <a:rPr lang="zh-CN" altLang="en-US" sz="2400" dirty="0">
                <a:solidFill>
                  <a:schemeClr val="accent1">
                    <a:lumMod val="75000"/>
                  </a:schemeClr>
                </a:solidFill>
                <a:latin typeface=".AppleSystemUIFont"/>
                <a:ea typeface="+mj-ea"/>
                <a:cs typeface="+mj-cs"/>
              </a:rPr>
              <a:t>（</a:t>
            </a:r>
            <a:r>
              <a:rPr lang="en-US" altLang="zh-CN" sz="2400" dirty="0">
                <a:solidFill>
                  <a:schemeClr val="accent1">
                    <a:lumMod val="75000"/>
                  </a:schemeClr>
                </a:solidFill>
                <a:latin typeface=".AppleSystemUIFont"/>
                <a:ea typeface="+mj-ea"/>
                <a:cs typeface="+mj-cs"/>
              </a:rPr>
              <a:t>4</a:t>
            </a:r>
            <a:r>
              <a:rPr lang="zh-CN" altLang="en-US" sz="2400" dirty="0">
                <a:solidFill>
                  <a:schemeClr val="accent1">
                    <a:lumMod val="75000"/>
                  </a:schemeClr>
                </a:solidFill>
                <a:latin typeface=".AppleSystemUIFont"/>
                <a:ea typeface="+mj-ea"/>
                <a:cs typeface="+mj-cs"/>
              </a:rPr>
              <a:t>）归结原理归结</a:t>
            </a: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2E04E724-A7FE-51F0-E772-084C6D981E73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552342" y="1764496"/>
            <a:ext cx="11763121" cy="4908309"/>
          </a:xfrm>
        </p:spPr>
        <p:txBody>
          <a:bodyPr>
            <a:normAutofit/>
          </a:bodyPr>
          <a:lstStyle/>
          <a:p>
            <a:pPr marL="0" indent="0">
              <a:lnSpc>
                <a:spcPct val="115000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rPr lang="zh-CN" altLang="en-US" sz="1800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步骤</a:t>
            </a:r>
            <a:r>
              <a:rPr lang="en-US" altLang="zh-CN" sz="1800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1:</a:t>
            </a:r>
            <a:r>
              <a:rPr lang="zh-CN" altLang="en-US" sz="1800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假设</a:t>
            </a:r>
            <a:r>
              <a:rPr lang="en" altLang="zh-CN" sz="1800" kern="0" dirty="0" err="1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TrafficSignal</a:t>
            </a:r>
            <a:r>
              <a:rPr lang="en" altLang="zh-CN" sz="1800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" altLang="zh-CN" sz="1800" kern="0" dirty="0" err="1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TrafficLight,Red</a:t>
            </a:r>
            <a:r>
              <a:rPr lang="en" altLang="zh-CN" sz="1800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en-US" sz="1800" kern="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，跟</a:t>
            </a:r>
            <a:r>
              <a:rPr lang="en-US" altLang="zh-CN" sz="1800" kern="0" dirty="0">
                <a:solidFill>
                  <a:srgbClr val="FF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F1</a:t>
            </a:r>
            <a:r>
              <a:rPr lang="zh-CN" altLang="en-US" sz="1800" kern="0" dirty="0">
                <a:solidFill>
                  <a:srgbClr val="FF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的子句归结</a:t>
            </a:r>
            <a:r>
              <a:rPr lang="zh-CN" altLang="en-US" sz="1800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，车辆应停车：</a:t>
            </a:r>
            <a:r>
              <a:rPr lang="en" altLang="zh-CN" sz="1800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Stop(Vehicle)</a:t>
            </a:r>
          </a:p>
          <a:p>
            <a:pPr marL="0" indent="0">
              <a:lnSpc>
                <a:spcPct val="115000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rPr lang="zh-CN" altLang="en-US" sz="1800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步骤</a:t>
            </a:r>
            <a:r>
              <a:rPr lang="en-US" altLang="zh-CN" sz="1800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2:</a:t>
            </a:r>
            <a:r>
              <a:rPr lang="zh-CN" altLang="en-US" sz="1800" kern="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假设行人靠近车辆</a:t>
            </a:r>
            <a:r>
              <a:rPr lang="en" altLang="zh-CN" sz="1800" kern="0" dirty="0" err="1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PedestrianNear</a:t>
            </a:r>
            <a:r>
              <a:rPr lang="en" altLang="zh-CN" sz="1800" kern="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(Pedestrian)</a:t>
            </a:r>
            <a:r>
              <a:rPr lang="zh-CN" altLang="en-US" sz="1800" kern="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，跟</a:t>
            </a:r>
            <a:r>
              <a:rPr lang="en-US" altLang="zh-CN" sz="1800" kern="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F2</a:t>
            </a:r>
            <a:r>
              <a:rPr lang="zh-CN" altLang="en-US" sz="1800" kern="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的子句归结，</a:t>
            </a:r>
            <a:r>
              <a:rPr lang="zh-CN" altLang="en-US" sz="1800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车辆应停车：</a:t>
            </a:r>
            <a:r>
              <a:rPr lang="en" altLang="zh-CN" sz="1800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Stop(Vehicle)</a:t>
            </a:r>
          </a:p>
          <a:p>
            <a:pPr marL="0" indent="0">
              <a:lnSpc>
                <a:spcPct val="115000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rPr lang="zh-CN" altLang="en-US" sz="1800" kern="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步骤</a:t>
            </a:r>
            <a:r>
              <a:rPr lang="en-US" altLang="zh-CN" sz="1800" kern="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3:</a:t>
            </a:r>
            <a:r>
              <a:rPr lang="zh-CN" altLang="en-US" sz="1800" kern="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假设前方车辆变道且车速过快</a:t>
            </a:r>
            <a:r>
              <a:rPr lang="en" altLang="zh-CN" sz="1800" kern="0" dirty="0" err="1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VehicleChangingLane</a:t>
            </a:r>
            <a:r>
              <a:rPr lang="en" altLang="zh-CN" sz="1800" kern="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" altLang="zh-CN" sz="1800" kern="0" dirty="0" err="1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FrontVehicle</a:t>
            </a:r>
            <a:r>
              <a:rPr lang="en" altLang="zh-CN" sz="1800" kern="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en" altLang="zh-CN" sz="1800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∧</a:t>
            </a:r>
            <a:r>
              <a:rPr lang="en" altLang="zh-CN" sz="1800" kern="0" dirty="0" err="1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VehicleSpeed</a:t>
            </a:r>
            <a:r>
              <a:rPr lang="en" altLang="zh-CN" sz="1800" kern="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" altLang="zh-CN" sz="1800" kern="0" dirty="0" err="1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FrontVehicle,Fast</a:t>
            </a:r>
            <a:r>
              <a:rPr lang="en" altLang="zh-CN" sz="1800" kern="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en-US" sz="1800" kern="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，</a:t>
            </a:r>
            <a:endParaRPr lang="en-US" altLang="zh-CN" sz="1800" kern="0" dirty="0"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indent="0">
              <a:lnSpc>
                <a:spcPct val="115000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rPr lang="zh-CN" altLang="en-US" sz="1800" kern="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      跟</a:t>
            </a:r>
            <a:r>
              <a:rPr lang="en-US" altLang="zh-CN" sz="1800" kern="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F3</a:t>
            </a:r>
            <a:r>
              <a:rPr lang="zh-CN" altLang="en-US" sz="1800" kern="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的子句归结：</a:t>
            </a:r>
            <a:r>
              <a:rPr lang="en" altLang="zh-CN" sz="1800" kern="0" dirty="0" err="1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SlowDown</a:t>
            </a:r>
            <a:r>
              <a:rPr lang="en" altLang="zh-CN" sz="1800" kern="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(Vehicle)</a:t>
            </a:r>
            <a:r>
              <a:rPr lang="zh-CN" altLang="en-US" sz="1800" kern="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，但由于车辆已经停下，减速推理不会影响当前行为。</a:t>
            </a:r>
          </a:p>
          <a:p>
            <a:pPr marL="0" indent="0">
              <a:lnSpc>
                <a:spcPct val="115000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rPr lang="zh-CN" altLang="en-US" sz="1800" kern="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步骤</a:t>
            </a:r>
            <a:r>
              <a:rPr lang="en-US" altLang="zh-CN" sz="1800" kern="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4:</a:t>
            </a:r>
            <a:r>
              <a:rPr lang="zh-CN" altLang="en-US" sz="1800" kern="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假设</a:t>
            </a:r>
            <a:r>
              <a:rPr lang="en" altLang="zh-CN" sz="1800" kern="0" dirty="0" err="1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EmergencyVehicle</a:t>
            </a:r>
            <a:r>
              <a:rPr lang="en" altLang="zh-CN" sz="1800" kern="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(EV)</a:t>
            </a:r>
            <a:r>
              <a:rPr lang="en" altLang="zh-CN" sz="1800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∧</a:t>
            </a:r>
            <a:r>
              <a:rPr lang="en" altLang="zh-CN" sz="1800" kern="0" dirty="0" err="1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SirenActive</a:t>
            </a:r>
            <a:r>
              <a:rPr lang="en" altLang="zh-CN" sz="1800" kern="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(EV)</a:t>
            </a:r>
            <a:r>
              <a:rPr lang="zh-CN" altLang="en-US" sz="1800" kern="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，跟</a:t>
            </a:r>
            <a:r>
              <a:rPr lang="en-US" altLang="zh-CN" sz="1800" kern="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F4</a:t>
            </a:r>
            <a:r>
              <a:rPr lang="zh-CN" altLang="en-US" sz="1800" kern="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的子句归结：</a:t>
            </a:r>
            <a:r>
              <a:rPr lang="en" altLang="zh-CN" sz="1800" kern="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Yield(EV)</a:t>
            </a:r>
          </a:p>
          <a:p>
            <a:pPr marL="0" indent="0">
              <a:buNone/>
            </a:pPr>
            <a:r>
              <a:rPr lang="zh-CN" altLang="en-US" sz="1800" kern="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步骤</a:t>
            </a:r>
            <a:r>
              <a:rPr lang="en-US" altLang="zh-CN" sz="1800" kern="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5:</a:t>
            </a:r>
            <a:r>
              <a:rPr lang="zh-CN" altLang="en-US" sz="1800" kern="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假设</a:t>
            </a:r>
            <a:r>
              <a:rPr lang="en" altLang="zh-CN" sz="1800" kern="0" dirty="0" err="1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RoadCondition</a:t>
            </a:r>
            <a:r>
              <a:rPr lang="en" altLang="zh-CN" sz="1800" kern="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(Pothole)∧</a:t>
            </a:r>
            <a:r>
              <a:rPr lang="en" altLang="zh-CN" sz="1800" kern="0" dirty="0" err="1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RoadSpeedLimit</a:t>
            </a:r>
            <a:r>
              <a:rPr lang="en" altLang="zh-CN" sz="1800" kern="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(Road, 30)</a:t>
            </a:r>
            <a:r>
              <a:rPr lang="zh-CN" altLang="en-US" sz="1800" kern="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，跟</a:t>
            </a:r>
            <a:r>
              <a:rPr lang="en-US" altLang="zh-CN" sz="1800" kern="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F5</a:t>
            </a:r>
            <a:r>
              <a:rPr lang="zh-CN" altLang="en-US" sz="1800" kern="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的子句归结：</a:t>
            </a:r>
            <a:r>
              <a:rPr lang="en" altLang="zh-CN" sz="1800" kern="0" dirty="0" err="1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SlowDown</a:t>
            </a:r>
            <a:r>
              <a:rPr lang="en" altLang="zh-CN" sz="1800" kern="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(Vehicle)</a:t>
            </a:r>
          </a:p>
          <a:p>
            <a:pPr marL="0" indent="0">
              <a:lnSpc>
                <a:spcPct val="115000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rPr lang="zh-CN" altLang="en-US" sz="1800" kern="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      由于</a:t>
            </a:r>
            <a:r>
              <a:rPr lang="zh-CN" altLang="en-US" sz="1800" kern="0" dirty="0">
                <a:solidFill>
                  <a:schemeClr val="accent1">
                    <a:lumMod val="7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步骤</a:t>
            </a:r>
            <a:r>
              <a:rPr lang="en-US" altLang="zh-CN" sz="1800" kern="0" dirty="0">
                <a:solidFill>
                  <a:schemeClr val="accent1">
                    <a:lumMod val="7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en-US" sz="1800" kern="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和</a:t>
            </a:r>
            <a:r>
              <a:rPr lang="zh-CN" altLang="en-US" sz="1800" kern="0" dirty="0">
                <a:solidFill>
                  <a:schemeClr val="accent1">
                    <a:lumMod val="7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步骤</a:t>
            </a:r>
            <a:r>
              <a:rPr lang="en-US" altLang="zh-CN" sz="1800" kern="0" dirty="0">
                <a:solidFill>
                  <a:schemeClr val="accent1">
                    <a:lumMod val="7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en-US" sz="1800" kern="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已经归结出 </a:t>
            </a:r>
            <a:r>
              <a:rPr lang="en" altLang="zh-CN" sz="1800" kern="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Stop(Vehicle)</a:t>
            </a:r>
            <a:r>
              <a:rPr lang="zh-CN" altLang="en-US" sz="1800" kern="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，此规则不会影响最终决策。</a:t>
            </a:r>
          </a:p>
          <a:p>
            <a:pPr marL="0" indent="0">
              <a:buNone/>
            </a:pPr>
            <a:r>
              <a:rPr lang="zh-CN" altLang="en-US" sz="1800" kern="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步骤</a:t>
            </a:r>
            <a:r>
              <a:rPr lang="en-US" altLang="zh-CN" sz="1800" kern="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6:</a:t>
            </a:r>
            <a:r>
              <a:rPr lang="zh-CN" altLang="en-US" sz="1800" kern="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假设</a:t>
            </a:r>
            <a:r>
              <a:rPr lang="en" altLang="zh-CN" sz="1800" kern="0" dirty="0" err="1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VehicleSpeed</a:t>
            </a:r>
            <a:r>
              <a:rPr lang="en" altLang="zh-CN" sz="1800" kern="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" altLang="zh-CN" sz="1800" kern="0" dirty="0" err="1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Vehicle,Speed</a:t>
            </a:r>
            <a:r>
              <a:rPr lang="en" altLang="zh-CN" sz="1800" kern="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)∧Speed&gt;</a:t>
            </a:r>
            <a:r>
              <a:rPr lang="en" altLang="zh-CN" sz="1800" kern="0" dirty="0" err="1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SpeedLimit</a:t>
            </a:r>
            <a:r>
              <a:rPr lang="en" altLang="zh-CN" sz="1800" kern="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" altLang="zh-CN" sz="1800" kern="0" dirty="0" err="1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Road,S</a:t>
            </a:r>
            <a:r>
              <a:rPr lang="en" altLang="zh-CN" sz="1800" kern="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en-US" sz="1800" kern="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，跟</a:t>
            </a:r>
            <a:r>
              <a:rPr lang="en-US" altLang="zh-CN" sz="1800" kern="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F6</a:t>
            </a:r>
            <a:r>
              <a:rPr lang="zh-CN" altLang="en-US" sz="1800" kern="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的子句归结：</a:t>
            </a:r>
            <a:r>
              <a:rPr lang="en" altLang="zh-CN" sz="1800" kern="0" dirty="0" err="1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SlowDown</a:t>
            </a:r>
            <a:r>
              <a:rPr lang="en" altLang="zh-CN" sz="1800" kern="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(Vehicle)</a:t>
            </a:r>
            <a:r>
              <a:rPr lang="zh-CN" altLang="en-US" sz="1800" kern="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，</a:t>
            </a:r>
            <a:endParaRPr lang="en" altLang="zh-CN" sz="1800" kern="0" dirty="0"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indent="0">
              <a:lnSpc>
                <a:spcPct val="115000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rPr lang="zh-CN" altLang="en-US" sz="1800" kern="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      但车辆已经停车，减速无影响。</a:t>
            </a:r>
            <a:endParaRPr lang="en-US" altLang="zh-CN" sz="1800" kern="0" dirty="0"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indent="0">
              <a:lnSpc>
                <a:spcPct val="115000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rPr lang="zh-CN" altLang="en-US" sz="1800" kern="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决策：</a:t>
            </a:r>
            <a:r>
              <a:rPr lang="en" altLang="zh-CN" sz="1800" kern="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Decision(</a:t>
            </a:r>
            <a:r>
              <a:rPr lang="en" altLang="zh-CN" sz="1800" kern="0" dirty="0" err="1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Vehicle,Stop</a:t>
            </a:r>
            <a:r>
              <a:rPr lang="en" altLang="zh-CN" sz="1800" kern="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)∧Decision(</a:t>
            </a:r>
            <a:r>
              <a:rPr lang="en" altLang="zh-CN" sz="1800" kern="0" dirty="0" err="1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Vehicle,Yield</a:t>
            </a:r>
            <a:r>
              <a:rPr lang="en" altLang="zh-CN" sz="1800" kern="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(EV))</a:t>
            </a:r>
            <a:r>
              <a:rPr lang="zh-CN" altLang="en-US" sz="1800" kern="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，即</a:t>
            </a:r>
            <a:r>
              <a:rPr lang="zh-CN" altLang="en-US" sz="1800" kern="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车辆停车且在急救车到达时给其让行</a:t>
            </a:r>
            <a:r>
              <a:rPr lang="zh-CN" altLang="en-US" sz="1800" kern="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。</a:t>
            </a:r>
          </a:p>
          <a:p>
            <a:pPr marL="0" indent="0">
              <a:lnSpc>
                <a:spcPct val="115000"/>
              </a:lnSpc>
              <a:spcBef>
                <a:spcPts val="500"/>
              </a:spcBef>
              <a:spcAft>
                <a:spcPts val="500"/>
              </a:spcAft>
              <a:buNone/>
            </a:pPr>
            <a:endParaRPr lang="en" altLang="zh-CN" sz="1800" kern="0" dirty="0"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indent="0">
              <a:lnSpc>
                <a:spcPct val="115000"/>
              </a:lnSpc>
              <a:spcBef>
                <a:spcPts val="500"/>
              </a:spcBef>
              <a:spcAft>
                <a:spcPts val="500"/>
              </a:spcAft>
              <a:buNone/>
            </a:pPr>
            <a:endParaRPr lang="zh-CN" altLang="en-US" sz="1800" kern="0" dirty="0"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indent="0">
              <a:lnSpc>
                <a:spcPct val="115000"/>
              </a:lnSpc>
              <a:spcBef>
                <a:spcPts val="500"/>
              </a:spcBef>
              <a:spcAft>
                <a:spcPts val="500"/>
              </a:spcAft>
              <a:buNone/>
            </a:pPr>
            <a:endParaRPr lang="en" altLang="zh-CN" sz="1800" kern="0" dirty="0"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indent="0">
              <a:lnSpc>
                <a:spcPct val="115000"/>
              </a:lnSpc>
              <a:spcBef>
                <a:spcPts val="500"/>
              </a:spcBef>
              <a:spcAft>
                <a:spcPts val="500"/>
              </a:spcAft>
              <a:buNone/>
            </a:pPr>
            <a:endParaRPr lang="zh-CN" altLang="en-US" sz="1800" kern="0" dirty="0"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indent="0">
              <a:lnSpc>
                <a:spcPct val="115000"/>
              </a:lnSpc>
              <a:spcBef>
                <a:spcPts val="500"/>
              </a:spcBef>
              <a:spcAft>
                <a:spcPts val="500"/>
              </a:spcAft>
              <a:buNone/>
            </a:pPr>
            <a:endParaRPr lang="en-US" altLang="zh-CN" sz="1800" kern="0" dirty="0">
              <a:effectLst/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lnSpc>
                <a:spcPct val="120000"/>
              </a:lnSpc>
              <a:buNone/>
            </a:pPr>
            <a:endParaRPr lang="en-US" altLang="zh-CN" sz="1800" kern="0" dirty="0">
              <a:effectLst/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lnSpc>
                <a:spcPct val="120000"/>
              </a:lnSpc>
              <a:buFontTx/>
              <a:buNone/>
            </a:pPr>
            <a:endParaRPr kumimoji="1" lang="zh-CN" altLang="en-US" sz="2700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17811157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>
            <a:extLst>
              <a:ext uri="{FF2B5EF4-FFF2-40B4-BE49-F238E27FC236}">
                <a16:creationId xmlns:a16="http://schemas.microsoft.com/office/drawing/2014/main" id="{1138DD02-1C21-EB71-20C9-9DCD71AB6600}"/>
              </a:ext>
            </a:extLst>
          </p:cNvPr>
          <p:cNvSpPr txBox="1">
            <a:spLocks/>
          </p:cNvSpPr>
          <p:nvPr/>
        </p:nvSpPr>
        <p:spPr>
          <a:xfrm>
            <a:off x="552342" y="485383"/>
            <a:ext cx="8806446" cy="11448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zh-CN" altLang="en-US" sz="3600" dirty="0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案例</a:t>
            </a:r>
            <a:r>
              <a:rPr lang="en-US" altLang="zh-CN" sz="3600" dirty="0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2</a:t>
            </a:r>
            <a:r>
              <a:rPr lang="zh-CN" altLang="en-US" sz="3600" dirty="0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：</a:t>
            </a:r>
            <a:r>
              <a:rPr lang="zh-CN" altLang="en-US" sz="2700" dirty="0">
                <a:solidFill>
                  <a:schemeClr val="accent1">
                    <a:lumMod val="75000"/>
                  </a:schemeClr>
                </a:solidFill>
                <a:effectLst/>
                <a:latin typeface=".AppleSystemUIFont"/>
              </a:rPr>
              <a:t>复杂自动驾驶场景推理与决策</a:t>
            </a:r>
            <a:br>
              <a:rPr lang="zh-CN" altLang="en-US" dirty="0">
                <a:solidFill>
                  <a:srgbClr val="0E0E0E"/>
                </a:solidFill>
                <a:latin typeface=".AppleSystemUIFont"/>
              </a:rPr>
            </a:br>
            <a:endParaRPr lang="zh-CN" altLang="en-US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99005733-04F1-A078-3570-3789BE4CC749}"/>
              </a:ext>
            </a:extLst>
          </p:cNvPr>
          <p:cNvSpPr txBox="1"/>
          <p:nvPr/>
        </p:nvSpPr>
        <p:spPr>
          <a:xfrm>
            <a:off x="1057643" y="1519703"/>
            <a:ext cx="7017501" cy="59093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900" dirty="0">
                <a:solidFill>
                  <a:srgbClr val="808080"/>
                </a:solidFill>
                <a:effectLst/>
              </a:rPr>
              <a:t># </a:t>
            </a:r>
            <a:r>
              <a:rPr lang="zh-CN" altLang="en-US" sz="900" dirty="0">
                <a:solidFill>
                  <a:srgbClr val="808080"/>
                </a:solidFill>
                <a:effectLst/>
                <a:latin typeface="Menlo-Regular" panose="020B0609030804020204" pitchFamily="49" charset="0"/>
              </a:rPr>
              <a:t>定义规则和已知事实</a:t>
            </a:r>
            <a:br>
              <a:rPr lang="zh-CN" altLang="en-US" sz="900" dirty="0">
                <a:solidFill>
                  <a:srgbClr val="808080"/>
                </a:solidFill>
                <a:effectLst/>
                <a:latin typeface="Menlo-Regular" panose="020B0609030804020204" pitchFamily="49" charset="0"/>
              </a:rPr>
            </a:br>
            <a:r>
              <a:rPr lang="en" altLang="zh-CN" sz="900" dirty="0">
                <a:solidFill>
                  <a:srgbClr val="CC7832"/>
                </a:solidFill>
                <a:effectLst/>
              </a:rPr>
              <a:t>def </a:t>
            </a:r>
            <a:r>
              <a:rPr lang="en" altLang="zh-CN" sz="900" dirty="0" err="1">
                <a:solidFill>
                  <a:srgbClr val="FFC66D"/>
                </a:solidFill>
                <a:effectLst/>
              </a:rPr>
              <a:t>rules_and_facts</a:t>
            </a:r>
            <a:r>
              <a:rPr lang="en" altLang="zh-CN" sz="900" dirty="0"/>
              <a:t>():</a:t>
            </a:r>
            <a:br>
              <a:rPr lang="en" altLang="zh-CN" sz="900" dirty="0"/>
            </a:br>
            <a:r>
              <a:rPr lang="en" altLang="zh-CN" sz="900" dirty="0"/>
              <a:t>    </a:t>
            </a:r>
            <a:r>
              <a:rPr lang="en" altLang="zh-CN" sz="900" dirty="0">
                <a:solidFill>
                  <a:srgbClr val="808080"/>
                </a:solidFill>
                <a:effectLst/>
              </a:rPr>
              <a:t># </a:t>
            </a:r>
            <a:r>
              <a:rPr lang="zh-CN" altLang="en-US" sz="900" dirty="0">
                <a:solidFill>
                  <a:srgbClr val="808080"/>
                </a:solidFill>
                <a:effectLst/>
                <a:latin typeface="Menlo-Regular" panose="020B0609030804020204" pitchFamily="49" charset="0"/>
              </a:rPr>
              <a:t>规则</a:t>
            </a:r>
            <a:r>
              <a:rPr lang="en-US" altLang="zh-CN" sz="900" dirty="0">
                <a:solidFill>
                  <a:srgbClr val="808080"/>
                </a:solidFill>
                <a:effectLst/>
              </a:rPr>
              <a:t>1</a:t>
            </a:r>
            <a:r>
              <a:rPr lang="zh-CN" altLang="en-US" sz="900" dirty="0">
                <a:solidFill>
                  <a:srgbClr val="808080"/>
                </a:solidFill>
                <a:effectLst/>
                <a:latin typeface="Menlo-Regular" panose="020B0609030804020204" pitchFamily="49" charset="0"/>
              </a:rPr>
              <a:t>：交通信号规则</a:t>
            </a:r>
            <a:br>
              <a:rPr lang="zh-CN" altLang="en-US" sz="900" dirty="0">
                <a:solidFill>
                  <a:srgbClr val="808080"/>
                </a:solidFill>
                <a:effectLst/>
                <a:latin typeface="Menlo-Regular" panose="020B0609030804020204" pitchFamily="49" charset="0"/>
              </a:rPr>
            </a:br>
            <a:r>
              <a:rPr lang="zh-CN" altLang="en-US" sz="900" dirty="0">
                <a:solidFill>
                  <a:srgbClr val="808080"/>
                </a:solidFill>
                <a:effectLst/>
                <a:latin typeface="Menlo-Regular" panose="020B0609030804020204" pitchFamily="49" charset="0"/>
              </a:rPr>
              <a:t>    </a:t>
            </a:r>
            <a:r>
              <a:rPr lang="en" altLang="zh-CN" sz="900" dirty="0">
                <a:solidFill>
                  <a:srgbClr val="CC7832"/>
                </a:solidFill>
                <a:effectLst/>
              </a:rPr>
              <a:t>def </a:t>
            </a:r>
            <a:r>
              <a:rPr lang="en" altLang="zh-CN" sz="900" dirty="0">
                <a:solidFill>
                  <a:srgbClr val="FFC66D"/>
                </a:solidFill>
                <a:effectLst/>
              </a:rPr>
              <a:t>rule1</a:t>
            </a:r>
            <a:r>
              <a:rPr lang="en" altLang="zh-CN" sz="900" dirty="0"/>
              <a:t>():</a:t>
            </a:r>
            <a:br>
              <a:rPr lang="en" altLang="zh-CN" sz="900" dirty="0"/>
            </a:br>
            <a:r>
              <a:rPr lang="en" altLang="zh-CN" sz="900" dirty="0"/>
              <a:t>        </a:t>
            </a:r>
            <a:r>
              <a:rPr lang="en" altLang="zh-CN" sz="900" dirty="0">
                <a:solidFill>
                  <a:srgbClr val="CC7832"/>
                </a:solidFill>
                <a:effectLst/>
              </a:rPr>
              <a:t>return </a:t>
            </a:r>
            <a:r>
              <a:rPr lang="en" altLang="zh-CN" sz="900" dirty="0"/>
              <a:t>[</a:t>
            </a:r>
            <a:br>
              <a:rPr lang="en" altLang="zh-CN" sz="900" dirty="0"/>
            </a:br>
            <a:r>
              <a:rPr lang="en" altLang="zh-CN" sz="900" dirty="0"/>
              <a:t>            </a:t>
            </a:r>
            <a:r>
              <a:rPr lang="en" altLang="zh-CN" sz="900" dirty="0">
                <a:solidFill>
                  <a:srgbClr val="6A8759"/>
                </a:solidFill>
                <a:effectLst/>
              </a:rPr>
              <a:t>"</a:t>
            </a:r>
            <a:r>
              <a:rPr lang="en" altLang="zh-CN" sz="900" dirty="0" err="1">
                <a:solidFill>
                  <a:srgbClr val="6A8759"/>
                </a:solidFill>
                <a:effectLst/>
              </a:rPr>
              <a:t>TrafficSignal</a:t>
            </a:r>
            <a:r>
              <a:rPr lang="en" altLang="zh-CN" sz="900" dirty="0">
                <a:solidFill>
                  <a:srgbClr val="6A8759"/>
                </a:solidFill>
                <a:effectLst/>
              </a:rPr>
              <a:t>(Red) -&gt; Stop(Vehicle)"</a:t>
            </a:r>
            <a:r>
              <a:rPr lang="en" altLang="zh-CN" sz="900" dirty="0">
                <a:solidFill>
                  <a:srgbClr val="CC7832"/>
                </a:solidFill>
                <a:effectLst/>
              </a:rPr>
              <a:t>,</a:t>
            </a:r>
            <a:br>
              <a:rPr lang="en" altLang="zh-CN" sz="900" dirty="0">
                <a:solidFill>
                  <a:srgbClr val="CC7832"/>
                </a:solidFill>
                <a:effectLst/>
              </a:rPr>
            </a:br>
            <a:r>
              <a:rPr lang="en" altLang="zh-CN" sz="900" dirty="0">
                <a:solidFill>
                  <a:srgbClr val="CC7832"/>
                </a:solidFill>
                <a:effectLst/>
              </a:rPr>
              <a:t>            </a:t>
            </a:r>
            <a:r>
              <a:rPr lang="en" altLang="zh-CN" sz="900" dirty="0">
                <a:solidFill>
                  <a:srgbClr val="6A8759"/>
                </a:solidFill>
                <a:effectLst/>
              </a:rPr>
              <a:t>"</a:t>
            </a:r>
            <a:r>
              <a:rPr lang="en" altLang="zh-CN" sz="900" dirty="0" err="1">
                <a:solidFill>
                  <a:srgbClr val="6A8759"/>
                </a:solidFill>
                <a:effectLst/>
              </a:rPr>
              <a:t>TrafficSignal</a:t>
            </a:r>
            <a:r>
              <a:rPr lang="en" altLang="zh-CN" sz="900" dirty="0">
                <a:solidFill>
                  <a:srgbClr val="6A8759"/>
                </a:solidFill>
                <a:effectLst/>
              </a:rPr>
              <a:t>(Green) ∧ ¬</a:t>
            </a:r>
            <a:r>
              <a:rPr lang="en" altLang="zh-CN" sz="900" dirty="0" err="1">
                <a:solidFill>
                  <a:srgbClr val="6A8759"/>
                </a:solidFill>
                <a:effectLst/>
              </a:rPr>
              <a:t>PedestrianNear</a:t>
            </a:r>
            <a:r>
              <a:rPr lang="en" altLang="zh-CN" sz="900" dirty="0">
                <a:solidFill>
                  <a:srgbClr val="6A8759"/>
                </a:solidFill>
                <a:effectLst/>
              </a:rPr>
              <a:t>(Pedestrian) -&gt; Proceed(Vehicle)"</a:t>
            </a:r>
            <a:r>
              <a:rPr lang="en" altLang="zh-CN" sz="900" dirty="0">
                <a:solidFill>
                  <a:srgbClr val="CC7832"/>
                </a:solidFill>
                <a:effectLst/>
              </a:rPr>
              <a:t>,</a:t>
            </a:r>
            <a:br>
              <a:rPr lang="en" altLang="zh-CN" sz="900" dirty="0">
                <a:solidFill>
                  <a:srgbClr val="CC7832"/>
                </a:solidFill>
                <a:effectLst/>
              </a:rPr>
            </a:br>
            <a:r>
              <a:rPr lang="en" altLang="zh-CN" sz="900" dirty="0">
                <a:solidFill>
                  <a:srgbClr val="CC7832"/>
                </a:solidFill>
                <a:effectLst/>
              </a:rPr>
              <a:t>            </a:t>
            </a:r>
            <a:r>
              <a:rPr lang="en" altLang="zh-CN" sz="900" dirty="0">
                <a:solidFill>
                  <a:srgbClr val="6A8759"/>
                </a:solidFill>
                <a:effectLst/>
              </a:rPr>
              <a:t>"</a:t>
            </a:r>
            <a:r>
              <a:rPr lang="en" altLang="zh-CN" sz="900" dirty="0" err="1">
                <a:solidFill>
                  <a:srgbClr val="6A8759"/>
                </a:solidFill>
                <a:effectLst/>
              </a:rPr>
              <a:t>TrafficSignal</a:t>
            </a:r>
            <a:r>
              <a:rPr lang="en" altLang="zh-CN" sz="900" dirty="0">
                <a:solidFill>
                  <a:srgbClr val="6A8759"/>
                </a:solidFill>
                <a:effectLst/>
              </a:rPr>
              <a:t>(Yellow) ∧ Near(Vehicle, Intersection) -&gt; </a:t>
            </a:r>
            <a:r>
              <a:rPr lang="en" altLang="zh-CN" sz="900" dirty="0" err="1">
                <a:solidFill>
                  <a:srgbClr val="6A8759"/>
                </a:solidFill>
                <a:effectLst/>
              </a:rPr>
              <a:t>SlowDown</a:t>
            </a:r>
            <a:r>
              <a:rPr lang="en" altLang="zh-CN" sz="900" dirty="0">
                <a:solidFill>
                  <a:srgbClr val="6A8759"/>
                </a:solidFill>
                <a:effectLst/>
              </a:rPr>
              <a:t>(Vehicle)"</a:t>
            </a:r>
            <a:r>
              <a:rPr lang="en" altLang="zh-CN" sz="900" dirty="0">
                <a:solidFill>
                  <a:srgbClr val="CC7832"/>
                </a:solidFill>
                <a:effectLst/>
              </a:rPr>
              <a:t>,</a:t>
            </a:r>
            <a:br>
              <a:rPr lang="en" altLang="zh-CN" sz="900" dirty="0">
                <a:solidFill>
                  <a:srgbClr val="CC7832"/>
                </a:solidFill>
                <a:effectLst/>
              </a:rPr>
            </a:br>
            <a:r>
              <a:rPr lang="en" altLang="zh-CN" sz="900" dirty="0">
                <a:solidFill>
                  <a:srgbClr val="CC7832"/>
                </a:solidFill>
                <a:effectLst/>
              </a:rPr>
              <a:t>            </a:t>
            </a:r>
            <a:r>
              <a:rPr lang="en" altLang="zh-CN" sz="900" dirty="0">
                <a:solidFill>
                  <a:srgbClr val="6A8759"/>
                </a:solidFill>
                <a:effectLst/>
              </a:rPr>
              <a:t>"</a:t>
            </a:r>
            <a:r>
              <a:rPr lang="en" altLang="zh-CN" sz="900" dirty="0" err="1">
                <a:solidFill>
                  <a:srgbClr val="6A8759"/>
                </a:solidFill>
                <a:effectLst/>
              </a:rPr>
              <a:t>CrossRoadSignal</a:t>
            </a:r>
            <a:r>
              <a:rPr lang="en" altLang="zh-CN" sz="900" dirty="0">
                <a:solidFill>
                  <a:srgbClr val="6A8759"/>
                </a:solidFill>
                <a:effectLst/>
              </a:rPr>
              <a:t>(Green) -&gt; Proceed(Vehicle)"</a:t>
            </a:r>
            <a:br>
              <a:rPr lang="en" altLang="zh-CN" sz="900" dirty="0">
                <a:solidFill>
                  <a:srgbClr val="6A8759"/>
                </a:solidFill>
                <a:effectLst/>
              </a:rPr>
            </a:br>
            <a:r>
              <a:rPr lang="en" altLang="zh-CN" sz="900" dirty="0">
                <a:solidFill>
                  <a:srgbClr val="6A8759"/>
                </a:solidFill>
                <a:effectLst/>
              </a:rPr>
              <a:t>        </a:t>
            </a:r>
            <a:r>
              <a:rPr lang="en" altLang="zh-CN" sz="900" dirty="0"/>
              <a:t>]</a:t>
            </a:r>
            <a:br>
              <a:rPr lang="en" altLang="zh-CN" sz="900" dirty="0"/>
            </a:br>
            <a:r>
              <a:rPr lang="en" altLang="zh-CN" sz="900" dirty="0"/>
              <a:t>    </a:t>
            </a:r>
            <a:r>
              <a:rPr lang="en" altLang="zh-CN" sz="900" dirty="0">
                <a:solidFill>
                  <a:srgbClr val="808080"/>
                </a:solidFill>
                <a:effectLst/>
              </a:rPr>
              <a:t># </a:t>
            </a:r>
            <a:r>
              <a:rPr lang="zh-CN" altLang="en-US" sz="900" dirty="0">
                <a:solidFill>
                  <a:srgbClr val="808080"/>
                </a:solidFill>
                <a:effectLst/>
                <a:latin typeface="Menlo-Regular" panose="020B0609030804020204" pitchFamily="49" charset="0"/>
              </a:rPr>
              <a:t>规则</a:t>
            </a:r>
            <a:r>
              <a:rPr lang="en-US" altLang="zh-CN" sz="900" dirty="0">
                <a:solidFill>
                  <a:srgbClr val="808080"/>
                </a:solidFill>
                <a:effectLst/>
              </a:rPr>
              <a:t>2</a:t>
            </a:r>
            <a:r>
              <a:rPr lang="zh-CN" altLang="en-US" sz="900" dirty="0">
                <a:solidFill>
                  <a:srgbClr val="808080"/>
                </a:solidFill>
                <a:effectLst/>
                <a:latin typeface="Menlo-Regular" panose="020B0609030804020204" pitchFamily="49" charset="0"/>
              </a:rPr>
              <a:t>：行人规则</a:t>
            </a:r>
            <a:br>
              <a:rPr lang="zh-CN" altLang="en-US" sz="900" dirty="0">
                <a:solidFill>
                  <a:srgbClr val="808080"/>
                </a:solidFill>
                <a:effectLst/>
                <a:latin typeface="Menlo-Regular" panose="020B0609030804020204" pitchFamily="49" charset="0"/>
              </a:rPr>
            </a:br>
            <a:r>
              <a:rPr lang="zh-CN" altLang="en-US" sz="900" dirty="0">
                <a:solidFill>
                  <a:srgbClr val="808080"/>
                </a:solidFill>
                <a:effectLst/>
                <a:latin typeface="Menlo-Regular" panose="020B0609030804020204" pitchFamily="49" charset="0"/>
              </a:rPr>
              <a:t>    </a:t>
            </a:r>
            <a:r>
              <a:rPr lang="en" altLang="zh-CN" sz="900" dirty="0">
                <a:solidFill>
                  <a:srgbClr val="CC7832"/>
                </a:solidFill>
                <a:effectLst/>
              </a:rPr>
              <a:t>def </a:t>
            </a:r>
            <a:r>
              <a:rPr lang="en" altLang="zh-CN" sz="900" dirty="0">
                <a:solidFill>
                  <a:srgbClr val="FFC66D"/>
                </a:solidFill>
                <a:effectLst/>
              </a:rPr>
              <a:t>rule2</a:t>
            </a:r>
            <a:r>
              <a:rPr lang="en" altLang="zh-CN" sz="900" dirty="0"/>
              <a:t>():</a:t>
            </a:r>
            <a:br>
              <a:rPr lang="en" altLang="zh-CN" sz="900" dirty="0"/>
            </a:br>
            <a:r>
              <a:rPr lang="en" altLang="zh-CN" sz="900" dirty="0"/>
              <a:t>        </a:t>
            </a:r>
            <a:r>
              <a:rPr lang="en" altLang="zh-CN" sz="900" dirty="0">
                <a:solidFill>
                  <a:srgbClr val="CC7832"/>
                </a:solidFill>
                <a:effectLst/>
              </a:rPr>
              <a:t>return </a:t>
            </a:r>
            <a:r>
              <a:rPr lang="en" altLang="zh-CN" sz="900" dirty="0"/>
              <a:t>[</a:t>
            </a:r>
            <a:br>
              <a:rPr lang="en" altLang="zh-CN" sz="900" dirty="0"/>
            </a:br>
            <a:r>
              <a:rPr lang="en" altLang="zh-CN" sz="900" dirty="0"/>
              <a:t>            </a:t>
            </a:r>
            <a:r>
              <a:rPr lang="en" altLang="zh-CN" sz="900" dirty="0">
                <a:solidFill>
                  <a:srgbClr val="6A8759"/>
                </a:solidFill>
                <a:effectLst/>
              </a:rPr>
              <a:t>"</a:t>
            </a:r>
            <a:r>
              <a:rPr lang="en" altLang="zh-CN" sz="900" dirty="0" err="1">
                <a:solidFill>
                  <a:srgbClr val="6A8759"/>
                </a:solidFill>
                <a:effectLst/>
              </a:rPr>
              <a:t>PedestrianNear</a:t>
            </a:r>
            <a:r>
              <a:rPr lang="en" altLang="zh-CN" sz="900" dirty="0">
                <a:solidFill>
                  <a:srgbClr val="6A8759"/>
                </a:solidFill>
                <a:effectLst/>
              </a:rPr>
              <a:t>(Pedestrian) -&gt; Stop(Vehicle)"</a:t>
            </a:r>
            <a:r>
              <a:rPr lang="en" altLang="zh-CN" sz="900" dirty="0">
                <a:solidFill>
                  <a:srgbClr val="CC7832"/>
                </a:solidFill>
                <a:effectLst/>
              </a:rPr>
              <a:t>,</a:t>
            </a:r>
            <a:br>
              <a:rPr lang="en" altLang="zh-CN" sz="900" dirty="0">
                <a:solidFill>
                  <a:srgbClr val="CC7832"/>
                </a:solidFill>
                <a:effectLst/>
              </a:rPr>
            </a:br>
            <a:r>
              <a:rPr lang="en" altLang="zh-CN" sz="900" dirty="0">
                <a:solidFill>
                  <a:srgbClr val="CC7832"/>
                </a:solidFill>
                <a:effectLst/>
              </a:rPr>
              <a:t>            </a:t>
            </a:r>
            <a:r>
              <a:rPr lang="en" altLang="zh-CN" sz="900" dirty="0">
                <a:solidFill>
                  <a:srgbClr val="6A8759"/>
                </a:solidFill>
                <a:effectLst/>
              </a:rPr>
              <a:t>"</a:t>
            </a:r>
            <a:r>
              <a:rPr lang="en" altLang="zh-CN" sz="900" dirty="0" err="1">
                <a:solidFill>
                  <a:srgbClr val="6A8759"/>
                </a:solidFill>
                <a:effectLst/>
              </a:rPr>
              <a:t>PedestrianFar</a:t>
            </a:r>
            <a:r>
              <a:rPr lang="en" altLang="zh-CN" sz="900" dirty="0">
                <a:solidFill>
                  <a:srgbClr val="6A8759"/>
                </a:solidFill>
                <a:effectLst/>
              </a:rPr>
              <a:t>(Pedestrian) -&gt; Proceed(Vehicle)"</a:t>
            </a:r>
            <a:br>
              <a:rPr lang="en" altLang="zh-CN" sz="900" dirty="0">
                <a:solidFill>
                  <a:srgbClr val="6A8759"/>
                </a:solidFill>
                <a:effectLst/>
              </a:rPr>
            </a:br>
            <a:r>
              <a:rPr lang="en" altLang="zh-CN" sz="900" dirty="0">
                <a:solidFill>
                  <a:srgbClr val="6A8759"/>
                </a:solidFill>
                <a:effectLst/>
              </a:rPr>
              <a:t>        </a:t>
            </a:r>
            <a:r>
              <a:rPr lang="en" altLang="zh-CN" sz="900" dirty="0"/>
              <a:t>]</a:t>
            </a:r>
            <a:br>
              <a:rPr lang="en" altLang="zh-CN" sz="900" dirty="0"/>
            </a:br>
            <a:r>
              <a:rPr lang="en" altLang="zh-CN" sz="900" dirty="0"/>
              <a:t>    </a:t>
            </a:r>
            <a:r>
              <a:rPr lang="en" altLang="zh-CN" sz="900" dirty="0">
                <a:solidFill>
                  <a:srgbClr val="808080"/>
                </a:solidFill>
                <a:effectLst/>
              </a:rPr>
              <a:t># </a:t>
            </a:r>
            <a:r>
              <a:rPr lang="zh-CN" altLang="en-US" sz="900" dirty="0">
                <a:solidFill>
                  <a:srgbClr val="808080"/>
                </a:solidFill>
                <a:effectLst/>
                <a:latin typeface="Menlo-Regular" panose="020B0609030804020204" pitchFamily="49" charset="0"/>
              </a:rPr>
              <a:t>规则</a:t>
            </a:r>
            <a:r>
              <a:rPr lang="en-US" altLang="zh-CN" sz="900" dirty="0">
                <a:solidFill>
                  <a:srgbClr val="808080"/>
                </a:solidFill>
                <a:effectLst/>
              </a:rPr>
              <a:t>3</a:t>
            </a:r>
            <a:r>
              <a:rPr lang="zh-CN" altLang="en-US" sz="900" dirty="0">
                <a:solidFill>
                  <a:srgbClr val="808080"/>
                </a:solidFill>
                <a:effectLst/>
                <a:latin typeface="Menlo-Regular" panose="020B0609030804020204" pitchFamily="49" charset="0"/>
              </a:rPr>
              <a:t>：前方车辆规则</a:t>
            </a:r>
            <a:br>
              <a:rPr lang="zh-CN" altLang="en-US" sz="900" dirty="0">
                <a:solidFill>
                  <a:srgbClr val="808080"/>
                </a:solidFill>
                <a:effectLst/>
                <a:latin typeface="Menlo-Regular" panose="020B0609030804020204" pitchFamily="49" charset="0"/>
              </a:rPr>
            </a:br>
            <a:r>
              <a:rPr lang="zh-CN" altLang="en-US" sz="900" dirty="0">
                <a:solidFill>
                  <a:srgbClr val="808080"/>
                </a:solidFill>
                <a:effectLst/>
                <a:latin typeface="Menlo-Regular" panose="020B0609030804020204" pitchFamily="49" charset="0"/>
              </a:rPr>
              <a:t>    </a:t>
            </a:r>
            <a:r>
              <a:rPr lang="en" altLang="zh-CN" sz="900" dirty="0">
                <a:solidFill>
                  <a:srgbClr val="CC7832"/>
                </a:solidFill>
                <a:effectLst/>
              </a:rPr>
              <a:t>def </a:t>
            </a:r>
            <a:r>
              <a:rPr lang="en" altLang="zh-CN" sz="900" dirty="0">
                <a:solidFill>
                  <a:srgbClr val="FFC66D"/>
                </a:solidFill>
                <a:effectLst/>
              </a:rPr>
              <a:t>rule3</a:t>
            </a:r>
            <a:r>
              <a:rPr lang="en" altLang="zh-CN" sz="900" dirty="0"/>
              <a:t>():</a:t>
            </a:r>
            <a:br>
              <a:rPr lang="en" altLang="zh-CN" sz="900" dirty="0"/>
            </a:br>
            <a:r>
              <a:rPr lang="en" altLang="zh-CN" sz="900" dirty="0"/>
              <a:t>        </a:t>
            </a:r>
            <a:r>
              <a:rPr lang="en" altLang="zh-CN" sz="900" dirty="0">
                <a:solidFill>
                  <a:srgbClr val="CC7832"/>
                </a:solidFill>
                <a:effectLst/>
              </a:rPr>
              <a:t>return </a:t>
            </a:r>
            <a:r>
              <a:rPr lang="en" altLang="zh-CN" sz="900" dirty="0"/>
              <a:t>[</a:t>
            </a:r>
            <a:br>
              <a:rPr lang="en" altLang="zh-CN" sz="900" dirty="0"/>
            </a:br>
            <a:r>
              <a:rPr lang="en" altLang="zh-CN" sz="900" dirty="0"/>
              <a:t>            </a:t>
            </a:r>
            <a:r>
              <a:rPr lang="en" altLang="zh-CN" sz="900" dirty="0">
                <a:solidFill>
                  <a:srgbClr val="6A8759"/>
                </a:solidFill>
                <a:effectLst/>
              </a:rPr>
              <a:t>"</a:t>
            </a:r>
            <a:r>
              <a:rPr lang="en" altLang="zh-CN" sz="900" dirty="0" err="1">
                <a:solidFill>
                  <a:srgbClr val="6A8759"/>
                </a:solidFill>
                <a:effectLst/>
              </a:rPr>
              <a:t>VehicleChangingLane</a:t>
            </a:r>
            <a:r>
              <a:rPr lang="en" altLang="zh-CN" sz="900" dirty="0">
                <a:solidFill>
                  <a:srgbClr val="6A8759"/>
                </a:solidFill>
                <a:effectLst/>
              </a:rPr>
              <a:t>(</a:t>
            </a:r>
            <a:r>
              <a:rPr lang="en" altLang="zh-CN" sz="900" dirty="0" err="1">
                <a:solidFill>
                  <a:srgbClr val="6A8759"/>
                </a:solidFill>
                <a:effectLst/>
              </a:rPr>
              <a:t>FrontVehicle</a:t>
            </a:r>
            <a:r>
              <a:rPr lang="en" altLang="zh-CN" sz="900" dirty="0">
                <a:solidFill>
                  <a:srgbClr val="6A8759"/>
                </a:solidFill>
                <a:effectLst/>
              </a:rPr>
              <a:t>) ∧ Near(Vehicle, </a:t>
            </a:r>
            <a:r>
              <a:rPr lang="en" altLang="zh-CN" sz="900" dirty="0" err="1">
                <a:solidFill>
                  <a:srgbClr val="6A8759"/>
                </a:solidFill>
                <a:effectLst/>
              </a:rPr>
              <a:t>FrontVehicle</a:t>
            </a:r>
            <a:r>
              <a:rPr lang="en" altLang="zh-CN" sz="900" dirty="0">
                <a:solidFill>
                  <a:srgbClr val="6A8759"/>
                </a:solidFill>
                <a:effectLst/>
              </a:rPr>
              <a:t>) -&gt; </a:t>
            </a:r>
            <a:r>
              <a:rPr lang="en" altLang="zh-CN" sz="900" dirty="0" err="1">
                <a:solidFill>
                  <a:srgbClr val="6A8759"/>
                </a:solidFill>
                <a:effectLst/>
              </a:rPr>
              <a:t>SlowDown</a:t>
            </a:r>
            <a:r>
              <a:rPr lang="en" altLang="zh-CN" sz="900" dirty="0">
                <a:solidFill>
                  <a:srgbClr val="6A8759"/>
                </a:solidFill>
                <a:effectLst/>
              </a:rPr>
              <a:t>(Vehicle)"</a:t>
            </a:r>
            <a:r>
              <a:rPr lang="en" altLang="zh-CN" sz="900" dirty="0">
                <a:solidFill>
                  <a:srgbClr val="CC7832"/>
                </a:solidFill>
                <a:effectLst/>
              </a:rPr>
              <a:t>,</a:t>
            </a:r>
            <a:br>
              <a:rPr lang="en" altLang="zh-CN" sz="900" dirty="0">
                <a:solidFill>
                  <a:srgbClr val="CC7832"/>
                </a:solidFill>
                <a:effectLst/>
              </a:rPr>
            </a:br>
            <a:r>
              <a:rPr lang="en" altLang="zh-CN" sz="900" dirty="0">
                <a:solidFill>
                  <a:srgbClr val="CC7832"/>
                </a:solidFill>
                <a:effectLst/>
              </a:rPr>
              <a:t>            </a:t>
            </a:r>
            <a:r>
              <a:rPr lang="en" altLang="zh-CN" sz="900" dirty="0">
                <a:solidFill>
                  <a:srgbClr val="6A8759"/>
                </a:solidFill>
                <a:effectLst/>
              </a:rPr>
              <a:t>"</a:t>
            </a:r>
            <a:r>
              <a:rPr lang="en" altLang="zh-CN" sz="900" dirty="0" err="1">
                <a:solidFill>
                  <a:srgbClr val="6A8759"/>
                </a:solidFill>
                <a:effectLst/>
              </a:rPr>
              <a:t>VehicleSpeed</a:t>
            </a:r>
            <a:r>
              <a:rPr lang="en" altLang="zh-CN" sz="900" dirty="0">
                <a:solidFill>
                  <a:srgbClr val="6A8759"/>
                </a:solidFill>
                <a:effectLst/>
              </a:rPr>
              <a:t>(</a:t>
            </a:r>
            <a:r>
              <a:rPr lang="en" altLang="zh-CN" sz="900" dirty="0" err="1">
                <a:solidFill>
                  <a:srgbClr val="6A8759"/>
                </a:solidFill>
                <a:effectLst/>
              </a:rPr>
              <a:t>FrontVehicle</a:t>
            </a:r>
            <a:r>
              <a:rPr lang="en" altLang="zh-CN" sz="900" dirty="0">
                <a:solidFill>
                  <a:srgbClr val="6A8759"/>
                </a:solidFill>
                <a:effectLst/>
              </a:rPr>
              <a:t>, Fast) ∧ Near(Vehicle, </a:t>
            </a:r>
            <a:r>
              <a:rPr lang="en" altLang="zh-CN" sz="900" dirty="0" err="1">
                <a:solidFill>
                  <a:srgbClr val="6A8759"/>
                </a:solidFill>
                <a:effectLst/>
              </a:rPr>
              <a:t>FrontVehicle</a:t>
            </a:r>
            <a:r>
              <a:rPr lang="en" altLang="zh-CN" sz="900" dirty="0">
                <a:solidFill>
                  <a:srgbClr val="6A8759"/>
                </a:solidFill>
                <a:effectLst/>
              </a:rPr>
              <a:t>) -&gt; </a:t>
            </a:r>
            <a:r>
              <a:rPr lang="en" altLang="zh-CN" sz="900" dirty="0" err="1">
                <a:solidFill>
                  <a:srgbClr val="6A8759"/>
                </a:solidFill>
                <a:effectLst/>
              </a:rPr>
              <a:t>SlowDown</a:t>
            </a:r>
            <a:r>
              <a:rPr lang="en" altLang="zh-CN" sz="900" dirty="0">
                <a:solidFill>
                  <a:srgbClr val="6A8759"/>
                </a:solidFill>
                <a:effectLst/>
              </a:rPr>
              <a:t>(Vehicle)"</a:t>
            </a:r>
            <a:br>
              <a:rPr lang="en" altLang="zh-CN" sz="900" dirty="0">
                <a:solidFill>
                  <a:srgbClr val="6A8759"/>
                </a:solidFill>
                <a:effectLst/>
              </a:rPr>
            </a:br>
            <a:r>
              <a:rPr lang="en" altLang="zh-CN" sz="900" dirty="0">
                <a:solidFill>
                  <a:srgbClr val="6A8759"/>
                </a:solidFill>
                <a:effectLst/>
              </a:rPr>
              <a:t>        </a:t>
            </a:r>
            <a:r>
              <a:rPr lang="en" altLang="zh-CN" sz="900" dirty="0"/>
              <a:t>]</a:t>
            </a:r>
            <a:br>
              <a:rPr lang="en" altLang="zh-CN" sz="900" dirty="0"/>
            </a:br>
            <a:r>
              <a:rPr lang="en" altLang="zh-CN" sz="900" dirty="0"/>
              <a:t>    </a:t>
            </a:r>
            <a:r>
              <a:rPr lang="en" altLang="zh-CN" sz="900" dirty="0">
                <a:solidFill>
                  <a:srgbClr val="808080"/>
                </a:solidFill>
                <a:effectLst/>
              </a:rPr>
              <a:t># </a:t>
            </a:r>
            <a:r>
              <a:rPr lang="zh-CN" altLang="en-US" sz="900" dirty="0">
                <a:solidFill>
                  <a:srgbClr val="808080"/>
                </a:solidFill>
                <a:effectLst/>
                <a:latin typeface="Menlo-Regular" panose="020B0609030804020204" pitchFamily="49" charset="0"/>
              </a:rPr>
              <a:t>规则</a:t>
            </a:r>
            <a:r>
              <a:rPr lang="en-US" altLang="zh-CN" sz="900" dirty="0">
                <a:solidFill>
                  <a:srgbClr val="808080"/>
                </a:solidFill>
                <a:effectLst/>
              </a:rPr>
              <a:t>4</a:t>
            </a:r>
            <a:r>
              <a:rPr lang="zh-CN" altLang="en-US" sz="900" dirty="0">
                <a:solidFill>
                  <a:srgbClr val="808080"/>
                </a:solidFill>
                <a:effectLst/>
                <a:latin typeface="Menlo-Regular" panose="020B0609030804020204" pitchFamily="49" charset="0"/>
              </a:rPr>
              <a:t>：紧急车辆规则</a:t>
            </a:r>
            <a:br>
              <a:rPr lang="zh-CN" altLang="en-US" sz="900" dirty="0">
                <a:solidFill>
                  <a:srgbClr val="808080"/>
                </a:solidFill>
                <a:effectLst/>
                <a:latin typeface="Menlo-Regular" panose="020B0609030804020204" pitchFamily="49" charset="0"/>
              </a:rPr>
            </a:br>
            <a:r>
              <a:rPr lang="zh-CN" altLang="en-US" sz="900" dirty="0">
                <a:solidFill>
                  <a:srgbClr val="808080"/>
                </a:solidFill>
                <a:effectLst/>
                <a:latin typeface="Menlo-Regular" panose="020B0609030804020204" pitchFamily="49" charset="0"/>
              </a:rPr>
              <a:t>    </a:t>
            </a:r>
            <a:r>
              <a:rPr lang="en" altLang="zh-CN" sz="900" dirty="0">
                <a:solidFill>
                  <a:srgbClr val="CC7832"/>
                </a:solidFill>
                <a:effectLst/>
              </a:rPr>
              <a:t>def </a:t>
            </a:r>
            <a:r>
              <a:rPr lang="en" altLang="zh-CN" sz="900" dirty="0">
                <a:solidFill>
                  <a:srgbClr val="FFC66D"/>
                </a:solidFill>
                <a:effectLst/>
              </a:rPr>
              <a:t>rule4</a:t>
            </a:r>
            <a:r>
              <a:rPr lang="en" altLang="zh-CN" sz="900" dirty="0"/>
              <a:t>():</a:t>
            </a:r>
            <a:br>
              <a:rPr lang="en" altLang="zh-CN" sz="900" dirty="0"/>
            </a:br>
            <a:r>
              <a:rPr lang="en" altLang="zh-CN" sz="900" dirty="0"/>
              <a:t>        </a:t>
            </a:r>
            <a:r>
              <a:rPr lang="en" altLang="zh-CN" sz="900" dirty="0">
                <a:solidFill>
                  <a:srgbClr val="CC7832"/>
                </a:solidFill>
                <a:effectLst/>
              </a:rPr>
              <a:t>return </a:t>
            </a:r>
            <a:r>
              <a:rPr lang="en" altLang="zh-CN" sz="900" dirty="0"/>
              <a:t>[</a:t>
            </a:r>
            <a:br>
              <a:rPr lang="en" altLang="zh-CN" sz="900" dirty="0"/>
            </a:br>
            <a:r>
              <a:rPr lang="en" altLang="zh-CN" sz="900" dirty="0"/>
              <a:t>            </a:t>
            </a:r>
            <a:r>
              <a:rPr lang="en" altLang="zh-CN" sz="900" dirty="0">
                <a:solidFill>
                  <a:srgbClr val="6A8759"/>
                </a:solidFill>
                <a:effectLst/>
              </a:rPr>
              <a:t>"</a:t>
            </a:r>
            <a:r>
              <a:rPr lang="en" altLang="zh-CN" sz="900" dirty="0" err="1">
                <a:solidFill>
                  <a:srgbClr val="6A8759"/>
                </a:solidFill>
                <a:effectLst/>
              </a:rPr>
              <a:t>EmergencyVehicle</a:t>
            </a:r>
            <a:r>
              <a:rPr lang="en" altLang="zh-CN" sz="900" dirty="0">
                <a:solidFill>
                  <a:srgbClr val="6A8759"/>
                </a:solidFill>
                <a:effectLst/>
              </a:rPr>
              <a:t>(EV) ∧ </a:t>
            </a:r>
            <a:r>
              <a:rPr lang="en" altLang="zh-CN" sz="900" dirty="0" err="1">
                <a:solidFill>
                  <a:srgbClr val="6A8759"/>
                </a:solidFill>
                <a:effectLst/>
              </a:rPr>
              <a:t>SirenActive</a:t>
            </a:r>
            <a:r>
              <a:rPr lang="en" altLang="zh-CN" sz="900" dirty="0">
                <a:solidFill>
                  <a:srgbClr val="6A8759"/>
                </a:solidFill>
                <a:effectLst/>
              </a:rPr>
              <a:t>(EV) -&gt; Yield(EV)"</a:t>
            </a:r>
            <a:br>
              <a:rPr lang="en" altLang="zh-CN" sz="900" dirty="0">
                <a:solidFill>
                  <a:srgbClr val="6A8759"/>
                </a:solidFill>
                <a:effectLst/>
              </a:rPr>
            </a:br>
            <a:r>
              <a:rPr lang="en" altLang="zh-CN" sz="900" dirty="0">
                <a:solidFill>
                  <a:srgbClr val="6A8759"/>
                </a:solidFill>
                <a:effectLst/>
              </a:rPr>
              <a:t>        </a:t>
            </a:r>
            <a:r>
              <a:rPr lang="en" altLang="zh-CN" sz="900" dirty="0"/>
              <a:t>]</a:t>
            </a:r>
            <a:br>
              <a:rPr lang="en" altLang="zh-CN" sz="900" dirty="0"/>
            </a:br>
            <a:r>
              <a:rPr lang="en" altLang="zh-CN" sz="900" dirty="0"/>
              <a:t>    </a:t>
            </a:r>
            <a:r>
              <a:rPr lang="en" altLang="zh-CN" sz="900" dirty="0">
                <a:solidFill>
                  <a:srgbClr val="808080"/>
                </a:solidFill>
                <a:effectLst/>
              </a:rPr>
              <a:t># </a:t>
            </a:r>
            <a:r>
              <a:rPr lang="zh-CN" altLang="en-US" sz="900" dirty="0">
                <a:solidFill>
                  <a:srgbClr val="808080"/>
                </a:solidFill>
                <a:effectLst/>
                <a:latin typeface="Menlo-Regular" panose="020B0609030804020204" pitchFamily="49" charset="0"/>
              </a:rPr>
              <a:t>规则</a:t>
            </a:r>
            <a:r>
              <a:rPr lang="en-US" altLang="zh-CN" sz="900" dirty="0">
                <a:solidFill>
                  <a:srgbClr val="808080"/>
                </a:solidFill>
                <a:effectLst/>
              </a:rPr>
              <a:t>5</a:t>
            </a:r>
            <a:r>
              <a:rPr lang="zh-CN" altLang="en-US" sz="900" dirty="0">
                <a:solidFill>
                  <a:srgbClr val="808080"/>
                </a:solidFill>
                <a:effectLst/>
                <a:latin typeface="Menlo-Regular" panose="020B0609030804020204" pitchFamily="49" charset="0"/>
              </a:rPr>
              <a:t>：道路状况规则</a:t>
            </a:r>
            <a:br>
              <a:rPr lang="zh-CN" altLang="en-US" sz="900" dirty="0">
                <a:solidFill>
                  <a:srgbClr val="808080"/>
                </a:solidFill>
                <a:effectLst/>
                <a:latin typeface="Menlo-Regular" panose="020B0609030804020204" pitchFamily="49" charset="0"/>
              </a:rPr>
            </a:br>
            <a:r>
              <a:rPr lang="zh-CN" altLang="en-US" sz="900" dirty="0">
                <a:solidFill>
                  <a:srgbClr val="808080"/>
                </a:solidFill>
                <a:effectLst/>
                <a:latin typeface="Menlo-Regular" panose="020B0609030804020204" pitchFamily="49" charset="0"/>
              </a:rPr>
              <a:t>    </a:t>
            </a:r>
            <a:r>
              <a:rPr lang="en" altLang="zh-CN" sz="900" dirty="0">
                <a:solidFill>
                  <a:srgbClr val="CC7832"/>
                </a:solidFill>
                <a:effectLst/>
              </a:rPr>
              <a:t>def </a:t>
            </a:r>
            <a:r>
              <a:rPr lang="en" altLang="zh-CN" sz="900" dirty="0">
                <a:solidFill>
                  <a:srgbClr val="FFC66D"/>
                </a:solidFill>
                <a:effectLst/>
              </a:rPr>
              <a:t>rule5</a:t>
            </a:r>
            <a:r>
              <a:rPr lang="en" altLang="zh-CN" sz="900" dirty="0"/>
              <a:t>():</a:t>
            </a:r>
            <a:br>
              <a:rPr lang="en" altLang="zh-CN" sz="900" dirty="0"/>
            </a:br>
            <a:r>
              <a:rPr lang="en" altLang="zh-CN" sz="900" dirty="0"/>
              <a:t>        </a:t>
            </a:r>
            <a:r>
              <a:rPr lang="en" altLang="zh-CN" sz="900" dirty="0">
                <a:solidFill>
                  <a:srgbClr val="CC7832"/>
                </a:solidFill>
                <a:effectLst/>
              </a:rPr>
              <a:t>return </a:t>
            </a:r>
            <a:r>
              <a:rPr lang="en" altLang="zh-CN" sz="900" dirty="0"/>
              <a:t>[</a:t>
            </a:r>
            <a:br>
              <a:rPr lang="en" altLang="zh-CN" sz="900" dirty="0"/>
            </a:br>
            <a:r>
              <a:rPr lang="en" altLang="zh-CN" sz="900" dirty="0"/>
              <a:t>            </a:t>
            </a:r>
            <a:r>
              <a:rPr lang="en" altLang="zh-CN" sz="900" dirty="0">
                <a:solidFill>
                  <a:srgbClr val="6A8759"/>
                </a:solidFill>
                <a:effectLst/>
              </a:rPr>
              <a:t>"</a:t>
            </a:r>
            <a:r>
              <a:rPr lang="en" altLang="zh-CN" sz="900" dirty="0" err="1">
                <a:solidFill>
                  <a:srgbClr val="6A8759"/>
                </a:solidFill>
                <a:effectLst/>
              </a:rPr>
              <a:t>RoadCondition</a:t>
            </a:r>
            <a:r>
              <a:rPr lang="en" altLang="zh-CN" sz="900" dirty="0">
                <a:solidFill>
                  <a:srgbClr val="6A8759"/>
                </a:solidFill>
                <a:effectLst/>
              </a:rPr>
              <a:t>(Pothole) ∧ </a:t>
            </a:r>
            <a:r>
              <a:rPr lang="en" altLang="zh-CN" sz="900" dirty="0" err="1">
                <a:solidFill>
                  <a:srgbClr val="6A8759"/>
                </a:solidFill>
                <a:effectLst/>
              </a:rPr>
              <a:t>RoadSpeedLimit</a:t>
            </a:r>
            <a:r>
              <a:rPr lang="en" altLang="zh-CN" sz="900" dirty="0">
                <a:solidFill>
                  <a:srgbClr val="6A8759"/>
                </a:solidFill>
                <a:effectLst/>
              </a:rPr>
              <a:t>(Road, 30) -&gt; </a:t>
            </a:r>
            <a:r>
              <a:rPr lang="en" altLang="zh-CN" sz="900" dirty="0" err="1">
                <a:solidFill>
                  <a:srgbClr val="6A8759"/>
                </a:solidFill>
                <a:effectLst/>
              </a:rPr>
              <a:t>SlowDown</a:t>
            </a:r>
            <a:r>
              <a:rPr lang="en" altLang="zh-CN" sz="900" dirty="0">
                <a:solidFill>
                  <a:srgbClr val="6A8759"/>
                </a:solidFill>
                <a:effectLst/>
              </a:rPr>
              <a:t>(Vehicle)"</a:t>
            </a:r>
            <a:br>
              <a:rPr lang="en" altLang="zh-CN" sz="900" dirty="0">
                <a:solidFill>
                  <a:srgbClr val="6A8759"/>
                </a:solidFill>
                <a:effectLst/>
              </a:rPr>
            </a:br>
            <a:r>
              <a:rPr lang="en" altLang="zh-CN" sz="900" dirty="0">
                <a:solidFill>
                  <a:srgbClr val="6A8759"/>
                </a:solidFill>
                <a:effectLst/>
              </a:rPr>
              <a:t>        </a:t>
            </a:r>
            <a:r>
              <a:rPr lang="en" altLang="zh-CN" sz="900" dirty="0"/>
              <a:t>]</a:t>
            </a:r>
            <a:br>
              <a:rPr lang="en" altLang="zh-CN" sz="900" dirty="0"/>
            </a:br>
            <a:r>
              <a:rPr lang="en" altLang="zh-CN" sz="900" dirty="0"/>
              <a:t>    </a:t>
            </a:r>
            <a:r>
              <a:rPr lang="en" altLang="zh-CN" sz="900" dirty="0">
                <a:solidFill>
                  <a:srgbClr val="808080"/>
                </a:solidFill>
                <a:effectLst/>
              </a:rPr>
              <a:t># </a:t>
            </a:r>
            <a:r>
              <a:rPr lang="zh-CN" altLang="en-US" sz="900" dirty="0">
                <a:solidFill>
                  <a:srgbClr val="808080"/>
                </a:solidFill>
                <a:effectLst/>
                <a:latin typeface="Menlo-Regular" panose="020B0609030804020204" pitchFamily="49" charset="0"/>
              </a:rPr>
              <a:t>规则</a:t>
            </a:r>
            <a:r>
              <a:rPr lang="en-US" altLang="zh-CN" sz="900" dirty="0">
                <a:solidFill>
                  <a:srgbClr val="808080"/>
                </a:solidFill>
                <a:effectLst/>
              </a:rPr>
              <a:t>6</a:t>
            </a:r>
            <a:r>
              <a:rPr lang="zh-CN" altLang="en-US" sz="900" dirty="0">
                <a:solidFill>
                  <a:srgbClr val="808080"/>
                </a:solidFill>
                <a:effectLst/>
                <a:latin typeface="Menlo-Regular" panose="020B0609030804020204" pitchFamily="49" charset="0"/>
              </a:rPr>
              <a:t>：车辆速度规则</a:t>
            </a:r>
            <a:br>
              <a:rPr lang="zh-CN" altLang="en-US" sz="900" dirty="0">
                <a:solidFill>
                  <a:srgbClr val="808080"/>
                </a:solidFill>
                <a:effectLst/>
                <a:latin typeface="Menlo-Regular" panose="020B0609030804020204" pitchFamily="49" charset="0"/>
              </a:rPr>
            </a:br>
            <a:r>
              <a:rPr lang="zh-CN" altLang="en-US" sz="900" dirty="0">
                <a:solidFill>
                  <a:srgbClr val="808080"/>
                </a:solidFill>
                <a:effectLst/>
                <a:latin typeface="Menlo-Regular" panose="020B0609030804020204" pitchFamily="49" charset="0"/>
              </a:rPr>
              <a:t>    </a:t>
            </a:r>
            <a:r>
              <a:rPr lang="en" altLang="zh-CN" sz="900" dirty="0">
                <a:solidFill>
                  <a:srgbClr val="CC7832"/>
                </a:solidFill>
                <a:effectLst/>
              </a:rPr>
              <a:t>def </a:t>
            </a:r>
            <a:r>
              <a:rPr lang="en" altLang="zh-CN" sz="900" dirty="0">
                <a:solidFill>
                  <a:srgbClr val="FFC66D"/>
                </a:solidFill>
                <a:effectLst/>
              </a:rPr>
              <a:t>rule6</a:t>
            </a:r>
            <a:r>
              <a:rPr lang="en" altLang="zh-CN" sz="900" dirty="0"/>
              <a:t>():</a:t>
            </a:r>
            <a:br>
              <a:rPr lang="en" altLang="zh-CN" sz="900" dirty="0"/>
            </a:br>
            <a:r>
              <a:rPr lang="en" altLang="zh-CN" sz="900" dirty="0"/>
              <a:t>        </a:t>
            </a:r>
            <a:r>
              <a:rPr lang="en" altLang="zh-CN" sz="900" dirty="0">
                <a:solidFill>
                  <a:srgbClr val="CC7832"/>
                </a:solidFill>
                <a:effectLst/>
              </a:rPr>
              <a:t>return </a:t>
            </a:r>
            <a:r>
              <a:rPr lang="en" altLang="zh-CN" sz="900" dirty="0"/>
              <a:t>[</a:t>
            </a:r>
            <a:br>
              <a:rPr lang="en" altLang="zh-CN" sz="900" dirty="0"/>
            </a:br>
            <a:r>
              <a:rPr lang="en" altLang="zh-CN" sz="900" dirty="0"/>
              <a:t>            </a:t>
            </a:r>
            <a:r>
              <a:rPr lang="en" altLang="zh-CN" sz="900" dirty="0">
                <a:solidFill>
                  <a:srgbClr val="6A8759"/>
                </a:solidFill>
                <a:effectLst/>
              </a:rPr>
              <a:t>"</a:t>
            </a:r>
            <a:r>
              <a:rPr lang="en" altLang="zh-CN" sz="900" dirty="0" err="1">
                <a:solidFill>
                  <a:srgbClr val="6A8759"/>
                </a:solidFill>
                <a:effectLst/>
              </a:rPr>
              <a:t>VehicleSpeed</a:t>
            </a:r>
            <a:r>
              <a:rPr lang="en" altLang="zh-CN" sz="900" dirty="0">
                <a:solidFill>
                  <a:srgbClr val="6A8759"/>
                </a:solidFill>
                <a:effectLst/>
              </a:rPr>
              <a:t>(Vehicle, Speed) ∧ Speed &gt; </a:t>
            </a:r>
            <a:r>
              <a:rPr lang="en" altLang="zh-CN" sz="900" dirty="0" err="1">
                <a:solidFill>
                  <a:srgbClr val="6A8759"/>
                </a:solidFill>
                <a:effectLst/>
              </a:rPr>
              <a:t>SpeedLimit</a:t>
            </a:r>
            <a:r>
              <a:rPr lang="en" altLang="zh-CN" sz="900" dirty="0">
                <a:solidFill>
                  <a:srgbClr val="6A8759"/>
                </a:solidFill>
                <a:effectLst/>
              </a:rPr>
              <a:t>(Road, S) -&gt; </a:t>
            </a:r>
            <a:r>
              <a:rPr lang="en" altLang="zh-CN" sz="900" dirty="0" err="1">
                <a:solidFill>
                  <a:srgbClr val="6A8759"/>
                </a:solidFill>
                <a:effectLst/>
              </a:rPr>
              <a:t>SlowDown</a:t>
            </a:r>
            <a:r>
              <a:rPr lang="en" altLang="zh-CN" sz="900" dirty="0">
                <a:solidFill>
                  <a:srgbClr val="6A8759"/>
                </a:solidFill>
                <a:effectLst/>
              </a:rPr>
              <a:t>(Vehicle)"</a:t>
            </a:r>
            <a:br>
              <a:rPr lang="en" altLang="zh-CN" sz="900" dirty="0">
                <a:solidFill>
                  <a:srgbClr val="6A8759"/>
                </a:solidFill>
                <a:effectLst/>
              </a:rPr>
            </a:br>
            <a:r>
              <a:rPr lang="en" altLang="zh-CN" sz="900" dirty="0">
                <a:solidFill>
                  <a:srgbClr val="6A8759"/>
                </a:solidFill>
                <a:effectLst/>
              </a:rPr>
              <a:t>        </a:t>
            </a:r>
            <a:r>
              <a:rPr lang="en" altLang="zh-CN" sz="900" dirty="0"/>
              <a:t>]</a:t>
            </a:r>
            <a:br>
              <a:rPr lang="en" altLang="zh-CN" sz="900" dirty="0"/>
            </a:br>
            <a:r>
              <a:rPr lang="en" altLang="zh-CN" sz="900" dirty="0"/>
              <a:t>    </a:t>
            </a:r>
            <a:r>
              <a:rPr lang="en" altLang="zh-CN" sz="900" dirty="0">
                <a:solidFill>
                  <a:srgbClr val="CC7832"/>
                </a:solidFill>
                <a:effectLst/>
              </a:rPr>
              <a:t>return </a:t>
            </a:r>
            <a:r>
              <a:rPr lang="en" altLang="zh-CN" sz="900" dirty="0"/>
              <a:t>rule1()</a:t>
            </a:r>
            <a:r>
              <a:rPr lang="en" altLang="zh-CN" sz="900" dirty="0">
                <a:solidFill>
                  <a:srgbClr val="CC7832"/>
                </a:solidFill>
                <a:effectLst/>
              </a:rPr>
              <a:t>, </a:t>
            </a:r>
            <a:r>
              <a:rPr lang="en" altLang="zh-CN" sz="900" dirty="0"/>
              <a:t>rule2()</a:t>
            </a:r>
            <a:r>
              <a:rPr lang="en" altLang="zh-CN" sz="900" dirty="0">
                <a:solidFill>
                  <a:srgbClr val="CC7832"/>
                </a:solidFill>
                <a:effectLst/>
              </a:rPr>
              <a:t>, </a:t>
            </a:r>
            <a:r>
              <a:rPr lang="en" altLang="zh-CN" sz="900" dirty="0"/>
              <a:t>rule3()</a:t>
            </a:r>
            <a:r>
              <a:rPr lang="en" altLang="zh-CN" sz="900" dirty="0">
                <a:solidFill>
                  <a:srgbClr val="CC7832"/>
                </a:solidFill>
                <a:effectLst/>
              </a:rPr>
              <a:t>, </a:t>
            </a:r>
            <a:r>
              <a:rPr lang="en" altLang="zh-CN" sz="900" dirty="0"/>
              <a:t>rule4()</a:t>
            </a:r>
            <a:r>
              <a:rPr lang="en" altLang="zh-CN" sz="900" dirty="0">
                <a:solidFill>
                  <a:srgbClr val="CC7832"/>
                </a:solidFill>
                <a:effectLst/>
              </a:rPr>
              <a:t>, </a:t>
            </a:r>
            <a:r>
              <a:rPr lang="en" altLang="zh-CN" sz="900" dirty="0"/>
              <a:t>rule5()</a:t>
            </a:r>
            <a:r>
              <a:rPr lang="en" altLang="zh-CN" sz="900" dirty="0">
                <a:solidFill>
                  <a:srgbClr val="CC7832"/>
                </a:solidFill>
                <a:effectLst/>
              </a:rPr>
              <a:t>, </a:t>
            </a:r>
            <a:r>
              <a:rPr lang="en" altLang="zh-CN" sz="900" dirty="0"/>
              <a:t>rule6()</a:t>
            </a:r>
            <a:br>
              <a:rPr lang="en" altLang="zh-CN" sz="900" dirty="0"/>
            </a:br>
            <a:br>
              <a:rPr lang="en" altLang="zh-CN" sz="1200" dirty="0"/>
            </a:br>
            <a:br>
              <a:rPr lang="en" altLang="zh-CN" sz="1200" dirty="0"/>
            </a:br>
            <a:endParaRPr lang="zh-CN" altLang="en-US" sz="1200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4EA6B020-050E-9871-B82C-27800C471138}"/>
              </a:ext>
            </a:extLst>
          </p:cNvPr>
          <p:cNvSpPr txBox="1"/>
          <p:nvPr/>
        </p:nvSpPr>
        <p:spPr>
          <a:xfrm>
            <a:off x="6715576" y="1057829"/>
            <a:ext cx="5286424" cy="59093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900" dirty="0">
                <a:solidFill>
                  <a:srgbClr val="808080"/>
                </a:solidFill>
                <a:effectLst/>
              </a:rPr>
              <a:t># </a:t>
            </a:r>
            <a:r>
              <a:rPr lang="zh-CN" altLang="en-US" sz="900" dirty="0">
                <a:solidFill>
                  <a:srgbClr val="808080"/>
                </a:solidFill>
                <a:effectLst/>
                <a:latin typeface="Menlo-Regular" panose="020B0609030804020204" pitchFamily="49" charset="0"/>
              </a:rPr>
              <a:t>归结推理过程</a:t>
            </a:r>
            <a:br>
              <a:rPr lang="zh-CN" altLang="en-US" sz="900" dirty="0">
                <a:solidFill>
                  <a:srgbClr val="808080"/>
                </a:solidFill>
                <a:effectLst/>
                <a:latin typeface="Menlo-Regular" panose="020B0609030804020204" pitchFamily="49" charset="0"/>
              </a:rPr>
            </a:br>
            <a:r>
              <a:rPr lang="en" altLang="zh-CN" sz="900" dirty="0">
                <a:solidFill>
                  <a:srgbClr val="CC7832"/>
                </a:solidFill>
                <a:effectLst/>
              </a:rPr>
              <a:t>def </a:t>
            </a:r>
            <a:r>
              <a:rPr lang="en" altLang="zh-CN" sz="900" dirty="0">
                <a:solidFill>
                  <a:srgbClr val="FFC66D"/>
                </a:solidFill>
                <a:effectLst/>
              </a:rPr>
              <a:t>reasoning</a:t>
            </a:r>
            <a:r>
              <a:rPr lang="en" altLang="zh-CN" sz="900" dirty="0"/>
              <a:t>():</a:t>
            </a:r>
            <a:br>
              <a:rPr lang="en" altLang="zh-CN" sz="900" dirty="0"/>
            </a:br>
            <a:r>
              <a:rPr lang="en" altLang="zh-CN" sz="900" dirty="0"/>
              <a:t>    </a:t>
            </a:r>
            <a:r>
              <a:rPr lang="en" altLang="zh-CN" sz="900" dirty="0">
                <a:solidFill>
                  <a:srgbClr val="72737A"/>
                </a:solidFill>
                <a:effectLst/>
              </a:rPr>
              <a:t>rule1</a:t>
            </a:r>
            <a:r>
              <a:rPr lang="en" altLang="zh-CN" sz="900" dirty="0">
                <a:solidFill>
                  <a:srgbClr val="CC7832"/>
                </a:solidFill>
                <a:effectLst/>
              </a:rPr>
              <a:t>, </a:t>
            </a:r>
            <a:r>
              <a:rPr lang="en" altLang="zh-CN" sz="900" dirty="0">
                <a:solidFill>
                  <a:srgbClr val="72737A"/>
                </a:solidFill>
                <a:effectLst/>
              </a:rPr>
              <a:t>rule2</a:t>
            </a:r>
            <a:r>
              <a:rPr lang="en" altLang="zh-CN" sz="900" dirty="0">
                <a:solidFill>
                  <a:srgbClr val="CC7832"/>
                </a:solidFill>
                <a:effectLst/>
              </a:rPr>
              <a:t>, </a:t>
            </a:r>
            <a:r>
              <a:rPr lang="en" altLang="zh-CN" sz="900" dirty="0">
                <a:solidFill>
                  <a:srgbClr val="72737A"/>
                </a:solidFill>
                <a:effectLst/>
              </a:rPr>
              <a:t>rule3</a:t>
            </a:r>
            <a:r>
              <a:rPr lang="en" altLang="zh-CN" sz="900" dirty="0">
                <a:solidFill>
                  <a:srgbClr val="CC7832"/>
                </a:solidFill>
                <a:effectLst/>
              </a:rPr>
              <a:t>, </a:t>
            </a:r>
            <a:r>
              <a:rPr lang="en" altLang="zh-CN" sz="900" dirty="0">
                <a:solidFill>
                  <a:srgbClr val="72737A"/>
                </a:solidFill>
                <a:effectLst/>
              </a:rPr>
              <a:t>rule4</a:t>
            </a:r>
            <a:r>
              <a:rPr lang="en" altLang="zh-CN" sz="900" dirty="0">
                <a:solidFill>
                  <a:srgbClr val="CC7832"/>
                </a:solidFill>
                <a:effectLst/>
              </a:rPr>
              <a:t>, </a:t>
            </a:r>
            <a:r>
              <a:rPr lang="en" altLang="zh-CN" sz="900" dirty="0">
                <a:solidFill>
                  <a:srgbClr val="72737A"/>
                </a:solidFill>
                <a:effectLst/>
              </a:rPr>
              <a:t>rule5</a:t>
            </a:r>
            <a:r>
              <a:rPr lang="en" altLang="zh-CN" sz="900" dirty="0">
                <a:solidFill>
                  <a:srgbClr val="CC7832"/>
                </a:solidFill>
                <a:effectLst/>
              </a:rPr>
              <a:t>, </a:t>
            </a:r>
            <a:r>
              <a:rPr lang="en" altLang="zh-CN" sz="900" dirty="0">
                <a:solidFill>
                  <a:srgbClr val="72737A"/>
                </a:solidFill>
                <a:effectLst/>
              </a:rPr>
              <a:t>rule6 </a:t>
            </a:r>
            <a:r>
              <a:rPr lang="en" altLang="zh-CN" sz="900" dirty="0"/>
              <a:t>= </a:t>
            </a:r>
            <a:r>
              <a:rPr lang="en" altLang="zh-CN" sz="900" dirty="0" err="1"/>
              <a:t>rules_and_facts</a:t>
            </a:r>
            <a:r>
              <a:rPr lang="en" altLang="zh-CN" sz="900" dirty="0"/>
              <a:t>()</a:t>
            </a:r>
            <a:br>
              <a:rPr lang="en" altLang="zh-CN" sz="900" dirty="0"/>
            </a:br>
            <a:r>
              <a:rPr lang="en" altLang="zh-CN" sz="900" dirty="0"/>
              <a:t>    </a:t>
            </a:r>
            <a:r>
              <a:rPr lang="en" altLang="zh-CN" sz="900" dirty="0">
                <a:solidFill>
                  <a:srgbClr val="808080"/>
                </a:solidFill>
                <a:effectLst/>
              </a:rPr>
              <a:t># </a:t>
            </a:r>
            <a:r>
              <a:rPr lang="zh-CN" altLang="en-US" sz="900" dirty="0">
                <a:solidFill>
                  <a:srgbClr val="808080"/>
                </a:solidFill>
                <a:effectLst/>
                <a:latin typeface="Menlo-Regular" panose="020B0609030804020204" pitchFamily="49" charset="0"/>
              </a:rPr>
              <a:t>假设已知事实</a:t>
            </a:r>
            <a:br>
              <a:rPr lang="zh-CN" altLang="en-US" sz="900" dirty="0">
                <a:solidFill>
                  <a:srgbClr val="808080"/>
                </a:solidFill>
                <a:effectLst/>
                <a:latin typeface="Menlo-Regular" panose="020B0609030804020204" pitchFamily="49" charset="0"/>
              </a:rPr>
            </a:br>
            <a:r>
              <a:rPr lang="zh-CN" altLang="en-US" sz="900" dirty="0">
                <a:solidFill>
                  <a:srgbClr val="808080"/>
                </a:solidFill>
                <a:effectLst/>
                <a:latin typeface="Menlo-Regular" panose="020B0609030804020204" pitchFamily="49" charset="0"/>
              </a:rPr>
              <a:t>    </a:t>
            </a:r>
            <a:r>
              <a:rPr lang="en" altLang="zh-CN" sz="900" dirty="0"/>
              <a:t>facts = {</a:t>
            </a:r>
            <a:br>
              <a:rPr lang="en" altLang="zh-CN" sz="900" dirty="0"/>
            </a:br>
            <a:r>
              <a:rPr lang="en" altLang="zh-CN" sz="900" dirty="0"/>
              <a:t>        </a:t>
            </a:r>
            <a:r>
              <a:rPr lang="en" altLang="zh-CN" sz="900" dirty="0">
                <a:solidFill>
                  <a:srgbClr val="6A8759"/>
                </a:solidFill>
                <a:effectLst/>
              </a:rPr>
              <a:t>“</a:t>
            </a:r>
            <a:r>
              <a:rPr lang="en" altLang="zh-CN" sz="900" dirty="0" err="1">
                <a:solidFill>
                  <a:srgbClr val="6A8759"/>
                </a:solidFill>
                <a:effectLst/>
              </a:rPr>
              <a:t>TrafficSignal</a:t>
            </a:r>
            <a:r>
              <a:rPr lang="en" altLang="zh-CN" sz="900" dirty="0">
                <a:solidFill>
                  <a:srgbClr val="6A8759"/>
                </a:solidFill>
                <a:effectLst/>
              </a:rPr>
              <a:t>(Red)”</a:t>
            </a:r>
            <a:r>
              <a:rPr lang="en" altLang="zh-CN" sz="900" dirty="0"/>
              <a:t>: </a:t>
            </a:r>
            <a:r>
              <a:rPr lang="en" altLang="zh-CN" sz="900" dirty="0">
                <a:solidFill>
                  <a:srgbClr val="CC7832"/>
                </a:solidFill>
                <a:effectLst/>
              </a:rPr>
              <a:t>True,</a:t>
            </a:r>
            <a:br>
              <a:rPr lang="en" altLang="zh-CN" sz="900" dirty="0">
                <a:solidFill>
                  <a:srgbClr val="CC7832"/>
                </a:solidFill>
                <a:effectLst/>
              </a:rPr>
            </a:br>
            <a:r>
              <a:rPr lang="en" altLang="zh-CN" sz="900" dirty="0">
                <a:solidFill>
                  <a:srgbClr val="CC7832"/>
                </a:solidFill>
                <a:effectLst/>
              </a:rPr>
              <a:t>        </a:t>
            </a:r>
            <a:r>
              <a:rPr lang="en" altLang="zh-CN" sz="900" dirty="0">
                <a:solidFill>
                  <a:srgbClr val="6A8759"/>
                </a:solidFill>
                <a:effectLst/>
              </a:rPr>
              <a:t>“</a:t>
            </a:r>
            <a:r>
              <a:rPr lang="en" altLang="zh-CN" sz="900" dirty="0" err="1">
                <a:solidFill>
                  <a:srgbClr val="6A8759"/>
                </a:solidFill>
                <a:effectLst/>
              </a:rPr>
              <a:t>PedestrianNear</a:t>
            </a:r>
            <a:r>
              <a:rPr lang="en" altLang="zh-CN" sz="900" dirty="0">
                <a:solidFill>
                  <a:srgbClr val="6A8759"/>
                </a:solidFill>
                <a:effectLst/>
              </a:rPr>
              <a:t>(Person1)”</a:t>
            </a:r>
            <a:r>
              <a:rPr lang="en" altLang="zh-CN" sz="900" dirty="0"/>
              <a:t>: </a:t>
            </a:r>
            <a:r>
              <a:rPr lang="en" altLang="zh-CN" sz="900" dirty="0">
                <a:solidFill>
                  <a:srgbClr val="CC7832"/>
                </a:solidFill>
                <a:effectLst/>
              </a:rPr>
              <a:t>True,</a:t>
            </a:r>
            <a:br>
              <a:rPr lang="en" altLang="zh-CN" sz="900" dirty="0">
                <a:solidFill>
                  <a:srgbClr val="CC7832"/>
                </a:solidFill>
                <a:effectLst/>
              </a:rPr>
            </a:br>
            <a:r>
              <a:rPr lang="en" altLang="zh-CN" sz="900" dirty="0">
                <a:solidFill>
                  <a:srgbClr val="CC7832"/>
                </a:solidFill>
                <a:effectLst/>
              </a:rPr>
              <a:t>        </a:t>
            </a:r>
            <a:r>
              <a:rPr lang="en" altLang="zh-CN" sz="900" dirty="0">
                <a:solidFill>
                  <a:srgbClr val="6A8759"/>
                </a:solidFill>
                <a:effectLst/>
              </a:rPr>
              <a:t>“</a:t>
            </a:r>
            <a:r>
              <a:rPr lang="en" altLang="zh-CN" sz="900" dirty="0" err="1">
                <a:solidFill>
                  <a:srgbClr val="6A8759"/>
                </a:solidFill>
                <a:effectLst/>
              </a:rPr>
              <a:t>VehicleChangLane</a:t>
            </a:r>
            <a:r>
              <a:rPr lang="en" altLang="zh-CN" sz="900" dirty="0">
                <a:solidFill>
                  <a:srgbClr val="6A8759"/>
                </a:solidFill>
                <a:effectLst/>
              </a:rPr>
              <a:t>(</a:t>
            </a:r>
            <a:r>
              <a:rPr lang="en" altLang="zh-CN" sz="900" dirty="0" err="1">
                <a:solidFill>
                  <a:srgbClr val="6A8759"/>
                </a:solidFill>
                <a:effectLst/>
              </a:rPr>
              <a:t>FrontVehicle</a:t>
            </a:r>
            <a:r>
              <a:rPr lang="en" altLang="zh-CN" sz="900" dirty="0">
                <a:solidFill>
                  <a:srgbClr val="6A8759"/>
                </a:solidFill>
                <a:effectLst/>
              </a:rPr>
              <a:t>)”</a:t>
            </a:r>
            <a:r>
              <a:rPr lang="en" altLang="zh-CN" sz="900" dirty="0"/>
              <a:t>: </a:t>
            </a:r>
            <a:r>
              <a:rPr lang="en" altLang="zh-CN" sz="900" dirty="0">
                <a:solidFill>
                  <a:srgbClr val="CC7832"/>
                </a:solidFill>
                <a:effectLst/>
              </a:rPr>
              <a:t>True,</a:t>
            </a:r>
            <a:br>
              <a:rPr lang="en" altLang="zh-CN" sz="900" dirty="0">
                <a:solidFill>
                  <a:srgbClr val="CC7832"/>
                </a:solidFill>
                <a:effectLst/>
              </a:rPr>
            </a:br>
            <a:r>
              <a:rPr lang="en" altLang="zh-CN" sz="900" dirty="0">
                <a:solidFill>
                  <a:srgbClr val="CC7832"/>
                </a:solidFill>
                <a:effectLst/>
              </a:rPr>
              <a:t>        </a:t>
            </a:r>
            <a:r>
              <a:rPr lang="en" altLang="zh-CN" sz="900" dirty="0">
                <a:solidFill>
                  <a:srgbClr val="6A8759"/>
                </a:solidFill>
                <a:effectLst/>
              </a:rPr>
              <a:t>“</a:t>
            </a:r>
            <a:r>
              <a:rPr lang="en" altLang="zh-CN" sz="900" dirty="0" err="1">
                <a:solidFill>
                  <a:srgbClr val="6A8759"/>
                </a:solidFill>
                <a:effectLst/>
              </a:rPr>
              <a:t>VehicleSpeed</a:t>
            </a:r>
            <a:r>
              <a:rPr lang="en" altLang="zh-CN" sz="900" dirty="0">
                <a:solidFill>
                  <a:srgbClr val="6A8759"/>
                </a:solidFill>
                <a:effectLst/>
              </a:rPr>
              <a:t>(</a:t>
            </a:r>
            <a:r>
              <a:rPr lang="en" altLang="zh-CN" sz="900" dirty="0" err="1">
                <a:solidFill>
                  <a:srgbClr val="6A8759"/>
                </a:solidFill>
                <a:effectLst/>
              </a:rPr>
              <a:t>FrontVehicle</a:t>
            </a:r>
            <a:r>
              <a:rPr lang="en" altLang="zh-CN" sz="900" dirty="0">
                <a:solidFill>
                  <a:srgbClr val="6A8759"/>
                </a:solidFill>
                <a:effectLst/>
              </a:rPr>
              <a:t>, Fast)”</a:t>
            </a:r>
            <a:r>
              <a:rPr lang="en" altLang="zh-CN" sz="900" dirty="0"/>
              <a:t>: </a:t>
            </a:r>
            <a:r>
              <a:rPr lang="en" altLang="zh-CN" sz="900" dirty="0">
                <a:solidFill>
                  <a:srgbClr val="CC7832"/>
                </a:solidFill>
                <a:effectLst/>
              </a:rPr>
              <a:t>True,</a:t>
            </a:r>
            <a:br>
              <a:rPr lang="en" altLang="zh-CN" sz="900" dirty="0">
                <a:solidFill>
                  <a:srgbClr val="CC7832"/>
                </a:solidFill>
                <a:effectLst/>
              </a:rPr>
            </a:br>
            <a:r>
              <a:rPr lang="en" altLang="zh-CN" sz="900" dirty="0">
                <a:solidFill>
                  <a:srgbClr val="CC7832"/>
                </a:solidFill>
                <a:effectLst/>
              </a:rPr>
              <a:t>        </a:t>
            </a:r>
            <a:r>
              <a:rPr lang="en" altLang="zh-CN" sz="900" dirty="0">
                <a:solidFill>
                  <a:srgbClr val="6A8759"/>
                </a:solidFill>
                <a:effectLst/>
              </a:rPr>
              <a:t>“</a:t>
            </a:r>
            <a:r>
              <a:rPr lang="en" altLang="zh-CN" sz="900" dirty="0" err="1">
                <a:solidFill>
                  <a:srgbClr val="6A8759"/>
                </a:solidFill>
                <a:effectLst/>
              </a:rPr>
              <a:t>EmergencyVehicle</a:t>
            </a:r>
            <a:r>
              <a:rPr lang="en" altLang="zh-CN" sz="900" dirty="0">
                <a:solidFill>
                  <a:srgbClr val="6A8759"/>
                </a:solidFill>
                <a:effectLst/>
              </a:rPr>
              <a:t>(EV)”</a:t>
            </a:r>
            <a:r>
              <a:rPr lang="en" altLang="zh-CN" sz="900" dirty="0"/>
              <a:t>: </a:t>
            </a:r>
            <a:r>
              <a:rPr lang="en" altLang="zh-CN" sz="900" dirty="0">
                <a:solidFill>
                  <a:srgbClr val="CC7832"/>
                </a:solidFill>
                <a:effectLst/>
              </a:rPr>
              <a:t>True,</a:t>
            </a:r>
            <a:br>
              <a:rPr lang="en" altLang="zh-CN" sz="900" dirty="0">
                <a:solidFill>
                  <a:srgbClr val="CC7832"/>
                </a:solidFill>
                <a:effectLst/>
              </a:rPr>
            </a:br>
            <a:r>
              <a:rPr lang="en" altLang="zh-CN" sz="900" dirty="0">
                <a:solidFill>
                  <a:srgbClr val="CC7832"/>
                </a:solidFill>
                <a:effectLst/>
              </a:rPr>
              <a:t>        </a:t>
            </a:r>
            <a:r>
              <a:rPr lang="en" altLang="zh-CN" sz="900" dirty="0">
                <a:solidFill>
                  <a:srgbClr val="6A8759"/>
                </a:solidFill>
                <a:effectLst/>
              </a:rPr>
              <a:t>“</a:t>
            </a:r>
            <a:r>
              <a:rPr lang="en" altLang="zh-CN" sz="900" dirty="0" err="1">
                <a:solidFill>
                  <a:srgbClr val="6A8759"/>
                </a:solidFill>
                <a:effectLst/>
              </a:rPr>
              <a:t>SirenActive</a:t>
            </a:r>
            <a:r>
              <a:rPr lang="en" altLang="zh-CN" sz="900" dirty="0">
                <a:solidFill>
                  <a:srgbClr val="6A8759"/>
                </a:solidFill>
                <a:effectLst/>
              </a:rPr>
              <a:t>(EV)”</a:t>
            </a:r>
            <a:r>
              <a:rPr lang="en" altLang="zh-CN" sz="900" dirty="0"/>
              <a:t>: </a:t>
            </a:r>
            <a:r>
              <a:rPr lang="en" altLang="zh-CN" sz="900" dirty="0">
                <a:solidFill>
                  <a:srgbClr val="CC7832"/>
                </a:solidFill>
                <a:effectLst/>
              </a:rPr>
              <a:t>True,</a:t>
            </a:r>
            <a:br>
              <a:rPr lang="en" altLang="zh-CN" sz="900" dirty="0">
                <a:solidFill>
                  <a:srgbClr val="CC7832"/>
                </a:solidFill>
                <a:effectLst/>
              </a:rPr>
            </a:br>
            <a:r>
              <a:rPr lang="en" altLang="zh-CN" sz="900" dirty="0">
                <a:solidFill>
                  <a:srgbClr val="CC7832"/>
                </a:solidFill>
                <a:effectLst/>
              </a:rPr>
              <a:t>        </a:t>
            </a:r>
            <a:r>
              <a:rPr lang="en" altLang="zh-CN" sz="900" dirty="0">
                <a:solidFill>
                  <a:srgbClr val="6A8759"/>
                </a:solidFill>
                <a:effectLst/>
              </a:rPr>
              <a:t>“</a:t>
            </a:r>
            <a:r>
              <a:rPr lang="en" altLang="zh-CN" sz="900" dirty="0" err="1">
                <a:solidFill>
                  <a:srgbClr val="6A8759"/>
                </a:solidFill>
                <a:effectLst/>
              </a:rPr>
              <a:t>RoadCondition</a:t>
            </a:r>
            <a:r>
              <a:rPr lang="en" altLang="zh-CN" sz="900" dirty="0">
                <a:solidFill>
                  <a:srgbClr val="6A8759"/>
                </a:solidFill>
                <a:effectLst/>
              </a:rPr>
              <a:t>(Pothole)”</a:t>
            </a:r>
            <a:r>
              <a:rPr lang="en" altLang="zh-CN" sz="900" dirty="0"/>
              <a:t>: </a:t>
            </a:r>
            <a:r>
              <a:rPr lang="en" altLang="zh-CN" sz="900" dirty="0">
                <a:solidFill>
                  <a:srgbClr val="CC7832"/>
                </a:solidFill>
                <a:effectLst/>
              </a:rPr>
              <a:t>True,</a:t>
            </a:r>
            <a:br>
              <a:rPr lang="en" altLang="zh-CN" sz="900" dirty="0">
                <a:solidFill>
                  <a:srgbClr val="CC7832"/>
                </a:solidFill>
                <a:effectLst/>
              </a:rPr>
            </a:br>
            <a:r>
              <a:rPr lang="en" altLang="zh-CN" sz="900" dirty="0">
                <a:solidFill>
                  <a:srgbClr val="CC7832"/>
                </a:solidFill>
                <a:effectLst/>
              </a:rPr>
              <a:t>        </a:t>
            </a:r>
            <a:r>
              <a:rPr lang="en" altLang="zh-CN" sz="900" dirty="0">
                <a:solidFill>
                  <a:srgbClr val="6A8759"/>
                </a:solidFill>
                <a:effectLst/>
              </a:rPr>
              <a:t>“</a:t>
            </a:r>
            <a:r>
              <a:rPr lang="en" altLang="zh-CN" sz="900" dirty="0" err="1">
                <a:solidFill>
                  <a:srgbClr val="6A8759"/>
                </a:solidFill>
                <a:effectLst/>
              </a:rPr>
              <a:t>RoadSpeedLimit</a:t>
            </a:r>
            <a:r>
              <a:rPr lang="en" altLang="zh-CN" sz="900" dirty="0">
                <a:solidFill>
                  <a:srgbClr val="6A8759"/>
                </a:solidFill>
                <a:effectLst/>
              </a:rPr>
              <a:t>(Road, 30)”</a:t>
            </a:r>
            <a:r>
              <a:rPr lang="en" altLang="zh-CN" sz="900" dirty="0"/>
              <a:t>: </a:t>
            </a:r>
            <a:r>
              <a:rPr lang="en" altLang="zh-CN" sz="900" dirty="0">
                <a:solidFill>
                  <a:srgbClr val="CC7832"/>
                </a:solidFill>
                <a:effectLst/>
              </a:rPr>
              <a:t>True</a:t>
            </a:r>
            <a:br>
              <a:rPr lang="en" altLang="zh-CN" sz="900" dirty="0">
                <a:solidFill>
                  <a:srgbClr val="CC7832"/>
                </a:solidFill>
                <a:effectLst/>
              </a:rPr>
            </a:br>
            <a:r>
              <a:rPr lang="en" altLang="zh-CN" sz="900" dirty="0">
                <a:solidFill>
                  <a:srgbClr val="CC7832"/>
                </a:solidFill>
                <a:effectLst/>
              </a:rPr>
              <a:t>    </a:t>
            </a:r>
            <a:r>
              <a:rPr lang="en" altLang="zh-CN" sz="900" dirty="0"/>
              <a:t>}</a:t>
            </a:r>
            <a:br>
              <a:rPr lang="en" altLang="zh-CN" sz="900" dirty="0"/>
            </a:br>
            <a:r>
              <a:rPr lang="en" altLang="zh-CN" sz="900" dirty="0"/>
              <a:t>    </a:t>
            </a:r>
            <a:r>
              <a:rPr lang="en" altLang="zh-CN" sz="900" dirty="0">
                <a:solidFill>
                  <a:srgbClr val="808080"/>
                </a:solidFill>
                <a:effectLst/>
              </a:rPr>
              <a:t># </a:t>
            </a:r>
            <a:r>
              <a:rPr lang="zh-CN" altLang="en-US" sz="900" dirty="0">
                <a:solidFill>
                  <a:srgbClr val="808080"/>
                </a:solidFill>
                <a:effectLst/>
                <a:latin typeface="Menlo-Regular" panose="020B0609030804020204" pitchFamily="49" charset="0"/>
              </a:rPr>
              <a:t>归结步骤</a:t>
            </a:r>
            <a:r>
              <a:rPr lang="zh-CN" altLang="en-US" sz="900" dirty="0">
                <a:solidFill>
                  <a:srgbClr val="808080"/>
                </a:solidFill>
                <a:effectLst/>
              </a:rPr>
              <a:t> </a:t>
            </a:r>
            <a:r>
              <a:rPr lang="en-US" altLang="zh-CN" sz="900" dirty="0">
                <a:solidFill>
                  <a:srgbClr val="808080"/>
                </a:solidFill>
                <a:effectLst/>
              </a:rPr>
              <a:t>1</a:t>
            </a:r>
            <a:r>
              <a:rPr lang="zh-CN" altLang="en-US" sz="900" dirty="0">
                <a:solidFill>
                  <a:srgbClr val="808080"/>
                </a:solidFill>
                <a:effectLst/>
                <a:latin typeface="Menlo-Regular" panose="020B0609030804020204" pitchFamily="49" charset="0"/>
              </a:rPr>
              <a:t>：处理交通信号</a:t>
            </a:r>
            <a:br>
              <a:rPr lang="zh-CN" altLang="en-US" sz="900" dirty="0">
                <a:solidFill>
                  <a:srgbClr val="808080"/>
                </a:solidFill>
                <a:effectLst/>
                <a:latin typeface="Menlo-Regular" panose="020B0609030804020204" pitchFamily="49" charset="0"/>
              </a:rPr>
            </a:br>
            <a:r>
              <a:rPr lang="zh-CN" altLang="en-US" sz="900" dirty="0">
                <a:solidFill>
                  <a:srgbClr val="808080"/>
                </a:solidFill>
                <a:effectLst/>
                <a:latin typeface="Menlo-Regular" panose="020B0609030804020204" pitchFamily="49" charset="0"/>
              </a:rPr>
              <a:t>    </a:t>
            </a:r>
            <a:r>
              <a:rPr lang="en" altLang="zh-CN" sz="900" dirty="0">
                <a:solidFill>
                  <a:srgbClr val="CC7832"/>
                </a:solidFill>
                <a:effectLst/>
              </a:rPr>
              <a:t>if </a:t>
            </a:r>
            <a:r>
              <a:rPr lang="en" altLang="zh-CN" sz="900" dirty="0"/>
              <a:t>facts[</a:t>
            </a:r>
            <a:r>
              <a:rPr lang="en" altLang="zh-CN" sz="900" dirty="0">
                <a:solidFill>
                  <a:srgbClr val="6A8759"/>
                </a:solidFill>
                <a:effectLst/>
              </a:rPr>
              <a:t>“</a:t>
            </a:r>
            <a:r>
              <a:rPr lang="en" altLang="zh-CN" sz="900" dirty="0" err="1">
                <a:solidFill>
                  <a:srgbClr val="6A8759"/>
                </a:solidFill>
                <a:effectLst/>
              </a:rPr>
              <a:t>TrafficSignal</a:t>
            </a:r>
            <a:r>
              <a:rPr lang="en" altLang="zh-CN" sz="900" dirty="0">
                <a:solidFill>
                  <a:srgbClr val="6A8759"/>
                </a:solidFill>
                <a:effectLst/>
              </a:rPr>
              <a:t>(Red)”</a:t>
            </a:r>
            <a:r>
              <a:rPr lang="en" altLang="zh-CN" sz="900" dirty="0"/>
              <a:t>]:</a:t>
            </a:r>
            <a:br>
              <a:rPr lang="en" altLang="zh-CN" sz="900" dirty="0"/>
            </a:br>
            <a:r>
              <a:rPr lang="en" altLang="zh-CN" sz="900" dirty="0"/>
              <a:t>        </a:t>
            </a:r>
            <a:r>
              <a:rPr lang="en" altLang="zh-CN" sz="900" dirty="0">
                <a:solidFill>
                  <a:srgbClr val="8888C6"/>
                </a:solidFill>
                <a:effectLst/>
              </a:rPr>
              <a:t>print</a:t>
            </a:r>
            <a:r>
              <a:rPr lang="en" altLang="zh-CN" sz="900" dirty="0"/>
              <a:t>(</a:t>
            </a:r>
            <a:r>
              <a:rPr lang="en" altLang="zh-CN" sz="900" dirty="0">
                <a:solidFill>
                  <a:srgbClr val="6A8759"/>
                </a:solidFill>
                <a:effectLst/>
              </a:rPr>
              <a:t>“</a:t>
            </a:r>
            <a:r>
              <a:rPr lang="zh-CN" altLang="en-US" sz="900" dirty="0">
                <a:solidFill>
                  <a:srgbClr val="6A8759"/>
                </a:solidFill>
                <a:effectLst/>
                <a:latin typeface="Menlo-Regular" panose="020B0609030804020204" pitchFamily="49" charset="0"/>
              </a:rPr>
              <a:t>步骤</a:t>
            </a:r>
            <a:r>
              <a:rPr lang="zh-CN" altLang="en-US" sz="900" dirty="0">
                <a:solidFill>
                  <a:srgbClr val="6A8759"/>
                </a:solidFill>
                <a:effectLst/>
              </a:rPr>
              <a:t> </a:t>
            </a:r>
            <a:r>
              <a:rPr lang="en-US" altLang="zh-CN" sz="900" dirty="0">
                <a:solidFill>
                  <a:srgbClr val="6A8759"/>
                </a:solidFill>
                <a:effectLst/>
              </a:rPr>
              <a:t>1</a:t>
            </a:r>
            <a:r>
              <a:rPr lang="zh-CN" altLang="en-US" sz="900" dirty="0">
                <a:solidFill>
                  <a:srgbClr val="6A8759"/>
                </a:solidFill>
                <a:effectLst/>
                <a:latin typeface="Menlo-Regular" panose="020B0609030804020204" pitchFamily="49" charset="0"/>
              </a:rPr>
              <a:t>：交通信号是红灯，车辆应停车。</a:t>
            </a:r>
            <a:r>
              <a:rPr lang="en-US" altLang="zh-CN" sz="900" dirty="0">
                <a:solidFill>
                  <a:srgbClr val="6A8759"/>
                </a:solidFill>
                <a:effectLst/>
              </a:rPr>
              <a:t>”</a:t>
            </a:r>
            <a:r>
              <a:rPr lang="en-US" altLang="zh-CN" sz="900" dirty="0"/>
              <a:t>)</a:t>
            </a:r>
            <a:br>
              <a:rPr lang="en-US" altLang="zh-CN" sz="900" dirty="0"/>
            </a:br>
            <a:r>
              <a:rPr lang="en-US" altLang="zh-CN" sz="900" dirty="0"/>
              <a:t>        </a:t>
            </a:r>
            <a:r>
              <a:rPr lang="en" altLang="zh-CN" sz="900" dirty="0"/>
              <a:t>decision = </a:t>
            </a:r>
            <a:r>
              <a:rPr lang="en" altLang="zh-CN" sz="900" dirty="0">
                <a:solidFill>
                  <a:srgbClr val="6A8759"/>
                </a:solidFill>
                <a:effectLst/>
              </a:rPr>
              <a:t>“Stop(Vehicle)”</a:t>
            </a:r>
            <a:br>
              <a:rPr lang="en" altLang="zh-CN" sz="900" dirty="0">
                <a:solidFill>
                  <a:srgbClr val="6A8759"/>
                </a:solidFill>
                <a:effectLst/>
              </a:rPr>
            </a:br>
            <a:r>
              <a:rPr lang="zh-CN" altLang="en-US" sz="900" dirty="0">
                <a:solidFill>
                  <a:srgbClr val="6A8759"/>
                </a:solidFill>
                <a:effectLst/>
              </a:rPr>
              <a:t>    </a:t>
            </a:r>
            <a:r>
              <a:rPr lang="en" altLang="zh-CN" sz="900" dirty="0">
                <a:solidFill>
                  <a:srgbClr val="808080"/>
                </a:solidFill>
                <a:effectLst/>
              </a:rPr>
              <a:t># </a:t>
            </a:r>
            <a:r>
              <a:rPr lang="zh-CN" altLang="en-US" sz="900" dirty="0">
                <a:solidFill>
                  <a:srgbClr val="808080"/>
                </a:solidFill>
                <a:effectLst/>
                <a:latin typeface="Menlo-Regular" panose="020B0609030804020204" pitchFamily="49" charset="0"/>
              </a:rPr>
              <a:t>归结步骤</a:t>
            </a:r>
            <a:r>
              <a:rPr lang="zh-CN" altLang="en-US" sz="900" dirty="0">
                <a:solidFill>
                  <a:srgbClr val="808080"/>
                </a:solidFill>
                <a:effectLst/>
              </a:rPr>
              <a:t> </a:t>
            </a:r>
            <a:r>
              <a:rPr lang="en-US" altLang="zh-CN" sz="900" dirty="0">
                <a:solidFill>
                  <a:srgbClr val="808080"/>
                </a:solidFill>
                <a:effectLst/>
              </a:rPr>
              <a:t>2</a:t>
            </a:r>
            <a:r>
              <a:rPr lang="zh-CN" altLang="en-US" sz="900" dirty="0">
                <a:solidFill>
                  <a:srgbClr val="808080"/>
                </a:solidFill>
                <a:effectLst/>
                <a:latin typeface="Menlo-Regular" panose="020B0609030804020204" pitchFamily="49" charset="0"/>
              </a:rPr>
              <a:t>：行人规则</a:t>
            </a:r>
            <a:br>
              <a:rPr lang="zh-CN" altLang="en-US" sz="900" dirty="0">
                <a:solidFill>
                  <a:srgbClr val="808080"/>
                </a:solidFill>
                <a:effectLst/>
                <a:latin typeface="Menlo-Regular" panose="020B0609030804020204" pitchFamily="49" charset="0"/>
              </a:rPr>
            </a:br>
            <a:r>
              <a:rPr lang="zh-CN" altLang="en-US" sz="900" dirty="0">
                <a:solidFill>
                  <a:srgbClr val="808080"/>
                </a:solidFill>
                <a:effectLst/>
                <a:latin typeface="Menlo-Regular" panose="020B0609030804020204" pitchFamily="49" charset="0"/>
              </a:rPr>
              <a:t>    </a:t>
            </a:r>
            <a:r>
              <a:rPr lang="en" altLang="zh-CN" sz="900" dirty="0">
                <a:solidFill>
                  <a:srgbClr val="CC7832"/>
                </a:solidFill>
                <a:effectLst/>
              </a:rPr>
              <a:t>if </a:t>
            </a:r>
            <a:r>
              <a:rPr lang="en" altLang="zh-CN" sz="900" dirty="0"/>
              <a:t>facts[</a:t>
            </a:r>
            <a:r>
              <a:rPr lang="en" altLang="zh-CN" sz="900" dirty="0">
                <a:solidFill>
                  <a:srgbClr val="6A8759"/>
                </a:solidFill>
                <a:effectLst/>
              </a:rPr>
              <a:t>"</a:t>
            </a:r>
            <a:r>
              <a:rPr lang="en" altLang="zh-CN" sz="900" dirty="0" err="1">
                <a:solidFill>
                  <a:srgbClr val="6A8759"/>
                </a:solidFill>
                <a:effectLst/>
              </a:rPr>
              <a:t>PedestrianNear</a:t>
            </a:r>
            <a:r>
              <a:rPr lang="en" altLang="zh-CN" sz="900" dirty="0">
                <a:solidFill>
                  <a:srgbClr val="6A8759"/>
                </a:solidFill>
                <a:effectLst/>
              </a:rPr>
              <a:t>(Person1)"</a:t>
            </a:r>
            <a:r>
              <a:rPr lang="en" altLang="zh-CN" sz="900" dirty="0"/>
              <a:t>]:</a:t>
            </a:r>
            <a:br>
              <a:rPr lang="en" altLang="zh-CN" sz="900" dirty="0"/>
            </a:br>
            <a:r>
              <a:rPr lang="en" altLang="zh-CN" sz="900" dirty="0"/>
              <a:t>        </a:t>
            </a:r>
            <a:r>
              <a:rPr lang="en" altLang="zh-CN" sz="900" dirty="0">
                <a:solidFill>
                  <a:srgbClr val="8888C6"/>
                </a:solidFill>
                <a:effectLst/>
              </a:rPr>
              <a:t>print</a:t>
            </a:r>
            <a:r>
              <a:rPr lang="en" altLang="zh-CN" sz="900" dirty="0"/>
              <a:t>(</a:t>
            </a:r>
            <a:r>
              <a:rPr lang="en" altLang="zh-CN" sz="900" dirty="0">
                <a:solidFill>
                  <a:srgbClr val="6A8759"/>
                </a:solidFill>
                <a:effectLst/>
              </a:rPr>
              <a:t>"</a:t>
            </a:r>
            <a:r>
              <a:rPr lang="zh-CN" altLang="en-US" sz="900" dirty="0">
                <a:solidFill>
                  <a:srgbClr val="6A8759"/>
                </a:solidFill>
                <a:effectLst/>
                <a:latin typeface="Menlo-Regular" panose="020B0609030804020204" pitchFamily="49" charset="0"/>
              </a:rPr>
              <a:t>步骤</a:t>
            </a:r>
            <a:r>
              <a:rPr lang="zh-CN" altLang="en-US" sz="900" dirty="0">
                <a:solidFill>
                  <a:srgbClr val="6A8759"/>
                </a:solidFill>
                <a:effectLst/>
              </a:rPr>
              <a:t> </a:t>
            </a:r>
            <a:r>
              <a:rPr lang="en-US" altLang="zh-CN" sz="900" dirty="0">
                <a:solidFill>
                  <a:srgbClr val="6A8759"/>
                </a:solidFill>
                <a:effectLst/>
              </a:rPr>
              <a:t>2</a:t>
            </a:r>
            <a:r>
              <a:rPr lang="zh-CN" altLang="en-US" sz="900" dirty="0">
                <a:solidFill>
                  <a:srgbClr val="6A8759"/>
                </a:solidFill>
                <a:effectLst/>
                <a:latin typeface="Menlo-Regular" panose="020B0609030804020204" pitchFamily="49" charset="0"/>
              </a:rPr>
              <a:t>：行人在斑马线上，车辆应停车。</a:t>
            </a:r>
            <a:r>
              <a:rPr lang="en-US" altLang="zh-CN" sz="900" dirty="0">
                <a:solidFill>
                  <a:srgbClr val="6A8759"/>
                </a:solidFill>
                <a:effectLst/>
              </a:rPr>
              <a:t>"</a:t>
            </a:r>
            <a:r>
              <a:rPr lang="en-US" altLang="zh-CN" sz="900" dirty="0"/>
              <a:t>)</a:t>
            </a:r>
            <a:br>
              <a:rPr lang="en-US" altLang="zh-CN" sz="900" dirty="0"/>
            </a:br>
            <a:r>
              <a:rPr lang="en-US" altLang="zh-CN" sz="900" dirty="0"/>
              <a:t>        </a:t>
            </a:r>
            <a:r>
              <a:rPr lang="en" altLang="zh-CN" sz="900" dirty="0"/>
              <a:t>decision = </a:t>
            </a:r>
            <a:r>
              <a:rPr lang="en" altLang="zh-CN" sz="900" dirty="0">
                <a:solidFill>
                  <a:srgbClr val="6A8759"/>
                </a:solidFill>
                <a:effectLst/>
              </a:rPr>
              <a:t>"Stop(Vehicle)"</a:t>
            </a:r>
            <a:br>
              <a:rPr lang="en" altLang="zh-CN" sz="900" dirty="0">
                <a:solidFill>
                  <a:srgbClr val="6A8759"/>
                </a:solidFill>
                <a:effectLst/>
              </a:rPr>
            </a:br>
            <a:r>
              <a:rPr lang="en" altLang="zh-CN" sz="900" dirty="0">
                <a:solidFill>
                  <a:srgbClr val="6A8759"/>
                </a:solidFill>
                <a:effectLst/>
              </a:rPr>
              <a:t>    </a:t>
            </a:r>
            <a:r>
              <a:rPr lang="en" altLang="zh-CN" sz="900" dirty="0">
                <a:solidFill>
                  <a:srgbClr val="808080"/>
                </a:solidFill>
                <a:effectLst/>
              </a:rPr>
              <a:t># </a:t>
            </a:r>
            <a:r>
              <a:rPr lang="zh-CN" altLang="en-US" sz="900" dirty="0">
                <a:solidFill>
                  <a:srgbClr val="808080"/>
                </a:solidFill>
                <a:effectLst/>
                <a:latin typeface="Menlo-Regular" panose="020B0609030804020204" pitchFamily="49" charset="0"/>
              </a:rPr>
              <a:t>归结步骤</a:t>
            </a:r>
            <a:r>
              <a:rPr lang="zh-CN" altLang="en-US" sz="900" dirty="0">
                <a:solidFill>
                  <a:srgbClr val="808080"/>
                </a:solidFill>
                <a:effectLst/>
              </a:rPr>
              <a:t> </a:t>
            </a:r>
            <a:r>
              <a:rPr lang="en-US" altLang="zh-CN" sz="900" dirty="0">
                <a:solidFill>
                  <a:srgbClr val="808080"/>
                </a:solidFill>
                <a:effectLst/>
              </a:rPr>
              <a:t>3</a:t>
            </a:r>
            <a:r>
              <a:rPr lang="zh-CN" altLang="en-US" sz="900" dirty="0">
                <a:solidFill>
                  <a:srgbClr val="808080"/>
                </a:solidFill>
                <a:effectLst/>
                <a:latin typeface="Menlo-Regular" panose="020B0609030804020204" pitchFamily="49" charset="0"/>
              </a:rPr>
              <a:t>：前方车辆规则</a:t>
            </a:r>
            <a:br>
              <a:rPr lang="zh-CN" altLang="en-US" sz="900" dirty="0">
                <a:solidFill>
                  <a:srgbClr val="808080"/>
                </a:solidFill>
                <a:effectLst/>
                <a:latin typeface="Menlo-Regular" panose="020B0609030804020204" pitchFamily="49" charset="0"/>
              </a:rPr>
            </a:br>
            <a:r>
              <a:rPr lang="zh-CN" altLang="en-US" sz="900" dirty="0">
                <a:solidFill>
                  <a:srgbClr val="808080"/>
                </a:solidFill>
                <a:effectLst/>
                <a:latin typeface="Menlo-Regular" panose="020B0609030804020204" pitchFamily="49" charset="0"/>
              </a:rPr>
              <a:t>    </a:t>
            </a:r>
            <a:r>
              <a:rPr lang="en" altLang="zh-CN" sz="900" dirty="0">
                <a:solidFill>
                  <a:srgbClr val="CC7832"/>
                </a:solidFill>
                <a:effectLst/>
              </a:rPr>
              <a:t>if </a:t>
            </a:r>
            <a:r>
              <a:rPr lang="en" altLang="zh-CN" sz="900" dirty="0"/>
              <a:t>facts[</a:t>
            </a:r>
            <a:r>
              <a:rPr lang="en" altLang="zh-CN" sz="900" dirty="0">
                <a:solidFill>
                  <a:srgbClr val="6A8759"/>
                </a:solidFill>
                <a:effectLst/>
              </a:rPr>
              <a:t>"</a:t>
            </a:r>
            <a:r>
              <a:rPr lang="en" altLang="zh-CN" sz="900" dirty="0" err="1">
                <a:solidFill>
                  <a:srgbClr val="6A8759"/>
                </a:solidFill>
                <a:effectLst/>
              </a:rPr>
              <a:t>VehicleChangLane</a:t>
            </a:r>
            <a:r>
              <a:rPr lang="en" altLang="zh-CN" sz="900" dirty="0">
                <a:solidFill>
                  <a:srgbClr val="6A8759"/>
                </a:solidFill>
                <a:effectLst/>
              </a:rPr>
              <a:t>(</a:t>
            </a:r>
            <a:r>
              <a:rPr lang="en" altLang="zh-CN" sz="900" dirty="0" err="1">
                <a:solidFill>
                  <a:srgbClr val="6A8759"/>
                </a:solidFill>
                <a:effectLst/>
              </a:rPr>
              <a:t>FrontVehicle</a:t>
            </a:r>
            <a:r>
              <a:rPr lang="en" altLang="zh-CN" sz="900" dirty="0">
                <a:solidFill>
                  <a:srgbClr val="6A8759"/>
                </a:solidFill>
                <a:effectLst/>
              </a:rPr>
              <a:t>)"</a:t>
            </a:r>
            <a:r>
              <a:rPr lang="en" altLang="zh-CN" sz="900" dirty="0"/>
              <a:t>] </a:t>
            </a:r>
            <a:r>
              <a:rPr lang="en" altLang="zh-CN" sz="900" dirty="0">
                <a:solidFill>
                  <a:srgbClr val="CC7832"/>
                </a:solidFill>
                <a:effectLst/>
              </a:rPr>
              <a:t>and </a:t>
            </a:r>
            <a:r>
              <a:rPr lang="en" altLang="zh-CN" sz="900" dirty="0"/>
              <a:t>facts[</a:t>
            </a:r>
            <a:r>
              <a:rPr lang="en" altLang="zh-CN" sz="900" dirty="0">
                <a:solidFill>
                  <a:srgbClr val="6A8759"/>
                </a:solidFill>
                <a:effectLst/>
              </a:rPr>
              <a:t>"</a:t>
            </a:r>
            <a:r>
              <a:rPr lang="en" altLang="zh-CN" sz="900" dirty="0" err="1">
                <a:solidFill>
                  <a:srgbClr val="6A8759"/>
                </a:solidFill>
                <a:effectLst/>
              </a:rPr>
              <a:t>VehicleSpeed</a:t>
            </a:r>
            <a:r>
              <a:rPr lang="en" altLang="zh-CN" sz="900" dirty="0">
                <a:solidFill>
                  <a:srgbClr val="6A8759"/>
                </a:solidFill>
                <a:effectLst/>
              </a:rPr>
              <a:t>(</a:t>
            </a:r>
            <a:r>
              <a:rPr lang="en" altLang="zh-CN" sz="900" dirty="0" err="1">
                <a:solidFill>
                  <a:srgbClr val="6A8759"/>
                </a:solidFill>
                <a:effectLst/>
              </a:rPr>
              <a:t>FrontVehicle</a:t>
            </a:r>
            <a:r>
              <a:rPr lang="en" altLang="zh-CN" sz="900" dirty="0">
                <a:solidFill>
                  <a:srgbClr val="6A8759"/>
                </a:solidFill>
                <a:effectLst/>
              </a:rPr>
              <a:t>, Fast)"</a:t>
            </a:r>
            <a:r>
              <a:rPr lang="en" altLang="zh-CN" sz="900" dirty="0"/>
              <a:t>]:</a:t>
            </a:r>
            <a:br>
              <a:rPr lang="en" altLang="zh-CN" sz="900" dirty="0"/>
            </a:br>
            <a:r>
              <a:rPr lang="en" altLang="zh-CN" sz="900" dirty="0"/>
              <a:t>        </a:t>
            </a:r>
            <a:r>
              <a:rPr lang="en" altLang="zh-CN" sz="900" dirty="0">
                <a:solidFill>
                  <a:srgbClr val="8888C6"/>
                </a:solidFill>
                <a:effectLst/>
              </a:rPr>
              <a:t>print</a:t>
            </a:r>
            <a:r>
              <a:rPr lang="en" altLang="zh-CN" sz="900" dirty="0"/>
              <a:t>(</a:t>
            </a:r>
            <a:r>
              <a:rPr lang="en" altLang="zh-CN" sz="900" dirty="0">
                <a:solidFill>
                  <a:srgbClr val="6A8759"/>
                </a:solidFill>
                <a:effectLst/>
              </a:rPr>
              <a:t>"</a:t>
            </a:r>
            <a:r>
              <a:rPr lang="zh-CN" altLang="en-US" sz="900" dirty="0">
                <a:solidFill>
                  <a:srgbClr val="6A8759"/>
                </a:solidFill>
                <a:effectLst/>
                <a:latin typeface="Menlo-Regular" panose="020B0609030804020204" pitchFamily="49" charset="0"/>
              </a:rPr>
              <a:t>步骤</a:t>
            </a:r>
            <a:r>
              <a:rPr lang="zh-CN" altLang="en-US" sz="900" dirty="0">
                <a:solidFill>
                  <a:srgbClr val="6A8759"/>
                </a:solidFill>
                <a:effectLst/>
              </a:rPr>
              <a:t> </a:t>
            </a:r>
            <a:r>
              <a:rPr lang="en-US" altLang="zh-CN" sz="900" dirty="0">
                <a:solidFill>
                  <a:srgbClr val="6A8759"/>
                </a:solidFill>
                <a:effectLst/>
              </a:rPr>
              <a:t>3</a:t>
            </a:r>
            <a:r>
              <a:rPr lang="zh-CN" altLang="en-US" sz="900" dirty="0">
                <a:solidFill>
                  <a:srgbClr val="6A8759"/>
                </a:solidFill>
                <a:effectLst/>
                <a:latin typeface="Menlo-Regular" panose="020B0609030804020204" pitchFamily="49" charset="0"/>
              </a:rPr>
              <a:t>：前方车辆变道且速度快，车辆应减速。</a:t>
            </a:r>
            <a:r>
              <a:rPr lang="en-US" altLang="zh-CN" sz="900" dirty="0">
                <a:solidFill>
                  <a:srgbClr val="6A8759"/>
                </a:solidFill>
                <a:effectLst/>
              </a:rPr>
              <a:t>"</a:t>
            </a:r>
            <a:r>
              <a:rPr lang="en-US" altLang="zh-CN" sz="900" dirty="0"/>
              <a:t>)</a:t>
            </a:r>
            <a:br>
              <a:rPr lang="en-US" altLang="zh-CN" sz="900" dirty="0"/>
            </a:br>
            <a:r>
              <a:rPr lang="en-US" altLang="zh-CN" sz="900" dirty="0"/>
              <a:t>        </a:t>
            </a:r>
            <a:r>
              <a:rPr lang="en" altLang="zh-CN" sz="900" dirty="0">
                <a:solidFill>
                  <a:srgbClr val="CC7832"/>
                </a:solidFill>
                <a:effectLst/>
              </a:rPr>
              <a:t>if </a:t>
            </a:r>
            <a:r>
              <a:rPr lang="en" altLang="zh-CN" sz="900" dirty="0"/>
              <a:t>decision != </a:t>
            </a:r>
            <a:r>
              <a:rPr lang="en" altLang="zh-CN" sz="900" dirty="0">
                <a:solidFill>
                  <a:srgbClr val="6A8759"/>
                </a:solidFill>
                <a:effectLst/>
              </a:rPr>
              <a:t>"Stop(Vehicle)"</a:t>
            </a:r>
            <a:r>
              <a:rPr lang="en" altLang="zh-CN" sz="900" dirty="0"/>
              <a:t>:</a:t>
            </a:r>
            <a:br>
              <a:rPr lang="en" altLang="zh-CN" sz="900" dirty="0"/>
            </a:br>
            <a:r>
              <a:rPr lang="en" altLang="zh-CN" sz="900" dirty="0"/>
              <a:t>            decision = </a:t>
            </a:r>
            <a:r>
              <a:rPr lang="en" altLang="zh-CN" sz="900" dirty="0">
                <a:solidFill>
                  <a:srgbClr val="6A8759"/>
                </a:solidFill>
                <a:effectLst/>
              </a:rPr>
              <a:t>"</a:t>
            </a:r>
            <a:r>
              <a:rPr lang="en" altLang="zh-CN" sz="900" dirty="0" err="1">
                <a:solidFill>
                  <a:srgbClr val="6A8759"/>
                </a:solidFill>
                <a:effectLst/>
              </a:rPr>
              <a:t>SlowDown</a:t>
            </a:r>
            <a:r>
              <a:rPr lang="en" altLang="zh-CN" sz="900" dirty="0">
                <a:solidFill>
                  <a:srgbClr val="6A8759"/>
                </a:solidFill>
                <a:effectLst/>
              </a:rPr>
              <a:t>(Vehicle)"</a:t>
            </a:r>
            <a:br>
              <a:rPr lang="en" altLang="zh-CN" sz="900" dirty="0">
                <a:solidFill>
                  <a:srgbClr val="6A8759"/>
                </a:solidFill>
                <a:effectLst/>
              </a:rPr>
            </a:br>
            <a:r>
              <a:rPr lang="en" altLang="zh-CN" sz="900" dirty="0">
                <a:solidFill>
                  <a:srgbClr val="6A8759"/>
                </a:solidFill>
                <a:effectLst/>
              </a:rPr>
              <a:t>    </a:t>
            </a:r>
            <a:r>
              <a:rPr lang="en" altLang="zh-CN" sz="900" dirty="0">
                <a:solidFill>
                  <a:srgbClr val="808080"/>
                </a:solidFill>
                <a:effectLst/>
              </a:rPr>
              <a:t># </a:t>
            </a:r>
            <a:r>
              <a:rPr lang="zh-CN" altLang="en-US" sz="900" dirty="0">
                <a:solidFill>
                  <a:srgbClr val="808080"/>
                </a:solidFill>
                <a:effectLst/>
                <a:latin typeface="Menlo-Regular" panose="020B0609030804020204" pitchFamily="49" charset="0"/>
              </a:rPr>
              <a:t>归结步骤</a:t>
            </a:r>
            <a:r>
              <a:rPr lang="zh-CN" altLang="en-US" sz="900" dirty="0">
                <a:solidFill>
                  <a:srgbClr val="808080"/>
                </a:solidFill>
                <a:effectLst/>
              </a:rPr>
              <a:t> </a:t>
            </a:r>
            <a:r>
              <a:rPr lang="en-US" altLang="zh-CN" sz="900" dirty="0">
                <a:solidFill>
                  <a:srgbClr val="808080"/>
                </a:solidFill>
                <a:effectLst/>
              </a:rPr>
              <a:t>4</a:t>
            </a:r>
            <a:r>
              <a:rPr lang="zh-CN" altLang="en-US" sz="900" dirty="0">
                <a:solidFill>
                  <a:srgbClr val="808080"/>
                </a:solidFill>
                <a:effectLst/>
                <a:latin typeface="Menlo-Regular" panose="020B0609030804020204" pitchFamily="49" charset="0"/>
              </a:rPr>
              <a:t>：紧急情况</a:t>
            </a:r>
            <a:br>
              <a:rPr lang="zh-CN" altLang="en-US" sz="900" dirty="0">
                <a:solidFill>
                  <a:srgbClr val="808080"/>
                </a:solidFill>
                <a:effectLst/>
                <a:latin typeface="Menlo-Regular" panose="020B0609030804020204" pitchFamily="49" charset="0"/>
              </a:rPr>
            </a:br>
            <a:r>
              <a:rPr lang="zh-CN" altLang="en-US" sz="900" dirty="0">
                <a:solidFill>
                  <a:srgbClr val="808080"/>
                </a:solidFill>
                <a:effectLst/>
                <a:latin typeface="Menlo-Regular" panose="020B0609030804020204" pitchFamily="49" charset="0"/>
              </a:rPr>
              <a:t>    </a:t>
            </a:r>
            <a:r>
              <a:rPr lang="en" altLang="zh-CN" sz="900" dirty="0">
                <a:solidFill>
                  <a:srgbClr val="CC7832"/>
                </a:solidFill>
                <a:effectLst/>
              </a:rPr>
              <a:t>if </a:t>
            </a:r>
            <a:r>
              <a:rPr lang="en" altLang="zh-CN" sz="900" dirty="0"/>
              <a:t>facts[</a:t>
            </a:r>
            <a:r>
              <a:rPr lang="en" altLang="zh-CN" sz="900" dirty="0">
                <a:solidFill>
                  <a:srgbClr val="6A8759"/>
                </a:solidFill>
                <a:effectLst/>
              </a:rPr>
              <a:t>"</a:t>
            </a:r>
            <a:r>
              <a:rPr lang="en" altLang="zh-CN" sz="900" dirty="0" err="1">
                <a:solidFill>
                  <a:srgbClr val="6A8759"/>
                </a:solidFill>
                <a:effectLst/>
              </a:rPr>
              <a:t>EmergencyVehicle</a:t>
            </a:r>
            <a:r>
              <a:rPr lang="en" altLang="zh-CN" sz="900" dirty="0">
                <a:solidFill>
                  <a:srgbClr val="6A8759"/>
                </a:solidFill>
                <a:effectLst/>
              </a:rPr>
              <a:t>(EV)"</a:t>
            </a:r>
            <a:r>
              <a:rPr lang="en" altLang="zh-CN" sz="900" dirty="0"/>
              <a:t>] </a:t>
            </a:r>
            <a:r>
              <a:rPr lang="en" altLang="zh-CN" sz="900" dirty="0">
                <a:solidFill>
                  <a:srgbClr val="CC7832"/>
                </a:solidFill>
                <a:effectLst/>
              </a:rPr>
              <a:t>and </a:t>
            </a:r>
            <a:r>
              <a:rPr lang="en" altLang="zh-CN" sz="900" dirty="0"/>
              <a:t>facts[</a:t>
            </a:r>
            <a:r>
              <a:rPr lang="en" altLang="zh-CN" sz="900" dirty="0">
                <a:solidFill>
                  <a:srgbClr val="6A8759"/>
                </a:solidFill>
                <a:effectLst/>
              </a:rPr>
              <a:t>"</a:t>
            </a:r>
            <a:r>
              <a:rPr lang="en" altLang="zh-CN" sz="900" dirty="0" err="1">
                <a:solidFill>
                  <a:srgbClr val="6A8759"/>
                </a:solidFill>
                <a:effectLst/>
              </a:rPr>
              <a:t>SirenActive</a:t>
            </a:r>
            <a:r>
              <a:rPr lang="en" altLang="zh-CN" sz="900" dirty="0">
                <a:solidFill>
                  <a:srgbClr val="6A8759"/>
                </a:solidFill>
                <a:effectLst/>
              </a:rPr>
              <a:t>(EV)"</a:t>
            </a:r>
            <a:r>
              <a:rPr lang="en" altLang="zh-CN" sz="900" dirty="0"/>
              <a:t>]:</a:t>
            </a:r>
            <a:br>
              <a:rPr lang="en" altLang="zh-CN" sz="900" dirty="0"/>
            </a:br>
            <a:r>
              <a:rPr lang="en" altLang="zh-CN" sz="900" dirty="0"/>
              <a:t>        </a:t>
            </a:r>
            <a:r>
              <a:rPr lang="en" altLang="zh-CN" sz="900" dirty="0">
                <a:solidFill>
                  <a:srgbClr val="8888C6"/>
                </a:solidFill>
                <a:effectLst/>
              </a:rPr>
              <a:t>print</a:t>
            </a:r>
            <a:r>
              <a:rPr lang="en" altLang="zh-CN" sz="900" dirty="0"/>
              <a:t>(</a:t>
            </a:r>
            <a:r>
              <a:rPr lang="en" altLang="zh-CN" sz="900" dirty="0">
                <a:solidFill>
                  <a:srgbClr val="6A8759"/>
                </a:solidFill>
                <a:effectLst/>
              </a:rPr>
              <a:t>"</a:t>
            </a:r>
            <a:r>
              <a:rPr lang="zh-CN" altLang="en-US" sz="900" dirty="0">
                <a:solidFill>
                  <a:srgbClr val="6A8759"/>
                </a:solidFill>
                <a:effectLst/>
                <a:latin typeface="Menlo-Regular" panose="020B0609030804020204" pitchFamily="49" charset="0"/>
              </a:rPr>
              <a:t>步骤</a:t>
            </a:r>
            <a:r>
              <a:rPr lang="zh-CN" altLang="en-US" sz="900" dirty="0">
                <a:solidFill>
                  <a:srgbClr val="6A8759"/>
                </a:solidFill>
                <a:effectLst/>
              </a:rPr>
              <a:t> </a:t>
            </a:r>
            <a:r>
              <a:rPr lang="en-US" altLang="zh-CN" sz="900" dirty="0">
                <a:solidFill>
                  <a:srgbClr val="6A8759"/>
                </a:solidFill>
                <a:effectLst/>
              </a:rPr>
              <a:t>4</a:t>
            </a:r>
            <a:r>
              <a:rPr lang="zh-CN" altLang="en-US" sz="900" dirty="0">
                <a:solidFill>
                  <a:srgbClr val="6A8759"/>
                </a:solidFill>
                <a:effectLst/>
                <a:latin typeface="Menlo-Regular" panose="020B0609030804020204" pitchFamily="49" charset="0"/>
              </a:rPr>
              <a:t>：紧急车辆正在接近，需让行。</a:t>
            </a:r>
            <a:r>
              <a:rPr lang="en-US" altLang="zh-CN" sz="900" dirty="0">
                <a:solidFill>
                  <a:srgbClr val="6A8759"/>
                </a:solidFill>
                <a:effectLst/>
              </a:rPr>
              <a:t>"</a:t>
            </a:r>
            <a:r>
              <a:rPr lang="en-US" altLang="zh-CN" sz="900" dirty="0"/>
              <a:t>)</a:t>
            </a:r>
            <a:br>
              <a:rPr lang="en-US" altLang="zh-CN" sz="900" dirty="0"/>
            </a:br>
            <a:r>
              <a:rPr lang="en-US" altLang="zh-CN" sz="900" dirty="0"/>
              <a:t>        </a:t>
            </a:r>
            <a:r>
              <a:rPr lang="en" altLang="zh-CN" sz="900" dirty="0">
                <a:solidFill>
                  <a:srgbClr val="CC7832"/>
                </a:solidFill>
                <a:effectLst/>
              </a:rPr>
              <a:t>if </a:t>
            </a:r>
            <a:r>
              <a:rPr lang="en" altLang="zh-CN" sz="900" dirty="0"/>
              <a:t>decision == </a:t>
            </a:r>
            <a:r>
              <a:rPr lang="en" altLang="zh-CN" sz="900" dirty="0">
                <a:solidFill>
                  <a:srgbClr val="6A8759"/>
                </a:solidFill>
                <a:effectLst/>
              </a:rPr>
              <a:t>"Stop(Vehicle)"</a:t>
            </a:r>
            <a:r>
              <a:rPr lang="en" altLang="zh-CN" sz="900" dirty="0"/>
              <a:t>:</a:t>
            </a:r>
            <a:br>
              <a:rPr lang="en" altLang="zh-CN" sz="900" dirty="0"/>
            </a:br>
            <a:r>
              <a:rPr lang="en" altLang="zh-CN" sz="900" dirty="0"/>
              <a:t>            </a:t>
            </a:r>
            <a:r>
              <a:rPr lang="en" altLang="zh-CN" sz="900" dirty="0">
                <a:solidFill>
                  <a:srgbClr val="8888C6"/>
                </a:solidFill>
                <a:effectLst/>
              </a:rPr>
              <a:t>print</a:t>
            </a:r>
            <a:r>
              <a:rPr lang="en" altLang="zh-CN" sz="900" dirty="0"/>
              <a:t>(</a:t>
            </a:r>
            <a:r>
              <a:rPr lang="en" altLang="zh-CN" sz="900" dirty="0">
                <a:solidFill>
                  <a:srgbClr val="6A8759"/>
                </a:solidFill>
                <a:effectLst/>
              </a:rPr>
              <a:t>"</a:t>
            </a:r>
            <a:r>
              <a:rPr lang="zh-CN" altLang="en-US" sz="900" dirty="0">
                <a:solidFill>
                  <a:srgbClr val="6A8759"/>
                </a:solidFill>
                <a:effectLst/>
                <a:latin typeface="Menlo-Regular" panose="020B0609030804020204" pitchFamily="49" charset="0"/>
              </a:rPr>
              <a:t>车辆已停车，等待急救车通过后继续行驶。</a:t>
            </a:r>
            <a:r>
              <a:rPr lang="en-US" altLang="zh-CN" sz="900" dirty="0">
                <a:solidFill>
                  <a:srgbClr val="6A8759"/>
                </a:solidFill>
                <a:effectLst/>
              </a:rPr>
              <a:t>"</a:t>
            </a:r>
            <a:r>
              <a:rPr lang="en-US" altLang="zh-CN" sz="900" dirty="0"/>
              <a:t>)</a:t>
            </a:r>
            <a:br>
              <a:rPr lang="en-US" altLang="zh-CN" sz="900" dirty="0"/>
            </a:br>
            <a:r>
              <a:rPr lang="en-US" altLang="zh-CN" sz="900" dirty="0"/>
              <a:t>        </a:t>
            </a:r>
            <a:r>
              <a:rPr lang="en" altLang="zh-CN" sz="900" dirty="0">
                <a:solidFill>
                  <a:srgbClr val="CC7832"/>
                </a:solidFill>
                <a:effectLst/>
              </a:rPr>
              <a:t>else</a:t>
            </a:r>
            <a:r>
              <a:rPr lang="en" altLang="zh-CN" sz="900" dirty="0"/>
              <a:t>:</a:t>
            </a:r>
            <a:br>
              <a:rPr lang="en" altLang="zh-CN" sz="900" dirty="0"/>
            </a:br>
            <a:r>
              <a:rPr lang="en" altLang="zh-CN" sz="900" dirty="0"/>
              <a:t>            decision = </a:t>
            </a:r>
            <a:r>
              <a:rPr lang="en" altLang="zh-CN" sz="900" dirty="0">
                <a:solidFill>
                  <a:srgbClr val="6A8759"/>
                </a:solidFill>
                <a:effectLst/>
              </a:rPr>
              <a:t>"Yield(EV)"</a:t>
            </a:r>
            <a:br>
              <a:rPr lang="en" altLang="zh-CN" sz="900" dirty="0">
                <a:solidFill>
                  <a:srgbClr val="6A8759"/>
                </a:solidFill>
                <a:effectLst/>
              </a:rPr>
            </a:br>
            <a:r>
              <a:rPr lang="en" altLang="zh-CN" sz="900" dirty="0">
                <a:solidFill>
                  <a:srgbClr val="6A8759"/>
                </a:solidFill>
                <a:effectLst/>
              </a:rPr>
              <a:t>    </a:t>
            </a:r>
            <a:r>
              <a:rPr lang="en" altLang="zh-CN" sz="900" dirty="0">
                <a:solidFill>
                  <a:srgbClr val="808080"/>
                </a:solidFill>
                <a:effectLst/>
              </a:rPr>
              <a:t># </a:t>
            </a:r>
            <a:r>
              <a:rPr lang="zh-CN" altLang="en-US" sz="900" dirty="0">
                <a:solidFill>
                  <a:srgbClr val="808080"/>
                </a:solidFill>
                <a:effectLst/>
                <a:latin typeface="Menlo-Regular" panose="020B0609030804020204" pitchFamily="49" charset="0"/>
              </a:rPr>
              <a:t>归结步骤</a:t>
            </a:r>
            <a:r>
              <a:rPr lang="zh-CN" altLang="en-US" sz="900" dirty="0">
                <a:solidFill>
                  <a:srgbClr val="808080"/>
                </a:solidFill>
                <a:effectLst/>
              </a:rPr>
              <a:t> </a:t>
            </a:r>
            <a:r>
              <a:rPr lang="en-US" altLang="zh-CN" sz="900" dirty="0">
                <a:solidFill>
                  <a:srgbClr val="808080"/>
                </a:solidFill>
                <a:effectLst/>
              </a:rPr>
              <a:t>5</a:t>
            </a:r>
            <a:r>
              <a:rPr lang="zh-CN" altLang="en-US" sz="900" dirty="0">
                <a:solidFill>
                  <a:srgbClr val="808080"/>
                </a:solidFill>
                <a:effectLst/>
                <a:latin typeface="Menlo-Regular" panose="020B0609030804020204" pitchFamily="49" charset="0"/>
              </a:rPr>
              <a:t>：路况信息</a:t>
            </a:r>
            <a:br>
              <a:rPr lang="zh-CN" altLang="en-US" sz="900" dirty="0">
                <a:solidFill>
                  <a:srgbClr val="808080"/>
                </a:solidFill>
                <a:effectLst/>
                <a:latin typeface="Menlo-Regular" panose="020B0609030804020204" pitchFamily="49" charset="0"/>
              </a:rPr>
            </a:br>
            <a:r>
              <a:rPr lang="zh-CN" altLang="en-US" sz="900" dirty="0">
                <a:solidFill>
                  <a:srgbClr val="808080"/>
                </a:solidFill>
                <a:effectLst/>
                <a:latin typeface="Menlo-Regular" panose="020B0609030804020204" pitchFamily="49" charset="0"/>
              </a:rPr>
              <a:t>    </a:t>
            </a:r>
            <a:r>
              <a:rPr lang="en" altLang="zh-CN" sz="900" dirty="0">
                <a:solidFill>
                  <a:srgbClr val="CC7832"/>
                </a:solidFill>
                <a:effectLst/>
              </a:rPr>
              <a:t>if </a:t>
            </a:r>
            <a:r>
              <a:rPr lang="en" altLang="zh-CN" sz="900" dirty="0"/>
              <a:t>facts[</a:t>
            </a:r>
            <a:r>
              <a:rPr lang="en" altLang="zh-CN" sz="900" dirty="0">
                <a:solidFill>
                  <a:srgbClr val="6A8759"/>
                </a:solidFill>
                <a:effectLst/>
              </a:rPr>
              <a:t>"</a:t>
            </a:r>
            <a:r>
              <a:rPr lang="en" altLang="zh-CN" sz="900" dirty="0" err="1">
                <a:solidFill>
                  <a:srgbClr val="6A8759"/>
                </a:solidFill>
                <a:effectLst/>
              </a:rPr>
              <a:t>RoadCondition</a:t>
            </a:r>
            <a:r>
              <a:rPr lang="en" altLang="zh-CN" sz="900" dirty="0">
                <a:solidFill>
                  <a:srgbClr val="6A8759"/>
                </a:solidFill>
                <a:effectLst/>
              </a:rPr>
              <a:t>(Pothole)"</a:t>
            </a:r>
            <a:r>
              <a:rPr lang="en" altLang="zh-CN" sz="900" dirty="0"/>
              <a:t>] </a:t>
            </a:r>
            <a:r>
              <a:rPr lang="en" altLang="zh-CN" sz="900" dirty="0">
                <a:solidFill>
                  <a:srgbClr val="CC7832"/>
                </a:solidFill>
                <a:effectLst/>
              </a:rPr>
              <a:t>and </a:t>
            </a:r>
            <a:r>
              <a:rPr lang="en" altLang="zh-CN" sz="900" dirty="0"/>
              <a:t>facts[</a:t>
            </a:r>
            <a:r>
              <a:rPr lang="en" altLang="zh-CN" sz="900" dirty="0">
                <a:solidFill>
                  <a:srgbClr val="6A8759"/>
                </a:solidFill>
                <a:effectLst/>
              </a:rPr>
              <a:t>"</a:t>
            </a:r>
            <a:r>
              <a:rPr lang="en" altLang="zh-CN" sz="900" dirty="0" err="1">
                <a:solidFill>
                  <a:srgbClr val="6A8759"/>
                </a:solidFill>
                <a:effectLst/>
              </a:rPr>
              <a:t>RoadSpeedLimit</a:t>
            </a:r>
            <a:r>
              <a:rPr lang="en" altLang="zh-CN" sz="900" dirty="0">
                <a:solidFill>
                  <a:srgbClr val="6A8759"/>
                </a:solidFill>
                <a:effectLst/>
              </a:rPr>
              <a:t>(Road, 30)"</a:t>
            </a:r>
            <a:r>
              <a:rPr lang="en" altLang="zh-CN" sz="900" dirty="0"/>
              <a:t>]:</a:t>
            </a:r>
            <a:br>
              <a:rPr lang="en" altLang="zh-CN" sz="900" dirty="0"/>
            </a:br>
            <a:r>
              <a:rPr lang="en" altLang="zh-CN" sz="900" dirty="0"/>
              <a:t>        </a:t>
            </a:r>
            <a:r>
              <a:rPr lang="en" altLang="zh-CN" sz="900" dirty="0">
                <a:solidFill>
                  <a:srgbClr val="8888C6"/>
                </a:solidFill>
                <a:effectLst/>
              </a:rPr>
              <a:t>print</a:t>
            </a:r>
            <a:r>
              <a:rPr lang="en" altLang="zh-CN" sz="900" dirty="0"/>
              <a:t>(</a:t>
            </a:r>
            <a:r>
              <a:rPr lang="en" altLang="zh-CN" sz="900" dirty="0">
                <a:solidFill>
                  <a:srgbClr val="6A8759"/>
                </a:solidFill>
                <a:effectLst/>
              </a:rPr>
              <a:t>"</a:t>
            </a:r>
            <a:r>
              <a:rPr lang="zh-CN" altLang="en-US" sz="900" dirty="0">
                <a:solidFill>
                  <a:srgbClr val="6A8759"/>
                </a:solidFill>
                <a:effectLst/>
                <a:latin typeface="Menlo-Regular" panose="020B0609030804020204" pitchFamily="49" charset="0"/>
              </a:rPr>
              <a:t>步骤</a:t>
            </a:r>
            <a:r>
              <a:rPr lang="zh-CN" altLang="en-US" sz="900" dirty="0">
                <a:solidFill>
                  <a:srgbClr val="6A8759"/>
                </a:solidFill>
                <a:effectLst/>
              </a:rPr>
              <a:t> </a:t>
            </a:r>
            <a:r>
              <a:rPr lang="en-US" altLang="zh-CN" sz="900" dirty="0">
                <a:solidFill>
                  <a:srgbClr val="6A8759"/>
                </a:solidFill>
                <a:effectLst/>
              </a:rPr>
              <a:t>5</a:t>
            </a:r>
            <a:r>
              <a:rPr lang="zh-CN" altLang="en-US" sz="900" dirty="0">
                <a:solidFill>
                  <a:srgbClr val="6A8759"/>
                </a:solidFill>
                <a:effectLst/>
                <a:latin typeface="Menlo-Regular" panose="020B0609030804020204" pitchFamily="49" charset="0"/>
              </a:rPr>
              <a:t>：前方有坑洼路段，车辆应减速。</a:t>
            </a:r>
            <a:r>
              <a:rPr lang="en-US" altLang="zh-CN" sz="900" dirty="0">
                <a:solidFill>
                  <a:srgbClr val="6A8759"/>
                </a:solidFill>
                <a:effectLst/>
              </a:rPr>
              <a:t>"</a:t>
            </a:r>
            <a:r>
              <a:rPr lang="en-US" altLang="zh-CN" sz="900" dirty="0"/>
              <a:t>)</a:t>
            </a:r>
            <a:br>
              <a:rPr lang="en-US" altLang="zh-CN" sz="900" dirty="0"/>
            </a:br>
            <a:r>
              <a:rPr lang="en-US" altLang="zh-CN" sz="900" dirty="0"/>
              <a:t>        </a:t>
            </a:r>
            <a:r>
              <a:rPr lang="en" altLang="zh-CN" sz="900" dirty="0">
                <a:solidFill>
                  <a:srgbClr val="CC7832"/>
                </a:solidFill>
                <a:effectLst/>
              </a:rPr>
              <a:t>if </a:t>
            </a:r>
            <a:r>
              <a:rPr lang="en" altLang="zh-CN" sz="900" dirty="0"/>
              <a:t>decision != </a:t>
            </a:r>
            <a:r>
              <a:rPr lang="en" altLang="zh-CN" sz="900" dirty="0">
                <a:solidFill>
                  <a:srgbClr val="6A8759"/>
                </a:solidFill>
                <a:effectLst/>
              </a:rPr>
              <a:t>"Stop(Vehicle)"</a:t>
            </a:r>
            <a:r>
              <a:rPr lang="en" altLang="zh-CN" sz="900" dirty="0"/>
              <a:t>:</a:t>
            </a:r>
            <a:br>
              <a:rPr lang="en" altLang="zh-CN" sz="900" dirty="0"/>
            </a:br>
            <a:r>
              <a:rPr lang="en" altLang="zh-CN" sz="900" dirty="0"/>
              <a:t>            decision = </a:t>
            </a:r>
            <a:r>
              <a:rPr lang="en" altLang="zh-CN" sz="900" dirty="0">
                <a:solidFill>
                  <a:srgbClr val="6A8759"/>
                </a:solidFill>
                <a:effectLst/>
              </a:rPr>
              <a:t>"</a:t>
            </a:r>
            <a:r>
              <a:rPr lang="en" altLang="zh-CN" sz="900" dirty="0" err="1">
                <a:solidFill>
                  <a:srgbClr val="6A8759"/>
                </a:solidFill>
                <a:effectLst/>
              </a:rPr>
              <a:t>SlowDown</a:t>
            </a:r>
            <a:r>
              <a:rPr lang="en" altLang="zh-CN" sz="900" dirty="0">
                <a:solidFill>
                  <a:srgbClr val="6A8759"/>
                </a:solidFill>
                <a:effectLst/>
              </a:rPr>
              <a:t>(Vehicle)"</a:t>
            </a:r>
            <a:br>
              <a:rPr lang="zh-CN" altLang="en-US" sz="900" dirty="0">
                <a:solidFill>
                  <a:srgbClr val="808080"/>
                </a:solidFill>
                <a:effectLst/>
                <a:latin typeface="Menlo-Regular" panose="020B0609030804020204" pitchFamily="49" charset="0"/>
              </a:rPr>
            </a:br>
            <a:r>
              <a:rPr lang="zh-CN" altLang="en-US" sz="900" dirty="0">
                <a:solidFill>
                  <a:srgbClr val="808080"/>
                </a:solidFill>
                <a:effectLst/>
                <a:latin typeface="Menlo-Regular" panose="020B0609030804020204" pitchFamily="49" charset="0"/>
              </a:rPr>
              <a:t>    </a:t>
            </a:r>
            <a:r>
              <a:rPr lang="en" altLang="zh-CN" sz="900" dirty="0">
                <a:solidFill>
                  <a:srgbClr val="8888C6"/>
                </a:solidFill>
                <a:effectLst/>
              </a:rPr>
              <a:t>print</a:t>
            </a:r>
            <a:r>
              <a:rPr lang="en" altLang="zh-CN" sz="900" dirty="0"/>
              <a:t>(</a:t>
            </a:r>
            <a:r>
              <a:rPr lang="en" altLang="zh-CN" sz="900" dirty="0">
                <a:solidFill>
                  <a:srgbClr val="6A8759"/>
                </a:solidFill>
                <a:effectLst/>
              </a:rPr>
              <a:t>f"</a:t>
            </a:r>
            <a:r>
              <a:rPr lang="zh-CN" altLang="en-US" sz="900" dirty="0">
                <a:solidFill>
                  <a:srgbClr val="6A8759"/>
                </a:solidFill>
                <a:effectLst/>
                <a:latin typeface="Menlo-Regular" panose="020B0609030804020204" pitchFamily="49" charset="0"/>
              </a:rPr>
              <a:t>最终决策：</a:t>
            </a:r>
            <a:r>
              <a:rPr lang="en-US" altLang="zh-CN" sz="900" dirty="0">
                <a:solidFill>
                  <a:srgbClr val="CC7832"/>
                </a:solidFill>
                <a:effectLst/>
              </a:rPr>
              <a:t>{</a:t>
            </a:r>
            <a:r>
              <a:rPr lang="en" altLang="zh-CN" sz="900" dirty="0"/>
              <a:t>decision</a:t>
            </a:r>
            <a:r>
              <a:rPr lang="en" altLang="zh-CN" sz="900" dirty="0">
                <a:solidFill>
                  <a:srgbClr val="CC7832"/>
                </a:solidFill>
                <a:effectLst/>
              </a:rPr>
              <a:t>}</a:t>
            </a:r>
            <a:r>
              <a:rPr lang="en" altLang="zh-CN" sz="900" dirty="0">
                <a:solidFill>
                  <a:srgbClr val="6A8759"/>
                </a:solidFill>
                <a:effectLst/>
              </a:rPr>
              <a:t>"</a:t>
            </a:r>
            <a:r>
              <a:rPr lang="en" altLang="zh-CN" sz="900" dirty="0"/>
              <a:t>)</a:t>
            </a:r>
            <a:br>
              <a:rPr lang="zh-CN" altLang="en-US" sz="900" dirty="0">
                <a:solidFill>
                  <a:srgbClr val="808080"/>
                </a:solidFill>
                <a:effectLst/>
                <a:latin typeface="Menlo-Regular" panose="020B0609030804020204" pitchFamily="49" charset="0"/>
              </a:rPr>
            </a:br>
            <a:r>
              <a:rPr lang="en" altLang="zh-CN" sz="900" dirty="0"/>
              <a:t>reasoning()</a:t>
            </a:r>
            <a:br>
              <a:rPr lang="en" altLang="zh-CN" sz="900" dirty="0"/>
            </a:br>
            <a:endParaRPr lang="zh-CN" altLang="en-US" sz="900" dirty="0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39B7409B-AC30-5861-934D-B5A5B039523F}"/>
              </a:ext>
            </a:extLst>
          </p:cNvPr>
          <p:cNvSpPr txBox="1"/>
          <p:nvPr/>
        </p:nvSpPr>
        <p:spPr>
          <a:xfrm>
            <a:off x="552342" y="1150371"/>
            <a:ext cx="135956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chemeClr val="accent1">
                    <a:lumMod val="75000"/>
                  </a:schemeClr>
                </a:solidFill>
                <a:latin typeface=".AppleSystemUIFont"/>
              </a:rPr>
              <a:t>Python</a:t>
            </a:r>
            <a:r>
              <a:rPr lang="zh-CN" altLang="en-US" sz="1800" dirty="0">
                <a:solidFill>
                  <a:schemeClr val="accent1">
                    <a:lumMod val="75000"/>
                  </a:schemeClr>
                </a:solidFill>
                <a:latin typeface=".AppleSystemUIFont"/>
              </a:rPr>
              <a:t>实现：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690487591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0.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0.0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0.0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0.0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8786</TotalTime>
  <Words>10435</Words>
  <Application>Microsoft Macintosh PowerPoint</Application>
  <PresentationFormat>宽屏</PresentationFormat>
  <Paragraphs>720</Paragraphs>
  <Slides>66</Slides>
  <Notes>18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66</vt:i4>
      </vt:variant>
    </vt:vector>
  </HeadingPairs>
  <TitlesOfParts>
    <vt:vector size="81" baseType="lpstr">
      <vt:lpstr>.AppleSystemUIFont</vt:lpstr>
      <vt:lpstr>等线</vt:lpstr>
      <vt:lpstr>等线 Light</vt:lpstr>
      <vt:lpstr>楷体</vt:lpstr>
      <vt:lpstr>宋体</vt:lpstr>
      <vt:lpstr>宋体</vt:lpstr>
      <vt:lpstr>微软雅黑</vt:lpstr>
      <vt:lpstr>Arial</vt:lpstr>
      <vt:lpstr>Calibri</vt:lpstr>
      <vt:lpstr>Cambria Math</vt:lpstr>
      <vt:lpstr>Menlo-Regular</vt:lpstr>
      <vt:lpstr>Symbol</vt:lpstr>
      <vt:lpstr>Times New Roman</vt:lpstr>
      <vt:lpstr>Wingdings</vt:lpstr>
      <vt:lpstr>Office 主题​​</vt:lpstr>
      <vt:lpstr>课程《人工智能原理与技术》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归结原理的应用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WJL</dc:creator>
  <cp:lastModifiedBy>c10523</cp:lastModifiedBy>
  <cp:revision>121</cp:revision>
  <dcterms:created xsi:type="dcterms:W3CDTF">2024-08-21T06:52:29Z</dcterms:created>
  <dcterms:modified xsi:type="dcterms:W3CDTF">2025-03-02T14:55:06Z</dcterms:modified>
</cp:coreProperties>
</file>