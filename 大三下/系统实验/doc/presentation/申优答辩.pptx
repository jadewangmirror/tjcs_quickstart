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6256000" cy="9144000"/>
  <p:notesSz cx="9144000" cy="16256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16" autoAdjust="0"/>
    <p:restoredTop sz="94610"/>
  </p:normalViewPr>
  <p:slideViewPr>
    <p:cSldViewPr snapToGrid="0" snapToObjects="1">
      <p:cViewPr>
        <p:scale>
          <a:sx n="66" d="100"/>
          <a:sy n="66" d="100"/>
        </p:scale>
        <p:origin x="441" y="1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2925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3w5dablxpss6y/mnt/agents/output/mips_defense/images/2_Abstract_Technology_Circuit_board.png"/>
          <p:cNvPicPr>
            <a:picLocks noChangeAspect="1"/>
          </p:cNvPicPr>
          <p:nvPr/>
        </p:nvPicPr>
        <p:blipFill>
          <a:blip r:embed="rId3"/>
          <a:srcRect t="3135" b="313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152238">
                  <a:alpha val="90000"/>
                </a:srgbClr>
              </a:gs>
              <a:gs pos="50000">
                <a:srgbClr val="152238">
                  <a:alpha val="80000"/>
                </a:srgbClr>
              </a:gs>
              <a:gs pos="100000">
                <a:srgbClr val="152238">
                  <a:alpha val="95000"/>
                </a:srgbClr>
              </a:gs>
            </a:gsLst>
            <a:lin ang="54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3048000"/>
            <a:ext cx="2540000" cy="38100"/>
          </a:xfrm>
          <a:prstGeom prst="rect">
            <a:avLst/>
          </a:prstGeom>
          <a:solidFill>
            <a:srgbClr val="C17A2F"/>
          </a:solidFill>
          <a:ln/>
        </p:spPr>
      </p:sp>
      <p:sp>
        <p:nvSpPr>
          <p:cNvPr id="5" name="Text 2"/>
          <p:cNvSpPr/>
          <p:nvPr/>
        </p:nvSpPr>
        <p:spPr>
          <a:xfrm>
            <a:off x="1778000" y="3302000"/>
            <a:ext cx="127000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b="1" dirty="0">
                <a:solidFill>
                  <a:srgbClr val="C17A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μC/OS-II</a:t>
            </a:r>
            <a:r>
              <a:rPr lang="en-US" sz="4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系统移植与应用程序开发</a:t>
            </a:r>
            <a:endParaRPr lang="en-US" sz="4000" b="1" dirty="0"/>
          </a:p>
        </p:txBody>
      </p:sp>
      <p:sp>
        <p:nvSpPr>
          <p:cNvPr id="6" name="Text 3"/>
          <p:cNvSpPr/>
          <p:nvPr/>
        </p:nvSpPr>
        <p:spPr>
          <a:xfrm>
            <a:off x="4318000" y="4191000"/>
            <a:ext cx="762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计算机系统实验 · 课程设计答辩</a:t>
            </a:r>
            <a:endParaRPr lang="en-US" sz="2000" b="1" dirty="0"/>
          </a:p>
        </p:txBody>
      </p:sp>
      <p:sp>
        <p:nvSpPr>
          <p:cNvPr id="7" name="Shape 4"/>
          <p:cNvSpPr/>
          <p:nvPr/>
        </p:nvSpPr>
        <p:spPr>
          <a:xfrm>
            <a:off x="6223000" y="4826000"/>
            <a:ext cx="3810000" cy="1270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318000" y="5080000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答辩人：王亦玮　　学号：2351274</a:t>
            </a:r>
            <a:endParaRPr lang="en-US" sz="1600" b="1" dirty="0"/>
          </a:p>
        </p:txBody>
      </p:sp>
      <p:sp>
        <p:nvSpPr>
          <p:cNvPr id="9" name="Text 6"/>
          <p:cNvSpPr/>
          <p:nvPr/>
        </p:nvSpPr>
        <p:spPr>
          <a:xfrm>
            <a:off x="4318000" y="55880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NEXYS 4 DDR · Xilinx Artix-7 FPGA</a:t>
            </a:r>
            <a:endParaRPr lang="en-US" sz="1400" b="1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508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200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汇报提纲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C17A2F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778000"/>
            <a:ext cx="71120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2000" y="1778000"/>
            <a:ext cx="50800" cy="3048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032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143000" y="2730500"/>
            <a:ext cx="635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2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实验二：CPU改进与系统移植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3000" y="3238500"/>
            <a:ext cx="635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Wishbone总线 + DDR2/GPIO/UART外设集成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BootLoader → OS构建完整数据链路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μC/OS-II 内核适配与系统验证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82000" y="1778000"/>
            <a:ext cx="71120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82000" y="1778000"/>
            <a:ext cx="50800" cy="3048000"/>
          </a:xfrm>
          <a:prstGeom prst="rect">
            <a:avLst/>
          </a:prstGeom>
          <a:solidFill>
            <a:srgbClr val="C17A2F"/>
          </a:solidFill>
          <a:ln/>
        </p:spPr>
      </p:sp>
      <p:sp>
        <p:nvSpPr>
          <p:cNvPr id="11" name="Text 9"/>
          <p:cNvSpPr/>
          <p:nvPr/>
        </p:nvSpPr>
        <p:spPr>
          <a:xfrm>
            <a:off x="8763000" y="2032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C17A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763000" y="2730500"/>
            <a:ext cx="635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2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实验三：应用开发与系统丰富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763000" y="3238500"/>
            <a:ext cx="635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在实验二架构上的功能延伸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结构化通信协议设计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 GUI 实现与代码重构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5207000"/>
            <a:ext cx="147320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2000" y="5207000"/>
            <a:ext cx="50800" cy="3048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5461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1143000" y="6159500"/>
            <a:ext cx="635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2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成果总结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43000" y="6667500"/>
            <a:ext cx="635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关键技术挑战与解决方案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系统验证与核心经验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2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3w5dablxpss6y/mnt/agents/output/mips_defense/images/2_Abstract_Technology_Circuit_boar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152238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286000"/>
            <a:ext cx="50800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2000" dirty="0"/>
          </a:p>
        </p:txBody>
      </p:sp>
      <p:sp>
        <p:nvSpPr>
          <p:cNvPr id="5" name="Shape 2"/>
          <p:cNvSpPr/>
          <p:nvPr/>
        </p:nvSpPr>
        <p:spPr>
          <a:xfrm>
            <a:off x="762000" y="3937000"/>
            <a:ext cx="762000" cy="38100"/>
          </a:xfrm>
          <a:prstGeom prst="rect">
            <a:avLst/>
          </a:prstGeom>
          <a:solidFill>
            <a:srgbClr val="C17A2F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4191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实验二：CPU改进与系统移植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62000" y="50165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总线改造 · 外设集成 · BootLoader · OS构建</a:t>
            </a:r>
            <a:endParaRPr lang="en-US" sz="18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08000" y="0"/>
            <a:ext cx="635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实验二：CPU改进与系统移植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032000" y="457200"/>
            <a:ext cx="3302000" cy="38100"/>
          </a:xfrm>
          <a:prstGeom prst="rect">
            <a:avLst/>
          </a:prstGeom>
          <a:solidFill>
            <a:srgbClr val="C17A2F"/>
          </a:solidFill>
          <a:ln/>
        </p:spPr>
      </p:sp>
      <p:sp>
        <p:nvSpPr>
          <p:cNvPr id="5" name="Text 3"/>
          <p:cNvSpPr/>
          <p:nvPr/>
        </p:nvSpPr>
        <p:spPr>
          <a:xfrm>
            <a:off x="8128000" y="0"/>
            <a:ext cx="635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实验三：应用开发与系统丰富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62000" y="7112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系统架构与地址映射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C17A2F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1524000"/>
            <a:ext cx="2540000" cy="1016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15240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OpenMIPS CPU</a:t>
            </a:r>
            <a:endParaRPr lang="en-US" sz="1400" dirty="0"/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89条指令 · 五级流水线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02000" y="1968500"/>
            <a:ext cx="635000" cy="0"/>
          </a:xfrm>
          <a:prstGeom prst="straightConnector1">
            <a:avLst/>
          </a:prstGeom>
          <a:noFill/>
          <a:ln w="25400">
            <a:solidFill>
              <a:srgbClr val="5A7A96"/>
            </a:solidFill>
            <a:prstDash val="solid"/>
            <a:headEnd type="none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3937000" y="1524000"/>
            <a:ext cx="2540000" cy="1016000"/>
          </a:xfrm>
          <a:prstGeom prst="rect">
            <a:avLst/>
          </a:prstGeom>
          <a:solidFill>
            <a:srgbClr val="5A7A96"/>
          </a:solidFill>
          <a:ln/>
        </p:spPr>
      </p:sp>
      <p:sp>
        <p:nvSpPr>
          <p:cNvPr id="12" name="Text 10"/>
          <p:cNvSpPr/>
          <p:nvPr/>
        </p:nvSpPr>
        <p:spPr>
          <a:xfrm>
            <a:off x="3937000" y="15240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WB_CONMAX</a:t>
            </a:r>
            <a:endParaRPr lang="en-US" sz="1400" dirty="0"/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Wishbone交叉开关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77000" y="1968500"/>
            <a:ext cx="635000" cy="0"/>
          </a:xfrm>
          <a:prstGeom prst="straightConnector1">
            <a:avLst/>
          </a:prstGeom>
          <a:noFill/>
          <a:ln w="25400">
            <a:solidFill>
              <a:srgbClr val="5A7A96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7112000" y="1524000"/>
            <a:ext cx="1651000" cy="1016000"/>
          </a:xfrm>
          <a:prstGeom prst="rect">
            <a:avLst/>
          </a:prstGeom>
          <a:solidFill>
            <a:srgbClr val="C17A2F"/>
          </a:solidFill>
          <a:ln/>
        </p:spPr>
      </p:sp>
      <p:sp>
        <p:nvSpPr>
          <p:cNvPr id="15" name="Text 13"/>
          <p:cNvSpPr/>
          <p:nvPr/>
        </p:nvSpPr>
        <p:spPr>
          <a:xfrm>
            <a:off x="7112000" y="1524000"/>
            <a:ext cx="165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UART</a:t>
            </a:r>
            <a:endParaRPr lang="en-US" sz="1300" dirty="0"/>
          </a:p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0x1000_0000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890000" y="1524000"/>
            <a:ext cx="1651000" cy="1016000"/>
          </a:xfrm>
          <a:prstGeom prst="rect">
            <a:avLst/>
          </a:prstGeom>
          <a:solidFill>
            <a:srgbClr val="C17A2F"/>
          </a:solidFill>
          <a:ln/>
        </p:spPr>
      </p:sp>
      <p:sp>
        <p:nvSpPr>
          <p:cNvPr id="17" name="Text 15"/>
          <p:cNvSpPr/>
          <p:nvPr/>
        </p:nvSpPr>
        <p:spPr>
          <a:xfrm>
            <a:off x="8890000" y="1524000"/>
            <a:ext cx="165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GPIO</a:t>
            </a:r>
            <a:endParaRPr lang="en-US" sz="1300" dirty="0"/>
          </a:p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0x2000_0000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668000" y="1524000"/>
            <a:ext cx="1651000" cy="1016000"/>
          </a:xfrm>
          <a:prstGeom prst="rect">
            <a:avLst/>
          </a:prstGeom>
          <a:solidFill>
            <a:srgbClr val="C17A2F"/>
          </a:solidFill>
          <a:ln/>
        </p:spPr>
      </p:sp>
      <p:sp>
        <p:nvSpPr>
          <p:cNvPr id="19" name="Text 17"/>
          <p:cNvSpPr/>
          <p:nvPr/>
        </p:nvSpPr>
        <p:spPr>
          <a:xfrm>
            <a:off x="10668000" y="1524000"/>
            <a:ext cx="165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Flash</a:t>
            </a:r>
            <a:endParaRPr lang="en-US" sz="1300" dirty="0"/>
          </a:p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0x3000_0000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2446000" y="1524000"/>
            <a:ext cx="1651000" cy="1016000"/>
          </a:xfrm>
          <a:prstGeom prst="rect">
            <a:avLst/>
          </a:prstGeom>
          <a:solidFill>
            <a:srgbClr val="C17A2F"/>
          </a:solidFill>
          <a:ln/>
        </p:spPr>
      </p:sp>
      <p:sp>
        <p:nvSpPr>
          <p:cNvPr id="21" name="Text 19"/>
          <p:cNvSpPr/>
          <p:nvPr/>
        </p:nvSpPr>
        <p:spPr>
          <a:xfrm>
            <a:off x="12446000" y="1524000"/>
            <a:ext cx="165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DDR2</a:t>
            </a:r>
            <a:endParaRPr lang="en-US" sz="1300" dirty="0"/>
          </a:p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0x0000_0000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921000"/>
          <a:ext cx="6350000" cy="2540000"/>
        </p:xfrm>
        <a:graphic>
          <a:graphicData uri="http://schemas.openxmlformats.org/drawingml/2006/table">
            <a:tbl>
              <a:tblPr/>
              <a:tblGrid>
                <a:gridCol w="158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外设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地址空间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说明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DDR2 SDRAM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0x0000_0000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128MB · MIG IP核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UART 16550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0x1000_0000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9600bps · OpenCores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GPIO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0x2000_0000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32位双向IO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SPI Flash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0x3000_0000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16MB · S25FL128S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7620000" y="2921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系统启动链路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7620000" y="3403600"/>
            <a:ext cx="78740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874000" y="3683000"/>
            <a:ext cx="1270000" cy="6096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6" name="Text 23"/>
          <p:cNvSpPr/>
          <p:nvPr/>
        </p:nvSpPr>
        <p:spPr>
          <a:xfrm>
            <a:off x="7874000" y="3683000"/>
            <a:ext cx="127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Flash</a:t>
            </a:r>
            <a:endParaRPr lang="en-US" sz="1200" dirty="0"/>
          </a:p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0x3000_0000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9144000" y="3962400"/>
            <a:ext cx="508000" cy="0"/>
          </a:xfrm>
          <a:prstGeom prst="straightConnector1">
            <a:avLst/>
          </a:prstGeom>
          <a:noFill/>
          <a:ln w="25400">
            <a:solidFill>
              <a:srgbClr val="C17A2F"/>
            </a:solidFill>
            <a:prstDash val="solid"/>
            <a:headEnd type="none"/>
            <a:tailEnd type="arrow"/>
          </a:ln>
        </p:spPr>
      </p:sp>
      <p:sp>
        <p:nvSpPr>
          <p:cNvPr id="28" name="Shape 25"/>
          <p:cNvSpPr/>
          <p:nvPr/>
        </p:nvSpPr>
        <p:spPr>
          <a:xfrm>
            <a:off x="9652000" y="3683000"/>
            <a:ext cx="1270000" cy="5588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9" name="Text 26"/>
          <p:cNvSpPr/>
          <p:nvPr/>
        </p:nvSpPr>
        <p:spPr>
          <a:xfrm>
            <a:off x="9652000" y="3683000"/>
            <a:ext cx="1270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BootLoader</a:t>
            </a:r>
            <a:endParaRPr lang="en-US" sz="1200" dirty="0"/>
          </a:p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搬运OS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10922000" y="3962400"/>
            <a:ext cx="508000" cy="0"/>
          </a:xfrm>
          <a:prstGeom prst="straightConnector1">
            <a:avLst/>
          </a:prstGeom>
          <a:noFill/>
          <a:ln w="25400">
            <a:solidFill>
              <a:srgbClr val="C17A2F"/>
            </a:solidFill>
            <a:prstDash val="solid"/>
            <a:headEnd type="none"/>
            <a:tailEnd type="arrow"/>
          </a:ln>
        </p:spPr>
      </p:sp>
      <p:sp>
        <p:nvSpPr>
          <p:cNvPr id="31" name="Shape 28"/>
          <p:cNvSpPr/>
          <p:nvPr/>
        </p:nvSpPr>
        <p:spPr>
          <a:xfrm>
            <a:off x="11430000" y="3683000"/>
            <a:ext cx="1270000" cy="6096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2" name="Text 29"/>
          <p:cNvSpPr/>
          <p:nvPr/>
        </p:nvSpPr>
        <p:spPr>
          <a:xfrm>
            <a:off x="11430000" y="3683000"/>
            <a:ext cx="127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DDR2</a:t>
            </a:r>
            <a:endParaRPr lang="en-US" sz="1200" dirty="0"/>
          </a:p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0x0000_0000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12700000" y="3962400"/>
            <a:ext cx="508000" cy="0"/>
          </a:xfrm>
          <a:prstGeom prst="straightConnector1">
            <a:avLst/>
          </a:prstGeom>
          <a:noFill/>
          <a:ln w="25400">
            <a:solidFill>
              <a:srgbClr val="C17A2F"/>
            </a:solidFill>
            <a:prstDash val="solid"/>
            <a:headEnd type="none"/>
            <a:tailEnd type="arrow"/>
          </a:ln>
        </p:spPr>
      </p:sp>
      <p:sp>
        <p:nvSpPr>
          <p:cNvPr id="34" name="Shape 31"/>
          <p:cNvSpPr/>
          <p:nvPr/>
        </p:nvSpPr>
        <p:spPr>
          <a:xfrm>
            <a:off x="13208000" y="3683000"/>
            <a:ext cx="2032000" cy="558800"/>
          </a:xfrm>
          <a:prstGeom prst="rect">
            <a:avLst/>
          </a:prstGeom>
          <a:solidFill>
            <a:srgbClr val="C17A2F"/>
          </a:solidFill>
          <a:ln/>
        </p:spPr>
      </p:sp>
      <p:sp>
        <p:nvSpPr>
          <p:cNvPr id="35" name="Text 32"/>
          <p:cNvSpPr/>
          <p:nvPr/>
        </p:nvSpPr>
        <p:spPr>
          <a:xfrm>
            <a:off x="13208000" y="3683000"/>
            <a:ext cx="203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μC/OS-II</a:t>
            </a:r>
            <a:endParaRPr lang="en-US" sz="1200" dirty="0"/>
          </a:p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任务调度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7874000" y="4445000"/>
            <a:ext cx="736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上电 → BootLoader从Flash搬运OS映像到DDR2 → 跳转OS入口 → μC/OS-II启动调度 → 用户应用运行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762000" y="5842000"/>
            <a:ext cx="14732000" cy="762000"/>
          </a:xfrm>
          <a:prstGeom prst="rect">
            <a:avLst/>
          </a:prstGeom>
          <a:solidFill>
            <a:srgbClr val="FDF3E7"/>
          </a:solidFill>
          <a:ln w="12700">
            <a:solidFill>
              <a:srgbClr val="E8D5C0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62000" y="5842000"/>
            <a:ext cx="50800" cy="762000"/>
          </a:xfrm>
          <a:prstGeom prst="rect">
            <a:avLst/>
          </a:prstGeom>
          <a:solidFill>
            <a:srgbClr val="C17A2F"/>
          </a:solidFill>
          <a:ln/>
        </p:spPr>
      </p:sp>
      <p:sp>
        <p:nvSpPr>
          <p:cNvPr id="39" name="Text 36"/>
          <p:cNvSpPr/>
          <p:nvPr/>
        </p:nvSpPr>
        <p:spPr>
          <a:xfrm>
            <a:off x="1016000" y="5842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核心改进：</a:t>
            </a: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在实验一89条指令MIPS CPU基础上，添加Wishbone总线接口，集成DDR2/GPIO/UART/Flash四大外设，构建完整SoC平台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 / 12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08000" y="0"/>
            <a:ext cx="635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实验二：CPU改进与系统移植</a:t>
            </a:r>
            <a:endParaRPr lang="en-US" sz="1200" b="1" dirty="0"/>
          </a:p>
        </p:txBody>
      </p:sp>
      <p:sp>
        <p:nvSpPr>
          <p:cNvPr id="4" name="Shape 2"/>
          <p:cNvSpPr/>
          <p:nvPr/>
        </p:nvSpPr>
        <p:spPr>
          <a:xfrm>
            <a:off x="2032000" y="457200"/>
            <a:ext cx="3302000" cy="38100"/>
          </a:xfrm>
          <a:prstGeom prst="rect">
            <a:avLst/>
          </a:prstGeom>
          <a:solidFill>
            <a:srgbClr val="C17A2F"/>
          </a:solidFill>
          <a:ln/>
        </p:spPr>
      </p:sp>
      <p:sp>
        <p:nvSpPr>
          <p:cNvPr id="5" name="Text 3"/>
          <p:cNvSpPr/>
          <p:nvPr/>
        </p:nvSpPr>
        <p:spPr>
          <a:xfrm>
            <a:off x="8128000" y="0"/>
            <a:ext cx="635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实验三：应用开发与系统丰富</a:t>
            </a:r>
            <a:endParaRPr lang="en-US" sz="1200" b="1" dirty="0"/>
          </a:p>
        </p:txBody>
      </p:sp>
      <p:sp>
        <p:nvSpPr>
          <p:cNvPr id="6" name="Text 4"/>
          <p:cNvSpPr/>
          <p:nvPr/>
        </p:nvSpPr>
        <p:spPr>
          <a:xfrm>
            <a:off x="762000" y="7112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总线改造与外设集成</a:t>
            </a:r>
            <a:endParaRPr lang="en-US" sz="2800" b="1" dirty="0"/>
          </a:p>
        </p:txBody>
      </p:sp>
      <p:sp>
        <p:nvSpPr>
          <p:cNvPr id="7" name="Shape 5"/>
          <p:cNvSpPr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C17A2F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1498600"/>
            <a:ext cx="72390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2000" y="1498600"/>
            <a:ext cx="50800" cy="3429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0" name="Text 8"/>
          <p:cNvSpPr/>
          <p:nvPr/>
        </p:nvSpPr>
        <p:spPr>
          <a:xfrm>
            <a:off x="1016000" y="1600200"/>
            <a:ext cx="673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Wishbone B4 总线接口</a:t>
            </a:r>
            <a:endParaRPr lang="en-US" sz="2000" b="1" dirty="0"/>
          </a:p>
        </p:txBody>
      </p:sp>
      <p:sp>
        <p:nvSpPr>
          <p:cNvPr id="11" name="Text 9"/>
          <p:cNvSpPr/>
          <p:nvPr/>
        </p:nvSpPr>
        <p:spPr>
          <a:xfrm>
            <a:off x="1016000" y="2032000"/>
            <a:ext cx="6731000" cy="271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在CPU与总线间新增 </a:t>
            </a:r>
            <a:r>
              <a:rPr lang="en-US" sz="1600" b="1" dirty="0">
                <a:solidFill>
                  <a:srgbClr val="C17A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wishbone_bus_if.v</a:t>
            </a: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接口转换层：</a:t>
            </a:r>
            <a:endParaRPr lang="en-US" sz="1600" b="1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CPU侧：接收访存信号（地址/数据/读写使能）</a:t>
            </a:r>
            <a:endParaRPr lang="en-US" sz="1600" b="1" dirty="0"/>
          </a:p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总线侧：产生CYC_O/STB_O/WE_O/SEL_O标准信号</a:t>
            </a:r>
            <a:endParaRPr lang="en-US" sz="1600" b="1" dirty="0"/>
          </a:p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握手监测：ACK_I就绪信号</a:t>
            </a:r>
            <a:endParaRPr lang="en-US" sz="1600" b="1" dirty="0"/>
          </a:p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流水线暂停：stallreq通知控制器等待总线</a:t>
            </a:r>
            <a:endParaRPr lang="en-US" sz="1600" b="1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WB_CONMAX交叉开关：8主×16从，循环优先级仲裁，连接CPU指令/数据总线与四大外设。</a:t>
            </a:r>
            <a:endParaRPr lang="en-US" sz="1600" b="1" dirty="0"/>
          </a:p>
        </p:txBody>
      </p:sp>
      <p:sp>
        <p:nvSpPr>
          <p:cNvPr id="12" name="Shape 10"/>
          <p:cNvSpPr/>
          <p:nvPr/>
        </p:nvSpPr>
        <p:spPr>
          <a:xfrm>
            <a:off x="8382000" y="1498600"/>
            <a:ext cx="71120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82000" y="1498600"/>
            <a:ext cx="50800" cy="1600200"/>
          </a:xfrm>
          <a:prstGeom prst="rect">
            <a:avLst/>
          </a:prstGeom>
          <a:solidFill>
            <a:srgbClr val="C17A2F"/>
          </a:solidFill>
          <a:ln/>
        </p:spPr>
      </p:sp>
      <p:sp>
        <p:nvSpPr>
          <p:cNvPr id="14" name="Text 12"/>
          <p:cNvSpPr/>
          <p:nvPr/>
        </p:nvSpPr>
        <p:spPr>
          <a:xfrm>
            <a:off x="8636000" y="1600200"/>
            <a:ext cx="660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b="1" dirty="0">
                <a:solidFill>
                  <a:srgbClr val="C17A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DDR2 SDRAM — Xilinx MIG IP核</a:t>
            </a:r>
            <a:endParaRPr lang="en-US" b="1" dirty="0"/>
          </a:p>
        </p:txBody>
      </p:sp>
      <p:sp>
        <p:nvSpPr>
          <p:cNvPr id="15" name="Text 13"/>
          <p:cNvSpPr/>
          <p:nvPr/>
        </p:nvSpPr>
        <p:spPr>
          <a:xfrm>
            <a:off x="8636000" y="1981200"/>
            <a:ext cx="66040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Micron MT47H64M16HR-25:H，容量128MB</a:t>
            </a:r>
            <a:endParaRPr lang="en-US" sz="1200" b="1" dirty="0"/>
          </a:p>
          <a:p>
            <a:pPr algn="l">
              <a:lnSpc>
                <a:spcPct val="150000"/>
              </a:lnSpc>
            </a:pPr>
            <a:r>
              <a:rPr lang="en-US" sz="12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MIG 7 Series IP核封装DDR2复杂时序</a:t>
            </a:r>
            <a:endParaRPr lang="en-US" sz="1200" b="1" dirty="0"/>
          </a:p>
          <a:p>
            <a:pPr algn="l">
              <a:lnSpc>
                <a:spcPct val="150000"/>
              </a:lnSpc>
            </a:pPr>
            <a:r>
              <a:rPr lang="en-US" sz="12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暴露简洁app_cmd/app_addr/app_data接口</a:t>
            </a:r>
            <a:endParaRPr lang="en-US" sz="1200" b="1" dirty="0"/>
          </a:p>
          <a:p>
            <a:pPr algn="l">
              <a:lnSpc>
                <a:spcPct val="150000"/>
              </a:lnSpc>
            </a:pPr>
            <a:r>
              <a:rPr lang="en-US" sz="12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配合Ram2Ddr.vhd桥接Wishbone到MIG</a:t>
            </a:r>
            <a:endParaRPr lang="en-US" sz="1200" b="1" dirty="0"/>
          </a:p>
        </p:txBody>
      </p:sp>
      <p:sp>
        <p:nvSpPr>
          <p:cNvPr id="16" name="Shape 14"/>
          <p:cNvSpPr/>
          <p:nvPr/>
        </p:nvSpPr>
        <p:spPr>
          <a:xfrm>
            <a:off x="8382000" y="3402217"/>
            <a:ext cx="34290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82000" y="3402217"/>
            <a:ext cx="50800" cy="16002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8" name="Text 16"/>
          <p:cNvSpPr/>
          <p:nvPr/>
        </p:nvSpPr>
        <p:spPr>
          <a:xfrm>
            <a:off x="8636000" y="3429000"/>
            <a:ext cx="304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GPIO</a:t>
            </a:r>
            <a:endParaRPr lang="en-US" b="1" dirty="0"/>
          </a:p>
        </p:txBody>
      </p:sp>
      <p:sp>
        <p:nvSpPr>
          <p:cNvPr id="19" name="Text 17"/>
          <p:cNvSpPr/>
          <p:nvPr/>
        </p:nvSpPr>
        <p:spPr>
          <a:xfrm>
            <a:off x="8636000" y="3810000"/>
            <a:ext cx="30480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32位双向端口</a:t>
            </a:r>
            <a:endParaRPr lang="en-US" sz="1200" b="1" dirty="0"/>
          </a:p>
          <a:p>
            <a:pPr algn="l">
              <a:lnSpc>
                <a:spcPct val="150000"/>
              </a:lnSpc>
            </a:pPr>
            <a:r>
              <a:rPr lang="en-US" sz="12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输入：SW0-15开关/按钮</a:t>
            </a:r>
            <a:endParaRPr lang="en-US" sz="1200" b="1" dirty="0"/>
          </a:p>
          <a:p>
            <a:pPr algn="l">
              <a:lnSpc>
                <a:spcPct val="150000"/>
              </a:lnSpc>
            </a:pPr>
            <a:r>
              <a:rPr lang="en-US" sz="12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输出：LED LD0-15</a:t>
            </a:r>
            <a:endParaRPr lang="en-US" sz="1200" b="1" dirty="0"/>
          </a:p>
          <a:p>
            <a:pPr algn="l">
              <a:lnSpc>
                <a:spcPct val="150000"/>
              </a:lnSpc>
            </a:pPr>
            <a:r>
              <a:rPr lang="en-US" sz="12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8位共阳极数码管动态扫描</a:t>
            </a:r>
            <a:endParaRPr lang="en-US" sz="1200" b="1" dirty="0"/>
          </a:p>
        </p:txBody>
      </p:sp>
      <p:sp>
        <p:nvSpPr>
          <p:cNvPr id="20" name="Shape 18"/>
          <p:cNvSpPr/>
          <p:nvPr/>
        </p:nvSpPr>
        <p:spPr>
          <a:xfrm>
            <a:off x="12065000" y="3410530"/>
            <a:ext cx="34290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065000" y="3410530"/>
            <a:ext cx="50800" cy="16002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2" name="Text 20"/>
          <p:cNvSpPr/>
          <p:nvPr/>
        </p:nvSpPr>
        <p:spPr>
          <a:xfrm>
            <a:off x="12319000" y="3429000"/>
            <a:ext cx="304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UART 16550</a:t>
            </a:r>
            <a:endParaRPr lang="en-US" b="1" dirty="0"/>
          </a:p>
        </p:txBody>
      </p:sp>
      <p:sp>
        <p:nvSpPr>
          <p:cNvPr id="23" name="Text 21"/>
          <p:cNvSpPr/>
          <p:nvPr/>
        </p:nvSpPr>
        <p:spPr>
          <a:xfrm>
            <a:off x="12319000" y="3810000"/>
            <a:ext cx="30480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OpenCores IP核</a:t>
            </a:r>
            <a:endParaRPr lang="en-US" sz="1200" b="1" dirty="0"/>
          </a:p>
          <a:p>
            <a:pPr algn="l">
              <a:lnSpc>
                <a:spcPct val="150000"/>
              </a:lnSpc>
            </a:pPr>
            <a:r>
              <a:rPr lang="en-US" sz="12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波特率9600bps</a:t>
            </a:r>
            <a:endParaRPr lang="en-US" sz="1200" b="1" dirty="0"/>
          </a:p>
          <a:p>
            <a:pPr algn="l">
              <a:lnSpc>
                <a:spcPct val="150000"/>
              </a:lnSpc>
            </a:pPr>
            <a:r>
              <a:rPr lang="en-US" sz="12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分频系数0x028B</a:t>
            </a:r>
            <a:endParaRPr lang="en-US" sz="1200" b="1" dirty="0"/>
          </a:p>
          <a:p>
            <a:pPr algn="l">
              <a:lnSpc>
                <a:spcPct val="150000"/>
              </a:lnSpc>
            </a:pPr>
            <a:r>
              <a:rPr lang="en-US" sz="12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8N1帧格式</a:t>
            </a:r>
            <a:endParaRPr lang="en-US" sz="1200" b="1" dirty="0"/>
          </a:p>
        </p:txBody>
      </p:sp>
      <p:sp>
        <p:nvSpPr>
          <p:cNvPr id="24" name="Text 22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b="1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/ 12</a:t>
            </a:r>
            <a:endParaRPr lang="en-US" sz="1200" b="1" dirty="0"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310989FA-B4C1-E057-DC41-8C6DCD7431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5036" y="5809670"/>
            <a:ext cx="13655228" cy="16764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08000" y="0"/>
            <a:ext cx="635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实验二：CPU改进与系统移植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032000" y="457200"/>
            <a:ext cx="3302000" cy="38100"/>
          </a:xfrm>
          <a:prstGeom prst="rect">
            <a:avLst/>
          </a:prstGeom>
          <a:solidFill>
            <a:srgbClr val="C17A2F"/>
          </a:solidFill>
          <a:ln/>
        </p:spPr>
      </p:sp>
      <p:sp>
        <p:nvSpPr>
          <p:cNvPr id="5" name="Text 3"/>
          <p:cNvSpPr/>
          <p:nvPr/>
        </p:nvSpPr>
        <p:spPr>
          <a:xfrm>
            <a:off x="8128000" y="0"/>
            <a:ext cx="635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实验三：应用开发与系统丰富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62000" y="7112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BootLoader 与 OS 构建链路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C17A2F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4478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完整构建流程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62000" y="1930400"/>
            <a:ext cx="2286000" cy="762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1930400"/>
            <a:ext cx="228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源码编译</a:t>
            </a:r>
            <a:endParaRPr lang="en-US" sz="1300" dirty="0"/>
          </a:p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make all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048000" y="2260600"/>
            <a:ext cx="508000" cy="0"/>
          </a:xfrm>
          <a:prstGeom prst="straightConnector1">
            <a:avLst/>
          </a:prstGeom>
          <a:noFill/>
          <a:ln w="25400">
            <a:solidFill>
              <a:srgbClr val="C17A2F"/>
            </a:solidFill>
            <a:prstDash val="solid"/>
            <a:headEnd type="none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3556000" y="1930400"/>
            <a:ext cx="2286000" cy="762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3" name="Text 11"/>
          <p:cNvSpPr/>
          <p:nvPr/>
        </p:nvSpPr>
        <p:spPr>
          <a:xfrm>
            <a:off x="3556000" y="1930400"/>
            <a:ext cx="228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gcc链接</a:t>
            </a:r>
            <a:endParaRPr lang="en-US" sz="1300" dirty="0"/>
          </a:p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ram.ld -e 256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842000" y="2260600"/>
            <a:ext cx="508000" cy="0"/>
          </a:xfrm>
          <a:prstGeom prst="straightConnector1">
            <a:avLst/>
          </a:prstGeom>
          <a:noFill/>
          <a:ln w="25400">
            <a:solidFill>
              <a:srgbClr val="C17A2F"/>
            </a:solidFill>
            <a:prstDash val="solid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6350000" y="1930400"/>
            <a:ext cx="2286000" cy="762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6350000" y="1930400"/>
            <a:ext cx="228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objcopy</a:t>
            </a:r>
            <a:endParaRPr lang="en-US" sz="1300" dirty="0"/>
          </a:p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-O binary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636000" y="2260600"/>
            <a:ext cx="508000" cy="0"/>
          </a:xfrm>
          <a:prstGeom prst="straightConnector1">
            <a:avLst/>
          </a:prstGeom>
          <a:noFill/>
          <a:ln w="25400">
            <a:solidFill>
              <a:srgbClr val="C17A2F"/>
            </a:solidFill>
            <a:prstDash val="solid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9144000" y="1930400"/>
            <a:ext cx="2286000" cy="762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0" y="1930400"/>
            <a:ext cx="228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BinMerge</a:t>
            </a:r>
            <a:endParaRPr lang="en-US" sz="1300" dirty="0"/>
          </a:p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合并BootLoader头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1430000" y="2260600"/>
            <a:ext cx="508000" cy="0"/>
          </a:xfrm>
          <a:prstGeom prst="straightConnector1">
            <a:avLst/>
          </a:prstGeom>
          <a:noFill/>
          <a:ln w="25400">
            <a:solidFill>
              <a:srgbClr val="C17A2F"/>
            </a:solidFill>
            <a:prstDash val="solid"/>
            <a:headEnd type="none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11938000" y="1930400"/>
            <a:ext cx="2286000" cy="762000"/>
          </a:xfrm>
          <a:prstGeom prst="rect">
            <a:avLst/>
          </a:prstGeom>
          <a:solidFill>
            <a:srgbClr val="C17A2F"/>
          </a:solidFill>
          <a:ln/>
        </p:spPr>
      </p:sp>
      <p:sp>
        <p:nvSpPr>
          <p:cNvPr id="22" name="Text 20"/>
          <p:cNvSpPr/>
          <p:nvPr/>
        </p:nvSpPr>
        <p:spPr>
          <a:xfrm>
            <a:off x="11938000" y="1930400"/>
            <a:ext cx="228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OS.bin</a:t>
            </a:r>
            <a:endParaRPr lang="en-US" sz="1300" dirty="0"/>
          </a:p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最终固件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62000" y="29718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BootLoader 启动三阶段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62000" y="3454400"/>
            <a:ext cx="4572000" cy="1270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5" name="Text 23"/>
          <p:cNvSpPr/>
          <p:nvPr/>
        </p:nvSpPr>
        <p:spPr>
          <a:xfrm>
            <a:off x="889000" y="3530600"/>
            <a:ext cx="50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97000" y="3530600"/>
            <a:ext cx="3683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就绪确认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读取GPIO第16位，轮询等待DDR2 MIG校准完成信号，确保SDRAM可正常读写。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588000" y="3454400"/>
            <a:ext cx="4572000" cy="13462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8" name="Text 26"/>
          <p:cNvSpPr/>
          <p:nvPr/>
        </p:nvSpPr>
        <p:spPr>
          <a:xfrm>
            <a:off x="5715000" y="3530600"/>
            <a:ext cx="50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223000" y="3530600"/>
            <a:ext cx="36830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映像搬移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从Flash 0x3000_0100循环读取，以32位为单位写入DDR2 0x0000_0000，完成OS二进制搬运。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0414000" y="3454400"/>
            <a:ext cx="5080000" cy="1270000"/>
          </a:xfrm>
          <a:prstGeom prst="rect">
            <a:avLst/>
          </a:prstGeom>
          <a:solidFill>
            <a:srgbClr val="C17A2F"/>
          </a:solidFill>
          <a:ln/>
        </p:spPr>
      </p:sp>
      <p:sp>
        <p:nvSpPr>
          <p:cNvPr id="31" name="Text 29"/>
          <p:cNvSpPr/>
          <p:nvPr/>
        </p:nvSpPr>
        <p:spPr>
          <a:xfrm>
            <a:off x="10541000" y="3530600"/>
            <a:ext cx="50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1049000" y="3530600"/>
            <a:ext cx="4191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控制权移交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执行MIPS跳转指令jr/j，PC重定向至DDR2中OS入口0x0000_0100，μC/OS-II开始运行。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62000" y="50038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μC/OS-II 内核适配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762000" y="5435600"/>
            <a:ext cx="14732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16000" y="5588000"/>
            <a:ext cx="4318000" cy="965200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36" name="Text 34"/>
          <p:cNvSpPr/>
          <p:nvPr/>
        </p:nvSpPr>
        <p:spPr>
          <a:xfrm>
            <a:off x="1143000" y="5638800"/>
            <a:ext cx="4064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os_cpu.h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数据类型适配 · 栈增长方向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临界区保护宏 · 任务切换宏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588000" y="5588000"/>
            <a:ext cx="4318000" cy="965200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38" name="Text 36"/>
          <p:cNvSpPr/>
          <p:nvPr/>
        </p:nvSpPr>
        <p:spPr>
          <a:xfrm>
            <a:off x="5715000" y="5638800"/>
            <a:ext cx="4064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os_cpu_a.S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OSCtxSw() 任务级上下文切换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OSIntCtxSw() 中断级切换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10160000" y="5588000"/>
            <a:ext cx="5080000" cy="965200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40" name="Text 38"/>
          <p:cNvSpPr/>
          <p:nvPr/>
        </p:nvSpPr>
        <p:spPr>
          <a:xfrm>
            <a:off x="10287000" y="5638800"/>
            <a:ext cx="4826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os_cpu_c.c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OSTaskStkInit() 任务栈初始化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构造异常返回上下文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62000" y="6985000"/>
            <a:ext cx="14732000" cy="711200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2000" y="6985000"/>
            <a:ext cx="50800" cy="7112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3" name="Text 41"/>
          <p:cNvSpPr/>
          <p:nvPr/>
        </p:nvSpPr>
        <p:spPr>
          <a:xfrm>
            <a:off x="1016000" y="6985000"/>
            <a:ext cx="14224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验证结果：</a:t>
            </a: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SSCOM输出 "Loading OS into SDRAM... DONE!!!" · 数码管递增 · LED正常 → μC/OS-II在自研SoC上成功运行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 / 12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2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3w5dablxpss6y/mnt/agents/output/mips_defense/images/2_Abstract_Technology_Circuit_boar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152238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Text 1"/>
          <p:cNvSpPr/>
          <p:nvPr/>
        </p:nvSpPr>
        <p:spPr>
          <a:xfrm>
            <a:off x="762000" y="2286000"/>
            <a:ext cx="50800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2000" dirty="0"/>
          </a:p>
        </p:txBody>
      </p:sp>
      <p:sp>
        <p:nvSpPr>
          <p:cNvPr id="5" name="Shape 2"/>
          <p:cNvSpPr/>
          <p:nvPr/>
        </p:nvSpPr>
        <p:spPr>
          <a:xfrm>
            <a:off x="762000" y="3937000"/>
            <a:ext cx="762000" cy="38100"/>
          </a:xfrm>
          <a:prstGeom prst="rect">
            <a:avLst/>
          </a:prstGeom>
          <a:solidFill>
            <a:srgbClr val="C17A2F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4191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实验三：应用开发与系统丰富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62000" y="50165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在实验二架构之上 · 结构化通信 · GUI实现</a:t>
            </a:r>
            <a:endParaRPr lang="en-US" sz="18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08000" y="0"/>
            <a:ext cx="635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实验二：CPU改进与系统移植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0" y="0"/>
            <a:ext cx="635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实验三：应用开发与系统丰富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652000" y="457200"/>
            <a:ext cx="3302000" cy="38100"/>
          </a:xfrm>
          <a:prstGeom prst="rect">
            <a:avLst/>
          </a:prstGeom>
          <a:solidFill>
            <a:srgbClr val="C17A2F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7112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从实验二到实验三：架构延伸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C17A2F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4478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能力跃迁：从串口通信到交互操作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62000" y="1930400"/>
            <a:ext cx="7112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2000" y="1930400"/>
            <a:ext cx="50800" cy="2286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1" name="Text 9"/>
          <p:cNvSpPr/>
          <p:nvPr/>
        </p:nvSpPr>
        <p:spPr>
          <a:xfrm>
            <a:off x="1016000" y="2032000"/>
            <a:ext cx="660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实验二：基础验证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16000" y="2463800"/>
            <a:ext cx="6604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验证OS能在自研SoC上正常运行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UART串口输出文本调试信息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GPIO驱动LED/数码管显示状态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局限：</a:t>
            </a: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仅单向文本输出，无交互能力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874000" y="2921000"/>
            <a:ext cx="508000" cy="0"/>
          </a:xfrm>
          <a:prstGeom prst="straightConnector1">
            <a:avLst/>
          </a:prstGeom>
          <a:noFill/>
          <a:ln w="38100">
            <a:solidFill>
              <a:srgbClr val="C17A2F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8382000" y="1930400"/>
            <a:ext cx="7112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82000" y="1930400"/>
            <a:ext cx="50800" cy="2286000"/>
          </a:xfrm>
          <a:prstGeom prst="rect">
            <a:avLst/>
          </a:prstGeom>
          <a:solidFill>
            <a:srgbClr val="C17A2F"/>
          </a:solidFill>
          <a:ln/>
        </p:spPr>
      </p:sp>
      <p:sp>
        <p:nvSpPr>
          <p:cNvPr id="16" name="Text 14"/>
          <p:cNvSpPr/>
          <p:nvPr/>
        </p:nvSpPr>
        <p:spPr>
          <a:xfrm>
            <a:off x="8636000" y="2032000"/>
            <a:ext cx="660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C17A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实验三：交互丰富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636000" y="2463800"/>
            <a:ext cx="6604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GPIO开关作为游戏输入控制器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UART传输结构化游戏状态数据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PC端Python GUI解析并动画渲染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突破：</a:t>
            </a: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FPGA引擎 + PC前端 协同架构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62000" y="45212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"板载引擎 + PC图形前端" 协同架构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62000" y="5003800"/>
            <a:ext cx="3810000" cy="1524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952500" y="5105400"/>
            <a:ext cx="34290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FPGA 游戏引擎</a:t>
            </a:r>
            <a:endParaRPr lang="en-US" sz="1300" dirty="0"/>
          </a:p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OpenMIPS + μC/OS-II</a:t>
            </a:r>
            <a:endParaRPr lang="en-US" sz="1300" dirty="0"/>
          </a:p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C语言游戏逻辑</a:t>
            </a:r>
            <a:endParaRPr lang="en-US" sz="1300" dirty="0"/>
          </a:p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GPIO读取开关输入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0" y="5689600"/>
            <a:ext cx="762000" cy="0"/>
          </a:xfrm>
          <a:prstGeom prst="straightConnector1">
            <a:avLst/>
          </a:prstGeom>
          <a:noFill/>
          <a:ln w="25400">
            <a:solidFill>
              <a:srgbClr val="C17A2F"/>
            </a:solidFill>
            <a:prstDash val="solid"/>
            <a:headEnd type="none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5334000" y="5003800"/>
            <a:ext cx="2540000" cy="1524000"/>
          </a:xfrm>
          <a:prstGeom prst="rect">
            <a:avLst/>
          </a:prstGeom>
          <a:solidFill>
            <a:srgbClr val="C17A2F"/>
          </a:solidFill>
          <a:ln/>
        </p:spPr>
      </p:sp>
      <p:sp>
        <p:nvSpPr>
          <p:cNvPr id="23" name="Text 21"/>
          <p:cNvSpPr/>
          <p:nvPr/>
        </p:nvSpPr>
        <p:spPr>
          <a:xfrm>
            <a:off x="5461000" y="5105400"/>
            <a:ext cx="22860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UART 传输</a:t>
            </a:r>
            <a:endParaRPr lang="en-US" sz="1300" dirty="0"/>
          </a:p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波特率 9600</a:t>
            </a:r>
            <a:endParaRPr lang="en-US" sz="1300" dirty="0"/>
          </a:p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结构化文本协议</a:t>
            </a:r>
            <a:endParaRPr lang="en-US" sz="1300" dirty="0"/>
          </a:p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FPGA → PC 单向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874000" y="5689600"/>
            <a:ext cx="762000" cy="0"/>
          </a:xfrm>
          <a:prstGeom prst="straightConnector1">
            <a:avLst/>
          </a:prstGeom>
          <a:noFill/>
          <a:ln w="25400">
            <a:solidFill>
              <a:srgbClr val="C17A2F"/>
            </a:solidFill>
            <a:prstDash val="solid"/>
            <a:headEnd type="none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8636000" y="5003800"/>
            <a:ext cx="6858000" cy="1524000"/>
          </a:xfrm>
          <a:prstGeom prst="rect">
            <a:avLst/>
          </a:prstGeom>
          <a:solidFill>
            <a:srgbClr val="5A7A96"/>
          </a:solidFill>
          <a:ln/>
        </p:spPr>
      </p:sp>
      <p:sp>
        <p:nvSpPr>
          <p:cNvPr id="26" name="Text 24"/>
          <p:cNvSpPr/>
          <p:nvPr/>
        </p:nvSpPr>
        <p:spPr>
          <a:xfrm>
            <a:off x="8826500" y="5105400"/>
            <a:ext cx="64770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PC Python GUI</a:t>
            </a:r>
            <a:endParaRPr lang="en-US" sz="1300" dirty="0"/>
          </a:p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pyserial后台线程读取串口 · 按行解析结构化协议</a:t>
            </a:r>
            <a:endParaRPr lang="en-US" sz="1300" dirty="0"/>
          </a:p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tkinter Canvas渲染图形 · 滑动/合并/移动动画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62000" y="6807200"/>
            <a:ext cx="147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b="1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核心优势：</a:t>
            </a:r>
            <a:r>
              <a:rPr lang="en-US" sz="1300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同一块FPGA固件既可用SSCOM文本调试，也可连接GUI呈现动画，无需修改固件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 / 12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08000" y="0"/>
            <a:ext cx="635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实验二：CPU改进与系统移植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0" y="0"/>
            <a:ext cx="635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实验三：应用开发与系统丰富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652000" y="457200"/>
            <a:ext cx="3302000" cy="38100"/>
          </a:xfrm>
          <a:prstGeom prst="rect">
            <a:avLst/>
          </a:prstGeom>
          <a:solidFill>
            <a:srgbClr val="C17A2F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7112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结构化通信协议设计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C17A2F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4478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设计原则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62000" y="1905000"/>
            <a:ext cx="3429000" cy="11176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0" name="Text 8"/>
          <p:cNvSpPr/>
          <p:nvPr/>
        </p:nvSpPr>
        <p:spPr>
          <a:xfrm>
            <a:off x="889000" y="1981200"/>
            <a:ext cx="3175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纯文本格式</a:t>
            </a:r>
            <a:endParaRPr lang="en-US" sz="1300" dirty="0"/>
          </a:p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可打印ASCII字符</a:t>
            </a:r>
            <a:endParaRPr lang="en-US" sz="1300" dirty="0"/>
          </a:p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SSCOM/Putty直接查看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45000" y="1905000"/>
            <a:ext cx="3429000" cy="11176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1981200"/>
            <a:ext cx="3175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分隔符层次化</a:t>
            </a:r>
            <a:endParaRPr lang="en-US" sz="1300" dirty="0"/>
          </a:p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逗号分隔数组元素</a:t>
            </a:r>
            <a:endParaRPr lang="en-US" sz="1300" dirty="0"/>
          </a:p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竖线'|'分隔语义段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28000" y="1905000"/>
            <a:ext cx="3429000" cy="11176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4" name="Text 12"/>
          <p:cNvSpPr/>
          <p:nvPr/>
        </p:nvSpPr>
        <p:spPr>
          <a:xfrm>
            <a:off x="8255000" y="1981200"/>
            <a:ext cx="3175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键值对自描述</a:t>
            </a:r>
            <a:endParaRPr lang="en-US" sz="1300" dirty="0"/>
          </a:p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单字母键开头</a:t>
            </a:r>
            <a:endParaRPr lang="en-US" sz="1300" dirty="0"/>
          </a:p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B/M/P/E/S/G/W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1811000" y="1905000"/>
            <a:ext cx="3683000" cy="1117600"/>
          </a:xfrm>
          <a:prstGeom prst="rect">
            <a:avLst/>
          </a:prstGeom>
          <a:solidFill>
            <a:srgbClr val="C17A2F"/>
          </a:solidFill>
          <a:ln/>
        </p:spPr>
      </p:sp>
      <p:sp>
        <p:nvSpPr>
          <p:cNvPr id="16" name="Text 14"/>
          <p:cNvSpPr/>
          <p:nvPr/>
        </p:nvSpPr>
        <p:spPr>
          <a:xfrm>
            <a:off x="11938000" y="1981200"/>
            <a:ext cx="3429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端到端解耦</a:t>
            </a:r>
            <a:endParaRPr lang="en-US" sz="1300" dirty="0"/>
          </a:p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PC端动画升级</a:t>
            </a:r>
            <a:endParaRPr lang="en-US" sz="1300" dirty="0"/>
          </a:p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无需重编FPGA固件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62000" y="32004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2048 游戏协议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62000" y="3632200"/>
            <a:ext cx="7112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16000" y="3733800"/>
            <a:ext cx="660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C17A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B:2,0,4,0,2,16,0,0,2,0,0,0,4,0,0,2|S:40|G:0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16000" y="4445000"/>
            <a:ext cx="6604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</a:t>
            </a: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16个棋盘值（逗号分隔，行优先）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</a:t>
            </a: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当前累计分数　</a:t>
            </a:r>
            <a:r>
              <a:rPr lang="en-US" sz="13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</a:t>
            </a: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游戏状态（0=进行中，1=结束）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82000" y="32004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迷宫游戏协议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382000" y="3632200"/>
            <a:ext cx="7112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36000" y="3733800"/>
            <a:ext cx="660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C17A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M:15,10,5,12,...,7|P:3,4|E:7,7|W:0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636000" y="4445000"/>
            <a:ext cx="6604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</a:t>
            </a: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64个格子墙值（4bit编码：上1/右2/下4/左8）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</a:t>
            </a: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玩家坐标　</a:t>
            </a:r>
            <a:r>
              <a:rPr lang="en-US" sz="13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</a:t>
            </a: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终点(7,7)　</a:t>
            </a:r>
            <a:r>
              <a:rPr lang="en-US" sz="13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</a:t>
            </a: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胜利标志(0/1)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62000" y="5588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GPIO 输入控制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62000" y="60198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2048：</a:t>
            </a: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SW1-SW4选择方向（上/下/左/右），按钮N17(gpio_i[0])确认移动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迷宫：</a:t>
            </a: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SW1-SW4控制移动方向，复位前拨动不同开关 → gpio_in()读取作为随机种子 → 生成不同迷宫布局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 / 12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08000" y="0"/>
            <a:ext cx="635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实验二：CPU改进与系统移植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0" y="0"/>
            <a:ext cx="635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实验三：应用开发与系统丰富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652000" y="457200"/>
            <a:ext cx="3302000" cy="38100"/>
          </a:xfrm>
          <a:prstGeom prst="rect">
            <a:avLst/>
          </a:prstGeom>
          <a:solidFill>
            <a:srgbClr val="C17A2F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7112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 GUI 实现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C17A2F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4478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技术栈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62000" y="1879600"/>
            <a:ext cx="14732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6000" y="1879600"/>
            <a:ext cx="1422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 3 + </a:t>
            </a: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tkinter</a:t>
            </a: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（标准库GUI）+ </a:t>
            </a: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pyserial</a:t>
            </a: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（串口通信）+ </a:t>
            </a: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threading</a:t>
            </a: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（后台线程）—— 纯标准库依赖，零第三方框架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2000" y="25654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数据流处理链路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3048000"/>
            <a:ext cx="2794000" cy="9652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3" name="Text 11"/>
          <p:cNvSpPr/>
          <p:nvPr/>
        </p:nvSpPr>
        <p:spPr>
          <a:xfrm>
            <a:off x="889000" y="3124200"/>
            <a:ext cx="25400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串口读取</a:t>
            </a:r>
            <a:endParaRPr lang="en-US" sz="1200" dirty="0"/>
          </a:p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ser.readline()</a:t>
            </a:r>
            <a:endParaRPr lang="en-US" sz="1200" dirty="0"/>
          </a:p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后台线程循环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556000" y="3429000"/>
            <a:ext cx="508000" cy="0"/>
          </a:xfrm>
          <a:prstGeom prst="straightConnector1">
            <a:avLst/>
          </a:prstGeom>
          <a:noFill/>
          <a:ln w="25400">
            <a:solidFill>
              <a:srgbClr val="C17A2F"/>
            </a:solidFill>
            <a:prstDash val="solid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4064000" y="3048000"/>
            <a:ext cx="2794000" cy="9652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4191000" y="3124200"/>
            <a:ext cx="25400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协议解析</a:t>
            </a:r>
            <a:endParaRPr lang="en-US" sz="1200" dirty="0"/>
          </a:p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split('|') → split(',')</a:t>
            </a:r>
            <a:endParaRPr lang="en-US" sz="1200" dirty="0"/>
          </a:p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int()转整数数组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0" y="3429000"/>
            <a:ext cx="508000" cy="0"/>
          </a:xfrm>
          <a:prstGeom prst="straightConnector1">
            <a:avLst/>
          </a:prstGeom>
          <a:noFill/>
          <a:ln w="25400">
            <a:solidFill>
              <a:srgbClr val="C17A2F"/>
            </a:solidFill>
            <a:prstDash val="solid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7366000" y="3048000"/>
            <a:ext cx="2794000" cy="9652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9" name="Text 17"/>
          <p:cNvSpPr/>
          <p:nvPr/>
        </p:nvSpPr>
        <p:spPr>
          <a:xfrm>
            <a:off x="7493000" y="3124200"/>
            <a:ext cx="25400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帧对比</a:t>
            </a:r>
            <a:endParaRPr lang="en-US" sz="1200" dirty="0"/>
          </a:p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board vs board_prev</a:t>
            </a:r>
            <a:endParaRPr lang="en-US" sz="1200" dirty="0"/>
          </a:p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检测变化格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160000" y="3429000"/>
            <a:ext cx="508000" cy="0"/>
          </a:xfrm>
          <a:prstGeom prst="straightConnector1">
            <a:avLst/>
          </a:prstGeom>
          <a:noFill/>
          <a:ln w="25400">
            <a:solidFill>
              <a:srgbClr val="C17A2F"/>
            </a:solidFill>
            <a:prstDash val="solid"/>
            <a:headEnd type="none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10668000" y="3048000"/>
            <a:ext cx="2794000" cy="965200"/>
          </a:xfrm>
          <a:prstGeom prst="rect">
            <a:avLst/>
          </a:prstGeom>
          <a:solidFill>
            <a:srgbClr val="C17A2F"/>
          </a:solidFill>
          <a:ln/>
        </p:spPr>
      </p:sp>
      <p:sp>
        <p:nvSpPr>
          <p:cNvPr id="22" name="Text 20"/>
          <p:cNvSpPr/>
          <p:nvPr/>
        </p:nvSpPr>
        <p:spPr>
          <a:xfrm>
            <a:off x="10795000" y="3124200"/>
            <a:ext cx="25400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动画渲染</a:t>
            </a:r>
            <a:endParaRPr lang="en-US" sz="1200" dirty="0"/>
          </a:p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Canvas绘制网格</a:t>
            </a:r>
            <a:endParaRPr lang="en-US" sz="1200" dirty="0"/>
          </a:p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弹出/滑动动画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3462000" y="3429000"/>
            <a:ext cx="508000" cy="0"/>
          </a:xfrm>
          <a:prstGeom prst="straightConnector1">
            <a:avLst/>
          </a:prstGeom>
          <a:noFill/>
          <a:ln w="25400">
            <a:solidFill>
              <a:srgbClr val="C17A2F"/>
            </a:solidFill>
            <a:prstDash val="solid"/>
            <a:headEnd type="none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13970000" y="3048000"/>
            <a:ext cx="1524000" cy="965200"/>
          </a:xfrm>
          <a:prstGeom prst="rect">
            <a:avLst/>
          </a:prstGeom>
          <a:solidFill>
            <a:srgbClr val="5A7A96"/>
          </a:solidFill>
          <a:ln/>
        </p:spPr>
      </p:sp>
      <p:sp>
        <p:nvSpPr>
          <p:cNvPr id="25" name="Text 23"/>
          <p:cNvSpPr/>
          <p:nvPr/>
        </p:nvSpPr>
        <p:spPr>
          <a:xfrm>
            <a:off x="13970000" y="3124200"/>
            <a:ext cx="15240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显示</a:t>
            </a:r>
            <a:endParaRPr lang="en-US" sz="1200" dirty="0"/>
          </a:p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tkinter</a:t>
            </a:r>
            <a:endParaRPr lang="en-US" sz="1200" dirty="0"/>
          </a:p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窗口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62000" y="42164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渲染与动画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62000" y="4648200"/>
            <a:ext cx="7239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2048渲染：</a:t>
            </a: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遍历board[4][4]绘制彩色方块网格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不同数值映射不同背景色（2→米色·8→橙色·2048→金色）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弹出动画：</a:t>
            </a: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数值从0变非0且非新生 → scale 1.0→1.3→1.0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滑动动画：</a:t>
            </a: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沿行/列非空格位移差值计算移动距离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382000" y="4648200"/>
            <a:ext cx="711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迷宫渲染：</a:t>
            </a: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解析M段64个墙值 → 绘制8×8网格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有墙画实线，无墙不画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黄色方块 = 玩家位置　绿色方块 = 终点(7,7)</a:t>
            </a:r>
            <a:endParaRPr lang="en-US" sz="13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300" b="1" dirty="0">
                <a:solidFill>
                  <a:srgbClr val="C17A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核心设计：</a:t>
            </a: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板载固件无需修改，PC端独立升级动画效果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62000" y="6223000"/>
            <a:ext cx="14732000" cy="71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16000" y="6223000"/>
            <a:ext cx="14224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代码重构：</a:t>
            </a: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CPU模块从19个文件精简为5个核心文件（pipeline_regs.v + cpu_support.v + defines.v），代码可维护性显著提升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 / 12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08000" y="0"/>
            <a:ext cx="635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实验二：CPU改进与系统移植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0" y="0"/>
            <a:ext cx="635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实验三：应用开发与系统丰富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652000" y="457200"/>
            <a:ext cx="3302000" cy="38100"/>
          </a:xfrm>
          <a:prstGeom prst="rect">
            <a:avLst/>
          </a:prstGeom>
          <a:solidFill>
            <a:srgbClr val="C17A2F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7112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成果总结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C17A2F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1524000"/>
            <a:ext cx="4699000" cy="21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2000" y="1524000"/>
            <a:ext cx="4699000" cy="508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0" name="Text 8"/>
          <p:cNvSpPr/>
          <p:nvPr/>
        </p:nvSpPr>
        <p:spPr>
          <a:xfrm>
            <a:off x="952500" y="1701800"/>
            <a:ext cx="43180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实验二验证 — OS基础运行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BootLoader成功搬运OS到DDR2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UART/GPIO初始化全链路通过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数码管递增 · LED正常闪烁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μC/OS-II在自研SoC成功运行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715000" y="1524000"/>
            <a:ext cx="4699000" cy="21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15000" y="1524000"/>
            <a:ext cx="4699000" cy="50800"/>
          </a:xfrm>
          <a:prstGeom prst="rect">
            <a:avLst/>
          </a:prstGeom>
          <a:solidFill>
            <a:srgbClr val="C17A2F"/>
          </a:solidFill>
          <a:ln/>
        </p:spPr>
      </p:sp>
      <p:sp>
        <p:nvSpPr>
          <p:cNvPr id="13" name="Text 11"/>
          <p:cNvSpPr/>
          <p:nvPr/>
        </p:nvSpPr>
        <p:spPr>
          <a:xfrm>
            <a:off x="5905500" y="1701800"/>
            <a:ext cx="43180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实验三验证 — 2048游戏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GPIO开关控制方向+确认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每次移动后棋盘更新+新方块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Game Over检测正常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PC GUI动画渲染完整可玩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668000" y="1524000"/>
            <a:ext cx="4826000" cy="21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68000" y="1524000"/>
            <a:ext cx="4826000" cy="508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10858500" y="1701800"/>
            <a:ext cx="44450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实验三验证 — 迷宫游戏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每次复位生成不同8×8迷宫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DFS完美迷宫（全连通·无环）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有墙方向拒绝移动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PC GUI迷宫网格渲染正确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62000" y="38608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关键技术挑战</a:t>
            </a:r>
            <a:endParaRPr lang="en-US" sz="1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4318000"/>
          <a:ext cx="14732000" cy="2032000"/>
        </p:xfrm>
        <a:graphic>
          <a:graphicData uri="http://schemas.openxmlformats.org/drawingml/2006/table">
            <a:tbl>
              <a:tblPr/>
              <a:tblGrid>
                <a:gridCol w="3241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9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98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挑战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问题描述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解决方案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Flash芯片差异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S25FL128S与教材芯片型号/协议/时序均不同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自研SPI状态机 + ILA波形逐周期调试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DDR2控制复杂度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tRCD/tRP/tRFC等数十个时序参数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Xilinx MIG IP核封装 + Ram2Ddr桥接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编译器兼容性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32位工具链在64位Ubuntu/WSL2下报错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libc6-i386 + WSL原生文件系统编译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762000" y="6680200"/>
            <a:ext cx="14732000" cy="889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0" name="Text 17"/>
          <p:cNvSpPr/>
          <p:nvPr/>
        </p:nvSpPr>
        <p:spPr>
          <a:xfrm>
            <a:off x="1016000" y="66802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核心经验：跨平台移植的关键不是照搬代码，而是理解时钟频率、接口时序和硬件差异背后的原理。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调试原则：从底层到顶层分层验证 —— 先硬件独立正确，再确认软件链各环节正常。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 / 12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3w5dablxpss6y/mnt/agents/output/mips_defense/images/2_Abstract_Technology_Circuit_board.png"/>
          <p:cNvPicPr>
            <a:picLocks noChangeAspect="1"/>
          </p:cNvPicPr>
          <p:nvPr/>
        </p:nvPicPr>
        <p:blipFill>
          <a:blip r:embed="rId3"/>
          <a:srcRect t="3135" b="313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152238">
                  <a:alpha val="90000"/>
                </a:srgbClr>
              </a:gs>
              <a:gs pos="50000">
                <a:srgbClr val="152238">
                  <a:alpha val="80000"/>
                </a:srgbClr>
              </a:gs>
              <a:gs pos="100000">
                <a:srgbClr val="152238">
                  <a:alpha val="95000"/>
                </a:srgbClr>
              </a:gs>
            </a:gsLst>
            <a:lin ang="54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2794000"/>
            <a:ext cx="2540000" cy="38100"/>
          </a:xfrm>
          <a:prstGeom prst="rect">
            <a:avLst/>
          </a:prstGeom>
          <a:solidFill>
            <a:srgbClr val="C17A2F"/>
          </a:solidFill>
          <a:ln/>
        </p:spPr>
      </p:sp>
      <p:sp>
        <p:nvSpPr>
          <p:cNvPr id="5" name="Text 2"/>
          <p:cNvSpPr/>
          <p:nvPr/>
        </p:nvSpPr>
        <p:spPr>
          <a:xfrm>
            <a:off x="3048000" y="3048000"/>
            <a:ext cx="101600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感谢聆听</a:t>
            </a:r>
            <a:endParaRPr lang="en-US" sz="4000" b="1" dirty="0"/>
          </a:p>
        </p:txBody>
      </p:sp>
      <p:sp>
        <p:nvSpPr>
          <p:cNvPr id="6" name="Text 3"/>
          <p:cNvSpPr/>
          <p:nvPr/>
        </p:nvSpPr>
        <p:spPr>
          <a:xfrm>
            <a:off x="4318000" y="3886200"/>
            <a:ext cx="762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请各位老师批评指正</a:t>
            </a:r>
            <a:endParaRPr lang="en-US" sz="2000" b="1" dirty="0"/>
          </a:p>
        </p:txBody>
      </p:sp>
      <p:sp>
        <p:nvSpPr>
          <p:cNvPr id="7" name="Shape 4"/>
          <p:cNvSpPr/>
          <p:nvPr/>
        </p:nvSpPr>
        <p:spPr>
          <a:xfrm>
            <a:off x="6223000" y="4508500"/>
            <a:ext cx="3810000" cy="1270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4318000" y="6477000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王亦玮 · 2351274</a:t>
            </a:r>
            <a:endParaRPr lang="en-US" sz="1600" b="1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1161</Words>
  <Application>Microsoft Office PowerPoint</Application>
  <PresentationFormat>自定义</PresentationFormat>
  <Paragraphs>266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Arial</vt:lpstr>
      <vt:lpstr>Quattrocento Sans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μC/OS-II 系统移植与应用程序开发</dc:title>
  <dc:subject>μC/OS-II 系统移植与应用程序开发</dc:subject>
  <dc:creator>Kimi</dc:creator>
  <cp:lastModifiedBy>亦玮 王</cp:lastModifiedBy>
  <cp:revision>5</cp:revision>
  <dcterms:created xsi:type="dcterms:W3CDTF">2026-07-04T12:43:45Z</dcterms:created>
  <dcterms:modified xsi:type="dcterms:W3CDTF">2026-07-04T13:41:38Z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{"Label":"μC/OS-II 系统移植与应用程序开发","ContentProducer":"001191110108MACG2KBH8F10000","ProduceID":"19f2cefe-4e12-85e4-8000-00008cf506e4","ReservedCode1":"","ContentPropagator":"001191110108MACG2KBH8F20000","PropagateID":"19f2ceb2-b0d2-8745-8000-092548970129","ReservedCode2":""}</vt:lpwstr>
  </property>
</Properties>
</file>