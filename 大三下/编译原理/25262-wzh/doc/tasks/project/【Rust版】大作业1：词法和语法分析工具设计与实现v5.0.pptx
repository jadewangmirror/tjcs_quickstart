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1286" r:id="rId2"/>
    <p:sldId id="1653" r:id="rId3"/>
    <p:sldId id="1606" r:id="rId4"/>
    <p:sldId id="1610" r:id="rId5"/>
    <p:sldId id="1650" r:id="rId6"/>
    <p:sldId id="1638" r:id="rId7"/>
    <p:sldId id="1639" r:id="rId8"/>
    <p:sldId id="1640" r:id="rId9"/>
    <p:sldId id="1641" r:id="rId10"/>
    <p:sldId id="1642" r:id="rId11"/>
    <p:sldId id="1643" r:id="rId12"/>
    <p:sldId id="1644" r:id="rId13"/>
    <p:sldId id="1645" r:id="rId14"/>
    <p:sldId id="1651" r:id="rId15"/>
    <p:sldId id="1646" r:id="rId16"/>
    <p:sldId id="1648" r:id="rId17"/>
    <p:sldId id="1607" r:id="rId18"/>
    <p:sldId id="1605" r:id="rId19"/>
    <p:sldId id="1614" r:id="rId20"/>
    <p:sldId id="1652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5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信用户_R3yuaiaE" initials="authorId_1242556366" lastIdx="1724186634" clrIdx="0"/>
  <p:cmAuthor id="2" name="qhy" initials="qhy" lastIdx="2" clrIdx="0"/>
  <p:cmAuthor id="3" name="未知用户30" initials="未" lastIdx="2" clrIdx="0"/>
  <p:cmAuthor id="4" name="Microsoft Office 用户" initials="Office" lastIdx="0" clrIdx="0"/>
  <p:cmAuthor id="5" name="熊永钢" initials="b" lastIdx="5" clrIdx="1"/>
  <p:cmAuthor id="6" name="kingdee" initials="k" lastIdx="12" clrIdx="2"/>
  <p:cmAuthor id="7" name="Administrator" initials="A" lastIdx="4" clrIdx="3"/>
  <p:cmAuthor id="8" name="Stoddart, Jill" initials="S" lastIdx="218" clrIdx="3"/>
  <p:cmAuthor id="9" name="Harry xu" initials="H" lastIdx="1" clrIdx="0"/>
  <p:cmAuthor id="10" name="Faye Treichel" initials="F" lastIdx="29" clrIdx="4"/>
  <p:cmAuthor id="11" name="huang gerrard" initials="h" lastIdx="1" clrIdx="0"/>
  <p:cmAuthor id="12" name="sarah.schaper.design@gmail.com" initials="s" lastIdx="3" clrIdx="5"/>
  <p:cmAuthor id="13" name="Unknown User24" initials="U" lastIdx="1" clrIdx="0"/>
  <p:cmAuthor id="14" name="Guest User" initials="G" lastIdx="6" clrIdx="6"/>
  <p:cmAuthor id="15" name="PMO" initials="P" lastIdx="0" clrIdx="0"/>
  <p:cmAuthor id="16" name="未知的使用者51" initials="" lastIdx="10" clrIdx="0"/>
  <p:cmAuthor id="17" name="ThinkPad" initials="T" lastIdx="5" clrIdx="50"/>
  <p:cmAuthor id="18" name="曾蓓/贝贝" initials="曾" lastIdx="0" clrIdx="0"/>
  <p:cmAuthor id="19" name="施普希（菜菜）" initials="施" lastIdx="0" clrIdx="0"/>
  <p:cmAuthor id="20" name="Hanhua Chen" initials="HC" lastIdx="1" clrIdx="51"/>
  <p:cmAuthor id="21" name="Evonlin" initials="E" lastIdx="2" clrIdx="2"/>
  <p:cmAuthor id="22" name="阿如" initials="阿如" lastIdx="2" clrIdx="52">
    <p:extLst>
      <p:ext uri="{19B8F6BF-5375-455C-9EA6-DF929625EA0E}">
        <p15:presenceInfo xmlns:p15="http://schemas.microsoft.com/office/powerpoint/2012/main" userId="4050f0914e7a0a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953735"/>
    <a:srgbClr val="0854A0"/>
    <a:srgbClr val="FFFFFF"/>
    <a:srgbClr val="155DA5"/>
    <a:srgbClr val="00007D"/>
    <a:srgbClr val="FFFF00"/>
    <a:srgbClr val="DEEBF7"/>
    <a:srgbClr val="EEF2F9"/>
    <a:srgbClr val="E2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9" autoAdjust="0"/>
    <p:restoredTop sz="78419" autoAdjust="0"/>
  </p:normalViewPr>
  <p:slideViewPr>
    <p:cSldViewPr showGuides="1">
      <p:cViewPr varScale="1">
        <p:scale>
          <a:sx n="64" d="100"/>
          <a:sy n="64" d="100"/>
        </p:scale>
        <p:origin x="867" y="66"/>
      </p:cViewPr>
      <p:guideLst>
        <p:guide orient="horz" pos="2455"/>
        <p:guide pos="37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39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3C295-9646-4A84-B6C4-043532D1CE6D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1049640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41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3784F-6181-40C2-A59C-FC3D8137FE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3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240A2-734F-44AC-B559-278D0725AF81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104963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63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963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63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70F4B-DBE4-4645-B749-B935A39A1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5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70F4B-DBE4-4645-B749-B935A39A121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851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536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BD127-0B8A-2BBD-3C73-56648260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2D4B0673-F56E-3047-F40E-F41C734DB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F1435A8F-4936-A2CA-0A8C-9D29F0E8A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8EF4F69D-55F3-B351-EF8D-DDB2D0852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772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3D6E-7244-7EEE-978D-AA82CE62D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7122FB43-B2A2-5374-2EA2-9CB3DCC19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782C79D-59D9-8928-AC90-15216E834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C515ADD6-613D-27E2-5AA1-1D0B3214D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964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07A7-3F16-D448-1365-A62C7D87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34A333E5-1272-D7BC-44C4-CB27537B0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92F56A73-3D78-F15B-9724-4FABFC96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505716FB-9C6D-01E1-431D-F83CE24BF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834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3F8F-CE4C-8DDE-BEA1-A58286FB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CB5874E3-F1D4-8BCF-B655-6E69C78E5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8AA9931C-342F-1BA5-FC99-D28E43F73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C103A92C-A13B-D834-993C-417C6BD75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429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98BC-EFD9-3FA5-3605-1080BFDD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E7836187-7729-8F25-2706-E8724979A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F1C44B5-598C-2EBE-55D5-E838CC4CB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EAA4AE81-B3CB-73E4-771C-9797C503C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570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D671-287A-F567-BF60-8AAF3CE9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A7E04FC1-096B-E15C-ADD1-70E6AE6CB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F64DEAD-6D60-E06D-FB9A-F15ABAE50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BAB3F611-D5A9-9F7C-961E-F2E8E124C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282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E1E4-B513-C49C-C407-2CF6F14A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F6AAE7D6-5748-45CF-6120-C68466D36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E1131C1-F803-F720-8AB6-D3F21329C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547003D8-D42F-663E-34E2-E4E393FB2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119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EB9E-64F7-EF6B-B769-818E563F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FE20934A-8AAF-5DFB-298D-40B8DED00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354938CD-36C0-B0C7-1DC2-5CDD9208A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9CE0A7F5-5060-21D0-23F2-947CAF84D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997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1BB8-FE4D-5F11-6CA4-4245CA13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CDA85AB0-E85E-FC42-9135-CB35F7B11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1929E3CE-42F8-AFC6-142B-CAE77B121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B8172A7F-DE11-6005-852C-D2376998D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10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E32C-4F65-BB31-94BD-3AA4CBF6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45F8AA4C-DBD5-DD1D-A13F-B19C847CC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DFED142D-2477-F658-668E-F87593289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E9C7F43D-2C0C-6ADD-661D-73A8C3C46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3529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4B47A-6264-696D-0686-027DD566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739F91CF-CDD2-0EB8-8046-8E8353D79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047D86B7-F2B1-BD1F-9028-58465DD93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85F6A9AB-15E7-61DE-E501-83B19F976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037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4FD6-DAA0-D9A2-6B85-E9EF189A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DF24C271-9F15-6D8A-DBDA-2B1A5ABCE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CB10856D-4C05-493E-743A-1C061AEE2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173AF026-ADA0-67FE-82BC-8B29764BF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704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558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071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348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9AE7-9FB1-674E-8142-9F638AD3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幻灯片图像占位符 1">
            <a:extLst>
              <a:ext uri="{FF2B5EF4-FFF2-40B4-BE49-F238E27FC236}">
                <a16:creationId xmlns:a16="http://schemas.microsoft.com/office/drawing/2014/main" id="{D5AD4D6F-AA6F-23CE-3BB4-6566E9AC2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622" name="备注占位符 2">
            <a:extLst>
              <a:ext uri="{FF2B5EF4-FFF2-40B4-BE49-F238E27FC236}">
                <a16:creationId xmlns:a16="http://schemas.microsoft.com/office/drawing/2014/main" id="{2268ED83-B3E1-B1DE-4C24-AD8D826DF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048623" name="灯片编号占位符 3">
            <a:extLst>
              <a:ext uri="{FF2B5EF4-FFF2-40B4-BE49-F238E27FC236}">
                <a16:creationId xmlns:a16="http://schemas.microsoft.com/office/drawing/2014/main" id="{AF1DFDDC-365D-30CC-6BB7-867BE4E14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B70F4B-DBE4-4645-B749-B935A39A12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002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440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1613" y="-14096"/>
            <a:ext cx="943263" cy="943263"/>
          </a:xfrm>
          <a:prstGeom prst="rect">
            <a:avLst/>
          </a:prstGeom>
        </p:spPr>
      </p:pic>
      <p:pic>
        <p:nvPicPr>
          <p:cNvPr id="2097441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7547" y="209043"/>
            <a:ext cx="2021287" cy="497037"/>
          </a:xfrm>
          <a:prstGeom prst="rect">
            <a:avLst/>
          </a:prstGeom>
        </p:spPr>
      </p:pic>
      <p:sp>
        <p:nvSpPr>
          <p:cNvPr id="1049628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599017" y="209552"/>
            <a:ext cx="4783789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indent="0">
              <a:buNone/>
              <a:def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lvl="0"/>
            <a:r>
              <a:rPr kumimoji="1" lang="zh-CN" altLang="en-US" dirty="0"/>
              <a:t>单击此处编辑母版文本样</a:t>
            </a:r>
          </a:p>
        </p:txBody>
      </p:sp>
      <p:sp>
        <p:nvSpPr>
          <p:cNvPr id="1049629" name="Text Box 5"/>
          <p:cNvSpPr txBox="1">
            <a:spLocks noChangeArrowheads="1"/>
          </p:cNvSpPr>
          <p:nvPr userDrawn="1"/>
        </p:nvSpPr>
        <p:spPr bwMode="auto">
          <a:xfrm>
            <a:off x="11585877" y="6442457"/>
            <a:ext cx="209883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231775" fontAlgn="base">
              <a:spcBef>
                <a:spcPct val="50000"/>
              </a:spcBef>
              <a:spcAft>
                <a:spcPct val="0"/>
              </a:spcAft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panose="02000503000000020004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 panose="020005030000000200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7" y="6442457"/>
            <a:ext cx="209883" cy="153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231775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panose="02000503000000020004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 panose="02000503000000020004"/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1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5" y="682625"/>
            <a:ext cx="7793672" cy="2850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副标题，微软雅黑常规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3" y="210672"/>
            <a:ext cx="8913175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5095" y="187241"/>
            <a:ext cx="2314368" cy="55992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210672"/>
            <a:ext cx="189571" cy="469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4" name="矩形 3"/>
          <p:cNvSpPr/>
          <p:nvPr userDrawn="1"/>
        </p:nvSpPr>
        <p:spPr>
          <a:xfrm>
            <a:off x="262537" y="210672"/>
            <a:ext cx="126081" cy="469413"/>
          </a:xfrm>
          <a:prstGeom prst="rect">
            <a:avLst/>
          </a:prstGeom>
          <a:solidFill>
            <a:srgbClr val="2287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1"/>
          <p:cNvSpPr txBox="1"/>
          <p:nvPr userDrawn="1"/>
        </p:nvSpPr>
        <p:spPr>
          <a:xfrm>
            <a:off x="9264352" y="6309325"/>
            <a:ext cx="27432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890B23-47D2-4A6C-9E46-40D736F2607E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sp>
        <p:nvSpPr>
          <p:cNvPr id="1048577" name="textbox 84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2000" cy="715010"/>
          </a:xfrm>
          <a:prstGeom prst="rect">
            <a:avLst/>
          </a:prstGeom>
          <a:solidFill>
            <a:srgbClr val="0854A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 2"/>
          <p:cNvSpPr/>
          <p:nvPr>
            <p:custDataLst>
              <p:tags r:id="rId1"/>
            </p:custDataLst>
          </p:nvPr>
        </p:nvSpPr>
        <p:spPr>
          <a:xfrm>
            <a:off x="0" y="476672"/>
            <a:ext cx="12192000" cy="3888431"/>
          </a:xfrm>
          <a:prstGeom prst="rect">
            <a:avLst/>
          </a:prstGeom>
          <a:solidFill>
            <a:srgbClr val="0854A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581" name="textbox 14"/>
          <p:cNvSpPr/>
          <p:nvPr>
            <p:custDataLst>
              <p:tags r:id="rId2"/>
            </p:custDataLst>
          </p:nvPr>
        </p:nvSpPr>
        <p:spPr>
          <a:xfrm>
            <a:off x="3359695" y="4757257"/>
            <a:ext cx="5887085" cy="1440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ctr" rtl="0" eaLnBrk="0">
              <a:lnSpc>
                <a:spcPct val="90000"/>
              </a:lnSpc>
            </a:pPr>
            <a:r>
              <a:rPr lang="zh-CN" altLang="en-US" sz="4000" b="1" kern="0" spc="-10" dirty="0">
                <a:solidFill>
                  <a:srgbClr val="0854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同济大学</a:t>
            </a:r>
            <a:endParaRPr lang="en-US" altLang="zh-CN" sz="4000" b="1" kern="0" spc="-10" dirty="0">
              <a:solidFill>
                <a:srgbClr val="0854A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ctr" rtl="0" eaLnBrk="0">
              <a:lnSpc>
                <a:spcPct val="90000"/>
              </a:lnSpc>
            </a:pPr>
            <a:r>
              <a:rPr lang="zh-CN" altLang="en-US" sz="4000" b="1" kern="0" spc="-10" dirty="0">
                <a:solidFill>
                  <a:srgbClr val="0854A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编译原理课程组</a:t>
            </a:r>
            <a:endParaRPr lang="zh-CN" altLang="en-US" sz="3200" b="1" kern="0" spc="-30" dirty="0">
              <a:solidFill>
                <a:srgbClr val="0854A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33" t="18587" r="5127" b="10065"/>
          <a:stretch>
            <a:fillRect/>
          </a:stretch>
        </p:blipFill>
        <p:spPr>
          <a:xfrm>
            <a:off x="8839835" y="-4445"/>
            <a:ext cx="3345815" cy="93599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3350FFF-7F4E-4451-BA89-36D36BEBB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0663"/>
            <a:ext cx="121856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33CC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编译原理</a:t>
            </a:r>
            <a:br>
              <a:rPr kumimoji="0" lang="en-US" altLang="zh-CN" sz="6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大作业</a:t>
            </a:r>
            <a:r>
              <a:rPr kumimoji="0" lang="en-US" altLang="zh-CN" sz="5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：词法分析、语法分析器</a:t>
            </a:r>
            <a:endParaRPr kumimoji="0" lang="zh-CN" altLang="en-US" sz="6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57"/>
    </mc:Choice>
    <mc:Fallback xmlns="">
      <p:transition spd="slow" advTm="163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A6D18E3-361F-431A-9D7F-5FDD959F45F1}"/>
              </a:ext>
            </a:extLst>
          </p:cNvPr>
          <p:cNvGrpSpPr/>
          <p:nvPr/>
        </p:nvGrpSpPr>
        <p:grpSpPr>
          <a:xfrm>
            <a:off x="8434022" y="4280567"/>
            <a:ext cx="3978452" cy="3886035"/>
            <a:chOff x="7562167" y="1965744"/>
            <a:chExt cx="3780000" cy="3780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5386011-EE24-49BA-BF60-F38AFE4EC811}"/>
                </a:ext>
              </a:extLst>
            </p:cNvPr>
            <p:cNvSpPr/>
            <p:nvPr/>
          </p:nvSpPr>
          <p:spPr>
            <a:xfrm>
              <a:off x="7562167" y="1965744"/>
              <a:ext cx="3780000" cy="3780000"/>
            </a:xfrm>
            <a:prstGeom prst="ellipse">
              <a:avLst/>
            </a:prstGeom>
            <a:solidFill>
              <a:srgbClr val="E7E7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AB2FB46-6879-4CC7-96A0-1B492024336D}"/>
                </a:ext>
              </a:extLst>
            </p:cNvPr>
            <p:cNvSpPr/>
            <p:nvPr/>
          </p:nvSpPr>
          <p:spPr>
            <a:xfrm>
              <a:off x="8445194" y="2145460"/>
              <a:ext cx="468000" cy="468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75000"/>
                    <a:tint val="66000"/>
                    <a:satMod val="160000"/>
                  </a:schemeClr>
                </a:gs>
                <a:gs pos="50000">
                  <a:schemeClr val="accent1">
                    <a:lumMod val="75000"/>
                    <a:tint val="44500"/>
                    <a:satMod val="160000"/>
                  </a:schemeClr>
                </a:gs>
                <a:gs pos="100000">
                  <a:schemeClr val="accent1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0E70DEE-AE1D-47A3-A35A-C24378E882FA}"/>
                </a:ext>
              </a:extLst>
            </p:cNvPr>
            <p:cNvSpPr txBox="1"/>
            <p:nvPr/>
          </p:nvSpPr>
          <p:spPr>
            <a:xfrm>
              <a:off x="8847134" y="2193327"/>
              <a:ext cx="1797506" cy="389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中国推广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F1A6067-F10C-4B26-9CB6-90F11B02924D}"/>
                </a:ext>
              </a:extLst>
            </p:cNvPr>
            <p:cNvSpPr txBox="1"/>
            <p:nvPr/>
          </p:nvSpPr>
          <p:spPr>
            <a:xfrm>
              <a:off x="8210434" y="2767660"/>
              <a:ext cx="2761026" cy="1526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华为战略支持了在中国举办的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 China Conf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大会，并推行多项社区活动。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华为也为为中国的开发者提供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教程和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编码规范等。</a:t>
              </a:r>
              <a:endPara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FCD90-A964-4D91-B016-4E73289900B5}"/>
              </a:ext>
            </a:extLst>
          </p:cNvPr>
          <p:cNvGrpSpPr/>
          <p:nvPr/>
        </p:nvGrpSpPr>
        <p:grpSpPr>
          <a:xfrm>
            <a:off x="5241420" y="4268797"/>
            <a:ext cx="3978452" cy="3888219"/>
            <a:chOff x="4136305" y="1965744"/>
            <a:chExt cx="3780000" cy="378000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4351071-B839-45CC-A44E-8E095FF24A49}"/>
                </a:ext>
              </a:extLst>
            </p:cNvPr>
            <p:cNvSpPr/>
            <p:nvPr/>
          </p:nvSpPr>
          <p:spPr>
            <a:xfrm>
              <a:off x="4136305" y="1965744"/>
              <a:ext cx="3780000" cy="3780000"/>
            </a:xfrm>
            <a:prstGeom prst="ellipse">
              <a:avLst/>
            </a:prstGeom>
            <a:solidFill>
              <a:srgbClr val="E7E7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CAB4CC0-096A-4255-9205-3AFEEAF22436}"/>
                </a:ext>
              </a:extLst>
            </p:cNvPr>
            <p:cNvSpPr/>
            <p:nvPr/>
          </p:nvSpPr>
          <p:spPr>
            <a:xfrm>
              <a:off x="5042314" y="2153116"/>
              <a:ext cx="468000" cy="468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tint val="66000"/>
                    <a:satMod val="160000"/>
                  </a:schemeClr>
                </a:gs>
                <a:gs pos="50000">
                  <a:schemeClr val="bg1">
                    <a:lumMod val="65000"/>
                    <a:tint val="44500"/>
                    <a:satMod val="160000"/>
                  </a:schemeClr>
                </a:gs>
                <a:gs pos="100000">
                  <a:schemeClr val="bg1">
                    <a:lumMod val="6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AEF0C75-AF07-4D13-8BCF-BA97915057E7}"/>
                </a:ext>
              </a:extLst>
            </p:cNvPr>
            <p:cNvSpPr txBox="1"/>
            <p:nvPr/>
          </p:nvSpPr>
          <p:spPr>
            <a:xfrm>
              <a:off x="5437458" y="2204642"/>
              <a:ext cx="1829979" cy="388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Rust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社区贡献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65B6A9-123F-4A52-A545-D8995A2E75A8}"/>
                </a:ext>
              </a:extLst>
            </p:cNvPr>
            <p:cNvSpPr txBox="1"/>
            <p:nvPr/>
          </p:nvSpPr>
          <p:spPr>
            <a:xfrm>
              <a:off x="4376741" y="2753513"/>
              <a:ext cx="2840629" cy="2004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华为深度参与了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社区中，贡献了包括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到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转换、内联汇编、交叉编译、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Parking Lot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并发库、</a:t>
              </a:r>
              <a:r>
                <a:rPr lang="en-US" altLang="zh-CN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SIMD 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基础库、文档导航、代码多态化、热补丁、</a:t>
              </a:r>
              <a:r>
                <a:rPr lang="en-US" altLang="zh-CN" sz="1600" b="1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AOP</a:t>
              </a:r>
              <a:r>
                <a:rPr lang="zh-CN" altLang="en-US" sz="1600" b="1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等特性。</a:t>
              </a:r>
              <a:endParaRPr lang="en-US" altLang="zh-CN" sz="1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buFont typeface="Wingdings" panose="05000000000000000000" pitchFamily="2" charset="2"/>
                <a:buChar char="l"/>
              </a:pPr>
              <a:endParaRPr lang="zh-CN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EB3AE-BC98-4293-85C9-35572103EE47}"/>
              </a:ext>
            </a:extLst>
          </p:cNvPr>
          <p:cNvSpPr txBox="1"/>
          <p:nvPr/>
        </p:nvSpPr>
        <p:spPr>
          <a:xfrm>
            <a:off x="6453265" y="1161663"/>
            <a:ext cx="5624435" cy="879113"/>
          </a:xfrm>
          <a:prstGeom prst="rect">
            <a:avLst/>
          </a:prstGeom>
          <a:noFill/>
          <a:ln w="25400" cmpd="sng">
            <a:solidFill>
              <a:srgbClr val="003366"/>
            </a:solidFill>
            <a:headEnd/>
            <a:tailEnd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eaLnBrk="0" hangingPunct="0">
              <a:lnSpc>
                <a:spcPct val="125000"/>
              </a:lnSpc>
              <a:buClr>
                <a:schemeClr val="bg2"/>
              </a:buClr>
              <a:buSzPct val="75000"/>
              <a:defRPr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lvl="1" fontAlgn="base">
              <a:spcBef>
                <a:spcPct val="0"/>
              </a:spcBef>
              <a:spcAft>
                <a:spcPct val="0"/>
              </a:spcAft>
              <a:defRPr b="1">
                <a:solidFill>
                  <a:srgbClr val="4D4D4D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是一门能够安全高效地编写系统级程序的语言，在内存安全方面具有显著优势。</a:t>
            </a:r>
            <a:endParaRPr kumimoji="0" lang="en-US" altLang="zh-CN" sz="2200" b="1" i="0" u="none" strike="noStrike" kern="1200" cap="none" spc="0" normalizeH="0" baseline="0" noProof="1">
              <a:ln>
                <a:noFill/>
              </a:ln>
              <a:solidFill>
                <a:srgbClr val="4D4D4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CBC9B6-1693-421D-8875-1CDBF680AB9E}"/>
              </a:ext>
            </a:extLst>
          </p:cNvPr>
          <p:cNvSpPr/>
          <p:nvPr/>
        </p:nvSpPr>
        <p:spPr>
          <a:xfrm>
            <a:off x="7389586" y="2263237"/>
            <a:ext cx="4688114" cy="96316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知名问答平台</a:t>
            </a:r>
            <a:r>
              <a:rPr lang="en-US" altLang="zh-CN" sz="16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StackOverflow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的调查表明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年以来，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一直是开发者最爱的编程语言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5" name="Picture 2" descr="Stack Overflow (@StackOverflow) / X">
            <a:extLst>
              <a:ext uri="{FF2B5EF4-FFF2-40B4-BE49-F238E27FC236}">
                <a16:creationId xmlns:a16="http://schemas.microsoft.com/office/drawing/2014/main" id="{238F9C14-6F73-4933-B3F5-19AF68778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2" t="15945" r="18958" b="16519"/>
          <a:stretch/>
        </p:blipFill>
        <p:spPr bwMode="auto">
          <a:xfrm>
            <a:off x="6175049" y="2263237"/>
            <a:ext cx="863398" cy="96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1B5DA1F-96AB-4D24-8011-AE25FAF76677}"/>
              </a:ext>
            </a:extLst>
          </p:cNvPr>
          <p:cNvSpPr/>
          <p:nvPr/>
        </p:nvSpPr>
        <p:spPr>
          <a:xfrm>
            <a:off x="2163792" y="3500186"/>
            <a:ext cx="3739570" cy="611340"/>
          </a:xfrm>
          <a:prstGeom prst="round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1996075-65EC-4F54-AFD6-A4EC88557402}"/>
              </a:ext>
            </a:extLst>
          </p:cNvPr>
          <p:cNvSpPr/>
          <p:nvPr/>
        </p:nvSpPr>
        <p:spPr>
          <a:xfrm>
            <a:off x="2172024" y="2663756"/>
            <a:ext cx="3739570" cy="612367"/>
          </a:xfrm>
          <a:prstGeom prst="round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EBBD6A-F53C-48E1-92EA-177CB4BD65CF}"/>
              </a:ext>
            </a:extLst>
          </p:cNvPr>
          <p:cNvSpPr/>
          <p:nvPr/>
        </p:nvSpPr>
        <p:spPr>
          <a:xfrm>
            <a:off x="2172024" y="1836015"/>
            <a:ext cx="3739571" cy="600165"/>
          </a:xfrm>
          <a:prstGeom prst="round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E7D4B83-64EC-4D28-9F9F-F458E8088624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1453073" y="2966316"/>
            <a:ext cx="725008" cy="249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2C26FCEB-E6B3-43BA-BE24-D4CECC1C104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1453073" y="2123221"/>
            <a:ext cx="725012" cy="84309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24461E7-73C2-45EE-BD2C-5E9A2234BE00}"/>
              </a:ext>
            </a:extLst>
          </p:cNvPr>
          <p:cNvSpPr/>
          <p:nvPr/>
        </p:nvSpPr>
        <p:spPr>
          <a:xfrm>
            <a:off x="214832" y="2666233"/>
            <a:ext cx="1238241" cy="600165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532D206-3765-4910-A143-A685BEE6ADC1}"/>
              </a:ext>
            </a:extLst>
          </p:cNvPr>
          <p:cNvSpPr/>
          <p:nvPr/>
        </p:nvSpPr>
        <p:spPr>
          <a:xfrm>
            <a:off x="2178085" y="1836856"/>
            <a:ext cx="1264631" cy="572729"/>
          </a:xfrm>
          <a:prstGeom prst="roundRect">
            <a:avLst/>
          </a:prstGeom>
          <a:solidFill>
            <a:srgbClr val="D17F7D"/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7B7FD6D-8100-425B-8875-ECF630D276BF}"/>
              </a:ext>
            </a:extLst>
          </p:cNvPr>
          <p:cNvSpPr/>
          <p:nvPr/>
        </p:nvSpPr>
        <p:spPr>
          <a:xfrm>
            <a:off x="2178081" y="2668727"/>
            <a:ext cx="1264634" cy="600165"/>
          </a:xfrm>
          <a:prstGeom prst="roundRect">
            <a:avLst/>
          </a:prstGeom>
          <a:solidFill>
            <a:srgbClr val="D17F7D"/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可靠性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9F68931-DEB4-4940-AE1D-2208C51E9BC5}"/>
              </a:ext>
            </a:extLst>
          </p:cNvPr>
          <p:cNvSpPr/>
          <p:nvPr/>
        </p:nvSpPr>
        <p:spPr>
          <a:xfrm>
            <a:off x="2169848" y="3503654"/>
            <a:ext cx="1272868" cy="600164"/>
          </a:xfrm>
          <a:prstGeom prst="roundRect">
            <a:avLst/>
          </a:prstGeom>
          <a:solidFill>
            <a:srgbClr val="D17F7D"/>
          </a:solidFill>
          <a:ln>
            <a:solidFill>
              <a:srgbClr val="9537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生态性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138EAFC2-2886-4A22-9C93-F89013EFA226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1453073" y="2966316"/>
            <a:ext cx="716775" cy="83742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DCEED09-05C5-4CE8-9BC8-99403B7B16F2}"/>
              </a:ext>
            </a:extLst>
          </p:cNvPr>
          <p:cNvSpPr txBox="1"/>
          <p:nvPr/>
        </p:nvSpPr>
        <p:spPr>
          <a:xfrm>
            <a:off x="3485389" y="1842030"/>
            <a:ext cx="24262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速度极快，性能比肩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语言，内存效率极高，无需运行时或垃圾收集器，可以为性能关键型服务提供支持。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403A5A-0F4E-4E5D-8B94-C9BCF6422E45}"/>
              </a:ext>
            </a:extLst>
          </p:cNvPr>
          <p:cNvSpPr txBox="1"/>
          <p:nvPr/>
        </p:nvSpPr>
        <p:spPr>
          <a:xfrm>
            <a:off x="3485387" y="2675959"/>
            <a:ext cx="24993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丰富的类型系统和所有权模型保证了内存安全和线程安全，使编程人员能够在编译时消除许多类别的错误。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0ABF390-2F87-4F37-93E9-88392A9701E2}"/>
              </a:ext>
            </a:extLst>
          </p:cNvPr>
          <p:cNvSpPr txBox="1"/>
          <p:nvPr/>
        </p:nvSpPr>
        <p:spPr>
          <a:xfrm>
            <a:off x="3485386" y="3534120"/>
            <a:ext cx="24262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拥有出色的文档、带有有用错误消息的友好编译器、集成的包管理器和构建工具、自动格式化程序等。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90975FB-703A-47FE-AF87-4E629E198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551" y="3815296"/>
            <a:ext cx="1386960" cy="396274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6D8AB824-9130-484B-A411-DAA7A2583F20}"/>
              </a:ext>
            </a:extLst>
          </p:cNvPr>
          <p:cNvSpPr/>
          <p:nvPr/>
        </p:nvSpPr>
        <p:spPr>
          <a:xfrm>
            <a:off x="7389586" y="3494703"/>
            <a:ext cx="4688114" cy="963168"/>
          </a:xfrm>
          <a:prstGeom prst="rect">
            <a:avLst/>
          </a:prstGeom>
          <a:solidFill>
            <a:schemeClr val="dk1"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《Nature》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杂志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年尾的文章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《Why Scientists are Turning to Rust》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中也强调：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科学家极为推崇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B3CB4F9-86D4-475C-BD2C-3BF003C401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09" y="985742"/>
            <a:ext cx="2582973" cy="56519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603B28A4-2714-4629-8D21-D9849C9A0DE2}"/>
              </a:ext>
            </a:extLst>
          </p:cNvPr>
          <p:cNvSpPr txBox="1"/>
          <p:nvPr/>
        </p:nvSpPr>
        <p:spPr>
          <a:xfrm>
            <a:off x="69038" y="4697747"/>
            <a:ext cx="1872801" cy="2044429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953735"/>
            </a:solidFill>
            <a:headEnd/>
            <a:tailEnd/>
          </a:ln>
          <a:effectLst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eaLnBrk="0" hangingPunct="0">
              <a:lnSpc>
                <a:spcPct val="125000"/>
              </a:lnSpc>
              <a:buClr>
                <a:schemeClr val="bg2"/>
              </a:buClr>
              <a:buSzPct val="75000"/>
              <a:defRPr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lvl="1" fontAlgn="base">
              <a:spcBef>
                <a:spcPct val="0"/>
              </a:spcBef>
              <a:spcAft>
                <a:spcPct val="0"/>
              </a:spcAft>
              <a:defRPr b="1">
                <a:solidFill>
                  <a:srgbClr val="4D4D4D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ct val="75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华为是五位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基金会创始白金会员成员之一，引领了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D4D4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语言的发展。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4D4D4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A371A19-8751-4B9D-B478-1D4B851341E3}"/>
              </a:ext>
            </a:extLst>
          </p:cNvPr>
          <p:cNvGrpSpPr/>
          <p:nvPr/>
        </p:nvGrpSpPr>
        <p:grpSpPr>
          <a:xfrm>
            <a:off x="1972320" y="4271198"/>
            <a:ext cx="3978452" cy="3889140"/>
            <a:chOff x="632935" y="2126681"/>
            <a:chExt cx="3780000" cy="3780000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782A8DE5-BA3E-48A0-AE92-495B3D82996E}"/>
                </a:ext>
              </a:extLst>
            </p:cNvPr>
            <p:cNvSpPr/>
            <p:nvPr/>
          </p:nvSpPr>
          <p:spPr>
            <a:xfrm>
              <a:off x="632935" y="2126681"/>
              <a:ext cx="3780000" cy="3780000"/>
            </a:xfrm>
            <a:prstGeom prst="ellipse">
              <a:avLst/>
            </a:prstGeom>
            <a:solidFill>
              <a:srgbClr val="E7E7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724CB8A-818C-44E6-B46F-6F798BBD2189}"/>
                </a:ext>
              </a:extLst>
            </p:cNvPr>
            <p:cNvSpPr/>
            <p:nvPr/>
          </p:nvSpPr>
          <p:spPr>
            <a:xfrm>
              <a:off x="1516193" y="2320982"/>
              <a:ext cx="468000" cy="46800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  <a:tint val="66000"/>
                    <a:satMod val="160000"/>
                  </a:schemeClr>
                </a:gs>
                <a:gs pos="50000">
                  <a:schemeClr val="accent2">
                    <a:lumMod val="75000"/>
                    <a:tint val="44500"/>
                    <a:satMod val="160000"/>
                  </a:schemeClr>
                </a:gs>
                <a:gs pos="100000">
                  <a:schemeClr val="accent2">
                    <a:lumMod val="75000"/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黑体"/>
                <a:cs typeface="+mn-cs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0D29358-AF7F-426D-AB9C-085A1CDEA665}"/>
                </a:ext>
              </a:extLst>
            </p:cNvPr>
            <p:cNvSpPr txBox="1"/>
            <p:nvPr/>
          </p:nvSpPr>
          <p:spPr>
            <a:xfrm>
              <a:off x="1921793" y="2351577"/>
              <a:ext cx="1687020" cy="982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华为内部使用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08D7C8E-974E-4EE5-A6FB-CF10531C2022}"/>
                </a:ext>
              </a:extLst>
            </p:cNvPr>
            <p:cNvSpPr txBox="1"/>
            <p:nvPr/>
          </p:nvSpPr>
          <p:spPr>
            <a:xfrm>
              <a:off x="938760" y="2823056"/>
              <a:ext cx="2942138" cy="1764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广泛用于嵌入式系统开发、系统驱动、云计算、虚拟存储、网络传输协议、并发编程框架基础库等产品中。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lvl="0" indent="-342900"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华为实验室正基于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Rust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探索先进的代码解析、安全分析等工具。</a:t>
              </a:r>
              <a:endPara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46EB6919-CC23-4DD7-951F-CC28FE6072A2}"/>
              </a:ext>
            </a:extLst>
          </p:cNvPr>
          <p:cNvSpPr txBox="1"/>
          <p:nvPr/>
        </p:nvSpPr>
        <p:spPr>
          <a:xfrm>
            <a:off x="87564" y="33440"/>
            <a:ext cx="62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编译器实现</a:t>
            </a:r>
          </a:p>
        </p:txBody>
      </p:sp>
    </p:spTree>
    <p:extLst>
      <p:ext uri="{BB962C8B-B14F-4D97-AF65-F5344CB8AC3E}">
        <p14:creationId xmlns:p14="http://schemas.microsoft.com/office/powerpoint/2010/main" val="52700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4C10055-75B4-4C67-9664-E6B9109E966F}"/>
              </a:ext>
            </a:extLst>
          </p:cNvPr>
          <p:cNvSpPr txBox="1">
            <a:spLocks/>
          </p:cNvSpPr>
          <p:nvPr/>
        </p:nvSpPr>
        <p:spPr bwMode="auto">
          <a:xfrm>
            <a:off x="633304" y="2060848"/>
            <a:ext cx="8919080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了解类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词法、语法规则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基本功能：对类</a:t>
            </a:r>
            <a:r>
              <a:rPr lang="en-US" altLang="zh-CN" sz="28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示例程序实现词法和语法分析，并输出分析结果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扩展功能不限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分组，每组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撰写设计和说明文档</a:t>
            </a:r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F5CB3382-884C-4597-9DFE-F9890BDDF7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3392" y="1052736"/>
            <a:ext cx="10657184" cy="792088"/>
          </a:xfrm>
          <a:prstGeom prst="roundRect">
            <a:avLst/>
          </a:prstGeom>
          <a:solidFill>
            <a:srgbClr val="0854A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大作业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：词法和语法分析工具设计与实现</a:t>
            </a:r>
          </a:p>
        </p:txBody>
      </p:sp>
    </p:spTree>
    <p:extLst>
      <p:ext uri="{BB962C8B-B14F-4D97-AF65-F5344CB8AC3E}">
        <p14:creationId xmlns:p14="http://schemas.microsoft.com/office/powerpoint/2010/main" val="317925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1923B84-E29F-48B5-A213-71AEB5EC9297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词法规则</a:t>
            </a:r>
            <a:b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827639-6E1E-40B4-8CB6-B608C78F3E77}"/>
              </a:ext>
            </a:extLst>
          </p:cNvPr>
          <p:cNvSpPr txBox="1"/>
          <p:nvPr/>
        </p:nvSpPr>
        <p:spPr>
          <a:xfrm>
            <a:off x="0" y="980728"/>
            <a:ext cx="11424592" cy="581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 | let | if | else | while | return | mut | </a:t>
            </a:r>
            <a:r>
              <a:rPr lang="en-US" altLang="zh-CN" b="1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for | in | loop | break | continue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标识符： 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|_)(</a:t>
            </a: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字母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|_)*    </a:t>
            </a: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（注：不与关键字相同）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数值：数字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)*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赋值号：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算符：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| - | * | / | == | &gt; | &gt;= | &lt; | &lt;= | != | &amp; | *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界符： 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| ) | { | } | [ | ] 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分隔符：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; | : | ,</a:t>
            </a: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特殊符号： 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| . | ..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注释号：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/*   */  |  //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字母：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a |....| z | A |....| Z |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0| 1 | 2 | 3 | 4 | 5 | 6 | 7 | 8 | 9 |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结束符：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endParaRPr lang="zh-CN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087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3DD6-38DF-5746-6EF8-BE8F7B62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258D7F0D-F807-DC9A-39F1-E73B7609A1F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A623F4-12C3-6913-EBA1-5B7CA87CEDB1}"/>
              </a:ext>
            </a:extLst>
          </p:cNvPr>
          <p:cNvSpPr txBox="1"/>
          <p:nvPr/>
        </p:nvSpPr>
        <p:spPr>
          <a:xfrm>
            <a:off x="72008" y="871958"/>
            <a:ext cx="11496600" cy="375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基础程序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Program 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   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</a:t>
            </a:r>
            <a:r>
              <a:rPr lang="en-US" altLang="zh-CN" sz="2200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&lt;ID&gt; '('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      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'{'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'}'     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66806-0CE5-B75F-D9F0-4D03AD77CD01}"/>
              </a:ext>
            </a:extLst>
          </p:cNvPr>
          <p:cNvSpPr txBox="1"/>
          <p:nvPr/>
        </p:nvSpPr>
        <p:spPr>
          <a:xfrm>
            <a:off x="839416" y="5013176"/>
            <a:ext cx="5423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program_1_1() {</a:t>
            </a:r>
          </a:p>
          <a:p>
            <a:pPr marL="457200" lvl="1" eaLnBrk="1" hangingPunct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530E69-DCE0-0D42-C341-4F3566F83AF0}"/>
              </a:ext>
            </a:extLst>
          </p:cNvPr>
          <p:cNvSpPr txBox="1"/>
          <p:nvPr/>
        </p:nvSpPr>
        <p:spPr>
          <a:xfrm>
            <a:off x="5303912" y="3431740"/>
            <a:ext cx="11496600" cy="3858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mut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i32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&lt;ID&gt;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356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E6FFD-FC18-C69C-FB39-67E09262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42D32F61-F898-25D5-77D5-E1687ADF0F3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AF0328-0D48-C8A5-31BA-87664274BFA9}"/>
              </a:ext>
            </a:extLst>
          </p:cNvPr>
          <p:cNvSpPr txBox="1"/>
          <p:nvPr/>
        </p:nvSpPr>
        <p:spPr>
          <a:xfrm>
            <a:off x="72008" y="871958"/>
            <a:ext cx="11496600" cy="5487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语句（拓展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   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';'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返回语句（拓展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return ';'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函数输入（依赖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 ':'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函数输出（依赖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</a:t>
            </a:r>
            <a:r>
              <a:rPr lang="en-US" altLang="zh-CN" sz="2200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&lt;ID&gt; '('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 '-&gt;'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return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A9623C-4F03-9B7E-3596-A8E721CBCD44}"/>
              </a:ext>
            </a:extLst>
          </p:cNvPr>
          <p:cNvSpPr txBox="1"/>
          <p:nvPr/>
        </p:nvSpPr>
        <p:spPr>
          <a:xfrm>
            <a:off x="8040216" y="814140"/>
            <a:ext cx="542312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program_1_2()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;;;;;;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program_1_3()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program_1_4(mut a:i32)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program_1_5() -&gt; i32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1;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731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0E62-2BBE-2151-967F-12F6BF88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68AC80F4-C918-821F-9468-3E21B60B47F2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F27B73-26CC-AFE5-3D89-6819364F30BC}"/>
              </a:ext>
            </a:extLst>
          </p:cNvPr>
          <p:cNvSpPr txBox="1"/>
          <p:nvPr/>
        </p:nvSpPr>
        <p:spPr>
          <a:xfrm>
            <a:off x="72008" y="871958"/>
            <a:ext cx="11496600" cy="599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</a:t>
            </a: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&lt;ID&gt; ':'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变量声明语句（依赖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let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'='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2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变量声明赋值语句（依赖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变量声明赋值语句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变量声明赋值语句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let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'='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13D45D-1F6E-B79D-4775-6FF7D507A2F2}"/>
              </a:ext>
            </a:extLst>
          </p:cNvPr>
          <p:cNvSpPr txBox="1"/>
          <p:nvPr/>
        </p:nvSpPr>
        <p:spPr>
          <a:xfrm>
            <a:off x="8184232" y="2060848"/>
            <a:ext cx="54231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program_2_1()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program_2_2(mut a:i32)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a=32;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program_2_3()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a=1;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b:i32=1;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520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C2EEF-B58B-4A27-B4FF-9B8792A1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2491995-E9F6-A30D-7F56-23D14CD4A913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EEEEBA-D71E-F59A-9B30-D1BCB3C5D46F}"/>
              </a:ext>
            </a:extLst>
          </p:cNvPr>
          <p:cNvSpPr txBox="1"/>
          <p:nvPr/>
        </p:nvSpPr>
        <p:spPr>
          <a:xfrm>
            <a:off x="72008" y="871958"/>
            <a:ext cx="11496600" cy="2713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基本表达式（依赖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&lt;NUM&gt; |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'('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')'</a:t>
            </a: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3DF4B9-F27C-1EEB-08A1-C980A0121B61}"/>
              </a:ext>
            </a:extLst>
          </p:cNvPr>
          <p:cNvSpPr txBox="1"/>
          <p:nvPr/>
        </p:nvSpPr>
        <p:spPr>
          <a:xfrm>
            <a:off x="1236536" y="4005064"/>
            <a:ext cx="54231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program_3_1__1() {</a:t>
            </a:r>
          </a:p>
          <a:p>
            <a:pPr marL="457200" lvl="1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0;</a:t>
            </a:r>
          </a:p>
          <a:p>
            <a:pPr marL="457200" lvl="1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(1);</a:t>
            </a:r>
          </a:p>
          <a:p>
            <a:pPr marL="457200" lvl="1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((2));</a:t>
            </a:r>
          </a:p>
          <a:p>
            <a:pPr marL="457200" lvl="1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(((3)));</a:t>
            </a:r>
          </a:p>
          <a:p>
            <a:pPr marL="457200" lvl="1"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36BC94-AE72-AB34-8C62-B4DFC3BA0089}"/>
              </a:ext>
            </a:extLst>
          </p:cNvPr>
          <p:cNvSpPr txBox="1"/>
          <p:nvPr/>
        </p:nvSpPr>
        <p:spPr>
          <a:xfrm>
            <a:off x="6145480" y="4005064"/>
            <a:ext cx="54231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program_3_1__2(mut a:i32) {</a:t>
            </a:r>
          </a:p>
          <a:p>
            <a:pPr marL="457200" lvl="1" eaLnBrk="1" hangingPunct="1"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a;</a:t>
            </a:r>
          </a:p>
          <a:p>
            <a:pPr marL="457200" lvl="1" eaLnBrk="1" hangingPunct="1"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(a);</a:t>
            </a:r>
          </a:p>
          <a:p>
            <a:pPr marL="457200" lvl="1" eaLnBrk="1" hangingPunct="1"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((a));</a:t>
            </a:r>
          </a:p>
          <a:p>
            <a:pPr marL="457200" lvl="1" eaLnBrk="1" hangingPunct="1"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(((a)));</a:t>
            </a:r>
          </a:p>
          <a:p>
            <a:pPr marL="457200" lvl="1" eaLnBrk="1" hangingPunct="1"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115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54B9-3E46-3EF2-769E-D2A4A85B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1B47FF9-BDE5-9891-B541-0086DEC4F041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D41826-9781-AE56-0529-23B8C766D0F5}"/>
              </a:ext>
            </a:extLst>
          </p:cNvPr>
          <p:cNvSpPr txBox="1"/>
          <p:nvPr/>
        </p:nvSpPr>
        <p:spPr>
          <a:xfrm>
            <a:off x="72008" y="871958"/>
            <a:ext cx="11496600" cy="5890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增加比较运算（依赖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'&lt;' | '&lt;=' | '&gt;' | '&gt;='  | '==' | '!=‘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增加加减运算（依赖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加减运算符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加减运算符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'+' | '-’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增加乘除运算（依赖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乘除运算符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乘除运算符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'*' | '/’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增加函数调用（依赖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&lt;ID&gt; '('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52F776-1ABE-441F-DFEB-6B2959026E5A}"/>
              </a:ext>
            </a:extLst>
          </p:cNvPr>
          <p:cNvSpPr txBox="1"/>
          <p:nvPr/>
        </p:nvSpPr>
        <p:spPr>
          <a:xfrm>
            <a:off x="8616280" y="998690"/>
            <a:ext cx="542312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program_3_2()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1&lt;2;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3&gt;4;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program_3_3()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1+2;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3-4;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program_3_4()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1*2;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3/4;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program_3_5__1() {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program_3_5__2()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program_3_5__1();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277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2911-24C0-51F6-B9A4-E0023AA9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BB7C8F8-204F-627C-3746-B289A9C011FE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0CB47F-AA7E-CE5F-2046-41B019E2C8B6}"/>
              </a:ext>
            </a:extLst>
          </p:cNvPr>
          <p:cNvSpPr txBox="1"/>
          <p:nvPr/>
        </p:nvSpPr>
        <p:spPr>
          <a:xfrm>
            <a:off x="72008" y="871958"/>
            <a:ext cx="11496600" cy="360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&lt;if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&lt;if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if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&lt;else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&lt;else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&lt;else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else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if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&lt;else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else if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&lt;else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302BBC-D11B-00D2-AACA-04529483B30B}"/>
              </a:ext>
            </a:extLst>
          </p:cNvPr>
          <p:cNvSpPr txBox="1"/>
          <p:nvPr/>
        </p:nvSpPr>
        <p:spPr>
          <a:xfrm>
            <a:off x="8112224" y="671691"/>
            <a:ext cx="542312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program_4_1(a:i32) -&gt; i32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a&gt;0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1;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program_4_2(a:i32) -&gt; i32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a&gt;0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1;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 else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0;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program_4_3(a:i32) -&gt; i32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a&gt;0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a+1;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 else if a&lt;0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a-1;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 else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0;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462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AB1A-9F15-2E89-ECC3-DF588919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8D05C3A-A6C8-2D27-4E7B-9E42EAD9E92E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3911AF-A90D-7F30-16D4-048244D2F4E7}"/>
              </a:ext>
            </a:extLst>
          </p:cNvPr>
          <p:cNvSpPr txBox="1"/>
          <p:nvPr/>
        </p:nvSpPr>
        <p:spPr>
          <a:xfrm>
            <a:off x="72008" y="871958"/>
            <a:ext cx="11496600" cy="633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or 5.2 or 5.3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while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&lt;while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&lt;while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-&gt; while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for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&lt;for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 for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in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'..'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loop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&lt;loop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&lt;loop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loop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break ';' | continue ';'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61C772-2682-128A-47BE-EDBE7FDB77F6}"/>
              </a:ext>
            </a:extLst>
          </p:cNvPr>
          <p:cNvSpPr txBox="1"/>
          <p:nvPr/>
        </p:nvSpPr>
        <p:spPr>
          <a:xfrm>
            <a:off x="8040216" y="948690"/>
            <a:ext cx="542312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program_5_1(mut n:i32) {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while n&gt;0 {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n=n-1;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program_5_2(mut n:i32) {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for mut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1..n+1 {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n=n-1;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program_5_3() {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loop {</a:t>
            </a:r>
          </a:p>
          <a:p>
            <a:pPr marL="457200" lvl="1" eaLnBrk="1" hangingPunct="1"/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marL="457200" lvl="1"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program_5_4() {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while 1==0 { continue; }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while 1==1 { break; }</a:t>
            </a:r>
          </a:p>
          <a:p>
            <a:pPr marL="457200" lvl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003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60287-5878-7688-705F-E8E65A11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7F9E88CC-A7F4-8297-5FEF-BB37175F8BD6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73700B-48C3-6DEA-D35C-4ECF953194F6}"/>
              </a:ext>
            </a:extLst>
          </p:cNvPr>
          <p:cNvSpPr txBox="1"/>
          <p:nvPr/>
        </p:nvSpPr>
        <p:spPr>
          <a:xfrm>
            <a:off x="-96688" y="894248"/>
            <a:ext cx="11496600" cy="5487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变量不可变属性（拓展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变量属性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不可变引用（依赖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可变引用（依赖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'&amp;' mut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可取引用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066800" lvl="2">
              <a:lnSpc>
                <a:spcPct val="120000"/>
              </a:lnSpc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借用（依赖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'*'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左值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E0A674-46F3-5BAA-87A1-B6EBA436216C}"/>
              </a:ext>
            </a:extLst>
          </p:cNvPr>
          <p:cNvSpPr txBox="1"/>
          <p:nvPr/>
        </p:nvSpPr>
        <p:spPr>
          <a:xfrm>
            <a:off x="7464152" y="813320"/>
            <a:ext cx="542312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program_6_1()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a:i32;	// with rule 2.1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b;	// with rule 2.1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c:i32=1;	// with rule 2.3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d=2;	// with rule 2.3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program_6_2(a:i32)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i32=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program_6_3(mut a:i32)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i32=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program_6_4(a: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&amp;mut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i32)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b=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a=3;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151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32C7-693B-41C3-120D-4B666B7D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40132D7-DFA4-CC5C-7008-79D3F8066BFA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980544-BD27-8803-7DB6-0F820A25E8A8}"/>
              </a:ext>
            </a:extLst>
          </p:cNvPr>
          <p:cNvSpPr txBox="1"/>
          <p:nvPr/>
        </p:nvSpPr>
        <p:spPr>
          <a:xfrm>
            <a:off x="72008" y="871958"/>
            <a:ext cx="11784632" cy="368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函数表达式块（依赖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&gt;-&gt;'{'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'}'</a:t>
            </a: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函数表达式语句串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函数表达式块作为表达式（依赖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13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函数表达式块作为函数体（依赖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函数头声明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2B189D-5446-86CD-0437-9FA030539D91}"/>
              </a:ext>
            </a:extLst>
          </p:cNvPr>
          <p:cNvSpPr txBox="1"/>
          <p:nvPr/>
        </p:nvSpPr>
        <p:spPr>
          <a:xfrm>
            <a:off x="5663952" y="4588020"/>
            <a:ext cx="60486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program_7_2(mut x:i32,mut y:i32) -&gt; i32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let mut t=x*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x+x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t=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t+x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*y;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t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0E85B3-E08B-8E8B-632C-848FE50DFC36}"/>
              </a:ext>
            </a:extLst>
          </p:cNvPr>
          <p:cNvSpPr txBox="1"/>
          <p:nvPr/>
        </p:nvSpPr>
        <p:spPr>
          <a:xfrm>
            <a:off x="479376" y="4588020"/>
            <a:ext cx="54231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program_7_1(mut x:i32,mut y:i32)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z=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let mut t=x*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x+x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t=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t+x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*y;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t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194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A485-8A51-1FB2-7D21-74FA205B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E25B2DE6-5CC2-D12F-C856-CBF7A4796400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AE463F-E190-BED2-0741-459AF0CFF1E6}"/>
              </a:ext>
            </a:extLst>
          </p:cNvPr>
          <p:cNvSpPr txBox="1"/>
          <p:nvPr/>
        </p:nvSpPr>
        <p:spPr>
          <a:xfrm>
            <a:off x="72008" y="871958"/>
            <a:ext cx="11784632" cy="297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7.0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if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else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函数表达式语句块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循环表达式（依赖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&lt;loop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break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B146BA-24C5-EE38-2F38-7F4B772B5865}"/>
              </a:ext>
            </a:extLst>
          </p:cNvPr>
          <p:cNvSpPr txBox="1"/>
          <p:nvPr/>
        </p:nvSpPr>
        <p:spPr>
          <a:xfrm>
            <a:off x="6312024" y="4149080"/>
            <a:ext cx="54231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program_7_4()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{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break 2;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98EEBB-5208-ACED-2D3C-441CFEA86B5E}"/>
              </a:ext>
            </a:extLst>
          </p:cNvPr>
          <p:cNvSpPr txBox="1"/>
          <p:nvPr/>
        </p:nvSpPr>
        <p:spPr>
          <a:xfrm>
            <a:off x="983432" y="4149080"/>
            <a:ext cx="54231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program_7_3(mut a:i32)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a&gt;0 {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1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 else {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0</a:t>
            </a:r>
          </a:p>
          <a:p>
            <a:pPr marL="457200" lvl="1" eaLnBrk="1" hangingPunct="1"/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95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05B0-58CE-B7F2-9DAE-C3C85F13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3168C8A3-BA3D-D63B-469D-8D860068501F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1FE81C-05AB-B5B9-54C6-777134F688FB}"/>
              </a:ext>
            </a:extLst>
          </p:cNvPr>
          <p:cNvSpPr txBox="1"/>
          <p:nvPr/>
        </p:nvSpPr>
        <p:spPr>
          <a:xfrm>
            <a:off x="72008" y="871958"/>
            <a:ext cx="11496600" cy="4231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数组类型（依赖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'['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';' &lt;NUM&gt;’]‘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数组表达式（依赖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'['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 ']'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可迭代结构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'['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']'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BC8F4C-6E0A-97EA-9446-A8DED4251D57}"/>
              </a:ext>
            </a:extLst>
          </p:cNvPr>
          <p:cNvSpPr txBox="1"/>
          <p:nvPr/>
        </p:nvSpPr>
        <p:spPr>
          <a:xfrm>
            <a:off x="7536160" y="871958"/>
            <a:ext cx="542312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program_8_1()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a: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[i32;3]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program_8_2(mut a:[i32;3])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[1,2,3]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program_8_3(mut a:[i32;3]) {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=1;</a:t>
            </a:r>
          </a:p>
          <a:p>
            <a:pPr marL="457200" lvl="1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625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FCD5-2DD2-3CC9-DFE5-F2DA5F1D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71472E5F-7AC8-905B-F47B-295757A6ECEB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752184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6040B7-351A-A106-6866-52EFD04EF857}"/>
              </a:ext>
            </a:extLst>
          </p:cNvPr>
          <p:cNvSpPr txBox="1"/>
          <p:nvPr/>
        </p:nvSpPr>
        <p:spPr>
          <a:xfrm>
            <a:off x="72008" y="871958"/>
            <a:ext cx="11496600" cy="504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'(' 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元组类型内部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元组类型内部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元组表达式（依赖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'('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元组赋值内部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')'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元组赋值内部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&gt;-&gt;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|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',' 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元组元素列表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元组元素（依赖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，拓展</a:t>
            </a:r>
            <a:r>
              <a:rPr lang="en-US" altLang="zh-CN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-&gt;&lt;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可取元素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'.' &lt;NUM&gt;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F71B0B-101C-BA26-D9CC-A431AA6BD82C}"/>
              </a:ext>
            </a:extLst>
          </p:cNvPr>
          <p:cNvSpPr txBox="1"/>
          <p:nvPr/>
        </p:nvSpPr>
        <p:spPr>
          <a:xfrm>
            <a:off x="7176120" y="692696"/>
            <a:ext cx="54231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program_9_1()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a: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(i32,i32)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program_9_2(mut a:(i32,i32)) {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a=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(1,2)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endParaRPr lang="nn-NO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endParaRPr lang="nn-NO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endParaRPr lang="nn-NO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eaLnBrk="1" hangingPunct="1"/>
            <a:r>
              <a:rPr lang="nn-NO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fn program_9_3(mut a:(i32,i32)) {</a:t>
            </a:r>
          </a:p>
          <a:p>
            <a:pPr marL="457200" lvl="1" eaLnBrk="1" hangingPunct="1"/>
            <a:r>
              <a:rPr lang="nn-NO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let mut b:i32=</a:t>
            </a:r>
            <a:r>
              <a:rPr lang="nn-NO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a.0</a:t>
            </a:r>
            <a:r>
              <a:rPr lang="nn-NO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457200" lvl="1" eaLnBrk="1" hangingPunct="1"/>
            <a:r>
              <a:rPr lang="nn-NO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nn-NO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a.0</a:t>
            </a:r>
            <a:r>
              <a:rPr lang="nn-NO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=1;</a:t>
            </a:r>
          </a:p>
          <a:p>
            <a:pPr marL="457200" lvl="1" eaLnBrk="1" hangingPunct="1"/>
            <a:r>
              <a:rPr lang="nn-NO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527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1923B84-E29F-48B5-A213-71AEB5EC9297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4C10055-75B4-4C67-9664-E6B9109E966F}"/>
              </a:ext>
            </a:extLst>
          </p:cNvPr>
          <p:cNvSpPr txBox="1">
            <a:spLocks/>
          </p:cNvSpPr>
          <p:nvPr/>
        </p:nvSpPr>
        <p:spPr bwMode="auto">
          <a:xfrm>
            <a:off x="551384" y="980728"/>
            <a:ext cx="1135258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if123</a:t>
            </a:r>
          </a:p>
          <a:p>
            <a:pPr marL="857250" lvl="1" indent="-457200" defTabSz="914400">
              <a:lnSpc>
                <a:spcPct val="150000"/>
              </a:lnSpc>
              <a:buClrTx/>
              <a:buSzPct val="75000"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应该能够识别为标识符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if=123</a:t>
            </a:r>
          </a:p>
          <a:p>
            <a:pPr marL="857250" lvl="1" indent="-457200" defTabSz="914400">
              <a:lnSpc>
                <a:spcPct val="150000"/>
              </a:lnSpc>
              <a:buClrTx/>
              <a:buSzPct val="75000"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应该识别为三个单词：</a:t>
            </a:r>
          </a:p>
          <a:p>
            <a:pPr marL="1257300" lvl="2" indent="-457200" defTabSz="914400">
              <a:lnSpc>
                <a:spcPct val="150000"/>
              </a:lnSpc>
              <a:buClrTx/>
              <a:buSzPct val="75000"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，保留字）</a:t>
            </a:r>
          </a:p>
          <a:p>
            <a:pPr marL="1257300" lvl="2" indent="-457200" defTabSz="914400">
              <a:lnSpc>
                <a:spcPct val="150000"/>
              </a:lnSpc>
              <a:buClrTx/>
              <a:buSzPct val="75000"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，算符）</a:t>
            </a:r>
          </a:p>
          <a:p>
            <a:pPr marL="1257300" lvl="2" indent="-457200" defTabSz="914400">
              <a:lnSpc>
                <a:spcPct val="150000"/>
              </a:lnSpc>
              <a:buClrTx/>
              <a:buSzPct val="75000"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（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123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，整数）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616BF6-8D4D-3B0D-EC20-BDBB022B120C}"/>
              </a:ext>
            </a:extLst>
          </p:cNvPr>
          <p:cNvSpPr txBox="1"/>
          <p:nvPr/>
        </p:nvSpPr>
        <p:spPr>
          <a:xfrm>
            <a:off x="5487466" y="981894"/>
            <a:ext cx="6153150" cy="3157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>
              <a:lnSpc>
                <a:spcPct val="120000"/>
              </a:lnSpc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语法规则至少完成以下：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>
              <a:lnSpc>
                <a:spcPct val="120000"/>
              </a:lnSpc>
            </a:pP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>
              <a:lnSpc>
                <a:spcPct val="120000"/>
              </a:lnSpc>
            </a:pP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>
              <a:lnSpc>
                <a:spcPct val="120000"/>
              </a:lnSpc>
            </a:pP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>
              <a:lnSpc>
                <a:spcPct val="120000"/>
              </a:lnSpc>
            </a:pP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>
              <a:lnSpc>
                <a:spcPct val="120000"/>
              </a:lnSpc>
            </a:pP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5.0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</a:t>
            </a:r>
            <a:r>
              <a:rPr lang="zh-CN" altLang="en-US" sz="24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>
              <a:lnSpc>
                <a:spcPct val="120000"/>
              </a:lnSpc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剩余规则不做强制要求。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9803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1923B84-E29F-48B5-A213-71AEB5EC9297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C85E2D7-020B-433F-87BF-AE91265C4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131093"/>
              </p:ext>
            </p:extLst>
          </p:nvPr>
        </p:nvGraphicFramePr>
        <p:xfrm>
          <a:off x="534988" y="836712"/>
          <a:ext cx="10889604" cy="56577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9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实验评价内容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所占比重</a:t>
                      </a:r>
                    </a:p>
                  </a:txBody>
                  <a:tcPr marL="68570" marR="685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</a:p>
                  </a:txBody>
                  <a:tcPr marL="68570" marR="6857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问题分析能力</a:t>
                      </a: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说明词法分析或语法分析原理，绘制必要的状态转换图。</a:t>
                      </a: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系统方案（算法）设计能力</a:t>
                      </a: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sz="20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报告中体现系统各模块的总体设计和详细设计。</a:t>
                      </a: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编程能力</a:t>
                      </a: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sz="20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独立编程实现要求的全部功能，正确无误。</a:t>
                      </a: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44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撰写报告能力</a:t>
                      </a: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sz="20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表达通顺、结构清晰、内容完整、实验充分、提出个人想法，不存在抄袭。</a:t>
                      </a: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2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查阅文献资料能力</a:t>
                      </a: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sz="20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70" marR="6857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报告中列出所查阅的文献资料，含图书、论文、网络资源等。</a:t>
                      </a:r>
                    </a:p>
                  </a:txBody>
                  <a:tcPr marL="68570" marR="6857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586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1923B84-E29F-48B5-A213-71AEB5EC9297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40077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报告要求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4C10055-75B4-4C67-9664-E6B9109E966F}"/>
              </a:ext>
            </a:extLst>
          </p:cNvPr>
          <p:cNvSpPr txBox="1">
            <a:spLocks/>
          </p:cNvSpPr>
          <p:nvPr/>
        </p:nvSpPr>
        <p:spPr bwMode="auto">
          <a:xfrm>
            <a:off x="551384" y="980728"/>
            <a:ext cx="1135258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rgbClr val="0033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33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+mn-lt"/>
                <a:ea typeface="+mn-ea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设计文档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程序源代码、可执行代码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程序实例与结果截屏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PPT1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</a:p>
        </p:txBody>
      </p:sp>
    </p:spTree>
    <p:extLst>
      <p:ext uri="{BB962C8B-B14F-4D97-AF65-F5344CB8AC3E}">
        <p14:creationId xmlns:p14="http://schemas.microsoft.com/office/powerpoint/2010/main" val="2437378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F17E-D174-7C67-F5F4-71F9C15F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506A613-FDCA-843C-57B5-236213E74A53}"/>
              </a:ext>
            </a:extLst>
          </p:cNvPr>
          <p:cNvSpPr txBox="1">
            <a:spLocks/>
          </p:cNvSpPr>
          <p:nvPr/>
        </p:nvSpPr>
        <p:spPr>
          <a:xfrm>
            <a:off x="72008" y="-12202"/>
            <a:ext cx="7608168" cy="848914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写在最后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1FA057-D792-8AE6-594B-2D4322E0FFC1}"/>
              </a:ext>
            </a:extLst>
          </p:cNvPr>
          <p:cNvSpPr txBox="1"/>
          <p:nvPr/>
        </p:nvSpPr>
        <p:spPr>
          <a:xfrm>
            <a:off x="72008" y="692696"/>
            <a:ext cx="11496600" cy="626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部分羁绊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的规则（如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）：类型多于一种，变量赋值时需要检测类型是否对应，不对应应该报错。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for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+ 8.2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数组：数组是可迭代结构，可以被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循环访问；而其他类型的变量不可迭代，被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循环访问时应报错。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+ 6.1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变量不可变属性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循环的规则（如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）：若循环中中存在对不可变变量进行赋值的操作，应该报错。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可以也鼓励大家对本文档中的产生式进行改写，也可以拓展更多未在文档中提到的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的语法规则。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本规则中存在极个别的羁绊会使得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LR(1)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无法处理，如果发现并对此进行思考（如能否改写产生式来解决问题，如果不能则分析原因），将作为加分项。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en-US" altLang="zh-CN" b="1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函数输入中的形参列表可以识别怎样的语言？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00200" lvl="2" indent="-533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 比 </a:t>
            </a:r>
            <a:r>
              <a:rPr lang="en-US" altLang="zh-CN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 多了几条产生式，为什么？</a:t>
            </a:r>
            <a:endParaRPr lang="en-US" altLang="zh-CN" sz="2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587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5a9469-ee15-499b-b5b3-61796a49bb09"/>
  <p:tag name="COMMONDATA" val="eyJoZGlkIjoiNTA2M2FkNjU1MmQ3NWM5ZTEzMzgxNjY4ZjRmNzUzMjkifQ=="/>
  <p:tag name="RESOURCE_RECORD_KEY" val="{&quot;13&quot;:[4650186,4364900,19951219],&quot;70&quot;:[331426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51.1500000000001,&quot;left&quot;:26.4,&quot;top&quot;:71.45,&quot;width&quot;:905.4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12624</TotalTime>
  <Words>3215</Words>
  <Application>Microsoft Office PowerPoint</Application>
  <PresentationFormat>宽屏</PresentationFormat>
  <Paragraphs>446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黑体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Tongji</dc:title>
  <dc:creator>Tongji</dc:creator>
  <cp:lastModifiedBy>ZhiJun Ding</cp:lastModifiedBy>
  <cp:revision>412</cp:revision>
  <dcterms:created xsi:type="dcterms:W3CDTF">2025-01-31T02:10:00Z</dcterms:created>
  <dcterms:modified xsi:type="dcterms:W3CDTF">2026-03-25T00:04:35Z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94B39BF60ABD43C3BACBD483E12A7C98</vt:lpwstr>
  </property>
  <property fmtid="{D5CDD505-2E9C-101B-9397-08002B2CF9AE}" pid="3" name="KSOProductBuildVer">
    <vt:lpwstr>2052-12.1.0.19770</vt:lpwstr>
  </property>
</Properties>
</file>