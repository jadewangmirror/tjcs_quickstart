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handoutMasterIdLst>
    <p:handoutMasterId r:id="rId28"/>
  </p:handoutMasterIdLst>
  <p:sldIdLst>
    <p:sldId id="1286" r:id="rId2"/>
    <p:sldId id="1653" r:id="rId3"/>
    <p:sldId id="1606" r:id="rId4"/>
    <p:sldId id="1650" r:id="rId5"/>
    <p:sldId id="1638" r:id="rId6"/>
    <p:sldId id="1639" r:id="rId7"/>
    <p:sldId id="1663" r:id="rId8"/>
    <p:sldId id="1658" r:id="rId9"/>
    <p:sldId id="1640" r:id="rId10"/>
    <p:sldId id="1662" r:id="rId11"/>
    <p:sldId id="1641" r:id="rId12"/>
    <p:sldId id="1642" r:id="rId13"/>
    <p:sldId id="1643" r:id="rId14"/>
    <p:sldId id="1649" r:id="rId15"/>
    <p:sldId id="1664" r:id="rId16"/>
    <p:sldId id="1665" r:id="rId17"/>
    <p:sldId id="1666" r:id="rId18"/>
    <p:sldId id="1645" r:id="rId19"/>
    <p:sldId id="1651" r:id="rId20"/>
    <p:sldId id="1646" r:id="rId21"/>
    <p:sldId id="1660" r:id="rId22"/>
    <p:sldId id="1648" r:id="rId23"/>
    <p:sldId id="1661" r:id="rId24"/>
    <p:sldId id="1656" r:id="rId25"/>
    <p:sldId id="1657" r:id="rId26"/>
  </p:sldIdLst>
  <p:sldSz cx="12192000" cy="6858000"/>
  <p:notesSz cx="6858000" cy="9144000"/>
  <p:custDataLst>
    <p:tags r:id="rId29"/>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55" userDrawn="1">
          <p15:clr>
            <a:srgbClr val="A4A3A4"/>
          </p15:clr>
        </p15:guide>
        <p15:guide id="2" pos="370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微信用户_R3yuaiaE" initials="authorId_1242556366" lastIdx="1724186634" clrIdx="0"/>
  <p:cmAuthor id="2" name="qhy" initials="qhy" lastIdx="2" clrIdx="0"/>
  <p:cmAuthor id="3" name="未知用户30" initials="未" lastIdx="2" clrIdx="0"/>
  <p:cmAuthor id="4" name="Microsoft Office 用户" initials="Office" lastIdx="0" clrIdx="0"/>
  <p:cmAuthor id="5" name="熊永钢" initials="b" lastIdx="5" clrIdx="1"/>
  <p:cmAuthor id="6" name="kingdee" initials="k" lastIdx="12" clrIdx="2"/>
  <p:cmAuthor id="7" name="Administrator" initials="A" lastIdx="4" clrIdx="3"/>
  <p:cmAuthor id="8" name="Stoddart, Jill" initials="S" lastIdx="218" clrIdx="3"/>
  <p:cmAuthor id="9" name="Harry xu" initials="H" lastIdx="1" clrIdx="0"/>
  <p:cmAuthor id="10" name="Faye Treichel" initials="F" lastIdx="29" clrIdx="4"/>
  <p:cmAuthor id="11" name="huang gerrard" initials="h" lastIdx="1" clrIdx="0"/>
  <p:cmAuthor id="12" name="sarah.schaper.design@gmail.com" initials="s" lastIdx="3" clrIdx="5"/>
  <p:cmAuthor id="13" name="Unknown User24" initials="U" lastIdx="1" clrIdx="0"/>
  <p:cmAuthor id="14" name="Guest User" initials="G" lastIdx="6" clrIdx="6"/>
  <p:cmAuthor id="15" name="PMO" initials="P" lastIdx="0" clrIdx="0"/>
  <p:cmAuthor id="16" name="未知的使用者51" initials="" lastIdx="10" clrIdx="0"/>
  <p:cmAuthor id="17" name="ThinkPad" initials="T" lastIdx="5" clrIdx="50"/>
  <p:cmAuthor id="18" name="曾蓓/贝贝" initials="曾" lastIdx="0" clrIdx="0"/>
  <p:cmAuthor id="19" name="施普希（菜菜）" initials="施" lastIdx="0" clrIdx="0"/>
  <p:cmAuthor id="20" name="Hanhua Chen" initials="HC" lastIdx="1" clrIdx="51"/>
  <p:cmAuthor id="21" name="Evonlin" initials="E" lastIdx="2" clrIdx="2"/>
  <p:cmAuthor id="22" name="阿如" initials="阿如" lastIdx="2" clrIdx="52">
    <p:extLst>
      <p:ext uri="{19B8F6BF-5375-455C-9EA6-DF929625EA0E}">
        <p15:presenceInfo xmlns:p15="http://schemas.microsoft.com/office/powerpoint/2012/main" userId="4050f0914e7a0a0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953735"/>
    <a:srgbClr val="0854A0"/>
    <a:srgbClr val="FFFFFF"/>
    <a:srgbClr val="155DA5"/>
    <a:srgbClr val="00007D"/>
    <a:srgbClr val="FFFF00"/>
    <a:srgbClr val="DEEBF7"/>
    <a:srgbClr val="EEF2F9"/>
    <a:srgbClr val="E2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70" autoAdjust="0"/>
    <p:restoredTop sz="78419" autoAdjust="0"/>
  </p:normalViewPr>
  <p:slideViewPr>
    <p:cSldViewPr showGuides="1">
      <p:cViewPr varScale="1">
        <p:scale>
          <a:sx n="108" d="100"/>
          <a:sy n="108" d="100"/>
        </p:scale>
        <p:origin x="384" y="200"/>
      </p:cViewPr>
      <p:guideLst>
        <p:guide orient="horz" pos="2455"/>
        <p:guide pos="3704"/>
      </p:guideLst>
    </p:cSldViewPr>
  </p:slideViewPr>
  <p:notesTextViewPr>
    <p:cViewPr>
      <p:scale>
        <a:sx n="100" d="100"/>
        <a:sy n="100" d="100"/>
      </p:scale>
      <p:origin x="0" y="0"/>
    </p:cViewPr>
  </p:notesTextViewPr>
  <p:sorterViewPr>
    <p:cViewPr>
      <p:scale>
        <a:sx n="150" d="100"/>
        <a:sy n="150" d="100"/>
      </p:scale>
      <p:origin x="0" y="0"/>
    </p:cViewPr>
  </p:sorterViewPr>
  <p:notesViewPr>
    <p:cSldViewPr>
      <p:cViewPr varScale="1">
        <p:scale>
          <a:sx n="65" d="100"/>
          <a:sy n="65" d="100"/>
        </p:scale>
        <p:origin x="3154" y="6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commentAuthors" Target="commentAuthor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9638"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9639"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53C295-9646-4A84-B6C4-043532D1CE6D}" type="datetimeFigureOut">
              <a:rPr lang="zh-CN" altLang="en-US" smtClean="0"/>
              <a:t>2026/4/29</a:t>
            </a:fld>
            <a:endParaRPr lang="zh-CN" altLang="en-US"/>
          </a:p>
        </p:txBody>
      </p:sp>
      <p:sp>
        <p:nvSpPr>
          <p:cNvPr id="1049640"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9641"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F83784F-6181-40C2-A59C-FC3D8137FE7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963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104963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0240A2-734F-44AC-B559-278D0725AF81}" type="datetimeFigureOut">
              <a:rPr lang="zh-CN" altLang="en-US" smtClean="0"/>
              <a:t>2026/4/29</a:t>
            </a:fld>
            <a:endParaRPr lang="zh-CN" altLang="en-US"/>
          </a:p>
        </p:txBody>
      </p:sp>
      <p:sp>
        <p:nvSpPr>
          <p:cNvPr id="104963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963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963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104963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B70F4B-DBE4-4645-B749-B935A39A121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0" name="幻灯片图像占位符 1"/>
          <p:cNvSpPr>
            <a:spLocks noGrp="1" noRot="1" noChangeAspect="1"/>
          </p:cNvSpPr>
          <p:nvPr>
            <p:ph type="sldImg"/>
          </p:nvPr>
        </p:nvSpPr>
        <p:spPr>
          <a:xfrm>
            <a:off x="381000" y="685800"/>
            <a:ext cx="6096000" cy="3429000"/>
          </a:xfrm>
        </p:spPr>
      </p:sp>
      <p:sp>
        <p:nvSpPr>
          <p:cNvPr id="1048591" name="备注占位符 2"/>
          <p:cNvSpPr>
            <a:spLocks noGrp="1"/>
          </p:cNvSpPr>
          <p:nvPr>
            <p:ph type="body" idx="1"/>
          </p:nvPr>
        </p:nvSpPr>
        <p:spPr/>
        <p:txBody>
          <a:bodyPr/>
          <a:lstStyle/>
          <a:p>
            <a:endParaRPr lang="zh-CN" altLang="en-US" dirty="0"/>
          </a:p>
        </p:txBody>
      </p:sp>
      <p:sp>
        <p:nvSpPr>
          <p:cNvPr id="1048592" name="灯片编号占位符 3"/>
          <p:cNvSpPr>
            <a:spLocks noGrp="1"/>
          </p:cNvSpPr>
          <p:nvPr>
            <p:ph type="sldNum" sz="quarter" idx="10"/>
          </p:nvPr>
        </p:nvSpPr>
        <p:spPr/>
        <p:txBody>
          <a:bodyPr/>
          <a:lstStyle/>
          <a:p>
            <a:fld id="{C8B70F4B-DBE4-4645-B749-B935A39A121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1" name="幻灯片图像占位符 1"/>
          <p:cNvSpPr>
            <a:spLocks noGrp="1" noRot="1" noChangeAspect="1"/>
          </p:cNvSpPr>
          <p:nvPr>
            <p:ph type="sldImg"/>
          </p:nvPr>
        </p:nvSpPr>
        <p:spPr>
          <a:xfrm>
            <a:off x="381000" y="685800"/>
            <a:ext cx="6096000" cy="3429000"/>
          </a:xfrm>
        </p:spPr>
      </p:sp>
      <p:sp>
        <p:nvSpPr>
          <p:cNvPr id="1048622" name="备注占位符 2"/>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869851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BD127-0B8A-2BBD-3C73-56648260B1AF}"/>
            </a:ext>
          </a:extLst>
        </p:cNvPr>
        <p:cNvGrpSpPr/>
        <p:nvPr/>
      </p:nvGrpSpPr>
      <p:grpSpPr>
        <a:xfrm>
          <a:off x="0" y="0"/>
          <a:ext cx="0" cy="0"/>
          <a:chOff x="0" y="0"/>
          <a:chExt cx="0" cy="0"/>
        </a:xfrm>
      </p:grpSpPr>
      <p:sp>
        <p:nvSpPr>
          <p:cNvPr id="1048621" name="幻灯片图像占位符 1">
            <a:extLst>
              <a:ext uri="{FF2B5EF4-FFF2-40B4-BE49-F238E27FC236}">
                <a16:creationId xmlns:a16="http://schemas.microsoft.com/office/drawing/2014/main" id="{2D4B0673-F56E-3047-F40E-F41C734DBF4B}"/>
              </a:ext>
            </a:extLst>
          </p:cNvPr>
          <p:cNvSpPr>
            <a:spLocks noGrp="1" noRot="1" noChangeAspect="1"/>
          </p:cNvSpPr>
          <p:nvPr>
            <p:ph type="sldImg"/>
          </p:nvPr>
        </p:nvSpPr>
        <p:spPr>
          <a:xfrm>
            <a:off x="381000" y="685800"/>
            <a:ext cx="6096000" cy="3429000"/>
          </a:xfrm>
        </p:spPr>
      </p:sp>
      <p:sp>
        <p:nvSpPr>
          <p:cNvPr id="1048622" name="备注占位符 2">
            <a:extLst>
              <a:ext uri="{FF2B5EF4-FFF2-40B4-BE49-F238E27FC236}">
                <a16:creationId xmlns:a16="http://schemas.microsoft.com/office/drawing/2014/main" id="{F1435A8F-4936-A2CA-0A8C-9D29F0E8A77E}"/>
              </a:ext>
            </a:extLst>
          </p:cNvPr>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a:extLst>
              <a:ext uri="{FF2B5EF4-FFF2-40B4-BE49-F238E27FC236}">
                <a16:creationId xmlns:a16="http://schemas.microsoft.com/office/drawing/2014/main" id="{8EF4F69D-55F3-B351-EF8D-DDB2D085274B}"/>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313888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C3D6E-7244-7EEE-978D-AA82CE62D1A6}"/>
            </a:ext>
          </a:extLst>
        </p:cNvPr>
        <p:cNvGrpSpPr/>
        <p:nvPr/>
      </p:nvGrpSpPr>
      <p:grpSpPr>
        <a:xfrm>
          <a:off x="0" y="0"/>
          <a:ext cx="0" cy="0"/>
          <a:chOff x="0" y="0"/>
          <a:chExt cx="0" cy="0"/>
        </a:xfrm>
      </p:grpSpPr>
      <p:sp>
        <p:nvSpPr>
          <p:cNvPr id="1048621" name="幻灯片图像占位符 1">
            <a:extLst>
              <a:ext uri="{FF2B5EF4-FFF2-40B4-BE49-F238E27FC236}">
                <a16:creationId xmlns:a16="http://schemas.microsoft.com/office/drawing/2014/main" id="{7122FB43-B2A2-5374-2EA2-9CB3DCC195CE}"/>
              </a:ext>
            </a:extLst>
          </p:cNvPr>
          <p:cNvSpPr>
            <a:spLocks noGrp="1" noRot="1" noChangeAspect="1"/>
          </p:cNvSpPr>
          <p:nvPr>
            <p:ph type="sldImg"/>
          </p:nvPr>
        </p:nvSpPr>
        <p:spPr>
          <a:xfrm>
            <a:off x="381000" y="685800"/>
            <a:ext cx="6096000" cy="3429000"/>
          </a:xfrm>
        </p:spPr>
      </p:sp>
      <p:sp>
        <p:nvSpPr>
          <p:cNvPr id="1048622" name="备注占位符 2">
            <a:extLst>
              <a:ext uri="{FF2B5EF4-FFF2-40B4-BE49-F238E27FC236}">
                <a16:creationId xmlns:a16="http://schemas.microsoft.com/office/drawing/2014/main" id="{C782C79D-59D9-8928-AC90-15216E834F4C}"/>
              </a:ext>
            </a:extLst>
          </p:cNvPr>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a:extLst>
              <a:ext uri="{FF2B5EF4-FFF2-40B4-BE49-F238E27FC236}">
                <a16:creationId xmlns:a16="http://schemas.microsoft.com/office/drawing/2014/main" id="{C515ADD6-613D-27E2-5AA1-1D0B3214D5F1}"/>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842132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907A7-3F16-D448-1365-A62C7D8787FF}"/>
            </a:ext>
          </a:extLst>
        </p:cNvPr>
        <p:cNvGrpSpPr/>
        <p:nvPr/>
      </p:nvGrpSpPr>
      <p:grpSpPr>
        <a:xfrm>
          <a:off x="0" y="0"/>
          <a:ext cx="0" cy="0"/>
          <a:chOff x="0" y="0"/>
          <a:chExt cx="0" cy="0"/>
        </a:xfrm>
      </p:grpSpPr>
      <p:sp>
        <p:nvSpPr>
          <p:cNvPr id="1048621" name="幻灯片图像占位符 1">
            <a:extLst>
              <a:ext uri="{FF2B5EF4-FFF2-40B4-BE49-F238E27FC236}">
                <a16:creationId xmlns:a16="http://schemas.microsoft.com/office/drawing/2014/main" id="{34A333E5-1272-D7BC-44C4-CB27537B0CBB}"/>
              </a:ext>
            </a:extLst>
          </p:cNvPr>
          <p:cNvSpPr>
            <a:spLocks noGrp="1" noRot="1" noChangeAspect="1"/>
          </p:cNvSpPr>
          <p:nvPr>
            <p:ph type="sldImg"/>
          </p:nvPr>
        </p:nvSpPr>
        <p:spPr>
          <a:xfrm>
            <a:off x="381000" y="685800"/>
            <a:ext cx="6096000" cy="3429000"/>
          </a:xfrm>
        </p:spPr>
      </p:sp>
      <p:sp>
        <p:nvSpPr>
          <p:cNvPr id="1048622" name="备注占位符 2">
            <a:extLst>
              <a:ext uri="{FF2B5EF4-FFF2-40B4-BE49-F238E27FC236}">
                <a16:creationId xmlns:a16="http://schemas.microsoft.com/office/drawing/2014/main" id="{92F56A73-3D78-F15B-9724-4FABFC96AF2E}"/>
              </a:ext>
            </a:extLst>
          </p:cNvPr>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a:extLst>
              <a:ext uri="{FF2B5EF4-FFF2-40B4-BE49-F238E27FC236}">
                <a16:creationId xmlns:a16="http://schemas.microsoft.com/office/drawing/2014/main" id="{505716FB-9C6D-01E1-431D-F83CE24BFA15}"/>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525996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C2725-CFDC-FAF6-C523-A1B3B8E66914}"/>
            </a:ext>
          </a:extLst>
        </p:cNvPr>
        <p:cNvGrpSpPr/>
        <p:nvPr/>
      </p:nvGrpSpPr>
      <p:grpSpPr>
        <a:xfrm>
          <a:off x="0" y="0"/>
          <a:ext cx="0" cy="0"/>
          <a:chOff x="0" y="0"/>
          <a:chExt cx="0" cy="0"/>
        </a:xfrm>
      </p:grpSpPr>
      <p:sp>
        <p:nvSpPr>
          <p:cNvPr id="1048621" name="幻灯片图像占位符 1">
            <a:extLst>
              <a:ext uri="{FF2B5EF4-FFF2-40B4-BE49-F238E27FC236}">
                <a16:creationId xmlns:a16="http://schemas.microsoft.com/office/drawing/2014/main" id="{EDC8ECF9-A131-D169-6AC7-5DFBE2CC12FD}"/>
              </a:ext>
            </a:extLst>
          </p:cNvPr>
          <p:cNvSpPr>
            <a:spLocks noGrp="1" noRot="1" noChangeAspect="1"/>
          </p:cNvSpPr>
          <p:nvPr>
            <p:ph type="sldImg"/>
          </p:nvPr>
        </p:nvSpPr>
        <p:spPr>
          <a:xfrm>
            <a:off x="381000" y="685800"/>
            <a:ext cx="6096000" cy="3429000"/>
          </a:xfrm>
        </p:spPr>
      </p:sp>
      <p:sp>
        <p:nvSpPr>
          <p:cNvPr id="1048622" name="备注占位符 2">
            <a:extLst>
              <a:ext uri="{FF2B5EF4-FFF2-40B4-BE49-F238E27FC236}">
                <a16:creationId xmlns:a16="http://schemas.microsoft.com/office/drawing/2014/main" id="{6F07796E-0183-4E5F-CDC9-C65C0328052D}"/>
              </a:ext>
            </a:extLst>
          </p:cNvPr>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a:extLst>
              <a:ext uri="{FF2B5EF4-FFF2-40B4-BE49-F238E27FC236}">
                <a16:creationId xmlns:a16="http://schemas.microsoft.com/office/drawing/2014/main" id="{C1A47977-3150-B9E1-2F38-C2E8A11F7667}"/>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9439998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B0EFB-7D50-4020-E141-0588975AE4C8}"/>
            </a:ext>
          </a:extLst>
        </p:cNvPr>
        <p:cNvGrpSpPr/>
        <p:nvPr/>
      </p:nvGrpSpPr>
      <p:grpSpPr>
        <a:xfrm>
          <a:off x="0" y="0"/>
          <a:ext cx="0" cy="0"/>
          <a:chOff x="0" y="0"/>
          <a:chExt cx="0" cy="0"/>
        </a:xfrm>
      </p:grpSpPr>
      <p:sp>
        <p:nvSpPr>
          <p:cNvPr id="1048621" name="幻灯片图像占位符 1">
            <a:extLst>
              <a:ext uri="{FF2B5EF4-FFF2-40B4-BE49-F238E27FC236}">
                <a16:creationId xmlns:a16="http://schemas.microsoft.com/office/drawing/2014/main" id="{E604ACF8-6E88-967D-F109-0AFEB2D403E0}"/>
              </a:ext>
            </a:extLst>
          </p:cNvPr>
          <p:cNvSpPr>
            <a:spLocks noGrp="1" noRot="1" noChangeAspect="1"/>
          </p:cNvSpPr>
          <p:nvPr>
            <p:ph type="sldImg"/>
          </p:nvPr>
        </p:nvSpPr>
        <p:spPr>
          <a:xfrm>
            <a:off x="381000" y="685800"/>
            <a:ext cx="6096000" cy="3429000"/>
          </a:xfrm>
        </p:spPr>
      </p:sp>
      <p:sp>
        <p:nvSpPr>
          <p:cNvPr id="1048622" name="备注占位符 2">
            <a:extLst>
              <a:ext uri="{FF2B5EF4-FFF2-40B4-BE49-F238E27FC236}">
                <a16:creationId xmlns:a16="http://schemas.microsoft.com/office/drawing/2014/main" id="{D0DA95C0-E1C5-6DAF-86C6-3B46AEB48971}"/>
              </a:ext>
            </a:extLst>
          </p:cNvPr>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a:extLst>
              <a:ext uri="{FF2B5EF4-FFF2-40B4-BE49-F238E27FC236}">
                <a16:creationId xmlns:a16="http://schemas.microsoft.com/office/drawing/2014/main" id="{5743F739-2733-6F35-E756-D14BEA9324F0}"/>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0529193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43F8F-CE4C-8DDE-BEA1-A58286FBFCA9}"/>
            </a:ext>
          </a:extLst>
        </p:cNvPr>
        <p:cNvGrpSpPr/>
        <p:nvPr/>
      </p:nvGrpSpPr>
      <p:grpSpPr>
        <a:xfrm>
          <a:off x="0" y="0"/>
          <a:ext cx="0" cy="0"/>
          <a:chOff x="0" y="0"/>
          <a:chExt cx="0" cy="0"/>
        </a:xfrm>
      </p:grpSpPr>
      <p:sp>
        <p:nvSpPr>
          <p:cNvPr id="1048621" name="幻灯片图像占位符 1">
            <a:extLst>
              <a:ext uri="{FF2B5EF4-FFF2-40B4-BE49-F238E27FC236}">
                <a16:creationId xmlns:a16="http://schemas.microsoft.com/office/drawing/2014/main" id="{CB5874E3-F1D4-8BCF-B655-6E69C78E55B3}"/>
              </a:ext>
            </a:extLst>
          </p:cNvPr>
          <p:cNvSpPr>
            <a:spLocks noGrp="1" noRot="1" noChangeAspect="1"/>
          </p:cNvSpPr>
          <p:nvPr>
            <p:ph type="sldImg"/>
          </p:nvPr>
        </p:nvSpPr>
        <p:spPr>
          <a:xfrm>
            <a:off x="381000" y="685800"/>
            <a:ext cx="6096000" cy="3429000"/>
          </a:xfrm>
        </p:spPr>
      </p:sp>
      <p:sp>
        <p:nvSpPr>
          <p:cNvPr id="1048622" name="备注占位符 2">
            <a:extLst>
              <a:ext uri="{FF2B5EF4-FFF2-40B4-BE49-F238E27FC236}">
                <a16:creationId xmlns:a16="http://schemas.microsoft.com/office/drawing/2014/main" id="{8AA9931C-342F-1BA5-FC99-D28E43F7394C}"/>
              </a:ext>
            </a:extLst>
          </p:cNvPr>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a:extLst>
              <a:ext uri="{FF2B5EF4-FFF2-40B4-BE49-F238E27FC236}">
                <a16:creationId xmlns:a16="http://schemas.microsoft.com/office/drawing/2014/main" id="{C103A92C-A13B-D834-993C-417C6BD75D3F}"/>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0827163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E83AD-DCF6-3D77-633B-3280C824E676}"/>
            </a:ext>
          </a:extLst>
        </p:cNvPr>
        <p:cNvGrpSpPr/>
        <p:nvPr/>
      </p:nvGrpSpPr>
      <p:grpSpPr>
        <a:xfrm>
          <a:off x="0" y="0"/>
          <a:ext cx="0" cy="0"/>
          <a:chOff x="0" y="0"/>
          <a:chExt cx="0" cy="0"/>
        </a:xfrm>
      </p:grpSpPr>
      <p:sp>
        <p:nvSpPr>
          <p:cNvPr id="1048621" name="幻灯片图像占位符 1">
            <a:extLst>
              <a:ext uri="{FF2B5EF4-FFF2-40B4-BE49-F238E27FC236}">
                <a16:creationId xmlns:a16="http://schemas.microsoft.com/office/drawing/2014/main" id="{D0102FC8-C01D-9DB7-CA5F-A2891C00DB21}"/>
              </a:ext>
            </a:extLst>
          </p:cNvPr>
          <p:cNvSpPr>
            <a:spLocks noGrp="1" noRot="1" noChangeAspect="1"/>
          </p:cNvSpPr>
          <p:nvPr>
            <p:ph type="sldImg"/>
          </p:nvPr>
        </p:nvSpPr>
        <p:spPr>
          <a:xfrm>
            <a:off x="381000" y="685800"/>
            <a:ext cx="6096000" cy="3429000"/>
          </a:xfrm>
        </p:spPr>
      </p:sp>
      <p:sp>
        <p:nvSpPr>
          <p:cNvPr id="1048622" name="备注占位符 2">
            <a:extLst>
              <a:ext uri="{FF2B5EF4-FFF2-40B4-BE49-F238E27FC236}">
                <a16:creationId xmlns:a16="http://schemas.microsoft.com/office/drawing/2014/main" id="{DDF29FDB-5A28-2787-D76E-9B666C2FF213}"/>
              </a:ext>
            </a:extLst>
          </p:cNvPr>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a:extLst>
              <a:ext uri="{FF2B5EF4-FFF2-40B4-BE49-F238E27FC236}">
                <a16:creationId xmlns:a16="http://schemas.microsoft.com/office/drawing/2014/main" id="{FD33BFCF-B032-1DDA-F79B-EA784D6881A3}"/>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3754025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F98BC-EFD9-3FA5-3605-1080BFDDAA6F}"/>
            </a:ext>
          </a:extLst>
        </p:cNvPr>
        <p:cNvGrpSpPr/>
        <p:nvPr/>
      </p:nvGrpSpPr>
      <p:grpSpPr>
        <a:xfrm>
          <a:off x="0" y="0"/>
          <a:ext cx="0" cy="0"/>
          <a:chOff x="0" y="0"/>
          <a:chExt cx="0" cy="0"/>
        </a:xfrm>
      </p:grpSpPr>
      <p:sp>
        <p:nvSpPr>
          <p:cNvPr id="1048621" name="幻灯片图像占位符 1">
            <a:extLst>
              <a:ext uri="{FF2B5EF4-FFF2-40B4-BE49-F238E27FC236}">
                <a16:creationId xmlns:a16="http://schemas.microsoft.com/office/drawing/2014/main" id="{E7836187-7729-8F25-2706-E8724979AF59}"/>
              </a:ext>
            </a:extLst>
          </p:cNvPr>
          <p:cNvSpPr>
            <a:spLocks noGrp="1" noRot="1" noChangeAspect="1"/>
          </p:cNvSpPr>
          <p:nvPr>
            <p:ph type="sldImg"/>
          </p:nvPr>
        </p:nvSpPr>
        <p:spPr>
          <a:xfrm>
            <a:off x="381000" y="685800"/>
            <a:ext cx="6096000" cy="3429000"/>
          </a:xfrm>
        </p:spPr>
      </p:sp>
      <p:sp>
        <p:nvSpPr>
          <p:cNvPr id="1048622" name="备注占位符 2">
            <a:extLst>
              <a:ext uri="{FF2B5EF4-FFF2-40B4-BE49-F238E27FC236}">
                <a16:creationId xmlns:a16="http://schemas.microsoft.com/office/drawing/2014/main" id="{DF1C44B5-598C-2EBE-55D5-E838CC4CB207}"/>
              </a:ext>
            </a:extLst>
          </p:cNvPr>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a:extLst>
              <a:ext uri="{FF2B5EF4-FFF2-40B4-BE49-F238E27FC236}">
                <a16:creationId xmlns:a16="http://schemas.microsoft.com/office/drawing/2014/main" id="{EAA4AE81-B3CB-73E4-771C-9797C503C71B}"/>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2015809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2D671-287A-F567-BF60-8AAF3CE97059}"/>
            </a:ext>
          </a:extLst>
        </p:cNvPr>
        <p:cNvGrpSpPr/>
        <p:nvPr/>
      </p:nvGrpSpPr>
      <p:grpSpPr>
        <a:xfrm>
          <a:off x="0" y="0"/>
          <a:ext cx="0" cy="0"/>
          <a:chOff x="0" y="0"/>
          <a:chExt cx="0" cy="0"/>
        </a:xfrm>
      </p:grpSpPr>
      <p:sp>
        <p:nvSpPr>
          <p:cNvPr id="1048621" name="幻灯片图像占位符 1">
            <a:extLst>
              <a:ext uri="{FF2B5EF4-FFF2-40B4-BE49-F238E27FC236}">
                <a16:creationId xmlns:a16="http://schemas.microsoft.com/office/drawing/2014/main" id="{A7E04FC1-096B-E15C-ADD1-70E6AE6CB2C3}"/>
              </a:ext>
            </a:extLst>
          </p:cNvPr>
          <p:cNvSpPr>
            <a:spLocks noGrp="1" noRot="1" noChangeAspect="1"/>
          </p:cNvSpPr>
          <p:nvPr>
            <p:ph type="sldImg"/>
          </p:nvPr>
        </p:nvSpPr>
        <p:spPr>
          <a:xfrm>
            <a:off x="381000" y="685800"/>
            <a:ext cx="6096000" cy="3429000"/>
          </a:xfrm>
        </p:spPr>
      </p:sp>
      <p:sp>
        <p:nvSpPr>
          <p:cNvPr id="1048622" name="备注占位符 2">
            <a:extLst>
              <a:ext uri="{FF2B5EF4-FFF2-40B4-BE49-F238E27FC236}">
                <a16:creationId xmlns:a16="http://schemas.microsoft.com/office/drawing/2014/main" id="{CF64DEAD-6D60-E06D-FB9A-F15ABAE50593}"/>
              </a:ext>
            </a:extLst>
          </p:cNvPr>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a:extLst>
              <a:ext uri="{FF2B5EF4-FFF2-40B4-BE49-F238E27FC236}">
                <a16:creationId xmlns:a16="http://schemas.microsoft.com/office/drawing/2014/main" id="{BAB3F611-D5A9-9F7C-961E-F2E8E124C9D1}"/>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4851790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4E1E4-B513-C49C-C407-2CF6F14AF3DB}"/>
            </a:ext>
          </a:extLst>
        </p:cNvPr>
        <p:cNvGrpSpPr/>
        <p:nvPr/>
      </p:nvGrpSpPr>
      <p:grpSpPr>
        <a:xfrm>
          <a:off x="0" y="0"/>
          <a:ext cx="0" cy="0"/>
          <a:chOff x="0" y="0"/>
          <a:chExt cx="0" cy="0"/>
        </a:xfrm>
      </p:grpSpPr>
      <p:sp>
        <p:nvSpPr>
          <p:cNvPr id="1048621" name="幻灯片图像占位符 1">
            <a:extLst>
              <a:ext uri="{FF2B5EF4-FFF2-40B4-BE49-F238E27FC236}">
                <a16:creationId xmlns:a16="http://schemas.microsoft.com/office/drawing/2014/main" id="{F6AAE7D6-5748-45CF-6120-C68466D36C42}"/>
              </a:ext>
            </a:extLst>
          </p:cNvPr>
          <p:cNvSpPr>
            <a:spLocks noGrp="1" noRot="1" noChangeAspect="1"/>
          </p:cNvSpPr>
          <p:nvPr>
            <p:ph type="sldImg"/>
          </p:nvPr>
        </p:nvSpPr>
        <p:spPr>
          <a:xfrm>
            <a:off x="381000" y="685800"/>
            <a:ext cx="6096000" cy="3429000"/>
          </a:xfrm>
        </p:spPr>
      </p:sp>
      <p:sp>
        <p:nvSpPr>
          <p:cNvPr id="1048622" name="备注占位符 2">
            <a:extLst>
              <a:ext uri="{FF2B5EF4-FFF2-40B4-BE49-F238E27FC236}">
                <a16:creationId xmlns:a16="http://schemas.microsoft.com/office/drawing/2014/main" id="{CE1131C1-F803-F720-8AB6-D3F21329C2B7}"/>
              </a:ext>
            </a:extLst>
          </p:cNvPr>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a:extLst>
              <a:ext uri="{FF2B5EF4-FFF2-40B4-BE49-F238E27FC236}">
                <a16:creationId xmlns:a16="http://schemas.microsoft.com/office/drawing/2014/main" id="{547003D8-D42F-663E-34E2-E4E393FB2F38}"/>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2865289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C88DB-6288-49F1-B0A1-151025B2EC7F}"/>
            </a:ext>
          </a:extLst>
        </p:cNvPr>
        <p:cNvGrpSpPr/>
        <p:nvPr/>
      </p:nvGrpSpPr>
      <p:grpSpPr>
        <a:xfrm>
          <a:off x="0" y="0"/>
          <a:ext cx="0" cy="0"/>
          <a:chOff x="0" y="0"/>
          <a:chExt cx="0" cy="0"/>
        </a:xfrm>
      </p:grpSpPr>
      <p:sp>
        <p:nvSpPr>
          <p:cNvPr id="1048621" name="幻灯片图像占位符 1">
            <a:extLst>
              <a:ext uri="{FF2B5EF4-FFF2-40B4-BE49-F238E27FC236}">
                <a16:creationId xmlns:a16="http://schemas.microsoft.com/office/drawing/2014/main" id="{1EAB94C8-0DF1-CEC3-BBA8-61D80058761A}"/>
              </a:ext>
            </a:extLst>
          </p:cNvPr>
          <p:cNvSpPr>
            <a:spLocks noGrp="1" noRot="1" noChangeAspect="1"/>
          </p:cNvSpPr>
          <p:nvPr>
            <p:ph type="sldImg"/>
          </p:nvPr>
        </p:nvSpPr>
        <p:spPr>
          <a:xfrm>
            <a:off x="381000" y="685800"/>
            <a:ext cx="6096000" cy="3429000"/>
          </a:xfrm>
        </p:spPr>
      </p:sp>
      <p:sp>
        <p:nvSpPr>
          <p:cNvPr id="1048622" name="备注占位符 2">
            <a:extLst>
              <a:ext uri="{FF2B5EF4-FFF2-40B4-BE49-F238E27FC236}">
                <a16:creationId xmlns:a16="http://schemas.microsoft.com/office/drawing/2014/main" id="{EE6B4CFD-0CB2-B3BE-9F42-17DCFF51FC90}"/>
              </a:ext>
            </a:extLst>
          </p:cNvPr>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a:extLst>
              <a:ext uri="{FF2B5EF4-FFF2-40B4-BE49-F238E27FC236}">
                <a16:creationId xmlns:a16="http://schemas.microsoft.com/office/drawing/2014/main" id="{1909BB4C-3EAB-B883-3E60-636B7A1A0512}"/>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7293433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C5141-E300-DC91-A923-49BB586F2F6C}"/>
            </a:ext>
          </a:extLst>
        </p:cNvPr>
        <p:cNvGrpSpPr/>
        <p:nvPr/>
      </p:nvGrpSpPr>
      <p:grpSpPr>
        <a:xfrm>
          <a:off x="0" y="0"/>
          <a:ext cx="0" cy="0"/>
          <a:chOff x="0" y="0"/>
          <a:chExt cx="0" cy="0"/>
        </a:xfrm>
      </p:grpSpPr>
      <p:sp>
        <p:nvSpPr>
          <p:cNvPr id="1048621" name="幻灯片图像占位符 1">
            <a:extLst>
              <a:ext uri="{FF2B5EF4-FFF2-40B4-BE49-F238E27FC236}">
                <a16:creationId xmlns:a16="http://schemas.microsoft.com/office/drawing/2014/main" id="{81F3E513-4F32-05B7-156A-5061AB8B90F0}"/>
              </a:ext>
            </a:extLst>
          </p:cNvPr>
          <p:cNvSpPr>
            <a:spLocks noGrp="1" noRot="1" noChangeAspect="1"/>
          </p:cNvSpPr>
          <p:nvPr>
            <p:ph type="sldImg"/>
          </p:nvPr>
        </p:nvSpPr>
        <p:spPr>
          <a:xfrm>
            <a:off x="381000" y="685800"/>
            <a:ext cx="6096000" cy="3429000"/>
          </a:xfrm>
        </p:spPr>
      </p:sp>
      <p:sp>
        <p:nvSpPr>
          <p:cNvPr id="1048622" name="备注占位符 2">
            <a:extLst>
              <a:ext uri="{FF2B5EF4-FFF2-40B4-BE49-F238E27FC236}">
                <a16:creationId xmlns:a16="http://schemas.microsoft.com/office/drawing/2014/main" id="{E0949006-ECD5-CB3F-8F71-D587BFE94991}"/>
              </a:ext>
            </a:extLst>
          </p:cNvPr>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a:extLst>
              <a:ext uri="{FF2B5EF4-FFF2-40B4-BE49-F238E27FC236}">
                <a16:creationId xmlns:a16="http://schemas.microsoft.com/office/drawing/2014/main" id="{0648B5E3-0E47-BAF1-7133-E3AB96BB54CA}"/>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3744113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2647B-8C9C-50A2-52B1-AB89ED5FE0E7}"/>
            </a:ext>
          </a:extLst>
        </p:cNvPr>
        <p:cNvGrpSpPr/>
        <p:nvPr/>
      </p:nvGrpSpPr>
      <p:grpSpPr>
        <a:xfrm>
          <a:off x="0" y="0"/>
          <a:ext cx="0" cy="0"/>
          <a:chOff x="0" y="0"/>
          <a:chExt cx="0" cy="0"/>
        </a:xfrm>
      </p:grpSpPr>
      <p:sp>
        <p:nvSpPr>
          <p:cNvPr id="1048621" name="幻灯片图像占位符 1">
            <a:extLst>
              <a:ext uri="{FF2B5EF4-FFF2-40B4-BE49-F238E27FC236}">
                <a16:creationId xmlns:a16="http://schemas.microsoft.com/office/drawing/2014/main" id="{D4E01E47-06AF-2E64-9D94-9676DE2DECAE}"/>
              </a:ext>
            </a:extLst>
          </p:cNvPr>
          <p:cNvSpPr>
            <a:spLocks noGrp="1" noRot="1" noChangeAspect="1"/>
          </p:cNvSpPr>
          <p:nvPr>
            <p:ph type="sldImg"/>
          </p:nvPr>
        </p:nvSpPr>
        <p:spPr>
          <a:xfrm>
            <a:off x="381000" y="685800"/>
            <a:ext cx="6096000" cy="3429000"/>
          </a:xfrm>
        </p:spPr>
      </p:sp>
      <p:sp>
        <p:nvSpPr>
          <p:cNvPr id="1048622" name="备注占位符 2">
            <a:extLst>
              <a:ext uri="{FF2B5EF4-FFF2-40B4-BE49-F238E27FC236}">
                <a16:creationId xmlns:a16="http://schemas.microsoft.com/office/drawing/2014/main" id="{15DBBD8D-A8FF-69D1-16C2-449B26254F95}"/>
              </a:ext>
            </a:extLst>
          </p:cNvPr>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a:extLst>
              <a:ext uri="{FF2B5EF4-FFF2-40B4-BE49-F238E27FC236}">
                <a16:creationId xmlns:a16="http://schemas.microsoft.com/office/drawing/2014/main" id="{872B4C27-1F11-0509-C0FE-CA489B8489B1}"/>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5039919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F48C4-A627-BCD9-E685-A58CAF4B4056}"/>
            </a:ext>
          </a:extLst>
        </p:cNvPr>
        <p:cNvGrpSpPr/>
        <p:nvPr/>
      </p:nvGrpSpPr>
      <p:grpSpPr>
        <a:xfrm>
          <a:off x="0" y="0"/>
          <a:ext cx="0" cy="0"/>
          <a:chOff x="0" y="0"/>
          <a:chExt cx="0" cy="0"/>
        </a:xfrm>
      </p:grpSpPr>
      <p:sp>
        <p:nvSpPr>
          <p:cNvPr id="1048621" name="幻灯片图像占位符 1">
            <a:extLst>
              <a:ext uri="{FF2B5EF4-FFF2-40B4-BE49-F238E27FC236}">
                <a16:creationId xmlns:a16="http://schemas.microsoft.com/office/drawing/2014/main" id="{678030D8-E5BF-DEF4-A7F4-1B441D58904C}"/>
              </a:ext>
            </a:extLst>
          </p:cNvPr>
          <p:cNvSpPr>
            <a:spLocks noGrp="1" noRot="1" noChangeAspect="1"/>
          </p:cNvSpPr>
          <p:nvPr>
            <p:ph type="sldImg"/>
          </p:nvPr>
        </p:nvSpPr>
        <p:spPr>
          <a:xfrm>
            <a:off x="381000" y="685800"/>
            <a:ext cx="6096000" cy="3429000"/>
          </a:xfrm>
        </p:spPr>
      </p:sp>
      <p:sp>
        <p:nvSpPr>
          <p:cNvPr id="1048622" name="备注占位符 2">
            <a:extLst>
              <a:ext uri="{FF2B5EF4-FFF2-40B4-BE49-F238E27FC236}">
                <a16:creationId xmlns:a16="http://schemas.microsoft.com/office/drawing/2014/main" id="{2353D936-BC0C-C988-D5D9-0E979A509B0F}"/>
              </a:ext>
            </a:extLst>
          </p:cNvPr>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a:extLst>
              <a:ext uri="{FF2B5EF4-FFF2-40B4-BE49-F238E27FC236}">
                <a16:creationId xmlns:a16="http://schemas.microsoft.com/office/drawing/2014/main" id="{1BF69CC4-ED6D-77A7-7245-61FD314D94A5}"/>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3321162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B1BB8-FE4D-5F11-6CA4-4245CA13CB1D}"/>
            </a:ext>
          </a:extLst>
        </p:cNvPr>
        <p:cNvGrpSpPr/>
        <p:nvPr/>
      </p:nvGrpSpPr>
      <p:grpSpPr>
        <a:xfrm>
          <a:off x="0" y="0"/>
          <a:ext cx="0" cy="0"/>
          <a:chOff x="0" y="0"/>
          <a:chExt cx="0" cy="0"/>
        </a:xfrm>
      </p:grpSpPr>
      <p:sp>
        <p:nvSpPr>
          <p:cNvPr id="1048621" name="幻灯片图像占位符 1">
            <a:extLst>
              <a:ext uri="{FF2B5EF4-FFF2-40B4-BE49-F238E27FC236}">
                <a16:creationId xmlns:a16="http://schemas.microsoft.com/office/drawing/2014/main" id="{CDA85AB0-E85E-FC42-9135-CB35F7B1162D}"/>
              </a:ext>
            </a:extLst>
          </p:cNvPr>
          <p:cNvSpPr>
            <a:spLocks noGrp="1" noRot="1" noChangeAspect="1"/>
          </p:cNvSpPr>
          <p:nvPr>
            <p:ph type="sldImg"/>
          </p:nvPr>
        </p:nvSpPr>
        <p:spPr>
          <a:xfrm>
            <a:off x="381000" y="685800"/>
            <a:ext cx="6096000" cy="3429000"/>
          </a:xfrm>
        </p:spPr>
      </p:sp>
      <p:sp>
        <p:nvSpPr>
          <p:cNvPr id="1048622" name="备注占位符 2">
            <a:extLst>
              <a:ext uri="{FF2B5EF4-FFF2-40B4-BE49-F238E27FC236}">
                <a16:creationId xmlns:a16="http://schemas.microsoft.com/office/drawing/2014/main" id="{1929E3CE-42F8-AFC6-142B-CAE77B12164C}"/>
              </a:ext>
            </a:extLst>
          </p:cNvPr>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a:extLst>
              <a:ext uri="{FF2B5EF4-FFF2-40B4-BE49-F238E27FC236}">
                <a16:creationId xmlns:a16="http://schemas.microsoft.com/office/drawing/2014/main" id="{B8172A7F-DE11-6005-852C-D2376998DFD9}"/>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8674469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DE32C-4F65-BB31-94BD-3AA4CBF658F4}"/>
            </a:ext>
          </a:extLst>
        </p:cNvPr>
        <p:cNvGrpSpPr/>
        <p:nvPr/>
      </p:nvGrpSpPr>
      <p:grpSpPr>
        <a:xfrm>
          <a:off x="0" y="0"/>
          <a:ext cx="0" cy="0"/>
          <a:chOff x="0" y="0"/>
          <a:chExt cx="0" cy="0"/>
        </a:xfrm>
      </p:grpSpPr>
      <p:sp>
        <p:nvSpPr>
          <p:cNvPr id="1048621" name="幻灯片图像占位符 1">
            <a:extLst>
              <a:ext uri="{FF2B5EF4-FFF2-40B4-BE49-F238E27FC236}">
                <a16:creationId xmlns:a16="http://schemas.microsoft.com/office/drawing/2014/main" id="{45F8AA4C-DBD5-DD1D-A13F-B19C847CC41D}"/>
              </a:ext>
            </a:extLst>
          </p:cNvPr>
          <p:cNvSpPr>
            <a:spLocks noGrp="1" noRot="1" noChangeAspect="1"/>
          </p:cNvSpPr>
          <p:nvPr>
            <p:ph type="sldImg"/>
          </p:nvPr>
        </p:nvSpPr>
        <p:spPr>
          <a:xfrm>
            <a:off x="381000" y="685800"/>
            <a:ext cx="6096000" cy="3429000"/>
          </a:xfrm>
        </p:spPr>
      </p:sp>
      <p:sp>
        <p:nvSpPr>
          <p:cNvPr id="1048622" name="备注占位符 2">
            <a:extLst>
              <a:ext uri="{FF2B5EF4-FFF2-40B4-BE49-F238E27FC236}">
                <a16:creationId xmlns:a16="http://schemas.microsoft.com/office/drawing/2014/main" id="{DFED142D-2477-F658-668E-F8759328907A}"/>
              </a:ext>
            </a:extLst>
          </p:cNvPr>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a:extLst>
              <a:ext uri="{FF2B5EF4-FFF2-40B4-BE49-F238E27FC236}">
                <a16:creationId xmlns:a16="http://schemas.microsoft.com/office/drawing/2014/main" id="{E9C7F43D-2C0C-6ADD-661D-73A8C3C462F2}"/>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0235016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4B47A-6264-696D-0686-027DD56689B5}"/>
            </a:ext>
          </a:extLst>
        </p:cNvPr>
        <p:cNvGrpSpPr/>
        <p:nvPr/>
      </p:nvGrpSpPr>
      <p:grpSpPr>
        <a:xfrm>
          <a:off x="0" y="0"/>
          <a:ext cx="0" cy="0"/>
          <a:chOff x="0" y="0"/>
          <a:chExt cx="0" cy="0"/>
        </a:xfrm>
      </p:grpSpPr>
      <p:sp>
        <p:nvSpPr>
          <p:cNvPr id="1048621" name="幻灯片图像占位符 1">
            <a:extLst>
              <a:ext uri="{FF2B5EF4-FFF2-40B4-BE49-F238E27FC236}">
                <a16:creationId xmlns:a16="http://schemas.microsoft.com/office/drawing/2014/main" id="{739F91CF-CDD2-0EB8-8046-8E8353D7992B}"/>
              </a:ext>
            </a:extLst>
          </p:cNvPr>
          <p:cNvSpPr>
            <a:spLocks noGrp="1" noRot="1" noChangeAspect="1"/>
          </p:cNvSpPr>
          <p:nvPr>
            <p:ph type="sldImg"/>
          </p:nvPr>
        </p:nvSpPr>
        <p:spPr>
          <a:xfrm>
            <a:off x="381000" y="685800"/>
            <a:ext cx="6096000" cy="3429000"/>
          </a:xfrm>
        </p:spPr>
      </p:sp>
      <p:sp>
        <p:nvSpPr>
          <p:cNvPr id="1048622" name="备注占位符 2">
            <a:extLst>
              <a:ext uri="{FF2B5EF4-FFF2-40B4-BE49-F238E27FC236}">
                <a16:creationId xmlns:a16="http://schemas.microsoft.com/office/drawing/2014/main" id="{047D86B7-F2B1-BD1F-9028-58465DD9375E}"/>
              </a:ext>
            </a:extLst>
          </p:cNvPr>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a:extLst>
              <a:ext uri="{FF2B5EF4-FFF2-40B4-BE49-F238E27FC236}">
                <a16:creationId xmlns:a16="http://schemas.microsoft.com/office/drawing/2014/main" id="{85F6A9AB-15E7-61DE-E501-83B19F976D11}"/>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8123061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0EDE4-3483-53FE-604D-B848BC877D35}"/>
            </a:ext>
          </a:extLst>
        </p:cNvPr>
        <p:cNvGrpSpPr/>
        <p:nvPr/>
      </p:nvGrpSpPr>
      <p:grpSpPr>
        <a:xfrm>
          <a:off x="0" y="0"/>
          <a:ext cx="0" cy="0"/>
          <a:chOff x="0" y="0"/>
          <a:chExt cx="0" cy="0"/>
        </a:xfrm>
      </p:grpSpPr>
      <p:sp>
        <p:nvSpPr>
          <p:cNvPr id="1048621" name="幻灯片图像占位符 1">
            <a:extLst>
              <a:ext uri="{FF2B5EF4-FFF2-40B4-BE49-F238E27FC236}">
                <a16:creationId xmlns:a16="http://schemas.microsoft.com/office/drawing/2014/main" id="{148094CE-BC46-0F5D-7057-CAFB5D9D20B5}"/>
              </a:ext>
            </a:extLst>
          </p:cNvPr>
          <p:cNvSpPr>
            <a:spLocks noGrp="1" noRot="1" noChangeAspect="1"/>
          </p:cNvSpPr>
          <p:nvPr>
            <p:ph type="sldImg"/>
          </p:nvPr>
        </p:nvSpPr>
        <p:spPr>
          <a:xfrm>
            <a:off x="381000" y="685800"/>
            <a:ext cx="6096000" cy="3429000"/>
          </a:xfrm>
        </p:spPr>
      </p:sp>
      <p:sp>
        <p:nvSpPr>
          <p:cNvPr id="1048622" name="备注占位符 2">
            <a:extLst>
              <a:ext uri="{FF2B5EF4-FFF2-40B4-BE49-F238E27FC236}">
                <a16:creationId xmlns:a16="http://schemas.microsoft.com/office/drawing/2014/main" id="{D7D92CD8-CA60-2DB0-F24A-508E3CD6923B}"/>
              </a:ext>
            </a:extLst>
          </p:cNvPr>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a:extLst>
              <a:ext uri="{FF2B5EF4-FFF2-40B4-BE49-F238E27FC236}">
                <a16:creationId xmlns:a16="http://schemas.microsoft.com/office/drawing/2014/main" id="{9660B5A6-D0CF-A05E-A440-72BAD4F58E81}"/>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1835254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44FD6-DAA0-D9A2-6B85-E9EF189A488C}"/>
            </a:ext>
          </a:extLst>
        </p:cNvPr>
        <p:cNvGrpSpPr/>
        <p:nvPr/>
      </p:nvGrpSpPr>
      <p:grpSpPr>
        <a:xfrm>
          <a:off x="0" y="0"/>
          <a:ext cx="0" cy="0"/>
          <a:chOff x="0" y="0"/>
          <a:chExt cx="0" cy="0"/>
        </a:xfrm>
      </p:grpSpPr>
      <p:sp>
        <p:nvSpPr>
          <p:cNvPr id="1048621" name="幻灯片图像占位符 1">
            <a:extLst>
              <a:ext uri="{FF2B5EF4-FFF2-40B4-BE49-F238E27FC236}">
                <a16:creationId xmlns:a16="http://schemas.microsoft.com/office/drawing/2014/main" id="{DF24C271-9F15-6D8A-DBDA-2B1A5ABCED21}"/>
              </a:ext>
            </a:extLst>
          </p:cNvPr>
          <p:cNvSpPr>
            <a:spLocks noGrp="1" noRot="1" noChangeAspect="1"/>
          </p:cNvSpPr>
          <p:nvPr>
            <p:ph type="sldImg"/>
          </p:nvPr>
        </p:nvSpPr>
        <p:spPr>
          <a:xfrm>
            <a:off x="381000" y="685800"/>
            <a:ext cx="6096000" cy="3429000"/>
          </a:xfrm>
        </p:spPr>
      </p:sp>
      <p:sp>
        <p:nvSpPr>
          <p:cNvPr id="1048622" name="备注占位符 2">
            <a:extLst>
              <a:ext uri="{FF2B5EF4-FFF2-40B4-BE49-F238E27FC236}">
                <a16:creationId xmlns:a16="http://schemas.microsoft.com/office/drawing/2014/main" id="{CB10856D-4C05-493E-743A-1C061AEE2AD8}"/>
              </a:ext>
            </a:extLst>
          </p:cNvPr>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a:extLst>
              <a:ext uri="{FF2B5EF4-FFF2-40B4-BE49-F238E27FC236}">
                <a16:creationId xmlns:a16="http://schemas.microsoft.com/office/drawing/2014/main" id="{173AF026-ADA0-67FE-82BC-8B29764BF060}"/>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7899868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C9A76-E4B4-B963-A563-78BECC5BEC5D}"/>
            </a:ext>
          </a:extLst>
        </p:cNvPr>
        <p:cNvGrpSpPr/>
        <p:nvPr/>
      </p:nvGrpSpPr>
      <p:grpSpPr>
        <a:xfrm>
          <a:off x="0" y="0"/>
          <a:ext cx="0" cy="0"/>
          <a:chOff x="0" y="0"/>
          <a:chExt cx="0" cy="0"/>
        </a:xfrm>
      </p:grpSpPr>
      <p:sp>
        <p:nvSpPr>
          <p:cNvPr id="1048621" name="幻灯片图像占位符 1">
            <a:extLst>
              <a:ext uri="{FF2B5EF4-FFF2-40B4-BE49-F238E27FC236}">
                <a16:creationId xmlns:a16="http://schemas.microsoft.com/office/drawing/2014/main" id="{A980E608-E498-8F92-7A27-9E24DBA9C702}"/>
              </a:ext>
            </a:extLst>
          </p:cNvPr>
          <p:cNvSpPr>
            <a:spLocks noGrp="1" noRot="1" noChangeAspect="1"/>
          </p:cNvSpPr>
          <p:nvPr>
            <p:ph type="sldImg"/>
          </p:nvPr>
        </p:nvSpPr>
        <p:spPr>
          <a:xfrm>
            <a:off x="381000" y="685800"/>
            <a:ext cx="6096000" cy="3429000"/>
          </a:xfrm>
        </p:spPr>
      </p:sp>
      <p:sp>
        <p:nvSpPr>
          <p:cNvPr id="1048622" name="备注占位符 2">
            <a:extLst>
              <a:ext uri="{FF2B5EF4-FFF2-40B4-BE49-F238E27FC236}">
                <a16:creationId xmlns:a16="http://schemas.microsoft.com/office/drawing/2014/main" id="{786EA994-3F47-91E2-75CF-78AD34BA0198}"/>
              </a:ext>
            </a:extLst>
          </p:cNvPr>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a:extLst>
              <a:ext uri="{FF2B5EF4-FFF2-40B4-BE49-F238E27FC236}">
                <a16:creationId xmlns:a16="http://schemas.microsoft.com/office/drawing/2014/main" id="{B5AF6639-1984-349A-01EA-D564E7152734}"/>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0486767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88FD7-E5AB-505E-A6A7-24BC9E030A24}"/>
            </a:ext>
          </a:extLst>
        </p:cNvPr>
        <p:cNvGrpSpPr/>
        <p:nvPr/>
      </p:nvGrpSpPr>
      <p:grpSpPr>
        <a:xfrm>
          <a:off x="0" y="0"/>
          <a:ext cx="0" cy="0"/>
          <a:chOff x="0" y="0"/>
          <a:chExt cx="0" cy="0"/>
        </a:xfrm>
      </p:grpSpPr>
      <p:sp>
        <p:nvSpPr>
          <p:cNvPr id="1048621" name="幻灯片图像占位符 1">
            <a:extLst>
              <a:ext uri="{FF2B5EF4-FFF2-40B4-BE49-F238E27FC236}">
                <a16:creationId xmlns:a16="http://schemas.microsoft.com/office/drawing/2014/main" id="{3FEC9260-6B55-6A95-E393-F1BCD3C60767}"/>
              </a:ext>
            </a:extLst>
          </p:cNvPr>
          <p:cNvSpPr>
            <a:spLocks noGrp="1" noRot="1" noChangeAspect="1"/>
          </p:cNvSpPr>
          <p:nvPr>
            <p:ph type="sldImg"/>
          </p:nvPr>
        </p:nvSpPr>
        <p:spPr>
          <a:xfrm>
            <a:off x="381000" y="685800"/>
            <a:ext cx="6096000" cy="3429000"/>
          </a:xfrm>
        </p:spPr>
      </p:sp>
      <p:sp>
        <p:nvSpPr>
          <p:cNvPr id="1048622" name="备注占位符 2">
            <a:extLst>
              <a:ext uri="{FF2B5EF4-FFF2-40B4-BE49-F238E27FC236}">
                <a16:creationId xmlns:a16="http://schemas.microsoft.com/office/drawing/2014/main" id="{20A5B9E0-FAC4-3DC5-170A-7A0B158FC36A}"/>
              </a:ext>
            </a:extLst>
          </p:cNvPr>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a:extLst>
              <a:ext uri="{FF2B5EF4-FFF2-40B4-BE49-F238E27FC236}">
                <a16:creationId xmlns:a16="http://schemas.microsoft.com/office/drawing/2014/main" id="{04AC81DC-83AE-15AA-15EF-510B9EB781BB}"/>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5210205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9AD15-C2D1-8163-4F5F-A959B9CE1313}"/>
            </a:ext>
          </a:extLst>
        </p:cNvPr>
        <p:cNvGrpSpPr/>
        <p:nvPr/>
      </p:nvGrpSpPr>
      <p:grpSpPr>
        <a:xfrm>
          <a:off x="0" y="0"/>
          <a:ext cx="0" cy="0"/>
          <a:chOff x="0" y="0"/>
          <a:chExt cx="0" cy="0"/>
        </a:xfrm>
      </p:grpSpPr>
      <p:sp>
        <p:nvSpPr>
          <p:cNvPr id="1048621" name="幻灯片图像占位符 1">
            <a:extLst>
              <a:ext uri="{FF2B5EF4-FFF2-40B4-BE49-F238E27FC236}">
                <a16:creationId xmlns:a16="http://schemas.microsoft.com/office/drawing/2014/main" id="{570F7859-3147-04BE-C9FC-278E71E26D09}"/>
              </a:ext>
            </a:extLst>
          </p:cNvPr>
          <p:cNvSpPr>
            <a:spLocks noGrp="1" noRot="1" noChangeAspect="1"/>
          </p:cNvSpPr>
          <p:nvPr>
            <p:ph type="sldImg"/>
          </p:nvPr>
        </p:nvSpPr>
        <p:spPr>
          <a:xfrm>
            <a:off x="381000" y="685800"/>
            <a:ext cx="6096000" cy="3429000"/>
          </a:xfrm>
        </p:spPr>
      </p:sp>
      <p:sp>
        <p:nvSpPr>
          <p:cNvPr id="1048622" name="备注占位符 2">
            <a:extLst>
              <a:ext uri="{FF2B5EF4-FFF2-40B4-BE49-F238E27FC236}">
                <a16:creationId xmlns:a16="http://schemas.microsoft.com/office/drawing/2014/main" id="{67CD3B23-9578-3C89-65BB-44830E94197F}"/>
              </a:ext>
            </a:extLst>
          </p:cNvPr>
          <p:cNvSpPr>
            <a:spLocks noGrp="1"/>
          </p:cNvSpPr>
          <p:nvPr>
            <p:ph type="body" idx="1"/>
          </p:nvPr>
        </p:nvSpPr>
        <p:spPr/>
        <p:txBody>
          <a:bodyPr/>
          <a:lstStyle/>
          <a:p>
            <a:pPr algn="l"/>
            <a:endParaRPr lang="zh-CN" altLang="en-US" sz="2400" dirty="0">
              <a:solidFill>
                <a:schemeClr val="tx1"/>
              </a:solidFill>
            </a:endParaRPr>
          </a:p>
        </p:txBody>
      </p:sp>
      <p:sp>
        <p:nvSpPr>
          <p:cNvPr id="1048623" name="灯片编号占位符 3">
            <a:extLst>
              <a:ext uri="{FF2B5EF4-FFF2-40B4-BE49-F238E27FC236}">
                <a16:creationId xmlns:a16="http://schemas.microsoft.com/office/drawing/2014/main" id="{8670E0DF-E690-FA38-4DDC-C6B652086DC9}"/>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C8B70F4B-DBE4-4645-B749-B935A39A121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7326561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p:spTree>
      <p:nvGrpSpPr>
        <p:cNvPr id="1" name=""/>
        <p:cNvGrpSpPr/>
        <p:nvPr/>
      </p:nvGrpSpPr>
      <p:grpSpPr>
        <a:xfrm>
          <a:off x="0" y="0"/>
          <a:ext cx="0" cy="0"/>
          <a:chOff x="0" y="0"/>
          <a:chExt cx="0" cy="0"/>
        </a:xfrm>
      </p:grpSpPr>
      <p:pic>
        <p:nvPicPr>
          <p:cNvPr id="2097440" name="图片 1"/>
          <p:cNvPicPr>
            <a:picLocks noChangeAspect="1"/>
          </p:cNvPicPr>
          <p:nvPr userDrawn="1"/>
        </p:nvPicPr>
        <p:blipFill>
          <a:blip r:embed="rId2"/>
          <a:stretch>
            <a:fillRect/>
          </a:stretch>
        </p:blipFill>
        <p:spPr>
          <a:xfrm>
            <a:off x="-471613" y="-14096"/>
            <a:ext cx="943263" cy="943263"/>
          </a:xfrm>
          <a:prstGeom prst="rect">
            <a:avLst/>
          </a:prstGeom>
        </p:spPr>
      </p:pic>
      <p:pic>
        <p:nvPicPr>
          <p:cNvPr id="2097441" name="图片 2"/>
          <p:cNvPicPr>
            <a:picLocks noChangeAspect="1"/>
          </p:cNvPicPr>
          <p:nvPr userDrawn="1"/>
        </p:nvPicPr>
        <p:blipFill>
          <a:blip r:embed="rId3"/>
          <a:stretch>
            <a:fillRect/>
          </a:stretch>
        </p:blipFill>
        <p:spPr>
          <a:xfrm>
            <a:off x="9837547" y="209043"/>
            <a:ext cx="2021287" cy="497037"/>
          </a:xfrm>
          <a:prstGeom prst="rect">
            <a:avLst/>
          </a:prstGeom>
        </p:spPr>
      </p:pic>
      <p:sp>
        <p:nvSpPr>
          <p:cNvPr id="1049628" name="内容占位符 4"/>
          <p:cNvSpPr>
            <a:spLocks noGrp="1"/>
          </p:cNvSpPr>
          <p:nvPr>
            <p:ph sz="quarter" idx="10" hasCustomPrompt="1"/>
          </p:nvPr>
        </p:nvSpPr>
        <p:spPr>
          <a:xfrm>
            <a:off x="599017" y="209552"/>
            <a:ext cx="4783789" cy="566309"/>
          </a:xfrm>
          <a:prstGeom prst="rect">
            <a:avLst/>
          </a:prstGeom>
          <a:noFill/>
        </p:spPr>
        <p:txBody>
          <a:bodyPr wrap="none" rtlCol="0">
            <a:spAutoFit/>
          </a:bodyPr>
          <a:lstStyle>
            <a:lvl1pPr marL="0" indent="0">
              <a:buNone/>
              <a:defRPr kumimoji="1" lang="zh-CN" altLang="en-US" sz="3200" b="1" dirty="0">
                <a:latin typeface="黑体" panose="02010609060101010101" pitchFamily="49" charset="-122"/>
                <a:ea typeface="黑体" panose="02010609060101010101" pitchFamily="49" charset="-122"/>
              </a:defRPr>
            </a:lvl1pPr>
          </a:lstStyle>
          <a:p>
            <a:pPr marL="0" lvl="0"/>
            <a:r>
              <a:rPr kumimoji="1" lang="zh-CN" altLang="en-US" dirty="0"/>
              <a:t>单击此处编辑母版文本样</a:t>
            </a:r>
          </a:p>
        </p:txBody>
      </p:sp>
      <p:sp>
        <p:nvSpPr>
          <p:cNvPr id="1049629" name="Text Box 5"/>
          <p:cNvSpPr txBox="1">
            <a:spLocks noChangeArrowheads="1"/>
          </p:cNvSpPr>
          <p:nvPr userDrawn="1"/>
        </p:nvSpPr>
        <p:spPr bwMode="auto">
          <a:xfrm>
            <a:off x="11585877" y="6442457"/>
            <a:ext cx="209883" cy="153670"/>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231775" fontAlgn="base">
              <a:spcBef>
                <a:spcPct val="50000"/>
              </a:spcBef>
              <a:spcAft>
                <a:spcPct val="0"/>
              </a:spcAft>
            </a:pPr>
            <a:fld id="{046AD7C7-DE3F-5E43-A3A8-CA80750AE375}" type="slidenum">
              <a:rPr kumimoji="0" lang="en-US" altLang="zh-CN" sz="1000" b="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t>‹#›</a:t>
            </a:fld>
            <a:endParaRPr kumimoji="0" lang="en-US" altLang="zh-CN" sz="1000" b="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白色内页">
    <p:spTree>
      <p:nvGrpSpPr>
        <p:cNvPr id="1" name=""/>
        <p:cNvGrpSpPr/>
        <p:nvPr/>
      </p:nvGrpSpPr>
      <p:grpSpPr>
        <a:xfrm>
          <a:off x="0" y="0"/>
          <a:ext cx="0" cy="0"/>
          <a:chOff x="0" y="0"/>
          <a:chExt cx="0" cy="0"/>
        </a:xfrm>
      </p:grpSpPr>
      <p:sp>
        <p:nvSpPr>
          <p:cNvPr id="6" name="Text Box 5"/>
          <p:cNvSpPr txBox="1">
            <a:spLocks noChangeArrowheads="1"/>
          </p:cNvSpPr>
          <p:nvPr userDrawn="1"/>
        </p:nvSpPr>
        <p:spPr bwMode="auto">
          <a:xfrm>
            <a:off x="11585877" y="6442457"/>
            <a:ext cx="209883" cy="153670"/>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231775"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t>‹#›</a:t>
            </a:fld>
            <a:endParaRPr kumimoji="0" lang="en-US" altLang="zh-CN" sz="1000" b="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10" name="Content Placeholder 5"/>
          <p:cNvSpPr>
            <a:spLocks noGrp="1"/>
          </p:cNvSpPr>
          <p:nvPr>
            <p:ph sz="quarter" idx="12" hasCustomPrompt="1"/>
          </p:nvPr>
        </p:nvSpPr>
        <p:spPr>
          <a:xfrm>
            <a:off x="397213" y="1374181"/>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p:cNvSpPr>
            <a:spLocks noGrp="1"/>
          </p:cNvSpPr>
          <p:nvPr>
            <p:ph type="body" sz="quarter" idx="28" hasCustomPrompt="1"/>
          </p:nvPr>
        </p:nvSpPr>
        <p:spPr>
          <a:xfrm>
            <a:off x="398095" y="682625"/>
            <a:ext cx="7793672" cy="285047"/>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2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9" name="Title 2"/>
          <p:cNvSpPr>
            <a:spLocks noGrp="1"/>
          </p:cNvSpPr>
          <p:nvPr>
            <p:ph type="title" hasCustomPrompt="1"/>
          </p:nvPr>
        </p:nvSpPr>
        <p:spPr>
          <a:xfrm>
            <a:off x="398093" y="210672"/>
            <a:ext cx="8913175"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2" name="图片 1"/>
          <p:cNvPicPr>
            <a:picLocks noChangeAspect="1"/>
          </p:cNvPicPr>
          <p:nvPr userDrawn="1"/>
        </p:nvPicPr>
        <p:blipFill>
          <a:blip r:embed="rId2"/>
          <a:stretch>
            <a:fillRect/>
          </a:stretch>
        </p:blipFill>
        <p:spPr>
          <a:xfrm>
            <a:off x="9615095" y="187241"/>
            <a:ext cx="2314368" cy="559928"/>
          </a:xfrm>
          <a:prstGeom prst="rect">
            <a:avLst/>
          </a:prstGeom>
        </p:spPr>
      </p:pic>
      <p:sp>
        <p:nvSpPr>
          <p:cNvPr id="3" name="矩形 2"/>
          <p:cNvSpPr/>
          <p:nvPr userDrawn="1"/>
        </p:nvSpPr>
        <p:spPr>
          <a:xfrm>
            <a:off x="1" y="210672"/>
            <a:ext cx="189571" cy="46941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4" name="矩形 3"/>
          <p:cNvSpPr/>
          <p:nvPr userDrawn="1"/>
        </p:nvSpPr>
        <p:spPr>
          <a:xfrm>
            <a:off x="262537" y="210672"/>
            <a:ext cx="126081" cy="469413"/>
          </a:xfrm>
          <a:prstGeom prst="rect">
            <a:avLst/>
          </a:prstGeom>
          <a:solidFill>
            <a:srgbClr val="2287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灯片编号占位符 1"/>
          <p:cNvSpPr txBox="1"/>
          <p:nvPr userDrawn="1"/>
        </p:nvSpPr>
        <p:spPr>
          <a:xfrm>
            <a:off x="9264352" y="6309325"/>
            <a:ext cx="2743200" cy="366183"/>
          </a:xfrm>
          <a:prstGeom prst="rect">
            <a:avLst/>
          </a:prstGeom>
        </p:spPr>
        <p:txBody>
          <a:bodyPr vert="horz" lIns="121920" tIns="60960" rIns="121920" bIns="6096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890B23-47D2-4A6C-9E46-40D736F2607E}" type="slidenum">
              <a:rPr lang="zh-CN" altLang="en-US" sz="1600" smtClean="0"/>
              <a:t>‹#›</a:t>
            </a:fld>
            <a:endParaRPr lang="zh-CN" altLang="en-US" sz="1600" dirty="0"/>
          </a:p>
        </p:txBody>
      </p:sp>
      <p:sp>
        <p:nvSpPr>
          <p:cNvPr id="1048577" name="textbox 84"/>
          <p:cNvSpPr/>
          <p:nvPr userDrawn="1">
            <p:custDataLst>
              <p:tags r:id="rId15"/>
            </p:custDataLst>
          </p:nvPr>
        </p:nvSpPr>
        <p:spPr>
          <a:xfrm>
            <a:off x="0" y="0"/>
            <a:ext cx="12192000" cy="715010"/>
          </a:xfrm>
          <a:prstGeom prst="rect">
            <a:avLst/>
          </a:prstGeom>
          <a:solidFill>
            <a:srgbClr val="0854A0">
              <a:alpha val="100000"/>
            </a:srgbClr>
          </a:solidFill>
          <a:ln w="0" cap="flat">
            <a:noFill/>
            <a:prstDash val="solid"/>
            <a:miter lim="0"/>
          </a:ln>
        </p:spPr>
        <p:txBody>
          <a:bodyPr vert="horz" wrap="square" lIns="0" tIns="0" rIns="0" bIns="0"/>
          <a:lstStyle/>
          <a:p>
            <a:pPr algn="l" rtl="0" eaLnBrk="0">
              <a:lnSpc>
                <a:spcPct val="105000"/>
              </a:lnSpc>
            </a:pPr>
            <a:endParaRPr sz="32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78" name="rect 2"/>
          <p:cNvSpPr/>
          <p:nvPr>
            <p:custDataLst>
              <p:tags r:id="rId1"/>
            </p:custDataLst>
          </p:nvPr>
        </p:nvSpPr>
        <p:spPr>
          <a:xfrm>
            <a:off x="0" y="476672"/>
            <a:ext cx="12192000" cy="3888431"/>
          </a:xfrm>
          <a:prstGeom prst="rect">
            <a:avLst/>
          </a:prstGeom>
          <a:solidFill>
            <a:srgbClr val="0854A0">
              <a:alpha val="100000"/>
            </a:srgbClr>
          </a:solidFill>
          <a:ln w="0" cap="flat">
            <a:noFill/>
            <a:prstDash val="solid"/>
            <a:miter lim="0"/>
          </a:ln>
        </p:spPr>
        <p:txBody>
          <a:bodyPr rtlCol="0"/>
          <a:lstStyle/>
          <a:p>
            <a:pPr algn="ct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8581" name="textbox 14"/>
          <p:cNvSpPr/>
          <p:nvPr>
            <p:custDataLst>
              <p:tags r:id="rId2"/>
            </p:custDataLst>
          </p:nvPr>
        </p:nvSpPr>
        <p:spPr>
          <a:xfrm>
            <a:off x="3359695" y="4757257"/>
            <a:ext cx="5887085" cy="1440160"/>
          </a:xfrm>
          <a:prstGeom prst="rect">
            <a:avLst/>
          </a:prstGeom>
          <a:noFill/>
          <a:ln w="0" cap="flat">
            <a:noFill/>
            <a:prstDash val="solid"/>
            <a:miter lim="0"/>
          </a:ln>
        </p:spPr>
        <p:txBody>
          <a:bodyPr vert="horz" wrap="square" lIns="0" tIns="0" rIns="0" bIns="0"/>
          <a:lstStyle/>
          <a:p>
            <a:pPr algn="l" rtl="0" eaLnBrk="0">
              <a:lnSpc>
                <a:spcPct val="87000"/>
              </a:lnSpc>
            </a:pPr>
            <a:endParaRPr sz="300" dirty="0">
              <a:latin typeface="微软雅黑" panose="020B0503020204020204" pitchFamily="34" charset="-122"/>
              <a:ea typeface="微软雅黑" panose="020B0503020204020204" pitchFamily="34" charset="-122"/>
              <a:cs typeface="微软雅黑" panose="020B0503020204020204" pitchFamily="34" charset="-122"/>
            </a:endParaRPr>
          </a:p>
          <a:p>
            <a:pPr marL="12700" algn="ctr" rtl="0" eaLnBrk="0">
              <a:lnSpc>
                <a:spcPct val="90000"/>
              </a:lnSpc>
            </a:pPr>
            <a:r>
              <a:rPr lang="zh-CN" altLang="en-US" sz="4000" b="1" kern="0" spc="-10" dirty="0">
                <a:solidFill>
                  <a:srgbClr val="0854A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同济大学</a:t>
            </a:r>
            <a:endParaRPr lang="en-US" altLang="zh-CN" sz="4000" b="1" kern="0" spc="-10" dirty="0">
              <a:solidFill>
                <a:srgbClr val="0854A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2700" algn="ctr" rtl="0" eaLnBrk="0">
              <a:lnSpc>
                <a:spcPct val="90000"/>
              </a:lnSpc>
            </a:pPr>
            <a:r>
              <a:rPr lang="zh-CN" altLang="en-US" sz="4000" b="1" kern="0" spc="-10" dirty="0">
                <a:solidFill>
                  <a:srgbClr val="0854A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编译原理课程组</a:t>
            </a:r>
            <a:endParaRPr lang="zh-CN" altLang="en-US" sz="3200" b="1" kern="0" spc="-30" dirty="0">
              <a:solidFill>
                <a:srgbClr val="0854A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9" name="图片 8"/>
          <p:cNvPicPr>
            <a:picLocks noChangeAspect="1"/>
          </p:cNvPicPr>
          <p:nvPr/>
        </p:nvPicPr>
        <p:blipFill rotWithShape="1">
          <a:blip r:embed="rId5">
            <a:extLst>
              <a:ext uri="{BEBA8EAE-BF5A-486C-A8C5-ECC9F3942E4B}">
                <a14:imgProps xmlns:a14="http://schemas.microsoft.com/office/drawing/2010/main">
                  <a14:imgLayer r:embed="rId6">
                    <a14:imgEffect>
                      <a14:brightnessContrast bright="100000" contrast="100000"/>
                    </a14:imgEffect>
                  </a14:imgLayer>
                </a14:imgProps>
              </a:ext>
              <a:ext uri="{28A0092B-C50C-407E-A947-70E740481C1C}">
                <a14:useLocalDpi xmlns:a14="http://schemas.microsoft.com/office/drawing/2010/main" val="0"/>
              </a:ext>
            </a:extLst>
          </a:blip>
          <a:srcRect l="9733" t="18587" r="5127" b="10065"/>
          <a:stretch>
            <a:fillRect/>
          </a:stretch>
        </p:blipFill>
        <p:spPr>
          <a:xfrm>
            <a:off x="8839835" y="-4445"/>
            <a:ext cx="3345815" cy="935990"/>
          </a:xfrm>
          <a:prstGeom prst="rect">
            <a:avLst/>
          </a:prstGeom>
        </p:spPr>
      </p:pic>
      <p:sp>
        <p:nvSpPr>
          <p:cNvPr id="10" name="Rectangle 2">
            <a:extLst>
              <a:ext uri="{FF2B5EF4-FFF2-40B4-BE49-F238E27FC236}">
                <a16:creationId xmlns:a16="http://schemas.microsoft.com/office/drawing/2014/main" id="{33350FFF-7F4E-4451-BA89-36D36BEBB64E}"/>
              </a:ext>
            </a:extLst>
          </p:cNvPr>
          <p:cNvSpPr txBox="1">
            <a:spLocks noChangeArrowheads="1"/>
          </p:cNvSpPr>
          <p:nvPr/>
        </p:nvSpPr>
        <p:spPr bwMode="auto">
          <a:xfrm>
            <a:off x="0" y="1380663"/>
            <a:ext cx="1218565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5000">
                <a:solidFill>
                  <a:srgbClr val="FFFFFF"/>
                </a:solidFill>
                <a:latin typeface="+mj-lt"/>
                <a:ea typeface="+mj-ea"/>
                <a:cs typeface="+mj-cs"/>
              </a:defRPr>
            </a:lvl1pPr>
            <a:lvl2pPr algn="l" rtl="0" eaLnBrk="0" fontAlgn="base" hangingPunct="0">
              <a:spcBef>
                <a:spcPct val="0"/>
              </a:spcBef>
              <a:spcAft>
                <a:spcPct val="0"/>
              </a:spcAft>
              <a:defRPr sz="4400">
                <a:solidFill>
                  <a:srgbClr val="0033CC"/>
                </a:solidFill>
                <a:latin typeface="Arial" pitchFamily="34" charset="0"/>
                <a:ea typeface="华文新魏" pitchFamily="2" charset="-122"/>
              </a:defRPr>
            </a:lvl2pPr>
            <a:lvl3pPr algn="l" rtl="0" eaLnBrk="0" fontAlgn="base" hangingPunct="0">
              <a:spcBef>
                <a:spcPct val="0"/>
              </a:spcBef>
              <a:spcAft>
                <a:spcPct val="0"/>
              </a:spcAft>
              <a:defRPr sz="4400">
                <a:solidFill>
                  <a:srgbClr val="0033CC"/>
                </a:solidFill>
                <a:latin typeface="Arial" pitchFamily="34" charset="0"/>
                <a:ea typeface="华文新魏" pitchFamily="2" charset="-122"/>
              </a:defRPr>
            </a:lvl3pPr>
            <a:lvl4pPr algn="l" rtl="0" eaLnBrk="0" fontAlgn="base" hangingPunct="0">
              <a:spcBef>
                <a:spcPct val="0"/>
              </a:spcBef>
              <a:spcAft>
                <a:spcPct val="0"/>
              </a:spcAft>
              <a:defRPr sz="4400">
                <a:solidFill>
                  <a:srgbClr val="0033CC"/>
                </a:solidFill>
                <a:latin typeface="Arial" pitchFamily="34" charset="0"/>
                <a:ea typeface="华文新魏" pitchFamily="2" charset="-122"/>
              </a:defRPr>
            </a:lvl4pPr>
            <a:lvl5pPr algn="l" rtl="0" eaLnBrk="0" fontAlgn="base" hangingPunct="0">
              <a:spcBef>
                <a:spcPct val="0"/>
              </a:spcBef>
              <a:spcAft>
                <a:spcPct val="0"/>
              </a:spcAft>
              <a:defRPr sz="4400">
                <a:solidFill>
                  <a:srgbClr val="0033CC"/>
                </a:solidFill>
                <a:latin typeface="Arial" pitchFamily="34" charset="0"/>
                <a:ea typeface="华文新魏" pitchFamily="2" charset="-122"/>
              </a:defRPr>
            </a:lvl5pPr>
            <a:lvl6pPr marL="457200" algn="l" rtl="0" fontAlgn="base">
              <a:spcBef>
                <a:spcPct val="0"/>
              </a:spcBef>
              <a:spcAft>
                <a:spcPct val="0"/>
              </a:spcAft>
              <a:defRPr sz="4400">
                <a:solidFill>
                  <a:srgbClr val="0033CC"/>
                </a:solidFill>
                <a:latin typeface="Arial" pitchFamily="34" charset="0"/>
                <a:ea typeface="华文新魏" pitchFamily="2" charset="-122"/>
              </a:defRPr>
            </a:lvl6pPr>
            <a:lvl7pPr marL="914400" algn="l" rtl="0" fontAlgn="base">
              <a:spcBef>
                <a:spcPct val="0"/>
              </a:spcBef>
              <a:spcAft>
                <a:spcPct val="0"/>
              </a:spcAft>
              <a:defRPr sz="4400">
                <a:solidFill>
                  <a:srgbClr val="0033CC"/>
                </a:solidFill>
                <a:latin typeface="Arial" pitchFamily="34" charset="0"/>
                <a:ea typeface="华文新魏" pitchFamily="2" charset="-122"/>
              </a:defRPr>
            </a:lvl7pPr>
            <a:lvl8pPr marL="1371600" algn="l" rtl="0" fontAlgn="base">
              <a:spcBef>
                <a:spcPct val="0"/>
              </a:spcBef>
              <a:spcAft>
                <a:spcPct val="0"/>
              </a:spcAft>
              <a:defRPr sz="4400">
                <a:solidFill>
                  <a:srgbClr val="0033CC"/>
                </a:solidFill>
                <a:latin typeface="Arial" pitchFamily="34" charset="0"/>
                <a:ea typeface="华文新魏" pitchFamily="2" charset="-122"/>
              </a:defRPr>
            </a:lvl8pPr>
            <a:lvl9pPr marL="1828800" algn="l" rtl="0" fontAlgn="base">
              <a:spcBef>
                <a:spcPct val="0"/>
              </a:spcBef>
              <a:spcAft>
                <a:spcPct val="0"/>
              </a:spcAft>
              <a:defRPr sz="4400">
                <a:solidFill>
                  <a:srgbClr val="0033CC"/>
                </a:solidFill>
                <a:latin typeface="Arial" pitchFamily="34" charset="0"/>
                <a:ea typeface="华文新魏"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6600" b="0" i="0" u="none" strike="noStrike" kern="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rPr>
              <a:t>编译原理</a:t>
            </a:r>
            <a:br>
              <a:rPr kumimoji="0" lang="en-US" altLang="zh-CN" sz="6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br>
            <a:r>
              <a:rPr kumimoji="0" lang="zh-CN" altLang="en-US" sz="5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大作业</a:t>
            </a:r>
            <a:r>
              <a:rPr lang="en-US" altLang="zh-CN" sz="5400" kern="0" dirty="0">
                <a:latin typeface="微软雅黑" panose="020B0503020204020204" pitchFamily="34" charset="-122"/>
                <a:ea typeface="微软雅黑" panose="020B0503020204020204" pitchFamily="34" charset="-122"/>
              </a:rPr>
              <a:t>2</a:t>
            </a:r>
            <a:r>
              <a:rPr kumimoji="0" lang="zh-CN" altLang="en-US" sz="5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：中间代码生成器</a:t>
            </a:r>
            <a:endParaRPr kumimoji="0" lang="zh-CN" altLang="en-US" sz="6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16357"/>
    </mc:Choice>
    <mc:Fallback xmlns="">
      <p:transition spd="slow" advTm="1635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A6D18E3-361F-431A-9D7F-5FDD959F45F1}"/>
              </a:ext>
            </a:extLst>
          </p:cNvPr>
          <p:cNvGrpSpPr/>
          <p:nvPr/>
        </p:nvGrpSpPr>
        <p:grpSpPr>
          <a:xfrm>
            <a:off x="8434022" y="4280567"/>
            <a:ext cx="3978452" cy="3886035"/>
            <a:chOff x="7562167" y="1965744"/>
            <a:chExt cx="3780000" cy="3780000"/>
          </a:xfrm>
        </p:grpSpPr>
        <p:sp>
          <p:nvSpPr>
            <p:cNvPr id="3" name="椭圆 2">
              <a:extLst>
                <a:ext uri="{FF2B5EF4-FFF2-40B4-BE49-F238E27FC236}">
                  <a16:creationId xmlns:a16="http://schemas.microsoft.com/office/drawing/2014/main" id="{45386011-EE24-49BA-BF60-F38AFE4EC811}"/>
                </a:ext>
              </a:extLst>
            </p:cNvPr>
            <p:cNvSpPr/>
            <p:nvPr/>
          </p:nvSpPr>
          <p:spPr>
            <a:xfrm>
              <a:off x="7562167" y="1965744"/>
              <a:ext cx="3780000" cy="3780000"/>
            </a:xfrm>
            <a:prstGeom prst="ellipse">
              <a:avLst/>
            </a:prstGeom>
            <a:solidFill>
              <a:srgbClr val="E7E7E7">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4" name="椭圆 3">
              <a:extLst>
                <a:ext uri="{FF2B5EF4-FFF2-40B4-BE49-F238E27FC236}">
                  <a16:creationId xmlns:a16="http://schemas.microsoft.com/office/drawing/2014/main" id="{3AB2FB46-6879-4CC7-96A0-1B492024336D}"/>
                </a:ext>
              </a:extLst>
            </p:cNvPr>
            <p:cNvSpPr/>
            <p:nvPr/>
          </p:nvSpPr>
          <p:spPr>
            <a:xfrm>
              <a:off x="8445194" y="2145460"/>
              <a:ext cx="468000" cy="468000"/>
            </a:xfrm>
            <a:prstGeom prst="ellipse">
              <a:avLst/>
            </a:prstGeom>
            <a:gradFill flip="none" rotWithShape="1">
              <a:gsLst>
                <a:gs pos="0">
                  <a:schemeClr val="accent1">
                    <a:lumMod val="75000"/>
                    <a:tint val="66000"/>
                    <a:satMod val="160000"/>
                  </a:schemeClr>
                </a:gs>
                <a:gs pos="50000">
                  <a:schemeClr val="accent1">
                    <a:lumMod val="75000"/>
                    <a:tint val="44500"/>
                    <a:satMod val="160000"/>
                  </a:schemeClr>
                </a:gs>
                <a:gs pos="100000">
                  <a:schemeClr val="accent1">
                    <a:lumMod val="75000"/>
                    <a:tint val="23500"/>
                    <a:satMod val="160000"/>
                  </a:schemeClr>
                </a:gs>
              </a:gsLst>
              <a:lin ang="13500000" scaled="1"/>
              <a:tileRect/>
            </a:gradFill>
            <a:ln>
              <a:noFill/>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5" name="文本框 4">
              <a:extLst>
                <a:ext uri="{FF2B5EF4-FFF2-40B4-BE49-F238E27FC236}">
                  <a16:creationId xmlns:a16="http://schemas.microsoft.com/office/drawing/2014/main" id="{F0E70DEE-AE1D-47A3-A35A-C24378E882FA}"/>
                </a:ext>
              </a:extLst>
            </p:cNvPr>
            <p:cNvSpPr txBox="1"/>
            <p:nvPr/>
          </p:nvSpPr>
          <p:spPr>
            <a:xfrm>
              <a:off x="8847134" y="2193327"/>
              <a:ext cx="1797506" cy="38919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dirty="0">
                  <a:solidFill>
                    <a:prstClr val="black"/>
                  </a:solidFill>
                  <a:latin typeface="微软雅黑" panose="020B0503020204020204" pitchFamily="34" charset="-122"/>
                  <a:ea typeface="微软雅黑" panose="020B0503020204020204" pitchFamily="34" charset="-122"/>
                </a:rPr>
                <a:t>Rust</a:t>
              </a:r>
              <a:r>
                <a:rPr lang="zh-CN" altLang="en-US" sz="2000" b="1" dirty="0">
                  <a:solidFill>
                    <a:prstClr val="black"/>
                  </a:solidFill>
                  <a:latin typeface="微软雅黑" panose="020B0503020204020204" pitchFamily="34" charset="-122"/>
                  <a:ea typeface="微软雅黑" panose="020B0503020204020204" pitchFamily="34" charset="-122"/>
                </a:rPr>
                <a:t>中国推广</a:t>
              </a:r>
              <a:endPar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 name="文本框 5">
              <a:extLst>
                <a:ext uri="{FF2B5EF4-FFF2-40B4-BE49-F238E27FC236}">
                  <a16:creationId xmlns:a16="http://schemas.microsoft.com/office/drawing/2014/main" id="{EF1A6067-F10C-4B26-9CB6-90F11B02924D}"/>
                </a:ext>
              </a:extLst>
            </p:cNvPr>
            <p:cNvSpPr txBox="1"/>
            <p:nvPr/>
          </p:nvSpPr>
          <p:spPr>
            <a:xfrm>
              <a:off x="8210434" y="2767660"/>
              <a:ext cx="2761026" cy="1526830"/>
            </a:xfrm>
            <a:prstGeom prst="rect">
              <a:avLst/>
            </a:prstGeom>
            <a:noFill/>
          </p:spPr>
          <p:txBody>
            <a:bodyPr wrap="square" rtlCol="0">
              <a:spAutoFit/>
            </a:bodyPr>
            <a:lstStyle/>
            <a:p>
              <a:pPr marL="342900" lvl="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华为战略支持了在中国举办的</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Rust China Conf</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大会，并推行多项社区活动。</a:t>
              </a:r>
              <a:endParaRPr lang="en-US" altLang="zh-CN" sz="1600" b="1" dirty="0">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华为也为为中国的开发者提供</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Rust</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教程和</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Rust</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编码规范等。</a:t>
              </a:r>
              <a:endParaRPr lang="zh-CN" altLang="zh-CN" sz="16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7" name="组合 6">
            <a:extLst>
              <a:ext uri="{FF2B5EF4-FFF2-40B4-BE49-F238E27FC236}">
                <a16:creationId xmlns:a16="http://schemas.microsoft.com/office/drawing/2014/main" id="{D10FCD90-A964-4D91-B016-4E73289900B5}"/>
              </a:ext>
            </a:extLst>
          </p:cNvPr>
          <p:cNvGrpSpPr/>
          <p:nvPr/>
        </p:nvGrpSpPr>
        <p:grpSpPr>
          <a:xfrm>
            <a:off x="5241420" y="4268797"/>
            <a:ext cx="3978452" cy="3888219"/>
            <a:chOff x="4136305" y="1965744"/>
            <a:chExt cx="3780000" cy="3780000"/>
          </a:xfrm>
        </p:grpSpPr>
        <p:sp>
          <p:nvSpPr>
            <p:cNvPr id="8" name="椭圆 7">
              <a:extLst>
                <a:ext uri="{FF2B5EF4-FFF2-40B4-BE49-F238E27FC236}">
                  <a16:creationId xmlns:a16="http://schemas.microsoft.com/office/drawing/2014/main" id="{64351071-B839-45CC-A44E-8E095FF24A49}"/>
                </a:ext>
              </a:extLst>
            </p:cNvPr>
            <p:cNvSpPr/>
            <p:nvPr/>
          </p:nvSpPr>
          <p:spPr>
            <a:xfrm>
              <a:off x="4136305" y="1965744"/>
              <a:ext cx="3780000" cy="3780000"/>
            </a:xfrm>
            <a:prstGeom prst="ellipse">
              <a:avLst/>
            </a:prstGeom>
            <a:solidFill>
              <a:srgbClr val="E7E7E7">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9" name="椭圆 8">
              <a:extLst>
                <a:ext uri="{FF2B5EF4-FFF2-40B4-BE49-F238E27FC236}">
                  <a16:creationId xmlns:a16="http://schemas.microsoft.com/office/drawing/2014/main" id="{5CAB4CC0-096A-4255-9205-3AFEEAF22436}"/>
                </a:ext>
              </a:extLst>
            </p:cNvPr>
            <p:cNvSpPr/>
            <p:nvPr/>
          </p:nvSpPr>
          <p:spPr>
            <a:xfrm>
              <a:off x="5042314" y="2153116"/>
              <a:ext cx="468000" cy="468000"/>
            </a:xfrm>
            <a:prstGeom prst="ellipse">
              <a:avLst/>
            </a:prstGeom>
            <a:gradFill flip="none" rotWithShape="1">
              <a:gsLst>
                <a:gs pos="0">
                  <a:schemeClr val="bg1">
                    <a:lumMod val="65000"/>
                    <a:tint val="66000"/>
                    <a:satMod val="160000"/>
                  </a:schemeClr>
                </a:gs>
                <a:gs pos="50000">
                  <a:schemeClr val="bg1">
                    <a:lumMod val="65000"/>
                    <a:tint val="44500"/>
                    <a:satMod val="160000"/>
                  </a:schemeClr>
                </a:gs>
                <a:gs pos="100000">
                  <a:schemeClr val="bg1">
                    <a:lumMod val="65000"/>
                    <a:tint val="23500"/>
                    <a:satMod val="160000"/>
                  </a:schemeClr>
                </a:gs>
              </a:gsLst>
              <a:lin ang="13500000" scaled="1"/>
              <a:tileRect/>
            </a:gradFill>
            <a:ln>
              <a:noFill/>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10" name="文本框 9">
              <a:extLst>
                <a:ext uri="{FF2B5EF4-FFF2-40B4-BE49-F238E27FC236}">
                  <a16:creationId xmlns:a16="http://schemas.microsoft.com/office/drawing/2014/main" id="{BAEF0C75-AF07-4D13-8BCF-BA97915057E7}"/>
                </a:ext>
              </a:extLst>
            </p:cNvPr>
            <p:cNvSpPr txBox="1"/>
            <p:nvPr/>
          </p:nvSpPr>
          <p:spPr>
            <a:xfrm>
              <a:off x="5437458" y="2204642"/>
              <a:ext cx="1829979" cy="3889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dirty="0">
                  <a:solidFill>
                    <a:prstClr val="black"/>
                  </a:solidFill>
                  <a:latin typeface="微软雅黑" panose="020B0503020204020204" pitchFamily="34" charset="-122"/>
                  <a:ea typeface="微软雅黑" panose="020B0503020204020204" pitchFamily="34" charset="-122"/>
                </a:rPr>
                <a:t>Rust</a:t>
              </a:r>
              <a:r>
                <a:rPr lang="zh-CN" altLang="en-US" sz="2000" b="1" dirty="0">
                  <a:solidFill>
                    <a:prstClr val="black"/>
                  </a:solidFill>
                  <a:latin typeface="微软雅黑" panose="020B0503020204020204" pitchFamily="34" charset="-122"/>
                  <a:ea typeface="微软雅黑" panose="020B0503020204020204" pitchFamily="34" charset="-122"/>
                </a:rPr>
                <a:t>社区贡献</a:t>
              </a:r>
              <a:endPar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 name="文本框 10">
              <a:extLst>
                <a:ext uri="{FF2B5EF4-FFF2-40B4-BE49-F238E27FC236}">
                  <a16:creationId xmlns:a16="http://schemas.microsoft.com/office/drawing/2014/main" id="{6365B6A9-123F-4A52-A545-D8995A2E75A8}"/>
                </a:ext>
              </a:extLst>
            </p:cNvPr>
            <p:cNvSpPr txBox="1"/>
            <p:nvPr/>
          </p:nvSpPr>
          <p:spPr>
            <a:xfrm>
              <a:off x="4376741" y="2753513"/>
              <a:ext cx="2840629" cy="2004709"/>
            </a:xfrm>
            <a:prstGeom prst="rect">
              <a:avLst/>
            </a:prstGeom>
            <a:noFill/>
          </p:spPr>
          <p:txBody>
            <a:bodyPr wrap="square" rtlCol="0">
              <a:spAutoFit/>
            </a:bodyPr>
            <a:lstStyle/>
            <a:p>
              <a:pPr marL="342900" lvl="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华为深度参与了</a:t>
              </a:r>
              <a:r>
                <a:rPr lang="zh-CN" altLang="en-US" sz="1600" b="1" dirty="0">
                  <a:effectLst/>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1600" b="1" dirty="0">
                  <a:effectLst/>
                  <a:latin typeface="微软雅黑" panose="020B0503020204020204" pitchFamily="34" charset="-122"/>
                  <a:ea typeface="微软雅黑" panose="020B0503020204020204" pitchFamily="34" charset="-122"/>
                  <a:cs typeface="Times New Roman" panose="02020603050405020304" pitchFamily="18" charset="0"/>
                </a:rPr>
                <a:t>Rust</a:t>
              </a:r>
              <a:r>
                <a:rPr lang="zh-CN" altLang="en-US" sz="1600" b="1" dirty="0">
                  <a:effectLst/>
                  <a:latin typeface="微软雅黑" panose="020B0503020204020204" pitchFamily="34" charset="-122"/>
                  <a:ea typeface="微软雅黑" panose="020B0503020204020204" pitchFamily="34" charset="-122"/>
                  <a:cs typeface="Times New Roman" panose="02020603050405020304" pitchFamily="18" charset="0"/>
                </a:rPr>
                <a:t>社区中，贡献了包括</a:t>
              </a:r>
              <a:r>
                <a:rPr lang="en-US" altLang="zh-CN" sz="1600" b="1" dirty="0">
                  <a:effectLst/>
                  <a:latin typeface="微软雅黑" panose="020B0503020204020204" pitchFamily="34" charset="-122"/>
                  <a:ea typeface="微软雅黑" panose="020B0503020204020204" pitchFamily="34" charset="-122"/>
                  <a:cs typeface="Times New Roman" panose="02020603050405020304" pitchFamily="18" charset="0"/>
                </a:rPr>
                <a:t>C</a:t>
              </a:r>
              <a:r>
                <a:rPr lang="zh-CN" altLang="en-US" sz="1600" b="1" dirty="0">
                  <a:effectLst/>
                  <a:latin typeface="微软雅黑" panose="020B0503020204020204" pitchFamily="34" charset="-122"/>
                  <a:ea typeface="微软雅黑" panose="020B0503020204020204" pitchFamily="34" charset="-122"/>
                  <a:cs typeface="Times New Roman" panose="02020603050405020304" pitchFamily="18" charset="0"/>
                </a:rPr>
                <a:t>到</a:t>
              </a:r>
              <a:r>
                <a:rPr lang="en-US" altLang="zh-CN" sz="1600" b="1" dirty="0">
                  <a:effectLst/>
                  <a:latin typeface="微软雅黑" panose="020B0503020204020204" pitchFamily="34" charset="-122"/>
                  <a:ea typeface="微软雅黑" panose="020B0503020204020204" pitchFamily="34" charset="-122"/>
                  <a:cs typeface="Times New Roman" panose="02020603050405020304" pitchFamily="18" charset="0"/>
                </a:rPr>
                <a:t>Rust</a:t>
              </a:r>
              <a:r>
                <a:rPr lang="zh-CN" altLang="en-US" sz="1600" b="1" dirty="0">
                  <a:effectLst/>
                  <a:latin typeface="微软雅黑" panose="020B0503020204020204" pitchFamily="34" charset="-122"/>
                  <a:ea typeface="微软雅黑" panose="020B0503020204020204" pitchFamily="34" charset="-122"/>
                  <a:cs typeface="Times New Roman" panose="02020603050405020304" pitchFamily="18" charset="0"/>
                </a:rPr>
                <a:t>转换、内联汇编、交叉编译、</a:t>
              </a:r>
              <a:r>
                <a:rPr lang="en-US" altLang="zh-CN" sz="1600" b="1" dirty="0">
                  <a:effectLst/>
                  <a:latin typeface="微软雅黑" panose="020B0503020204020204" pitchFamily="34" charset="-122"/>
                  <a:ea typeface="微软雅黑" panose="020B0503020204020204" pitchFamily="34" charset="-122"/>
                  <a:cs typeface="Times New Roman" panose="02020603050405020304" pitchFamily="18" charset="0"/>
                </a:rPr>
                <a:t>Parking Lot</a:t>
              </a:r>
              <a:r>
                <a:rPr lang="zh-CN" altLang="en-US" sz="1600" b="1" dirty="0">
                  <a:effectLst/>
                  <a:latin typeface="微软雅黑" panose="020B0503020204020204" pitchFamily="34" charset="-122"/>
                  <a:ea typeface="微软雅黑" panose="020B0503020204020204" pitchFamily="34" charset="-122"/>
                  <a:cs typeface="Times New Roman" panose="02020603050405020304" pitchFamily="18" charset="0"/>
                </a:rPr>
                <a:t>并发库、</a:t>
              </a:r>
              <a:r>
                <a:rPr lang="en-US" altLang="zh-CN" sz="1600" b="1" dirty="0">
                  <a:effectLst/>
                  <a:latin typeface="微软雅黑" panose="020B0503020204020204" pitchFamily="34" charset="-122"/>
                  <a:ea typeface="微软雅黑" panose="020B0503020204020204" pitchFamily="34" charset="-122"/>
                  <a:cs typeface="Times New Roman" panose="02020603050405020304" pitchFamily="18" charset="0"/>
                </a:rPr>
                <a:t>SIMD </a:t>
              </a:r>
              <a:r>
                <a:rPr lang="zh-CN" altLang="en-US" sz="1600" b="1" dirty="0">
                  <a:effectLst/>
                  <a:latin typeface="微软雅黑" panose="020B0503020204020204" pitchFamily="34" charset="-122"/>
                  <a:ea typeface="微软雅黑" panose="020B0503020204020204" pitchFamily="34" charset="-122"/>
                  <a:cs typeface="Times New Roman" panose="02020603050405020304" pitchFamily="18" charset="0"/>
                </a:rPr>
                <a:t>基础库、文档导航、代码多态化、热补丁、</a:t>
              </a:r>
              <a:r>
                <a:rPr lang="en-US" altLang="zh-CN" sz="1600" b="1" dirty="0" err="1">
                  <a:effectLst/>
                  <a:latin typeface="微软雅黑" panose="020B0503020204020204" pitchFamily="34" charset="-122"/>
                  <a:ea typeface="微软雅黑" panose="020B0503020204020204" pitchFamily="34" charset="-122"/>
                  <a:cs typeface="Times New Roman" panose="02020603050405020304" pitchFamily="18" charset="0"/>
                </a:rPr>
                <a:t>AOP</a:t>
              </a:r>
              <a:r>
                <a:rPr lang="zh-CN" altLang="en-US" sz="1600" b="1" dirty="0">
                  <a:effectLst/>
                  <a:latin typeface="微软雅黑" panose="020B0503020204020204" pitchFamily="34" charset="-122"/>
                  <a:ea typeface="微软雅黑" panose="020B0503020204020204" pitchFamily="34" charset="-122"/>
                  <a:cs typeface="Times New Roman" panose="02020603050405020304" pitchFamily="18" charset="0"/>
                </a:rPr>
                <a:t>等特性。</a:t>
              </a:r>
              <a:endParaRPr lang="en-US" altLang="zh-CN" sz="1600" b="1"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342900">
                <a:buFont typeface="Wingdings" panose="05000000000000000000" pitchFamily="2" charset="2"/>
                <a:buChar char="l"/>
              </a:pPr>
              <a:endParaRPr lang="zh-CN" altLang="zh-CN" sz="1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3" name="文本框 12">
            <a:extLst>
              <a:ext uri="{FF2B5EF4-FFF2-40B4-BE49-F238E27FC236}">
                <a16:creationId xmlns:a16="http://schemas.microsoft.com/office/drawing/2014/main" id="{7BBEB3AE-BC98-4293-85C9-35572103EE47}"/>
              </a:ext>
            </a:extLst>
          </p:cNvPr>
          <p:cNvSpPr txBox="1"/>
          <p:nvPr/>
        </p:nvSpPr>
        <p:spPr>
          <a:xfrm>
            <a:off x="6453265" y="1161663"/>
            <a:ext cx="5624435" cy="879113"/>
          </a:xfrm>
          <a:prstGeom prst="rect">
            <a:avLst/>
          </a:prstGeom>
          <a:noFill/>
          <a:ln w="25400" cmpd="sng">
            <a:solidFill>
              <a:srgbClr val="003366"/>
            </a:solidFill>
            <a:headEnd/>
            <a:tailEnd/>
          </a:ln>
          <a:effectLst/>
        </p:spPr>
        <p:style>
          <a:lnRef idx="2">
            <a:schemeClr val="accent5">
              <a:shade val="50000"/>
            </a:schemeClr>
          </a:lnRef>
          <a:fillRef idx="1">
            <a:schemeClr val="accent5"/>
          </a:fillRef>
          <a:effectRef idx="0">
            <a:schemeClr val="accent5"/>
          </a:effectRef>
          <a:fontRef idx="minor">
            <a:schemeClr val="lt1"/>
          </a:fontRef>
        </p:style>
        <p:txBody>
          <a:bodyPr anchor="ctr"/>
          <a:lstStyle>
            <a:defPPr>
              <a:defRPr lang="zh-CN"/>
            </a:defPPr>
            <a:lvl1pPr eaLnBrk="0" hangingPunct="0">
              <a:lnSpc>
                <a:spcPct val="125000"/>
              </a:lnSpc>
              <a:buClr>
                <a:schemeClr val="bg2"/>
              </a:buClr>
              <a:buSzPct val="75000"/>
              <a:defRPr sz="1600" b="1">
                <a:solidFill>
                  <a:srgbClr val="FF0000"/>
                </a:solidFill>
                <a:latin typeface="微软雅黑" panose="020B0503020204020204" pitchFamily="34" charset="-122"/>
                <a:ea typeface="微软雅黑" panose="020B0503020204020204" pitchFamily="34" charset="-122"/>
              </a:defRPr>
            </a:lvl1pPr>
            <a:lvl2pPr marL="0" lvl="1" fontAlgn="base">
              <a:spcBef>
                <a:spcPct val="0"/>
              </a:spcBef>
              <a:spcAft>
                <a:spcPct val="0"/>
              </a:spcAft>
              <a:defRPr b="1">
                <a:solidFill>
                  <a:srgbClr val="4D4D4D">
                    <a:lumMod val="50000"/>
                  </a:srgbClr>
                </a:solidFill>
                <a:latin typeface="微软雅黑" panose="020B0503020204020204" pitchFamily="34" charset="-122"/>
                <a:ea typeface="微软雅黑" panose="020B0503020204020204" pitchFamily="34"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0" fontAlgn="auto" latinLnBrk="0" hangingPunct="0">
              <a:lnSpc>
                <a:spcPct val="125000"/>
              </a:lnSpc>
              <a:spcBef>
                <a:spcPts val="0"/>
              </a:spcBef>
              <a:spcAft>
                <a:spcPts val="0"/>
              </a:spcAft>
              <a:buClr>
                <a:srgbClr val="EEECE1"/>
              </a:buClr>
              <a:buSzPct val="75000"/>
              <a:buFontTx/>
              <a:buNone/>
              <a:tabLst/>
              <a:defRPr/>
            </a:pPr>
            <a:r>
              <a:rPr kumimoji="0" lang="en-US" altLang="zh-CN" sz="2200" b="1" i="0" u="none" strike="noStrike" kern="1200" cap="none" spc="0" normalizeH="0" baseline="0" noProof="0" dirty="0">
                <a:ln>
                  <a:noFill/>
                </a:ln>
                <a:solidFill>
                  <a:srgbClr val="4D4D4D">
                    <a:lumMod val="50000"/>
                  </a:srgbClr>
                </a:solidFill>
                <a:effectLst/>
                <a:uLnTx/>
                <a:uFillTx/>
                <a:latin typeface="微软雅黑" panose="020B0503020204020204" pitchFamily="34" charset="-122"/>
                <a:ea typeface="微软雅黑" panose="020B0503020204020204" pitchFamily="34" charset="-122"/>
                <a:cs typeface="+mn-cs"/>
              </a:rPr>
              <a:t>Rust</a:t>
            </a:r>
            <a:r>
              <a:rPr kumimoji="0" lang="zh-CN" altLang="en-US" sz="2200" b="1" i="0" u="none" strike="noStrike" kern="1200" cap="none" spc="0" normalizeH="0" baseline="0" noProof="0" dirty="0">
                <a:ln>
                  <a:noFill/>
                </a:ln>
                <a:solidFill>
                  <a:srgbClr val="4D4D4D">
                    <a:lumMod val="50000"/>
                  </a:srgbClr>
                </a:solidFill>
                <a:effectLst/>
                <a:uLnTx/>
                <a:uFillTx/>
                <a:latin typeface="微软雅黑" panose="020B0503020204020204" pitchFamily="34" charset="-122"/>
                <a:ea typeface="微软雅黑" panose="020B0503020204020204" pitchFamily="34" charset="-122"/>
                <a:cs typeface="+mn-cs"/>
              </a:rPr>
              <a:t>是一门能够安全高效地编写系统级程序的语言，在内存安全方面具有显著优势。</a:t>
            </a:r>
            <a:endParaRPr kumimoji="0" lang="en-US" altLang="zh-CN" sz="2200" b="1" i="0" u="none" strike="noStrike" kern="1200" cap="none" spc="0" normalizeH="0" baseline="0" noProof="1">
              <a:ln>
                <a:noFill/>
              </a:ln>
              <a:solidFill>
                <a:srgbClr val="4D4D4D">
                  <a:lumMod val="50000"/>
                </a:srgbClr>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4" name="矩形 13">
            <a:extLst>
              <a:ext uri="{FF2B5EF4-FFF2-40B4-BE49-F238E27FC236}">
                <a16:creationId xmlns:a16="http://schemas.microsoft.com/office/drawing/2014/main" id="{02CBC9B6-1693-421D-8875-1CDBF680AB9E}"/>
              </a:ext>
            </a:extLst>
          </p:cNvPr>
          <p:cNvSpPr/>
          <p:nvPr/>
        </p:nvSpPr>
        <p:spPr>
          <a:xfrm>
            <a:off x="7389586" y="2263237"/>
            <a:ext cx="4688114" cy="963168"/>
          </a:xfrm>
          <a:prstGeom prst="rect">
            <a:avLst/>
          </a:prstGeom>
          <a:solidFill>
            <a:srgbClr val="003366"/>
          </a:solidFill>
          <a:ln>
            <a:solidFill>
              <a:srgbClr val="003366"/>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知名问答平台</a:t>
            </a:r>
            <a:r>
              <a:rPr lang="en-US" altLang="zh-CN" sz="1600" b="1" dirty="0" err="1">
                <a:solidFill>
                  <a:schemeClr val="bg1"/>
                </a:solidFill>
                <a:latin typeface="微软雅黑" panose="020B0503020204020204" pitchFamily="34" charset="-122"/>
                <a:ea typeface="微软雅黑" panose="020B0503020204020204" pitchFamily="34" charset="-122"/>
              </a:rPr>
              <a:t>StackOverflow</a:t>
            </a:r>
            <a:r>
              <a:rPr lang="zh-CN" altLang="zh-CN" sz="1600" b="1" dirty="0">
                <a:solidFill>
                  <a:schemeClr val="bg1"/>
                </a:solidFill>
                <a:latin typeface="微软雅黑" panose="020B0503020204020204" pitchFamily="34" charset="-122"/>
                <a:ea typeface="微软雅黑" panose="020B0503020204020204" pitchFamily="34" charset="-122"/>
              </a:rPr>
              <a:t>的调查表明</a:t>
            </a: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zh-CN" sz="1600" b="1" dirty="0">
                <a:solidFill>
                  <a:schemeClr val="bg1"/>
                </a:solidFill>
                <a:latin typeface="微软雅黑" panose="020B0503020204020204" pitchFamily="34" charset="-122"/>
                <a:ea typeface="微软雅黑" panose="020B0503020204020204" pitchFamily="34" charset="-122"/>
              </a:rPr>
              <a:t>自</a:t>
            </a:r>
            <a:r>
              <a:rPr lang="en-US" altLang="zh-CN" sz="1600" b="1" dirty="0">
                <a:solidFill>
                  <a:schemeClr val="bg1"/>
                </a:solidFill>
                <a:latin typeface="微软雅黑" panose="020B0503020204020204" pitchFamily="34" charset="-122"/>
                <a:ea typeface="微软雅黑" panose="020B0503020204020204" pitchFamily="34" charset="-122"/>
              </a:rPr>
              <a:t>2015</a:t>
            </a:r>
            <a:r>
              <a:rPr lang="zh-CN" altLang="zh-CN" sz="1600" b="1" dirty="0">
                <a:solidFill>
                  <a:schemeClr val="bg1"/>
                </a:solidFill>
                <a:latin typeface="微软雅黑" panose="020B0503020204020204" pitchFamily="34" charset="-122"/>
                <a:ea typeface="微软雅黑" panose="020B0503020204020204" pitchFamily="34" charset="-122"/>
              </a:rPr>
              <a:t>年以来，</a:t>
            </a:r>
            <a:r>
              <a:rPr lang="en-US" altLang="zh-CN" sz="1600" b="1" dirty="0">
                <a:solidFill>
                  <a:schemeClr val="bg1"/>
                </a:solidFill>
                <a:latin typeface="微软雅黑" panose="020B0503020204020204" pitchFamily="34" charset="-122"/>
                <a:ea typeface="微软雅黑" panose="020B0503020204020204" pitchFamily="34" charset="-122"/>
              </a:rPr>
              <a:t>Rust</a:t>
            </a:r>
            <a:r>
              <a:rPr lang="zh-CN" altLang="zh-CN" sz="1600" b="1" dirty="0">
                <a:solidFill>
                  <a:schemeClr val="bg1"/>
                </a:solidFill>
                <a:latin typeface="微软雅黑" panose="020B0503020204020204" pitchFamily="34" charset="-122"/>
                <a:ea typeface="微软雅黑" panose="020B0503020204020204" pitchFamily="34" charset="-122"/>
              </a:rPr>
              <a:t>一直是开发者最爱的编程语言</a:t>
            </a:r>
            <a:r>
              <a:rPr lang="zh-CN" altLang="en-US" sz="1600" b="1" dirty="0">
                <a:solidFill>
                  <a:schemeClr val="bg1"/>
                </a:solidFill>
                <a:latin typeface="微软雅黑" panose="020B0503020204020204" pitchFamily="34" charset="-122"/>
                <a:ea typeface="微软雅黑" panose="020B0503020204020204" pitchFamily="34" charset="-122"/>
              </a:rPr>
              <a:t>。</a:t>
            </a:r>
          </a:p>
        </p:txBody>
      </p:sp>
      <p:pic>
        <p:nvPicPr>
          <p:cNvPr id="15" name="Picture 2" descr="Stack Overflow (@StackOverflow) / X">
            <a:extLst>
              <a:ext uri="{FF2B5EF4-FFF2-40B4-BE49-F238E27FC236}">
                <a16:creationId xmlns:a16="http://schemas.microsoft.com/office/drawing/2014/main" id="{238F9C14-6F73-4933-B3F5-19AF687788C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0502" t="15945" r="18958" b="16519"/>
          <a:stretch/>
        </p:blipFill>
        <p:spPr bwMode="auto">
          <a:xfrm>
            <a:off x="6175049" y="2263237"/>
            <a:ext cx="863398" cy="963168"/>
          </a:xfrm>
          <a:prstGeom prst="rect">
            <a:avLst/>
          </a:prstGeom>
          <a:noFill/>
          <a:extLst>
            <a:ext uri="{909E8E84-426E-40DD-AFC4-6F175D3DCCD1}">
              <a14:hiddenFill xmlns:a14="http://schemas.microsoft.com/office/drawing/2010/main">
                <a:solidFill>
                  <a:srgbClr val="FFFFFF"/>
                </a:solidFill>
              </a14:hiddenFill>
            </a:ext>
          </a:extLst>
        </p:spPr>
      </p:pic>
      <p:sp>
        <p:nvSpPr>
          <p:cNvPr id="16" name="矩形: 圆角 15">
            <a:extLst>
              <a:ext uri="{FF2B5EF4-FFF2-40B4-BE49-F238E27FC236}">
                <a16:creationId xmlns:a16="http://schemas.microsoft.com/office/drawing/2014/main" id="{11B5DA1F-96AB-4D24-8011-AE25FAF76677}"/>
              </a:ext>
            </a:extLst>
          </p:cNvPr>
          <p:cNvSpPr/>
          <p:nvPr/>
        </p:nvSpPr>
        <p:spPr>
          <a:xfrm>
            <a:off x="2163792" y="3500186"/>
            <a:ext cx="3739570" cy="611340"/>
          </a:xfrm>
          <a:prstGeom prst="roundRect">
            <a:avLst/>
          </a:prstGeom>
          <a:solidFill>
            <a:srgbClr val="E7E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17" name="矩形: 圆角 16">
            <a:extLst>
              <a:ext uri="{FF2B5EF4-FFF2-40B4-BE49-F238E27FC236}">
                <a16:creationId xmlns:a16="http://schemas.microsoft.com/office/drawing/2014/main" id="{B1996075-65EC-4F54-AFD6-A4EC88557402}"/>
              </a:ext>
            </a:extLst>
          </p:cNvPr>
          <p:cNvSpPr/>
          <p:nvPr/>
        </p:nvSpPr>
        <p:spPr>
          <a:xfrm>
            <a:off x="2172024" y="2663756"/>
            <a:ext cx="3739570" cy="612367"/>
          </a:xfrm>
          <a:prstGeom prst="roundRect">
            <a:avLst/>
          </a:prstGeom>
          <a:solidFill>
            <a:srgbClr val="E7E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18" name="矩形: 圆角 17">
            <a:extLst>
              <a:ext uri="{FF2B5EF4-FFF2-40B4-BE49-F238E27FC236}">
                <a16:creationId xmlns:a16="http://schemas.microsoft.com/office/drawing/2014/main" id="{90EBBD6A-F53C-48E1-92EA-177CB4BD65CF}"/>
              </a:ext>
            </a:extLst>
          </p:cNvPr>
          <p:cNvSpPr/>
          <p:nvPr/>
        </p:nvSpPr>
        <p:spPr>
          <a:xfrm>
            <a:off x="2172024" y="1836015"/>
            <a:ext cx="3739571" cy="600165"/>
          </a:xfrm>
          <a:prstGeom prst="roundRect">
            <a:avLst/>
          </a:prstGeom>
          <a:solidFill>
            <a:srgbClr val="E7E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Times New Roman"/>
              <a:ea typeface="黑体"/>
              <a:cs typeface="+mn-cs"/>
            </a:endParaRPr>
          </a:p>
        </p:txBody>
      </p:sp>
      <p:cxnSp>
        <p:nvCxnSpPr>
          <p:cNvPr id="19" name="连接符: 肘形 18">
            <a:extLst>
              <a:ext uri="{FF2B5EF4-FFF2-40B4-BE49-F238E27FC236}">
                <a16:creationId xmlns:a16="http://schemas.microsoft.com/office/drawing/2014/main" id="{4E7D4B83-64EC-4D28-9F9F-F458E8088624}"/>
              </a:ext>
            </a:extLst>
          </p:cNvPr>
          <p:cNvCxnSpPr>
            <a:cxnSpLocks/>
            <a:stCxn id="21" idx="3"/>
            <a:endCxn id="23" idx="1"/>
          </p:cNvCxnSpPr>
          <p:nvPr/>
        </p:nvCxnSpPr>
        <p:spPr>
          <a:xfrm>
            <a:off x="1453073" y="2966316"/>
            <a:ext cx="725008" cy="2494"/>
          </a:xfrm>
          <a:prstGeom prst="bentConnector3">
            <a:avLst>
              <a:gd name="adj1" fmla="val 50000"/>
            </a:avLst>
          </a:prstGeom>
          <a:ln w="19050"/>
        </p:spPr>
        <p:style>
          <a:lnRef idx="1">
            <a:schemeClr val="accent2"/>
          </a:lnRef>
          <a:fillRef idx="0">
            <a:schemeClr val="accent2"/>
          </a:fillRef>
          <a:effectRef idx="0">
            <a:schemeClr val="accent2"/>
          </a:effectRef>
          <a:fontRef idx="minor">
            <a:schemeClr val="tx1"/>
          </a:fontRef>
        </p:style>
      </p:cxnSp>
      <p:cxnSp>
        <p:nvCxnSpPr>
          <p:cNvPr id="20" name="连接符: 肘形 19">
            <a:extLst>
              <a:ext uri="{FF2B5EF4-FFF2-40B4-BE49-F238E27FC236}">
                <a16:creationId xmlns:a16="http://schemas.microsoft.com/office/drawing/2014/main" id="{2C26FCEB-E6B3-43BA-BE24-D4CECC1C1046}"/>
              </a:ext>
            </a:extLst>
          </p:cNvPr>
          <p:cNvCxnSpPr>
            <a:cxnSpLocks/>
            <a:stCxn id="21" idx="3"/>
            <a:endCxn id="22" idx="1"/>
          </p:cNvCxnSpPr>
          <p:nvPr/>
        </p:nvCxnSpPr>
        <p:spPr>
          <a:xfrm flipV="1">
            <a:off x="1453073" y="2123221"/>
            <a:ext cx="725012" cy="843095"/>
          </a:xfrm>
          <a:prstGeom prst="bentConnector3">
            <a:avLst>
              <a:gd name="adj1" fmla="val 50000"/>
            </a:avLst>
          </a:prstGeom>
          <a:ln w="19050"/>
        </p:spPr>
        <p:style>
          <a:lnRef idx="1">
            <a:schemeClr val="accent2"/>
          </a:lnRef>
          <a:fillRef idx="0">
            <a:schemeClr val="accent2"/>
          </a:fillRef>
          <a:effectRef idx="0">
            <a:schemeClr val="accent2"/>
          </a:effectRef>
          <a:fontRef idx="minor">
            <a:schemeClr val="tx1"/>
          </a:fontRef>
        </p:style>
      </p:cxnSp>
      <p:sp>
        <p:nvSpPr>
          <p:cNvPr id="21" name="矩形: 圆角 20">
            <a:extLst>
              <a:ext uri="{FF2B5EF4-FFF2-40B4-BE49-F238E27FC236}">
                <a16:creationId xmlns:a16="http://schemas.microsoft.com/office/drawing/2014/main" id="{424461E7-73C2-45EE-BD2C-5E9A2234BE00}"/>
              </a:ext>
            </a:extLst>
          </p:cNvPr>
          <p:cNvSpPr/>
          <p:nvPr/>
        </p:nvSpPr>
        <p:spPr>
          <a:xfrm>
            <a:off x="214832" y="2666233"/>
            <a:ext cx="1238241" cy="600165"/>
          </a:xfrm>
          <a:prstGeom prst="roundRect">
            <a:avLst/>
          </a:prstGeom>
          <a:solidFill>
            <a:srgbClr val="003366"/>
          </a:solidFill>
          <a:ln>
            <a:solidFill>
              <a:srgbClr val="0033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kumimoji="0" lang="en-US" altLang="zh-CN" sz="1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Rust</a:t>
            </a:r>
            <a:endParaRPr kumimoji="0" lang="zh-CN" altLang="en-US" sz="1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2" name="矩形: 圆角 21">
            <a:extLst>
              <a:ext uri="{FF2B5EF4-FFF2-40B4-BE49-F238E27FC236}">
                <a16:creationId xmlns:a16="http://schemas.microsoft.com/office/drawing/2014/main" id="{0532D206-3765-4910-A143-A685BEE6ADC1}"/>
              </a:ext>
            </a:extLst>
          </p:cNvPr>
          <p:cNvSpPr/>
          <p:nvPr/>
        </p:nvSpPr>
        <p:spPr>
          <a:xfrm>
            <a:off x="2178085" y="1836856"/>
            <a:ext cx="1264631" cy="572729"/>
          </a:xfrm>
          <a:prstGeom prst="roundRect">
            <a:avLst/>
          </a:prstGeom>
          <a:solidFill>
            <a:srgbClr val="D17F7D"/>
          </a:solidFill>
          <a:ln>
            <a:solidFill>
              <a:srgbClr val="9537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zh-CN" dirty="0">
                <a:solidFill>
                  <a:prstClr val="white"/>
                </a:solidFill>
                <a:latin typeface="微软雅黑" panose="020B0503020204020204" pitchFamily="34" charset="-122"/>
                <a:ea typeface="微软雅黑" panose="020B0503020204020204" pitchFamily="34" charset="-122"/>
              </a:rPr>
              <a:t>性能</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23" name="矩形: 圆角 22">
            <a:extLst>
              <a:ext uri="{FF2B5EF4-FFF2-40B4-BE49-F238E27FC236}">
                <a16:creationId xmlns:a16="http://schemas.microsoft.com/office/drawing/2014/main" id="{97B7FD6D-8100-425B-8875-ECF630D276BF}"/>
              </a:ext>
            </a:extLst>
          </p:cNvPr>
          <p:cNvSpPr/>
          <p:nvPr/>
        </p:nvSpPr>
        <p:spPr>
          <a:xfrm>
            <a:off x="2178081" y="2668727"/>
            <a:ext cx="1264634" cy="600165"/>
          </a:xfrm>
          <a:prstGeom prst="roundRect">
            <a:avLst/>
          </a:prstGeom>
          <a:solidFill>
            <a:srgbClr val="D17F7D"/>
          </a:solidFill>
          <a:ln>
            <a:solidFill>
              <a:srgbClr val="9537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可靠性</a:t>
            </a:r>
          </a:p>
        </p:txBody>
      </p:sp>
      <p:sp>
        <p:nvSpPr>
          <p:cNvPr id="24" name="矩形: 圆角 23">
            <a:extLst>
              <a:ext uri="{FF2B5EF4-FFF2-40B4-BE49-F238E27FC236}">
                <a16:creationId xmlns:a16="http://schemas.microsoft.com/office/drawing/2014/main" id="{89F68931-DEB4-4940-AE1D-2208C51E9BC5}"/>
              </a:ext>
            </a:extLst>
          </p:cNvPr>
          <p:cNvSpPr/>
          <p:nvPr/>
        </p:nvSpPr>
        <p:spPr>
          <a:xfrm>
            <a:off x="2169848" y="3503654"/>
            <a:ext cx="1272868" cy="600164"/>
          </a:xfrm>
          <a:prstGeom prst="roundRect">
            <a:avLst/>
          </a:prstGeom>
          <a:solidFill>
            <a:srgbClr val="D17F7D"/>
          </a:solidFill>
          <a:ln>
            <a:solidFill>
              <a:srgbClr val="9537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生态性</a:t>
            </a:r>
          </a:p>
        </p:txBody>
      </p:sp>
      <p:cxnSp>
        <p:nvCxnSpPr>
          <p:cNvPr id="25" name="连接符: 肘形 24">
            <a:extLst>
              <a:ext uri="{FF2B5EF4-FFF2-40B4-BE49-F238E27FC236}">
                <a16:creationId xmlns:a16="http://schemas.microsoft.com/office/drawing/2014/main" id="{138EAFC2-2886-4A22-9C93-F89013EFA226}"/>
              </a:ext>
            </a:extLst>
          </p:cNvPr>
          <p:cNvCxnSpPr>
            <a:cxnSpLocks/>
            <a:stCxn id="21" idx="3"/>
            <a:endCxn id="24" idx="1"/>
          </p:cNvCxnSpPr>
          <p:nvPr/>
        </p:nvCxnSpPr>
        <p:spPr>
          <a:xfrm>
            <a:off x="1453073" y="2966316"/>
            <a:ext cx="716775" cy="837420"/>
          </a:xfrm>
          <a:prstGeom prst="bentConnector3">
            <a:avLst>
              <a:gd name="adj1" fmla="val 50000"/>
            </a:avLst>
          </a:prstGeom>
          <a:ln w="19050"/>
        </p:spPr>
        <p:style>
          <a:lnRef idx="1">
            <a:schemeClr val="accent2"/>
          </a:lnRef>
          <a:fillRef idx="0">
            <a:schemeClr val="accent2"/>
          </a:fillRef>
          <a:effectRef idx="0">
            <a:schemeClr val="accent2"/>
          </a:effectRef>
          <a:fontRef idx="minor">
            <a:schemeClr val="tx1"/>
          </a:fontRef>
        </p:style>
      </p:cxnSp>
      <p:sp>
        <p:nvSpPr>
          <p:cNvPr id="26" name="文本框 25">
            <a:extLst>
              <a:ext uri="{FF2B5EF4-FFF2-40B4-BE49-F238E27FC236}">
                <a16:creationId xmlns:a16="http://schemas.microsoft.com/office/drawing/2014/main" id="{EDCEED09-05C5-4CE8-9BC8-99403B7B16F2}"/>
              </a:ext>
            </a:extLst>
          </p:cNvPr>
          <p:cNvSpPr txBox="1"/>
          <p:nvPr/>
        </p:nvSpPr>
        <p:spPr>
          <a:xfrm>
            <a:off x="3485389" y="1842030"/>
            <a:ext cx="2426206" cy="6001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Rust</a:t>
            </a: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速度极快，性能比肩</a:t>
            </a:r>
            <a:r>
              <a:rPr kumimoji="0" lang="en-US" altLang="zh-CN"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a:t>
            </a: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语言，内存效率极高，无需运行时或垃圾收集器，可以为性能关键型服务提供支持。</a:t>
            </a:r>
          </a:p>
        </p:txBody>
      </p:sp>
      <p:sp>
        <p:nvSpPr>
          <p:cNvPr id="27" name="文本框 26">
            <a:extLst>
              <a:ext uri="{FF2B5EF4-FFF2-40B4-BE49-F238E27FC236}">
                <a16:creationId xmlns:a16="http://schemas.microsoft.com/office/drawing/2014/main" id="{2F403A5A-0F4E-4E5D-8B94-C9BCF6422E45}"/>
              </a:ext>
            </a:extLst>
          </p:cNvPr>
          <p:cNvSpPr txBox="1"/>
          <p:nvPr/>
        </p:nvSpPr>
        <p:spPr>
          <a:xfrm>
            <a:off x="3485387" y="2675959"/>
            <a:ext cx="2499359" cy="6001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dirty="0">
                <a:solidFill>
                  <a:prstClr val="black"/>
                </a:solidFill>
                <a:latin typeface="微软雅黑" panose="020B0503020204020204" pitchFamily="34" charset="-122"/>
                <a:ea typeface="微软雅黑" panose="020B0503020204020204" pitchFamily="34" charset="-122"/>
              </a:rPr>
              <a:t>Rust</a:t>
            </a:r>
            <a:r>
              <a:rPr lang="zh-CN" altLang="en-US" sz="1100" dirty="0">
                <a:solidFill>
                  <a:prstClr val="black"/>
                </a:solidFill>
                <a:latin typeface="微软雅黑" panose="020B0503020204020204" pitchFamily="34" charset="-122"/>
                <a:ea typeface="微软雅黑" panose="020B0503020204020204" pitchFamily="34" charset="-122"/>
              </a:rPr>
              <a:t>丰富的类型系统和所有权模型保证了内存安全和线程安全，使编程人员能够在编译时消除许多类别的错误。</a:t>
            </a:r>
            <a:endPar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8" name="文本框 27">
            <a:extLst>
              <a:ext uri="{FF2B5EF4-FFF2-40B4-BE49-F238E27FC236}">
                <a16:creationId xmlns:a16="http://schemas.microsoft.com/office/drawing/2014/main" id="{10ABF390-2F87-4F37-93E9-88392A9701E2}"/>
              </a:ext>
            </a:extLst>
          </p:cNvPr>
          <p:cNvSpPr txBox="1"/>
          <p:nvPr/>
        </p:nvSpPr>
        <p:spPr>
          <a:xfrm>
            <a:off x="3485386" y="3534120"/>
            <a:ext cx="2426207" cy="6001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Rust</a:t>
            </a:r>
            <a:r>
              <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拥有出色的文档、带有有用错误消息的友好编译器、集成的包管理器和构建工具、自动格式化程序等。</a:t>
            </a:r>
          </a:p>
        </p:txBody>
      </p:sp>
      <p:pic>
        <p:nvPicPr>
          <p:cNvPr id="29" name="图片 28">
            <a:extLst>
              <a:ext uri="{FF2B5EF4-FFF2-40B4-BE49-F238E27FC236}">
                <a16:creationId xmlns:a16="http://schemas.microsoft.com/office/drawing/2014/main" id="{290975FB-703A-47FE-AF87-4E629E198AB9}"/>
              </a:ext>
            </a:extLst>
          </p:cNvPr>
          <p:cNvPicPr>
            <a:picLocks noChangeAspect="1"/>
          </p:cNvPicPr>
          <p:nvPr/>
        </p:nvPicPr>
        <p:blipFill>
          <a:blip r:embed="rId3"/>
          <a:stretch>
            <a:fillRect/>
          </a:stretch>
        </p:blipFill>
        <p:spPr>
          <a:xfrm>
            <a:off x="6016551" y="3815296"/>
            <a:ext cx="1386960" cy="396274"/>
          </a:xfrm>
          <a:prstGeom prst="rect">
            <a:avLst/>
          </a:prstGeom>
        </p:spPr>
      </p:pic>
      <p:sp>
        <p:nvSpPr>
          <p:cNvPr id="30" name="矩形 29">
            <a:extLst>
              <a:ext uri="{FF2B5EF4-FFF2-40B4-BE49-F238E27FC236}">
                <a16:creationId xmlns:a16="http://schemas.microsoft.com/office/drawing/2014/main" id="{6D8AB824-9130-484B-A411-DAA7A2583F20}"/>
              </a:ext>
            </a:extLst>
          </p:cNvPr>
          <p:cNvSpPr/>
          <p:nvPr/>
        </p:nvSpPr>
        <p:spPr>
          <a:xfrm>
            <a:off x="7389586" y="3494703"/>
            <a:ext cx="4688114" cy="963168"/>
          </a:xfrm>
          <a:prstGeom prst="rect">
            <a:avLst/>
          </a:prstGeom>
          <a:solidFill>
            <a:schemeClr val="dk1">
              <a:alpha val="50000"/>
            </a:schemeClr>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《Nature》</a:t>
            </a:r>
            <a:r>
              <a:rPr lang="zh-CN" altLang="en-US" sz="1600" b="1" dirty="0">
                <a:solidFill>
                  <a:schemeClr val="bg1"/>
                </a:solidFill>
                <a:latin typeface="微软雅黑" panose="020B0503020204020204" pitchFamily="34" charset="-122"/>
                <a:ea typeface="微软雅黑" panose="020B0503020204020204" pitchFamily="34" charset="-122"/>
              </a:rPr>
              <a:t>杂志</a:t>
            </a:r>
            <a:r>
              <a:rPr lang="en-US" altLang="zh-CN" sz="1600" b="1" dirty="0">
                <a:solidFill>
                  <a:schemeClr val="bg1"/>
                </a:solidFill>
                <a:latin typeface="微软雅黑" panose="020B0503020204020204" pitchFamily="34" charset="-122"/>
                <a:ea typeface="微软雅黑" panose="020B0503020204020204" pitchFamily="34" charset="-122"/>
              </a:rPr>
              <a:t>2020</a:t>
            </a:r>
            <a:r>
              <a:rPr lang="zh-CN" altLang="en-US" sz="1600" b="1" dirty="0">
                <a:solidFill>
                  <a:schemeClr val="bg1"/>
                </a:solidFill>
                <a:latin typeface="微软雅黑" panose="020B0503020204020204" pitchFamily="34" charset="-122"/>
                <a:ea typeface="微软雅黑" panose="020B0503020204020204" pitchFamily="34" charset="-122"/>
              </a:rPr>
              <a:t>年尾的文章</a:t>
            </a:r>
            <a:r>
              <a:rPr lang="en-US" altLang="zh-CN" sz="1600" b="1" dirty="0">
                <a:solidFill>
                  <a:schemeClr val="bg1"/>
                </a:solidFill>
                <a:latin typeface="微软雅黑" panose="020B0503020204020204" pitchFamily="34" charset="-122"/>
                <a:ea typeface="微软雅黑" panose="020B0503020204020204" pitchFamily="34" charset="-122"/>
              </a:rPr>
              <a:t>《Why Scientists are Turning to Rust》</a:t>
            </a:r>
            <a:r>
              <a:rPr lang="zh-CN" altLang="en-US" sz="1600" b="1" dirty="0">
                <a:solidFill>
                  <a:schemeClr val="bg1"/>
                </a:solidFill>
                <a:latin typeface="微软雅黑" panose="020B0503020204020204" pitchFamily="34" charset="-122"/>
                <a:ea typeface="微软雅黑" panose="020B0503020204020204" pitchFamily="34" charset="-122"/>
              </a:rPr>
              <a:t>中也强调：</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1600" b="1" dirty="0">
                <a:solidFill>
                  <a:schemeClr val="bg1"/>
                </a:solidFill>
                <a:latin typeface="微软雅黑" panose="020B0503020204020204" pitchFamily="34" charset="-122"/>
                <a:ea typeface="微软雅黑" panose="020B0503020204020204" pitchFamily="34" charset="-122"/>
              </a:rPr>
              <a:t>科学家极为推崇</a:t>
            </a:r>
            <a:r>
              <a:rPr lang="en-US" altLang="zh-CN" sz="1600" b="1" dirty="0">
                <a:solidFill>
                  <a:schemeClr val="bg1"/>
                </a:solidFill>
                <a:latin typeface="微软雅黑" panose="020B0503020204020204" pitchFamily="34" charset="-122"/>
                <a:ea typeface="微软雅黑" panose="020B0503020204020204" pitchFamily="34" charset="-122"/>
              </a:rPr>
              <a:t>Rust</a:t>
            </a:r>
            <a:r>
              <a:rPr lang="zh-CN" altLang="en-US" sz="1600" b="1" dirty="0">
                <a:solidFill>
                  <a:schemeClr val="bg1"/>
                </a:solidFill>
                <a:latin typeface="微软雅黑" panose="020B0503020204020204" pitchFamily="34" charset="-122"/>
                <a:ea typeface="微软雅黑" panose="020B0503020204020204" pitchFamily="34" charset="-122"/>
              </a:rPr>
              <a:t>。</a:t>
            </a:r>
          </a:p>
        </p:txBody>
      </p:sp>
      <p:pic>
        <p:nvPicPr>
          <p:cNvPr id="31" name="图片 30">
            <a:extLst>
              <a:ext uri="{FF2B5EF4-FFF2-40B4-BE49-F238E27FC236}">
                <a16:creationId xmlns:a16="http://schemas.microsoft.com/office/drawing/2014/main" id="{1B3CB4F9-86D4-475C-BD2C-3BF003C4014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3309" y="985742"/>
            <a:ext cx="2582973" cy="565192"/>
          </a:xfrm>
          <a:prstGeom prst="rect">
            <a:avLst/>
          </a:prstGeom>
        </p:spPr>
      </p:pic>
      <p:sp>
        <p:nvSpPr>
          <p:cNvPr id="32" name="文本框 31">
            <a:extLst>
              <a:ext uri="{FF2B5EF4-FFF2-40B4-BE49-F238E27FC236}">
                <a16:creationId xmlns:a16="http://schemas.microsoft.com/office/drawing/2014/main" id="{603B28A4-2714-4629-8D21-D9849C9A0DE2}"/>
              </a:ext>
            </a:extLst>
          </p:cNvPr>
          <p:cNvSpPr txBox="1"/>
          <p:nvPr/>
        </p:nvSpPr>
        <p:spPr>
          <a:xfrm>
            <a:off x="69038" y="4697747"/>
            <a:ext cx="1872801" cy="2044429"/>
          </a:xfrm>
          <a:prstGeom prst="rect">
            <a:avLst/>
          </a:prstGeom>
          <a:solidFill>
            <a:schemeClr val="bg1"/>
          </a:solidFill>
          <a:ln w="25400" cmpd="sng">
            <a:solidFill>
              <a:srgbClr val="953735"/>
            </a:solidFill>
            <a:headEnd/>
            <a:tailEnd/>
          </a:ln>
          <a:effectLst/>
        </p:spPr>
        <p:style>
          <a:lnRef idx="2">
            <a:schemeClr val="accent5">
              <a:shade val="50000"/>
            </a:schemeClr>
          </a:lnRef>
          <a:fillRef idx="1">
            <a:schemeClr val="accent5"/>
          </a:fillRef>
          <a:effectRef idx="0">
            <a:schemeClr val="accent5"/>
          </a:effectRef>
          <a:fontRef idx="minor">
            <a:schemeClr val="lt1"/>
          </a:fontRef>
        </p:style>
        <p:txBody>
          <a:bodyPr anchor="ctr"/>
          <a:lstStyle>
            <a:defPPr>
              <a:defRPr lang="zh-CN"/>
            </a:defPPr>
            <a:lvl1pPr eaLnBrk="0" hangingPunct="0">
              <a:lnSpc>
                <a:spcPct val="125000"/>
              </a:lnSpc>
              <a:buClr>
                <a:schemeClr val="bg2"/>
              </a:buClr>
              <a:buSzPct val="75000"/>
              <a:defRPr sz="1600" b="1">
                <a:solidFill>
                  <a:srgbClr val="FF0000"/>
                </a:solidFill>
                <a:latin typeface="微软雅黑" panose="020B0503020204020204" pitchFamily="34" charset="-122"/>
                <a:ea typeface="微软雅黑" panose="020B0503020204020204" pitchFamily="34" charset="-122"/>
              </a:defRPr>
            </a:lvl1pPr>
            <a:lvl2pPr marL="0" lvl="1" fontAlgn="base">
              <a:spcBef>
                <a:spcPct val="0"/>
              </a:spcBef>
              <a:spcAft>
                <a:spcPct val="0"/>
              </a:spcAft>
              <a:defRPr b="1">
                <a:solidFill>
                  <a:srgbClr val="4D4D4D">
                    <a:lumMod val="50000"/>
                  </a:srgbClr>
                </a:solidFill>
                <a:latin typeface="微软雅黑" panose="020B0503020204020204" pitchFamily="34" charset="-122"/>
                <a:ea typeface="微软雅黑" panose="020B0503020204020204" pitchFamily="34"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0" fontAlgn="auto" latinLnBrk="0" hangingPunct="0">
              <a:lnSpc>
                <a:spcPct val="125000"/>
              </a:lnSpc>
              <a:spcBef>
                <a:spcPts val="0"/>
              </a:spcBef>
              <a:spcAft>
                <a:spcPts val="0"/>
              </a:spcAft>
              <a:buClr>
                <a:srgbClr val="EEECE1"/>
              </a:buClr>
              <a:buSzPct val="75000"/>
              <a:buFontTx/>
              <a:buNone/>
              <a:tabLst/>
              <a:defRPr/>
            </a:pPr>
            <a:r>
              <a:rPr kumimoji="0" lang="zh-CN" altLang="en-US" sz="1800" b="1" i="0" u="none" strike="noStrike" kern="1200" cap="none" spc="0" normalizeH="0" baseline="0" noProof="0" dirty="0">
                <a:ln>
                  <a:noFill/>
                </a:ln>
                <a:solidFill>
                  <a:srgbClr val="4D4D4D">
                    <a:lumMod val="50000"/>
                  </a:srgbClr>
                </a:solidFill>
                <a:effectLst/>
                <a:uLnTx/>
                <a:uFillTx/>
                <a:latin typeface="微软雅黑" panose="020B0503020204020204" pitchFamily="34" charset="-122"/>
                <a:ea typeface="微软雅黑" panose="020B0503020204020204" pitchFamily="34" charset="-122"/>
                <a:cs typeface="+mn-cs"/>
              </a:rPr>
              <a:t>华为是五位</a:t>
            </a:r>
            <a:r>
              <a:rPr kumimoji="0" lang="en-US" altLang="zh-CN" sz="1800" b="1" i="0" u="none" strike="noStrike" kern="1200" cap="none" spc="0" normalizeH="0" baseline="0" noProof="0" dirty="0">
                <a:ln>
                  <a:noFill/>
                </a:ln>
                <a:solidFill>
                  <a:srgbClr val="4D4D4D">
                    <a:lumMod val="50000"/>
                  </a:srgbClr>
                </a:solidFill>
                <a:effectLst/>
                <a:uLnTx/>
                <a:uFillTx/>
                <a:latin typeface="微软雅黑" panose="020B0503020204020204" pitchFamily="34" charset="-122"/>
                <a:ea typeface="微软雅黑" panose="020B0503020204020204" pitchFamily="34" charset="-122"/>
                <a:cs typeface="+mn-cs"/>
              </a:rPr>
              <a:t>Rust</a:t>
            </a:r>
            <a:r>
              <a:rPr kumimoji="0" lang="zh-CN" altLang="en-US" sz="1800" b="1" i="0" u="none" strike="noStrike" kern="1200" cap="none" spc="0" normalizeH="0" baseline="0" noProof="0" dirty="0">
                <a:ln>
                  <a:noFill/>
                </a:ln>
                <a:solidFill>
                  <a:srgbClr val="4D4D4D">
                    <a:lumMod val="50000"/>
                  </a:srgbClr>
                </a:solidFill>
                <a:effectLst/>
                <a:uLnTx/>
                <a:uFillTx/>
                <a:latin typeface="微软雅黑" panose="020B0503020204020204" pitchFamily="34" charset="-122"/>
                <a:ea typeface="微软雅黑" panose="020B0503020204020204" pitchFamily="34" charset="-122"/>
                <a:cs typeface="+mn-cs"/>
              </a:rPr>
              <a:t>基金会创始白金会员成员之一，引领了</a:t>
            </a:r>
            <a:r>
              <a:rPr kumimoji="0" lang="en-US" altLang="zh-CN" sz="1800" b="1" i="0" u="none" strike="noStrike" kern="1200" cap="none" spc="0" normalizeH="0" baseline="0" noProof="0" dirty="0">
                <a:ln>
                  <a:noFill/>
                </a:ln>
                <a:solidFill>
                  <a:srgbClr val="4D4D4D">
                    <a:lumMod val="50000"/>
                  </a:srgbClr>
                </a:solidFill>
                <a:effectLst/>
                <a:uLnTx/>
                <a:uFillTx/>
                <a:latin typeface="微软雅黑" panose="020B0503020204020204" pitchFamily="34" charset="-122"/>
                <a:ea typeface="微软雅黑" panose="020B0503020204020204" pitchFamily="34" charset="-122"/>
                <a:cs typeface="+mn-cs"/>
              </a:rPr>
              <a:t>Rust</a:t>
            </a:r>
            <a:r>
              <a:rPr kumimoji="0" lang="zh-CN" altLang="en-US" sz="1800" b="1" i="0" u="none" strike="noStrike" kern="1200" cap="none" spc="0" normalizeH="0" baseline="0" noProof="0" dirty="0">
                <a:ln>
                  <a:noFill/>
                </a:ln>
                <a:solidFill>
                  <a:srgbClr val="4D4D4D">
                    <a:lumMod val="50000"/>
                  </a:srgbClr>
                </a:solidFill>
                <a:effectLst/>
                <a:uLnTx/>
                <a:uFillTx/>
                <a:latin typeface="微软雅黑" panose="020B0503020204020204" pitchFamily="34" charset="-122"/>
                <a:ea typeface="微软雅黑" panose="020B0503020204020204" pitchFamily="34" charset="-122"/>
                <a:cs typeface="+mn-cs"/>
              </a:rPr>
              <a:t>语言的发展。</a:t>
            </a:r>
            <a:endParaRPr kumimoji="0" lang="en-US" altLang="zh-CN" sz="1800" b="1" i="0" u="none" strike="noStrike" kern="1200" cap="none" spc="0" normalizeH="0" baseline="0" noProof="1">
              <a:ln>
                <a:noFill/>
              </a:ln>
              <a:solidFill>
                <a:srgbClr val="4D4D4D">
                  <a:lumMod val="50000"/>
                </a:srgbClr>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33" name="组合 32">
            <a:extLst>
              <a:ext uri="{FF2B5EF4-FFF2-40B4-BE49-F238E27FC236}">
                <a16:creationId xmlns:a16="http://schemas.microsoft.com/office/drawing/2014/main" id="{3A371A19-8751-4B9D-B478-1D4B851341E3}"/>
              </a:ext>
            </a:extLst>
          </p:cNvPr>
          <p:cNvGrpSpPr/>
          <p:nvPr/>
        </p:nvGrpSpPr>
        <p:grpSpPr>
          <a:xfrm>
            <a:off x="1972320" y="4271198"/>
            <a:ext cx="3978452" cy="3889140"/>
            <a:chOff x="632935" y="2126681"/>
            <a:chExt cx="3780000" cy="3780000"/>
          </a:xfrm>
        </p:grpSpPr>
        <p:sp>
          <p:nvSpPr>
            <p:cNvPr id="34" name="椭圆 33">
              <a:extLst>
                <a:ext uri="{FF2B5EF4-FFF2-40B4-BE49-F238E27FC236}">
                  <a16:creationId xmlns:a16="http://schemas.microsoft.com/office/drawing/2014/main" id="{782A8DE5-BA3E-48A0-AE92-495B3D82996E}"/>
                </a:ext>
              </a:extLst>
            </p:cNvPr>
            <p:cNvSpPr/>
            <p:nvPr/>
          </p:nvSpPr>
          <p:spPr>
            <a:xfrm>
              <a:off x="632935" y="2126681"/>
              <a:ext cx="3780000" cy="3780000"/>
            </a:xfrm>
            <a:prstGeom prst="ellipse">
              <a:avLst/>
            </a:prstGeom>
            <a:solidFill>
              <a:srgbClr val="E7E7E7">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a:ea typeface="黑体"/>
                <a:cs typeface="+mn-cs"/>
              </a:endParaRPr>
            </a:p>
          </p:txBody>
        </p:sp>
        <p:sp>
          <p:nvSpPr>
            <p:cNvPr id="35" name="椭圆 34">
              <a:extLst>
                <a:ext uri="{FF2B5EF4-FFF2-40B4-BE49-F238E27FC236}">
                  <a16:creationId xmlns:a16="http://schemas.microsoft.com/office/drawing/2014/main" id="{D724CB8A-818C-44E6-B46F-6F798BBD2189}"/>
                </a:ext>
              </a:extLst>
            </p:cNvPr>
            <p:cNvSpPr/>
            <p:nvPr/>
          </p:nvSpPr>
          <p:spPr>
            <a:xfrm>
              <a:off x="1516193" y="2320982"/>
              <a:ext cx="468000" cy="468000"/>
            </a:xfrm>
            <a:prstGeom prst="ellipse">
              <a:avLst/>
            </a:prstGeom>
            <a:gradFill flip="none" rotWithShape="1">
              <a:gsLst>
                <a:gs pos="0">
                  <a:schemeClr val="accent2">
                    <a:lumMod val="75000"/>
                    <a:tint val="66000"/>
                    <a:satMod val="160000"/>
                  </a:schemeClr>
                </a:gs>
                <a:gs pos="50000">
                  <a:schemeClr val="accent2">
                    <a:lumMod val="75000"/>
                    <a:tint val="44500"/>
                    <a:satMod val="160000"/>
                  </a:schemeClr>
                </a:gs>
                <a:gs pos="100000">
                  <a:schemeClr val="accent2">
                    <a:lumMod val="75000"/>
                    <a:tint val="23500"/>
                    <a:satMod val="160000"/>
                  </a:schemeClr>
                </a:gs>
              </a:gsLst>
              <a:lin ang="13500000" scaled="1"/>
              <a:tileRect/>
            </a:gradFill>
            <a:ln>
              <a:noFill/>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Times New Roman"/>
                <a:ea typeface="黑体"/>
                <a:cs typeface="+mn-cs"/>
              </a:endParaRPr>
            </a:p>
          </p:txBody>
        </p:sp>
        <p:sp>
          <p:nvSpPr>
            <p:cNvPr id="36" name="文本框 35">
              <a:extLst>
                <a:ext uri="{FF2B5EF4-FFF2-40B4-BE49-F238E27FC236}">
                  <a16:creationId xmlns:a16="http://schemas.microsoft.com/office/drawing/2014/main" id="{70D29358-AF7F-426D-AB9C-085A1CDEA665}"/>
                </a:ext>
              </a:extLst>
            </p:cNvPr>
            <p:cNvSpPr txBox="1"/>
            <p:nvPr/>
          </p:nvSpPr>
          <p:spPr>
            <a:xfrm>
              <a:off x="1921793" y="2351577"/>
              <a:ext cx="1687020" cy="9827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prstClr val="black"/>
                  </a:solidFill>
                  <a:latin typeface="微软雅黑" panose="020B0503020204020204" pitchFamily="34" charset="-122"/>
                  <a:ea typeface="微软雅黑" panose="020B0503020204020204" pitchFamily="34" charset="-122"/>
                </a:rPr>
                <a:t>华为内部使用</a:t>
              </a:r>
              <a:endPar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7" name="文本框 36">
              <a:extLst>
                <a:ext uri="{FF2B5EF4-FFF2-40B4-BE49-F238E27FC236}">
                  <a16:creationId xmlns:a16="http://schemas.microsoft.com/office/drawing/2014/main" id="{708D7C8E-974E-4EE5-A6FB-CF10531C2022}"/>
                </a:ext>
              </a:extLst>
            </p:cNvPr>
            <p:cNvSpPr txBox="1"/>
            <p:nvPr/>
          </p:nvSpPr>
          <p:spPr>
            <a:xfrm>
              <a:off x="938760" y="2823056"/>
              <a:ext cx="2942138" cy="1764923"/>
            </a:xfrm>
            <a:prstGeom prst="rect">
              <a:avLst/>
            </a:prstGeom>
            <a:noFill/>
          </p:spPr>
          <p:txBody>
            <a:bodyPr wrap="square" rtlCol="0">
              <a:spAutoFit/>
            </a:bodyPr>
            <a:lstStyle/>
            <a:p>
              <a:pPr marL="342900" lvl="0" indent="-342900">
                <a:buFont typeface="Wingdings" panose="05000000000000000000" pitchFamily="2" charset="2"/>
                <a:buChar char="l"/>
              </a:pP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Rust </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广泛用于嵌入式系统开发、系统驱动、云计算、虚拟存储、网络传输协议、并发编程框架基础库等产品中。</a:t>
              </a:r>
              <a:endParaRPr lang="en-US" altLang="zh-CN" sz="1600" b="1" dirty="0">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华为实验室正基于 </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Rust </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探索先进的代码解析、安全分析等工具。</a:t>
              </a:r>
              <a:endParaRPr lang="zh-CN" altLang="zh-CN" sz="1600" b="1" dirty="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9" name="文本框 38">
            <a:extLst>
              <a:ext uri="{FF2B5EF4-FFF2-40B4-BE49-F238E27FC236}">
                <a16:creationId xmlns:a16="http://schemas.microsoft.com/office/drawing/2014/main" id="{46EB6919-CC23-4DD7-951F-CC28FE6072A2}"/>
              </a:ext>
            </a:extLst>
          </p:cNvPr>
          <p:cNvSpPr txBox="1"/>
          <p:nvPr/>
        </p:nvSpPr>
        <p:spPr>
          <a:xfrm>
            <a:off x="87564" y="33440"/>
            <a:ext cx="6204856" cy="646331"/>
          </a:xfrm>
          <a:prstGeom prst="rect">
            <a:avLst/>
          </a:prstGeom>
          <a:noFill/>
        </p:spPr>
        <p:txBody>
          <a:bodyPr wrap="square">
            <a:spAutoFit/>
          </a:bodyPr>
          <a:lstStyle/>
          <a:p>
            <a:r>
              <a:rPr lang="zh-CN" altLang="en-US" sz="3600" b="1" dirty="0">
                <a:solidFill>
                  <a:schemeClr val="bg1"/>
                </a:solidFill>
                <a:latin typeface="微软雅黑" panose="020B0503020204020204" pitchFamily="34" charset="-122"/>
                <a:ea typeface="微软雅黑" panose="020B0503020204020204" pitchFamily="34" charset="-122"/>
                <a:cs typeface="+mj-cs"/>
              </a:rPr>
              <a:t>类</a:t>
            </a:r>
            <a:r>
              <a:rPr lang="en-US" altLang="zh-CN" sz="3600" b="1" dirty="0">
                <a:solidFill>
                  <a:schemeClr val="bg1"/>
                </a:solidFill>
                <a:latin typeface="微软雅黑" panose="020B0503020204020204" pitchFamily="34" charset="-122"/>
                <a:ea typeface="微软雅黑" panose="020B0503020204020204" pitchFamily="34" charset="-122"/>
                <a:cs typeface="+mj-cs"/>
              </a:rPr>
              <a:t>Rust</a:t>
            </a:r>
            <a:r>
              <a:rPr lang="zh-CN" altLang="en-US" sz="3600" b="1" dirty="0">
                <a:solidFill>
                  <a:schemeClr val="bg1"/>
                </a:solidFill>
                <a:latin typeface="微软雅黑" panose="020B0503020204020204" pitchFamily="34" charset="-122"/>
                <a:ea typeface="微软雅黑" panose="020B0503020204020204" pitchFamily="34" charset="-122"/>
                <a:cs typeface="+mj-cs"/>
              </a:rPr>
              <a:t>编译器实现</a:t>
            </a:r>
          </a:p>
        </p:txBody>
      </p:sp>
    </p:spTree>
    <p:extLst>
      <p:ext uri="{BB962C8B-B14F-4D97-AF65-F5344CB8AC3E}">
        <p14:creationId xmlns:p14="http://schemas.microsoft.com/office/powerpoint/2010/main" val="527008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1000"/>
                                        <p:tgtEl>
                                          <p:spTgt spid="33"/>
                                        </p:tgtEl>
                                      </p:cBhvr>
                                    </p:animEffect>
                                    <p:anim calcmode="lin" valueType="num">
                                      <p:cBhvr>
                                        <p:cTn id="14" dur="1000" fill="hold"/>
                                        <p:tgtEl>
                                          <p:spTgt spid="33"/>
                                        </p:tgtEl>
                                        <p:attrNameLst>
                                          <p:attrName>ppt_x</p:attrName>
                                        </p:attrNameLst>
                                      </p:cBhvr>
                                      <p:tavLst>
                                        <p:tav tm="0">
                                          <p:val>
                                            <p:strVal val="#ppt_x"/>
                                          </p:val>
                                        </p:tav>
                                        <p:tav tm="100000">
                                          <p:val>
                                            <p:strVal val="#ppt_x"/>
                                          </p:val>
                                        </p:tav>
                                      </p:tavLst>
                                    </p:anim>
                                    <p:anim calcmode="lin" valueType="num">
                                      <p:cBhvr>
                                        <p:cTn id="15" dur="1000" fill="hold"/>
                                        <p:tgtEl>
                                          <p:spTgt spid="33"/>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000"/>
                                        <p:tgtEl>
                                          <p:spTgt spid="2"/>
                                        </p:tgtEl>
                                      </p:cBhvr>
                                    </p:animEffect>
                                    <p:anim calcmode="lin" valueType="num">
                                      <p:cBhvr>
                                        <p:cTn id="19" dur="1000" fill="hold"/>
                                        <p:tgtEl>
                                          <p:spTgt spid="2"/>
                                        </p:tgtEl>
                                        <p:attrNameLst>
                                          <p:attrName>ppt_x</p:attrName>
                                        </p:attrNameLst>
                                      </p:cBhvr>
                                      <p:tavLst>
                                        <p:tav tm="0">
                                          <p:val>
                                            <p:strVal val="#ppt_x"/>
                                          </p:val>
                                        </p:tav>
                                        <p:tav tm="100000">
                                          <p:val>
                                            <p:strVal val="#ppt_x"/>
                                          </p:val>
                                        </p:tav>
                                      </p:tavLst>
                                    </p:anim>
                                    <p:anim calcmode="lin" valueType="num">
                                      <p:cBhvr>
                                        <p:cTn id="20" dur="1000" fill="hold"/>
                                        <p:tgtEl>
                                          <p:spTgt spid="2"/>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ppt_x</p:attrName>
                                        </p:attrNameLst>
                                      </p:cBhvr>
                                      <p:tavLst>
                                        <p:tav tm="0">
                                          <p:val>
                                            <p:strVal val="#ppt_x"/>
                                          </p:val>
                                        </p:tav>
                                        <p:tav tm="100000">
                                          <p:val>
                                            <p:strVal val="#ppt_x"/>
                                          </p:val>
                                        </p:tav>
                                      </p:tavLst>
                                    </p:anim>
                                    <p:anim calcmode="lin" valueType="num">
                                      <p:cBhvr>
                                        <p:cTn id="2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2">
            <a:extLst>
              <a:ext uri="{FF2B5EF4-FFF2-40B4-BE49-F238E27FC236}">
                <a16:creationId xmlns:a16="http://schemas.microsoft.com/office/drawing/2014/main" id="{54C10055-75B4-4C67-9664-E6B9109E966F}"/>
              </a:ext>
            </a:extLst>
          </p:cNvPr>
          <p:cNvSpPr txBox="1">
            <a:spLocks/>
          </p:cNvSpPr>
          <p:nvPr/>
        </p:nvSpPr>
        <p:spPr bwMode="auto">
          <a:xfrm>
            <a:off x="700356" y="1867322"/>
            <a:ext cx="10791288" cy="3744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1">
                <a:solidFill>
                  <a:srgbClr val="003366"/>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b="1">
                <a:solidFill>
                  <a:srgbClr val="003366"/>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b="1">
                <a:solidFill>
                  <a:srgbClr val="003366"/>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b="1">
                <a:solidFill>
                  <a:srgbClr val="003366"/>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b="1">
                <a:solidFill>
                  <a:srgbClr val="003366"/>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b="1">
                <a:solidFill>
                  <a:srgbClr val="003366"/>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b="1">
                <a:solidFill>
                  <a:srgbClr val="003366"/>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b="1">
                <a:solidFill>
                  <a:srgbClr val="003366"/>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b="1">
                <a:solidFill>
                  <a:srgbClr val="003366"/>
                </a:solidFill>
                <a:latin typeface="+mn-lt"/>
                <a:ea typeface="+mn-ea"/>
              </a:defRPr>
            </a:lvl9pPr>
          </a:lstStyle>
          <a:p>
            <a:pPr marL="360000" marR="0" lvl="0" indent="-360000" algn="l" defTabSz="914400" rtl="0" eaLnBrk="0" fontAlgn="base" latinLnBrk="0" hangingPunct="0">
              <a:lnSpc>
                <a:spcPct val="150000"/>
              </a:lnSpc>
              <a:spcBef>
                <a:spcPct val="20000"/>
              </a:spcBef>
              <a:spcAft>
                <a:spcPct val="0"/>
              </a:spcAft>
              <a:buClrTx/>
              <a:buSzPct val="75000"/>
              <a:buFont typeface="Wingdings" panose="05000000000000000000" pitchFamily="2" charset="2"/>
              <a:buChar char="n"/>
              <a:tabLst/>
              <a:defRPr/>
            </a:pPr>
            <a:r>
              <a:rPr kumimoji="0"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了解类</a:t>
            </a:r>
            <a:r>
              <a:rPr kumimoji="0" lang="en-US" altLang="zh-CN"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Rust</a:t>
            </a:r>
            <a:r>
              <a:rPr kumimoji="0"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语义规则，根据源程序</a:t>
            </a:r>
            <a:r>
              <a:rPr lang="zh-CN" altLang="en-US" sz="2800" kern="0" dirty="0">
                <a:solidFill>
                  <a:schemeClr val="tx1"/>
                </a:solidFill>
                <a:latin typeface="微软雅黑" panose="020B0503020204020204" pitchFamily="34" charset="-122"/>
                <a:ea typeface="微软雅黑" panose="020B0503020204020204" pitchFamily="34" charset="-122"/>
              </a:rPr>
              <a:t>给出</a:t>
            </a:r>
            <a:r>
              <a:rPr kumimoji="0"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语义分析结果，实现中间代码生成（建议以四元式的形式作为中间代码）</a:t>
            </a:r>
            <a:r>
              <a:rPr kumimoji="0" lang="en-US" altLang="zh-CN"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a:t>
            </a:r>
          </a:p>
          <a:p>
            <a:pPr marL="360000" marR="0" lvl="0" indent="-360000" algn="l" defTabSz="914400" rtl="0" eaLnBrk="0" fontAlgn="base" latinLnBrk="0" hangingPunct="0">
              <a:lnSpc>
                <a:spcPct val="150000"/>
              </a:lnSpc>
              <a:spcBef>
                <a:spcPct val="20000"/>
              </a:spcBef>
              <a:spcAft>
                <a:spcPct val="0"/>
              </a:spcAft>
              <a:buClrTx/>
              <a:buSzPct val="75000"/>
              <a:buFont typeface="Wingdings" panose="05000000000000000000" pitchFamily="2" charset="2"/>
              <a:buChar char="n"/>
              <a:tabLst/>
              <a:defRPr/>
            </a:pPr>
            <a:r>
              <a:rPr kumimoji="0"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注意静态语义错误的诊断和处理；</a:t>
            </a:r>
          </a:p>
          <a:p>
            <a:pPr marL="360000" marR="0" lvl="0" indent="-360000" algn="l" defTabSz="914400" rtl="0" eaLnBrk="0" fontAlgn="base" latinLnBrk="0" hangingPunct="0">
              <a:lnSpc>
                <a:spcPct val="150000"/>
              </a:lnSpc>
              <a:spcBef>
                <a:spcPct val="20000"/>
              </a:spcBef>
              <a:spcAft>
                <a:spcPct val="0"/>
              </a:spcAft>
              <a:buClrTx/>
              <a:buSzPct val="75000"/>
              <a:buFont typeface="Wingdings" panose="05000000000000000000" pitchFamily="2" charset="2"/>
              <a:buChar char="n"/>
              <a:tabLst/>
              <a:defRPr/>
            </a:pPr>
            <a:r>
              <a:rPr kumimoji="0"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在此基础上，考虑更为通行的高级语言的语义检查和中间代码生成所需要注意的内容，并给出解决方案。</a:t>
            </a:r>
          </a:p>
          <a:p>
            <a:pPr marL="360000" marR="0" lvl="0" indent="-360000" algn="l" defTabSz="914400" rtl="0" eaLnBrk="0" fontAlgn="base" latinLnBrk="0" hangingPunct="0">
              <a:lnSpc>
                <a:spcPct val="150000"/>
              </a:lnSpc>
              <a:spcBef>
                <a:spcPct val="20000"/>
              </a:spcBef>
              <a:spcAft>
                <a:spcPct val="0"/>
              </a:spcAft>
              <a:buClrTx/>
              <a:buSzPct val="75000"/>
              <a:buFont typeface="Wingdings" panose="05000000000000000000" pitchFamily="2" charset="2"/>
              <a:buChar char="n"/>
              <a:tabLst/>
              <a:defRPr/>
            </a:pPr>
            <a:r>
              <a:rPr kumimoji="0"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分组，</a:t>
            </a:r>
            <a:r>
              <a:rPr lang="zh-CN" altLang="en-US" sz="2800" kern="0" dirty="0">
                <a:solidFill>
                  <a:schemeClr val="tx1"/>
                </a:solidFill>
                <a:latin typeface="微软雅黑" panose="020B0503020204020204" pitchFamily="34" charset="-122"/>
                <a:ea typeface="微软雅黑" panose="020B0503020204020204" pitchFamily="34" charset="-122"/>
              </a:rPr>
              <a:t>保持大作业</a:t>
            </a:r>
            <a:r>
              <a:rPr lang="en-US" altLang="zh-CN" sz="2800" kern="0" dirty="0">
                <a:solidFill>
                  <a:schemeClr val="tx1"/>
                </a:solidFill>
                <a:latin typeface="微软雅黑" panose="020B0503020204020204" pitchFamily="34" charset="-122"/>
                <a:ea typeface="微软雅黑" panose="020B0503020204020204" pitchFamily="34" charset="-122"/>
              </a:rPr>
              <a:t>1</a:t>
            </a:r>
            <a:r>
              <a:rPr lang="zh-CN" altLang="en-US" sz="2800" kern="0" dirty="0">
                <a:solidFill>
                  <a:schemeClr val="tx1"/>
                </a:solidFill>
                <a:latin typeface="微软雅黑" panose="020B0503020204020204" pitchFamily="34" charset="-122"/>
                <a:ea typeface="微软雅黑" panose="020B0503020204020204" pitchFamily="34" charset="-122"/>
              </a:rPr>
              <a:t>的分组</a:t>
            </a:r>
            <a:endParaRPr kumimoji="0"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a:p>
            <a:pPr marL="360000" marR="0" lvl="0" indent="-360000" algn="l" defTabSz="914400" rtl="0" eaLnBrk="0" fontAlgn="base" latinLnBrk="0" hangingPunct="0">
              <a:lnSpc>
                <a:spcPct val="150000"/>
              </a:lnSpc>
              <a:spcBef>
                <a:spcPct val="20000"/>
              </a:spcBef>
              <a:spcAft>
                <a:spcPct val="0"/>
              </a:spcAft>
              <a:buClrTx/>
              <a:buSzPct val="75000"/>
              <a:buFont typeface="Wingdings" panose="05000000000000000000" pitchFamily="2" charset="2"/>
              <a:buChar char="n"/>
              <a:tabLst/>
              <a:defRPr/>
            </a:pPr>
            <a:r>
              <a:rPr kumimoji="0"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撰写设计和说明文档</a:t>
            </a:r>
          </a:p>
        </p:txBody>
      </p:sp>
      <p:sp>
        <p:nvSpPr>
          <p:cNvPr id="4" name="矩形: 圆角 12">
            <a:extLst>
              <a:ext uri="{FF2B5EF4-FFF2-40B4-BE49-F238E27FC236}">
                <a16:creationId xmlns:a16="http://schemas.microsoft.com/office/drawing/2014/main" id="{F5CB3382-884C-4597-9DFE-F9890BDDF717}"/>
              </a:ext>
            </a:extLst>
          </p:cNvPr>
          <p:cNvSpPr/>
          <p:nvPr>
            <p:custDataLst>
              <p:tags r:id="rId1"/>
            </p:custDataLst>
          </p:nvPr>
        </p:nvSpPr>
        <p:spPr>
          <a:xfrm>
            <a:off x="700356" y="908720"/>
            <a:ext cx="10657184" cy="792088"/>
          </a:xfrm>
          <a:prstGeom prst="roundRect">
            <a:avLst/>
          </a:prstGeom>
          <a:solidFill>
            <a:srgbClr val="0854A0"/>
          </a:solidFill>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1219200" rtl="0" eaLnBrk="1" fontAlgn="auto" latinLnBrk="0" hangingPunct="1">
              <a:lnSpc>
                <a:spcPct val="100000"/>
              </a:lnSpc>
              <a:spcBef>
                <a:spcPts val="0"/>
              </a:spcBef>
              <a:spcAft>
                <a:spcPts val="0"/>
              </a:spcAft>
              <a:buClrTx/>
              <a:buSzTx/>
              <a:buFontTx/>
              <a:buNone/>
            </a:pPr>
            <a:r>
              <a:rPr lang="zh-CN" altLang="en-US" sz="3200" b="1" dirty="0">
                <a:latin typeface="微软雅黑" panose="020B0503020204020204" pitchFamily="34" charset="-122"/>
                <a:ea typeface="微软雅黑" panose="020B0503020204020204" pitchFamily="34" charset="-122"/>
                <a:cs typeface="微软雅黑" panose="020B0503020204020204" pitchFamily="34" charset="-122"/>
              </a:rPr>
              <a:t>大作业</a:t>
            </a: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3200" b="1" dirty="0">
                <a:latin typeface="微软雅黑" panose="020B0503020204020204" pitchFamily="34" charset="-122"/>
                <a:ea typeface="微软雅黑" panose="020B0503020204020204" pitchFamily="34" charset="-122"/>
                <a:cs typeface="微软雅黑" panose="020B0503020204020204" pitchFamily="34" charset="-122"/>
              </a:rPr>
              <a:t>：中间代码生成器</a:t>
            </a:r>
          </a:p>
        </p:txBody>
      </p:sp>
    </p:spTree>
    <p:extLst>
      <p:ext uri="{BB962C8B-B14F-4D97-AF65-F5344CB8AC3E}">
        <p14:creationId xmlns:p14="http://schemas.microsoft.com/office/powerpoint/2010/main" val="3179256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B3DD6-38DF-5746-6EF8-BE8F7B62DA16}"/>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258D7F0D-F807-DC9A-39F1-E73B7609A1FB}"/>
              </a:ext>
            </a:extLst>
          </p:cNvPr>
          <p:cNvSpPr txBox="1">
            <a:spLocks/>
          </p:cNvSpPr>
          <p:nvPr/>
        </p:nvSpPr>
        <p:spPr>
          <a:xfrm>
            <a:off x="72008" y="-12202"/>
            <a:ext cx="7752184" cy="848914"/>
          </a:xfrm>
          <a:prstGeom prst="rect">
            <a:avLst/>
          </a:prstGeom>
        </p:spPr>
        <p:txBody>
          <a:bodyPr/>
          <a:lstStyle>
            <a:lvl1pPr algn="ctr" defTabSz="1219200" rtl="0" eaLnBrk="1" latinLnBrk="0" hangingPunct="1">
              <a:spcBef>
                <a:spcPct val="0"/>
              </a:spcBef>
              <a:buNone/>
              <a:defRPr sz="5865" kern="1200">
                <a:solidFill>
                  <a:schemeClr val="tx1"/>
                </a:solidFill>
                <a:latin typeface="+mj-lt"/>
                <a:ea typeface="+mj-ea"/>
                <a:cs typeface="+mj-cs"/>
              </a:defRPr>
            </a:lvl1pPr>
          </a:lstStyle>
          <a:p>
            <a:pPr algn="l"/>
            <a:r>
              <a:rPr lang="zh-CN" altLang="en-US" sz="3600" b="1" dirty="0">
                <a:solidFill>
                  <a:schemeClr val="bg1"/>
                </a:solidFill>
                <a:latin typeface="微软雅黑" panose="020B0503020204020204" pitchFamily="34" charset="-122"/>
                <a:ea typeface="微软雅黑" panose="020B0503020204020204" pitchFamily="34" charset="-122"/>
              </a:rPr>
              <a:t>类</a:t>
            </a:r>
            <a:r>
              <a:rPr lang="en-US" altLang="zh-CN" sz="3600" b="1" dirty="0">
                <a:solidFill>
                  <a:schemeClr val="bg1"/>
                </a:solidFill>
                <a:latin typeface="微软雅黑" panose="020B0503020204020204" pitchFamily="34" charset="-122"/>
                <a:ea typeface="微软雅黑" panose="020B0503020204020204" pitchFamily="34" charset="-122"/>
              </a:rPr>
              <a:t>Rust</a:t>
            </a:r>
            <a:r>
              <a:rPr lang="zh-CN" altLang="en-US" sz="3600" b="1" dirty="0">
                <a:solidFill>
                  <a:schemeClr val="bg1"/>
                </a:solidFill>
                <a:latin typeface="微软雅黑" panose="020B0503020204020204" pitchFamily="34" charset="-122"/>
                <a:ea typeface="微软雅黑" panose="020B0503020204020204" pitchFamily="34" charset="-122"/>
              </a:rPr>
              <a:t>语法和语义规则</a:t>
            </a:r>
          </a:p>
        </p:txBody>
      </p:sp>
      <p:sp>
        <p:nvSpPr>
          <p:cNvPr id="7" name="文本框 6">
            <a:extLst>
              <a:ext uri="{FF2B5EF4-FFF2-40B4-BE49-F238E27FC236}">
                <a16:creationId xmlns:a16="http://schemas.microsoft.com/office/drawing/2014/main" id="{9C967860-3E2A-4248-93EB-E8E333694AB6}"/>
              </a:ext>
            </a:extLst>
          </p:cNvPr>
          <p:cNvSpPr txBox="1"/>
          <p:nvPr/>
        </p:nvSpPr>
        <p:spPr>
          <a:xfrm>
            <a:off x="87288" y="910009"/>
            <a:ext cx="6440760" cy="4123693"/>
          </a:xfrm>
          <a:prstGeom prst="rect">
            <a:avLst/>
          </a:prstGeom>
          <a:noFill/>
        </p:spPr>
        <p:txBody>
          <a:bodyPr wrap="square">
            <a:spAutoFit/>
          </a:bodyPr>
          <a:lstStyle/>
          <a:p>
            <a:pPr marL="342900" lvl="1" indent="-342900">
              <a:lnSpc>
                <a:spcPct val="120000"/>
              </a:lnSpc>
              <a:buFont typeface="Wingdings" panose="05000000000000000000" pitchFamily="2" charset="2"/>
              <a:buChar char="Ø"/>
            </a:pPr>
            <a:r>
              <a:rPr lang="en-US" altLang="zh-CN" sz="2000" b="1" dirty="0">
                <a:solidFill>
                  <a:srgbClr val="003366"/>
                </a:solidFill>
                <a:latin typeface="微软雅黑" panose="020B0503020204020204" pitchFamily="34" charset="-122"/>
                <a:ea typeface="微软雅黑" panose="020B0503020204020204" pitchFamily="34" charset="-122"/>
              </a:rPr>
              <a:t>1.1 </a:t>
            </a:r>
            <a:r>
              <a:rPr lang="zh-CN" altLang="en-US" sz="2000" b="1" dirty="0">
                <a:solidFill>
                  <a:srgbClr val="003366"/>
                </a:solidFill>
                <a:latin typeface="微软雅黑" panose="020B0503020204020204" pitchFamily="34" charset="-122"/>
                <a:ea typeface="微软雅黑" panose="020B0503020204020204" pitchFamily="34" charset="-122"/>
              </a:rPr>
              <a:t>基础程序</a:t>
            </a:r>
            <a:endParaRPr lang="en-US" altLang="zh-CN" sz="2000" b="1"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Program  -&gt; &lt;</a:t>
            </a:r>
            <a:r>
              <a:rPr lang="zh-CN" altLang="en-US" sz="2000" dirty="0">
                <a:solidFill>
                  <a:srgbClr val="003366"/>
                </a:solidFill>
                <a:latin typeface="微软雅黑" panose="020B0503020204020204" pitchFamily="34" charset="-122"/>
                <a:ea typeface="微软雅黑" panose="020B0503020204020204" pitchFamily="34" charset="-122"/>
              </a:rPr>
              <a:t>声明串</a:t>
            </a:r>
            <a:r>
              <a:rPr lang="en-US" altLang="zh-CN" sz="20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声明串</a:t>
            </a:r>
            <a:r>
              <a:rPr lang="en-US" altLang="zh-CN" sz="2000" dirty="0">
                <a:solidFill>
                  <a:srgbClr val="003366"/>
                </a:solidFill>
                <a:latin typeface="微软雅黑" panose="020B0503020204020204" pitchFamily="34" charset="-122"/>
                <a:ea typeface="微软雅黑" panose="020B0503020204020204" pitchFamily="34" charset="-122"/>
              </a:rPr>
              <a:t>&gt; -&gt; </a:t>
            </a:r>
            <a:r>
              <a:rPr lang="zh-CN" altLang="en-US" sz="2000" dirty="0">
                <a:solidFill>
                  <a:srgbClr val="003366"/>
                </a:solidFill>
                <a:latin typeface="微软雅黑" panose="020B0503020204020204" pitchFamily="34" charset="-122"/>
                <a:ea typeface="微软雅黑" panose="020B0503020204020204" pitchFamily="34" charset="-122"/>
              </a:rPr>
              <a:t>空 </a:t>
            </a:r>
            <a:r>
              <a:rPr lang="en-US" altLang="zh-CN" sz="2000" dirty="0">
                <a:solidFill>
                  <a:srgbClr val="003366"/>
                </a:solidFill>
                <a:latin typeface="微软雅黑" panose="020B0503020204020204" pitchFamily="34" charset="-122"/>
                <a:ea typeface="微软雅黑" panose="020B0503020204020204" pitchFamily="34" charset="-122"/>
              </a:rPr>
              <a:t>| &lt;</a:t>
            </a:r>
            <a:r>
              <a:rPr lang="zh-CN" altLang="en-US" sz="2000" dirty="0">
                <a:solidFill>
                  <a:srgbClr val="003366"/>
                </a:solidFill>
                <a:latin typeface="微软雅黑" panose="020B0503020204020204" pitchFamily="34" charset="-122"/>
                <a:ea typeface="微软雅黑" panose="020B0503020204020204" pitchFamily="34" charset="-122"/>
              </a:rPr>
              <a:t>声明</a:t>
            </a:r>
            <a:r>
              <a:rPr lang="en-US" altLang="zh-CN" sz="2000" dirty="0">
                <a:solidFill>
                  <a:srgbClr val="003366"/>
                </a:solidFill>
                <a:latin typeface="微软雅黑" panose="020B0503020204020204" pitchFamily="34" charset="-122"/>
                <a:ea typeface="微软雅黑" panose="020B0503020204020204" pitchFamily="34" charset="-122"/>
              </a:rPr>
              <a:t>&gt; &lt;</a:t>
            </a:r>
            <a:r>
              <a:rPr lang="zh-CN" altLang="en-US" sz="2000" dirty="0">
                <a:solidFill>
                  <a:srgbClr val="003366"/>
                </a:solidFill>
                <a:latin typeface="微软雅黑" panose="020B0503020204020204" pitchFamily="34" charset="-122"/>
                <a:ea typeface="微软雅黑" panose="020B0503020204020204" pitchFamily="34" charset="-122"/>
              </a:rPr>
              <a:t>声明串</a:t>
            </a:r>
            <a:r>
              <a:rPr lang="en-US" altLang="zh-CN" sz="2000" dirty="0">
                <a:solidFill>
                  <a:srgbClr val="003366"/>
                </a:solidFill>
                <a:latin typeface="微软雅黑" panose="020B0503020204020204" pitchFamily="34" charset="-122"/>
                <a:ea typeface="微软雅黑" panose="020B0503020204020204" pitchFamily="34" charset="-122"/>
              </a:rPr>
              <a:t>&gt;     </a:t>
            </a:r>
          </a:p>
          <a:p>
            <a:pPr marL="952500" lvl="2" indent="-342900">
              <a:lnSpc>
                <a:spcPct val="120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声明</a:t>
            </a:r>
            <a:r>
              <a:rPr lang="en-US" altLang="zh-CN" sz="2000" dirty="0">
                <a:solidFill>
                  <a:srgbClr val="003366"/>
                </a:solidFill>
                <a:latin typeface="微软雅黑" panose="020B0503020204020204" pitchFamily="34" charset="-122"/>
                <a:ea typeface="微软雅黑" panose="020B0503020204020204" pitchFamily="34" charset="-122"/>
              </a:rPr>
              <a:t>&gt; -&gt; &lt;</a:t>
            </a:r>
            <a:r>
              <a:rPr lang="zh-CN" altLang="en-US" sz="2000" dirty="0">
                <a:solidFill>
                  <a:srgbClr val="003366"/>
                </a:solidFill>
                <a:latin typeface="微软雅黑" panose="020B0503020204020204" pitchFamily="34" charset="-122"/>
                <a:ea typeface="微软雅黑" panose="020B0503020204020204" pitchFamily="34" charset="-122"/>
              </a:rPr>
              <a:t>函数声明</a:t>
            </a:r>
            <a:r>
              <a:rPr lang="en-US" altLang="zh-CN" sz="20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函数声明</a:t>
            </a:r>
            <a:r>
              <a:rPr lang="en-US" altLang="zh-CN" sz="2000" dirty="0">
                <a:solidFill>
                  <a:srgbClr val="003366"/>
                </a:solidFill>
                <a:latin typeface="微软雅黑" panose="020B0503020204020204" pitchFamily="34" charset="-122"/>
                <a:ea typeface="微软雅黑" panose="020B0503020204020204" pitchFamily="34" charset="-122"/>
              </a:rPr>
              <a:t>&gt; -&gt; &lt;</a:t>
            </a:r>
            <a:r>
              <a:rPr lang="zh-CN" altLang="en-US" sz="2000" dirty="0">
                <a:solidFill>
                  <a:srgbClr val="003366"/>
                </a:solidFill>
                <a:latin typeface="微软雅黑" panose="020B0503020204020204" pitchFamily="34" charset="-122"/>
                <a:ea typeface="微软雅黑" panose="020B0503020204020204" pitchFamily="34" charset="-122"/>
              </a:rPr>
              <a:t>函数头声明</a:t>
            </a:r>
            <a:r>
              <a:rPr lang="en-US" altLang="zh-CN" sz="2000" dirty="0">
                <a:solidFill>
                  <a:srgbClr val="003366"/>
                </a:solidFill>
                <a:latin typeface="微软雅黑" panose="020B0503020204020204" pitchFamily="34" charset="-122"/>
                <a:ea typeface="微软雅黑" panose="020B0503020204020204" pitchFamily="34" charset="-122"/>
              </a:rPr>
              <a:t>&gt; &lt;</a:t>
            </a:r>
            <a:r>
              <a:rPr lang="zh-CN" altLang="en-US" sz="2000" dirty="0">
                <a:solidFill>
                  <a:srgbClr val="003366"/>
                </a:solidFill>
                <a:latin typeface="微软雅黑" panose="020B0503020204020204" pitchFamily="34" charset="-122"/>
                <a:ea typeface="微软雅黑" panose="020B0503020204020204" pitchFamily="34" charset="-122"/>
              </a:rPr>
              <a:t>语句块</a:t>
            </a:r>
            <a:r>
              <a:rPr lang="en-US" altLang="zh-CN" sz="20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函数头声明</a:t>
            </a:r>
            <a:r>
              <a:rPr lang="en-US" altLang="zh-CN" sz="2000" dirty="0">
                <a:solidFill>
                  <a:srgbClr val="003366"/>
                </a:solidFill>
                <a:latin typeface="微软雅黑" panose="020B0503020204020204" pitchFamily="34" charset="-122"/>
                <a:ea typeface="微软雅黑" panose="020B0503020204020204" pitchFamily="34" charset="-122"/>
              </a:rPr>
              <a:t>&gt; -&gt;  fn &lt;ID&gt; '(' &lt;</a:t>
            </a:r>
            <a:r>
              <a:rPr lang="zh-CN" altLang="en-US" sz="2000" dirty="0">
                <a:solidFill>
                  <a:srgbClr val="003366"/>
                </a:solidFill>
                <a:latin typeface="微软雅黑" panose="020B0503020204020204" pitchFamily="34" charset="-122"/>
                <a:ea typeface="微软雅黑" panose="020B0503020204020204" pitchFamily="34" charset="-122"/>
              </a:rPr>
              <a:t>形参列表</a:t>
            </a:r>
            <a:r>
              <a:rPr lang="en-US" altLang="zh-CN" sz="2000" dirty="0">
                <a:solidFill>
                  <a:srgbClr val="003366"/>
                </a:solidFill>
                <a:latin typeface="微软雅黑" panose="020B0503020204020204" pitchFamily="34" charset="-122"/>
                <a:ea typeface="微软雅黑" panose="020B0503020204020204" pitchFamily="34" charset="-122"/>
              </a:rPr>
              <a:t>&gt; ')'      </a:t>
            </a:r>
          </a:p>
          <a:p>
            <a:pPr marL="952500" lvl="2" indent="-342900">
              <a:lnSpc>
                <a:spcPct val="120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形参列表</a:t>
            </a:r>
            <a:r>
              <a:rPr lang="en-US" altLang="zh-CN" sz="2000" dirty="0">
                <a:solidFill>
                  <a:srgbClr val="003366"/>
                </a:solidFill>
                <a:latin typeface="微软雅黑" panose="020B0503020204020204" pitchFamily="34" charset="-122"/>
                <a:ea typeface="微软雅黑" panose="020B0503020204020204" pitchFamily="34" charset="-122"/>
              </a:rPr>
              <a:t>&gt;-&gt; </a:t>
            </a:r>
            <a:r>
              <a:rPr lang="zh-CN" altLang="en-US" sz="2000" dirty="0">
                <a:solidFill>
                  <a:srgbClr val="003366"/>
                </a:solidFill>
                <a:latin typeface="微软雅黑" panose="020B0503020204020204" pitchFamily="34" charset="-122"/>
                <a:ea typeface="微软雅黑" panose="020B0503020204020204" pitchFamily="34" charset="-122"/>
              </a:rPr>
              <a:t>空</a:t>
            </a:r>
          </a:p>
          <a:p>
            <a:pPr marL="952500" lvl="2" indent="-342900">
              <a:lnSpc>
                <a:spcPct val="120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语句块</a:t>
            </a:r>
            <a:r>
              <a:rPr lang="en-US" altLang="zh-CN" sz="2000" dirty="0">
                <a:solidFill>
                  <a:srgbClr val="003366"/>
                </a:solidFill>
                <a:latin typeface="微软雅黑" panose="020B0503020204020204" pitchFamily="34" charset="-122"/>
                <a:ea typeface="微软雅黑" panose="020B0503020204020204" pitchFamily="34" charset="-122"/>
              </a:rPr>
              <a:t>&gt; -&gt; '{' &lt;</a:t>
            </a:r>
            <a:r>
              <a:rPr lang="zh-CN" altLang="en-US" sz="2000" dirty="0">
                <a:solidFill>
                  <a:srgbClr val="003366"/>
                </a:solidFill>
                <a:latin typeface="微软雅黑" panose="020B0503020204020204" pitchFamily="34" charset="-122"/>
                <a:ea typeface="微软雅黑" panose="020B0503020204020204" pitchFamily="34" charset="-122"/>
              </a:rPr>
              <a:t>语句串</a:t>
            </a:r>
            <a:r>
              <a:rPr lang="en-US" altLang="zh-CN" sz="2000" dirty="0">
                <a:solidFill>
                  <a:srgbClr val="003366"/>
                </a:solidFill>
                <a:latin typeface="微软雅黑" panose="020B0503020204020204" pitchFamily="34" charset="-122"/>
                <a:ea typeface="微软雅黑" panose="020B0503020204020204" pitchFamily="34" charset="-122"/>
              </a:rPr>
              <a:t>&gt; '}'     </a:t>
            </a:r>
          </a:p>
          <a:p>
            <a:pPr marL="952500" lvl="2" indent="-342900">
              <a:lnSpc>
                <a:spcPct val="120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语句串</a:t>
            </a:r>
            <a:r>
              <a:rPr lang="en-US" altLang="zh-CN" sz="2000" dirty="0">
                <a:solidFill>
                  <a:srgbClr val="003366"/>
                </a:solidFill>
                <a:latin typeface="微软雅黑" panose="020B0503020204020204" pitchFamily="34" charset="-122"/>
                <a:ea typeface="微软雅黑" panose="020B0503020204020204" pitchFamily="34" charset="-122"/>
              </a:rPr>
              <a:t>&gt; -&gt; </a:t>
            </a:r>
            <a:r>
              <a:rPr lang="zh-CN" altLang="en-US" sz="2000" dirty="0">
                <a:solidFill>
                  <a:srgbClr val="003366"/>
                </a:solidFill>
                <a:latin typeface="微软雅黑" panose="020B0503020204020204" pitchFamily="34" charset="-122"/>
                <a:ea typeface="微软雅黑" panose="020B0503020204020204" pitchFamily="34" charset="-122"/>
              </a:rPr>
              <a:t>空</a:t>
            </a:r>
            <a:endParaRPr lang="en-US" altLang="zh-CN" sz="2000" dirty="0">
              <a:solidFill>
                <a:srgbClr val="003366"/>
              </a:solidFill>
              <a:latin typeface="微软雅黑" panose="020B0503020204020204" pitchFamily="34" charset="-122"/>
              <a:ea typeface="微软雅黑" panose="020B0503020204020204" pitchFamily="34" charset="-122"/>
            </a:endParaRPr>
          </a:p>
          <a:p>
            <a:pPr marL="0" lvl="1" indent="457200">
              <a:lnSpc>
                <a:spcPct val="120000"/>
              </a:lnSpc>
            </a:pPr>
            <a:r>
              <a:rPr lang="zh-CN" altLang="en-US" sz="2000" dirty="0">
                <a:solidFill>
                  <a:srgbClr val="003366"/>
                </a:solidFill>
                <a:latin typeface="微软雅黑" panose="020B0503020204020204" pitchFamily="34" charset="-122"/>
                <a:ea typeface="微软雅黑" panose="020B0503020204020204" pitchFamily="34" charset="-122"/>
              </a:rPr>
              <a:t>语义说明：定义了一个最基础的程序结构，支持声明若干个函数，每个函数无参数且函数体为空。</a:t>
            </a:r>
            <a:endParaRPr lang="en-US" altLang="zh-CN" sz="2000" dirty="0">
              <a:solidFill>
                <a:srgbClr val="003366"/>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9B96CA1E-75E5-64AE-AB7C-94EF80660E03}"/>
              </a:ext>
            </a:extLst>
          </p:cNvPr>
          <p:cNvSpPr txBox="1"/>
          <p:nvPr/>
        </p:nvSpPr>
        <p:spPr>
          <a:xfrm>
            <a:off x="6753334" y="836712"/>
            <a:ext cx="4968552" cy="5970352"/>
          </a:xfrm>
          <a:prstGeom prst="rect">
            <a:avLst/>
          </a:prstGeom>
          <a:noFill/>
        </p:spPr>
        <p:txBody>
          <a:bodyPr wrap="square">
            <a:spAutoFit/>
          </a:bodyPr>
          <a:lstStyle/>
          <a:p>
            <a:pPr marL="342900" lvl="1" indent="-342900">
              <a:lnSpc>
                <a:spcPct val="120000"/>
              </a:lnSpc>
              <a:buFont typeface="Wingdings" panose="05000000000000000000" pitchFamily="2" charset="2"/>
              <a:buChar char="Ø"/>
            </a:pPr>
            <a:r>
              <a:rPr lang="en-US" altLang="zh-CN" sz="2000" b="1" dirty="0">
                <a:solidFill>
                  <a:srgbClr val="003366"/>
                </a:solidFill>
                <a:latin typeface="微软雅黑" panose="020B0503020204020204" pitchFamily="34" charset="-122"/>
                <a:ea typeface="微软雅黑" panose="020B0503020204020204" pitchFamily="34" charset="-122"/>
              </a:rPr>
              <a:t>0.1 </a:t>
            </a:r>
            <a:r>
              <a:rPr lang="zh-CN" altLang="en-US" sz="2000" b="1" dirty="0">
                <a:solidFill>
                  <a:srgbClr val="003366"/>
                </a:solidFill>
                <a:latin typeface="微软雅黑" panose="020B0503020204020204" pitchFamily="34" charset="-122"/>
                <a:ea typeface="微软雅黑" panose="020B0503020204020204" pitchFamily="34" charset="-122"/>
              </a:rPr>
              <a:t>变量属性</a:t>
            </a:r>
          </a:p>
          <a:p>
            <a:pPr marL="952500" lvl="2" indent="-342900">
              <a:lnSpc>
                <a:spcPct val="120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变量属性</a:t>
            </a:r>
            <a:r>
              <a:rPr lang="en-US" altLang="zh-CN" sz="2000" dirty="0">
                <a:solidFill>
                  <a:srgbClr val="003366"/>
                </a:solidFill>
                <a:latin typeface="微软雅黑" panose="020B0503020204020204" pitchFamily="34" charset="-122"/>
                <a:ea typeface="微软雅黑" panose="020B0503020204020204" pitchFamily="34" charset="-122"/>
              </a:rPr>
              <a:t>&gt; -&gt; mut</a:t>
            </a:r>
          </a:p>
          <a:p>
            <a:pPr marL="0" lvl="1" indent="457200">
              <a:lnSpc>
                <a:spcPct val="120000"/>
              </a:lnSpc>
            </a:pPr>
            <a:r>
              <a:rPr lang="zh-CN" altLang="en-US" sz="2000" dirty="0">
                <a:solidFill>
                  <a:srgbClr val="003366"/>
                </a:solidFill>
                <a:latin typeface="微软雅黑" panose="020B0503020204020204" pitchFamily="34" charset="-122"/>
                <a:ea typeface="微软雅黑" panose="020B0503020204020204" pitchFamily="34" charset="-122"/>
              </a:rPr>
              <a:t>语义说明：允许变量被二次赋值，后续拓展的不可变变量不允许被二次赋值。</a:t>
            </a:r>
          </a:p>
          <a:p>
            <a:pPr marL="0" lvl="1">
              <a:lnSpc>
                <a:spcPct val="120000"/>
              </a:lnSpc>
            </a:pPr>
            <a:endParaRPr lang="en-US" altLang="zh-CN" sz="2000" dirty="0">
              <a:solidFill>
                <a:srgbClr val="003366"/>
              </a:solidFill>
              <a:latin typeface="微软雅黑" panose="020B0503020204020204" pitchFamily="34" charset="-122"/>
              <a:ea typeface="微软雅黑" panose="020B0503020204020204" pitchFamily="34" charset="-122"/>
            </a:endParaRPr>
          </a:p>
          <a:p>
            <a:pPr marL="342900" lvl="1" indent="-342900">
              <a:lnSpc>
                <a:spcPct val="120000"/>
              </a:lnSpc>
              <a:buFont typeface="Wingdings" panose="05000000000000000000" pitchFamily="2" charset="2"/>
              <a:buChar char="Ø"/>
            </a:pPr>
            <a:r>
              <a:rPr lang="en-US" altLang="zh-CN" sz="2000" b="1" dirty="0">
                <a:solidFill>
                  <a:srgbClr val="003366"/>
                </a:solidFill>
                <a:latin typeface="微软雅黑" panose="020B0503020204020204" pitchFamily="34" charset="-122"/>
                <a:ea typeface="微软雅黑" panose="020B0503020204020204" pitchFamily="34" charset="-122"/>
              </a:rPr>
              <a:t>0.2 </a:t>
            </a:r>
            <a:r>
              <a:rPr lang="zh-CN" altLang="en-US" sz="2000" b="1" dirty="0">
                <a:solidFill>
                  <a:srgbClr val="003366"/>
                </a:solidFill>
                <a:latin typeface="微软雅黑" panose="020B0503020204020204" pitchFamily="34" charset="-122"/>
                <a:ea typeface="微软雅黑" panose="020B0503020204020204" pitchFamily="34" charset="-122"/>
              </a:rPr>
              <a:t>类型</a:t>
            </a:r>
          </a:p>
          <a:p>
            <a:pPr marL="952500" lvl="2" indent="-342900">
              <a:lnSpc>
                <a:spcPct val="120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类型</a:t>
            </a:r>
            <a:r>
              <a:rPr lang="en-US" altLang="zh-CN" sz="2000" dirty="0">
                <a:solidFill>
                  <a:srgbClr val="003366"/>
                </a:solidFill>
                <a:latin typeface="微软雅黑" panose="020B0503020204020204" pitchFamily="34" charset="-122"/>
                <a:ea typeface="微软雅黑" panose="020B0503020204020204" pitchFamily="34" charset="-122"/>
              </a:rPr>
              <a:t>&gt; -&gt; i32</a:t>
            </a:r>
          </a:p>
          <a:p>
            <a:pPr marL="0" lvl="1" indent="457200">
              <a:lnSpc>
                <a:spcPct val="120000"/>
              </a:lnSpc>
            </a:pPr>
            <a:r>
              <a:rPr lang="zh-CN" altLang="en-US" sz="2000" dirty="0">
                <a:solidFill>
                  <a:srgbClr val="003366"/>
                </a:solidFill>
                <a:latin typeface="微软雅黑" panose="020B0503020204020204" pitchFamily="34" charset="-122"/>
                <a:ea typeface="微软雅黑" panose="020B0503020204020204" pitchFamily="34" charset="-122"/>
              </a:rPr>
              <a:t>语义说明：支持基础类型</a:t>
            </a:r>
            <a:r>
              <a:rPr lang="en-US" altLang="zh-CN" sz="2000" dirty="0">
                <a:solidFill>
                  <a:srgbClr val="003366"/>
                </a:solidFill>
                <a:latin typeface="微软雅黑" panose="020B0503020204020204" pitchFamily="34" charset="-122"/>
                <a:ea typeface="微软雅黑" panose="020B0503020204020204" pitchFamily="34" charset="-122"/>
              </a:rPr>
              <a:t>i32</a:t>
            </a:r>
            <a:r>
              <a:rPr lang="zh-CN" altLang="en-US" sz="2000" dirty="0">
                <a:solidFill>
                  <a:srgbClr val="003366"/>
                </a:solidFill>
                <a:latin typeface="微软雅黑" panose="020B0503020204020204" pitchFamily="34" charset="-122"/>
                <a:ea typeface="微软雅黑" panose="020B0503020204020204" pitchFamily="34" charset="-122"/>
              </a:rPr>
              <a:t>，表示</a:t>
            </a:r>
            <a:r>
              <a:rPr lang="en-US" altLang="zh-CN" sz="2000" dirty="0">
                <a:solidFill>
                  <a:srgbClr val="003366"/>
                </a:solidFill>
                <a:latin typeface="微软雅黑" panose="020B0503020204020204" pitchFamily="34" charset="-122"/>
                <a:ea typeface="微软雅黑" panose="020B0503020204020204" pitchFamily="34" charset="-122"/>
              </a:rPr>
              <a:t>32</a:t>
            </a:r>
            <a:r>
              <a:rPr lang="zh-CN" altLang="en-US" sz="2000" dirty="0">
                <a:solidFill>
                  <a:srgbClr val="003366"/>
                </a:solidFill>
                <a:latin typeface="微软雅黑" panose="020B0503020204020204" pitchFamily="34" charset="-122"/>
                <a:ea typeface="微软雅黑" panose="020B0503020204020204" pitchFamily="34" charset="-122"/>
              </a:rPr>
              <a:t>位的整型。</a:t>
            </a:r>
            <a:endParaRPr lang="en-US" altLang="zh-CN" sz="2000" dirty="0">
              <a:solidFill>
                <a:srgbClr val="003366"/>
              </a:solidFill>
              <a:latin typeface="微软雅黑" panose="020B0503020204020204" pitchFamily="34" charset="-122"/>
              <a:ea typeface="微软雅黑" panose="020B0503020204020204" pitchFamily="34" charset="-122"/>
            </a:endParaRPr>
          </a:p>
          <a:p>
            <a:pPr marL="0" lvl="1">
              <a:lnSpc>
                <a:spcPct val="120000"/>
              </a:lnSpc>
            </a:pPr>
            <a:endParaRPr lang="en-US" altLang="zh-CN" sz="2000" dirty="0">
              <a:solidFill>
                <a:srgbClr val="003366"/>
              </a:solidFill>
              <a:latin typeface="微软雅黑" panose="020B0503020204020204" pitchFamily="34" charset="-122"/>
              <a:ea typeface="微软雅黑" panose="020B0503020204020204" pitchFamily="34" charset="-122"/>
            </a:endParaRPr>
          </a:p>
          <a:p>
            <a:pPr marL="342900" lvl="1" indent="-342900">
              <a:lnSpc>
                <a:spcPct val="120000"/>
              </a:lnSpc>
              <a:buFont typeface="Wingdings" panose="05000000000000000000" pitchFamily="2" charset="2"/>
              <a:buChar char="Ø"/>
            </a:pPr>
            <a:r>
              <a:rPr lang="en-US" altLang="zh-CN" sz="2000" b="1" dirty="0">
                <a:solidFill>
                  <a:srgbClr val="003366"/>
                </a:solidFill>
                <a:latin typeface="微软雅黑" panose="020B0503020204020204" pitchFamily="34" charset="-122"/>
                <a:ea typeface="微软雅黑" panose="020B0503020204020204" pitchFamily="34" charset="-122"/>
              </a:rPr>
              <a:t>0.3 </a:t>
            </a:r>
            <a:r>
              <a:rPr lang="zh-CN" altLang="en-US" sz="2000" b="1" dirty="0">
                <a:solidFill>
                  <a:srgbClr val="003366"/>
                </a:solidFill>
                <a:latin typeface="微软雅黑" panose="020B0503020204020204" pitchFamily="34" charset="-122"/>
                <a:ea typeface="微软雅黑" panose="020B0503020204020204" pitchFamily="34" charset="-122"/>
              </a:rPr>
              <a:t>左值</a:t>
            </a:r>
          </a:p>
          <a:p>
            <a:pPr marL="952500" lvl="2" indent="-342900">
              <a:lnSpc>
                <a:spcPct val="120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左值</a:t>
            </a:r>
            <a:r>
              <a:rPr lang="en-US" altLang="zh-CN" sz="2000" dirty="0">
                <a:solidFill>
                  <a:srgbClr val="003366"/>
                </a:solidFill>
                <a:latin typeface="微软雅黑" panose="020B0503020204020204" pitchFamily="34" charset="-122"/>
                <a:ea typeface="微软雅黑" panose="020B0503020204020204" pitchFamily="34" charset="-122"/>
              </a:rPr>
              <a:t>&gt; -&gt; &lt;</a:t>
            </a:r>
            <a:r>
              <a:rPr lang="zh-CN" altLang="en-US" sz="2000" dirty="0">
                <a:solidFill>
                  <a:srgbClr val="003366"/>
                </a:solidFill>
                <a:latin typeface="微软雅黑" panose="020B0503020204020204" pitchFamily="34" charset="-122"/>
                <a:ea typeface="微软雅黑" panose="020B0503020204020204" pitchFamily="34" charset="-122"/>
              </a:rPr>
              <a:t>可取引用</a:t>
            </a:r>
            <a:r>
              <a:rPr lang="en-US" altLang="zh-CN" sz="20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可取引用</a:t>
            </a:r>
            <a:r>
              <a:rPr lang="en-US" altLang="zh-CN" sz="2000" dirty="0">
                <a:solidFill>
                  <a:srgbClr val="003366"/>
                </a:solidFill>
                <a:latin typeface="微软雅黑" panose="020B0503020204020204" pitchFamily="34" charset="-122"/>
                <a:ea typeface="微软雅黑" panose="020B0503020204020204" pitchFamily="34" charset="-122"/>
              </a:rPr>
              <a:t> -&gt; &lt;</a:t>
            </a:r>
            <a:r>
              <a:rPr lang="zh-CN" altLang="en-US" sz="2000" dirty="0">
                <a:solidFill>
                  <a:srgbClr val="003366"/>
                </a:solidFill>
                <a:latin typeface="微软雅黑" panose="020B0503020204020204" pitchFamily="34" charset="-122"/>
                <a:ea typeface="微软雅黑" panose="020B0503020204020204" pitchFamily="34" charset="-122"/>
              </a:rPr>
              <a:t>可取元素</a:t>
            </a:r>
            <a:r>
              <a:rPr lang="en-US" altLang="zh-CN" sz="20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可取元素</a:t>
            </a:r>
            <a:r>
              <a:rPr lang="en-US" altLang="zh-CN" sz="2000" dirty="0">
                <a:solidFill>
                  <a:srgbClr val="003366"/>
                </a:solidFill>
                <a:latin typeface="微软雅黑" panose="020B0503020204020204" pitchFamily="34" charset="-122"/>
                <a:ea typeface="微软雅黑" panose="020B0503020204020204" pitchFamily="34" charset="-122"/>
              </a:rPr>
              <a:t>&gt; -&gt; &lt;ID&gt;</a:t>
            </a:r>
          </a:p>
          <a:p>
            <a:pPr marL="0" lvl="1" indent="457200">
              <a:lnSpc>
                <a:spcPct val="120000"/>
              </a:lnSpc>
            </a:pPr>
            <a:r>
              <a:rPr lang="zh-CN" altLang="en-US" sz="2000" dirty="0">
                <a:solidFill>
                  <a:srgbClr val="003366"/>
                </a:solidFill>
                <a:latin typeface="微软雅黑" panose="020B0503020204020204" pitchFamily="34" charset="-122"/>
                <a:ea typeface="微软雅黑" panose="020B0503020204020204" pitchFamily="34" charset="-122"/>
              </a:rPr>
              <a:t>语义说明：标识符的一些属性：可作为左值、可取引用、可取元素。</a:t>
            </a:r>
            <a:endParaRPr lang="en-US" altLang="zh-CN" sz="2000" b="1" dirty="0">
              <a:solidFill>
                <a:srgbClr val="003366"/>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38F6B71F-481E-0677-B162-52CEC72F3D43}"/>
              </a:ext>
            </a:extLst>
          </p:cNvPr>
          <p:cNvSpPr txBox="1"/>
          <p:nvPr/>
        </p:nvSpPr>
        <p:spPr>
          <a:xfrm>
            <a:off x="502870" y="5417300"/>
            <a:ext cx="3720922" cy="1061381"/>
          </a:xfrm>
          <a:prstGeom prst="rect">
            <a:avLst/>
          </a:prstGeom>
          <a:noFill/>
        </p:spPr>
        <p:txBody>
          <a:bodyPr wrap="square">
            <a:spAutoFit/>
          </a:bodyPr>
          <a:lstStyle/>
          <a:p>
            <a:pPr marL="0" lvl="1">
              <a:lnSpc>
                <a:spcPct val="120000"/>
              </a:lnSpc>
            </a:pPr>
            <a:r>
              <a:rPr lang="en-US" altLang="zh-CN" sz="1800" dirty="0">
                <a:latin typeface="微软雅黑" panose="020B0503020204020204" pitchFamily="34" charset="-122"/>
                <a:ea typeface="微软雅黑" panose="020B0503020204020204" pitchFamily="34" charset="-122"/>
              </a:rPr>
              <a:t>fn program_1_1() {</a:t>
            </a:r>
          </a:p>
          <a:p>
            <a:pPr marL="0" lvl="1">
              <a:lnSpc>
                <a:spcPct val="120000"/>
              </a:lnSpc>
            </a:pPr>
            <a:endParaRPr lang="en-US" altLang="zh-CN" sz="1800" dirty="0">
              <a:latin typeface="微软雅黑" panose="020B0503020204020204" pitchFamily="34" charset="-122"/>
              <a:ea typeface="微软雅黑" panose="020B0503020204020204" pitchFamily="34" charset="-122"/>
            </a:endParaRPr>
          </a:p>
          <a:p>
            <a:pPr marL="0" lvl="1">
              <a:lnSpc>
                <a:spcPct val="120000"/>
              </a:lnSpc>
            </a:pPr>
            <a:r>
              <a:rPr lang="en-US" altLang="zh-CN" sz="18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275244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E6FFD-FC18-C69C-FB39-67E092623D06}"/>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42D32F61-F898-25D5-77D5-E1687ADF0F3B}"/>
              </a:ext>
            </a:extLst>
          </p:cNvPr>
          <p:cNvSpPr txBox="1">
            <a:spLocks/>
          </p:cNvSpPr>
          <p:nvPr/>
        </p:nvSpPr>
        <p:spPr>
          <a:xfrm>
            <a:off x="72008" y="-12202"/>
            <a:ext cx="7752184" cy="848914"/>
          </a:xfrm>
          <a:prstGeom prst="rect">
            <a:avLst/>
          </a:prstGeom>
        </p:spPr>
        <p:txBody>
          <a:bodyPr/>
          <a:lstStyle>
            <a:lvl1pPr algn="ctr" defTabSz="1219200" rtl="0" eaLnBrk="1" latinLnBrk="0" hangingPunct="1">
              <a:spcBef>
                <a:spcPct val="0"/>
              </a:spcBef>
              <a:buNone/>
              <a:defRPr sz="5865" kern="1200">
                <a:solidFill>
                  <a:schemeClr val="tx1"/>
                </a:solidFill>
                <a:latin typeface="+mj-lt"/>
                <a:ea typeface="+mj-ea"/>
                <a:cs typeface="+mj-cs"/>
              </a:defRPr>
            </a:lvl1pPr>
          </a:lstStyle>
          <a:p>
            <a:pPr algn="l"/>
            <a:r>
              <a:rPr lang="zh-CN" altLang="en-US" sz="3600" b="1" dirty="0">
                <a:solidFill>
                  <a:schemeClr val="bg1"/>
                </a:solidFill>
                <a:latin typeface="微软雅黑" panose="020B0503020204020204" pitchFamily="34" charset="-122"/>
                <a:ea typeface="微软雅黑" panose="020B0503020204020204" pitchFamily="34" charset="-122"/>
              </a:rPr>
              <a:t>类</a:t>
            </a:r>
            <a:r>
              <a:rPr lang="en-US" altLang="zh-CN" sz="3600" b="1" dirty="0">
                <a:solidFill>
                  <a:schemeClr val="bg1"/>
                </a:solidFill>
                <a:latin typeface="微软雅黑" panose="020B0503020204020204" pitchFamily="34" charset="-122"/>
                <a:ea typeface="微软雅黑" panose="020B0503020204020204" pitchFamily="34" charset="-122"/>
              </a:rPr>
              <a:t>Rust</a:t>
            </a:r>
            <a:r>
              <a:rPr lang="zh-CN" altLang="en-US" sz="3600" b="1" dirty="0">
                <a:solidFill>
                  <a:schemeClr val="bg1"/>
                </a:solidFill>
                <a:latin typeface="微软雅黑" panose="020B0503020204020204" pitchFamily="34" charset="-122"/>
                <a:ea typeface="微软雅黑" panose="020B0503020204020204" pitchFamily="34" charset="-122"/>
              </a:rPr>
              <a:t>语法和语义规则</a:t>
            </a:r>
          </a:p>
        </p:txBody>
      </p:sp>
      <p:sp>
        <p:nvSpPr>
          <p:cNvPr id="3" name="文本框 2">
            <a:extLst>
              <a:ext uri="{FF2B5EF4-FFF2-40B4-BE49-F238E27FC236}">
                <a16:creationId xmlns:a16="http://schemas.microsoft.com/office/drawing/2014/main" id="{17A9623C-4F03-9B7E-3596-A8E721CBCD44}"/>
              </a:ext>
            </a:extLst>
          </p:cNvPr>
          <p:cNvSpPr txBox="1"/>
          <p:nvPr/>
        </p:nvSpPr>
        <p:spPr>
          <a:xfrm>
            <a:off x="8472264" y="814140"/>
            <a:ext cx="3719736" cy="5755422"/>
          </a:xfrm>
          <a:prstGeom prst="rect">
            <a:avLst/>
          </a:prstGeom>
          <a:noFill/>
        </p:spPr>
        <p:txBody>
          <a:bodyPr wrap="square">
            <a:spAutoFit/>
          </a:bodyPr>
          <a:lstStyle/>
          <a:p>
            <a:pPr marL="0" lvl="1" eaLnBrk="1" hangingPunct="1"/>
            <a:r>
              <a:rPr lang="en-US" altLang="zh-CN" sz="1600" dirty="0">
                <a:latin typeface="微软雅黑" panose="020B0503020204020204" pitchFamily="34" charset="-122"/>
                <a:ea typeface="微软雅黑" panose="020B0503020204020204" pitchFamily="34" charset="-122"/>
              </a:rPr>
              <a:t>fn program_1_2() {</a:t>
            </a:r>
          </a:p>
          <a:p>
            <a:pPr marL="0" lvl="1" eaLnBrk="1" hangingPunct="1"/>
            <a:r>
              <a:rPr lang="en-US" altLang="zh-CN" sz="1600" dirty="0">
                <a:latin typeface="微软雅黑" panose="020B0503020204020204" pitchFamily="34" charset="-122"/>
                <a:ea typeface="微软雅黑" panose="020B0503020204020204" pitchFamily="34" charset="-122"/>
              </a:rPr>
              <a:t>    ;;;;;;</a:t>
            </a:r>
          </a:p>
          <a:p>
            <a:pPr marL="0" lvl="1" eaLnBrk="1" hangingPunct="1"/>
            <a:r>
              <a:rPr lang="en-US" altLang="zh-CN" sz="1600" dirty="0">
                <a:latin typeface="微软雅黑" panose="020B0503020204020204" pitchFamily="34" charset="-122"/>
                <a:ea typeface="微软雅黑" panose="020B0503020204020204" pitchFamily="34" charset="-122"/>
              </a:rPr>
              <a:t>}</a:t>
            </a:r>
          </a:p>
          <a:p>
            <a:pPr marL="0" lvl="1" eaLnBrk="1" hangingPunct="1"/>
            <a:endParaRPr lang="en-US" altLang="zh-CN" sz="1600" dirty="0">
              <a:latin typeface="微软雅黑" panose="020B0503020204020204" pitchFamily="34" charset="-122"/>
              <a:ea typeface="微软雅黑" panose="020B0503020204020204" pitchFamily="34" charset="-122"/>
            </a:endParaRPr>
          </a:p>
          <a:p>
            <a:pPr marL="0" lvl="1" eaLnBrk="1" hangingPunct="1"/>
            <a:r>
              <a:rPr lang="en-US" altLang="zh-CN" sz="1600" dirty="0">
                <a:latin typeface="微软雅黑" panose="020B0503020204020204" pitchFamily="34" charset="-122"/>
                <a:ea typeface="微软雅黑" panose="020B0503020204020204" pitchFamily="34" charset="-122"/>
              </a:rPr>
              <a:t>fn program_1_3() {</a:t>
            </a:r>
          </a:p>
          <a:p>
            <a:pPr marL="0" lvl="1" eaLnBrk="1" hangingPunct="1"/>
            <a:r>
              <a:rPr lang="en-US" altLang="zh-CN" sz="1600" dirty="0">
                <a:latin typeface="微软雅黑" panose="020B0503020204020204" pitchFamily="34" charset="-122"/>
                <a:ea typeface="微软雅黑" panose="020B0503020204020204" pitchFamily="34" charset="-122"/>
              </a:rPr>
              <a:t>    return ;</a:t>
            </a:r>
          </a:p>
          <a:p>
            <a:pPr marL="0" lvl="1" eaLnBrk="1" hangingPunct="1"/>
            <a:r>
              <a:rPr lang="en-US" altLang="zh-CN" sz="1600" dirty="0">
                <a:latin typeface="微软雅黑" panose="020B0503020204020204" pitchFamily="34" charset="-122"/>
                <a:ea typeface="微软雅黑" panose="020B0503020204020204" pitchFamily="34" charset="-122"/>
              </a:rPr>
              <a:t>}</a:t>
            </a:r>
          </a:p>
          <a:p>
            <a:pPr marL="0" lvl="1" eaLnBrk="1" hangingPunct="1"/>
            <a:endParaRPr lang="en-US" altLang="zh-CN" sz="1600" dirty="0">
              <a:latin typeface="微软雅黑" panose="020B0503020204020204" pitchFamily="34" charset="-122"/>
              <a:ea typeface="微软雅黑" panose="020B0503020204020204" pitchFamily="34" charset="-122"/>
            </a:endParaRPr>
          </a:p>
          <a:p>
            <a:pPr marL="0" lvl="1" eaLnBrk="1" hangingPunct="1"/>
            <a:r>
              <a:rPr lang="en-US" altLang="zh-CN" sz="1600" dirty="0">
                <a:latin typeface="微软雅黑" panose="020B0503020204020204" pitchFamily="34" charset="-122"/>
                <a:ea typeface="微软雅黑" panose="020B0503020204020204" pitchFamily="34" charset="-122"/>
              </a:rPr>
              <a:t>fn program_1_4(mut a:i32) {</a:t>
            </a:r>
          </a:p>
          <a:p>
            <a:pPr marL="0" lvl="1" eaLnBrk="1" hangingPunct="1"/>
            <a:r>
              <a:rPr lang="en-US" altLang="zh-CN" sz="1600" dirty="0">
                <a:latin typeface="微软雅黑" panose="020B0503020204020204" pitchFamily="34" charset="-122"/>
                <a:ea typeface="微软雅黑" panose="020B0503020204020204" pitchFamily="34" charset="-122"/>
              </a:rPr>
              <a:t>    </a:t>
            </a:r>
          </a:p>
          <a:p>
            <a:pPr marL="0" lvl="1" eaLnBrk="1" hangingPunct="1"/>
            <a:r>
              <a:rPr lang="en-US" altLang="zh-CN" sz="1600" dirty="0">
                <a:latin typeface="微软雅黑" panose="020B0503020204020204" pitchFamily="34" charset="-122"/>
                <a:ea typeface="微软雅黑" panose="020B0503020204020204" pitchFamily="34" charset="-122"/>
              </a:rPr>
              <a:t>}</a:t>
            </a:r>
          </a:p>
          <a:p>
            <a:pPr marL="0" lvl="1" eaLnBrk="1" hangingPunct="1"/>
            <a:endParaRPr lang="en-US" altLang="zh-CN" sz="1600" dirty="0">
              <a:latin typeface="微软雅黑" panose="020B0503020204020204" pitchFamily="34" charset="-122"/>
              <a:ea typeface="微软雅黑" panose="020B0503020204020204" pitchFamily="34" charset="-122"/>
            </a:endParaRPr>
          </a:p>
          <a:p>
            <a:pPr marL="0" lvl="1" eaLnBrk="1" hangingPunct="1"/>
            <a:r>
              <a:rPr lang="en-US" altLang="zh-CN" sz="1600" dirty="0">
                <a:latin typeface="微软雅黑" panose="020B0503020204020204" pitchFamily="34" charset="-122"/>
                <a:ea typeface="微软雅黑" panose="020B0503020204020204" pitchFamily="34" charset="-122"/>
              </a:rPr>
              <a:t>fn program_1_5__1() -&gt; i32 {</a:t>
            </a:r>
          </a:p>
          <a:p>
            <a:pPr marL="0" lvl="1" eaLnBrk="1" hangingPunct="1"/>
            <a:r>
              <a:rPr lang="en-US" altLang="zh-CN" sz="1600" dirty="0">
                <a:latin typeface="微软雅黑" panose="020B0503020204020204" pitchFamily="34" charset="-122"/>
                <a:ea typeface="微软雅黑" panose="020B0503020204020204" pitchFamily="34" charset="-122"/>
              </a:rPr>
              <a:t>    return 1;</a:t>
            </a:r>
          </a:p>
          <a:p>
            <a:pPr marL="0" lvl="1" eaLnBrk="1" hangingPunct="1"/>
            <a:r>
              <a:rPr lang="en-US" altLang="zh-CN" sz="1600" dirty="0">
                <a:latin typeface="微软雅黑" panose="020B0503020204020204" pitchFamily="34" charset="-122"/>
                <a:ea typeface="微软雅黑" panose="020B0503020204020204" pitchFamily="34" charset="-122"/>
              </a:rPr>
              <a:t>}</a:t>
            </a:r>
          </a:p>
          <a:p>
            <a:pPr marL="0" lvl="1" eaLnBrk="1" hangingPunct="1"/>
            <a:endParaRPr lang="en-US" altLang="zh-CN" sz="1600" dirty="0">
              <a:latin typeface="微软雅黑" panose="020B0503020204020204" pitchFamily="34" charset="-122"/>
              <a:ea typeface="微软雅黑" panose="020B0503020204020204" pitchFamily="34" charset="-122"/>
            </a:endParaRPr>
          </a:p>
          <a:p>
            <a:pPr marL="0" lvl="1" eaLnBrk="1" hangingPunct="1"/>
            <a:r>
              <a:rPr lang="en-US" altLang="zh-CN" sz="1600" dirty="0">
                <a:latin typeface="微软雅黑" panose="020B0503020204020204" pitchFamily="34" charset="-122"/>
                <a:ea typeface="微软雅黑" panose="020B0503020204020204" pitchFamily="34" charset="-122"/>
              </a:rPr>
              <a:t>fn program_1_5__2() -&gt; i32 {</a:t>
            </a:r>
          </a:p>
          <a:p>
            <a:pPr marL="0" lvl="1" eaLnBrk="1" hangingPunct="1"/>
            <a:r>
              <a:rPr lang="en-US" altLang="zh-CN" sz="1600" dirty="0">
                <a:latin typeface="微软雅黑" panose="020B0503020204020204" pitchFamily="34" charset="-122"/>
                <a:ea typeface="微软雅黑" panose="020B0503020204020204" pitchFamily="34" charset="-122"/>
              </a:rPr>
              <a:t>    return ;</a:t>
            </a:r>
          </a:p>
          <a:p>
            <a:pPr marL="0" lvl="1" eaLnBrk="1" hangingPunct="1"/>
            <a:r>
              <a:rPr lang="en-US" altLang="zh-CN" sz="1600" dirty="0">
                <a:latin typeface="微软雅黑" panose="020B0503020204020204" pitchFamily="34" charset="-122"/>
                <a:ea typeface="微软雅黑" panose="020B0503020204020204" pitchFamily="34" charset="-122"/>
              </a:rPr>
              <a:t>}</a:t>
            </a:r>
          </a:p>
          <a:p>
            <a:pPr marL="0" lvl="1" eaLnBrk="1" hangingPunct="1"/>
            <a:endParaRPr lang="en-US" altLang="zh-CN" sz="1600" dirty="0">
              <a:latin typeface="微软雅黑" panose="020B0503020204020204" pitchFamily="34" charset="-122"/>
              <a:ea typeface="微软雅黑" panose="020B0503020204020204" pitchFamily="34" charset="-122"/>
            </a:endParaRPr>
          </a:p>
          <a:p>
            <a:pPr marL="0" lvl="1" eaLnBrk="1" hangingPunct="1"/>
            <a:r>
              <a:rPr lang="en-US" altLang="zh-CN" sz="1600" dirty="0">
                <a:latin typeface="微软雅黑" panose="020B0503020204020204" pitchFamily="34" charset="-122"/>
                <a:ea typeface="微软雅黑" panose="020B0503020204020204" pitchFamily="34" charset="-122"/>
              </a:rPr>
              <a:t>fn program_1_5__3() {</a:t>
            </a:r>
          </a:p>
          <a:p>
            <a:pPr marL="0" lvl="1" eaLnBrk="1" hangingPunct="1"/>
            <a:r>
              <a:rPr lang="en-US" altLang="zh-CN" sz="1600" dirty="0">
                <a:latin typeface="微软雅黑" panose="020B0503020204020204" pitchFamily="34" charset="-122"/>
                <a:ea typeface="微软雅黑" panose="020B0503020204020204" pitchFamily="34" charset="-122"/>
              </a:rPr>
              <a:t>    return 1;</a:t>
            </a:r>
          </a:p>
          <a:p>
            <a:pPr marL="0" lvl="1" eaLnBrk="1" hangingPunct="1"/>
            <a:r>
              <a:rPr lang="en-US" altLang="zh-CN" sz="1600" dirty="0">
                <a:latin typeface="微软雅黑" panose="020B0503020204020204" pitchFamily="34" charset="-122"/>
                <a:ea typeface="微软雅黑" panose="020B0503020204020204" pitchFamily="34" charset="-122"/>
              </a:rPr>
              <a:t>}</a:t>
            </a:r>
          </a:p>
        </p:txBody>
      </p:sp>
      <p:sp>
        <p:nvSpPr>
          <p:cNvPr id="7" name="文本框 6">
            <a:extLst>
              <a:ext uri="{FF2B5EF4-FFF2-40B4-BE49-F238E27FC236}">
                <a16:creationId xmlns:a16="http://schemas.microsoft.com/office/drawing/2014/main" id="{A9BFF234-5B90-03FD-3DB5-36E1FBA673FE}"/>
              </a:ext>
            </a:extLst>
          </p:cNvPr>
          <p:cNvSpPr txBox="1"/>
          <p:nvPr/>
        </p:nvSpPr>
        <p:spPr>
          <a:xfrm>
            <a:off x="76324" y="807368"/>
            <a:ext cx="8395940" cy="6047361"/>
          </a:xfrm>
          <a:prstGeom prst="rect">
            <a:avLst/>
          </a:prstGeom>
          <a:noFill/>
        </p:spPr>
        <p:txBody>
          <a:bodyPr wrap="square">
            <a:spAutoFit/>
          </a:bodyPr>
          <a:lstStyle/>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1.2 </a:t>
            </a:r>
            <a:r>
              <a:rPr lang="zh-CN" altLang="en-US" sz="1800" b="1" dirty="0">
                <a:solidFill>
                  <a:srgbClr val="003366"/>
                </a:solidFill>
                <a:latin typeface="微软雅黑" panose="020B0503020204020204" pitchFamily="34" charset="-122"/>
                <a:ea typeface="微软雅黑" panose="020B0503020204020204" pitchFamily="34" charset="-122"/>
              </a:rPr>
              <a:t>语句（拓展</a:t>
            </a:r>
            <a:r>
              <a:rPr lang="en-US" altLang="zh-CN" sz="1800" b="1" dirty="0">
                <a:solidFill>
                  <a:srgbClr val="003366"/>
                </a:solidFill>
                <a:latin typeface="微软雅黑" panose="020B0503020204020204" pitchFamily="34" charset="-122"/>
                <a:ea typeface="微软雅黑" panose="020B0503020204020204" pitchFamily="34" charset="-122"/>
              </a:rPr>
              <a:t>1.1</a:t>
            </a:r>
            <a:r>
              <a:rPr lang="zh-CN" altLang="en-US" sz="1800" b="1" dirty="0">
                <a:solidFill>
                  <a:srgbClr val="003366"/>
                </a:solidFill>
                <a:latin typeface="微软雅黑" panose="020B0503020204020204" pitchFamily="34" charset="-122"/>
                <a:ea typeface="微软雅黑" panose="020B0503020204020204" pitchFamily="34" charset="-122"/>
              </a:rPr>
              <a:t>）</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语句串</a:t>
            </a:r>
            <a:r>
              <a:rPr lang="en-US" altLang="zh-CN" sz="1800" dirty="0">
                <a:solidFill>
                  <a:srgbClr val="003366"/>
                </a:solidFill>
                <a:latin typeface="微软雅黑" panose="020B0503020204020204" pitchFamily="34" charset="-122"/>
                <a:ea typeface="微软雅黑" panose="020B0503020204020204" pitchFamily="34" charset="-122"/>
              </a:rPr>
              <a:t>&gt; -&gt; &lt;</a:t>
            </a:r>
            <a:r>
              <a:rPr lang="zh-CN" altLang="en-US" sz="1800" dirty="0">
                <a:solidFill>
                  <a:srgbClr val="003366"/>
                </a:solidFill>
                <a:latin typeface="微软雅黑" panose="020B0503020204020204" pitchFamily="34" charset="-122"/>
                <a:ea typeface="微软雅黑" panose="020B0503020204020204" pitchFamily="34" charset="-122"/>
              </a:rPr>
              <a:t>语句</a:t>
            </a:r>
            <a:r>
              <a:rPr lang="en-US" altLang="zh-CN" sz="1800" dirty="0">
                <a:solidFill>
                  <a:srgbClr val="003366"/>
                </a:solidFill>
                <a:latin typeface="微软雅黑" panose="020B0503020204020204" pitchFamily="34" charset="-122"/>
                <a:ea typeface="微软雅黑" panose="020B0503020204020204" pitchFamily="34" charset="-122"/>
              </a:rPr>
              <a:t>&gt; &lt;</a:t>
            </a:r>
            <a:r>
              <a:rPr lang="zh-CN" altLang="en-US" sz="1800" dirty="0">
                <a:solidFill>
                  <a:srgbClr val="003366"/>
                </a:solidFill>
                <a:latin typeface="微软雅黑" panose="020B0503020204020204" pitchFamily="34" charset="-122"/>
                <a:ea typeface="微软雅黑" panose="020B0503020204020204" pitchFamily="34" charset="-122"/>
              </a:rPr>
              <a:t>语句串</a:t>
            </a:r>
            <a:r>
              <a:rPr lang="en-US" altLang="zh-CN" sz="1800" dirty="0">
                <a:solidFill>
                  <a:srgbClr val="003366"/>
                </a:solidFill>
                <a:latin typeface="微软雅黑" panose="020B0503020204020204" pitchFamily="34" charset="-122"/>
                <a:ea typeface="微软雅黑" panose="020B0503020204020204" pitchFamily="34" charset="-122"/>
              </a:rPr>
              <a:t>&gt;     </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语句</a:t>
            </a:r>
            <a:r>
              <a:rPr lang="en-US" altLang="zh-CN" sz="1800" dirty="0">
                <a:solidFill>
                  <a:srgbClr val="003366"/>
                </a:solidFill>
                <a:latin typeface="微软雅黑" panose="020B0503020204020204" pitchFamily="34" charset="-122"/>
                <a:ea typeface="微软雅黑" panose="020B0503020204020204" pitchFamily="34" charset="-122"/>
              </a:rPr>
              <a:t>&gt;-&gt; ';'</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语义说明：语句串由任意数量个语句构成，单个分号可以作为一个语句。</a:t>
            </a:r>
            <a:endParaRPr lang="en-US" altLang="zh-CN" sz="1800" dirty="0">
              <a:solidFill>
                <a:srgbClr val="003366"/>
              </a:solidFill>
              <a:latin typeface="微软雅黑" panose="020B0503020204020204" pitchFamily="34" charset="-122"/>
              <a:ea typeface="微软雅黑" panose="020B0503020204020204" pitchFamily="34" charset="-122"/>
            </a:endParaRPr>
          </a:p>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1.3 </a:t>
            </a:r>
            <a:r>
              <a:rPr lang="zh-CN" altLang="en-US" sz="1800" b="1" dirty="0">
                <a:solidFill>
                  <a:srgbClr val="003366"/>
                </a:solidFill>
                <a:latin typeface="微软雅黑" panose="020B0503020204020204" pitchFamily="34" charset="-122"/>
                <a:ea typeface="微软雅黑" panose="020B0503020204020204" pitchFamily="34" charset="-122"/>
              </a:rPr>
              <a:t>返回语句（拓展</a:t>
            </a:r>
            <a:r>
              <a:rPr lang="en-US" altLang="zh-CN" sz="1800" b="1" dirty="0">
                <a:solidFill>
                  <a:srgbClr val="003366"/>
                </a:solidFill>
                <a:latin typeface="微软雅黑" panose="020B0503020204020204" pitchFamily="34" charset="-122"/>
                <a:ea typeface="微软雅黑" panose="020B0503020204020204" pitchFamily="34" charset="-122"/>
              </a:rPr>
              <a:t>1.2</a:t>
            </a:r>
            <a:r>
              <a:rPr lang="zh-CN" altLang="en-US" sz="1800" b="1" dirty="0">
                <a:solidFill>
                  <a:srgbClr val="003366"/>
                </a:solidFill>
                <a:latin typeface="微软雅黑" panose="020B0503020204020204" pitchFamily="34" charset="-122"/>
                <a:ea typeface="微软雅黑" panose="020B0503020204020204" pitchFamily="34" charset="-122"/>
              </a:rPr>
              <a:t>）</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语句</a:t>
            </a:r>
            <a:r>
              <a:rPr lang="en-US" altLang="zh-CN" sz="1800" dirty="0">
                <a:solidFill>
                  <a:srgbClr val="003366"/>
                </a:solidFill>
                <a:latin typeface="微软雅黑" panose="020B0503020204020204" pitchFamily="34" charset="-122"/>
                <a:ea typeface="微软雅黑" panose="020B0503020204020204" pitchFamily="34" charset="-122"/>
              </a:rPr>
              <a:t>&gt;-&gt; &lt;</a:t>
            </a:r>
            <a:r>
              <a:rPr lang="zh-CN" altLang="en-US" sz="1800" dirty="0">
                <a:solidFill>
                  <a:srgbClr val="003366"/>
                </a:solidFill>
                <a:latin typeface="微软雅黑" panose="020B0503020204020204" pitchFamily="34" charset="-122"/>
                <a:ea typeface="微软雅黑" panose="020B0503020204020204" pitchFamily="34" charset="-122"/>
              </a:rPr>
              <a:t>返回语句</a:t>
            </a:r>
            <a:r>
              <a:rPr lang="en-US" altLang="zh-CN" sz="18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返回语句</a:t>
            </a:r>
            <a:r>
              <a:rPr lang="en-US" altLang="zh-CN" sz="1800" dirty="0">
                <a:solidFill>
                  <a:srgbClr val="003366"/>
                </a:solidFill>
                <a:latin typeface="微软雅黑" panose="020B0503020204020204" pitchFamily="34" charset="-122"/>
                <a:ea typeface="微软雅黑" panose="020B0503020204020204" pitchFamily="34" charset="-122"/>
              </a:rPr>
              <a:t>&gt; -&gt; return ';'</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返回语句</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用于从函数调用中退出，并将控制权交还给调用者。目前不支持返回值。</a:t>
            </a:r>
            <a:endParaRPr lang="en-US" altLang="zh-CN" sz="1800" dirty="0">
              <a:solidFill>
                <a:srgbClr val="003366"/>
              </a:solidFill>
              <a:latin typeface="微软雅黑" panose="020B0503020204020204" pitchFamily="34" charset="-122"/>
              <a:ea typeface="微软雅黑" panose="020B0503020204020204" pitchFamily="34" charset="-122"/>
            </a:endParaRPr>
          </a:p>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1.4 </a:t>
            </a:r>
            <a:r>
              <a:rPr lang="zh-CN" altLang="en-US" sz="1800" b="1" dirty="0">
                <a:solidFill>
                  <a:srgbClr val="003366"/>
                </a:solidFill>
                <a:latin typeface="微软雅黑" panose="020B0503020204020204" pitchFamily="34" charset="-122"/>
                <a:ea typeface="微软雅黑" panose="020B0503020204020204" pitchFamily="34" charset="-122"/>
              </a:rPr>
              <a:t>函数输入（依赖</a:t>
            </a:r>
            <a:r>
              <a:rPr lang="en-US" altLang="zh-CN" sz="1800" b="1" dirty="0">
                <a:solidFill>
                  <a:srgbClr val="003366"/>
                </a:solidFill>
                <a:latin typeface="微软雅黑" panose="020B0503020204020204" pitchFamily="34" charset="-122"/>
                <a:ea typeface="微软雅黑" panose="020B0503020204020204" pitchFamily="34" charset="-122"/>
              </a:rPr>
              <a:t>0.1</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0.2</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1.1</a:t>
            </a:r>
            <a:r>
              <a:rPr lang="zh-CN" altLang="en-US" sz="1800" b="1" dirty="0">
                <a:solidFill>
                  <a:srgbClr val="003366"/>
                </a:solidFill>
                <a:latin typeface="微软雅黑" panose="020B0503020204020204" pitchFamily="34" charset="-122"/>
                <a:ea typeface="微软雅黑" panose="020B0503020204020204" pitchFamily="34" charset="-122"/>
              </a:rPr>
              <a:t>）</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形参列表</a:t>
            </a:r>
            <a:r>
              <a:rPr lang="en-US" altLang="zh-CN" sz="1800" dirty="0">
                <a:solidFill>
                  <a:srgbClr val="003366"/>
                </a:solidFill>
                <a:latin typeface="微软雅黑" panose="020B0503020204020204" pitchFamily="34" charset="-122"/>
                <a:ea typeface="微软雅黑" panose="020B0503020204020204" pitchFamily="34" charset="-122"/>
              </a:rPr>
              <a:t>&gt;-&gt; &lt;</a:t>
            </a:r>
            <a:r>
              <a:rPr lang="zh-CN" altLang="en-US" sz="1800" dirty="0">
                <a:solidFill>
                  <a:srgbClr val="003366"/>
                </a:solidFill>
                <a:latin typeface="微软雅黑" panose="020B0503020204020204" pitchFamily="34" charset="-122"/>
                <a:ea typeface="微软雅黑" panose="020B0503020204020204" pitchFamily="34" charset="-122"/>
              </a:rPr>
              <a:t>形参</a:t>
            </a:r>
            <a:r>
              <a:rPr lang="en-US" altLang="zh-CN" sz="1800" dirty="0">
                <a:solidFill>
                  <a:srgbClr val="003366"/>
                </a:solidFill>
                <a:latin typeface="微软雅黑" panose="020B0503020204020204" pitchFamily="34" charset="-122"/>
                <a:ea typeface="微软雅黑" panose="020B0503020204020204" pitchFamily="34" charset="-122"/>
              </a:rPr>
              <a:t>&gt; | &lt;</a:t>
            </a:r>
            <a:r>
              <a:rPr lang="zh-CN" altLang="en-US" sz="1800" dirty="0">
                <a:solidFill>
                  <a:srgbClr val="003366"/>
                </a:solidFill>
                <a:latin typeface="微软雅黑" panose="020B0503020204020204" pitchFamily="34" charset="-122"/>
                <a:ea typeface="微软雅黑" panose="020B0503020204020204" pitchFamily="34" charset="-122"/>
              </a:rPr>
              <a:t>形参</a:t>
            </a:r>
            <a:r>
              <a:rPr lang="en-US" altLang="zh-CN" sz="1800" dirty="0">
                <a:solidFill>
                  <a:srgbClr val="003366"/>
                </a:solidFill>
                <a:latin typeface="微软雅黑" panose="020B0503020204020204" pitchFamily="34" charset="-122"/>
                <a:ea typeface="微软雅黑" panose="020B0503020204020204" pitchFamily="34" charset="-122"/>
              </a:rPr>
              <a:t>&gt; ',' &lt;</a:t>
            </a:r>
            <a:r>
              <a:rPr lang="zh-CN" altLang="en-US" sz="1800" dirty="0">
                <a:solidFill>
                  <a:srgbClr val="003366"/>
                </a:solidFill>
                <a:latin typeface="微软雅黑" panose="020B0503020204020204" pitchFamily="34" charset="-122"/>
                <a:ea typeface="微软雅黑" panose="020B0503020204020204" pitchFamily="34" charset="-122"/>
              </a:rPr>
              <a:t>形参列表</a:t>
            </a:r>
            <a:r>
              <a:rPr lang="en-US" altLang="zh-CN" sz="18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形参</a:t>
            </a:r>
            <a:r>
              <a:rPr lang="en-US" altLang="zh-CN" sz="1800" dirty="0">
                <a:solidFill>
                  <a:srgbClr val="003366"/>
                </a:solidFill>
                <a:latin typeface="微软雅黑" panose="020B0503020204020204" pitchFamily="34" charset="-122"/>
                <a:ea typeface="微软雅黑" panose="020B0503020204020204" pitchFamily="34" charset="-122"/>
              </a:rPr>
              <a:t>&gt; -&gt; &lt;</a:t>
            </a:r>
            <a:r>
              <a:rPr lang="zh-CN" altLang="en-US" sz="1800" dirty="0">
                <a:solidFill>
                  <a:srgbClr val="003366"/>
                </a:solidFill>
                <a:latin typeface="微软雅黑" panose="020B0503020204020204" pitchFamily="34" charset="-122"/>
                <a:ea typeface="微软雅黑" panose="020B0503020204020204" pitchFamily="34" charset="-122"/>
              </a:rPr>
              <a:t>变量属性</a:t>
            </a:r>
            <a:r>
              <a:rPr lang="en-US" altLang="zh-CN" sz="1800" dirty="0">
                <a:solidFill>
                  <a:srgbClr val="003366"/>
                </a:solidFill>
                <a:latin typeface="微软雅黑" panose="020B0503020204020204" pitchFamily="34" charset="-122"/>
                <a:ea typeface="微软雅黑" panose="020B0503020204020204" pitchFamily="34" charset="-122"/>
              </a:rPr>
              <a:t>&gt; &lt;ID&gt; ':' &lt;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语义说明：函数声明时接收参数，参数具有指定的类型。</a:t>
            </a:r>
            <a:endParaRPr lang="en-US" altLang="zh-CN" sz="1800" dirty="0">
              <a:solidFill>
                <a:srgbClr val="003366"/>
              </a:solidFill>
              <a:latin typeface="微软雅黑" panose="020B0503020204020204" pitchFamily="34" charset="-122"/>
              <a:ea typeface="微软雅黑" panose="020B0503020204020204" pitchFamily="34" charset="-122"/>
            </a:endParaRPr>
          </a:p>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1.5 </a:t>
            </a:r>
            <a:r>
              <a:rPr lang="zh-CN" altLang="en-US" sz="1800" b="1" dirty="0">
                <a:solidFill>
                  <a:srgbClr val="003366"/>
                </a:solidFill>
                <a:latin typeface="微软雅黑" panose="020B0503020204020204" pitchFamily="34" charset="-122"/>
                <a:ea typeface="微软雅黑" panose="020B0503020204020204" pitchFamily="34" charset="-122"/>
              </a:rPr>
              <a:t>函数输出（依赖</a:t>
            </a:r>
            <a:r>
              <a:rPr lang="en-US" altLang="zh-CN" sz="1800" b="1" dirty="0">
                <a:solidFill>
                  <a:srgbClr val="003366"/>
                </a:solidFill>
                <a:latin typeface="微软雅黑" panose="020B0503020204020204" pitchFamily="34" charset="-122"/>
                <a:ea typeface="微软雅黑" panose="020B0503020204020204" pitchFamily="34" charset="-122"/>
              </a:rPr>
              <a:t>0.2</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3.1</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1.1</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1.3</a:t>
            </a:r>
            <a:r>
              <a:rPr lang="zh-CN" altLang="en-US" sz="1800" b="1" dirty="0">
                <a:solidFill>
                  <a:srgbClr val="003366"/>
                </a:solidFill>
                <a:latin typeface="微软雅黑" panose="020B0503020204020204" pitchFamily="34" charset="-122"/>
                <a:ea typeface="微软雅黑" panose="020B0503020204020204" pitchFamily="34" charset="-122"/>
              </a:rPr>
              <a:t>）</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函数头声明</a:t>
            </a:r>
            <a:r>
              <a:rPr lang="en-US" altLang="zh-CN" sz="1800" dirty="0">
                <a:solidFill>
                  <a:srgbClr val="003366"/>
                </a:solidFill>
                <a:latin typeface="微软雅黑" panose="020B0503020204020204" pitchFamily="34" charset="-122"/>
                <a:ea typeface="微软雅黑" panose="020B0503020204020204" pitchFamily="34" charset="-122"/>
              </a:rPr>
              <a:t>&gt; -&gt;  fn &lt;ID&gt; '(' &lt;</a:t>
            </a:r>
            <a:r>
              <a:rPr lang="zh-CN" altLang="en-US" sz="1800" dirty="0">
                <a:solidFill>
                  <a:srgbClr val="003366"/>
                </a:solidFill>
                <a:latin typeface="微软雅黑" panose="020B0503020204020204" pitchFamily="34" charset="-122"/>
                <a:ea typeface="微软雅黑" panose="020B0503020204020204" pitchFamily="34" charset="-122"/>
              </a:rPr>
              <a:t>形参列表</a:t>
            </a:r>
            <a:r>
              <a:rPr lang="en-US" altLang="zh-CN" sz="1800" dirty="0">
                <a:solidFill>
                  <a:srgbClr val="003366"/>
                </a:solidFill>
                <a:latin typeface="微软雅黑" panose="020B0503020204020204" pitchFamily="34" charset="-122"/>
                <a:ea typeface="微软雅黑" panose="020B0503020204020204" pitchFamily="34" charset="-122"/>
              </a:rPr>
              <a:t>&gt; ')' '-&gt;' &lt;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返回语句</a:t>
            </a:r>
            <a:r>
              <a:rPr lang="en-US" altLang="zh-CN" sz="1800" dirty="0">
                <a:solidFill>
                  <a:srgbClr val="003366"/>
                </a:solidFill>
                <a:latin typeface="微软雅黑" panose="020B0503020204020204" pitchFamily="34" charset="-122"/>
                <a:ea typeface="微软雅黑" panose="020B0503020204020204" pitchFamily="34" charset="-122"/>
              </a:rPr>
              <a:t>&gt; -&gt; return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函数头声明</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支持标注返回类型，</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返回语句</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支持返回一个表达式的值。</a:t>
            </a:r>
            <a:endParaRPr lang="en-US" altLang="zh-CN" sz="1800" b="1" dirty="0">
              <a:solidFill>
                <a:srgbClr val="003366"/>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0B5EF205-2945-842B-8A32-81C95D5B38B0}"/>
              </a:ext>
            </a:extLst>
          </p:cNvPr>
          <p:cNvSpPr txBox="1"/>
          <p:nvPr/>
        </p:nvSpPr>
        <p:spPr>
          <a:xfrm>
            <a:off x="9599189" y="5025504"/>
            <a:ext cx="2305181" cy="5167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返回语句的类型（空）和函数声明返回类型（</a:t>
            </a:r>
            <a:r>
              <a:rPr lang="en-US" altLang="zh-CN" sz="1200" dirty="0">
                <a:solidFill>
                  <a:srgbClr val="FF0000"/>
                </a:solidFill>
                <a:latin typeface="微软雅黑" panose="020B0503020204020204" pitchFamily="34" charset="-122"/>
                <a:ea typeface="微软雅黑" panose="020B0503020204020204" pitchFamily="34" charset="-122"/>
              </a:rPr>
              <a:t>i32</a:t>
            </a:r>
            <a:r>
              <a:rPr lang="zh-CN" altLang="en-US" sz="1200" dirty="0">
                <a:solidFill>
                  <a:srgbClr val="FF0000"/>
                </a:solidFill>
                <a:latin typeface="微软雅黑" panose="020B0503020204020204" pitchFamily="34" charset="-122"/>
                <a:ea typeface="微软雅黑" panose="020B0503020204020204" pitchFamily="34" charset="-122"/>
              </a:rPr>
              <a:t>）不一致</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B684D2CC-D4F8-793D-7390-C2DC7FE7F91B}"/>
              </a:ext>
            </a:extLst>
          </p:cNvPr>
          <p:cNvSpPr txBox="1"/>
          <p:nvPr/>
        </p:nvSpPr>
        <p:spPr>
          <a:xfrm>
            <a:off x="9599189" y="6043860"/>
            <a:ext cx="2305181" cy="5167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返回语句的类型（</a:t>
            </a:r>
            <a:r>
              <a:rPr lang="en-US" altLang="zh-CN" sz="1200" dirty="0">
                <a:solidFill>
                  <a:srgbClr val="FF0000"/>
                </a:solidFill>
                <a:latin typeface="微软雅黑" panose="020B0503020204020204" pitchFamily="34" charset="-122"/>
                <a:ea typeface="微软雅黑" panose="020B0503020204020204" pitchFamily="34" charset="-122"/>
              </a:rPr>
              <a:t>i32</a:t>
            </a:r>
            <a:r>
              <a:rPr lang="zh-CN" altLang="en-US" sz="1200" dirty="0">
                <a:solidFill>
                  <a:srgbClr val="FF0000"/>
                </a:solidFill>
                <a:latin typeface="微软雅黑" panose="020B0503020204020204" pitchFamily="34" charset="-122"/>
                <a:ea typeface="微软雅黑" panose="020B0503020204020204" pitchFamily="34" charset="-122"/>
              </a:rPr>
              <a:t>）和函数声明返回类型（空）不一致</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70075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E0E62-2BBE-2151-967F-12F6BF886D3F}"/>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68AC80F4-C918-821F-9468-3E21B60B47F2}"/>
              </a:ext>
            </a:extLst>
          </p:cNvPr>
          <p:cNvSpPr txBox="1">
            <a:spLocks/>
          </p:cNvSpPr>
          <p:nvPr/>
        </p:nvSpPr>
        <p:spPr>
          <a:xfrm>
            <a:off x="72008" y="-12202"/>
            <a:ext cx="7752184" cy="848914"/>
          </a:xfrm>
          <a:prstGeom prst="rect">
            <a:avLst/>
          </a:prstGeom>
        </p:spPr>
        <p:txBody>
          <a:bodyPr/>
          <a:lstStyle>
            <a:lvl1pPr algn="ctr" defTabSz="1219200" rtl="0" eaLnBrk="1" latinLnBrk="0" hangingPunct="1">
              <a:spcBef>
                <a:spcPct val="0"/>
              </a:spcBef>
              <a:buNone/>
              <a:defRPr sz="5865" kern="1200">
                <a:solidFill>
                  <a:schemeClr val="tx1"/>
                </a:solidFill>
                <a:latin typeface="+mj-lt"/>
                <a:ea typeface="+mj-ea"/>
                <a:cs typeface="+mj-cs"/>
              </a:defRPr>
            </a:lvl1pPr>
          </a:lstStyle>
          <a:p>
            <a:pPr algn="l"/>
            <a:r>
              <a:rPr lang="zh-CN" altLang="en-US" sz="3600" b="1" dirty="0">
                <a:solidFill>
                  <a:schemeClr val="bg1"/>
                </a:solidFill>
                <a:latin typeface="微软雅黑" panose="020B0503020204020204" pitchFamily="34" charset="-122"/>
                <a:ea typeface="微软雅黑" panose="020B0503020204020204" pitchFamily="34" charset="-122"/>
              </a:rPr>
              <a:t>类</a:t>
            </a:r>
            <a:r>
              <a:rPr lang="en-US" altLang="zh-CN" sz="3600" b="1" dirty="0">
                <a:solidFill>
                  <a:schemeClr val="bg1"/>
                </a:solidFill>
                <a:latin typeface="微软雅黑" panose="020B0503020204020204" pitchFamily="34" charset="-122"/>
                <a:ea typeface="微软雅黑" panose="020B0503020204020204" pitchFamily="34" charset="-122"/>
              </a:rPr>
              <a:t>Rust</a:t>
            </a:r>
            <a:r>
              <a:rPr lang="zh-CN" altLang="en-US" sz="3600" b="1" dirty="0">
                <a:solidFill>
                  <a:schemeClr val="bg1"/>
                </a:solidFill>
                <a:latin typeface="微软雅黑" panose="020B0503020204020204" pitchFamily="34" charset="-122"/>
                <a:ea typeface="微软雅黑" panose="020B0503020204020204" pitchFamily="34" charset="-122"/>
              </a:rPr>
              <a:t>语法和语义规则</a:t>
            </a:r>
          </a:p>
        </p:txBody>
      </p:sp>
      <p:sp>
        <p:nvSpPr>
          <p:cNvPr id="7" name="文本框 6">
            <a:extLst>
              <a:ext uri="{FF2B5EF4-FFF2-40B4-BE49-F238E27FC236}">
                <a16:creationId xmlns:a16="http://schemas.microsoft.com/office/drawing/2014/main" id="{A401E2BE-8CE7-D814-EB1A-21231B47BBB8}"/>
              </a:ext>
            </a:extLst>
          </p:cNvPr>
          <p:cNvSpPr txBox="1"/>
          <p:nvPr/>
        </p:nvSpPr>
        <p:spPr>
          <a:xfrm>
            <a:off x="0" y="864816"/>
            <a:ext cx="8688288" cy="4318811"/>
          </a:xfrm>
          <a:prstGeom prst="rect">
            <a:avLst/>
          </a:prstGeom>
          <a:noFill/>
        </p:spPr>
        <p:txBody>
          <a:bodyPr wrap="square">
            <a:spAutoFit/>
          </a:bodyPr>
          <a:lstStyle/>
          <a:p>
            <a:pPr marL="381000" indent="-533400">
              <a:lnSpc>
                <a:spcPct val="112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2.0 </a:t>
            </a:r>
            <a:r>
              <a:rPr lang="zh-CN" altLang="en-US" sz="1800" b="1" dirty="0">
                <a:solidFill>
                  <a:srgbClr val="003366"/>
                </a:solidFill>
                <a:latin typeface="微软雅黑" panose="020B0503020204020204" pitchFamily="34" charset="-122"/>
                <a:ea typeface="微软雅黑" panose="020B0503020204020204" pitchFamily="34" charset="-122"/>
              </a:rPr>
              <a:t>变量声明（依赖</a:t>
            </a:r>
            <a:r>
              <a:rPr lang="en-US" altLang="zh-CN" sz="1800" b="1" dirty="0">
                <a:solidFill>
                  <a:srgbClr val="003366"/>
                </a:solidFill>
                <a:latin typeface="微软雅黑" panose="020B0503020204020204" pitchFamily="34" charset="-122"/>
                <a:ea typeface="微软雅黑" panose="020B0503020204020204" pitchFamily="34" charset="-122"/>
              </a:rPr>
              <a:t>0.1</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0.2</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90600" lvl="1" indent="-533400">
              <a:lnSpc>
                <a:spcPct val="112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变量声明</a:t>
            </a:r>
            <a:r>
              <a:rPr lang="en-US" altLang="zh-CN" sz="1800" dirty="0">
                <a:solidFill>
                  <a:srgbClr val="003366"/>
                </a:solidFill>
                <a:latin typeface="微软雅黑" panose="020B0503020204020204" pitchFamily="34" charset="-122"/>
                <a:ea typeface="微软雅黑" panose="020B0503020204020204" pitchFamily="34" charset="-122"/>
              </a:rPr>
              <a:t>&gt; -&gt; &lt;</a:t>
            </a:r>
            <a:r>
              <a:rPr lang="zh-CN" altLang="en-US" sz="1800" dirty="0">
                <a:solidFill>
                  <a:srgbClr val="003366"/>
                </a:solidFill>
                <a:latin typeface="微软雅黑" panose="020B0503020204020204" pitchFamily="34" charset="-122"/>
                <a:ea typeface="微软雅黑" panose="020B0503020204020204" pitchFamily="34" charset="-122"/>
              </a:rPr>
              <a:t>变量属性</a:t>
            </a:r>
            <a:r>
              <a:rPr lang="en-US" altLang="zh-CN" sz="1800" dirty="0">
                <a:solidFill>
                  <a:srgbClr val="003366"/>
                </a:solidFill>
                <a:latin typeface="微软雅黑" panose="020B0503020204020204" pitchFamily="34" charset="-122"/>
                <a:ea typeface="微软雅黑" panose="020B0503020204020204" pitchFamily="34" charset="-122"/>
              </a:rPr>
              <a:t>&gt; &lt;ID&gt;</a:t>
            </a:r>
          </a:p>
          <a:p>
            <a:pPr marL="990600" lvl="1" indent="-533400">
              <a:lnSpc>
                <a:spcPct val="112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变量声明</a:t>
            </a:r>
            <a:r>
              <a:rPr lang="en-US" altLang="zh-CN" sz="1800" dirty="0">
                <a:solidFill>
                  <a:srgbClr val="003366"/>
                </a:solidFill>
                <a:latin typeface="微软雅黑" panose="020B0503020204020204" pitchFamily="34" charset="-122"/>
                <a:ea typeface="微软雅黑" panose="020B0503020204020204" pitchFamily="34" charset="-122"/>
              </a:rPr>
              <a:t>&gt; -&gt; &lt;</a:t>
            </a:r>
            <a:r>
              <a:rPr lang="zh-CN" altLang="en-US" sz="1800" dirty="0">
                <a:solidFill>
                  <a:srgbClr val="003366"/>
                </a:solidFill>
                <a:latin typeface="微软雅黑" panose="020B0503020204020204" pitchFamily="34" charset="-122"/>
                <a:ea typeface="微软雅黑" panose="020B0503020204020204" pitchFamily="34" charset="-122"/>
              </a:rPr>
              <a:t>变量属性</a:t>
            </a:r>
            <a:r>
              <a:rPr lang="en-US" altLang="zh-CN" sz="1800" dirty="0">
                <a:solidFill>
                  <a:srgbClr val="003366"/>
                </a:solidFill>
                <a:latin typeface="微软雅黑" panose="020B0503020204020204" pitchFamily="34" charset="-122"/>
                <a:ea typeface="微软雅黑" panose="020B0503020204020204" pitchFamily="34" charset="-122"/>
              </a:rPr>
              <a:t>&gt; &lt;ID&gt; ':'  &lt;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语义说明：允许两种变量声明：</a:t>
            </a:r>
            <a:endParaRPr lang="en-US" altLang="zh-CN" sz="1800" dirty="0">
              <a:solidFill>
                <a:srgbClr val="003366"/>
              </a:solidFill>
              <a:latin typeface="微软雅黑" panose="020B0503020204020204" pitchFamily="34" charset="-122"/>
              <a:ea typeface="微软雅黑" panose="020B0503020204020204" pitchFamily="34" charset="-122"/>
            </a:endParaRPr>
          </a:p>
          <a:p>
            <a:pPr marL="895350" lvl="2" indent="-285750">
              <a:lnSpc>
                <a:spcPct val="120000"/>
              </a:lnSpc>
              <a:buFont typeface="Arial" panose="020B0604020202020204" pitchFamily="34" charset="0"/>
              <a:buChar char="•"/>
            </a:pPr>
            <a:r>
              <a:rPr lang="zh-CN" altLang="en-US" sz="1800" dirty="0">
                <a:solidFill>
                  <a:srgbClr val="003366"/>
                </a:solidFill>
                <a:latin typeface="微软雅黑" panose="020B0503020204020204" pitchFamily="34" charset="-122"/>
                <a:ea typeface="微软雅黑" panose="020B0503020204020204" pitchFamily="34" charset="-122"/>
              </a:rPr>
              <a:t>声明一个变量但不指定类型，后续需要对该变量进行赋值来支持编译器推导类型；</a:t>
            </a:r>
            <a:endParaRPr lang="en-US" altLang="zh-CN" sz="1800" dirty="0">
              <a:solidFill>
                <a:srgbClr val="003366"/>
              </a:solidFill>
              <a:latin typeface="微软雅黑" panose="020B0503020204020204" pitchFamily="34" charset="-122"/>
              <a:ea typeface="微软雅黑" panose="020B0503020204020204" pitchFamily="34" charset="-122"/>
            </a:endParaRPr>
          </a:p>
          <a:p>
            <a:pPr marL="895350" lvl="2" indent="-285750">
              <a:lnSpc>
                <a:spcPct val="120000"/>
              </a:lnSpc>
              <a:buFont typeface="Arial" panose="020B0604020202020204" pitchFamily="34" charset="0"/>
              <a:buChar char="•"/>
            </a:pPr>
            <a:r>
              <a:rPr lang="zh-CN" altLang="en-US" sz="1800" dirty="0">
                <a:solidFill>
                  <a:srgbClr val="003366"/>
                </a:solidFill>
                <a:latin typeface="微软雅黑" panose="020B0503020204020204" pitchFamily="34" charset="-122"/>
                <a:ea typeface="微软雅黑" panose="020B0503020204020204" pitchFamily="34" charset="-122"/>
              </a:rPr>
              <a:t>声明一个变量且指定类型。</a:t>
            </a:r>
            <a:endParaRPr lang="en-US" altLang="zh-CN" sz="1800" dirty="0">
              <a:solidFill>
                <a:srgbClr val="003366"/>
              </a:solidFill>
              <a:latin typeface="微软雅黑" panose="020B0503020204020204" pitchFamily="34" charset="-122"/>
              <a:ea typeface="微软雅黑" panose="020B0503020204020204" pitchFamily="34" charset="-122"/>
            </a:endParaRPr>
          </a:p>
          <a:p>
            <a:pPr marL="895350" lvl="2" indent="-285750">
              <a:lnSpc>
                <a:spcPct val="120000"/>
              </a:lnSpc>
              <a:buFont typeface="Arial" panose="020B0604020202020204" pitchFamily="34" charset="0"/>
              <a:buChar char="•"/>
            </a:pPr>
            <a:endParaRPr lang="en-US" altLang="zh-CN" sz="1800" dirty="0">
              <a:solidFill>
                <a:srgbClr val="003366"/>
              </a:solidFill>
              <a:latin typeface="微软雅黑" panose="020B0503020204020204" pitchFamily="34" charset="-122"/>
              <a:ea typeface="微软雅黑" panose="020B0503020204020204" pitchFamily="34" charset="-122"/>
            </a:endParaRPr>
          </a:p>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2.1 </a:t>
            </a:r>
            <a:r>
              <a:rPr lang="zh-CN" altLang="en-US" sz="1800" b="1" dirty="0">
                <a:solidFill>
                  <a:srgbClr val="003366"/>
                </a:solidFill>
                <a:latin typeface="微软雅黑" panose="020B0503020204020204" pitchFamily="34" charset="-122"/>
                <a:ea typeface="微软雅黑" panose="020B0503020204020204" pitchFamily="34" charset="-122"/>
              </a:rPr>
              <a:t>变量声明语句（依赖</a:t>
            </a:r>
            <a:r>
              <a:rPr lang="en-US" altLang="zh-CN" sz="1800" b="1" dirty="0">
                <a:solidFill>
                  <a:srgbClr val="003366"/>
                </a:solidFill>
                <a:latin typeface="微软雅黑" panose="020B0503020204020204" pitchFamily="34" charset="-122"/>
                <a:ea typeface="微软雅黑" panose="020B0503020204020204" pitchFamily="34" charset="-122"/>
              </a:rPr>
              <a:t>2.0</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1.2</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语句</a:t>
            </a:r>
            <a:r>
              <a:rPr lang="en-US" altLang="zh-CN" sz="1800" dirty="0">
                <a:solidFill>
                  <a:srgbClr val="003366"/>
                </a:solidFill>
                <a:latin typeface="微软雅黑" panose="020B0503020204020204" pitchFamily="34" charset="-122"/>
                <a:ea typeface="微软雅黑" panose="020B0503020204020204" pitchFamily="34" charset="-122"/>
              </a:rPr>
              <a:t>&gt; -&gt; &lt;</a:t>
            </a:r>
            <a:r>
              <a:rPr lang="zh-CN" altLang="en-US" sz="1800" dirty="0">
                <a:solidFill>
                  <a:srgbClr val="003366"/>
                </a:solidFill>
                <a:latin typeface="微软雅黑" panose="020B0503020204020204" pitchFamily="34" charset="-122"/>
                <a:ea typeface="微软雅黑" panose="020B0503020204020204" pitchFamily="34" charset="-122"/>
              </a:rPr>
              <a:t>变量声明语句</a:t>
            </a:r>
            <a:r>
              <a:rPr lang="en-US" altLang="zh-CN" sz="18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变量声明语句</a:t>
            </a:r>
            <a:r>
              <a:rPr lang="en-US" altLang="zh-CN" sz="1800" dirty="0">
                <a:solidFill>
                  <a:srgbClr val="003366"/>
                </a:solidFill>
                <a:latin typeface="微软雅黑" panose="020B0503020204020204" pitchFamily="34" charset="-122"/>
                <a:ea typeface="微软雅黑" panose="020B0503020204020204" pitchFamily="34" charset="-122"/>
              </a:rPr>
              <a:t>&gt; -&gt;  let &lt;</a:t>
            </a:r>
            <a:r>
              <a:rPr lang="zh-CN" altLang="en-US" sz="1800" dirty="0">
                <a:solidFill>
                  <a:srgbClr val="003366"/>
                </a:solidFill>
                <a:latin typeface="微软雅黑" panose="020B0503020204020204" pitchFamily="34" charset="-122"/>
                <a:ea typeface="微软雅黑" panose="020B0503020204020204" pitchFamily="34" charset="-122"/>
              </a:rPr>
              <a:t>变量声明</a:t>
            </a:r>
            <a:r>
              <a:rPr lang="en-US" altLang="zh-CN" sz="1800" dirty="0">
                <a:solidFill>
                  <a:srgbClr val="003366"/>
                </a:solidFill>
                <a:latin typeface="微软雅黑" panose="020B0503020204020204" pitchFamily="34" charset="-122"/>
                <a:ea typeface="微软雅黑" panose="020B0503020204020204" pitchFamily="34" charset="-122"/>
              </a:rPr>
              <a:t>&gt; ';'</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语义说明：变量声明语句需在变量声明前加上 </a:t>
            </a:r>
            <a:r>
              <a:rPr lang="en-US" altLang="zh-CN" sz="1800" dirty="0">
                <a:solidFill>
                  <a:srgbClr val="003366"/>
                </a:solidFill>
                <a:latin typeface="微软雅黑" panose="020B0503020204020204" pitchFamily="34" charset="-122"/>
                <a:ea typeface="微软雅黑" panose="020B0503020204020204" pitchFamily="34" charset="-122"/>
              </a:rPr>
              <a:t>let </a:t>
            </a:r>
            <a:r>
              <a:rPr lang="zh-CN" altLang="en-US" sz="1800" dirty="0">
                <a:solidFill>
                  <a:srgbClr val="003366"/>
                </a:solidFill>
                <a:latin typeface="微软雅黑" panose="020B0503020204020204" pitchFamily="34" charset="-122"/>
                <a:ea typeface="微软雅黑" panose="020B0503020204020204" pitchFamily="34" charset="-122"/>
              </a:rPr>
              <a:t>关键字，变量允许被二次声明，每次声明隐藏之前的绑定，称为重影。</a:t>
            </a:r>
            <a:endParaRPr lang="en-US" altLang="zh-CN" sz="1800" dirty="0">
              <a:solidFill>
                <a:srgbClr val="003366"/>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EB1F1FD5-D0F3-94A7-89E1-2076D5E84FEA}"/>
              </a:ext>
            </a:extLst>
          </p:cNvPr>
          <p:cNvSpPr txBox="1"/>
          <p:nvPr/>
        </p:nvSpPr>
        <p:spPr>
          <a:xfrm>
            <a:off x="8787184" y="905616"/>
            <a:ext cx="3404816" cy="5016758"/>
          </a:xfrm>
          <a:prstGeom prst="rect">
            <a:avLst/>
          </a:prstGeom>
          <a:noFill/>
        </p:spPr>
        <p:txBody>
          <a:bodyPr wrap="square">
            <a:spAutoFit/>
          </a:bodyPr>
          <a:lstStyle/>
          <a:p>
            <a:pPr marL="0" lvl="1" eaLnBrk="1" hangingPunct="1"/>
            <a:r>
              <a:rPr lang="nn-NO" altLang="zh-CN" sz="1600" dirty="0">
                <a:latin typeface="微软雅黑" panose="020B0503020204020204" pitchFamily="34" charset="-122"/>
                <a:ea typeface="微软雅黑" panose="020B0503020204020204" pitchFamily="34" charset="-122"/>
              </a:rPr>
              <a:t>fn program_2_1__1() {</a:t>
            </a:r>
          </a:p>
          <a:p>
            <a:pPr marL="0" lvl="1" eaLnBrk="1" hangingPunct="1"/>
            <a:r>
              <a:rPr lang="nn-NO" altLang="zh-CN" sz="1600" dirty="0">
                <a:latin typeface="微软雅黑" panose="020B0503020204020204" pitchFamily="34" charset="-122"/>
                <a:ea typeface="微软雅黑" panose="020B0503020204020204" pitchFamily="34" charset="-122"/>
              </a:rPr>
              <a:t>    let mut a:i32;</a:t>
            </a:r>
          </a:p>
          <a:p>
            <a:pPr marL="0" lvl="1" eaLnBrk="1" hangingPunct="1"/>
            <a:r>
              <a:rPr lang="nn-NO" altLang="zh-CN" sz="1600" dirty="0">
                <a:latin typeface="微软雅黑" panose="020B0503020204020204" pitchFamily="34" charset="-122"/>
                <a:ea typeface="微软雅黑" panose="020B0503020204020204" pitchFamily="34" charset="-122"/>
              </a:rPr>
              <a:t>}</a:t>
            </a:r>
          </a:p>
          <a:p>
            <a:pPr marL="0" lvl="1" eaLnBrk="1" hangingPunct="1"/>
            <a:endParaRPr lang="en-US" altLang="zh-CN" sz="1600" dirty="0">
              <a:latin typeface="微软雅黑" panose="020B0503020204020204" pitchFamily="34" charset="-122"/>
              <a:ea typeface="微软雅黑" panose="020B0503020204020204" pitchFamily="34" charset="-122"/>
            </a:endParaRPr>
          </a:p>
          <a:p>
            <a:pPr marL="0" lvl="1" eaLnBrk="1" hangingPunct="1"/>
            <a:r>
              <a:rPr lang="nn-NO" altLang="zh-CN" sz="1600" dirty="0">
                <a:latin typeface="微软雅黑" panose="020B0503020204020204" pitchFamily="34" charset="-122"/>
                <a:ea typeface="微软雅黑" panose="020B0503020204020204" pitchFamily="34" charset="-122"/>
              </a:rPr>
              <a:t>fn program_2_1__2() {</a:t>
            </a:r>
          </a:p>
          <a:p>
            <a:pPr marL="0" lvl="1" eaLnBrk="1" hangingPunct="1"/>
            <a:r>
              <a:rPr lang="nn-NO" altLang="zh-CN" sz="1600" dirty="0">
                <a:latin typeface="微软雅黑" panose="020B0503020204020204" pitchFamily="34" charset="-122"/>
                <a:ea typeface="微软雅黑" panose="020B0503020204020204" pitchFamily="34" charset="-122"/>
              </a:rPr>
              <a:t>    let mut b;</a:t>
            </a:r>
          </a:p>
          <a:p>
            <a:pPr marL="0" lvl="1" eaLnBrk="1" hangingPunct="1"/>
            <a:r>
              <a:rPr lang="nn-NO" altLang="zh-CN" sz="1600" dirty="0">
                <a:latin typeface="微软雅黑" panose="020B0503020204020204" pitchFamily="34" charset="-122"/>
                <a:ea typeface="微软雅黑" panose="020B0503020204020204" pitchFamily="34" charset="-122"/>
              </a:rPr>
              <a:t>    b=1;</a:t>
            </a:r>
          </a:p>
          <a:p>
            <a:pPr marL="0" lvl="1"/>
            <a:r>
              <a:rPr lang="nn-NO" altLang="zh-CN" sz="1600" dirty="0">
                <a:latin typeface="微软雅黑" panose="020B0503020204020204" pitchFamily="34" charset="-122"/>
                <a:ea typeface="微软雅黑" panose="020B0503020204020204" pitchFamily="34" charset="-122"/>
              </a:rPr>
              <a:t>}</a:t>
            </a:r>
          </a:p>
          <a:p>
            <a:pPr marL="0" lvl="1"/>
            <a:endParaRPr lang="en-US" altLang="zh-CN" sz="1600" dirty="0">
              <a:latin typeface="微软雅黑" panose="020B0503020204020204" pitchFamily="34" charset="-122"/>
              <a:ea typeface="微软雅黑" panose="020B0503020204020204" pitchFamily="34" charset="-122"/>
            </a:endParaRPr>
          </a:p>
          <a:p>
            <a:pPr marL="0" lvl="1"/>
            <a:r>
              <a:rPr lang="nn-NO" altLang="zh-CN" sz="1600" dirty="0">
                <a:latin typeface="微软雅黑" panose="020B0503020204020204" pitchFamily="34" charset="-122"/>
                <a:ea typeface="微软雅黑" panose="020B0503020204020204" pitchFamily="34" charset="-122"/>
              </a:rPr>
              <a:t>fn program_2_1__3() {</a:t>
            </a:r>
          </a:p>
          <a:p>
            <a:pPr marL="0" lvl="1"/>
            <a:r>
              <a:rPr lang="nn-NO" altLang="zh-CN" sz="1600" dirty="0">
                <a:latin typeface="微软雅黑" panose="020B0503020204020204" pitchFamily="34" charset="-122"/>
                <a:ea typeface="微软雅黑" panose="020B0503020204020204" pitchFamily="34" charset="-122"/>
              </a:rPr>
              <a:t>    let mut b;</a:t>
            </a:r>
          </a:p>
          <a:p>
            <a:pPr marL="0" lvl="1"/>
            <a:r>
              <a:rPr lang="nn-NO" altLang="zh-CN" sz="1600" dirty="0">
                <a:latin typeface="微软雅黑" panose="020B0503020204020204" pitchFamily="34" charset="-122"/>
                <a:ea typeface="微软雅黑" panose="020B0503020204020204" pitchFamily="34" charset="-122"/>
              </a:rPr>
              <a:t>}</a:t>
            </a:r>
          </a:p>
          <a:p>
            <a:pPr marL="0" lvl="1" eaLnBrk="1" hangingPunct="1"/>
            <a:endParaRPr lang="nn-NO" altLang="zh-CN" sz="1600" dirty="0">
              <a:latin typeface="微软雅黑" panose="020B0503020204020204" pitchFamily="34" charset="-122"/>
              <a:ea typeface="微软雅黑" panose="020B0503020204020204" pitchFamily="34" charset="-122"/>
            </a:endParaRPr>
          </a:p>
          <a:p>
            <a:pPr marL="0" lvl="1" eaLnBrk="1" hangingPunct="1"/>
            <a:r>
              <a:rPr lang="nn-NO" altLang="zh-CN" sz="1600" dirty="0">
                <a:latin typeface="微软雅黑" panose="020B0503020204020204" pitchFamily="34" charset="-122"/>
                <a:ea typeface="微软雅黑" panose="020B0503020204020204" pitchFamily="34" charset="-122"/>
              </a:rPr>
              <a:t>fn program_2_1__4() {</a:t>
            </a:r>
          </a:p>
          <a:p>
            <a:pPr marL="0" lvl="1" eaLnBrk="1" hangingPunct="1"/>
            <a:r>
              <a:rPr lang="nn-NO" altLang="zh-CN" sz="1600" dirty="0">
                <a:latin typeface="微软雅黑" panose="020B0503020204020204" pitchFamily="34" charset="-122"/>
                <a:ea typeface="微软雅黑" panose="020B0503020204020204" pitchFamily="34" charset="-122"/>
              </a:rPr>
              <a:t>    let mut a:i32; </a:t>
            </a:r>
          </a:p>
          <a:p>
            <a:pPr marL="0" lvl="1" eaLnBrk="1" hangingPunct="1"/>
            <a:r>
              <a:rPr lang="nn-NO" altLang="zh-CN"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a=1;</a:t>
            </a:r>
            <a:endParaRPr lang="nn-NO" altLang="zh-CN" sz="1600" dirty="0">
              <a:latin typeface="微软雅黑" panose="020B0503020204020204" pitchFamily="34" charset="-122"/>
              <a:ea typeface="微软雅黑" panose="020B0503020204020204" pitchFamily="34" charset="-122"/>
            </a:endParaRPr>
          </a:p>
          <a:p>
            <a:pPr marL="0" lvl="1" eaLnBrk="1" hangingPunct="1"/>
            <a:r>
              <a:rPr lang="nn-NO" altLang="zh-CN" sz="1600" dirty="0">
                <a:latin typeface="微软雅黑" panose="020B0503020204020204" pitchFamily="34" charset="-122"/>
                <a:ea typeface="微软雅黑" panose="020B0503020204020204" pitchFamily="34" charset="-122"/>
              </a:rPr>
              <a:t>    let mut a:i32;</a:t>
            </a:r>
          </a:p>
          <a:p>
            <a:pPr marL="0" lvl="1" eaLnBrk="1" hangingPunct="1"/>
            <a:r>
              <a:rPr lang="nn-NO" altLang="zh-CN" sz="1600" dirty="0">
                <a:latin typeface="微软雅黑" panose="020B0503020204020204" pitchFamily="34" charset="-122"/>
                <a:ea typeface="微软雅黑" panose="020B0503020204020204" pitchFamily="34" charset="-122"/>
              </a:rPr>
              <a:t>    a=2;</a:t>
            </a:r>
          </a:p>
          <a:p>
            <a:pPr marL="0" lvl="1" eaLnBrk="1" hangingPunct="1"/>
            <a:r>
              <a:rPr lang="nn-NO" altLang="zh-CN" sz="1600" dirty="0">
                <a:latin typeface="微软雅黑" panose="020B0503020204020204" pitchFamily="34" charset="-122"/>
                <a:ea typeface="微软雅黑" panose="020B0503020204020204" pitchFamily="34" charset="-122"/>
              </a:rPr>
              <a:t>}</a:t>
            </a:r>
          </a:p>
          <a:p>
            <a:pPr marL="0" lvl="1" eaLnBrk="1" hangingPunct="1"/>
            <a:endParaRPr lang="en-US" altLang="zh-CN" sz="16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67937229-094A-55E8-00FF-692A10FDB1E1}"/>
              </a:ext>
            </a:extLst>
          </p:cNvPr>
          <p:cNvSpPr txBox="1"/>
          <p:nvPr/>
        </p:nvSpPr>
        <p:spPr>
          <a:xfrm>
            <a:off x="10460847" y="3429000"/>
            <a:ext cx="1399275" cy="5167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后续无法推断</a:t>
            </a:r>
            <a:r>
              <a:rPr lang="en-US" altLang="zh-CN" sz="1200" dirty="0">
                <a:solidFill>
                  <a:srgbClr val="FF0000"/>
                </a:solidFill>
                <a:latin typeface="微软雅黑" panose="020B0503020204020204" pitchFamily="34" charset="-122"/>
                <a:ea typeface="微软雅黑" panose="020B0503020204020204" pitchFamily="34" charset="-122"/>
              </a:rPr>
              <a:t>b</a:t>
            </a:r>
            <a:r>
              <a:rPr lang="zh-CN" altLang="en-US" sz="1200" dirty="0">
                <a:solidFill>
                  <a:srgbClr val="FF0000"/>
                </a:solidFill>
                <a:latin typeface="微软雅黑" panose="020B0503020204020204" pitchFamily="34" charset="-122"/>
                <a:ea typeface="微软雅黑" panose="020B0503020204020204" pitchFamily="34" charset="-122"/>
              </a:rPr>
              <a:t>的类型</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668B203E-52ED-5CF1-2F8A-17BEBBB89EA6}"/>
              </a:ext>
            </a:extLst>
          </p:cNvPr>
          <p:cNvSpPr txBox="1"/>
          <p:nvPr/>
        </p:nvSpPr>
        <p:spPr>
          <a:xfrm>
            <a:off x="10489592" y="4641138"/>
            <a:ext cx="1399275" cy="516745"/>
          </a:xfrm>
          <a:prstGeom prst="rect">
            <a:avLst/>
          </a:prstGeom>
          <a:noFill/>
        </p:spPr>
        <p:txBody>
          <a:bodyPr wrap="square">
            <a:spAutoFit/>
          </a:bodyPr>
          <a:lstStyle/>
          <a:p>
            <a:pPr marL="0" lvl="1">
              <a:lnSpc>
                <a:spcPct val="120000"/>
              </a:lnSpc>
            </a:pPr>
            <a:r>
              <a:rPr lang="zh-CN" altLang="en-US" sz="1200" dirty="0">
                <a:solidFill>
                  <a:srgbClr val="00B050"/>
                </a:solidFill>
                <a:latin typeface="微软雅黑" panose="020B0503020204020204" pitchFamily="34" charset="-122"/>
                <a:ea typeface="微软雅黑" panose="020B0503020204020204" pitchFamily="34" charset="-122"/>
              </a:rPr>
              <a:t>√</a:t>
            </a:r>
            <a:r>
              <a:rPr lang="en-US" altLang="zh-CN" sz="1200" dirty="0">
                <a:solidFill>
                  <a:srgbClr val="00B050"/>
                </a:solidFill>
                <a:latin typeface="微软雅黑" panose="020B0503020204020204" pitchFamily="34" charset="-122"/>
                <a:ea typeface="微软雅黑" panose="020B0503020204020204" pitchFamily="34" charset="-122"/>
              </a:rPr>
              <a:t> </a:t>
            </a:r>
            <a:r>
              <a:rPr lang="zh-CN" altLang="en-US" sz="1200" dirty="0">
                <a:solidFill>
                  <a:srgbClr val="00B050"/>
                </a:solidFill>
                <a:latin typeface="微软雅黑" panose="020B0503020204020204" pitchFamily="34" charset="-122"/>
                <a:ea typeface="微软雅黑" panose="020B0503020204020204" pitchFamily="34" charset="-122"/>
              </a:rPr>
              <a:t>可以二次声明，称为重影</a:t>
            </a:r>
            <a:endParaRPr lang="en-US" altLang="zh-CN" sz="1200" dirty="0">
              <a:solidFill>
                <a:srgbClr val="00B050"/>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D068AADA-2D0C-0279-D98B-955190640554}"/>
              </a:ext>
            </a:extLst>
          </p:cNvPr>
          <p:cNvSpPr txBox="1"/>
          <p:nvPr/>
        </p:nvSpPr>
        <p:spPr>
          <a:xfrm>
            <a:off x="10489592" y="2256632"/>
            <a:ext cx="1399275" cy="516745"/>
          </a:xfrm>
          <a:prstGeom prst="rect">
            <a:avLst/>
          </a:prstGeom>
          <a:noFill/>
        </p:spPr>
        <p:txBody>
          <a:bodyPr wrap="square">
            <a:spAutoFit/>
          </a:bodyPr>
          <a:lstStyle/>
          <a:p>
            <a:pPr marL="0" lvl="1">
              <a:lnSpc>
                <a:spcPct val="120000"/>
              </a:lnSpc>
            </a:pPr>
            <a:r>
              <a:rPr lang="zh-CN" altLang="en-US" sz="1200" dirty="0">
                <a:solidFill>
                  <a:srgbClr val="00B050"/>
                </a:solidFill>
                <a:latin typeface="微软雅黑" panose="020B0503020204020204" pitchFamily="34" charset="-122"/>
                <a:ea typeface="微软雅黑" panose="020B0503020204020204" pitchFamily="34" charset="-122"/>
              </a:rPr>
              <a:t>√</a:t>
            </a:r>
            <a:r>
              <a:rPr lang="en-US" altLang="zh-CN" sz="1200" dirty="0">
                <a:solidFill>
                  <a:srgbClr val="00B050"/>
                </a:solidFill>
                <a:latin typeface="微软雅黑" panose="020B0503020204020204" pitchFamily="34" charset="-122"/>
                <a:ea typeface="微软雅黑" panose="020B0503020204020204" pitchFamily="34" charset="-122"/>
              </a:rPr>
              <a:t> </a:t>
            </a:r>
            <a:r>
              <a:rPr lang="zh-CN" altLang="en-US" sz="1200" dirty="0">
                <a:solidFill>
                  <a:srgbClr val="00B050"/>
                </a:solidFill>
                <a:latin typeface="微软雅黑" panose="020B0503020204020204" pitchFamily="34" charset="-122"/>
                <a:ea typeface="微软雅黑" panose="020B0503020204020204" pitchFamily="34" charset="-122"/>
              </a:rPr>
              <a:t>后续可以判断</a:t>
            </a:r>
            <a:r>
              <a:rPr lang="en-US" altLang="zh-CN" sz="1200" dirty="0">
                <a:solidFill>
                  <a:srgbClr val="00B050"/>
                </a:solidFill>
                <a:latin typeface="微软雅黑" panose="020B0503020204020204" pitchFamily="34" charset="-122"/>
                <a:ea typeface="微软雅黑" panose="020B0503020204020204" pitchFamily="34" charset="-122"/>
              </a:rPr>
              <a:t>b</a:t>
            </a:r>
            <a:r>
              <a:rPr lang="zh-CN" altLang="en-US" sz="1200" dirty="0">
                <a:solidFill>
                  <a:srgbClr val="00B050"/>
                </a:solidFill>
                <a:latin typeface="微软雅黑" panose="020B0503020204020204" pitchFamily="34" charset="-122"/>
                <a:ea typeface="微软雅黑" panose="020B0503020204020204" pitchFamily="34" charset="-122"/>
              </a:rPr>
              <a:t>的类型为整型</a:t>
            </a:r>
            <a:endParaRPr lang="en-US" altLang="zh-CN" sz="1200" dirty="0">
              <a:solidFill>
                <a:srgbClr val="00B05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48513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D15B7-DD09-4486-E193-6C2AD9BEE430}"/>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2D860A8C-CA59-3E75-282B-19718245C817}"/>
              </a:ext>
            </a:extLst>
          </p:cNvPr>
          <p:cNvSpPr txBox="1">
            <a:spLocks/>
          </p:cNvSpPr>
          <p:nvPr/>
        </p:nvSpPr>
        <p:spPr>
          <a:xfrm>
            <a:off x="72008" y="-12202"/>
            <a:ext cx="7752184" cy="848914"/>
          </a:xfrm>
          <a:prstGeom prst="rect">
            <a:avLst/>
          </a:prstGeom>
        </p:spPr>
        <p:txBody>
          <a:bodyPr/>
          <a:lstStyle>
            <a:lvl1pPr algn="ctr" defTabSz="1219200" rtl="0" eaLnBrk="1" latinLnBrk="0" hangingPunct="1">
              <a:spcBef>
                <a:spcPct val="0"/>
              </a:spcBef>
              <a:buNone/>
              <a:defRPr sz="5865" kern="1200">
                <a:solidFill>
                  <a:schemeClr val="tx1"/>
                </a:solidFill>
                <a:latin typeface="+mj-lt"/>
                <a:ea typeface="+mj-ea"/>
                <a:cs typeface="+mj-cs"/>
              </a:defRPr>
            </a:lvl1pPr>
          </a:lstStyle>
          <a:p>
            <a:pPr algn="l"/>
            <a:r>
              <a:rPr lang="zh-CN" altLang="en-US" sz="3600" b="1" dirty="0">
                <a:solidFill>
                  <a:schemeClr val="bg1"/>
                </a:solidFill>
                <a:latin typeface="微软雅黑" panose="020B0503020204020204" pitchFamily="34" charset="-122"/>
                <a:ea typeface="微软雅黑" panose="020B0503020204020204" pitchFamily="34" charset="-122"/>
              </a:rPr>
              <a:t>类</a:t>
            </a:r>
            <a:r>
              <a:rPr lang="en-US" altLang="zh-CN" sz="3600" b="1" dirty="0">
                <a:solidFill>
                  <a:schemeClr val="bg1"/>
                </a:solidFill>
                <a:latin typeface="微软雅黑" panose="020B0503020204020204" pitchFamily="34" charset="-122"/>
                <a:ea typeface="微软雅黑" panose="020B0503020204020204" pitchFamily="34" charset="-122"/>
              </a:rPr>
              <a:t>Rust</a:t>
            </a:r>
            <a:r>
              <a:rPr lang="zh-CN" altLang="en-US" sz="3600" b="1" dirty="0">
                <a:solidFill>
                  <a:schemeClr val="bg1"/>
                </a:solidFill>
                <a:latin typeface="微软雅黑" panose="020B0503020204020204" pitchFamily="34" charset="-122"/>
                <a:ea typeface="微软雅黑" panose="020B0503020204020204" pitchFamily="34" charset="-122"/>
              </a:rPr>
              <a:t>语法和语义规则</a:t>
            </a:r>
          </a:p>
        </p:txBody>
      </p:sp>
      <p:sp>
        <p:nvSpPr>
          <p:cNvPr id="7" name="文本框 6">
            <a:extLst>
              <a:ext uri="{FF2B5EF4-FFF2-40B4-BE49-F238E27FC236}">
                <a16:creationId xmlns:a16="http://schemas.microsoft.com/office/drawing/2014/main" id="{CD6F6278-25F6-0B52-BED0-F3569DF7C20A}"/>
              </a:ext>
            </a:extLst>
          </p:cNvPr>
          <p:cNvSpPr txBox="1"/>
          <p:nvPr/>
        </p:nvSpPr>
        <p:spPr>
          <a:xfrm>
            <a:off x="0" y="864816"/>
            <a:ext cx="8688288" cy="4651210"/>
          </a:xfrm>
          <a:prstGeom prst="rect">
            <a:avLst/>
          </a:prstGeom>
          <a:noFill/>
        </p:spPr>
        <p:txBody>
          <a:bodyPr wrap="square">
            <a:spAutoFit/>
          </a:bodyPr>
          <a:lstStyle/>
          <a:p>
            <a:pPr marL="381000" indent="-533400">
              <a:lnSpc>
                <a:spcPct val="112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2.0 </a:t>
            </a:r>
            <a:r>
              <a:rPr lang="zh-CN" altLang="en-US" sz="1800" b="1" dirty="0">
                <a:solidFill>
                  <a:srgbClr val="003366"/>
                </a:solidFill>
                <a:latin typeface="微软雅黑" panose="020B0503020204020204" pitchFamily="34" charset="-122"/>
                <a:ea typeface="微软雅黑" panose="020B0503020204020204" pitchFamily="34" charset="-122"/>
              </a:rPr>
              <a:t>变量声明（依赖</a:t>
            </a:r>
            <a:r>
              <a:rPr lang="en-US" altLang="zh-CN" sz="1800" b="1" dirty="0">
                <a:solidFill>
                  <a:srgbClr val="003366"/>
                </a:solidFill>
                <a:latin typeface="微软雅黑" panose="020B0503020204020204" pitchFamily="34" charset="-122"/>
                <a:ea typeface="微软雅黑" panose="020B0503020204020204" pitchFamily="34" charset="-122"/>
              </a:rPr>
              <a:t>0.1</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0.2</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90600" lvl="1" indent="-533400">
              <a:lnSpc>
                <a:spcPct val="112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变量声明</a:t>
            </a:r>
            <a:r>
              <a:rPr lang="en-US" altLang="zh-CN" sz="1800" dirty="0">
                <a:solidFill>
                  <a:srgbClr val="003366"/>
                </a:solidFill>
                <a:latin typeface="微软雅黑" panose="020B0503020204020204" pitchFamily="34" charset="-122"/>
                <a:ea typeface="微软雅黑" panose="020B0503020204020204" pitchFamily="34" charset="-122"/>
              </a:rPr>
              <a:t>&gt; -&gt; &lt;</a:t>
            </a:r>
            <a:r>
              <a:rPr lang="zh-CN" altLang="en-US" sz="1800" dirty="0">
                <a:solidFill>
                  <a:srgbClr val="003366"/>
                </a:solidFill>
                <a:latin typeface="微软雅黑" panose="020B0503020204020204" pitchFamily="34" charset="-122"/>
                <a:ea typeface="微软雅黑" panose="020B0503020204020204" pitchFamily="34" charset="-122"/>
              </a:rPr>
              <a:t>变量属性</a:t>
            </a:r>
            <a:r>
              <a:rPr lang="en-US" altLang="zh-CN" sz="1800" dirty="0">
                <a:solidFill>
                  <a:srgbClr val="003366"/>
                </a:solidFill>
                <a:latin typeface="微软雅黑" panose="020B0503020204020204" pitchFamily="34" charset="-122"/>
                <a:ea typeface="微软雅黑" panose="020B0503020204020204" pitchFamily="34" charset="-122"/>
              </a:rPr>
              <a:t>&gt; &lt;ID&gt;</a:t>
            </a:r>
          </a:p>
          <a:p>
            <a:pPr marL="990600" lvl="1" indent="-533400">
              <a:lnSpc>
                <a:spcPct val="112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变量声明</a:t>
            </a:r>
            <a:r>
              <a:rPr lang="en-US" altLang="zh-CN" sz="1800" dirty="0">
                <a:solidFill>
                  <a:srgbClr val="003366"/>
                </a:solidFill>
                <a:latin typeface="微软雅黑" panose="020B0503020204020204" pitchFamily="34" charset="-122"/>
                <a:ea typeface="微软雅黑" panose="020B0503020204020204" pitchFamily="34" charset="-122"/>
              </a:rPr>
              <a:t>&gt; -&gt; &lt;</a:t>
            </a:r>
            <a:r>
              <a:rPr lang="zh-CN" altLang="en-US" sz="1800" dirty="0">
                <a:solidFill>
                  <a:srgbClr val="003366"/>
                </a:solidFill>
                <a:latin typeface="微软雅黑" panose="020B0503020204020204" pitchFamily="34" charset="-122"/>
                <a:ea typeface="微软雅黑" panose="020B0503020204020204" pitchFamily="34" charset="-122"/>
              </a:rPr>
              <a:t>变量属性</a:t>
            </a:r>
            <a:r>
              <a:rPr lang="en-US" altLang="zh-CN" sz="1800" dirty="0">
                <a:solidFill>
                  <a:srgbClr val="003366"/>
                </a:solidFill>
                <a:latin typeface="微软雅黑" panose="020B0503020204020204" pitchFamily="34" charset="-122"/>
                <a:ea typeface="微软雅黑" panose="020B0503020204020204" pitchFamily="34" charset="-122"/>
              </a:rPr>
              <a:t>&gt; &lt;ID&gt; ':'  &lt;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语义说明：允许两种变量声明：</a:t>
            </a:r>
            <a:endParaRPr lang="en-US" altLang="zh-CN" sz="1800" dirty="0">
              <a:solidFill>
                <a:srgbClr val="003366"/>
              </a:solidFill>
              <a:latin typeface="微软雅黑" panose="020B0503020204020204" pitchFamily="34" charset="-122"/>
              <a:ea typeface="微软雅黑" panose="020B0503020204020204" pitchFamily="34" charset="-122"/>
            </a:endParaRPr>
          </a:p>
          <a:p>
            <a:pPr marL="895350" lvl="2" indent="-285750">
              <a:lnSpc>
                <a:spcPct val="120000"/>
              </a:lnSpc>
              <a:buFont typeface="Arial" panose="020B0604020202020204" pitchFamily="34" charset="0"/>
              <a:buChar char="•"/>
            </a:pPr>
            <a:r>
              <a:rPr lang="zh-CN" altLang="en-US" sz="1800" dirty="0">
                <a:solidFill>
                  <a:srgbClr val="003366"/>
                </a:solidFill>
                <a:latin typeface="微软雅黑" panose="020B0503020204020204" pitchFamily="34" charset="-122"/>
                <a:ea typeface="微软雅黑" panose="020B0503020204020204" pitchFamily="34" charset="-122"/>
              </a:rPr>
              <a:t>声明一个变量但不指定类型，后续需要对该变量进行赋值来支持编译器推导类型；</a:t>
            </a:r>
            <a:endParaRPr lang="en-US" altLang="zh-CN" sz="1800" dirty="0">
              <a:solidFill>
                <a:srgbClr val="003366"/>
              </a:solidFill>
              <a:latin typeface="微软雅黑" panose="020B0503020204020204" pitchFamily="34" charset="-122"/>
              <a:ea typeface="微软雅黑" panose="020B0503020204020204" pitchFamily="34" charset="-122"/>
            </a:endParaRPr>
          </a:p>
          <a:p>
            <a:pPr marL="895350" lvl="2" indent="-285750">
              <a:lnSpc>
                <a:spcPct val="120000"/>
              </a:lnSpc>
              <a:buFont typeface="Arial" panose="020B0604020202020204" pitchFamily="34" charset="0"/>
              <a:buChar char="•"/>
            </a:pPr>
            <a:r>
              <a:rPr lang="zh-CN" altLang="en-US" sz="1800" dirty="0">
                <a:solidFill>
                  <a:srgbClr val="003366"/>
                </a:solidFill>
                <a:latin typeface="微软雅黑" panose="020B0503020204020204" pitchFamily="34" charset="-122"/>
                <a:ea typeface="微软雅黑" panose="020B0503020204020204" pitchFamily="34" charset="-122"/>
              </a:rPr>
              <a:t>声明一个变量且指定类型。</a:t>
            </a:r>
            <a:endParaRPr lang="en-US" altLang="zh-CN" sz="1800" dirty="0">
              <a:solidFill>
                <a:srgbClr val="003366"/>
              </a:solidFill>
              <a:latin typeface="微软雅黑" panose="020B0503020204020204" pitchFamily="34" charset="-122"/>
              <a:ea typeface="微软雅黑" panose="020B0503020204020204" pitchFamily="34" charset="-122"/>
            </a:endParaRPr>
          </a:p>
          <a:p>
            <a:pPr marL="895350" lvl="2" indent="-285750">
              <a:lnSpc>
                <a:spcPct val="120000"/>
              </a:lnSpc>
              <a:buFont typeface="Arial" panose="020B0604020202020204" pitchFamily="34" charset="0"/>
              <a:buChar char="•"/>
            </a:pPr>
            <a:endParaRPr lang="en-US" altLang="zh-CN" sz="1800" dirty="0">
              <a:solidFill>
                <a:srgbClr val="003366"/>
              </a:solidFill>
              <a:latin typeface="微软雅黑" panose="020B0503020204020204" pitchFamily="34" charset="-122"/>
              <a:ea typeface="微软雅黑" panose="020B0503020204020204" pitchFamily="34" charset="-122"/>
            </a:endParaRPr>
          </a:p>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2.2 </a:t>
            </a:r>
            <a:r>
              <a:rPr lang="zh-CN" altLang="en-US" sz="1800" b="1" dirty="0">
                <a:solidFill>
                  <a:srgbClr val="003366"/>
                </a:solidFill>
                <a:latin typeface="微软雅黑" panose="020B0503020204020204" pitchFamily="34" charset="-122"/>
                <a:ea typeface="微软雅黑" panose="020B0503020204020204" pitchFamily="34" charset="-122"/>
              </a:rPr>
              <a:t>赋值语句（依赖</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3.1</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1.2</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语句</a:t>
            </a:r>
            <a:r>
              <a:rPr lang="en-US" altLang="zh-CN" sz="1800" dirty="0">
                <a:solidFill>
                  <a:srgbClr val="003366"/>
                </a:solidFill>
                <a:latin typeface="微软雅黑" panose="020B0503020204020204" pitchFamily="34" charset="-122"/>
                <a:ea typeface="微软雅黑" panose="020B0503020204020204" pitchFamily="34" charset="-122"/>
              </a:rPr>
              <a:t>&gt;-&gt; &lt;</a:t>
            </a:r>
            <a:r>
              <a:rPr lang="zh-CN" altLang="en-US" sz="1800" dirty="0">
                <a:solidFill>
                  <a:srgbClr val="003366"/>
                </a:solidFill>
                <a:latin typeface="微软雅黑" panose="020B0503020204020204" pitchFamily="34" charset="-122"/>
                <a:ea typeface="微软雅黑" panose="020B0503020204020204" pitchFamily="34" charset="-122"/>
              </a:rPr>
              <a:t>赋值语句</a:t>
            </a:r>
            <a:r>
              <a:rPr lang="en-US" altLang="zh-CN" sz="18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赋值语句</a:t>
            </a:r>
            <a:r>
              <a:rPr lang="en-US" altLang="zh-CN" sz="1800" dirty="0">
                <a:solidFill>
                  <a:srgbClr val="003366"/>
                </a:solidFill>
                <a:latin typeface="微软雅黑" panose="020B0503020204020204" pitchFamily="34" charset="-122"/>
                <a:ea typeface="微软雅黑" panose="020B0503020204020204" pitchFamily="34" charset="-122"/>
              </a:rPr>
              <a:t>&gt; -&gt; &lt;</a:t>
            </a:r>
            <a:r>
              <a:rPr lang="zh-CN" altLang="en-US" sz="1800" dirty="0">
                <a:solidFill>
                  <a:srgbClr val="003366"/>
                </a:solidFill>
                <a:latin typeface="微软雅黑" panose="020B0503020204020204" pitchFamily="34" charset="-122"/>
                <a:ea typeface="微软雅黑" panose="020B0503020204020204" pitchFamily="34" charset="-122"/>
              </a:rPr>
              <a:t>左值</a:t>
            </a:r>
            <a:r>
              <a:rPr lang="en-US" altLang="zh-CN" sz="1800" dirty="0">
                <a:solidFill>
                  <a:srgbClr val="003366"/>
                </a:solidFill>
                <a:latin typeface="微软雅黑" panose="020B0503020204020204" pitchFamily="34" charset="-122"/>
                <a:ea typeface="微软雅黑" panose="020B0503020204020204" pitchFamily="34" charset="-122"/>
              </a:rPr>
              <a:t>&gt;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语义说明：允许将一个 </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的计算结果赋值给左值，从而实现变量值的修改。左值需提前声明；若左值已知类型需和表达式的类型一致；右值若为变量则需提前声明且赋值。</a:t>
            </a:r>
            <a:endParaRPr lang="en-US" altLang="zh-CN" sz="1800" dirty="0">
              <a:solidFill>
                <a:srgbClr val="003366"/>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84C9AFA0-FD46-E972-784F-3AF78E6A930C}"/>
              </a:ext>
            </a:extLst>
          </p:cNvPr>
          <p:cNvSpPr txBox="1"/>
          <p:nvPr/>
        </p:nvSpPr>
        <p:spPr>
          <a:xfrm>
            <a:off x="8787184" y="920621"/>
            <a:ext cx="3404816" cy="5016758"/>
          </a:xfrm>
          <a:prstGeom prst="rect">
            <a:avLst/>
          </a:prstGeom>
          <a:noFill/>
        </p:spPr>
        <p:txBody>
          <a:bodyPr wrap="square">
            <a:spAutoFit/>
          </a:bodyPr>
          <a:lstStyle/>
          <a:p>
            <a:pPr marL="0" lvl="1" eaLnBrk="1" hangingPunct="1"/>
            <a:r>
              <a:rPr lang="pt-BR" altLang="zh-CN" sz="1600" dirty="0">
                <a:latin typeface="微软雅黑" panose="020B0503020204020204" pitchFamily="34" charset="-122"/>
                <a:ea typeface="微软雅黑" panose="020B0503020204020204" pitchFamily="34" charset="-122"/>
              </a:rPr>
              <a:t>fn program_2_2__1(mut a:i32) {</a:t>
            </a:r>
          </a:p>
          <a:p>
            <a:pPr marL="0" lvl="1" eaLnBrk="1" hangingPunct="1"/>
            <a:r>
              <a:rPr lang="pt-BR" altLang="zh-CN" sz="1600" dirty="0">
                <a:latin typeface="微软雅黑" panose="020B0503020204020204" pitchFamily="34" charset="-122"/>
                <a:ea typeface="微软雅黑" panose="020B0503020204020204" pitchFamily="34" charset="-122"/>
              </a:rPr>
              <a:t>    a=32;</a:t>
            </a:r>
          </a:p>
          <a:p>
            <a:pPr marL="0" lvl="1" eaLnBrk="1" hangingPunct="1"/>
            <a:r>
              <a:rPr lang="pt-BR" altLang="zh-CN" sz="1600" dirty="0">
                <a:latin typeface="微软雅黑" panose="020B0503020204020204" pitchFamily="34" charset="-122"/>
                <a:ea typeface="微软雅黑" panose="020B0503020204020204" pitchFamily="34" charset="-122"/>
              </a:rPr>
              <a:t>}</a:t>
            </a:r>
          </a:p>
          <a:p>
            <a:pPr marL="0" lvl="1" eaLnBrk="1" hangingPunct="1"/>
            <a:endParaRPr lang="en-US" altLang="zh-CN" sz="1600" dirty="0">
              <a:latin typeface="微软雅黑" panose="020B0503020204020204" pitchFamily="34" charset="-122"/>
              <a:ea typeface="微软雅黑" panose="020B0503020204020204" pitchFamily="34" charset="-122"/>
            </a:endParaRPr>
          </a:p>
          <a:p>
            <a:pPr marL="0" lvl="1" eaLnBrk="1" hangingPunct="1"/>
            <a:r>
              <a:rPr lang="pt-BR" altLang="zh-CN" sz="1600" dirty="0">
                <a:latin typeface="微软雅黑" panose="020B0503020204020204" pitchFamily="34" charset="-122"/>
                <a:ea typeface="微软雅黑" panose="020B0503020204020204" pitchFamily="34" charset="-122"/>
              </a:rPr>
              <a:t>fn program_2_2__2() {</a:t>
            </a:r>
          </a:p>
          <a:p>
            <a:pPr marL="0" lvl="1" eaLnBrk="1" hangingPunct="1"/>
            <a:r>
              <a:rPr lang="pt-BR" altLang="zh-CN" sz="1600" dirty="0">
                <a:latin typeface="微软雅黑" panose="020B0503020204020204" pitchFamily="34" charset="-122"/>
                <a:ea typeface="微软雅黑" panose="020B0503020204020204" pitchFamily="34" charset="-122"/>
              </a:rPr>
              <a:t>    a=32;</a:t>
            </a:r>
          </a:p>
          <a:p>
            <a:pPr marL="0" lvl="1" eaLnBrk="1" hangingPunct="1"/>
            <a:r>
              <a:rPr lang="pt-BR" altLang="zh-CN" sz="1600" dirty="0">
                <a:latin typeface="微软雅黑" panose="020B0503020204020204" pitchFamily="34" charset="-122"/>
                <a:ea typeface="微软雅黑" panose="020B0503020204020204" pitchFamily="34" charset="-122"/>
              </a:rPr>
              <a:t>}</a:t>
            </a:r>
          </a:p>
          <a:p>
            <a:pPr marL="0" lvl="1" eaLnBrk="1" hangingPunct="1"/>
            <a:endParaRPr lang="pt-BR" altLang="zh-CN" sz="1600" dirty="0">
              <a:latin typeface="微软雅黑" panose="020B0503020204020204" pitchFamily="34" charset="-122"/>
              <a:ea typeface="微软雅黑" panose="020B0503020204020204" pitchFamily="34" charset="-122"/>
            </a:endParaRPr>
          </a:p>
          <a:p>
            <a:pPr marL="0" lvl="1"/>
            <a:r>
              <a:rPr lang="pt-BR" altLang="zh-CN" sz="1600" dirty="0">
                <a:latin typeface="微软雅黑" panose="020B0503020204020204" pitchFamily="34" charset="-122"/>
                <a:ea typeface="微软雅黑" panose="020B0503020204020204" pitchFamily="34" charset="-122"/>
              </a:rPr>
              <a:t>fn program_2_2__3(mut a:i32) {</a:t>
            </a:r>
          </a:p>
          <a:p>
            <a:pPr marL="0" lvl="1"/>
            <a:r>
              <a:rPr lang="pt-BR" altLang="zh-CN" sz="1600" dirty="0">
                <a:latin typeface="微软雅黑" panose="020B0503020204020204" pitchFamily="34" charset="-122"/>
                <a:ea typeface="微软雅黑" panose="020B0503020204020204" pitchFamily="34" charset="-122"/>
              </a:rPr>
              <a:t>    a=1==1;</a:t>
            </a:r>
          </a:p>
          <a:p>
            <a:pPr marL="0" lvl="1"/>
            <a:r>
              <a:rPr lang="pt-BR" altLang="zh-CN" sz="1600" dirty="0">
                <a:latin typeface="微软雅黑" panose="020B0503020204020204" pitchFamily="34" charset="-122"/>
                <a:ea typeface="微软雅黑" panose="020B0503020204020204" pitchFamily="34" charset="-122"/>
              </a:rPr>
              <a:t>}</a:t>
            </a:r>
          </a:p>
          <a:p>
            <a:pPr marL="0" lvl="1"/>
            <a:endParaRPr lang="nn-NO" altLang="zh-CN" sz="1600" dirty="0">
              <a:latin typeface="微软雅黑" panose="020B0503020204020204" pitchFamily="34" charset="-122"/>
              <a:ea typeface="微软雅黑" panose="020B0503020204020204" pitchFamily="34" charset="-122"/>
            </a:endParaRPr>
          </a:p>
          <a:p>
            <a:pPr marL="0" lvl="1"/>
            <a:r>
              <a:rPr lang="nn-NO" altLang="zh-CN" sz="1600" dirty="0">
                <a:latin typeface="微软雅黑" panose="020B0503020204020204" pitchFamily="34" charset="-122"/>
                <a:ea typeface="微软雅黑" panose="020B0503020204020204" pitchFamily="34" charset="-122"/>
              </a:rPr>
              <a:t>fn program_2_2__4() {</a:t>
            </a:r>
          </a:p>
          <a:p>
            <a:pPr marL="0" lvl="1"/>
            <a:r>
              <a:rPr lang="nn-NO" altLang="zh-CN" sz="1600" dirty="0">
                <a:latin typeface="微软雅黑" panose="020B0503020204020204" pitchFamily="34" charset="-122"/>
                <a:ea typeface="微软雅黑" panose="020B0503020204020204" pitchFamily="34" charset="-122"/>
              </a:rPr>
              <a:t>    let mut </a:t>
            </a:r>
            <a:r>
              <a:rPr lang="en-US" altLang="zh-CN" sz="1600" dirty="0">
                <a:latin typeface="微软雅黑" panose="020B0503020204020204" pitchFamily="34" charset="-122"/>
                <a:ea typeface="微软雅黑" panose="020B0503020204020204" pitchFamily="34" charset="-122"/>
              </a:rPr>
              <a:t>b</a:t>
            </a:r>
            <a:r>
              <a:rPr lang="nn-NO" altLang="zh-CN" sz="1600" dirty="0">
                <a:latin typeface="微软雅黑" panose="020B0503020204020204" pitchFamily="34" charset="-122"/>
                <a:ea typeface="微软雅黑" panose="020B0503020204020204" pitchFamily="34" charset="-122"/>
              </a:rPr>
              <a:t>:i32=a;</a:t>
            </a:r>
          </a:p>
          <a:p>
            <a:pPr marL="0" lvl="1"/>
            <a:r>
              <a:rPr lang="nn-NO" altLang="zh-CN" sz="1600" dirty="0">
                <a:latin typeface="微软雅黑" panose="020B0503020204020204" pitchFamily="34" charset="-122"/>
                <a:ea typeface="微软雅黑" panose="020B0503020204020204" pitchFamily="34" charset="-122"/>
              </a:rPr>
              <a:t>}</a:t>
            </a:r>
          </a:p>
          <a:p>
            <a:pPr marL="0" lvl="1"/>
            <a:endParaRPr lang="nn-NO" altLang="zh-CN" sz="1600" dirty="0">
              <a:latin typeface="微软雅黑" panose="020B0503020204020204" pitchFamily="34" charset="-122"/>
              <a:ea typeface="微软雅黑" panose="020B0503020204020204" pitchFamily="34" charset="-122"/>
            </a:endParaRPr>
          </a:p>
          <a:p>
            <a:pPr marL="0" lvl="1"/>
            <a:r>
              <a:rPr lang="nn-NO" altLang="zh-CN" sz="1600" dirty="0">
                <a:latin typeface="微软雅黑" panose="020B0503020204020204" pitchFamily="34" charset="-122"/>
                <a:ea typeface="微软雅黑" panose="020B0503020204020204" pitchFamily="34" charset="-122"/>
              </a:rPr>
              <a:t>fn program_2_2__5() {</a:t>
            </a:r>
          </a:p>
          <a:p>
            <a:pPr marL="0" lvl="1"/>
            <a:r>
              <a:rPr lang="nn-NO" altLang="zh-CN" sz="1600" dirty="0">
                <a:latin typeface="微软雅黑" panose="020B0503020204020204" pitchFamily="34" charset="-122"/>
                <a:ea typeface="微软雅黑" panose="020B0503020204020204" pitchFamily="34" charset="-122"/>
              </a:rPr>
              <a:t>    let mut </a:t>
            </a:r>
            <a:r>
              <a:rPr lang="en-US" altLang="zh-CN" sz="1600" dirty="0">
                <a:latin typeface="微软雅黑" panose="020B0503020204020204" pitchFamily="34" charset="-122"/>
                <a:ea typeface="微软雅黑" panose="020B0503020204020204" pitchFamily="34" charset="-122"/>
              </a:rPr>
              <a:t>a:i32</a:t>
            </a:r>
            <a:r>
              <a:rPr lang="nn-NO" altLang="zh-CN" sz="1600" dirty="0">
                <a:latin typeface="微软雅黑" panose="020B0503020204020204" pitchFamily="34" charset="-122"/>
                <a:ea typeface="微软雅黑" panose="020B0503020204020204" pitchFamily="34" charset="-122"/>
              </a:rPr>
              <a:t>;</a:t>
            </a:r>
          </a:p>
          <a:p>
            <a:pPr marL="0" lvl="1"/>
            <a:r>
              <a:rPr lang="nn-NO" altLang="zh-CN" sz="1600" dirty="0">
                <a:latin typeface="微软雅黑" panose="020B0503020204020204" pitchFamily="34" charset="-122"/>
                <a:ea typeface="微软雅黑" panose="020B0503020204020204" pitchFamily="34" charset="-122"/>
              </a:rPr>
              <a:t>    let mut b:i32=a;</a:t>
            </a:r>
          </a:p>
          <a:p>
            <a:pPr marL="0" lvl="1"/>
            <a:r>
              <a:rPr lang="nn-NO" altLang="zh-CN" sz="1600" dirty="0">
                <a:latin typeface="微软雅黑" panose="020B0503020204020204" pitchFamily="34" charset="-122"/>
                <a:ea typeface="微软雅黑" panose="020B0503020204020204" pitchFamily="34" charset="-122"/>
              </a:rPr>
              <a:t>}</a:t>
            </a:r>
          </a:p>
        </p:txBody>
      </p:sp>
      <p:sp>
        <p:nvSpPr>
          <p:cNvPr id="20" name="文本框 19">
            <a:extLst>
              <a:ext uri="{FF2B5EF4-FFF2-40B4-BE49-F238E27FC236}">
                <a16:creationId xmlns:a16="http://schemas.microsoft.com/office/drawing/2014/main" id="{D019D36D-F478-9B4A-2FE0-5E9641C01E49}"/>
              </a:ext>
            </a:extLst>
          </p:cNvPr>
          <p:cNvSpPr txBox="1"/>
          <p:nvPr/>
        </p:nvSpPr>
        <p:spPr>
          <a:xfrm>
            <a:off x="10110815" y="2291877"/>
            <a:ext cx="1399275" cy="2951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变量未声明</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BD9F8CA2-B40E-8B58-2BE4-867630AEF934}"/>
              </a:ext>
            </a:extLst>
          </p:cNvPr>
          <p:cNvSpPr txBox="1"/>
          <p:nvPr/>
        </p:nvSpPr>
        <p:spPr>
          <a:xfrm>
            <a:off x="10110815" y="3287820"/>
            <a:ext cx="1529801" cy="2951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变量类型不一致</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DFC6FF70-6E4B-BE86-F8E9-4758A671B882}"/>
              </a:ext>
            </a:extLst>
          </p:cNvPr>
          <p:cNvSpPr txBox="1"/>
          <p:nvPr/>
        </p:nvSpPr>
        <p:spPr>
          <a:xfrm>
            <a:off x="10756037" y="4266936"/>
            <a:ext cx="1529801" cy="2951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右值未提前声明</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86858FA7-8136-DD51-9AAD-98159F44643F}"/>
              </a:ext>
            </a:extLst>
          </p:cNvPr>
          <p:cNvSpPr txBox="1"/>
          <p:nvPr/>
        </p:nvSpPr>
        <p:spPr>
          <a:xfrm>
            <a:off x="10756037" y="5230018"/>
            <a:ext cx="1529801" cy="2951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右值未提前赋值</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74826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009C3-5553-668B-BDE3-8E83B1E86281}"/>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484F423E-1763-3329-4A3A-A407EF7B84BB}"/>
              </a:ext>
            </a:extLst>
          </p:cNvPr>
          <p:cNvSpPr txBox="1">
            <a:spLocks/>
          </p:cNvSpPr>
          <p:nvPr/>
        </p:nvSpPr>
        <p:spPr>
          <a:xfrm>
            <a:off x="72008" y="-12202"/>
            <a:ext cx="7752184" cy="848914"/>
          </a:xfrm>
          <a:prstGeom prst="rect">
            <a:avLst/>
          </a:prstGeom>
        </p:spPr>
        <p:txBody>
          <a:bodyPr/>
          <a:lstStyle>
            <a:lvl1pPr algn="ctr" defTabSz="1219200" rtl="0" eaLnBrk="1" latinLnBrk="0" hangingPunct="1">
              <a:spcBef>
                <a:spcPct val="0"/>
              </a:spcBef>
              <a:buNone/>
              <a:defRPr sz="5865" kern="1200">
                <a:solidFill>
                  <a:schemeClr val="tx1"/>
                </a:solidFill>
                <a:latin typeface="+mj-lt"/>
                <a:ea typeface="+mj-ea"/>
                <a:cs typeface="+mj-cs"/>
              </a:defRPr>
            </a:lvl1pPr>
          </a:lstStyle>
          <a:p>
            <a:pPr algn="l"/>
            <a:r>
              <a:rPr lang="zh-CN" altLang="en-US" sz="3600" b="1" dirty="0">
                <a:solidFill>
                  <a:schemeClr val="bg1"/>
                </a:solidFill>
                <a:latin typeface="微软雅黑" panose="020B0503020204020204" pitchFamily="34" charset="-122"/>
                <a:ea typeface="微软雅黑" panose="020B0503020204020204" pitchFamily="34" charset="-122"/>
              </a:rPr>
              <a:t>类</a:t>
            </a:r>
            <a:r>
              <a:rPr lang="en-US" altLang="zh-CN" sz="3600" b="1" dirty="0">
                <a:solidFill>
                  <a:schemeClr val="bg1"/>
                </a:solidFill>
                <a:latin typeface="微软雅黑" panose="020B0503020204020204" pitchFamily="34" charset="-122"/>
                <a:ea typeface="微软雅黑" panose="020B0503020204020204" pitchFamily="34" charset="-122"/>
              </a:rPr>
              <a:t>Rust</a:t>
            </a:r>
            <a:r>
              <a:rPr lang="zh-CN" altLang="en-US" sz="3600" b="1" dirty="0">
                <a:solidFill>
                  <a:schemeClr val="bg1"/>
                </a:solidFill>
                <a:latin typeface="微软雅黑" panose="020B0503020204020204" pitchFamily="34" charset="-122"/>
                <a:ea typeface="微软雅黑" panose="020B0503020204020204" pitchFamily="34" charset="-122"/>
              </a:rPr>
              <a:t>语法和语义规则</a:t>
            </a:r>
          </a:p>
        </p:txBody>
      </p:sp>
      <p:sp>
        <p:nvSpPr>
          <p:cNvPr id="7" name="文本框 6">
            <a:extLst>
              <a:ext uri="{FF2B5EF4-FFF2-40B4-BE49-F238E27FC236}">
                <a16:creationId xmlns:a16="http://schemas.microsoft.com/office/drawing/2014/main" id="{6D18A7EC-307B-C478-04FD-FBA28B79BBF1}"/>
              </a:ext>
            </a:extLst>
          </p:cNvPr>
          <p:cNvSpPr txBox="1"/>
          <p:nvPr/>
        </p:nvSpPr>
        <p:spPr>
          <a:xfrm>
            <a:off x="0" y="864816"/>
            <a:ext cx="8688288" cy="5316007"/>
          </a:xfrm>
          <a:prstGeom prst="rect">
            <a:avLst/>
          </a:prstGeom>
          <a:noFill/>
        </p:spPr>
        <p:txBody>
          <a:bodyPr wrap="square">
            <a:spAutoFit/>
          </a:bodyPr>
          <a:lstStyle/>
          <a:p>
            <a:pPr marL="381000" indent="-533400">
              <a:lnSpc>
                <a:spcPct val="112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2.0 </a:t>
            </a:r>
            <a:r>
              <a:rPr lang="zh-CN" altLang="en-US" sz="1800" b="1" dirty="0">
                <a:solidFill>
                  <a:srgbClr val="003366"/>
                </a:solidFill>
                <a:latin typeface="微软雅黑" panose="020B0503020204020204" pitchFamily="34" charset="-122"/>
                <a:ea typeface="微软雅黑" panose="020B0503020204020204" pitchFamily="34" charset="-122"/>
              </a:rPr>
              <a:t>变量声明（依赖</a:t>
            </a:r>
            <a:r>
              <a:rPr lang="en-US" altLang="zh-CN" sz="1800" b="1" dirty="0">
                <a:solidFill>
                  <a:srgbClr val="003366"/>
                </a:solidFill>
                <a:latin typeface="微软雅黑" panose="020B0503020204020204" pitchFamily="34" charset="-122"/>
                <a:ea typeface="微软雅黑" panose="020B0503020204020204" pitchFamily="34" charset="-122"/>
              </a:rPr>
              <a:t>0.1</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0.2</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90600" lvl="1" indent="-533400">
              <a:lnSpc>
                <a:spcPct val="112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变量声明</a:t>
            </a:r>
            <a:r>
              <a:rPr lang="en-US" altLang="zh-CN" sz="1800" dirty="0">
                <a:solidFill>
                  <a:srgbClr val="003366"/>
                </a:solidFill>
                <a:latin typeface="微软雅黑" panose="020B0503020204020204" pitchFamily="34" charset="-122"/>
                <a:ea typeface="微软雅黑" panose="020B0503020204020204" pitchFamily="34" charset="-122"/>
              </a:rPr>
              <a:t>&gt; -&gt; &lt;</a:t>
            </a:r>
            <a:r>
              <a:rPr lang="zh-CN" altLang="en-US" sz="1800" dirty="0">
                <a:solidFill>
                  <a:srgbClr val="003366"/>
                </a:solidFill>
                <a:latin typeface="微软雅黑" panose="020B0503020204020204" pitchFamily="34" charset="-122"/>
                <a:ea typeface="微软雅黑" panose="020B0503020204020204" pitchFamily="34" charset="-122"/>
              </a:rPr>
              <a:t>变量属性</a:t>
            </a:r>
            <a:r>
              <a:rPr lang="en-US" altLang="zh-CN" sz="1800" dirty="0">
                <a:solidFill>
                  <a:srgbClr val="003366"/>
                </a:solidFill>
                <a:latin typeface="微软雅黑" panose="020B0503020204020204" pitchFamily="34" charset="-122"/>
                <a:ea typeface="微软雅黑" panose="020B0503020204020204" pitchFamily="34" charset="-122"/>
              </a:rPr>
              <a:t>&gt; &lt;ID&gt;</a:t>
            </a:r>
          </a:p>
          <a:p>
            <a:pPr marL="990600" lvl="1" indent="-533400">
              <a:lnSpc>
                <a:spcPct val="112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变量声明</a:t>
            </a:r>
            <a:r>
              <a:rPr lang="en-US" altLang="zh-CN" sz="1800" dirty="0">
                <a:solidFill>
                  <a:srgbClr val="003366"/>
                </a:solidFill>
                <a:latin typeface="微软雅黑" panose="020B0503020204020204" pitchFamily="34" charset="-122"/>
                <a:ea typeface="微软雅黑" panose="020B0503020204020204" pitchFamily="34" charset="-122"/>
              </a:rPr>
              <a:t>&gt; -&gt; &lt;</a:t>
            </a:r>
            <a:r>
              <a:rPr lang="zh-CN" altLang="en-US" sz="1800" dirty="0">
                <a:solidFill>
                  <a:srgbClr val="003366"/>
                </a:solidFill>
                <a:latin typeface="微软雅黑" panose="020B0503020204020204" pitchFamily="34" charset="-122"/>
                <a:ea typeface="微软雅黑" panose="020B0503020204020204" pitchFamily="34" charset="-122"/>
              </a:rPr>
              <a:t>变量属性</a:t>
            </a:r>
            <a:r>
              <a:rPr lang="en-US" altLang="zh-CN" sz="1800" dirty="0">
                <a:solidFill>
                  <a:srgbClr val="003366"/>
                </a:solidFill>
                <a:latin typeface="微软雅黑" panose="020B0503020204020204" pitchFamily="34" charset="-122"/>
                <a:ea typeface="微软雅黑" panose="020B0503020204020204" pitchFamily="34" charset="-122"/>
              </a:rPr>
              <a:t>&gt; &lt;ID&gt; ':'  &lt;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语义说明：允许两种变量声明：</a:t>
            </a:r>
            <a:endParaRPr lang="en-US" altLang="zh-CN" sz="1800" dirty="0">
              <a:solidFill>
                <a:srgbClr val="003366"/>
              </a:solidFill>
              <a:latin typeface="微软雅黑" panose="020B0503020204020204" pitchFamily="34" charset="-122"/>
              <a:ea typeface="微软雅黑" panose="020B0503020204020204" pitchFamily="34" charset="-122"/>
            </a:endParaRPr>
          </a:p>
          <a:p>
            <a:pPr marL="895350" lvl="2" indent="-285750">
              <a:lnSpc>
                <a:spcPct val="120000"/>
              </a:lnSpc>
              <a:buFont typeface="Arial" panose="020B0604020202020204" pitchFamily="34" charset="0"/>
              <a:buChar char="•"/>
            </a:pPr>
            <a:r>
              <a:rPr lang="zh-CN" altLang="en-US" sz="1800" dirty="0">
                <a:solidFill>
                  <a:srgbClr val="003366"/>
                </a:solidFill>
                <a:latin typeface="微软雅黑" panose="020B0503020204020204" pitchFamily="34" charset="-122"/>
                <a:ea typeface="微软雅黑" panose="020B0503020204020204" pitchFamily="34" charset="-122"/>
              </a:rPr>
              <a:t>声明一个变量但不指定类型，后续需要对该变量进行赋值来支持编译器推导类型；</a:t>
            </a:r>
            <a:endParaRPr lang="en-US" altLang="zh-CN" sz="1800" dirty="0">
              <a:solidFill>
                <a:srgbClr val="003366"/>
              </a:solidFill>
              <a:latin typeface="微软雅黑" panose="020B0503020204020204" pitchFamily="34" charset="-122"/>
              <a:ea typeface="微软雅黑" panose="020B0503020204020204" pitchFamily="34" charset="-122"/>
            </a:endParaRPr>
          </a:p>
          <a:p>
            <a:pPr marL="895350" lvl="2" indent="-285750">
              <a:lnSpc>
                <a:spcPct val="120000"/>
              </a:lnSpc>
              <a:buFont typeface="Arial" panose="020B0604020202020204" pitchFamily="34" charset="0"/>
              <a:buChar char="•"/>
            </a:pPr>
            <a:r>
              <a:rPr lang="zh-CN" altLang="en-US" sz="1800" dirty="0">
                <a:solidFill>
                  <a:srgbClr val="003366"/>
                </a:solidFill>
                <a:latin typeface="微软雅黑" panose="020B0503020204020204" pitchFamily="34" charset="-122"/>
                <a:ea typeface="微软雅黑" panose="020B0503020204020204" pitchFamily="34" charset="-122"/>
              </a:rPr>
              <a:t>声明一个变量且指定类型。</a:t>
            </a:r>
            <a:endParaRPr lang="en-US" altLang="zh-CN" sz="1800" dirty="0">
              <a:solidFill>
                <a:srgbClr val="003366"/>
              </a:solidFill>
              <a:latin typeface="微软雅黑" panose="020B0503020204020204" pitchFamily="34" charset="-122"/>
              <a:ea typeface="微软雅黑" panose="020B0503020204020204" pitchFamily="34" charset="-122"/>
            </a:endParaRPr>
          </a:p>
          <a:p>
            <a:pPr marL="895350" lvl="2" indent="-285750">
              <a:lnSpc>
                <a:spcPct val="120000"/>
              </a:lnSpc>
              <a:buFont typeface="Arial" panose="020B0604020202020204" pitchFamily="34" charset="0"/>
              <a:buChar char="•"/>
            </a:pPr>
            <a:endParaRPr lang="en-US" altLang="zh-CN" sz="1800" dirty="0">
              <a:solidFill>
                <a:srgbClr val="003366"/>
              </a:solidFill>
              <a:latin typeface="微软雅黑" panose="020B0503020204020204" pitchFamily="34" charset="-122"/>
              <a:ea typeface="微软雅黑" panose="020B0503020204020204" pitchFamily="34" charset="-122"/>
            </a:endParaRPr>
          </a:p>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2.3 </a:t>
            </a:r>
            <a:r>
              <a:rPr lang="zh-CN" altLang="en-US" sz="1800" b="1" dirty="0">
                <a:solidFill>
                  <a:srgbClr val="003366"/>
                </a:solidFill>
                <a:latin typeface="微软雅黑" panose="020B0503020204020204" pitchFamily="34" charset="-122"/>
                <a:ea typeface="微软雅黑" panose="020B0503020204020204" pitchFamily="34" charset="-122"/>
              </a:rPr>
              <a:t>变量声明赋值语句（依赖</a:t>
            </a:r>
            <a:r>
              <a:rPr lang="en-US" altLang="zh-CN" sz="1800" b="1" dirty="0">
                <a:solidFill>
                  <a:srgbClr val="003366"/>
                </a:solidFill>
                <a:latin typeface="微软雅黑" panose="020B0503020204020204" pitchFamily="34" charset="-122"/>
                <a:ea typeface="微软雅黑" panose="020B0503020204020204" pitchFamily="34" charset="-122"/>
              </a:rPr>
              <a:t>2.0</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3.1</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1.2</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语句</a:t>
            </a:r>
            <a:r>
              <a:rPr lang="en-US" altLang="zh-CN" sz="1800" dirty="0">
                <a:solidFill>
                  <a:srgbClr val="003366"/>
                </a:solidFill>
                <a:latin typeface="微软雅黑" panose="020B0503020204020204" pitchFamily="34" charset="-122"/>
                <a:ea typeface="微软雅黑" panose="020B0503020204020204" pitchFamily="34" charset="-122"/>
              </a:rPr>
              <a:t>&gt;-&gt; &lt;</a:t>
            </a:r>
            <a:r>
              <a:rPr lang="zh-CN" altLang="en-US" sz="1800" dirty="0">
                <a:solidFill>
                  <a:srgbClr val="003366"/>
                </a:solidFill>
                <a:latin typeface="微软雅黑" panose="020B0503020204020204" pitchFamily="34" charset="-122"/>
                <a:ea typeface="微软雅黑" panose="020B0503020204020204" pitchFamily="34" charset="-122"/>
              </a:rPr>
              <a:t>变量声明赋值语句</a:t>
            </a:r>
            <a:r>
              <a:rPr lang="en-US" altLang="zh-CN" sz="18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变量声明赋值语句</a:t>
            </a:r>
            <a:r>
              <a:rPr lang="en-US" altLang="zh-CN" sz="1800" dirty="0">
                <a:solidFill>
                  <a:srgbClr val="003366"/>
                </a:solidFill>
                <a:latin typeface="微软雅黑" panose="020B0503020204020204" pitchFamily="34" charset="-122"/>
                <a:ea typeface="微软雅黑" panose="020B0503020204020204" pitchFamily="34" charset="-122"/>
              </a:rPr>
              <a:t>&gt; -&gt; let &lt;</a:t>
            </a:r>
            <a:r>
              <a:rPr lang="zh-CN" altLang="en-US" sz="1800" dirty="0">
                <a:solidFill>
                  <a:srgbClr val="003366"/>
                </a:solidFill>
                <a:latin typeface="微软雅黑" panose="020B0503020204020204" pitchFamily="34" charset="-122"/>
                <a:ea typeface="微软雅黑" panose="020B0503020204020204" pitchFamily="34" charset="-122"/>
              </a:rPr>
              <a:t>变量声明</a:t>
            </a:r>
            <a:r>
              <a:rPr lang="en-US" altLang="zh-CN" sz="1800" dirty="0">
                <a:solidFill>
                  <a:srgbClr val="003366"/>
                </a:solidFill>
                <a:latin typeface="微软雅黑" panose="020B0503020204020204" pitchFamily="34" charset="-122"/>
                <a:ea typeface="微软雅黑" panose="020B0503020204020204" pitchFamily="34" charset="-122"/>
              </a:rPr>
              <a:t>&gt;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语义说明：变量声明的同时进行赋值</a:t>
            </a:r>
            <a:endParaRPr lang="en-US" altLang="zh-CN" sz="1800"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zh-CN" altLang="en-US" sz="1800" dirty="0">
                <a:solidFill>
                  <a:srgbClr val="003366"/>
                </a:solidFill>
                <a:latin typeface="微软雅黑" panose="020B0503020204020204" pitchFamily="34" charset="-122"/>
                <a:ea typeface="微软雅黑" panose="020B0503020204020204" pitchFamily="34" charset="-122"/>
              </a:rPr>
              <a:t>如果变量声明时未指定类型，则类型根据后续表达式推断；</a:t>
            </a:r>
            <a:endParaRPr lang="en-US" altLang="zh-CN" sz="1800"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zh-CN" altLang="en-US" sz="1800" dirty="0">
                <a:solidFill>
                  <a:srgbClr val="003366"/>
                </a:solidFill>
                <a:latin typeface="微软雅黑" panose="020B0503020204020204" pitchFamily="34" charset="-122"/>
                <a:ea typeface="微软雅黑" panose="020B0503020204020204" pitchFamily="34" charset="-122"/>
              </a:rPr>
              <a:t>如果变量声明时指定类型，则需检测是否与后续表达式类型一致，不一致应报错。</a:t>
            </a:r>
            <a:endParaRPr lang="en-US" altLang="zh-CN" sz="1800" dirty="0">
              <a:solidFill>
                <a:srgbClr val="003366"/>
              </a:solidFill>
              <a:latin typeface="微软雅黑" panose="020B0503020204020204" pitchFamily="34" charset="-122"/>
              <a:ea typeface="微软雅黑" panose="020B0503020204020204" pitchFamily="34" charset="-122"/>
            </a:endParaRP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变量允许被二次声明，每次声明隐藏之前的绑定，称为重影。</a:t>
            </a:r>
            <a:endParaRPr lang="en-US" altLang="zh-CN" sz="1800" strike="sngStrike" dirty="0">
              <a:solidFill>
                <a:srgbClr val="003366"/>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C3FA824D-C9F5-72CA-A85F-5F1785E18C30}"/>
              </a:ext>
            </a:extLst>
          </p:cNvPr>
          <p:cNvSpPr txBox="1"/>
          <p:nvPr/>
        </p:nvSpPr>
        <p:spPr>
          <a:xfrm>
            <a:off x="8787184" y="3789040"/>
            <a:ext cx="3404816" cy="2554545"/>
          </a:xfrm>
          <a:prstGeom prst="rect">
            <a:avLst/>
          </a:prstGeom>
          <a:noFill/>
        </p:spPr>
        <p:txBody>
          <a:bodyPr wrap="square">
            <a:spAutoFit/>
          </a:bodyPr>
          <a:lstStyle/>
          <a:p>
            <a:pPr marL="0" lvl="1" eaLnBrk="1" hangingPunct="1"/>
            <a:r>
              <a:rPr lang="nn-NO" altLang="zh-CN" sz="1600" dirty="0">
                <a:latin typeface="微软雅黑" panose="020B0503020204020204" pitchFamily="34" charset="-122"/>
                <a:ea typeface="微软雅黑" panose="020B0503020204020204" pitchFamily="34" charset="-122"/>
              </a:rPr>
              <a:t>fn program_2_3__1() {</a:t>
            </a:r>
          </a:p>
          <a:p>
            <a:pPr marL="0" lvl="1" eaLnBrk="1" hangingPunct="1"/>
            <a:r>
              <a:rPr lang="nn-NO" altLang="zh-CN" sz="1600" dirty="0">
                <a:latin typeface="微软雅黑" panose="020B0503020204020204" pitchFamily="34" charset="-122"/>
                <a:ea typeface="微软雅黑" panose="020B0503020204020204" pitchFamily="34" charset="-122"/>
              </a:rPr>
              <a:t>    let mut a:i32=1;</a:t>
            </a:r>
          </a:p>
          <a:p>
            <a:pPr marL="0" lvl="1" eaLnBrk="1" hangingPunct="1"/>
            <a:r>
              <a:rPr lang="nn-NO" altLang="zh-CN" sz="1600" dirty="0">
                <a:latin typeface="微软雅黑" panose="020B0503020204020204" pitchFamily="34" charset="-122"/>
                <a:ea typeface="微软雅黑" panose="020B0503020204020204" pitchFamily="34" charset="-122"/>
              </a:rPr>
              <a:t>    let mut b=1;</a:t>
            </a:r>
          </a:p>
          <a:p>
            <a:pPr marL="0" lvl="1" eaLnBrk="1" hangingPunct="1"/>
            <a:r>
              <a:rPr lang="nn-NO" altLang="zh-CN" sz="1600" dirty="0">
                <a:latin typeface="微软雅黑" panose="020B0503020204020204" pitchFamily="34" charset="-122"/>
                <a:ea typeface="微软雅黑" panose="020B0503020204020204" pitchFamily="34" charset="-122"/>
              </a:rPr>
              <a:t>}</a:t>
            </a:r>
          </a:p>
          <a:p>
            <a:pPr marL="0" lvl="1" eaLnBrk="1" hangingPunct="1"/>
            <a:endParaRPr lang="nn-NO" altLang="zh-CN" sz="1600" dirty="0">
              <a:latin typeface="微软雅黑" panose="020B0503020204020204" pitchFamily="34" charset="-122"/>
              <a:ea typeface="微软雅黑" panose="020B0503020204020204" pitchFamily="34" charset="-122"/>
            </a:endParaRPr>
          </a:p>
          <a:p>
            <a:pPr marL="0" lvl="1" eaLnBrk="1" hangingPunct="1"/>
            <a:r>
              <a:rPr lang="nn-NO" altLang="zh-CN" sz="1600" dirty="0">
                <a:latin typeface="微软雅黑" panose="020B0503020204020204" pitchFamily="34" charset="-122"/>
                <a:ea typeface="微软雅黑" panose="020B0503020204020204" pitchFamily="34" charset="-122"/>
              </a:rPr>
              <a:t>fn program_2_3__2() {</a:t>
            </a:r>
          </a:p>
          <a:p>
            <a:pPr marL="0" lvl="1" eaLnBrk="1" hangingPunct="1"/>
            <a:r>
              <a:rPr lang="nn-NO" altLang="zh-CN" sz="1600" dirty="0">
                <a:latin typeface="微软雅黑" panose="020B0503020204020204" pitchFamily="34" charset="-122"/>
                <a:ea typeface="微软雅黑" panose="020B0503020204020204" pitchFamily="34" charset="-122"/>
              </a:rPr>
              <a:t>    let mut a:i32=1;</a:t>
            </a:r>
          </a:p>
          <a:p>
            <a:pPr marL="0" lvl="1" eaLnBrk="1" hangingPunct="1"/>
            <a:r>
              <a:rPr lang="nn-NO" altLang="zh-CN" sz="1600" dirty="0">
                <a:latin typeface="微软雅黑" panose="020B0503020204020204" pitchFamily="34" charset="-122"/>
                <a:ea typeface="微软雅黑" panose="020B0503020204020204" pitchFamily="34" charset="-122"/>
              </a:rPr>
              <a:t>    let mut a=2;</a:t>
            </a:r>
          </a:p>
          <a:p>
            <a:pPr marL="0" lvl="1" eaLnBrk="1" hangingPunct="1"/>
            <a:r>
              <a:rPr lang="nn-NO" altLang="zh-CN" sz="1600" dirty="0">
                <a:latin typeface="微软雅黑" panose="020B0503020204020204" pitchFamily="34" charset="-122"/>
                <a:ea typeface="微软雅黑" panose="020B0503020204020204" pitchFamily="34" charset="-122"/>
              </a:rPr>
              <a:t>    let mut a:i32=3;</a:t>
            </a:r>
          </a:p>
          <a:p>
            <a:pPr marL="0" lvl="1" eaLnBrk="1" hangingPunct="1"/>
            <a:r>
              <a:rPr lang="nn-NO" altLang="zh-CN" sz="1600" dirty="0">
                <a:latin typeface="微软雅黑" panose="020B0503020204020204" pitchFamily="34" charset="-122"/>
                <a:ea typeface="微软雅黑" panose="020B0503020204020204" pitchFamily="34" charset="-122"/>
              </a:rPr>
              <a:t>}</a:t>
            </a:r>
          </a:p>
        </p:txBody>
      </p:sp>
      <p:sp>
        <p:nvSpPr>
          <p:cNvPr id="19" name="文本框 18">
            <a:extLst>
              <a:ext uri="{FF2B5EF4-FFF2-40B4-BE49-F238E27FC236}">
                <a16:creationId xmlns:a16="http://schemas.microsoft.com/office/drawing/2014/main" id="{D8AF05AC-C80D-8D59-437D-B69993FEE203}"/>
              </a:ext>
            </a:extLst>
          </p:cNvPr>
          <p:cNvSpPr txBox="1"/>
          <p:nvPr/>
        </p:nvSpPr>
        <p:spPr>
          <a:xfrm>
            <a:off x="10750877" y="5653955"/>
            <a:ext cx="1399275" cy="516745"/>
          </a:xfrm>
          <a:prstGeom prst="rect">
            <a:avLst/>
          </a:prstGeom>
          <a:noFill/>
        </p:spPr>
        <p:txBody>
          <a:bodyPr wrap="square">
            <a:spAutoFit/>
          </a:bodyPr>
          <a:lstStyle/>
          <a:p>
            <a:pPr marL="0" lvl="1">
              <a:lnSpc>
                <a:spcPct val="120000"/>
              </a:lnSpc>
            </a:pPr>
            <a:r>
              <a:rPr lang="zh-CN" altLang="en-US" sz="1200" dirty="0">
                <a:solidFill>
                  <a:srgbClr val="00B050"/>
                </a:solidFill>
                <a:latin typeface="微软雅黑" panose="020B0503020204020204" pitchFamily="34" charset="-122"/>
                <a:ea typeface="微软雅黑" panose="020B0503020204020204" pitchFamily="34" charset="-122"/>
              </a:rPr>
              <a:t>√</a:t>
            </a:r>
            <a:r>
              <a:rPr lang="en-US" altLang="zh-CN" sz="1200" dirty="0">
                <a:solidFill>
                  <a:srgbClr val="00B050"/>
                </a:solidFill>
                <a:latin typeface="微软雅黑" panose="020B0503020204020204" pitchFamily="34" charset="-122"/>
                <a:ea typeface="微软雅黑" panose="020B0503020204020204" pitchFamily="34" charset="-122"/>
              </a:rPr>
              <a:t> </a:t>
            </a:r>
            <a:r>
              <a:rPr lang="zh-CN" altLang="en-US" sz="1200" dirty="0">
                <a:solidFill>
                  <a:srgbClr val="00B050"/>
                </a:solidFill>
                <a:latin typeface="微软雅黑" panose="020B0503020204020204" pitchFamily="34" charset="-122"/>
                <a:ea typeface="微软雅黑" panose="020B0503020204020204" pitchFamily="34" charset="-122"/>
              </a:rPr>
              <a:t>可以二次声明，称为重影</a:t>
            </a:r>
            <a:endParaRPr lang="en-US" altLang="zh-CN" sz="1200" dirty="0">
              <a:solidFill>
                <a:srgbClr val="00B05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62405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C2EEF-B58B-4A27-B4FF-9B8792A1835B}"/>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A2491995-E9F6-A30D-7F56-23D14CD4A913}"/>
              </a:ext>
            </a:extLst>
          </p:cNvPr>
          <p:cNvSpPr txBox="1">
            <a:spLocks/>
          </p:cNvSpPr>
          <p:nvPr/>
        </p:nvSpPr>
        <p:spPr>
          <a:xfrm>
            <a:off x="72008" y="-12202"/>
            <a:ext cx="7752184" cy="848914"/>
          </a:xfrm>
          <a:prstGeom prst="rect">
            <a:avLst/>
          </a:prstGeom>
        </p:spPr>
        <p:txBody>
          <a:bodyPr/>
          <a:lstStyle>
            <a:lvl1pPr algn="ctr" defTabSz="1219200" rtl="0" eaLnBrk="1" latinLnBrk="0" hangingPunct="1">
              <a:spcBef>
                <a:spcPct val="0"/>
              </a:spcBef>
              <a:buNone/>
              <a:defRPr sz="5865" kern="1200">
                <a:solidFill>
                  <a:schemeClr val="tx1"/>
                </a:solidFill>
                <a:latin typeface="+mj-lt"/>
                <a:ea typeface="+mj-ea"/>
                <a:cs typeface="+mj-cs"/>
              </a:defRPr>
            </a:lvl1pPr>
          </a:lstStyle>
          <a:p>
            <a:pPr algn="l"/>
            <a:r>
              <a:rPr lang="zh-CN" altLang="en-US" sz="3600" b="1" dirty="0">
                <a:solidFill>
                  <a:schemeClr val="bg1"/>
                </a:solidFill>
                <a:latin typeface="微软雅黑" panose="020B0503020204020204" pitchFamily="34" charset="-122"/>
                <a:ea typeface="微软雅黑" panose="020B0503020204020204" pitchFamily="34" charset="-122"/>
              </a:rPr>
              <a:t>类</a:t>
            </a:r>
            <a:r>
              <a:rPr lang="en-US" altLang="zh-CN" sz="3600" b="1" dirty="0">
                <a:solidFill>
                  <a:schemeClr val="bg1"/>
                </a:solidFill>
                <a:latin typeface="微软雅黑" panose="020B0503020204020204" pitchFamily="34" charset="-122"/>
                <a:ea typeface="微软雅黑" panose="020B0503020204020204" pitchFamily="34" charset="-122"/>
              </a:rPr>
              <a:t>Rust</a:t>
            </a:r>
            <a:r>
              <a:rPr lang="zh-CN" altLang="en-US" sz="3600" b="1" dirty="0">
                <a:solidFill>
                  <a:schemeClr val="bg1"/>
                </a:solidFill>
                <a:latin typeface="微软雅黑" panose="020B0503020204020204" pitchFamily="34" charset="-122"/>
                <a:ea typeface="微软雅黑" panose="020B0503020204020204" pitchFamily="34" charset="-122"/>
              </a:rPr>
              <a:t>语法和语义规则</a:t>
            </a:r>
          </a:p>
        </p:txBody>
      </p:sp>
      <p:sp>
        <p:nvSpPr>
          <p:cNvPr id="2" name="文本框 1">
            <a:extLst>
              <a:ext uri="{FF2B5EF4-FFF2-40B4-BE49-F238E27FC236}">
                <a16:creationId xmlns:a16="http://schemas.microsoft.com/office/drawing/2014/main" id="{3B68B2F0-5535-B5E0-6017-F43080CDB41F}"/>
              </a:ext>
            </a:extLst>
          </p:cNvPr>
          <p:cNvSpPr txBox="1"/>
          <p:nvPr/>
        </p:nvSpPr>
        <p:spPr>
          <a:xfrm>
            <a:off x="0" y="797935"/>
            <a:ext cx="10128448" cy="2646365"/>
          </a:xfrm>
          <a:prstGeom prst="rect">
            <a:avLst/>
          </a:prstGeom>
          <a:noFill/>
        </p:spPr>
        <p:txBody>
          <a:bodyPr wrap="square">
            <a:spAutoFit/>
          </a:bodyPr>
          <a:lstStyle/>
          <a:p>
            <a:pPr marL="342900" lvl="1" indent="-342900">
              <a:lnSpc>
                <a:spcPct val="120000"/>
              </a:lnSpc>
              <a:buFont typeface="Wingdings" panose="05000000000000000000" pitchFamily="2" charset="2"/>
              <a:buChar char="Ø"/>
            </a:pPr>
            <a:r>
              <a:rPr lang="en-US" altLang="zh-CN" sz="2000" b="1" dirty="0">
                <a:solidFill>
                  <a:srgbClr val="003366"/>
                </a:solidFill>
                <a:latin typeface="微软雅黑" panose="020B0503020204020204" pitchFamily="34" charset="-122"/>
                <a:ea typeface="微软雅黑" panose="020B0503020204020204" pitchFamily="34" charset="-122"/>
              </a:rPr>
              <a:t>3.1 </a:t>
            </a:r>
            <a:r>
              <a:rPr lang="zh-CN" altLang="en-US" sz="2000" b="1" dirty="0">
                <a:solidFill>
                  <a:srgbClr val="003366"/>
                </a:solidFill>
                <a:latin typeface="微软雅黑" panose="020B0503020204020204" pitchFamily="34" charset="-122"/>
                <a:ea typeface="微软雅黑" panose="020B0503020204020204" pitchFamily="34" charset="-122"/>
              </a:rPr>
              <a:t>基本表达式（依赖</a:t>
            </a:r>
            <a:r>
              <a:rPr lang="en-US" altLang="zh-CN" sz="2000" b="1" dirty="0">
                <a:solidFill>
                  <a:srgbClr val="003366"/>
                </a:solidFill>
                <a:latin typeface="微软雅黑" panose="020B0503020204020204" pitchFamily="34" charset="-122"/>
                <a:ea typeface="微软雅黑" panose="020B0503020204020204" pitchFamily="34" charset="-122"/>
              </a:rPr>
              <a:t>0.3</a:t>
            </a:r>
            <a:r>
              <a:rPr lang="zh-CN" altLang="en-US" sz="2000" b="1" dirty="0">
                <a:solidFill>
                  <a:srgbClr val="003366"/>
                </a:solidFill>
                <a:latin typeface="微软雅黑" panose="020B0503020204020204" pitchFamily="34" charset="-122"/>
                <a:ea typeface="微软雅黑" panose="020B0503020204020204" pitchFamily="34" charset="-122"/>
              </a:rPr>
              <a:t>、拓展</a:t>
            </a:r>
            <a:r>
              <a:rPr lang="en-US" altLang="zh-CN" sz="2000" b="1" dirty="0">
                <a:solidFill>
                  <a:srgbClr val="003366"/>
                </a:solidFill>
                <a:latin typeface="微软雅黑" panose="020B0503020204020204" pitchFamily="34" charset="-122"/>
                <a:ea typeface="微软雅黑" panose="020B0503020204020204" pitchFamily="34" charset="-122"/>
              </a:rPr>
              <a:t>1.2</a:t>
            </a:r>
            <a:r>
              <a:rPr lang="zh-CN" altLang="en-US" sz="2000" b="1" dirty="0">
                <a:solidFill>
                  <a:srgbClr val="003366"/>
                </a:solidFill>
                <a:latin typeface="微软雅黑" panose="020B0503020204020204" pitchFamily="34" charset="-122"/>
                <a:ea typeface="微软雅黑" panose="020B0503020204020204" pitchFamily="34" charset="-122"/>
              </a:rPr>
              <a:t>）</a:t>
            </a:r>
            <a:endParaRPr lang="en-US" altLang="zh-CN" sz="2000" b="1"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语句</a:t>
            </a:r>
            <a:r>
              <a:rPr lang="en-US" altLang="zh-CN" sz="2000" dirty="0">
                <a:solidFill>
                  <a:srgbClr val="003366"/>
                </a:solidFill>
                <a:latin typeface="微软雅黑" panose="020B0503020204020204" pitchFamily="34" charset="-122"/>
                <a:ea typeface="微软雅黑" panose="020B0503020204020204" pitchFamily="34" charset="-122"/>
              </a:rPr>
              <a:t>&gt; -&gt; &lt;</a:t>
            </a:r>
            <a:r>
              <a:rPr lang="zh-CN" altLang="en-US" sz="2000" dirty="0">
                <a:solidFill>
                  <a:srgbClr val="003366"/>
                </a:solidFill>
                <a:latin typeface="微软雅黑" panose="020B0503020204020204" pitchFamily="34" charset="-122"/>
                <a:ea typeface="微软雅黑" panose="020B0503020204020204" pitchFamily="34" charset="-122"/>
              </a:rPr>
              <a:t>表达式</a:t>
            </a:r>
            <a:r>
              <a:rPr lang="en-US" altLang="zh-CN" sz="2000" dirty="0">
                <a:solidFill>
                  <a:srgbClr val="003366"/>
                </a:solidFill>
                <a:latin typeface="微软雅黑" panose="020B0503020204020204" pitchFamily="34" charset="-122"/>
                <a:ea typeface="微软雅黑" panose="020B0503020204020204" pitchFamily="34" charset="-122"/>
              </a:rPr>
              <a:t>&gt; ';'</a:t>
            </a:r>
          </a:p>
          <a:p>
            <a:pPr marL="952500" lvl="2" indent="-342900">
              <a:lnSpc>
                <a:spcPct val="120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表达式</a:t>
            </a:r>
            <a:r>
              <a:rPr lang="en-US" altLang="zh-CN" sz="2000" dirty="0">
                <a:solidFill>
                  <a:srgbClr val="003366"/>
                </a:solidFill>
                <a:latin typeface="微软雅黑" panose="020B0503020204020204" pitchFamily="34" charset="-122"/>
                <a:ea typeface="微软雅黑" panose="020B0503020204020204" pitchFamily="34" charset="-122"/>
              </a:rPr>
              <a:t>&gt; -&gt; &lt;</a:t>
            </a:r>
            <a:r>
              <a:rPr lang="zh-CN" altLang="en-US" sz="2000" dirty="0">
                <a:solidFill>
                  <a:srgbClr val="003366"/>
                </a:solidFill>
                <a:latin typeface="微软雅黑" panose="020B0503020204020204" pitchFamily="34" charset="-122"/>
                <a:ea typeface="微软雅黑" panose="020B0503020204020204" pitchFamily="34" charset="-122"/>
              </a:rPr>
              <a:t>加减表达式</a:t>
            </a:r>
            <a:r>
              <a:rPr lang="en-US" altLang="zh-CN" sz="20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加减表达式</a:t>
            </a:r>
            <a:r>
              <a:rPr lang="en-US" altLang="zh-CN" sz="2000" dirty="0">
                <a:solidFill>
                  <a:srgbClr val="003366"/>
                </a:solidFill>
                <a:latin typeface="微软雅黑" panose="020B0503020204020204" pitchFamily="34" charset="-122"/>
                <a:ea typeface="微软雅黑" panose="020B0503020204020204" pitchFamily="34" charset="-122"/>
              </a:rPr>
              <a:t>&gt; -&gt;  &lt;</a:t>
            </a:r>
            <a:r>
              <a:rPr lang="zh-CN" altLang="en-US" sz="2000" dirty="0">
                <a:solidFill>
                  <a:srgbClr val="003366"/>
                </a:solidFill>
                <a:latin typeface="微软雅黑" panose="020B0503020204020204" pitchFamily="34" charset="-122"/>
                <a:ea typeface="微软雅黑" panose="020B0503020204020204" pitchFamily="34" charset="-122"/>
              </a:rPr>
              <a:t>项</a:t>
            </a:r>
            <a:r>
              <a:rPr lang="en-US" altLang="zh-CN" sz="2000" dirty="0">
                <a:solidFill>
                  <a:srgbClr val="003366"/>
                </a:solidFill>
                <a:latin typeface="微软雅黑" panose="020B0503020204020204" pitchFamily="34" charset="-122"/>
                <a:ea typeface="微软雅黑" panose="020B0503020204020204" pitchFamily="34" charset="-122"/>
              </a:rPr>
              <a:t>&gt; </a:t>
            </a:r>
          </a:p>
          <a:p>
            <a:pPr marL="952500" lvl="2" indent="-342900">
              <a:lnSpc>
                <a:spcPct val="120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项</a:t>
            </a:r>
            <a:r>
              <a:rPr lang="en-US" altLang="zh-CN" sz="2000" dirty="0">
                <a:solidFill>
                  <a:srgbClr val="003366"/>
                </a:solidFill>
                <a:latin typeface="微软雅黑" panose="020B0503020204020204" pitchFamily="34" charset="-122"/>
                <a:ea typeface="微软雅黑" panose="020B0503020204020204" pitchFamily="34" charset="-122"/>
              </a:rPr>
              <a:t>&gt; -&gt; &lt;</a:t>
            </a:r>
            <a:r>
              <a:rPr lang="zh-CN" altLang="en-US" sz="2000" dirty="0">
                <a:solidFill>
                  <a:srgbClr val="003366"/>
                </a:solidFill>
                <a:latin typeface="微软雅黑" panose="020B0503020204020204" pitchFamily="34" charset="-122"/>
                <a:ea typeface="微软雅黑" panose="020B0503020204020204" pitchFamily="34" charset="-122"/>
              </a:rPr>
              <a:t>因子</a:t>
            </a:r>
            <a:r>
              <a:rPr lang="en-US" altLang="zh-CN" sz="20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因子</a:t>
            </a:r>
            <a:r>
              <a:rPr lang="en-US" altLang="zh-CN" sz="2000" dirty="0">
                <a:solidFill>
                  <a:srgbClr val="003366"/>
                </a:solidFill>
                <a:latin typeface="微软雅黑" panose="020B0503020204020204" pitchFamily="34" charset="-122"/>
                <a:ea typeface="微软雅黑" panose="020B0503020204020204" pitchFamily="34" charset="-122"/>
              </a:rPr>
              <a:t>&gt; -&gt; &lt;NUM&gt;  | &lt;</a:t>
            </a:r>
            <a:r>
              <a:rPr lang="zh-CN" altLang="en-US" sz="2000" dirty="0">
                <a:solidFill>
                  <a:srgbClr val="003366"/>
                </a:solidFill>
                <a:latin typeface="微软雅黑" panose="020B0503020204020204" pitchFamily="34" charset="-122"/>
                <a:ea typeface="微软雅黑" panose="020B0503020204020204" pitchFamily="34" charset="-122"/>
              </a:rPr>
              <a:t>左值</a:t>
            </a:r>
            <a:r>
              <a:rPr lang="en-US" altLang="zh-CN" sz="2000" dirty="0">
                <a:solidFill>
                  <a:srgbClr val="003366"/>
                </a:solidFill>
                <a:latin typeface="微软雅黑" panose="020B0503020204020204" pitchFamily="34" charset="-122"/>
                <a:ea typeface="微软雅黑" panose="020B0503020204020204" pitchFamily="34" charset="-122"/>
              </a:rPr>
              <a:t>&gt; | '(' &lt;</a:t>
            </a:r>
            <a:r>
              <a:rPr lang="zh-CN" altLang="en-US" sz="2000" dirty="0">
                <a:solidFill>
                  <a:srgbClr val="003366"/>
                </a:solidFill>
                <a:latin typeface="微软雅黑" panose="020B0503020204020204" pitchFamily="34" charset="-122"/>
                <a:ea typeface="微软雅黑" panose="020B0503020204020204" pitchFamily="34" charset="-122"/>
              </a:rPr>
              <a:t>表达式</a:t>
            </a:r>
            <a:r>
              <a:rPr lang="en-US" altLang="zh-CN" sz="2000" dirty="0">
                <a:solidFill>
                  <a:srgbClr val="003366"/>
                </a:solidFill>
                <a:latin typeface="微软雅黑" panose="020B0503020204020204" pitchFamily="34" charset="-122"/>
                <a:ea typeface="微软雅黑" panose="020B0503020204020204" pitchFamily="34" charset="-122"/>
              </a:rPr>
              <a:t>&gt; ')'</a:t>
            </a:r>
          </a:p>
          <a:p>
            <a:pPr marL="0" lvl="1" indent="457200">
              <a:lnSpc>
                <a:spcPct val="120000"/>
              </a:lnSpc>
            </a:pPr>
            <a:r>
              <a:rPr lang="zh-CN" altLang="en-US" sz="2000" dirty="0">
                <a:solidFill>
                  <a:srgbClr val="003366"/>
                </a:solidFill>
                <a:latin typeface="微软雅黑" panose="020B0503020204020204" pitchFamily="34" charset="-122"/>
                <a:ea typeface="微软雅黑" panose="020B0503020204020204" pitchFamily="34" charset="-122"/>
              </a:rPr>
              <a:t>语义说明：提供表达式求值的能力，支持常量、变量以及带括号的嵌套表达式。</a:t>
            </a:r>
            <a:endParaRPr lang="en-US" altLang="zh-CN" sz="2000" dirty="0">
              <a:solidFill>
                <a:srgbClr val="003366"/>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9C607CC9-BBDD-B382-438F-DA9A4AABF340}"/>
              </a:ext>
            </a:extLst>
          </p:cNvPr>
          <p:cNvSpPr txBox="1"/>
          <p:nvPr/>
        </p:nvSpPr>
        <p:spPr>
          <a:xfrm>
            <a:off x="1420824" y="3908455"/>
            <a:ext cx="3404816" cy="1569660"/>
          </a:xfrm>
          <a:prstGeom prst="rect">
            <a:avLst/>
          </a:prstGeom>
          <a:noFill/>
        </p:spPr>
        <p:txBody>
          <a:bodyPr wrap="square">
            <a:spAutoFit/>
          </a:bodyPr>
          <a:lstStyle/>
          <a:p>
            <a:pPr marL="0" lvl="1" eaLnBrk="1" hangingPunct="1"/>
            <a:r>
              <a:rPr lang="nn-NO" altLang="zh-CN" sz="1600" dirty="0">
                <a:latin typeface="微软雅黑" panose="020B0503020204020204" pitchFamily="34" charset="-122"/>
                <a:ea typeface="微软雅黑" panose="020B0503020204020204" pitchFamily="34" charset="-122"/>
              </a:rPr>
              <a:t>fn program_3_1__1() {</a:t>
            </a:r>
          </a:p>
          <a:p>
            <a:pPr marL="0" lvl="1" eaLnBrk="1" hangingPunct="1"/>
            <a:r>
              <a:rPr lang="nn-NO" altLang="zh-CN" sz="1600" dirty="0">
                <a:latin typeface="微软雅黑" panose="020B0503020204020204" pitchFamily="34" charset="-122"/>
                <a:ea typeface="微软雅黑" panose="020B0503020204020204" pitchFamily="34" charset="-122"/>
              </a:rPr>
              <a:t>    0;</a:t>
            </a:r>
          </a:p>
          <a:p>
            <a:pPr marL="0" lvl="1" eaLnBrk="1" hangingPunct="1"/>
            <a:r>
              <a:rPr lang="nn-NO" altLang="zh-CN" sz="1600" dirty="0">
                <a:latin typeface="微软雅黑" panose="020B0503020204020204" pitchFamily="34" charset="-122"/>
                <a:ea typeface="微软雅黑" panose="020B0503020204020204" pitchFamily="34" charset="-122"/>
              </a:rPr>
              <a:t>    (1);</a:t>
            </a:r>
          </a:p>
          <a:p>
            <a:pPr marL="0" lvl="1" eaLnBrk="1" hangingPunct="1"/>
            <a:r>
              <a:rPr lang="nn-NO" altLang="zh-CN" sz="1600" dirty="0">
                <a:latin typeface="微软雅黑" panose="020B0503020204020204" pitchFamily="34" charset="-122"/>
                <a:ea typeface="微软雅黑" panose="020B0503020204020204" pitchFamily="34" charset="-122"/>
              </a:rPr>
              <a:t>    ((2));</a:t>
            </a:r>
          </a:p>
          <a:p>
            <a:pPr marL="0" lvl="1" eaLnBrk="1" hangingPunct="1"/>
            <a:r>
              <a:rPr lang="nn-NO" altLang="zh-CN" sz="1600" dirty="0">
                <a:latin typeface="微软雅黑" panose="020B0503020204020204" pitchFamily="34" charset="-122"/>
                <a:ea typeface="微软雅黑" panose="020B0503020204020204" pitchFamily="34" charset="-122"/>
              </a:rPr>
              <a:t>    (((3)));</a:t>
            </a:r>
          </a:p>
          <a:p>
            <a:pPr marL="0" lvl="1" eaLnBrk="1" hangingPunct="1"/>
            <a:r>
              <a:rPr lang="nn-NO" altLang="zh-CN" sz="1600" dirty="0">
                <a:latin typeface="微软雅黑" panose="020B0503020204020204" pitchFamily="34" charset="-122"/>
                <a:ea typeface="微软雅黑" panose="020B0503020204020204" pitchFamily="34" charset="-122"/>
              </a:rPr>
              <a:t>}</a:t>
            </a:r>
          </a:p>
        </p:txBody>
      </p:sp>
      <p:sp>
        <p:nvSpPr>
          <p:cNvPr id="13" name="文本框 12">
            <a:extLst>
              <a:ext uri="{FF2B5EF4-FFF2-40B4-BE49-F238E27FC236}">
                <a16:creationId xmlns:a16="http://schemas.microsoft.com/office/drawing/2014/main" id="{54478E48-3DFB-27E0-188C-628331E9A273}"/>
              </a:ext>
            </a:extLst>
          </p:cNvPr>
          <p:cNvSpPr txBox="1"/>
          <p:nvPr/>
        </p:nvSpPr>
        <p:spPr>
          <a:xfrm>
            <a:off x="4825640" y="3908455"/>
            <a:ext cx="3404816" cy="1569660"/>
          </a:xfrm>
          <a:prstGeom prst="rect">
            <a:avLst/>
          </a:prstGeom>
          <a:noFill/>
        </p:spPr>
        <p:txBody>
          <a:bodyPr wrap="square">
            <a:spAutoFit/>
          </a:bodyPr>
          <a:lstStyle/>
          <a:p>
            <a:pPr marL="0" lvl="1" eaLnBrk="1" hangingPunct="1"/>
            <a:r>
              <a:rPr lang="pt-BR" altLang="zh-CN" sz="1600" dirty="0">
                <a:latin typeface="微软雅黑" panose="020B0503020204020204" pitchFamily="34" charset="-122"/>
                <a:ea typeface="微软雅黑" panose="020B0503020204020204" pitchFamily="34" charset="-122"/>
              </a:rPr>
              <a:t>fn program_3_1__2(mut a:i32) {</a:t>
            </a:r>
          </a:p>
          <a:p>
            <a:pPr marL="0" lvl="1" eaLnBrk="1" hangingPunct="1"/>
            <a:r>
              <a:rPr lang="pt-BR" altLang="zh-CN" sz="1600" dirty="0">
                <a:latin typeface="微软雅黑" panose="020B0503020204020204" pitchFamily="34" charset="-122"/>
                <a:ea typeface="微软雅黑" panose="020B0503020204020204" pitchFamily="34" charset="-122"/>
              </a:rPr>
              <a:t>    a;</a:t>
            </a:r>
          </a:p>
          <a:p>
            <a:pPr marL="0" lvl="1" eaLnBrk="1" hangingPunct="1"/>
            <a:r>
              <a:rPr lang="pt-BR" altLang="zh-CN" sz="1600" dirty="0">
                <a:latin typeface="微软雅黑" panose="020B0503020204020204" pitchFamily="34" charset="-122"/>
                <a:ea typeface="微软雅黑" panose="020B0503020204020204" pitchFamily="34" charset="-122"/>
              </a:rPr>
              <a:t>    (a);</a:t>
            </a:r>
          </a:p>
          <a:p>
            <a:pPr marL="0" lvl="1" eaLnBrk="1" hangingPunct="1"/>
            <a:r>
              <a:rPr lang="pt-BR" altLang="zh-CN" sz="1600" dirty="0">
                <a:latin typeface="微软雅黑" panose="020B0503020204020204" pitchFamily="34" charset="-122"/>
                <a:ea typeface="微软雅黑" panose="020B0503020204020204" pitchFamily="34" charset="-122"/>
              </a:rPr>
              <a:t>    ((a));</a:t>
            </a:r>
          </a:p>
          <a:p>
            <a:pPr marL="0" lvl="1" eaLnBrk="1" hangingPunct="1"/>
            <a:r>
              <a:rPr lang="pt-BR" altLang="zh-CN" sz="1600" dirty="0">
                <a:latin typeface="微软雅黑" panose="020B0503020204020204" pitchFamily="34" charset="-122"/>
                <a:ea typeface="微软雅黑" panose="020B0503020204020204" pitchFamily="34" charset="-122"/>
              </a:rPr>
              <a:t>    (((a)));</a:t>
            </a:r>
          </a:p>
          <a:p>
            <a:pPr marL="0" lvl="1" eaLnBrk="1" hangingPunct="1"/>
            <a:r>
              <a:rPr lang="pt-BR" altLang="zh-CN" sz="16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307620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1F207-6D36-E2BE-B4E9-1ED34C43B027}"/>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F859C773-9135-6812-E9E6-7C24D8D60DCC}"/>
              </a:ext>
            </a:extLst>
          </p:cNvPr>
          <p:cNvSpPr txBox="1">
            <a:spLocks/>
          </p:cNvSpPr>
          <p:nvPr/>
        </p:nvSpPr>
        <p:spPr>
          <a:xfrm>
            <a:off x="72008" y="-12202"/>
            <a:ext cx="7752184" cy="848914"/>
          </a:xfrm>
          <a:prstGeom prst="rect">
            <a:avLst/>
          </a:prstGeom>
        </p:spPr>
        <p:txBody>
          <a:bodyPr/>
          <a:lstStyle>
            <a:lvl1pPr algn="ctr" defTabSz="1219200" rtl="0" eaLnBrk="1" latinLnBrk="0" hangingPunct="1">
              <a:spcBef>
                <a:spcPct val="0"/>
              </a:spcBef>
              <a:buNone/>
              <a:defRPr sz="5865" kern="1200">
                <a:solidFill>
                  <a:schemeClr val="tx1"/>
                </a:solidFill>
                <a:latin typeface="+mj-lt"/>
                <a:ea typeface="+mj-ea"/>
                <a:cs typeface="+mj-cs"/>
              </a:defRPr>
            </a:lvl1pPr>
          </a:lstStyle>
          <a:p>
            <a:pPr algn="l"/>
            <a:r>
              <a:rPr lang="zh-CN" altLang="en-US" sz="3600" b="1" dirty="0">
                <a:solidFill>
                  <a:schemeClr val="bg1"/>
                </a:solidFill>
                <a:latin typeface="微软雅黑" panose="020B0503020204020204" pitchFamily="34" charset="-122"/>
                <a:ea typeface="微软雅黑" panose="020B0503020204020204" pitchFamily="34" charset="-122"/>
              </a:rPr>
              <a:t>类</a:t>
            </a:r>
            <a:r>
              <a:rPr lang="en-US" altLang="zh-CN" sz="3600" b="1" dirty="0">
                <a:solidFill>
                  <a:schemeClr val="bg1"/>
                </a:solidFill>
                <a:latin typeface="微软雅黑" panose="020B0503020204020204" pitchFamily="34" charset="-122"/>
                <a:ea typeface="微软雅黑" panose="020B0503020204020204" pitchFamily="34" charset="-122"/>
              </a:rPr>
              <a:t>Rust</a:t>
            </a:r>
            <a:r>
              <a:rPr lang="zh-CN" altLang="en-US" sz="3600" b="1" dirty="0">
                <a:solidFill>
                  <a:schemeClr val="bg1"/>
                </a:solidFill>
                <a:latin typeface="微软雅黑" panose="020B0503020204020204" pitchFamily="34" charset="-122"/>
                <a:ea typeface="微软雅黑" panose="020B0503020204020204" pitchFamily="34" charset="-122"/>
              </a:rPr>
              <a:t>语法和语义规则</a:t>
            </a:r>
          </a:p>
        </p:txBody>
      </p:sp>
      <p:sp>
        <p:nvSpPr>
          <p:cNvPr id="2" name="文本框 1">
            <a:extLst>
              <a:ext uri="{FF2B5EF4-FFF2-40B4-BE49-F238E27FC236}">
                <a16:creationId xmlns:a16="http://schemas.microsoft.com/office/drawing/2014/main" id="{EFCB82CB-34DA-A0A2-D0DF-F4ED6DF1CBC7}"/>
              </a:ext>
            </a:extLst>
          </p:cNvPr>
          <p:cNvSpPr txBox="1"/>
          <p:nvPr/>
        </p:nvSpPr>
        <p:spPr>
          <a:xfrm>
            <a:off x="0" y="797935"/>
            <a:ext cx="10128448" cy="5647187"/>
          </a:xfrm>
          <a:prstGeom prst="rect">
            <a:avLst/>
          </a:prstGeom>
          <a:noFill/>
        </p:spPr>
        <p:txBody>
          <a:bodyPr wrap="square">
            <a:spAutoFit/>
          </a:bodyPr>
          <a:lstStyle/>
          <a:p>
            <a:pPr marL="381000" indent="-533400">
              <a:lnSpc>
                <a:spcPct val="113000"/>
              </a:lnSpc>
              <a:buFont typeface="Wingdings" panose="05000000000000000000" pitchFamily="2" charset="2"/>
              <a:buChar char="Ø"/>
            </a:pPr>
            <a:r>
              <a:rPr lang="en-US" altLang="zh-CN" sz="2000" b="1" dirty="0">
                <a:solidFill>
                  <a:srgbClr val="003366"/>
                </a:solidFill>
                <a:latin typeface="微软雅黑" panose="020B0503020204020204" pitchFamily="34" charset="-122"/>
                <a:ea typeface="微软雅黑" panose="020B0503020204020204" pitchFamily="34" charset="-122"/>
              </a:rPr>
              <a:t>3.2 </a:t>
            </a:r>
            <a:r>
              <a:rPr lang="zh-CN" altLang="en-US" sz="2000" b="1" dirty="0">
                <a:solidFill>
                  <a:srgbClr val="003366"/>
                </a:solidFill>
                <a:latin typeface="微软雅黑" panose="020B0503020204020204" pitchFamily="34" charset="-122"/>
                <a:ea typeface="微软雅黑" panose="020B0503020204020204" pitchFamily="34" charset="-122"/>
              </a:rPr>
              <a:t>增加比较运算（依赖</a:t>
            </a:r>
            <a:r>
              <a:rPr lang="en-US" altLang="zh-CN" sz="2000" b="1" dirty="0">
                <a:solidFill>
                  <a:srgbClr val="003366"/>
                </a:solidFill>
                <a:latin typeface="微软雅黑" panose="020B0503020204020204" pitchFamily="34" charset="-122"/>
                <a:ea typeface="微软雅黑" panose="020B0503020204020204" pitchFamily="34" charset="-122"/>
              </a:rPr>
              <a:t>3.1</a:t>
            </a:r>
            <a:r>
              <a:rPr lang="zh-CN" altLang="en-US" sz="2000" b="1" dirty="0">
                <a:solidFill>
                  <a:srgbClr val="003366"/>
                </a:solidFill>
                <a:latin typeface="微软雅黑" panose="020B0503020204020204" pitchFamily="34" charset="-122"/>
                <a:ea typeface="微软雅黑" panose="020B0503020204020204" pitchFamily="34" charset="-122"/>
              </a:rPr>
              <a:t>、拓展</a:t>
            </a:r>
            <a:r>
              <a:rPr lang="en-US" altLang="zh-CN" sz="2000" b="1" dirty="0">
                <a:solidFill>
                  <a:srgbClr val="003366"/>
                </a:solidFill>
                <a:latin typeface="微软雅黑" panose="020B0503020204020204" pitchFamily="34" charset="-122"/>
                <a:ea typeface="微软雅黑" panose="020B0503020204020204" pitchFamily="34" charset="-122"/>
              </a:rPr>
              <a:t>3.1</a:t>
            </a:r>
            <a:r>
              <a:rPr lang="zh-CN" altLang="en-US" sz="2000" b="1" dirty="0">
                <a:solidFill>
                  <a:srgbClr val="003366"/>
                </a:solidFill>
                <a:latin typeface="微软雅黑" panose="020B0503020204020204" pitchFamily="34" charset="-122"/>
                <a:ea typeface="微软雅黑" panose="020B0503020204020204" pitchFamily="34" charset="-122"/>
              </a:rPr>
              <a:t>）</a:t>
            </a:r>
            <a:endParaRPr lang="en-US" altLang="zh-CN" sz="2000" b="1" dirty="0">
              <a:solidFill>
                <a:srgbClr val="003366"/>
              </a:solidFill>
              <a:latin typeface="微软雅黑" panose="020B0503020204020204" pitchFamily="34" charset="-122"/>
              <a:ea typeface="微软雅黑" panose="020B0503020204020204" pitchFamily="34" charset="-122"/>
            </a:endParaRPr>
          </a:p>
          <a:p>
            <a:pPr marL="990600" lvl="1" indent="-533400">
              <a:lnSpc>
                <a:spcPct val="113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表达式</a:t>
            </a:r>
            <a:r>
              <a:rPr lang="en-US" altLang="zh-CN" sz="2000" dirty="0">
                <a:solidFill>
                  <a:srgbClr val="003366"/>
                </a:solidFill>
                <a:latin typeface="微软雅黑" panose="020B0503020204020204" pitchFamily="34" charset="-122"/>
                <a:ea typeface="微软雅黑" panose="020B0503020204020204" pitchFamily="34" charset="-122"/>
              </a:rPr>
              <a:t>&gt; -&gt; &lt;</a:t>
            </a:r>
            <a:r>
              <a:rPr lang="zh-CN" altLang="en-US" sz="2000" dirty="0">
                <a:solidFill>
                  <a:srgbClr val="003366"/>
                </a:solidFill>
                <a:latin typeface="微软雅黑" panose="020B0503020204020204" pitchFamily="34" charset="-122"/>
                <a:ea typeface="微软雅黑" panose="020B0503020204020204" pitchFamily="34" charset="-122"/>
              </a:rPr>
              <a:t>表达式</a:t>
            </a:r>
            <a:r>
              <a:rPr lang="en-US" altLang="zh-CN" sz="2000" dirty="0">
                <a:solidFill>
                  <a:srgbClr val="003366"/>
                </a:solidFill>
                <a:latin typeface="微软雅黑" panose="020B0503020204020204" pitchFamily="34" charset="-122"/>
                <a:ea typeface="微软雅黑" panose="020B0503020204020204" pitchFamily="34" charset="-122"/>
              </a:rPr>
              <a:t>&gt; &lt;</a:t>
            </a:r>
            <a:r>
              <a:rPr lang="zh-CN" altLang="en-US" sz="2000" dirty="0">
                <a:solidFill>
                  <a:srgbClr val="003366"/>
                </a:solidFill>
                <a:latin typeface="微软雅黑" panose="020B0503020204020204" pitchFamily="34" charset="-122"/>
                <a:ea typeface="微软雅黑" panose="020B0503020204020204" pitchFamily="34" charset="-122"/>
              </a:rPr>
              <a:t>比较运算符</a:t>
            </a:r>
            <a:r>
              <a:rPr lang="en-US" altLang="zh-CN" sz="2000" dirty="0">
                <a:solidFill>
                  <a:srgbClr val="003366"/>
                </a:solidFill>
                <a:latin typeface="微软雅黑" panose="020B0503020204020204" pitchFamily="34" charset="-122"/>
                <a:ea typeface="微软雅黑" panose="020B0503020204020204" pitchFamily="34" charset="-122"/>
              </a:rPr>
              <a:t>&gt; &lt;</a:t>
            </a:r>
            <a:r>
              <a:rPr lang="zh-CN" altLang="en-US" sz="2000" dirty="0">
                <a:solidFill>
                  <a:srgbClr val="003366"/>
                </a:solidFill>
                <a:latin typeface="微软雅黑" panose="020B0503020204020204" pitchFamily="34" charset="-122"/>
                <a:ea typeface="微软雅黑" panose="020B0503020204020204" pitchFamily="34" charset="-122"/>
              </a:rPr>
              <a:t>加减表达式</a:t>
            </a:r>
            <a:r>
              <a:rPr lang="en-US" altLang="zh-CN" sz="2000" dirty="0">
                <a:solidFill>
                  <a:srgbClr val="003366"/>
                </a:solidFill>
                <a:latin typeface="微软雅黑" panose="020B0503020204020204" pitchFamily="34" charset="-122"/>
                <a:ea typeface="微软雅黑" panose="020B0503020204020204" pitchFamily="34" charset="-122"/>
              </a:rPr>
              <a:t>&gt;</a:t>
            </a:r>
          </a:p>
          <a:p>
            <a:pPr marL="990600" lvl="1" indent="-533400">
              <a:lnSpc>
                <a:spcPct val="113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比较运算符</a:t>
            </a:r>
            <a:r>
              <a:rPr lang="en-US" altLang="zh-CN" sz="2000" dirty="0">
                <a:solidFill>
                  <a:srgbClr val="003366"/>
                </a:solidFill>
                <a:latin typeface="微软雅黑" panose="020B0503020204020204" pitchFamily="34" charset="-122"/>
                <a:ea typeface="微软雅黑" panose="020B0503020204020204" pitchFamily="34" charset="-122"/>
              </a:rPr>
              <a:t>&gt; -&gt; '&lt;' | '&lt;=' | '&gt;' | '&gt;='  | '==' | ‘!=‘</a:t>
            </a:r>
          </a:p>
          <a:p>
            <a:pPr marL="457200" lvl="1">
              <a:lnSpc>
                <a:spcPct val="113000"/>
              </a:lnSpc>
            </a:pPr>
            <a:r>
              <a:rPr lang="zh-CN" altLang="en-US" sz="2000" dirty="0">
                <a:solidFill>
                  <a:srgbClr val="003366"/>
                </a:solidFill>
                <a:latin typeface="微软雅黑" panose="020B0503020204020204" pitchFamily="34" charset="-122"/>
                <a:ea typeface="微软雅黑" panose="020B0503020204020204" pitchFamily="34" charset="-122"/>
              </a:rPr>
              <a:t>语义说明：支持比较运算，且优先级乘除</a:t>
            </a:r>
            <a:r>
              <a:rPr lang="en-US" altLang="zh-CN" sz="2000" dirty="0">
                <a:solidFill>
                  <a:srgbClr val="003366"/>
                </a:solidFill>
                <a:latin typeface="微软雅黑" panose="020B0503020204020204" pitchFamily="34" charset="-122"/>
                <a:ea typeface="微软雅黑" panose="020B0503020204020204" pitchFamily="34" charset="-122"/>
              </a:rPr>
              <a:t>&gt;</a:t>
            </a:r>
            <a:r>
              <a:rPr lang="zh-CN" altLang="en-US" sz="2000" dirty="0">
                <a:solidFill>
                  <a:srgbClr val="003366"/>
                </a:solidFill>
                <a:latin typeface="微软雅黑" panose="020B0503020204020204" pitchFamily="34" charset="-122"/>
                <a:ea typeface="微软雅黑" panose="020B0503020204020204" pitchFamily="34" charset="-122"/>
              </a:rPr>
              <a:t>加减</a:t>
            </a:r>
            <a:r>
              <a:rPr lang="en-US" altLang="zh-CN" sz="2000" dirty="0">
                <a:solidFill>
                  <a:srgbClr val="003366"/>
                </a:solidFill>
                <a:latin typeface="微软雅黑" panose="020B0503020204020204" pitchFamily="34" charset="-122"/>
                <a:ea typeface="微软雅黑" panose="020B0503020204020204" pitchFamily="34" charset="-122"/>
              </a:rPr>
              <a:t>&gt;</a:t>
            </a:r>
            <a:r>
              <a:rPr lang="zh-CN" altLang="en-US" sz="2000" dirty="0">
                <a:solidFill>
                  <a:srgbClr val="003366"/>
                </a:solidFill>
                <a:latin typeface="微软雅黑" panose="020B0503020204020204" pitchFamily="34" charset="-122"/>
                <a:ea typeface="微软雅黑" panose="020B0503020204020204" pitchFamily="34" charset="-122"/>
              </a:rPr>
              <a:t>比较。</a:t>
            </a:r>
            <a:endParaRPr lang="en-US" altLang="zh-CN" sz="2000" dirty="0">
              <a:solidFill>
                <a:srgbClr val="003366"/>
              </a:solidFill>
              <a:latin typeface="微软雅黑" panose="020B0503020204020204" pitchFamily="34" charset="-122"/>
              <a:ea typeface="微软雅黑" panose="020B0503020204020204" pitchFamily="34" charset="-122"/>
            </a:endParaRPr>
          </a:p>
          <a:p>
            <a:pPr marL="990600" lvl="1" indent="-533400">
              <a:lnSpc>
                <a:spcPct val="113000"/>
              </a:lnSpc>
              <a:buFont typeface="Arial" panose="020B0604020202020204" pitchFamily="34" charset="0"/>
              <a:buChar char="•"/>
            </a:pPr>
            <a:endParaRPr lang="en-US" altLang="zh-CN" sz="2000" dirty="0">
              <a:solidFill>
                <a:srgbClr val="003366"/>
              </a:solidFill>
              <a:latin typeface="微软雅黑" panose="020B0503020204020204" pitchFamily="34" charset="-122"/>
              <a:ea typeface="微软雅黑" panose="020B0503020204020204" pitchFamily="34" charset="-122"/>
            </a:endParaRPr>
          </a:p>
          <a:p>
            <a:pPr marL="990600" lvl="1" indent="-533400">
              <a:lnSpc>
                <a:spcPct val="113000"/>
              </a:lnSpc>
              <a:buFont typeface="Arial" panose="020B0604020202020204" pitchFamily="34" charset="0"/>
              <a:buChar char="•"/>
            </a:pPr>
            <a:endParaRPr lang="en-US" altLang="zh-CN" sz="2000" dirty="0">
              <a:solidFill>
                <a:srgbClr val="003366"/>
              </a:solidFill>
              <a:latin typeface="微软雅黑" panose="020B0503020204020204" pitchFamily="34" charset="-122"/>
              <a:ea typeface="微软雅黑" panose="020B0503020204020204" pitchFamily="34" charset="-122"/>
            </a:endParaRPr>
          </a:p>
          <a:p>
            <a:pPr marL="381000" indent="-533400">
              <a:lnSpc>
                <a:spcPct val="113000"/>
              </a:lnSpc>
              <a:buFont typeface="Wingdings" panose="05000000000000000000" pitchFamily="2" charset="2"/>
              <a:buChar char="Ø"/>
            </a:pPr>
            <a:r>
              <a:rPr lang="en-US" altLang="zh-CN" sz="2000" b="1" dirty="0">
                <a:solidFill>
                  <a:srgbClr val="003366"/>
                </a:solidFill>
                <a:latin typeface="微软雅黑" panose="020B0503020204020204" pitchFamily="34" charset="-122"/>
                <a:ea typeface="微软雅黑" panose="020B0503020204020204" pitchFamily="34" charset="-122"/>
              </a:rPr>
              <a:t>3.3 </a:t>
            </a:r>
            <a:r>
              <a:rPr lang="zh-CN" altLang="en-US" sz="2000" b="1" dirty="0">
                <a:solidFill>
                  <a:srgbClr val="003366"/>
                </a:solidFill>
                <a:latin typeface="微软雅黑" panose="020B0503020204020204" pitchFamily="34" charset="-122"/>
                <a:ea typeface="微软雅黑" panose="020B0503020204020204" pitchFamily="34" charset="-122"/>
              </a:rPr>
              <a:t>增加加减运算（依赖</a:t>
            </a:r>
            <a:r>
              <a:rPr lang="en-US" altLang="zh-CN" sz="2000" b="1" dirty="0">
                <a:solidFill>
                  <a:srgbClr val="003366"/>
                </a:solidFill>
                <a:latin typeface="微软雅黑" panose="020B0503020204020204" pitchFamily="34" charset="-122"/>
                <a:ea typeface="微软雅黑" panose="020B0503020204020204" pitchFamily="34" charset="-122"/>
              </a:rPr>
              <a:t>3.1</a:t>
            </a:r>
            <a:r>
              <a:rPr lang="zh-CN" altLang="en-US" sz="2000" b="1" dirty="0">
                <a:solidFill>
                  <a:srgbClr val="003366"/>
                </a:solidFill>
                <a:latin typeface="微软雅黑" panose="020B0503020204020204" pitchFamily="34" charset="-122"/>
                <a:ea typeface="微软雅黑" panose="020B0503020204020204" pitchFamily="34" charset="-122"/>
              </a:rPr>
              <a:t>、拓展</a:t>
            </a:r>
            <a:r>
              <a:rPr lang="en-US" altLang="zh-CN" sz="2000" b="1" dirty="0">
                <a:solidFill>
                  <a:srgbClr val="003366"/>
                </a:solidFill>
                <a:latin typeface="微软雅黑" panose="020B0503020204020204" pitchFamily="34" charset="-122"/>
                <a:ea typeface="微软雅黑" panose="020B0503020204020204" pitchFamily="34" charset="-122"/>
              </a:rPr>
              <a:t>3.1</a:t>
            </a:r>
            <a:r>
              <a:rPr lang="zh-CN" altLang="en-US" sz="2000" b="1" dirty="0">
                <a:solidFill>
                  <a:srgbClr val="003366"/>
                </a:solidFill>
                <a:latin typeface="微软雅黑" panose="020B0503020204020204" pitchFamily="34" charset="-122"/>
                <a:ea typeface="微软雅黑" panose="020B0503020204020204" pitchFamily="34" charset="-122"/>
              </a:rPr>
              <a:t>）</a:t>
            </a:r>
            <a:endParaRPr lang="en-US" altLang="zh-CN" sz="2000" b="1" dirty="0">
              <a:solidFill>
                <a:srgbClr val="003366"/>
              </a:solidFill>
              <a:latin typeface="微软雅黑" panose="020B0503020204020204" pitchFamily="34" charset="-122"/>
              <a:ea typeface="微软雅黑" panose="020B0503020204020204" pitchFamily="34" charset="-122"/>
            </a:endParaRPr>
          </a:p>
          <a:p>
            <a:pPr marL="990600" lvl="1" indent="-533400">
              <a:lnSpc>
                <a:spcPct val="113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加减表达式</a:t>
            </a:r>
            <a:r>
              <a:rPr lang="en-US" altLang="zh-CN" sz="2000" dirty="0">
                <a:solidFill>
                  <a:srgbClr val="003366"/>
                </a:solidFill>
                <a:latin typeface="微软雅黑" panose="020B0503020204020204" pitchFamily="34" charset="-122"/>
                <a:ea typeface="微软雅黑" panose="020B0503020204020204" pitchFamily="34" charset="-122"/>
              </a:rPr>
              <a:t>&gt; -&gt; &lt;</a:t>
            </a:r>
            <a:r>
              <a:rPr lang="zh-CN" altLang="en-US" sz="2000" dirty="0">
                <a:solidFill>
                  <a:srgbClr val="003366"/>
                </a:solidFill>
                <a:latin typeface="微软雅黑" panose="020B0503020204020204" pitchFamily="34" charset="-122"/>
                <a:ea typeface="微软雅黑" panose="020B0503020204020204" pitchFamily="34" charset="-122"/>
              </a:rPr>
              <a:t>加减表达式</a:t>
            </a:r>
            <a:r>
              <a:rPr lang="en-US" altLang="zh-CN" sz="2000" dirty="0">
                <a:solidFill>
                  <a:srgbClr val="003366"/>
                </a:solidFill>
                <a:latin typeface="微软雅黑" panose="020B0503020204020204" pitchFamily="34" charset="-122"/>
                <a:ea typeface="微软雅黑" panose="020B0503020204020204" pitchFamily="34" charset="-122"/>
              </a:rPr>
              <a:t>&gt; &lt;</a:t>
            </a:r>
            <a:r>
              <a:rPr lang="zh-CN" altLang="en-US" sz="2000" dirty="0">
                <a:solidFill>
                  <a:srgbClr val="003366"/>
                </a:solidFill>
                <a:latin typeface="微软雅黑" panose="020B0503020204020204" pitchFamily="34" charset="-122"/>
                <a:ea typeface="微软雅黑" panose="020B0503020204020204" pitchFamily="34" charset="-122"/>
              </a:rPr>
              <a:t>加减运算符</a:t>
            </a:r>
            <a:r>
              <a:rPr lang="en-US" altLang="zh-CN" sz="2000" dirty="0">
                <a:solidFill>
                  <a:srgbClr val="003366"/>
                </a:solidFill>
                <a:latin typeface="微软雅黑" panose="020B0503020204020204" pitchFamily="34" charset="-122"/>
                <a:ea typeface="微软雅黑" panose="020B0503020204020204" pitchFamily="34" charset="-122"/>
              </a:rPr>
              <a:t>&gt; &lt;</a:t>
            </a:r>
            <a:r>
              <a:rPr lang="zh-CN" altLang="en-US" sz="2000" dirty="0">
                <a:solidFill>
                  <a:srgbClr val="003366"/>
                </a:solidFill>
                <a:latin typeface="微软雅黑" panose="020B0503020204020204" pitchFamily="34" charset="-122"/>
                <a:ea typeface="微软雅黑" panose="020B0503020204020204" pitchFamily="34" charset="-122"/>
              </a:rPr>
              <a:t>项</a:t>
            </a:r>
            <a:r>
              <a:rPr lang="en-US" altLang="zh-CN" sz="2000" dirty="0">
                <a:solidFill>
                  <a:srgbClr val="003366"/>
                </a:solidFill>
                <a:latin typeface="微软雅黑" panose="020B0503020204020204" pitchFamily="34" charset="-122"/>
                <a:ea typeface="微软雅黑" panose="020B0503020204020204" pitchFamily="34" charset="-122"/>
              </a:rPr>
              <a:t>&gt;</a:t>
            </a:r>
          </a:p>
          <a:p>
            <a:pPr marL="990600" lvl="1" indent="-533400">
              <a:lnSpc>
                <a:spcPct val="113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加减运算符</a:t>
            </a:r>
            <a:r>
              <a:rPr lang="en-US" altLang="zh-CN" sz="2000" dirty="0">
                <a:solidFill>
                  <a:srgbClr val="003366"/>
                </a:solidFill>
                <a:latin typeface="微软雅黑" panose="020B0503020204020204" pitchFamily="34" charset="-122"/>
                <a:ea typeface="微软雅黑" panose="020B0503020204020204" pitchFamily="34" charset="-122"/>
              </a:rPr>
              <a:t>&gt; -&gt; '+' | ‘-’</a:t>
            </a:r>
          </a:p>
          <a:p>
            <a:pPr marL="457200" lvl="1">
              <a:lnSpc>
                <a:spcPct val="113000"/>
              </a:lnSpc>
            </a:pPr>
            <a:r>
              <a:rPr lang="zh-CN" altLang="en-US" sz="2000" dirty="0">
                <a:solidFill>
                  <a:srgbClr val="003366"/>
                </a:solidFill>
                <a:latin typeface="微软雅黑" panose="020B0503020204020204" pitchFamily="34" charset="-122"/>
                <a:ea typeface="微软雅黑" panose="020B0503020204020204" pitchFamily="34" charset="-122"/>
              </a:rPr>
              <a:t>语义说明：支持加减运算，且优先级乘除</a:t>
            </a:r>
            <a:r>
              <a:rPr lang="en-US" altLang="zh-CN" sz="2000" dirty="0">
                <a:solidFill>
                  <a:srgbClr val="003366"/>
                </a:solidFill>
                <a:latin typeface="微软雅黑" panose="020B0503020204020204" pitchFamily="34" charset="-122"/>
                <a:ea typeface="微软雅黑" panose="020B0503020204020204" pitchFamily="34" charset="-122"/>
              </a:rPr>
              <a:t>&gt;</a:t>
            </a:r>
            <a:r>
              <a:rPr lang="zh-CN" altLang="en-US" sz="2000" dirty="0">
                <a:solidFill>
                  <a:srgbClr val="003366"/>
                </a:solidFill>
                <a:latin typeface="微软雅黑" panose="020B0503020204020204" pitchFamily="34" charset="-122"/>
                <a:ea typeface="微软雅黑" panose="020B0503020204020204" pitchFamily="34" charset="-122"/>
              </a:rPr>
              <a:t>加减</a:t>
            </a:r>
            <a:r>
              <a:rPr lang="en-US" altLang="zh-CN" sz="2000" dirty="0">
                <a:solidFill>
                  <a:srgbClr val="003366"/>
                </a:solidFill>
                <a:latin typeface="微软雅黑" panose="020B0503020204020204" pitchFamily="34" charset="-122"/>
                <a:ea typeface="微软雅黑" panose="020B0503020204020204" pitchFamily="34" charset="-122"/>
              </a:rPr>
              <a:t>&gt;</a:t>
            </a:r>
            <a:r>
              <a:rPr lang="zh-CN" altLang="en-US" sz="2000" dirty="0">
                <a:solidFill>
                  <a:srgbClr val="003366"/>
                </a:solidFill>
                <a:latin typeface="微软雅黑" panose="020B0503020204020204" pitchFamily="34" charset="-122"/>
                <a:ea typeface="微软雅黑" panose="020B0503020204020204" pitchFamily="34" charset="-122"/>
              </a:rPr>
              <a:t>比较。</a:t>
            </a:r>
            <a:endParaRPr lang="en-US" altLang="zh-CN" sz="2000" dirty="0">
              <a:solidFill>
                <a:srgbClr val="003366"/>
              </a:solidFill>
              <a:latin typeface="微软雅黑" panose="020B0503020204020204" pitchFamily="34" charset="-122"/>
              <a:ea typeface="微软雅黑" panose="020B0503020204020204" pitchFamily="34" charset="-122"/>
            </a:endParaRPr>
          </a:p>
          <a:p>
            <a:pPr marL="990600" lvl="1" indent="-533400">
              <a:lnSpc>
                <a:spcPct val="113000"/>
              </a:lnSpc>
              <a:buFont typeface="Arial" panose="020B0604020202020204" pitchFamily="34" charset="0"/>
              <a:buChar char="•"/>
            </a:pPr>
            <a:endParaRPr lang="en-US" altLang="zh-CN" sz="2000" dirty="0">
              <a:solidFill>
                <a:srgbClr val="003366"/>
              </a:solidFill>
              <a:latin typeface="微软雅黑" panose="020B0503020204020204" pitchFamily="34" charset="-122"/>
              <a:ea typeface="微软雅黑" panose="020B0503020204020204" pitchFamily="34" charset="-122"/>
            </a:endParaRPr>
          </a:p>
          <a:p>
            <a:pPr marL="990600" lvl="1" indent="-533400">
              <a:lnSpc>
                <a:spcPct val="113000"/>
              </a:lnSpc>
              <a:buFont typeface="Arial" panose="020B0604020202020204" pitchFamily="34" charset="0"/>
              <a:buChar char="•"/>
            </a:pPr>
            <a:endParaRPr lang="en-US" altLang="zh-CN" sz="2000" dirty="0">
              <a:solidFill>
                <a:srgbClr val="003366"/>
              </a:solidFill>
              <a:latin typeface="微软雅黑" panose="020B0503020204020204" pitchFamily="34" charset="-122"/>
              <a:ea typeface="微软雅黑" panose="020B0503020204020204" pitchFamily="34" charset="-122"/>
            </a:endParaRPr>
          </a:p>
          <a:p>
            <a:pPr marL="381000" indent="-533400">
              <a:lnSpc>
                <a:spcPct val="113000"/>
              </a:lnSpc>
              <a:buFont typeface="Wingdings" panose="05000000000000000000" pitchFamily="2" charset="2"/>
              <a:buChar char="Ø"/>
            </a:pPr>
            <a:r>
              <a:rPr lang="en-US" altLang="zh-CN" sz="2000" b="1" dirty="0">
                <a:solidFill>
                  <a:srgbClr val="003366"/>
                </a:solidFill>
                <a:latin typeface="微软雅黑" panose="020B0503020204020204" pitchFamily="34" charset="-122"/>
                <a:ea typeface="微软雅黑" panose="020B0503020204020204" pitchFamily="34" charset="-122"/>
              </a:rPr>
              <a:t>3.4 </a:t>
            </a:r>
            <a:r>
              <a:rPr lang="zh-CN" altLang="en-US" sz="2000" b="1" dirty="0">
                <a:solidFill>
                  <a:srgbClr val="003366"/>
                </a:solidFill>
                <a:latin typeface="微软雅黑" panose="020B0503020204020204" pitchFamily="34" charset="-122"/>
                <a:ea typeface="微软雅黑" panose="020B0503020204020204" pitchFamily="34" charset="-122"/>
              </a:rPr>
              <a:t>增加乘除运算（依赖</a:t>
            </a:r>
            <a:r>
              <a:rPr lang="en-US" altLang="zh-CN" sz="2000" b="1" dirty="0">
                <a:solidFill>
                  <a:srgbClr val="003366"/>
                </a:solidFill>
                <a:latin typeface="微软雅黑" panose="020B0503020204020204" pitchFamily="34" charset="-122"/>
                <a:ea typeface="微软雅黑" panose="020B0503020204020204" pitchFamily="34" charset="-122"/>
              </a:rPr>
              <a:t>3.1</a:t>
            </a:r>
            <a:r>
              <a:rPr lang="zh-CN" altLang="en-US" sz="2000" b="1" dirty="0">
                <a:solidFill>
                  <a:srgbClr val="003366"/>
                </a:solidFill>
                <a:latin typeface="微软雅黑" panose="020B0503020204020204" pitchFamily="34" charset="-122"/>
                <a:ea typeface="微软雅黑" panose="020B0503020204020204" pitchFamily="34" charset="-122"/>
              </a:rPr>
              <a:t>、拓展</a:t>
            </a:r>
            <a:r>
              <a:rPr lang="en-US" altLang="zh-CN" sz="2000" b="1" dirty="0">
                <a:solidFill>
                  <a:srgbClr val="003366"/>
                </a:solidFill>
                <a:latin typeface="微软雅黑" panose="020B0503020204020204" pitchFamily="34" charset="-122"/>
                <a:ea typeface="微软雅黑" panose="020B0503020204020204" pitchFamily="34" charset="-122"/>
              </a:rPr>
              <a:t>3.1</a:t>
            </a:r>
            <a:r>
              <a:rPr lang="zh-CN" altLang="en-US" sz="2000" b="1" dirty="0">
                <a:solidFill>
                  <a:srgbClr val="003366"/>
                </a:solidFill>
                <a:latin typeface="微软雅黑" panose="020B0503020204020204" pitchFamily="34" charset="-122"/>
                <a:ea typeface="微软雅黑" panose="020B0503020204020204" pitchFamily="34" charset="-122"/>
              </a:rPr>
              <a:t>）</a:t>
            </a:r>
            <a:endParaRPr lang="en-US" altLang="zh-CN" sz="2000" b="1" dirty="0">
              <a:solidFill>
                <a:srgbClr val="003366"/>
              </a:solidFill>
              <a:latin typeface="微软雅黑" panose="020B0503020204020204" pitchFamily="34" charset="-122"/>
              <a:ea typeface="微软雅黑" panose="020B0503020204020204" pitchFamily="34" charset="-122"/>
            </a:endParaRPr>
          </a:p>
          <a:p>
            <a:pPr marL="990600" lvl="1" indent="-533400">
              <a:lnSpc>
                <a:spcPct val="113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项</a:t>
            </a:r>
            <a:r>
              <a:rPr lang="en-US" altLang="zh-CN" sz="2000" dirty="0">
                <a:solidFill>
                  <a:srgbClr val="003366"/>
                </a:solidFill>
                <a:latin typeface="微软雅黑" panose="020B0503020204020204" pitchFamily="34" charset="-122"/>
                <a:ea typeface="微软雅黑" panose="020B0503020204020204" pitchFamily="34" charset="-122"/>
              </a:rPr>
              <a:t>&gt; -&gt; &lt;</a:t>
            </a:r>
            <a:r>
              <a:rPr lang="zh-CN" altLang="en-US" sz="2000" dirty="0">
                <a:solidFill>
                  <a:srgbClr val="003366"/>
                </a:solidFill>
                <a:latin typeface="微软雅黑" panose="020B0503020204020204" pitchFamily="34" charset="-122"/>
                <a:ea typeface="微软雅黑" panose="020B0503020204020204" pitchFamily="34" charset="-122"/>
              </a:rPr>
              <a:t>项</a:t>
            </a:r>
            <a:r>
              <a:rPr lang="en-US" altLang="zh-CN" sz="2000" dirty="0">
                <a:solidFill>
                  <a:srgbClr val="003366"/>
                </a:solidFill>
                <a:latin typeface="微软雅黑" panose="020B0503020204020204" pitchFamily="34" charset="-122"/>
                <a:ea typeface="微软雅黑" panose="020B0503020204020204" pitchFamily="34" charset="-122"/>
              </a:rPr>
              <a:t>&gt; &lt;</a:t>
            </a:r>
            <a:r>
              <a:rPr lang="zh-CN" altLang="en-US" sz="2000" dirty="0">
                <a:solidFill>
                  <a:srgbClr val="003366"/>
                </a:solidFill>
                <a:latin typeface="微软雅黑" panose="020B0503020204020204" pitchFamily="34" charset="-122"/>
                <a:ea typeface="微软雅黑" panose="020B0503020204020204" pitchFamily="34" charset="-122"/>
              </a:rPr>
              <a:t>乘除运算符</a:t>
            </a:r>
            <a:r>
              <a:rPr lang="en-US" altLang="zh-CN" sz="2000" dirty="0">
                <a:solidFill>
                  <a:srgbClr val="003366"/>
                </a:solidFill>
                <a:latin typeface="微软雅黑" panose="020B0503020204020204" pitchFamily="34" charset="-122"/>
                <a:ea typeface="微软雅黑" panose="020B0503020204020204" pitchFamily="34" charset="-122"/>
              </a:rPr>
              <a:t>&gt; &lt;</a:t>
            </a:r>
            <a:r>
              <a:rPr lang="zh-CN" altLang="en-US" sz="2000" dirty="0">
                <a:solidFill>
                  <a:srgbClr val="003366"/>
                </a:solidFill>
                <a:latin typeface="微软雅黑" panose="020B0503020204020204" pitchFamily="34" charset="-122"/>
                <a:ea typeface="微软雅黑" panose="020B0503020204020204" pitchFamily="34" charset="-122"/>
              </a:rPr>
              <a:t>因子</a:t>
            </a:r>
            <a:r>
              <a:rPr lang="en-US" altLang="zh-CN" sz="2000" dirty="0">
                <a:solidFill>
                  <a:srgbClr val="003366"/>
                </a:solidFill>
                <a:latin typeface="微软雅黑" panose="020B0503020204020204" pitchFamily="34" charset="-122"/>
                <a:ea typeface="微软雅黑" panose="020B0503020204020204" pitchFamily="34" charset="-122"/>
              </a:rPr>
              <a:t>&gt;</a:t>
            </a:r>
          </a:p>
          <a:p>
            <a:pPr marL="990600" lvl="1" indent="-533400">
              <a:lnSpc>
                <a:spcPct val="113000"/>
              </a:lnSpc>
              <a:buFont typeface="Arial" panose="020B0604020202020204" pitchFamily="34" charset="0"/>
              <a:buChar char="•"/>
            </a:pPr>
            <a:r>
              <a:rPr lang="en-US" altLang="zh-CN" sz="2000" dirty="0">
                <a:solidFill>
                  <a:srgbClr val="003366"/>
                </a:solidFill>
                <a:latin typeface="微软雅黑" panose="020B0503020204020204" pitchFamily="34" charset="-122"/>
                <a:ea typeface="微软雅黑" panose="020B0503020204020204" pitchFamily="34" charset="-122"/>
              </a:rPr>
              <a:t>&lt;</a:t>
            </a:r>
            <a:r>
              <a:rPr lang="zh-CN" altLang="en-US" sz="2000" dirty="0">
                <a:solidFill>
                  <a:srgbClr val="003366"/>
                </a:solidFill>
                <a:latin typeface="微软雅黑" panose="020B0503020204020204" pitchFamily="34" charset="-122"/>
                <a:ea typeface="微软雅黑" panose="020B0503020204020204" pitchFamily="34" charset="-122"/>
              </a:rPr>
              <a:t>乘除运算符</a:t>
            </a:r>
            <a:r>
              <a:rPr lang="en-US" altLang="zh-CN" sz="2000" dirty="0">
                <a:solidFill>
                  <a:srgbClr val="003366"/>
                </a:solidFill>
                <a:latin typeface="微软雅黑" panose="020B0503020204020204" pitchFamily="34" charset="-122"/>
                <a:ea typeface="微软雅黑" panose="020B0503020204020204" pitchFamily="34" charset="-122"/>
              </a:rPr>
              <a:t>&gt; -&gt; '*' | '/’</a:t>
            </a:r>
          </a:p>
          <a:p>
            <a:pPr marL="0" lvl="1" indent="457200">
              <a:lnSpc>
                <a:spcPct val="120000"/>
              </a:lnSpc>
            </a:pPr>
            <a:r>
              <a:rPr lang="zh-CN" altLang="en-US" sz="2000" dirty="0">
                <a:solidFill>
                  <a:srgbClr val="003366"/>
                </a:solidFill>
                <a:latin typeface="微软雅黑" panose="020B0503020204020204" pitchFamily="34" charset="-122"/>
                <a:ea typeface="微软雅黑" panose="020B0503020204020204" pitchFamily="34" charset="-122"/>
              </a:rPr>
              <a:t>语义说明：支持乘除运算，且优先级乘除</a:t>
            </a:r>
            <a:r>
              <a:rPr lang="en-US" altLang="zh-CN" sz="2000" dirty="0">
                <a:solidFill>
                  <a:srgbClr val="003366"/>
                </a:solidFill>
                <a:latin typeface="微软雅黑" panose="020B0503020204020204" pitchFamily="34" charset="-122"/>
                <a:ea typeface="微软雅黑" panose="020B0503020204020204" pitchFamily="34" charset="-122"/>
              </a:rPr>
              <a:t>&gt;</a:t>
            </a:r>
            <a:r>
              <a:rPr lang="zh-CN" altLang="en-US" sz="2000" dirty="0">
                <a:solidFill>
                  <a:srgbClr val="003366"/>
                </a:solidFill>
                <a:latin typeface="微软雅黑" panose="020B0503020204020204" pitchFamily="34" charset="-122"/>
                <a:ea typeface="微软雅黑" panose="020B0503020204020204" pitchFamily="34" charset="-122"/>
              </a:rPr>
              <a:t>加减</a:t>
            </a:r>
            <a:r>
              <a:rPr lang="en-US" altLang="zh-CN" sz="2000" dirty="0">
                <a:solidFill>
                  <a:srgbClr val="003366"/>
                </a:solidFill>
                <a:latin typeface="微软雅黑" panose="020B0503020204020204" pitchFamily="34" charset="-122"/>
                <a:ea typeface="微软雅黑" panose="020B0503020204020204" pitchFamily="34" charset="-122"/>
              </a:rPr>
              <a:t>&gt;</a:t>
            </a:r>
            <a:r>
              <a:rPr lang="zh-CN" altLang="en-US" sz="2000" dirty="0">
                <a:solidFill>
                  <a:srgbClr val="003366"/>
                </a:solidFill>
                <a:latin typeface="微软雅黑" panose="020B0503020204020204" pitchFamily="34" charset="-122"/>
                <a:ea typeface="微软雅黑" panose="020B0503020204020204" pitchFamily="34" charset="-122"/>
              </a:rPr>
              <a:t>比较。</a:t>
            </a:r>
            <a:endParaRPr lang="en-US" altLang="zh-CN" dirty="0">
              <a:solidFill>
                <a:srgbClr val="003366"/>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E426E6BF-8A99-7B23-523E-AB114E596FCD}"/>
              </a:ext>
            </a:extLst>
          </p:cNvPr>
          <p:cNvSpPr txBox="1"/>
          <p:nvPr/>
        </p:nvSpPr>
        <p:spPr>
          <a:xfrm>
            <a:off x="8426040" y="836712"/>
            <a:ext cx="3404816" cy="5509200"/>
          </a:xfrm>
          <a:prstGeom prst="rect">
            <a:avLst/>
          </a:prstGeom>
          <a:noFill/>
        </p:spPr>
        <p:txBody>
          <a:bodyPr wrap="square">
            <a:spAutoFit/>
          </a:bodyPr>
          <a:lstStyle/>
          <a:p>
            <a:pPr marL="0" lvl="1" eaLnBrk="1" hangingPunct="1"/>
            <a:r>
              <a:rPr lang="nn-NO" altLang="zh-CN" sz="1600" dirty="0">
                <a:latin typeface="微软雅黑" panose="020B0503020204020204" pitchFamily="34" charset="-122"/>
                <a:ea typeface="微软雅黑" panose="020B0503020204020204" pitchFamily="34" charset="-122"/>
              </a:rPr>
              <a:t>fn program_3_2() {</a:t>
            </a:r>
          </a:p>
          <a:p>
            <a:pPr marL="0" lvl="1" eaLnBrk="1" hangingPunct="1"/>
            <a:r>
              <a:rPr lang="nn-NO" altLang="zh-CN" sz="1600" dirty="0">
                <a:latin typeface="微软雅黑" panose="020B0503020204020204" pitchFamily="34" charset="-122"/>
                <a:ea typeface="微软雅黑" panose="020B0503020204020204" pitchFamily="34" charset="-122"/>
              </a:rPr>
              <a:t>    1&lt;2;</a:t>
            </a:r>
          </a:p>
          <a:p>
            <a:pPr marL="0" lvl="1" eaLnBrk="1" hangingPunct="1"/>
            <a:r>
              <a:rPr lang="nn-NO" altLang="zh-CN" sz="1600" dirty="0">
                <a:latin typeface="微软雅黑" panose="020B0503020204020204" pitchFamily="34" charset="-122"/>
                <a:ea typeface="微软雅黑" panose="020B0503020204020204" pitchFamily="34" charset="-122"/>
              </a:rPr>
              <a:t>    3</a:t>
            </a:r>
            <a:r>
              <a:rPr lang="en-US" altLang="zh-CN" sz="1600" dirty="0">
                <a:latin typeface="微软雅黑" panose="020B0503020204020204" pitchFamily="34" charset="-122"/>
                <a:ea typeface="微软雅黑" panose="020B0503020204020204" pitchFamily="34" charset="-122"/>
              </a:rPr>
              <a:t>&lt;=</a:t>
            </a:r>
            <a:r>
              <a:rPr lang="nn-NO" altLang="zh-CN" sz="1600" dirty="0">
                <a:latin typeface="微软雅黑" panose="020B0503020204020204" pitchFamily="34" charset="-122"/>
                <a:ea typeface="微软雅黑" panose="020B0503020204020204" pitchFamily="34" charset="-122"/>
              </a:rPr>
              <a:t>4;</a:t>
            </a:r>
          </a:p>
          <a:p>
            <a:pPr marL="0" lvl="1"/>
            <a:r>
              <a:rPr lang="nn-NO" altLang="zh-CN" sz="1600" dirty="0">
                <a:latin typeface="微软雅黑" panose="020B0503020204020204" pitchFamily="34" charset="-122"/>
                <a:ea typeface="微软雅黑" panose="020B0503020204020204" pitchFamily="34" charset="-122"/>
              </a:rPr>
              <a:t>    5&gt;6;</a:t>
            </a:r>
          </a:p>
          <a:p>
            <a:pPr marL="0" lvl="1"/>
            <a:r>
              <a:rPr lang="nn-NO" altLang="zh-CN" sz="1600" dirty="0">
                <a:latin typeface="微软雅黑" panose="020B0503020204020204" pitchFamily="34" charset="-122"/>
                <a:ea typeface="微软雅黑" panose="020B0503020204020204" pitchFamily="34" charset="-122"/>
              </a:rPr>
              <a:t>    7&gt;=8;</a:t>
            </a:r>
          </a:p>
          <a:p>
            <a:pPr marL="0" lvl="1"/>
            <a:r>
              <a:rPr lang="nn-NO" altLang="zh-CN" sz="1600" dirty="0">
                <a:latin typeface="微软雅黑" panose="020B0503020204020204" pitchFamily="34" charset="-122"/>
                <a:ea typeface="微软雅黑" panose="020B0503020204020204" pitchFamily="34" charset="-122"/>
              </a:rPr>
              <a:t>    9</a:t>
            </a:r>
            <a:r>
              <a:rPr lang="en-US" altLang="zh-CN" sz="1600" dirty="0">
                <a:latin typeface="微软雅黑" panose="020B0503020204020204" pitchFamily="34" charset="-122"/>
                <a:ea typeface="微软雅黑" panose="020B0503020204020204" pitchFamily="34" charset="-122"/>
              </a:rPr>
              <a:t>==</a:t>
            </a:r>
            <a:r>
              <a:rPr lang="nn-NO" altLang="zh-CN" sz="1600" dirty="0">
                <a:latin typeface="微软雅黑" panose="020B0503020204020204" pitchFamily="34" charset="-122"/>
                <a:ea typeface="微软雅黑" panose="020B0503020204020204" pitchFamily="34" charset="-122"/>
              </a:rPr>
              <a:t>10;</a:t>
            </a:r>
          </a:p>
          <a:p>
            <a:pPr marL="0" lvl="1"/>
            <a:r>
              <a:rPr lang="nn-NO" altLang="zh-CN" sz="1600" dirty="0">
                <a:latin typeface="微软雅黑" panose="020B0503020204020204" pitchFamily="34" charset="-122"/>
                <a:ea typeface="微软雅黑" panose="020B0503020204020204" pitchFamily="34" charset="-122"/>
              </a:rPr>
              <a:t>    11!=12;</a:t>
            </a:r>
          </a:p>
          <a:p>
            <a:pPr marL="0" lvl="1" eaLnBrk="1" hangingPunct="1"/>
            <a:r>
              <a:rPr lang="nn-NO" altLang="zh-CN" sz="1600" dirty="0">
                <a:latin typeface="微软雅黑" panose="020B0503020204020204" pitchFamily="34" charset="-122"/>
                <a:ea typeface="微软雅黑" panose="020B0503020204020204" pitchFamily="34" charset="-122"/>
              </a:rPr>
              <a:t>}</a:t>
            </a:r>
          </a:p>
          <a:p>
            <a:pPr marL="0" lvl="1" eaLnBrk="1" hangingPunct="1"/>
            <a:endParaRPr lang="nn-NO" altLang="zh-CN" sz="1600" dirty="0">
              <a:latin typeface="微软雅黑" panose="020B0503020204020204" pitchFamily="34" charset="-122"/>
              <a:ea typeface="微软雅黑" panose="020B0503020204020204" pitchFamily="34" charset="-122"/>
            </a:endParaRPr>
          </a:p>
          <a:p>
            <a:pPr marL="0" lvl="1"/>
            <a:r>
              <a:rPr lang="nn-NO" altLang="zh-CN" sz="1600" dirty="0">
                <a:latin typeface="微软雅黑" panose="020B0503020204020204" pitchFamily="34" charset="-122"/>
                <a:ea typeface="微软雅黑" panose="020B0503020204020204" pitchFamily="34" charset="-122"/>
              </a:rPr>
              <a:t>fn program_3_3() {</a:t>
            </a:r>
          </a:p>
          <a:p>
            <a:pPr marL="0" lvl="1"/>
            <a:r>
              <a:rPr lang="nn-NO" altLang="zh-CN" sz="1600" dirty="0">
                <a:latin typeface="微软雅黑" panose="020B0503020204020204" pitchFamily="34" charset="-122"/>
                <a:ea typeface="微软雅黑" panose="020B0503020204020204" pitchFamily="34" charset="-122"/>
              </a:rPr>
              <a:t>    1+2;</a:t>
            </a:r>
          </a:p>
          <a:p>
            <a:pPr marL="0" lvl="1"/>
            <a:r>
              <a:rPr lang="nn-NO" altLang="zh-CN" sz="1600" dirty="0">
                <a:latin typeface="微软雅黑" panose="020B0503020204020204" pitchFamily="34" charset="-122"/>
                <a:ea typeface="微软雅黑" panose="020B0503020204020204" pitchFamily="34" charset="-122"/>
              </a:rPr>
              <a:t>    3-4;</a:t>
            </a:r>
          </a:p>
          <a:p>
            <a:pPr marL="0" lvl="1"/>
            <a:r>
              <a:rPr lang="nn-NO" altLang="zh-CN" sz="1600" dirty="0">
                <a:latin typeface="微软雅黑" panose="020B0503020204020204" pitchFamily="34" charset="-122"/>
                <a:ea typeface="微软雅黑" panose="020B0503020204020204" pitchFamily="34" charset="-122"/>
              </a:rPr>
              <a:t>}</a:t>
            </a:r>
            <a:endParaRPr lang="pt-BR" altLang="zh-CN" sz="1600" dirty="0">
              <a:latin typeface="微软雅黑" panose="020B0503020204020204" pitchFamily="34" charset="-122"/>
              <a:ea typeface="微软雅黑" panose="020B0503020204020204" pitchFamily="34" charset="-122"/>
            </a:endParaRPr>
          </a:p>
          <a:p>
            <a:pPr marL="0" lvl="1" eaLnBrk="1" hangingPunct="1"/>
            <a:endParaRPr lang="pt-BR" altLang="zh-CN" sz="1600" dirty="0">
              <a:latin typeface="微软雅黑" panose="020B0503020204020204" pitchFamily="34" charset="-122"/>
              <a:ea typeface="微软雅黑" panose="020B0503020204020204" pitchFamily="34" charset="-122"/>
            </a:endParaRPr>
          </a:p>
          <a:p>
            <a:pPr marL="0" lvl="1" eaLnBrk="1" hangingPunct="1"/>
            <a:endParaRPr lang="pt-BR" altLang="zh-CN" sz="1600" dirty="0">
              <a:latin typeface="微软雅黑" panose="020B0503020204020204" pitchFamily="34" charset="-122"/>
              <a:ea typeface="微软雅黑" panose="020B0503020204020204" pitchFamily="34" charset="-122"/>
            </a:endParaRPr>
          </a:p>
          <a:p>
            <a:pPr marL="0" lvl="1" eaLnBrk="1" hangingPunct="1"/>
            <a:endParaRPr lang="pt-BR" altLang="zh-CN" sz="1600" dirty="0">
              <a:latin typeface="微软雅黑" panose="020B0503020204020204" pitchFamily="34" charset="-122"/>
              <a:ea typeface="微软雅黑" panose="020B0503020204020204" pitchFamily="34" charset="-122"/>
            </a:endParaRPr>
          </a:p>
          <a:p>
            <a:pPr marL="0" lvl="1" eaLnBrk="1" hangingPunct="1"/>
            <a:endParaRPr lang="pt-BR" altLang="zh-CN" sz="1600" dirty="0">
              <a:latin typeface="微软雅黑" panose="020B0503020204020204" pitchFamily="34" charset="-122"/>
              <a:ea typeface="微软雅黑" panose="020B0503020204020204" pitchFamily="34" charset="-122"/>
            </a:endParaRPr>
          </a:p>
          <a:p>
            <a:pPr marL="0" lvl="1"/>
            <a:r>
              <a:rPr lang="nn-NO" altLang="zh-CN" sz="1600" dirty="0">
                <a:latin typeface="微软雅黑" panose="020B0503020204020204" pitchFamily="34" charset="-122"/>
                <a:ea typeface="微软雅黑" panose="020B0503020204020204" pitchFamily="34" charset="-122"/>
              </a:rPr>
              <a:t>fn program_3_4() {</a:t>
            </a:r>
          </a:p>
          <a:p>
            <a:pPr marL="0" lvl="1"/>
            <a:r>
              <a:rPr lang="nn-NO" altLang="zh-CN" sz="1600" dirty="0">
                <a:latin typeface="微软雅黑" panose="020B0503020204020204" pitchFamily="34" charset="-122"/>
                <a:ea typeface="微软雅黑" panose="020B0503020204020204" pitchFamily="34" charset="-122"/>
              </a:rPr>
              <a:t>    1*2;</a:t>
            </a:r>
          </a:p>
          <a:p>
            <a:pPr marL="0" lvl="1"/>
            <a:r>
              <a:rPr lang="nn-NO" altLang="zh-CN" sz="1600" dirty="0">
                <a:latin typeface="微软雅黑" panose="020B0503020204020204" pitchFamily="34" charset="-122"/>
                <a:ea typeface="微软雅黑" panose="020B0503020204020204" pitchFamily="34" charset="-122"/>
              </a:rPr>
              <a:t>    3/4;</a:t>
            </a:r>
          </a:p>
          <a:p>
            <a:pPr marL="0" lvl="1"/>
            <a:r>
              <a:rPr lang="nn-NO" altLang="zh-CN" sz="1600" dirty="0">
                <a:latin typeface="微软雅黑" panose="020B0503020204020204" pitchFamily="34" charset="-122"/>
                <a:ea typeface="微软雅黑" panose="020B0503020204020204" pitchFamily="34" charset="-122"/>
              </a:rPr>
              <a:t>}</a:t>
            </a:r>
            <a:endParaRPr lang="pt-BR" altLang="zh-CN" sz="1600" dirty="0">
              <a:latin typeface="微软雅黑" panose="020B0503020204020204" pitchFamily="34" charset="-122"/>
              <a:ea typeface="微软雅黑" panose="020B0503020204020204" pitchFamily="34" charset="-122"/>
            </a:endParaRPr>
          </a:p>
          <a:p>
            <a:pPr marL="0" lvl="1" eaLnBrk="1" hangingPunct="1"/>
            <a:endParaRPr lang="pt-BR"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2156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E54B9-3E46-3EF2-769E-D2A4A85B10A0}"/>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E1B47FF9-BDE5-9891-B541-0086DEC4F041}"/>
              </a:ext>
            </a:extLst>
          </p:cNvPr>
          <p:cNvSpPr txBox="1">
            <a:spLocks/>
          </p:cNvSpPr>
          <p:nvPr/>
        </p:nvSpPr>
        <p:spPr>
          <a:xfrm>
            <a:off x="72008" y="-12202"/>
            <a:ext cx="7752184" cy="848914"/>
          </a:xfrm>
          <a:prstGeom prst="rect">
            <a:avLst/>
          </a:prstGeom>
        </p:spPr>
        <p:txBody>
          <a:bodyPr/>
          <a:lstStyle>
            <a:lvl1pPr algn="ctr" defTabSz="1219200" rtl="0" eaLnBrk="1" latinLnBrk="0" hangingPunct="1">
              <a:spcBef>
                <a:spcPct val="0"/>
              </a:spcBef>
              <a:buNone/>
              <a:defRPr sz="5865" kern="1200">
                <a:solidFill>
                  <a:schemeClr val="tx1"/>
                </a:solidFill>
                <a:latin typeface="+mj-lt"/>
                <a:ea typeface="+mj-ea"/>
                <a:cs typeface="+mj-cs"/>
              </a:defRPr>
            </a:lvl1pPr>
          </a:lstStyle>
          <a:p>
            <a:pPr algn="l"/>
            <a:r>
              <a:rPr lang="zh-CN" altLang="en-US" sz="3600" b="1" dirty="0">
                <a:solidFill>
                  <a:schemeClr val="bg1"/>
                </a:solidFill>
                <a:latin typeface="微软雅黑" panose="020B0503020204020204" pitchFamily="34" charset="-122"/>
                <a:ea typeface="微软雅黑" panose="020B0503020204020204" pitchFamily="34" charset="-122"/>
              </a:rPr>
              <a:t>类</a:t>
            </a:r>
            <a:r>
              <a:rPr lang="en-US" altLang="zh-CN" sz="3600" b="1" dirty="0">
                <a:solidFill>
                  <a:schemeClr val="bg1"/>
                </a:solidFill>
                <a:latin typeface="微软雅黑" panose="020B0503020204020204" pitchFamily="34" charset="-122"/>
                <a:ea typeface="微软雅黑" panose="020B0503020204020204" pitchFamily="34" charset="-122"/>
              </a:rPr>
              <a:t>Rust</a:t>
            </a:r>
            <a:r>
              <a:rPr lang="zh-CN" altLang="en-US" sz="3600" b="1" dirty="0">
                <a:solidFill>
                  <a:schemeClr val="bg1"/>
                </a:solidFill>
                <a:latin typeface="微软雅黑" panose="020B0503020204020204" pitchFamily="34" charset="-122"/>
                <a:ea typeface="微软雅黑" panose="020B0503020204020204" pitchFamily="34" charset="-122"/>
              </a:rPr>
              <a:t>语法和语义规则</a:t>
            </a:r>
          </a:p>
        </p:txBody>
      </p:sp>
      <p:sp>
        <p:nvSpPr>
          <p:cNvPr id="10" name="文本框 9">
            <a:extLst>
              <a:ext uri="{FF2B5EF4-FFF2-40B4-BE49-F238E27FC236}">
                <a16:creationId xmlns:a16="http://schemas.microsoft.com/office/drawing/2014/main" id="{4B71D39B-7E57-19FA-0893-56D494313C05}"/>
              </a:ext>
            </a:extLst>
          </p:cNvPr>
          <p:cNvSpPr txBox="1"/>
          <p:nvPr/>
        </p:nvSpPr>
        <p:spPr>
          <a:xfrm>
            <a:off x="0" y="864816"/>
            <a:ext cx="8544172" cy="2058577"/>
          </a:xfrm>
          <a:prstGeom prst="rect">
            <a:avLst/>
          </a:prstGeom>
          <a:noFill/>
        </p:spPr>
        <p:txBody>
          <a:bodyPr wrap="square">
            <a:spAutoFit/>
          </a:bodyPr>
          <a:lstStyle/>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3.5 </a:t>
            </a:r>
            <a:r>
              <a:rPr lang="zh-CN" altLang="en-US" sz="1800" b="1" dirty="0">
                <a:solidFill>
                  <a:srgbClr val="003366"/>
                </a:solidFill>
                <a:latin typeface="微软雅黑" panose="020B0503020204020204" pitchFamily="34" charset="-122"/>
                <a:ea typeface="微软雅黑" panose="020B0503020204020204" pitchFamily="34" charset="-122"/>
              </a:rPr>
              <a:t>函数调用（依赖</a:t>
            </a:r>
            <a:r>
              <a:rPr lang="en-US" altLang="zh-CN" sz="1800" b="1" dirty="0">
                <a:solidFill>
                  <a:srgbClr val="003366"/>
                </a:solidFill>
                <a:latin typeface="微软雅黑" panose="020B0503020204020204" pitchFamily="34" charset="-122"/>
                <a:ea typeface="微软雅黑" panose="020B0503020204020204" pitchFamily="34" charset="-122"/>
              </a:rPr>
              <a:t>3.1</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3.1</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因子</a:t>
            </a:r>
            <a:r>
              <a:rPr lang="en-US" altLang="zh-CN" sz="1800" dirty="0">
                <a:solidFill>
                  <a:srgbClr val="003366"/>
                </a:solidFill>
                <a:latin typeface="微软雅黑" panose="020B0503020204020204" pitchFamily="34" charset="-122"/>
                <a:ea typeface="微软雅黑" panose="020B0503020204020204" pitchFamily="34" charset="-122"/>
              </a:rPr>
              <a:t>&gt; -&gt; &lt;ID&gt; '(' &lt;</a:t>
            </a:r>
            <a:r>
              <a:rPr lang="zh-CN" altLang="en-US" sz="1800" dirty="0">
                <a:solidFill>
                  <a:srgbClr val="003366"/>
                </a:solidFill>
                <a:latin typeface="微软雅黑" panose="020B0503020204020204" pitchFamily="34" charset="-122"/>
                <a:ea typeface="微软雅黑" panose="020B0503020204020204" pitchFamily="34" charset="-122"/>
              </a:rPr>
              <a:t>实参列表</a:t>
            </a:r>
            <a:r>
              <a:rPr lang="en-US" altLang="zh-CN" sz="1800" dirty="0">
                <a:solidFill>
                  <a:srgbClr val="003366"/>
                </a:solidFill>
                <a:latin typeface="微软雅黑" panose="020B0503020204020204" pitchFamily="34" charset="-122"/>
                <a:ea typeface="微软雅黑" panose="020B0503020204020204" pitchFamily="34" charset="-122"/>
              </a:rPr>
              <a:t>&gt; ')'</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实参列表</a:t>
            </a:r>
            <a:r>
              <a:rPr lang="en-US" altLang="zh-CN" sz="1800" dirty="0">
                <a:solidFill>
                  <a:srgbClr val="003366"/>
                </a:solidFill>
                <a:latin typeface="微软雅黑" panose="020B0503020204020204" pitchFamily="34" charset="-122"/>
                <a:ea typeface="微软雅黑" panose="020B0503020204020204" pitchFamily="34" charset="-122"/>
              </a:rPr>
              <a:t>&gt;-&gt; </a:t>
            </a:r>
            <a:r>
              <a:rPr lang="zh-CN" altLang="en-US" sz="1800" dirty="0">
                <a:solidFill>
                  <a:srgbClr val="003366"/>
                </a:solidFill>
                <a:latin typeface="微软雅黑" panose="020B0503020204020204" pitchFamily="34" charset="-122"/>
                <a:ea typeface="微软雅黑" panose="020B0503020204020204" pitchFamily="34" charset="-122"/>
              </a:rPr>
              <a:t>空 </a:t>
            </a:r>
            <a:r>
              <a:rPr lang="en-US" altLang="zh-CN" sz="1800" dirty="0">
                <a:solidFill>
                  <a:srgbClr val="003366"/>
                </a:solidFill>
                <a:latin typeface="微软雅黑" panose="020B0503020204020204" pitchFamily="34" charset="-122"/>
                <a:ea typeface="微软雅黑" panose="020B0503020204020204" pitchFamily="34" charset="-122"/>
              </a:rPr>
              <a:t>|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 &lt;</a:t>
            </a:r>
            <a:r>
              <a:rPr lang="zh-CN" altLang="en-US" sz="1800" dirty="0">
                <a:solidFill>
                  <a:srgbClr val="003366"/>
                </a:solidFill>
                <a:latin typeface="微软雅黑" panose="020B0503020204020204" pitchFamily="34" charset="-122"/>
                <a:ea typeface="微软雅黑" panose="020B0503020204020204" pitchFamily="34" charset="-122"/>
              </a:rPr>
              <a:t>实参列表</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语义说明：提供函数调用表达式的能力，函数调用结果可以参与运算。实参数量与形参数量需一致；</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实参列表</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中的每个 </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的类型必须与对应位置形参的类型一致；若函数无返回值，则不能参与运算或作为右值。</a:t>
            </a:r>
            <a:endParaRPr lang="en-US" altLang="zh-CN" sz="1800" dirty="0">
              <a:solidFill>
                <a:srgbClr val="003366"/>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EC3BA09A-D2CF-8E51-5184-61FF9AA5EC75}"/>
              </a:ext>
            </a:extLst>
          </p:cNvPr>
          <p:cNvSpPr txBox="1"/>
          <p:nvPr/>
        </p:nvSpPr>
        <p:spPr>
          <a:xfrm>
            <a:off x="8544172" y="822645"/>
            <a:ext cx="3602801" cy="3293209"/>
          </a:xfrm>
          <a:prstGeom prst="rect">
            <a:avLst/>
          </a:prstGeom>
          <a:noFill/>
        </p:spPr>
        <p:txBody>
          <a:bodyPr wrap="square">
            <a:spAutoFit/>
          </a:bodyPr>
          <a:lstStyle/>
          <a:p>
            <a:pPr marL="0" lvl="1" eaLnBrk="1" hangingPunct="1"/>
            <a:r>
              <a:rPr lang="nn-NO" altLang="zh-CN" sz="1600" dirty="0">
                <a:latin typeface="微软雅黑" panose="020B0503020204020204" pitchFamily="34" charset="-122"/>
                <a:ea typeface="微软雅黑" panose="020B0503020204020204" pitchFamily="34" charset="-122"/>
              </a:rPr>
              <a:t>fn program_3_3__1</a:t>
            </a:r>
            <a:r>
              <a:rPr lang="en-US" altLang="zh-CN" sz="1600" dirty="0">
                <a:latin typeface="微软雅黑" panose="020B0503020204020204" pitchFamily="34" charset="-122"/>
                <a:ea typeface="微软雅黑" panose="020B0503020204020204" pitchFamily="34" charset="-122"/>
              </a:rPr>
              <a:t>__a</a:t>
            </a:r>
            <a:r>
              <a:rPr lang="nn-NO" altLang="zh-CN" sz="1600" dirty="0">
                <a:latin typeface="微软雅黑" panose="020B0503020204020204" pitchFamily="34" charset="-122"/>
                <a:ea typeface="微软雅黑" panose="020B0503020204020204" pitchFamily="34" charset="-122"/>
              </a:rPr>
              <a:t>() {</a:t>
            </a:r>
          </a:p>
          <a:p>
            <a:pPr marL="0" lvl="1" eaLnBrk="1" hangingPunct="1"/>
            <a:endParaRPr lang="nn-NO" altLang="zh-CN" sz="1600" dirty="0">
              <a:latin typeface="微软雅黑" panose="020B0503020204020204" pitchFamily="34" charset="-122"/>
              <a:ea typeface="微软雅黑" panose="020B0503020204020204" pitchFamily="34" charset="-122"/>
            </a:endParaRPr>
          </a:p>
          <a:p>
            <a:pPr marL="0" lvl="1" eaLnBrk="1" hangingPunct="1"/>
            <a:r>
              <a:rPr lang="nn-NO" altLang="zh-CN" sz="1600" dirty="0">
                <a:latin typeface="微软雅黑" panose="020B0503020204020204" pitchFamily="34" charset="-122"/>
                <a:ea typeface="微软雅黑" panose="020B0503020204020204" pitchFamily="34" charset="-122"/>
              </a:rPr>
              <a:t>}</a:t>
            </a:r>
          </a:p>
          <a:p>
            <a:pPr marL="0" lvl="1" eaLnBrk="1" hangingPunct="1"/>
            <a:r>
              <a:rPr lang="nn-NO" altLang="zh-CN" sz="1600" dirty="0">
                <a:latin typeface="微软雅黑" panose="020B0503020204020204" pitchFamily="34" charset="-122"/>
                <a:ea typeface="微软雅黑" panose="020B0503020204020204" pitchFamily="34" charset="-122"/>
              </a:rPr>
              <a:t>fn program_3_3__1__b() {</a:t>
            </a:r>
          </a:p>
          <a:p>
            <a:pPr marL="0" lvl="1" eaLnBrk="1" hangingPunct="1"/>
            <a:r>
              <a:rPr lang="nn-NO" altLang="zh-CN" sz="1600" dirty="0">
                <a:latin typeface="微软雅黑" panose="020B0503020204020204" pitchFamily="34" charset="-122"/>
                <a:ea typeface="微软雅黑" panose="020B0503020204020204" pitchFamily="34" charset="-122"/>
              </a:rPr>
              <a:t>    program_3_3__1__a();</a:t>
            </a:r>
          </a:p>
          <a:p>
            <a:pPr marL="0" lvl="1" eaLnBrk="1" hangingPunct="1"/>
            <a:r>
              <a:rPr lang="nn-NO" altLang="zh-CN" sz="1600" dirty="0">
                <a:latin typeface="微软雅黑" panose="020B0503020204020204" pitchFamily="34" charset="-122"/>
                <a:ea typeface="微软雅黑" panose="020B0503020204020204" pitchFamily="34" charset="-122"/>
              </a:rPr>
              <a:t>}</a:t>
            </a:r>
          </a:p>
          <a:p>
            <a:pPr marL="0" lvl="1" eaLnBrk="1" hangingPunct="1"/>
            <a:endParaRPr lang="nn-NO" altLang="zh-CN" sz="1600" dirty="0">
              <a:latin typeface="微软雅黑" panose="020B0503020204020204" pitchFamily="34" charset="-122"/>
              <a:ea typeface="微软雅黑" panose="020B0503020204020204" pitchFamily="34" charset="-122"/>
            </a:endParaRPr>
          </a:p>
          <a:p>
            <a:pPr marL="0" lvl="1" eaLnBrk="1" hangingPunct="1"/>
            <a:r>
              <a:rPr lang="nn-NO" altLang="zh-CN" sz="1600" dirty="0">
                <a:latin typeface="微软雅黑" panose="020B0503020204020204" pitchFamily="34" charset="-122"/>
                <a:ea typeface="微软雅黑" panose="020B0503020204020204" pitchFamily="34" charset="-122"/>
              </a:rPr>
              <a:t>fn program_3_3__2__a(mut a:i32) {</a:t>
            </a:r>
          </a:p>
          <a:p>
            <a:pPr marL="0" lvl="1" eaLnBrk="1" hangingPunct="1"/>
            <a:endParaRPr lang="nn-NO" altLang="zh-CN" sz="1600" dirty="0">
              <a:latin typeface="微软雅黑" panose="020B0503020204020204" pitchFamily="34" charset="-122"/>
              <a:ea typeface="微软雅黑" panose="020B0503020204020204" pitchFamily="34" charset="-122"/>
            </a:endParaRPr>
          </a:p>
          <a:p>
            <a:pPr marL="0" lvl="1" eaLnBrk="1" hangingPunct="1"/>
            <a:r>
              <a:rPr lang="nn-NO" altLang="zh-CN" sz="1600" dirty="0">
                <a:latin typeface="微软雅黑" panose="020B0503020204020204" pitchFamily="34" charset="-122"/>
                <a:ea typeface="微软雅黑" panose="020B0503020204020204" pitchFamily="34" charset="-122"/>
              </a:rPr>
              <a:t>}</a:t>
            </a:r>
          </a:p>
          <a:p>
            <a:pPr marL="0" lvl="1" eaLnBrk="1" hangingPunct="1"/>
            <a:r>
              <a:rPr lang="nn-NO" altLang="zh-CN" sz="1600" dirty="0">
                <a:latin typeface="微软雅黑" panose="020B0503020204020204" pitchFamily="34" charset="-122"/>
                <a:ea typeface="微软雅黑" panose="020B0503020204020204" pitchFamily="34" charset="-122"/>
              </a:rPr>
              <a:t>fn program_3_3__2__b() {</a:t>
            </a:r>
          </a:p>
          <a:p>
            <a:pPr marL="0" lvl="1" eaLnBrk="1" hangingPunct="1"/>
            <a:r>
              <a:rPr lang="nn-NO" altLang="zh-CN" sz="1600" dirty="0">
                <a:latin typeface="微软雅黑" panose="020B0503020204020204" pitchFamily="34" charset="-122"/>
                <a:ea typeface="微软雅黑" panose="020B0503020204020204" pitchFamily="34" charset="-122"/>
              </a:rPr>
              <a:t>    program_3_3__2__a(1+2);</a:t>
            </a:r>
          </a:p>
          <a:p>
            <a:pPr marL="0" lvl="1" eaLnBrk="1" hangingPunct="1"/>
            <a:r>
              <a:rPr lang="nn-NO" altLang="zh-CN" sz="1600" dirty="0">
                <a:latin typeface="微软雅黑" panose="020B0503020204020204" pitchFamily="34" charset="-122"/>
                <a:ea typeface="微软雅黑" panose="020B0503020204020204" pitchFamily="34" charset="-122"/>
              </a:rPr>
              <a:t>}</a:t>
            </a:r>
          </a:p>
        </p:txBody>
      </p:sp>
      <p:sp>
        <p:nvSpPr>
          <p:cNvPr id="19" name="文本框 18">
            <a:extLst>
              <a:ext uri="{FF2B5EF4-FFF2-40B4-BE49-F238E27FC236}">
                <a16:creationId xmlns:a16="http://schemas.microsoft.com/office/drawing/2014/main" id="{F35E388D-C67A-56D5-DC44-81BF00A5B39E}"/>
              </a:ext>
            </a:extLst>
          </p:cNvPr>
          <p:cNvSpPr txBox="1"/>
          <p:nvPr/>
        </p:nvSpPr>
        <p:spPr>
          <a:xfrm>
            <a:off x="504056" y="4465695"/>
            <a:ext cx="3404816" cy="1569660"/>
          </a:xfrm>
          <a:prstGeom prst="rect">
            <a:avLst/>
          </a:prstGeom>
          <a:noFill/>
        </p:spPr>
        <p:txBody>
          <a:bodyPr wrap="square">
            <a:spAutoFit/>
          </a:bodyPr>
          <a:lstStyle/>
          <a:p>
            <a:pPr marL="0" lvl="1" eaLnBrk="1" hangingPunct="1"/>
            <a:r>
              <a:rPr lang="pt-BR" altLang="zh-CN" sz="1600" dirty="0">
                <a:latin typeface="微软雅黑" panose="020B0503020204020204" pitchFamily="34" charset="-122"/>
                <a:ea typeface="微软雅黑" panose="020B0503020204020204" pitchFamily="34" charset="-122"/>
              </a:rPr>
              <a:t>fn program_3_3__3__a() {</a:t>
            </a:r>
          </a:p>
          <a:p>
            <a:pPr marL="0" lvl="1" eaLnBrk="1" hangingPunct="1"/>
            <a:endParaRPr lang="pt-BR" altLang="zh-CN" sz="1600" dirty="0">
              <a:latin typeface="微软雅黑" panose="020B0503020204020204" pitchFamily="34" charset="-122"/>
              <a:ea typeface="微软雅黑" panose="020B0503020204020204" pitchFamily="34" charset="-122"/>
            </a:endParaRPr>
          </a:p>
          <a:p>
            <a:pPr marL="0" lvl="1" eaLnBrk="1" hangingPunct="1"/>
            <a:r>
              <a:rPr lang="pt-BR" altLang="zh-CN" sz="1600" dirty="0">
                <a:latin typeface="微软雅黑" panose="020B0503020204020204" pitchFamily="34" charset="-122"/>
                <a:ea typeface="微软雅黑" panose="020B0503020204020204" pitchFamily="34" charset="-122"/>
              </a:rPr>
              <a:t>}</a:t>
            </a:r>
          </a:p>
          <a:p>
            <a:pPr marL="0" lvl="1" eaLnBrk="1" hangingPunct="1"/>
            <a:r>
              <a:rPr lang="pt-BR" altLang="zh-CN" sz="1600" dirty="0">
                <a:latin typeface="微软雅黑" panose="020B0503020204020204" pitchFamily="34" charset="-122"/>
                <a:ea typeface="微软雅黑" panose="020B0503020204020204" pitchFamily="34" charset="-122"/>
              </a:rPr>
              <a:t>fn program_3_3__3__b() {</a:t>
            </a:r>
          </a:p>
          <a:p>
            <a:pPr marL="0" lvl="1" eaLnBrk="1" hangingPunct="1"/>
            <a:r>
              <a:rPr lang="pt-BR" altLang="zh-CN" sz="1600" dirty="0">
                <a:latin typeface="微软雅黑" panose="020B0503020204020204" pitchFamily="34" charset="-122"/>
                <a:ea typeface="微软雅黑" panose="020B0503020204020204" pitchFamily="34" charset="-122"/>
              </a:rPr>
              <a:t>    program_3_3__3__a(1);</a:t>
            </a:r>
          </a:p>
          <a:p>
            <a:pPr marL="0" lvl="1" eaLnBrk="1" hangingPunct="1"/>
            <a:r>
              <a:rPr lang="pt-BR" altLang="zh-CN" sz="1600" dirty="0">
                <a:latin typeface="微软雅黑" panose="020B0503020204020204" pitchFamily="34" charset="-122"/>
                <a:ea typeface="微软雅黑" panose="020B0503020204020204" pitchFamily="34" charset="-122"/>
              </a:rPr>
              <a:t>}</a:t>
            </a:r>
          </a:p>
        </p:txBody>
      </p:sp>
      <p:sp>
        <p:nvSpPr>
          <p:cNvPr id="21" name="文本框 20">
            <a:extLst>
              <a:ext uri="{FF2B5EF4-FFF2-40B4-BE49-F238E27FC236}">
                <a16:creationId xmlns:a16="http://schemas.microsoft.com/office/drawing/2014/main" id="{A10810C7-A5E4-AFF8-437F-AF52F4347788}"/>
              </a:ext>
            </a:extLst>
          </p:cNvPr>
          <p:cNvSpPr txBox="1"/>
          <p:nvPr/>
        </p:nvSpPr>
        <p:spPr>
          <a:xfrm>
            <a:off x="3909740" y="4465695"/>
            <a:ext cx="4337182" cy="1569660"/>
          </a:xfrm>
          <a:prstGeom prst="rect">
            <a:avLst/>
          </a:prstGeom>
          <a:noFill/>
        </p:spPr>
        <p:txBody>
          <a:bodyPr wrap="square">
            <a:spAutoFit/>
          </a:bodyPr>
          <a:lstStyle/>
          <a:p>
            <a:pPr marL="0" lvl="1" eaLnBrk="1" hangingPunct="1"/>
            <a:r>
              <a:rPr lang="pt-BR" altLang="zh-CN" sz="1600" dirty="0">
                <a:latin typeface="微软雅黑" panose="020B0503020204020204" pitchFamily="34" charset="-122"/>
                <a:ea typeface="微软雅黑" panose="020B0503020204020204" pitchFamily="34" charset="-122"/>
              </a:rPr>
              <a:t>fn program_3_3__4__a(mut a:i32) {</a:t>
            </a:r>
          </a:p>
          <a:p>
            <a:pPr marL="0" lvl="1" eaLnBrk="1" hangingPunct="1"/>
            <a:endParaRPr lang="pt-BR" altLang="zh-CN" sz="1600" dirty="0">
              <a:latin typeface="微软雅黑" panose="020B0503020204020204" pitchFamily="34" charset="-122"/>
              <a:ea typeface="微软雅黑" panose="020B0503020204020204" pitchFamily="34" charset="-122"/>
            </a:endParaRPr>
          </a:p>
          <a:p>
            <a:pPr marL="0" lvl="1" eaLnBrk="1" hangingPunct="1"/>
            <a:r>
              <a:rPr lang="pt-BR" altLang="zh-CN" sz="1600" dirty="0">
                <a:latin typeface="微软雅黑" panose="020B0503020204020204" pitchFamily="34" charset="-122"/>
                <a:ea typeface="微软雅黑" panose="020B0503020204020204" pitchFamily="34" charset="-122"/>
              </a:rPr>
              <a:t>}</a:t>
            </a:r>
          </a:p>
          <a:p>
            <a:pPr marL="0" lvl="1" eaLnBrk="1" hangingPunct="1"/>
            <a:r>
              <a:rPr lang="pt-BR" altLang="zh-CN" sz="1600" dirty="0">
                <a:latin typeface="微软雅黑" panose="020B0503020204020204" pitchFamily="34" charset="-122"/>
                <a:ea typeface="微软雅黑" panose="020B0503020204020204" pitchFamily="34" charset="-122"/>
              </a:rPr>
              <a:t>fn program_3_3__4__b() {</a:t>
            </a:r>
          </a:p>
          <a:p>
            <a:pPr marL="0" lvl="1" eaLnBrk="1" hangingPunct="1"/>
            <a:r>
              <a:rPr lang="pt-BR" altLang="zh-CN" sz="1600" dirty="0">
                <a:latin typeface="微软雅黑" panose="020B0503020204020204" pitchFamily="34" charset="-122"/>
                <a:ea typeface="微软雅黑" panose="020B0503020204020204" pitchFamily="34" charset="-122"/>
              </a:rPr>
              <a:t>    program_3_3__4__a(program_3_3__4__a);</a:t>
            </a:r>
          </a:p>
          <a:p>
            <a:pPr marL="0" lvl="1" eaLnBrk="1" hangingPunct="1"/>
            <a:r>
              <a:rPr lang="pt-BR" altLang="zh-CN" sz="1600" dirty="0">
                <a:latin typeface="微软雅黑" panose="020B0503020204020204" pitchFamily="34" charset="-122"/>
                <a:ea typeface="微软雅黑" panose="020B0503020204020204" pitchFamily="34" charset="-122"/>
              </a:rPr>
              <a:t>}</a:t>
            </a:r>
          </a:p>
        </p:txBody>
      </p:sp>
      <p:sp>
        <p:nvSpPr>
          <p:cNvPr id="23" name="文本框 22">
            <a:extLst>
              <a:ext uri="{FF2B5EF4-FFF2-40B4-BE49-F238E27FC236}">
                <a16:creationId xmlns:a16="http://schemas.microsoft.com/office/drawing/2014/main" id="{ED6B0ABC-7C6B-0A56-87CE-5ADCAEAC08E5}"/>
              </a:ext>
            </a:extLst>
          </p:cNvPr>
          <p:cNvSpPr txBox="1"/>
          <p:nvPr/>
        </p:nvSpPr>
        <p:spPr>
          <a:xfrm>
            <a:off x="8544172" y="4465695"/>
            <a:ext cx="3980880" cy="1569660"/>
          </a:xfrm>
          <a:prstGeom prst="rect">
            <a:avLst/>
          </a:prstGeom>
          <a:noFill/>
        </p:spPr>
        <p:txBody>
          <a:bodyPr wrap="square">
            <a:spAutoFit/>
          </a:bodyPr>
          <a:lstStyle/>
          <a:p>
            <a:pPr marL="0" lvl="1" eaLnBrk="1" hangingPunct="1"/>
            <a:r>
              <a:rPr lang="en-US" altLang="zh-CN" sz="1600" dirty="0">
                <a:latin typeface="微软雅黑" panose="020B0503020204020204" pitchFamily="34" charset="-122"/>
                <a:ea typeface="微软雅黑" panose="020B0503020204020204" pitchFamily="34" charset="-122"/>
              </a:rPr>
              <a:t>fn program_3_3__5__a() {</a:t>
            </a:r>
          </a:p>
          <a:p>
            <a:pPr marL="0" lvl="1" eaLnBrk="1" hangingPunct="1"/>
            <a:endParaRPr lang="en-US" altLang="zh-CN" sz="1600" dirty="0">
              <a:latin typeface="微软雅黑" panose="020B0503020204020204" pitchFamily="34" charset="-122"/>
              <a:ea typeface="微软雅黑" panose="020B0503020204020204" pitchFamily="34" charset="-122"/>
            </a:endParaRPr>
          </a:p>
          <a:p>
            <a:pPr marL="0" lvl="1" eaLnBrk="1" hangingPunct="1"/>
            <a:r>
              <a:rPr lang="en-US" altLang="zh-CN" sz="1600" dirty="0">
                <a:latin typeface="微软雅黑" panose="020B0503020204020204" pitchFamily="34" charset="-122"/>
                <a:ea typeface="微软雅黑" panose="020B0503020204020204" pitchFamily="34" charset="-122"/>
              </a:rPr>
              <a:t>}</a:t>
            </a:r>
          </a:p>
          <a:p>
            <a:pPr marL="0" lvl="1" eaLnBrk="1" hangingPunct="1"/>
            <a:r>
              <a:rPr lang="en-US" altLang="zh-CN" sz="1600" dirty="0">
                <a:latin typeface="微软雅黑" panose="020B0503020204020204" pitchFamily="34" charset="-122"/>
                <a:ea typeface="微软雅黑" panose="020B0503020204020204" pitchFamily="34" charset="-122"/>
              </a:rPr>
              <a:t>fn program_3_3__5__b() {</a:t>
            </a:r>
          </a:p>
          <a:p>
            <a:pPr marL="0" lvl="1" eaLnBrk="1" hangingPunct="1"/>
            <a:r>
              <a:rPr lang="en-US" altLang="zh-CN" sz="1600" dirty="0">
                <a:latin typeface="微软雅黑" panose="020B0503020204020204" pitchFamily="34" charset="-122"/>
                <a:ea typeface="微软雅黑" panose="020B0503020204020204" pitchFamily="34" charset="-122"/>
              </a:rPr>
              <a:t>    let mut a=program_3_3__5__a();</a:t>
            </a:r>
          </a:p>
          <a:p>
            <a:pPr marL="0" lvl="1" eaLnBrk="1" hangingPunct="1"/>
            <a:r>
              <a:rPr lang="en-US" altLang="zh-CN" sz="1600" dirty="0">
                <a:latin typeface="微软雅黑" panose="020B0503020204020204" pitchFamily="34" charset="-122"/>
                <a:ea typeface="微软雅黑" panose="020B0503020204020204" pitchFamily="34" charset="-122"/>
              </a:rPr>
              <a:t>}</a:t>
            </a:r>
            <a:endParaRPr lang="pt-BR" altLang="zh-CN" sz="1600"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104583CA-BEC0-224D-4AAF-4AC837579C19}"/>
              </a:ext>
            </a:extLst>
          </p:cNvPr>
          <p:cNvSpPr txBox="1"/>
          <p:nvPr/>
        </p:nvSpPr>
        <p:spPr>
          <a:xfrm>
            <a:off x="983432" y="5776982"/>
            <a:ext cx="2342860" cy="2951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实参数量与形参数量不一致</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89237616-DD85-5DAB-8F15-05E518264C63}"/>
              </a:ext>
            </a:extLst>
          </p:cNvPr>
          <p:cNvSpPr txBox="1"/>
          <p:nvPr/>
        </p:nvSpPr>
        <p:spPr>
          <a:xfrm>
            <a:off x="4492320" y="5779159"/>
            <a:ext cx="2342860" cy="2951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实参类型与形参类型不一致</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53E8BCF4-2224-FF57-D6D7-325328086983}"/>
              </a:ext>
            </a:extLst>
          </p:cNvPr>
          <p:cNvSpPr txBox="1"/>
          <p:nvPr/>
        </p:nvSpPr>
        <p:spPr>
          <a:xfrm>
            <a:off x="8977357" y="5776982"/>
            <a:ext cx="2342860" cy="2951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无返回值函数不能作为右值</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04478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52911-24C0-51F6-B9A4-E0023AA9DF90}"/>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8BB7C8F8-204F-627C-3746-B289A9C011FE}"/>
              </a:ext>
            </a:extLst>
          </p:cNvPr>
          <p:cNvSpPr txBox="1">
            <a:spLocks/>
          </p:cNvSpPr>
          <p:nvPr/>
        </p:nvSpPr>
        <p:spPr>
          <a:xfrm>
            <a:off x="72008" y="-12202"/>
            <a:ext cx="7752184" cy="848914"/>
          </a:xfrm>
          <a:prstGeom prst="rect">
            <a:avLst/>
          </a:prstGeom>
        </p:spPr>
        <p:txBody>
          <a:bodyPr/>
          <a:lstStyle>
            <a:lvl1pPr algn="ctr" defTabSz="1219200" rtl="0" eaLnBrk="1" latinLnBrk="0" hangingPunct="1">
              <a:spcBef>
                <a:spcPct val="0"/>
              </a:spcBef>
              <a:buNone/>
              <a:defRPr sz="5865" kern="1200">
                <a:solidFill>
                  <a:schemeClr val="tx1"/>
                </a:solidFill>
                <a:latin typeface="+mj-lt"/>
                <a:ea typeface="+mj-ea"/>
                <a:cs typeface="+mj-cs"/>
              </a:defRPr>
            </a:lvl1pPr>
          </a:lstStyle>
          <a:p>
            <a:pPr algn="l"/>
            <a:r>
              <a:rPr lang="zh-CN" altLang="en-US" sz="3600" b="1" dirty="0">
                <a:solidFill>
                  <a:schemeClr val="bg1"/>
                </a:solidFill>
                <a:latin typeface="微软雅黑" panose="020B0503020204020204" pitchFamily="34" charset="-122"/>
                <a:ea typeface="微软雅黑" panose="020B0503020204020204" pitchFamily="34" charset="-122"/>
              </a:rPr>
              <a:t>类</a:t>
            </a:r>
            <a:r>
              <a:rPr lang="en-US" altLang="zh-CN" sz="3600" b="1" dirty="0">
                <a:solidFill>
                  <a:schemeClr val="bg1"/>
                </a:solidFill>
                <a:latin typeface="微软雅黑" panose="020B0503020204020204" pitchFamily="34" charset="-122"/>
                <a:ea typeface="微软雅黑" panose="020B0503020204020204" pitchFamily="34" charset="-122"/>
              </a:rPr>
              <a:t>Rust</a:t>
            </a:r>
            <a:r>
              <a:rPr lang="zh-CN" altLang="en-US" sz="3600" b="1" dirty="0">
                <a:solidFill>
                  <a:schemeClr val="bg1"/>
                </a:solidFill>
                <a:latin typeface="微软雅黑" panose="020B0503020204020204" pitchFamily="34" charset="-122"/>
                <a:ea typeface="微软雅黑" panose="020B0503020204020204" pitchFamily="34" charset="-122"/>
              </a:rPr>
              <a:t>语法和语义规则</a:t>
            </a:r>
          </a:p>
        </p:txBody>
      </p:sp>
      <p:sp>
        <p:nvSpPr>
          <p:cNvPr id="2" name="文本框 1">
            <a:extLst>
              <a:ext uri="{FF2B5EF4-FFF2-40B4-BE49-F238E27FC236}">
                <a16:creationId xmlns:a16="http://schemas.microsoft.com/office/drawing/2014/main" id="{6513239D-91A6-F035-7DC8-31E83DCF1109}"/>
              </a:ext>
            </a:extLst>
          </p:cNvPr>
          <p:cNvSpPr txBox="1"/>
          <p:nvPr/>
        </p:nvSpPr>
        <p:spPr>
          <a:xfrm>
            <a:off x="0" y="864816"/>
            <a:ext cx="8328248" cy="5714962"/>
          </a:xfrm>
          <a:prstGeom prst="rect">
            <a:avLst/>
          </a:prstGeom>
          <a:noFill/>
        </p:spPr>
        <p:txBody>
          <a:bodyPr wrap="square">
            <a:spAutoFit/>
          </a:bodyPr>
          <a:lstStyle/>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4.1 </a:t>
            </a:r>
            <a:r>
              <a:rPr lang="zh-CN" altLang="en-US" sz="1800" b="1" dirty="0">
                <a:solidFill>
                  <a:srgbClr val="003366"/>
                </a:solidFill>
                <a:latin typeface="微软雅黑" panose="020B0503020204020204" pitchFamily="34" charset="-122"/>
                <a:ea typeface="微软雅黑" panose="020B0503020204020204" pitchFamily="34" charset="-122"/>
              </a:rPr>
              <a:t>选择结构（依赖</a:t>
            </a:r>
            <a:r>
              <a:rPr lang="en-US" altLang="zh-CN" sz="1800" b="1" dirty="0">
                <a:solidFill>
                  <a:srgbClr val="003366"/>
                </a:solidFill>
                <a:latin typeface="微软雅黑" panose="020B0503020204020204" pitchFamily="34" charset="-122"/>
                <a:ea typeface="微软雅黑" panose="020B0503020204020204" pitchFamily="34" charset="-122"/>
              </a:rPr>
              <a:t>1.1</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3.1</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1.2</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语句</a:t>
            </a:r>
            <a:r>
              <a:rPr lang="en-US" altLang="zh-CN" sz="1800" dirty="0">
                <a:solidFill>
                  <a:srgbClr val="003366"/>
                </a:solidFill>
                <a:latin typeface="微软雅黑" panose="020B0503020204020204" pitchFamily="34" charset="-122"/>
                <a:ea typeface="微软雅黑" panose="020B0503020204020204" pitchFamily="34" charset="-122"/>
              </a:rPr>
              <a:t>&gt; -&gt; &lt;if</a:t>
            </a:r>
            <a:r>
              <a:rPr lang="zh-CN" altLang="en-US" sz="1800" dirty="0">
                <a:solidFill>
                  <a:srgbClr val="003366"/>
                </a:solidFill>
                <a:latin typeface="微软雅黑" panose="020B0503020204020204" pitchFamily="34" charset="-122"/>
                <a:ea typeface="微软雅黑" panose="020B0503020204020204" pitchFamily="34" charset="-122"/>
              </a:rPr>
              <a:t>语句</a:t>
            </a:r>
            <a:r>
              <a:rPr lang="en-US" altLang="zh-CN" sz="18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&lt;if</a:t>
            </a:r>
            <a:r>
              <a:rPr lang="zh-CN" altLang="en-US" sz="1800" dirty="0">
                <a:solidFill>
                  <a:srgbClr val="003366"/>
                </a:solidFill>
                <a:latin typeface="微软雅黑" panose="020B0503020204020204" pitchFamily="34" charset="-122"/>
                <a:ea typeface="微软雅黑" panose="020B0503020204020204" pitchFamily="34" charset="-122"/>
              </a:rPr>
              <a:t>语句</a:t>
            </a:r>
            <a:r>
              <a:rPr lang="en-US" altLang="zh-CN" sz="1800" dirty="0">
                <a:solidFill>
                  <a:srgbClr val="003366"/>
                </a:solidFill>
                <a:latin typeface="微软雅黑" panose="020B0503020204020204" pitchFamily="34" charset="-122"/>
                <a:ea typeface="微软雅黑" panose="020B0503020204020204" pitchFamily="34" charset="-122"/>
              </a:rPr>
              <a:t>&gt; -&gt;  if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&lt;</a:t>
            </a:r>
            <a:r>
              <a:rPr lang="zh-CN" altLang="en-US" sz="1800" dirty="0">
                <a:solidFill>
                  <a:srgbClr val="003366"/>
                </a:solidFill>
                <a:latin typeface="微软雅黑" panose="020B0503020204020204" pitchFamily="34" charset="-122"/>
                <a:ea typeface="微软雅黑" panose="020B0503020204020204" pitchFamily="34" charset="-122"/>
              </a:rPr>
              <a:t>语句块</a:t>
            </a:r>
            <a:r>
              <a:rPr lang="en-US" altLang="zh-CN" sz="1800" dirty="0">
                <a:solidFill>
                  <a:srgbClr val="003366"/>
                </a:solidFill>
                <a:latin typeface="微软雅黑" panose="020B0503020204020204" pitchFamily="34" charset="-122"/>
                <a:ea typeface="微软雅黑" panose="020B0503020204020204" pitchFamily="34" charset="-122"/>
              </a:rPr>
              <a:t>&gt; &lt;else</a:t>
            </a:r>
            <a:r>
              <a:rPr lang="zh-CN" altLang="en-US" sz="1800" dirty="0">
                <a:solidFill>
                  <a:srgbClr val="003366"/>
                </a:solidFill>
                <a:latin typeface="微软雅黑" panose="020B0503020204020204" pitchFamily="34" charset="-122"/>
                <a:ea typeface="微软雅黑" panose="020B0503020204020204" pitchFamily="34" charset="-122"/>
              </a:rPr>
              <a:t>部分</a:t>
            </a:r>
            <a:r>
              <a:rPr lang="en-US" altLang="zh-CN" sz="18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&lt;else</a:t>
            </a:r>
            <a:r>
              <a:rPr lang="zh-CN" altLang="en-US" sz="1800" dirty="0">
                <a:solidFill>
                  <a:srgbClr val="003366"/>
                </a:solidFill>
                <a:latin typeface="微软雅黑" panose="020B0503020204020204" pitchFamily="34" charset="-122"/>
                <a:ea typeface="微软雅黑" panose="020B0503020204020204" pitchFamily="34" charset="-122"/>
              </a:rPr>
              <a:t>部分</a:t>
            </a:r>
            <a:r>
              <a:rPr lang="en-US" altLang="zh-CN" sz="1800" dirty="0">
                <a:solidFill>
                  <a:srgbClr val="003366"/>
                </a:solidFill>
                <a:latin typeface="微软雅黑" panose="020B0503020204020204" pitchFamily="34" charset="-122"/>
                <a:ea typeface="微软雅黑" panose="020B0503020204020204" pitchFamily="34" charset="-122"/>
              </a:rPr>
              <a:t>&gt; -&gt; </a:t>
            </a:r>
            <a:r>
              <a:rPr lang="zh-CN" altLang="en-US" sz="1800" dirty="0">
                <a:solidFill>
                  <a:srgbClr val="003366"/>
                </a:solidFill>
                <a:latin typeface="微软雅黑" panose="020B0503020204020204" pitchFamily="34" charset="-122"/>
                <a:ea typeface="微软雅黑" panose="020B0503020204020204" pitchFamily="34" charset="-122"/>
              </a:rPr>
              <a:t>空</a:t>
            </a:r>
            <a:endParaRPr lang="en-US" altLang="zh-CN" sz="1800" dirty="0">
              <a:solidFill>
                <a:srgbClr val="003366"/>
              </a:solidFill>
              <a:latin typeface="微软雅黑" panose="020B0503020204020204" pitchFamily="34" charset="-122"/>
              <a:ea typeface="微软雅黑" panose="020B0503020204020204" pitchFamily="34" charset="-122"/>
            </a:endParaRP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语义说明：支持</a:t>
            </a:r>
            <a:r>
              <a:rPr lang="en-US" altLang="zh-CN" sz="1800" dirty="0">
                <a:solidFill>
                  <a:srgbClr val="003366"/>
                </a:solidFill>
                <a:latin typeface="微软雅黑" panose="020B0503020204020204" pitchFamily="34" charset="-122"/>
                <a:ea typeface="微软雅黑" panose="020B0503020204020204" pitchFamily="34" charset="-122"/>
              </a:rPr>
              <a:t> if </a:t>
            </a:r>
            <a:r>
              <a:rPr lang="zh-CN" altLang="en-US" sz="1800" dirty="0">
                <a:solidFill>
                  <a:srgbClr val="003366"/>
                </a:solidFill>
                <a:latin typeface="微软雅黑" panose="020B0503020204020204" pitchFamily="34" charset="-122"/>
                <a:ea typeface="微软雅黑" panose="020B0503020204020204" pitchFamily="34" charset="-122"/>
              </a:rPr>
              <a:t>条件分支语句，若 </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为真，则执行 </a:t>
            </a:r>
            <a:r>
              <a:rPr lang="en-US" altLang="zh-CN" sz="1800" dirty="0">
                <a:solidFill>
                  <a:srgbClr val="003366"/>
                </a:solidFill>
                <a:latin typeface="微软雅黑" panose="020B0503020204020204" pitchFamily="34" charset="-122"/>
                <a:ea typeface="微软雅黑" panose="020B0503020204020204" pitchFamily="34" charset="-122"/>
              </a:rPr>
              <a:t>if </a:t>
            </a:r>
            <a:r>
              <a:rPr lang="zh-CN" altLang="en-US" sz="1800" dirty="0">
                <a:solidFill>
                  <a:srgbClr val="003366"/>
                </a:solidFill>
                <a:latin typeface="微软雅黑" panose="020B0503020204020204" pitchFamily="34" charset="-122"/>
                <a:ea typeface="微软雅黑" panose="020B0503020204020204" pitchFamily="34" charset="-122"/>
              </a:rPr>
              <a:t>后的 </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语句块</a:t>
            </a:r>
            <a:r>
              <a:rPr lang="en-US" altLang="zh-CN" sz="1800" dirty="0">
                <a:solidFill>
                  <a:srgbClr val="003366"/>
                </a:solidFill>
                <a:latin typeface="微软雅黑" panose="020B0503020204020204" pitchFamily="34" charset="-122"/>
                <a:ea typeface="微软雅黑" panose="020B0503020204020204" pitchFamily="34" charset="-122"/>
              </a:rPr>
              <a:t>&gt;</a:t>
            </a:r>
            <a:r>
              <a:rPr lang="zh-CN" altLang="en-US" sz="1800" dirty="0">
                <a:solidFill>
                  <a:srgbClr val="003366"/>
                </a:solidFill>
                <a:latin typeface="微软雅黑" panose="020B0503020204020204" pitchFamily="34" charset="-122"/>
                <a:ea typeface="微软雅黑" panose="020B0503020204020204" pitchFamily="34" charset="-122"/>
              </a:rPr>
              <a:t>。</a:t>
            </a:r>
            <a:endParaRPr lang="en-US" altLang="zh-CN" sz="1800" dirty="0">
              <a:solidFill>
                <a:srgbClr val="003366"/>
              </a:solidFill>
              <a:latin typeface="微软雅黑" panose="020B0503020204020204" pitchFamily="34" charset="-122"/>
              <a:ea typeface="微软雅黑" panose="020B0503020204020204" pitchFamily="34" charset="-122"/>
            </a:endParaRPr>
          </a:p>
          <a:p>
            <a:pPr marL="0" lvl="1" indent="457200">
              <a:lnSpc>
                <a:spcPct val="120000"/>
              </a:lnSpc>
            </a:pPr>
            <a:endParaRPr lang="en-US" altLang="zh-CN" sz="1800" dirty="0">
              <a:solidFill>
                <a:srgbClr val="003366"/>
              </a:solidFill>
              <a:latin typeface="微软雅黑" panose="020B0503020204020204" pitchFamily="34" charset="-122"/>
              <a:ea typeface="微软雅黑" panose="020B0503020204020204" pitchFamily="34" charset="-122"/>
            </a:endParaRPr>
          </a:p>
          <a:p>
            <a:pPr marL="381000" indent="-5334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4.2 </a:t>
            </a:r>
            <a:r>
              <a:rPr lang="zh-CN" altLang="en-US" sz="1800" b="1" dirty="0">
                <a:solidFill>
                  <a:srgbClr val="003366"/>
                </a:solidFill>
                <a:latin typeface="微软雅黑" panose="020B0503020204020204" pitchFamily="34" charset="-122"/>
                <a:ea typeface="微软雅黑" panose="020B0503020204020204" pitchFamily="34" charset="-122"/>
              </a:rPr>
              <a:t>增加</a:t>
            </a:r>
            <a:r>
              <a:rPr lang="en-US" altLang="zh-CN" sz="1800" b="1" dirty="0">
                <a:solidFill>
                  <a:srgbClr val="003366"/>
                </a:solidFill>
                <a:latin typeface="微软雅黑" panose="020B0503020204020204" pitchFamily="34" charset="-122"/>
                <a:ea typeface="微软雅黑" panose="020B0503020204020204" pitchFamily="34" charset="-122"/>
              </a:rPr>
              <a:t>else</a:t>
            </a:r>
            <a:r>
              <a:rPr lang="zh-CN" altLang="en-US" sz="1800" b="1" dirty="0">
                <a:solidFill>
                  <a:srgbClr val="003366"/>
                </a:solidFill>
                <a:latin typeface="微软雅黑" panose="020B0503020204020204" pitchFamily="34" charset="-122"/>
                <a:ea typeface="微软雅黑" panose="020B0503020204020204" pitchFamily="34" charset="-122"/>
              </a:rPr>
              <a:t>（依赖</a:t>
            </a:r>
            <a:r>
              <a:rPr lang="en-US" altLang="zh-CN" sz="1800" b="1" dirty="0">
                <a:solidFill>
                  <a:srgbClr val="003366"/>
                </a:solidFill>
                <a:latin typeface="微软雅黑" panose="020B0503020204020204" pitchFamily="34" charset="-122"/>
                <a:ea typeface="微软雅黑" panose="020B0503020204020204" pitchFamily="34" charset="-122"/>
              </a:rPr>
              <a:t>1.1</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4.1</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90600" lvl="1" indent="-5334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&lt;else</a:t>
            </a:r>
            <a:r>
              <a:rPr lang="zh-CN" altLang="en-US" sz="1800" dirty="0">
                <a:solidFill>
                  <a:srgbClr val="003366"/>
                </a:solidFill>
                <a:latin typeface="微软雅黑" panose="020B0503020204020204" pitchFamily="34" charset="-122"/>
                <a:ea typeface="微软雅黑" panose="020B0503020204020204" pitchFamily="34" charset="-122"/>
              </a:rPr>
              <a:t>部分</a:t>
            </a:r>
            <a:r>
              <a:rPr lang="en-US" altLang="zh-CN" sz="1800" dirty="0">
                <a:solidFill>
                  <a:srgbClr val="003366"/>
                </a:solidFill>
                <a:latin typeface="微软雅黑" panose="020B0503020204020204" pitchFamily="34" charset="-122"/>
                <a:ea typeface="微软雅黑" panose="020B0503020204020204" pitchFamily="34" charset="-122"/>
              </a:rPr>
              <a:t>&gt; -&gt; else &lt;</a:t>
            </a:r>
            <a:r>
              <a:rPr lang="zh-CN" altLang="en-US" sz="1800" dirty="0">
                <a:solidFill>
                  <a:srgbClr val="003366"/>
                </a:solidFill>
                <a:latin typeface="微软雅黑" panose="020B0503020204020204" pitchFamily="34" charset="-122"/>
                <a:ea typeface="微软雅黑" panose="020B0503020204020204" pitchFamily="34" charset="-122"/>
              </a:rPr>
              <a:t>语句块</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语义说明：拓展</a:t>
            </a:r>
            <a:r>
              <a:rPr lang="en-US" altLang="zh-CN" sz="1800" dirty="0">
                <a:solidFill>
                  <a:srgbClr val="003366"/>
                </a:solidFill>
                <a:latin typeface="微软雅黑" panose="020B0503020204020204" pitchFamily="34" charset="-122"/>
                <a:ea typeface="微软雅黑" panose="020B0503020204020204" pitchFamily="34" charset="-122"/>
              </a:rPr>
              <a:t>else</a:t>
            </a:r>
            <a:r>
              <a:rPr lang="zh-CN" altLang="en-US" sz="1800" dirty="0">
                <a:solidFill>
                  <a:srgbClr val="003366"/>
                </a:solidFill>
                <a:latin typeface="微软雅黑" panose="020B0503020204020204" pitchFamily="34" charset="-122"/>
                <a:ea typeface="微软雅黑" panose="020B0503020204020204" pitchFamily="34" charset="-122"/>
              </a:rPr>
              <a:t>分支，若前一个</a:t>
            </a:r>
            <a:r>
              <a:rPr lang="en-US" altLang="zh-CN" sz="1800" dirty="0">
                <a:solidFill>
                  <a:srgbClr val="003366"/>
                </a:solidFill>
                <a:latin typeface="微软雅黑" panose="020B0503020204020204" pitchFamily="34" charset="-122"/>
                <a:ea typeface="微软雅黑" panose="020B0503020204020204" pitchFamily="34" charset="-122"/>
              </a:rPr>
              <a:t>if</a:t>
            </a:r>
            <a:r>
              <a:rPr lang="zh-CN" altLang="en-US" sz="1800" dirty="0">
                <a:solidFill>
                  <a:srgbClr val="003366"/>
                </a:solidFill>
                <a:latin typeface="微软雅黑" panose="020B0503020204020204" pitchFamily="34" charset="-122"/>
                <a:ea typeface="微软雅黑" panose="020B0503020204020204" pitchFamily="34" charset="-122"/>
              </a:rPr>
              <a:t>条件不成立，则执行 </a:t>
            </a:r>
            <a:r>
              <a:rPr lang="en-US" altLang="zh-CN" sz="1800" dirty="0">
                <a:solidFill>
                  <a:srgbClr val="003366"/>
                </a:solidFill>
                <a:latin typeface="微软雅黑" panose="020B0503020204020204" pitchFamily="34" charset="-122"/>
                <a:ea typeface="微软雅黑" panose="020B0503020204020204" pitchFamily="34" charset="-122"/>
              </a:rPr>
              <a:t>else </a:t>
            </a:r>
            <a:r>
              <a:rPr lang="zh-CN" altLang="en-US" sz="1800" dirty="0">
                <a:solidFill>
                  <a:srgbClr val="003366"/>
                </a:solidFill>
                <a:latin typeface="微软雅黑" panose="020B0503020204020204" pitchFamily="34" charset="-122"/>
                <a:ea typeface="微软雅黑" panose="020B0503020204020204" pitchFamily="34" charset="-122"/>
              </a:rPr>
              <a:t>后的 </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语句块</a:t>
            </a:r>
            <a:r>
              <a:rPr lang="en-US" altLang="zh-CN" sz="1800" dirty="0">
                <a:solidFill>
                  <a:srgbClr val="003366"/>
                </a:solidFill>
                <a:latin typeface="微软雅黑" panose="020B0503020204020204" pitchFamily="34" charset="-122"/>
                <a:ea typeface="微软雅黑" panose="020B0503020204020204" pitchFamily="34" charset="-122"/>
              </a:rPr>
              <a:t>&gt;</a:t>
            </a:r>
            <a:r>
              <a:rPr lang="zh-CN" altLang="en-US" sz="1800" dirty="0">
                <a:solidFill>
                  <a:srgbClr val="003366"/>
                </a:solidFill>
                <a:latin typeface="微软雅黑" panose="020B0503020204020204" pitchFamily="34" charset="-122"/>
                <a:ea typeface="微软雅黑" panose="020B0503020204020204" pitchFamily="34" charset="-122"/>
              </a:rPr>
              <a:t>。</a:t>
            </a:r>
            <a:endParaRPr lang="en-US" altLang="zh-CN" sz="1800" dirty="0">
              <a:solidFill>
                <a:srgbClr val="003366"/>
              </a:solidFill>
              <a:latin typeface="微软雅黑" panose="020B0503020204020204" pitchFamily="34" charset="-122"/>
              <a:ea typeface="微软雅黑" panose="020B0503020204020204" pitchFamily="34" charset="-122"/>
            </a:endParaRPr>
          </a:p>
          <a:p>
            <a:pPr marL="0" lvl="1" indent="457200">
              <a:lnSpc>
                <a:spcPct val="120000"/>
              </a:lnSpc>
            </a:pPr>
            <a:endParaRPr lang="en-US" altLang="zh-CN" sz="1800" dirty="0">
              <a:solidFill>
                <a:srgbClr val="003366"/>
              </a:solidFill>
              <a:latin typeface="微软雅黑" panose="020B0503020204020204" pitchFamily="34" charset="-122"/>
              <a:ea typeface="微软雅黑" panose="020B0503020204020204" pitchFamily="34" charset="-122"/>
            </a:endParaRPr>
          </a:p>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4.3 </a:t>
            </a:r>
            <a:r>
              <a:rPr lang="zh-CN" altLang="en-US" sz="1800" b="1" dirty="0">
                <a:solidFill>
                  <a:srgbClr val="003366"/>
                </a:solidFill>
                <a:latin typeface="微软雅黑" panose="020B0503020204020204" pitchFamily="34" charset="-122"/>
                <a:ea typeface="微软雅黑" panose="020B0503020204020204" pitchFamily="34" charset="-122"/>
              </a:rPr>
              <a:t>增加</a:t>
            </a:r>
            <a:r>
              <a:rPr lang="en-US" altLang="zh-CN" sz="1800" b="1" dirty="0">
                <a:solidFill>
                  <a:srgbClr val="003366"/>
                </a:solidFill>
                <a:latin typeface="微软雅黑" panose="020B0503020204020204" pitchFamily="34" charset="-122"/>
                <a:ea typeface="微软雅黑" panose="020B0503020204020204" pitchFamily="34" charset="-122"/>
              </a:rPr>
              <a:t>else if</a:t>
            </a:r>
            <a:r>
              <a:rPr lang="zh-CN" altLang="en-US" sz="1800" b="1" dirty="0">
                <a:solidFill>
                  <a:srgbClr val="003366"/>
                </a:solidFill>
                <a:latin typeface="微软雅黑" panose="020B0503020204020204" pitchFamily="34" charset="-122"/>
                <a:ea typeface="微软雅黑" panose="020B0503020204020204" pitchFamily="34" charset="-122"/>
              </a:rPr>
              <a:t>（依赖</a:t>
            </a:r>
            <a:r>
              <a:rPr lang="en-US" altLang="zh-CN" sz="1800" b="1" dirty="0">
                <a:solidFill>
                  <a:srgbClr val="003366"/>
                </a:solidFill>
                <a:latin typeface="微软雅黑" panose="020B0503020204020204" pitchFamily="34" charset="-122"/>
                <a:ea typeface="微软雅黑" panose="020B0503020204020204" pitchFamily="34" charset="-122"/>
              </a:rPr>
              <a:t>1.1</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4.1</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&lt;else</a:t>
            </a:r>
            <a:r>
              <a:rPr lang="zh-CN" altLang="en-US" sz="1800" dirty="0">
                <a:solidFill>
                  <a:srgbClr val="003366"/>
                </a:solidFill>
                <a:latin typeface="微软雅黑" panose="020B0503020204020204" pitchFamily="34" charset="-122"/>
                <a:ea typeface="微软雅黑" panose="020B0503020204020204" pitchFamily="34" charset="-122"/>
              </a:rPr>
              <a:t>部分</a:t>
            </a:r>
            <a:r>
              <a:rPr lang="en-US" altLang="zh-CN" sz="1800" dirty="0">
                <a:solidFill>
                  <a:srgbClr val="003366"/>
                </a:solidFill>
                <a:latin typeface="微软雅黑" panose="020B0503020204020204" pitchFamily="34" charset="-122"/>
                <a:ea typeface="微软雅黑" panose="020B0503020204020204" pitchFamily="34" charset="-122"/>
              </a:rPr>
              <a:t>&gt; -&gt; else if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&lt;</a:t>
            </a:r>
            <a:r>
              <a:rPr lang="zh-CN" altLang="en-US" sz="1800" dirty="0">
                <a:solidFill>
                  <a:srgbClr val="003366"/>
                </a:solidFill>
                <a:latin typeface="微软雅黑" panose="020B0503020204020204" pitchFamily="34" charset="-122"/>
                <a:ea typeface="微软雅黑" panose="020B0503020204020204" pitchFamily="34" charset="-122"/>
              </a:rPr>
              <a:t>语句块</a:t>
            </a:r>
            <a:r>
              <a:rPr lang="en-US" altLang="zh-CN" sz="1800" dirty="0">
                <a:solidFill>
                  <a:srgbClr val="003366"/>
                </a:solidFill>
                <a:latin typeface="微软雅黑" panose="020B0503020204020204" pitchFamily="34" charset="-122"/>
                <a:ea typeface="微软雅黑" panose="020B0503020204020204" pitchFamily="34" charset="-122"/>
              </a:rPr>
              <a:t>&gt; &lt;else</a:t>
            </a:r>
            <a:r>
              <a:rPr lang="zh-CN" altLang="en-US" sz="1800" dirty="0">
                <a:solidFill>
                  <a:srgbClr val="003366"/>
                </a:solidFill>
                <a:latin typeface="微软雅黑" panose="020B0503020204020204" pitchFamily="34" charset="-122"/>
                <a:ea typeface="微软雅黑" panose="020B0503020204020204" pitchFamily="34" charset="-122"/>
              </a:rPr>
              <a:t>部分</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语义说明：拓展 </a:t>
            </a:r>
            <a:r>
              <a:rPr lang="en-US" altLang="zh-CN" sz="1800" dirty="0">
                <a:solidFill>
                  <a:srgbClr val="003366"/>
                </a:solidFill>
                <a:latin typeface="微软雅黑" panose="020B0503020204020204" pitchFamily="34" charset="-122"/>
                <a:ea typeface="微软雅黑" panose="020B0503020204020204" pitchFamily="34" charset="-122"/>
              </a:rPr>
              <a:t>else if </a:t>
            </a:r>
            <a:r>
              <a:rPr lang="zh-CN" altLang="en-US" sz="1800" dirty="0">
                <a:solidFill>
                  <a:srgbClr val="003366"/>
                </a:solidFill>
                <a:latin typeface="微软雅黑" panose="020B0503020204020204" pitchFamily="34" charset="-122"/>
                <a:ea typeface="微软雅黑" panose="020B0503020204020204" pitchFamily="34" charset="-122"/>
              </a:rPr>
              <a:t>分支，若前一个 </a:t>
            </a:r>
            <a:r>
              <a:rPr lang="en-US" altLang="zh-CN" sz="1800" dirty="0">
                <a:solidFill>
                  <a:srgbClr val="003366"/>
                </a:solidFill>
                <a:latin typeface="微软雅黑" panose="020B0503020204020204" pitchFamily="34" charset="-122"/>
                <a:ea typeface="微软雅黑" panose="020B0503020204020204" pitchFamily="34" charset="-122"/>
              </a:rPr>
              <a:t>if </a:t>
            </a:r>
            <a:r>
              <a:rPr lang="zh-CN" altLang="en-US" sz="1800" dirty="0">
                <a:solidFill>
                  <a:srgbClr val="003366"/>
                </a:solidFill>
                <a:latin typeface="微软雅黑" panose="020B0503020204020204" pitchFamily="34" charset="-122"/>
                <a:ea typeface="微软雅黑" panose="020B0503020204020204" pitchFamily="34" charset="-122"/>
              </a:rPr>
              <a:t>或 </a:t>
            </a:r>
            <a:r>
              <a:rPr lang="en-US" altLang="zh-CN" sz="1800" dirty="0">
                <a:solidFill>
                  <a:srgbClr val="003366"/>
                </a:solidFill>
                <a:latin typeface="微软雅黑" panose="020B0503020204020204" pitchFamily="34" charset="-122"/>
                <a:ea typeface="微软雅黑" panose="020B0503020204020204" pitchFamily="34" charset="-122"/>
              </a:rPr>
              <a:t>else if </a:t>
            </a:r>
            <a:r>
              <a:rPr lang="zh-CN" altLang="en-US" sz="1800" dirty="0">
                <a:solidFill>
                  <a:srgbClr val="003366"/>
                </a:solidFill>
                <a:latin typeface="微软雅黑" panose="020B0503020204020204" pitchFamily="34" charset="-122"/>
                <a:ea typeface="微软雅黑" panose="020B0503020204020204" pitchFamily="34" charset="-122"/>
              </a:rPr>
              <a:t>条件不成立，则评估此分支的 </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a:t>
            </a:r>
            <a:r>
              <a:rPr lang="zh-CN" altLang="en-US" sz="1800" dirty="0">
                <a:solidFill>
                  <a:srgbClr val="003366"/>
                </a:solidFill>
                <a:latin typeface="微软雅黑" panose="020B0503020204020204" pitchFamily="34" charset="-122"/>
                <a:ea typeface="微软雅黑" panose="020B0503020204020204" pitchFamily="34" charset="-122"/>
              </a:rPr>
              <a:t>，若为真则执行该 </a:t>
            </a:r>
            <a:r>
              <a:rPr lang="en-US" altLang="zh-CN" sz="1800" dirty="0">
                <a:solidFill>
                  <a:srgbClr val="003366"/>
                </a:solidFill>
                <a:latin typeface="微软雅黑" panose="020B0503020204020204" pitchFamily="34" charset="-122"/>
                <a:ea typeface="微软雅黑" panose="020B0503020204020204" pitchFamily="34" charset="-122"/>
              </a:rPr>
              <a:t>else if </a:t>
            </a:r>
            <a:r>
              <a:rPr lang="zh-CN" altLang="en-US" sz="1800" dirty="0">
                <a:solidFill>
                  <a:srgbClr val="003366"/>
                </a:solidFill>
                <a:latin typeface="微软雅黑" panose="020B0503020204020204" pitchFamily="34" charset="-122"/>
                <a:ea typeface="微软雅黑" panose="020B0503020204020204" pitchFamily="34" charset="-122"/>
              </a:rPr>
              <a:t>后的 </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语句块</a:t>
            </a:r>
            <a:r>
              <a:rPr lang="en-US" altLang="zh-CN" sz="1800" dirty="0">
                <a:solidFill>
                  <a:srgbClr val="003366"/>
                </a:solidFill>
                <a:latin typeface="微软雅黑" panose="020B0503020204020204" pitchFamily="34" charset="-122"/>
                <a:ea typeface="微软雅黑" panose="020B0503020204020204" pitchFamily="34" charset="-122"/>
              </a:rPr>
              <a:t>&gt;</a:t>
            </a:r>
            <a:r>
              <a:rPr lang="zh-CN" altLang="en-US" sz="1800" dirty="0">
                <a:solidFill>
                  <a:srgbClr val="003366"/>
                </a:solidFill>
                <a:latin typeface="微软雅黑" panose="020B0503020204020204" pitchFamily="34" charset="-122"/>
                <a:ea typeface="微软雅黑" panose="020B0503020204020204" pitchFamily="34" charset="-122"/>
              </a:rPr>
              <a:t>。</a:t>
            </a:r>
          </a:p>
          <a:p>
            <a:pPr marL="0" lvl="1" indent="457200">
              <a:lnSpc>
                <a:spcPct val="120000"/>
              </a:lnSpc>
            </a:pPr>
            <a:endParaRPr lang="zh-CN" altLang="en-US" sz="1800" dirty="0">
              <a:solidFill>
                <a:srgbClr val="003366"/>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E27BDC66-BAF1-F5BB-F092-3BB1E202E2C8}"/>
              </a:ext>
            </a:extLst>
          </p:cNvPr>
          <p:cNvSpPr txBox="1"/>
          <p:nvPr/>
        </p:nvSpPr>
        <p:spPr>
          <a:xfrm>
            <a:off x="8304212" y="856357"/>
            <a:ext cx="3789536" cy="6001643"/>
          </a:xfrm>
          <a:prstGeom prst="rect">
            <a:avLst/>
          </a:prstGeom>
          <a:noFill/>
        </p:spPr>
        <p:txBody>
          <a:bodyPr wrap="square">
            <a:spAutoFit/>
          </a:bodyPr>
          <a:lstStyle/>
          <a:p>
            <a:pPr marL="0" lvl="1" eaLnBrk="1" hangingPunct="1"/>
            <a:r>
              <a:rPr lang="en-US" altLang="zh-CN" sz="1600" dirty="0">
                <a:latin typeface="微软雅黑" panose="020B0503020204020204" pitchFamily="34" charset="-122"/>
                <a:ea typeface="微软雅黑" panose="020B0503020204020204" pitchFamily="34" charset="-122"/>
              </a:rPr>
              <a:t>fn program_4_1(mut a:i32) -&gt; i32 {</a:t>
            </a:r>
          </a:p>
          <a:p>
            <a:pPr marL="0" lvl="1" eaLnBrk="1" hangingPunct="1"/>
            <a:r>
              <a:rPr lang="en-US" altLang="zh-CN" sz="1600" dirty="0">
                <a:latin typeface="微软雅黑" panose="020B0503020204020204" pitchFamily="34" charset="-122"/>
                <a:ea typeface="微软雅黑" panose="020B0503020204020204" pitchFamily="34" charset="-122"/>
              </a:rPr>
              <a:t>    if a&gt;0 {</a:t>
            </a:r>
          </a:p>
          <a:p>
            <a:pPr marL="0" lvl="1" eaLnBrk="1" hangingPunct="1"/>
            <a:r>
              <a:rPr lang="en-US" altLang="zh-CN" sz="1600" dirty="0">
                <a:latin typeface="微软雅黑" panose="020B0503020204020204" pitchFamily="34" charset="-122"/>
                <a:ea typeface="微软雅黑" panose="020B0503020204020204" pitchFamily="34" charset="-122"/>
              </a:rPr>
              <a:t>        return 1;</a:t>
            </a:r>
          </a:p>
          <a:p>
            <a:pPr marL="0" lvl="1" eaLnBrk="1" hangingPunct="1"/>
            <a:r>
              <a:rPr lang="en-US" altLang="zh-CN" sz="1600" dirty="0">
                <a:latin typeface="微软雅黑" panose="020B0503020204020204" pitchFamily="34" charset="-122"/>
                <a:ea typeface="微软雅黑" panose="020B0503020204020204" pitchFamily="34" charset="-122"/>
              </a:rPr>
              <a:t>    }</a:t>
            </a:r>
          </a:p>
          <a:p>
            <a:pPr marL="0" lvl="1" eaLnBrk="1" hangingPunct="1"/>
            <a:r>
              <a:rPr lang="en-US" altLang="zh-CN" sz="1600" dirty="0">
                <a:latin typeface="微软雅黑" panose="020B0503020204020204" pitchFamily="34" charset="-122"/>
                <a:ea typeface="微软雅黑" panose="020B0503020204020204" pitchFamily="34" charset="-122"/>
              </a:rPr>
              <a:t>    return 0;</a:t>
            </a:r>
          </a:p>
          <a:p>
            <a:pPr marL="0" lvl="1" eaLnBrk="1" hangingPunct="1"/>
            <a:r>
              <a:rPr lang="en-US" altLang="zh-CN" sz="1600" dirty="0">
                <a:latin typeface="微软雅黑" panose="020B0503020204020204" pitchFamily="34" charset="-122"/>
                <a:ea typeface="微软雅黑" panose="020B0503020204020204" pitchFamily="34" charset="-122"/>
              </a:rPr>
              <a:t>}</a:t>
            </a:r>
          </a:p>
          <a:p>
            <a:pPr marL="0" lvl="1" eaLnBrk="1" hangingPunct="1"/>
            <a:endParaRPr lang="en-US" altLang="zh-CN" sz="1600" dirty="0">
              <a:latin typeface="微软雅黑" panose="020B0503020204020204" pitchFamily="34" charset="-122"/>
              <a:ea typeface="微软雅黑" panose="020B0503020204020204" pitchFamily="34" charset="-122"/>
            </a:endParaRPr>
          </a:p>
          <a:p>
            <a:pPr marL="0" lvl="1" eaLnBrk="1" hangingPunct="1"/>
            <a:r>
              <a:rPr lang="en-US" altLang="zh-CN" sz="1600" dirty="0">
                <a:latin typeface="微软雅黑" panose="020B0503020204020204" pitchFamily="34" charset="-122"/>
                <a:ea typeface="微软雅黑" panose="020B0503020204020204" pitchFamily="34" charset="-122"/>
              </a:rPr>
              <a:t>fn program_4_2(mut a:i32) -&gt; i32 {</a:t>
            </a:r>
          </a:p>
          <a:p>
            <a:pPr marL="0" lvl="1" eaLnBrk="1" hangingPunct="1"/>
            <a:r>
              <a:rPr lang="en-US" altLang="zh-CN" sz="1600" dirty="0">
                <a:latin typeface="微软雅黑" panose="020B0503020204020204" pitchFamily="34" charset="-122"/>
                <a:ea typeface="微软雅黑" panose="020B0503020204020204" pitchFamily="34" charset="-122"/>
              </a:rPr>
              <a:t>    if a&gt;0 {</a:t>
            </a:r>
          </a:p>
          <a:p>
            <a:pPr marL="0" lvl="1" eaLnBrk="1" hangingPunct="1"/>
            <a:r>
              <a:rPr lang="en-US" altLang="zh-CN" sz="1600" dirty="0">
                <a:latin typeface="微软雅黑" panose="020B0503020204020204" pitchFamily="34" charset="-122"/>
                <a:ea typeface="微软雅黑" panose="020B0503020204020204" pitchFamily="34" charset="-122"/>
              </a:rPr>
              <a:t>        return 1;</a:t>
            </a:r>
          </a:p>
          <a:p>
            <a:pPr marL="0" lvl="1" eaLnBrk="1" hangingPunct="1"/>
            <a:r>
              <a:rPr lang="en-US" altLang="zh-CN" sz="1600" dirty="0">
                <a:latin typeface="微软雅黑" panose="020B0503020204020204" pitchFamily="34" charset="-122"/>
                <a:ea typeface="微软雅黑" panose="020B0503020204020204" pitchFamily="34" charset="-122"/>
              </a:rPr>
              <a:t>    } else {</a:t>
            </a:r>
          </a:p>
          <a:p>
            <a:pPr marL="0" lvl="1" eaLnBrk="1" hangingPunct="1"/>
            <a:r>
              <a:rPr lang="en-US" altLang="zh-CN" sz="1600" dirty="0">
                <a:latin typeface="微软雅黑" panose="020B0503020204020204" pitchFamily="34" charset="-122"/>
                <a:ea typeface="微软雅黑" panose="020B0503020204020204" pitchFamily="34" charset="-122"/>
              </a:rPr>
              <a:t>        return 0;</a:t>
            </a:r>
          </a:p>
          <a:p>
            <a:pPr marL="0" lvl="1" eaLnBrk="1" hangingPunct="1"/>
            <a:r>
              <a:rPr lang="en-US" altLang="zh-CN" sz="1600" dirty="0">
                <a:latin typeface="微软雅黑" panose="020B0503020204020204" pitchFamily="34" charset="-122"/>
                <a:ea typeface="微软雅黑" panose="020B0503020204020204" pitchFamily="34" charset="-122"/>
              </a:rPr>
              <a:t>    }</a:t>
            </a:r>
          </a:p>
          <a:p>
            <a:pPr marL="0" lvl="1" eaLnBrk="1" hangingPunct="1"/>
            <a:r>
              <a:rPr lang="en-US" altLang="zh-CN" sz="1600" dirty="0">
                <a:latin typeface="微软雅黑" panose="020B0503020204020204" pitchFamily="34" charset="-122"/>
                <a:ea typeface="微软雅黑" panose="020B0503020204020204" pitchFamily="34" charset="-122"/>
              </a:rPr>
              <a:t>}</a:t>
            </a:r>
          </a:p>
          <a:p>
            <a:pPr marL="0" lvl="1" eaLnBrk="1" hangingPunct="1"/>
            <a:endParaRPr lang="nn-NO" altLang="zh-CN" sz="1600" dirty="0">
              <a:latin typeface="微软雅黑" panose="020B0503020204020204" pitchFamily="34" charset="-122"/>
              <a:ea typeface="微软雅黑" panose="020B0503020204020204" pitchFamily="34" charset="-122"/>
            </a:endParaRPr>
          </a:p>
          <a:p>
            <a:pPr marL="0" lvl="1" eaLnBrk="1" hangingPunct="1"/>
            <a:r>
              <a:rPr lang="en-US" altLang="zh-CN" sz="1600" dirty="0">
                <a:latin typeface="微软雅黑" panose="020B0503020204020204" pitchFamily="34" charset="-122"/>
                <a:ea typeface="微软雅黑" panose="020B0503020204020204" pitchFamily="34" charset="-122"/>
              </a:rPr>
              <a:t>fn program_4_3(mut a:i32) -&gt; i32 {</a:t>
            </a:r>
          </a:p>
          <a:p>
            <a:pPr marL="0" lvl="1" eaLnBrk="1" hangingPunct="1"/>
            <a:r>
              <a:rPr lang="en-US" altLang="zh-CN" sz="1600" dirty="0">
                <a:latin typeface="微软雅黑" panose="020B0503020204020204" pitchFamily="34" charset="-122"/>
                <a:ea typeface="微软雅黑" panose="020B0503020204020204" pitchFamily="34" charset="-122"/>
              </a:rPr>
              <a:t>    if a&gt;0 {</a:t>
            </a:r>
          </a:p>
          <a:p>
            <a:pPr marL="0" lvl="1" eaLnBrk="1" hangingPunct="1"/>
            <a:r>
              <a:rPr lang="en-US" altLang="zh-CN" sz="1600" dirty="0">
                <a:latin typeface="微软雅黑" panose="020B0503020204020204" pitchFamily="34" charset="-122"/>
                <a:ea typeface="微软雅黑" panose="020B0503020204020204" pitchFamily="34" charset="-122"/>
              </a:rPr>
              <a:t>        return a+1;</a:t>
            </a:r>
          </a:p>
          <a:p>
            <a:pPr marL="0" lvl="1" eaLnBrk="1" hangingPunct="1"/>
            <a:r>
              <a:rPr lang="en-US" altLang="zh-CN" sz="1600" dirty="0">
                <a:latin typeface="微软雅黑" panose="020B0503020204020204" pitchFamily="34" charset="-122"/>
                <a:ea typeface="微软雅黑" panose="020B0503020204020204" pitchFamily="34" charset="-122"/>
              </a:rPr>
              <a:t>    } else if a&lt;0 {</a:t>
            </a:r>
          </a:p>
          <a:p>
            <a:pPr marL="0" lvl="1" eaLnBrk="1" hangingPunct="1"/>
            <a:r>
              <a:rPr lang="en-US" altLang="zh-CN" sz="1600" dirty="0">
                <a:latin typeface="微软雅黑" panose="020B0503020204020204" pitchFamily="34" charset="-122"/>
                <a:ea typeface="微软雅黑" panose="020B0503020204020204" pitchFamily="34" charset="-122"/>
              </a:rPr>
              <a:t>        return a-1;</a:t>
            </a:r>
          </a:p>
          <a:p>
            <a:pPr marL="0" lvl="1" eaLnBrk="1" hangingPunct="1"/>
            <a:r>
              <a:rPr lang="en-US" altLang="zh-CN" sz="1600" dirty="0">
                <a:latin typeface="微软雅黑" panose="020B0503020204020204" pitchFamily="34" charset="-122"/>
                <a:ea typeface="微软雅黑" panose="020B0503020204020204" pitchFamily="34" charset="-122"/>
              </a:rPr>
              <a:t>    } else {</a:t>
            </a:r>
          </a:p>
          <a:p>
            <a:pPr marL="0" lvl="1" eaLnBrk="1" hangingPunct="1"/>
            <a:r>
              <a:rPr lang="en-US" altLang="zh-CN" sz="1600" dirty="0">
                <a:latin typeface="微软雅黑" panose="020B0503020204020204" pitchFamily="34" charset="-122"/>
                <a:ea typeface="微软雅黑" panose="020B0503020204020204" pitchFamily="34" charset="-122"/>
              </a:rPr>
              <a:t>        return 0;</a:t>
            </a:r>
          </a:p>
          <a:p>
            <a:pPr marL="0" lvl="1" eaLnBrk="1" hangingPunct="1"/>
            <a:r>
              <a:rPr lang="en-US" altLang="zh-CN" sz="1600" dirty="0">
                <a:latin typeface="微软雅黑" panose="020B0503020204020204" pitchFamily="34" charset="-122"/>
                <a:ea typeface="微软雅黑" panose="020B0503020204020204" pitchFamily="34" charset="-122"/>
              </a:rPr>
              <a:t>    }</a:t>
            </a:r>
          </a:p>
          <a:p>
            <a:pPr marL="0" lvl="1" eaLnBrk="1" hangingPunct="1"/>
            <a:r>
              <a:rPr lang="en-US" altLang="zh-CN" sz="16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766678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AAB1A-9F15-2E89-ECC3-DF5889198B3E}"/>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A8D05C3A-A6C8-2D27-4E7B-9E42EAD9E92E}"/>
              </a:ext>
            </a:extLst>
          </p:cNvPr>
          <p:cNvSpPr txBox="1">
            <a:spLocks/>
          </p:cNvSpPr>
          <p:nvPr/>
        </p:nvSpPr>
        <p:spPr>
          <a:xfrm>
            <a:off x="72008" y="-12202"/>
            <a:ext cx="7752184" cy="848914"/>
          </a:xfrm>
          <a:prstGeom prst="rect">
            <a:avLst/>
          </a:prstGeom>
        </p:spPr>
        <p:txBody>
          <a:bodyPr/>
          <a:lstStyle>
            <a:lvl1pPr algn="ctr" defTabSz="1219200" rtl="0" eaLnBrk="1" latinLnBrk="0" hangingPunct="1">
              <a:spcBef>
                <a:spcPct val="0"/>
              </a:spcBef>
              <a:buNone/>
              <a:defRPr sz="5865" kern="1200">
                <a:solidFill>
                  <a:schemeClr val="tx1"/>
                </a:solidFill>
                <a:latin typeface="+mj-lt"/>
                <a:ea typeface="+mj-ea"/>
                <a:cs typeface="+mj-cs"/>
              </a:defRPr>
            </a:lvl1pPr>
          </a:lstStyle>
          <a:p>
            <a:pPr algn="l"/>
            <a:r>
              <a:rPr lang="zh-CN" altLang="en-US" sz="3600" b="1" dirty="0">
                <a:solidFill>
                  <a:schemeClr val="bg1"/>
                </a:solidFill>
                <a:latin typeface="微软雅黑" panose="020B0503020204020204" pitchFamily="34" charset="-122"/>
                <a:ea typeface="微软雅黑" panose="020B0503020204020204" pitchFamily="34" charset="-122"/>
              </a:rPr>
              <a:t>类</a:t>
            </a:r>
            <a:r>
              <a:rPr lang="en-US" altLang="zh-CN" sz="3600" b="1" dirty="0">
                <a:solidFill>
                  <a:schemeClr val="bg1"/>
                </a:solidFill>
                <a:latin typeface="微软雅黑" panose="020B0503020204020204" pitchFamily="34" charset="-122"/>
                <a:ea typeface="微软雅黑" panose="020B0503020204020204" pitchFamily="34" charset="-122"/>
              </a:rPr>
              <a:t>Rust</a:t>
            </a:r>
            <a:r>
              <a:rPr lang="zh-CN" altLang="en-US" sz="3600" b="1" dirty="0">
                <a:solidFill>
                  <a:schemeClr val="bg1"/>
                </a:solidFill>
                <a:latin typeface="微软雅黑" panose="020B0503020204020204" pitchFamily="34" charset="-122"/>
                <a:ea typeface="微软雅黑" panose="020B0503020204020204" pitchFamily="34" charset="-122"/>
              </a:rPr>
              <a:t>语法和语义规则</a:t>
            </a:r>
          </a:p>
        </p:txBody>
      </p:sp>
      <p:sp>
        <p:nvSpPr>
          <p:cNvPr id="2" name="文本框 1">
            <a:extLst>
              <a:ext uri="{FF2B5EF4-FFF2-40B4-BE49-F238E27FC236}">
                <a16:creationId xmlns:a16="http://schemas.microsoft.com/office/drawing/2014/main" id="{95E77062-4ECE-38AE-1F95-E9FF250460A9}"/>
              </a:ext>
            </a:extLst>
          </p:cNvPr>
          <p:cNvSpPr txBox="1"/>
          <p:nvPr/>
        </p:nvSpPr>
        <p:spPr>
          <a:xfrm>
            <a:off x="0" y="864816"/>
            <a:ext cx="8544272" cy="5382564"/>
          </a:xfrm>
          <a:prstGeom prst="rect">
            <a:avLst/>
          </a:prstGeom>
          <a:noFill/>
        </p:spPr>
        <p:txBody>
          <a:bodyPr wrap="square">
            <a:spAutoFit/>
          </a:bodyPr>
          <a:lstStyle/>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5.0 </a:t>
            </a:r>
            <a:r>
              <a:rPr lang="zh-CN" altLang="en-US" sz="1800" b="1" dirty="0">
                <a:solidFill>
                  <a:srgbClr val="003366"/>
                </a:solidFill>
                <a:latin typeface="微软雅黑" panose="020B0503020204020204" pitchFamily="34" charset="-122"/>
                <a:ea typeface="微软雅黑" panose="020B0503020204020204" pitchFamily="34" charset="-122"/>
              </a:rPr>
              <a:t>循环语句（依赖</a:t>
            </a:r>
            <a:r>
              <a:rPr lang="en-US" altLang="zh-CN" sz="1800" b="1" dirty="0">
                <a:solidFill>
                  <a:srgbClr val="003366"/>
                </a:solidFill>
                <a:latin typeface="微软雅黑" panose="020B0503020204020204" pitchFamily="34" charset="-122"/>
                <a:ea typeface="微软雅黑" panose="020B0503020204020204" pitchFamily="34" charset="-122"/>
              </a:rPr>
              <a:t>5.1 or 5.2 or 5.3</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1.2</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90600" lvl="1" indent="-5334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语句</a:t>
            </a:r>
            <a:r>
              <a:rPr lang="en-US" altLang="zh-CN" sz="1800" dirty="0">
                <a:solidFill>
                  <a:srgbClr val="003366"/>
                </a:solidFill>
                <a:latin typeface="微软雅黑" panose="020B0503020204020204" pitchFamily="34" charset="-122"/>
                <a:ea typeface="微软雅黑" panose="020B0503020204020204" pitchFamily="34" charset="-122"/>
              </a:rPr>
              <a:t>&gt; -&gt; &lt;</a:t>
            </a:r>
            <a:r>
              <a:rPr lang="zh-CN" altLang="en-US" sz="1800" dirty="0">
                <a:solidFill>
                  <a:srgbClr val="003366"/>
                </a:solidFill>
                <a:latin typeface="微软雅黑" panose="020B0503020204020204" pitchFamily="34" charset="-122"/>
                <a:ea typeface="微软雅黑" panose="020B0503020204020204" pitchFamily="34" charset="-122"/>
              </a:rPr>
              <a:t>循环语句</a:t>
            </a:r>
            <a:r>
              <a:rPr lang="en-US" altLang="zh-CN" sz="1800" dirty="0">
                <a:solidFill>
                  <a:srgbClr val="003366"/>
                </a:solidFill>
                <a:latin typeface="微软雅黑" panose="020B0503020204020204" pitchFamily="34" charset="-122"/>
                <a:ea typeface="微软雅黑" panose="020B0503020204020204" pitchFamily="34" charset="-122"/>
              </a:rPr>
              <a:t>&gt;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342900" lvl="1" indent="-342900">
              <a:lnSpc>
                <a:spcPct val="120000"/>
              </a:lnSpc>
              <a:buFont typeface="Wingdings" panose="05000000000000000000" pitchFamily="2" charset="2"/>
              <a:buChar char="Ø"/>
            </a:pPr>
            <a:endParaRPr lang="en-US" altLang="zh-CN" sz="1800" b="1" dirty="0">
              <a:solidFill>
                <a:srgbClr val="003366"/>
              </a:solidFill>
              <a:latin typeface="微软雅黑" panose="020B0503020204020204" pitchFamily="34" charset="-122"/>
              <a:ea typeface="微软雅黑" panose="020B0503020204020204" pitchFamily="34" charset="-122"/>
            </a:endParaRPr>
          </a:p>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5.1 while</a:t>
            </a:r>
            <a:r>
              <a:rPr lang="zh-CN" altLang="en-US" sz="1800" b="1" dirty="0">
                <a:solidFill>
                  <a:srgbClr val="003366"/>
                </a:solidFill>
                <a:latin typeface="微软雅黑" panose="020B0503020204020204" pitchFamily="34" charset="-122"/>
                <a:ea typeface="微软雅黑" panose="020B0503020204020204" pitchFamily="34" charset="-122"/>
              </a:rPr>
              <a:t>循环结构（依赖</a:t>
            </a:r>
            <a:r>
              <a:rPr lang="en-US" altLang="zh-CN" sz="1800" b="1" dirty="0">
                <a:solidFill>
                  <a:srgbClr val="003366"/>
                </a:solidFill>
                <a:latin typeface="微软雅黑" panose="020B0503020204020204" pitchFamily="34" charset="-122"/>
                <a:ea typeface="微软雅黑" panose="020B0503020204020204" pitchFamily="34" charset="-122"/>
              </a:rPr>
              <a:t>1.1</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3.1</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5.0</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循环语句</a:t>
            </a:r>
            <a:r>
              <a:rPr lang="en-US" altLang="zh-CN" sz="1800" dirty="0">
                <a:solidFill>
                  <a:srgbClr val="003366"/>
                </a:solidFill>
                <a:latin typeface="微软雅黑" panose="020B0503020204020204" pitchFamily="34" charset="-122"/>
                <a:ea typeface="微软雅黑" panose="020B0503020204020204" pitchFamily="34" charset="-122"/>
              </a:rPr>
              <a:t>&gt; -&gt; &lt;while</a:t>
            </a:r>
            <a:r>
              <a:rPr lang="zh-CN" altLang="en-US" sz="1800" dirty="0">
                <a:solidFill>
                  <a:srgbClr val="003366"/>
                </a:solidFill>
                <a:latin typeface="微软雅黑" panose="020B0503020204020204" pitchFamily="34" charset="-122"/>
                <a:ea typeface="微软雅黑" panose="020B0503020204020204" pitchFamily="34" charset="-122"/>
              </a:rPr>
              <a:t>语句</a:t>
            </a:r>
            <a:r>
              <a:rPr lang="en-US" altLang="zh-CN" sz="18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&lt;while</a:t>
            </a:r>
            <a:r>
              <a:rPr lang="zh-CN" altLang="en-US" sz="1800" dirty="0">
                <a:solidFill>
                  <a:srgbClr val="003366"/>
                </a:solidFill>
                <a:latin typeface="微软雅黑" panose="020B0503020204020204" pitchFamily="34" charset="-122"/>
                <a:ea typeface="微软雅黑" panose="020B0503020204020204" pitchFamily="34" charset="-122"/>
              </a:rPr>
              <a:t>语句</a:t>
            </a:r>
            <a:r>
              <a:rPr lang="en-US" altLang="zh-CN" sz="1800" dirty="0">
                <a:solidFill>
                  <a:srgbClr val="003366"/>
                </a:solidFill>
                <a:latin typeface="微软雅黑" panose="020B0503020204020204" pitchFamily="34" charset="-122"/>
                <a:ea typeface="微软雅黑" panose="020B0503020204020204" pitchFamily="34" charset="-122"/>
              </a:rPr>
              <a:t>&gt;  -&gt; while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&lt;</a:t>
            </a:r>
            <a:r>
              <a:rPr lang="zh-CN" altLang="en-US" sz="1800" dirty="0">
                <a:solidFill>
                  <a:srgbClr val="003366"/>
                </a:solidFill>
                <a:latin typeface="微软雅黑" panose="020B0503020204020204" pitchFamily="34" charset="-122"/>
                <a:ea typeface="微软雅黑" panose="020B0503020204020204" pitchFamily="34" charset="-122"/>
              </a:rPr>
              <a:t>语句块</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语义说明：拓展循环控制能力，实现基于条件的多次重复执行逻辑。每次循环开始时求表达式的值，若结果为真，则执行 </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语句块</a:t>
            </a:r>
            <a:r>
              <a:rPr lang="en-US" altLang="zh-CN" sz="1800" dirty="0">
                <a:solidFill>
                  <a:srgbClr val="003366"/>
                </a:solidFill>
                <a:latin typeface="微软雅黑" panose="020B0503020204020204" pitchFamily="34" charset="-122"/>
                <a:ea typeface="微软雅黑" panose="020B0503020204020204" pitchFamily="34" charset="-122"/>
              </a:rPr>
              <a:t>&gt;</a:t>
            </a:r>
            <a:r>
              <a:rPr lang="zh-CN" altLang="en-US" sz="1800" dirty="0">
                <a:solidFill>
                  <a:srgbClr val="003366"/>
                </a:solidFill>
                <a:latin typeface="微软雅黑" panose="020B0503020204020204" pitchFamily="34" charset="-122"/>
                <a:ea typeface="微软雅黑" panose="020B0503020204020204" pitchFamily="34" charset="-122"/>
              </a:rPr>
              <a:t>；若为假，则跳出循环。</a:t>
            </a:r>
            <a:endParaRPr lang="en-US" altLang="zh-CN" sz="1800" dirty="0">
              <a:solidFill>
                <a:srgbClr val="003366"/>
              </a:solidFill>
              <a:latin typeface="微软雅黑" panose="020B0503020204020204" pitchFamily="34" charset="-122"/>
              <a:ea typeface="微软雅黑" panose="020B0503020204020204" pitchFamily="34" charset="-122"/>
            </a:endParaRPr>
          </a:p>
          <a:p>
            <a:pPr marL="0" lvl="1" indent="457200">
              <a:lnSpc>
                <a:spcPct val="120000"/>
              </a:lnSpc>
            </a:pPr>
            <a:endParaRPr lang="en-US" altLang="zh-CN" sz="1800" dirty="0">
              <a:solidFill>
                <a:srgbClr val="003366"/>
              </a:solidFill>
              <a:latin typeface="微软雅黑" panose="020B0503020204020204" pitchFamily="34" charset="-122"/>
              <a:ea typeface="微软雅黑" panose="020B0503020204020204" pitchFamily="34" charset="-122"/>
            </a:endParaRPr>
          </a:p>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5.2 for</a:t>
            </a:r>
            <a:r>
              <a:rPr lang="zh-CN" altLang="en-US" sz="1800" b="1" dirty="0">
                <a:solidFill>
                  <a:srgbClr val="003366"/>
                </a:solidFill>
                <a:latin typeface="微软雅黑" panose="020B0503020204020204" pitchFamily="34" charset="-122"/>
                <a:ea typeface="微软雅黑" panose="020B0503020204020204" pitchFamily="34" charset="-122"/>
              </a:rPr>
              <a:t>循环结构（依赖</a:t>
            </a:r>
            <a:r>
              <a:rPr lang="en-US" altLang="zh-CN" sz="1800" b="1" dirty="0">
                <a:solidFill>
                  <a:srgbClr val="003366"/>
                </a:solidFill>
                <a:latin typeface="微软雅黑" panose="020B0503020204020204" pitchFamily="34" charset="-122"/>
                <a:ea typeface="微软雅黑" panose="020B0503020204020204" pitchFamily="34" charset="-122"/>
              </a:rPr>
              <a:t>1.1</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2.0</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3.1</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5.0</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循环语句</a:t>
            </a:r>
            <a:r>
              <a:rPr lang="en-US" altLang="zh-CN" sz="1800" dirty="0">
                <a:solidFill>
                  <a:srgbClr val="003366"/>
                </a:solidFill>
                <a:latin typeface="微软雅黑" panose="020B0503020204020204" pitchFamily="34" charset="-122"/>
                <a:ea typeface="微软雅黑" panose="020B0503020204020204" pitchFamily="34" charset="-122"/>
              </a:rPr>
              <a:t>&gt; -&gt; &lt;for</a:t>
            </a:r>
            <a:r>
              <a:rPr lang="zh-CN" altLang="en-US" sz="1800" dirty="0">
                <a:solidFill>
                  <a:srgbClr val="003366"/>
                </a:solidFill>
                <a:latin typeface="微软雅黑" panose="020B0503020204020204" pitchFamily="34" charset="-122"/>
                <a:ea typeface="微软雅黑" panose="020B0503020204020204" pitchFamily="34" charset="-122"/>
              </a:rPr>
              <a:t>语句</a:t>
            </a:r>
            <a:r>
              <a:rPr lang="en-US" altLang="zh-CN" sz="1800" dirty="0">
                <a:solidFill>
                  <a:srgbClr val="003366"/>
                </a:solidFill>
                <a:latin typeface="微软雅黑" panose="020B0503020204020204" pitchFamily="34" charset="-122"/>
                <a:ea typeface="微软雅黑" panose="020B0503020204020204" pitchFamily="34" charset="-122"/>
              </a:rPr>
              <a:t>&gt; </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&lt;for</a:t>
            </a:r>
            <a:r>
              <a:rPr lang="zh-CN" altLang="en-US" sz="1800" dirty="0">
                <a:solidFill>
                  <a:srgbClr val="003366"/>
                </a:solidFill>
                <a:latin typeface="微软雅黑" panose="020B0503020204020204" pitchFamily="34" charset="-122"/>
                <a:ea typeface="微软雅黑" panose="020B0503020204020204" pitchFamily="34" charset="-122"/>
              </a:rPr>
              <a:t>语句</a:t>
            </a:r>
            <a:r>
              <a:rPr lang="en-US" altLang="zh-CN" sz="1800" dirty="0">
                <a:solidFill>
                  <a:srgbClr val="003366"/>
                </a:solidFill>
                <a:latin typeface="微软雅黑" panose="020B0503020204020204" pitchFamily="34" charset="-122"/>
                <a:ea typeface="微软雅黑" panose="020B0503020204020204" pitchFamily="34" charset="-122"/>
              </a:rPr>
              <a:t>&gt;-&gt;  for &lt;</a:t>
            </a:r>
            <a:r>
              <a:rPr lang="zh-CN" altLang="en-US" sz="1800" dirty="0">
                <a:solidFill>
                  <a:srgbClr val="003366"/>
                </a:solidFill>
                <a:latin typeface="微软雅黑" panose="020B0503020204020204" pitchFamily="34" charset="-122"/>
                <a:ea typeface="微软雅黑" panose="020B0503020204020204" pitchFamily="34" charset="-122"/>
              </a:rPr>
              <a:t>变量声明内部</a:t>
            </a:r>
            <a:r>
              <a:rPr lang="en-US" altLang="zh-CN" sz="1800" dirty="0">
                <a:solidFill>
                  <a:srgbClr val="003366"/>
                </a:solidFill>
                <a:latin typeface="微软雅黑" panose="020B0503020204020204" pitchFamily="34" charset="-122"/>
                <a:ea typeface="微软雅黑" panose="020B0503020204020204" pitchFamily="34" charset="-122"/>
              </a:rPr>
              <a:t>&gt; in  &lt;</a:t>
            </a:r>
            <a:r>
              <a:rPr lang="zh-CN" altLang="en-US" sz="1800" dirty="0">
                <a:solidFill>
                  <a:srgbClr val="003366"/>
                </a:solidFill>
                <a:latin typeface="微软雅黑" panose="020B0503020204020204" pitchFamily="34" charset="-122"/>
                <a:ea typeface="微软雅黑" panose="020B0503020204020204" pitchFamily="34" charset="-122"/>
              </a:rPr>
              <a:t>可迭代结构</a:t>
            </a:r>
            <a:r>
              <a:rPr lang="en-US" altLang="zh-CN" sz="1800" dirty="0">
                <a:solidFill>
                  <a:srgbClr val="003366"/>
                </a:solidFill>
                <a:latin typeface="微软雅黑" panose="020B0503020204020204" pitchFamily="34" charset="-122"/>
                <a:ea typeface="微软雅黑" panose="020B0503020204020204" pitchFamily="34" charset="-122"/>
              </a:rPr>
              <a:t>&gt; &lt;</a:t>
            </a:r>
            <a:r>
              <a:rPr lang="zh-CN" altLang="en-US" sz="1800" dirty="0">
                <a:solidFill>
                  <a:srgbClr val="003366"/>
                </a:solidFill>
                <a:latin typeface="微软雅黑" panose="020B0503020204020204" pitchFamily="34" charset="-122"/>
                <a:ea typeface="微软雅黑" panose="020B0503020204020204" pitchFamily="34" charset="-122"/>
              </a:rPr>
              <a:t>语句块</a:t>
            </a:r>
            <a:r>
              <a:rPr lang="en-US" altLang="zh-CN" sz="18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可迭代结构</a:t>
            </a:r>
            <a:r>
              <a:rPr lang="en-US" altLang="zh-CN" sz="1800" dirty="0">
                <a:solidFill>
                  <a:srgbClr val="003366"/>
                </a:solidFill>
                <a:latin typeface="微软雅黑" panose="020B0503020204020204" pitchFamily="34" charset="-122"/>
                <a:ea typeface="微软雅黑" panose="020B0503020204020204" pitchFamily="34" charset="-122"/>
              </a:rPr>
              <a:t>&gt; -&gt;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语义说明：拓展基于范围的迭代能力，对可迭代结构中的每一个元素进行遍历，</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可迭代结构</a:t>
            </a:r>
            <a:r>
              <a:rPr lang="en-US" altLang="zh-CN" sz="1800" dirty="0">
                <a:solidFill>
                  <a:srgbClr val="003366"/>
                </a:solidFill>
                <a:latin typeface="微软雅黑" panose="020B0503020204020204" pitchFamily="34" charset="-122"/>
                <a:ea typeface="微软雅黑" panose="020B0503020204020204" pitchFamily="34" charset="-122"/>
              </a:rPr>
              <a:t>&gt;</a:t>
            </a:r>
            <a:r>
              <a:rPr lang="zh-CN" altLang="en-US" sz="1800" dirty="0">
                <a:solidFill>
                  <a:srgbClr val="003366"/>
                </a:solidFill>
                <a:latin typeface="微软雅黑" panose="020B0503020204020204" pitchFamily="34" charset="-122"/>
                <a:ea typeface="微软雅黑" panose="020B0503020204020204" pitchFamily="34" charset="-122"/>
              </a:rPr>
              <a:t>是左闭右开区间，即包含第一个</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a:t>
            </a:r>
            <a:r>
              <a:rPr lang="zh-CN" altLang="en-US" sz="1800" dirty="0">
                <a:solidFill>
                  <a:srgbClr val="003366"/>
                </a:solidFill>
                <a:latin typeface="微软雅黑" panose="020B0503020204020204" pitchFamily="34" charset="-122"/>
                <a:ea typeface="微软雅黑" panose="020B0503020204020204" pitchFamily="34" charset="-122"/>
              </a:rPr>
              <a:t>的值，不包含第二个</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a:t>
            </a:r>
            <a:r>
              <a:rPr lang="zh-CN" altLang="en-US" sz="1800" dirty="0">
                <a:solidFill>
                  <a:srgbClr val="003366"/>
                </a:solidFill>
                <a:latin typeface="微软雅黑" panose="020B0503020204020204" pitchFamily="34" charset="-122"/>
                <a:ea typeface="微软雅黑" panose="020B0503020204020204" pitchFamily="34" charset="-122"/>
              </a:rPr>
              <a:t>的值。</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a:t>
            </a:r>
            <a:r>
              <a:rPr lang="zh-CN" altLang="en-US" sz="1800" dirty="0">
                <a:solidFill>
                  <a:srgbClr val="003366"/>
                </a:solidFill>
                <a:latin typeface="微软雅黑" panose="020B0503020204020204" pitchFamily="34" charset="-122"/>
                <a:ea typeface="微软雅黑" panose="020B0503020204020204" pitchFamily="34" charset="-122"/>
              </a:rPr>
              <a:t>类型需要是整型。</a:t>
            </a:r>
            <a:endParaRPr lang="en-US" altLang="zh-CN" sz="1800" dirty="0">
              <a:solidFill>
                <a:srgbClr val="003366"/>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CD6420B3-C479-492E-D9A1-300D20750485}"/>
              </a:ext>
            </a:extLst>
          </p:cNvPr>
          <p:cNvSpPr txBox="1"/>
          <p:nvPr/>
        </p:nvSpPr>
        <p:spPr>
          <a:xfrm>
            <a:off x="8787184" y="2028616"/>
            <a:ext cx="3404816" cy="4524315"/>
          </a:xfrm>
          <a:prstGeom prst="rect">
            <a:avLst/>
          </a:prstGeom>
          <a:noFill/>
        </p:spPr>
        <p:txBody>
          <a:bodyPr wrap="square">
            <a:spAutoFit/>
          </a:bodyPr>
          <a:lstStyle/>
          <a:p>
            <a:pPr marL="0" lvl="1" eaLnBrk="1" hangingPunct="1"/>
            <a:r>
              <a:rPr lang="nn-NO" altLang="zh-CN" sz="1600" dirty="0">
                <a:latin typeface="微软雅黑" panose="020B0503020204020204" pitchFamily="34" charset="-122"/>
                <a:ea typeface="微软雅黑" panose="020B0503020204020204" pitchFamily="34" charset="-122"/>
              </a:rPr>
              <a:t>fn program_5_1(mut n:i32) {</a:t>
            </a:r>
          </a:p>
          <a:p>
            <a:pPr marL="0" lvl="1" eaLnBrk="1" hangingPunct="1"/>
            <a:r>
              <a:rPr lang="nn-NO" altLang="zh-CN" sz="1600" dirty="0">
                <a:latin typeface="微软雅黑" panose="020B0503020204020204" pitchFamily="34" charset="-122"/>
                <a:ea typeface="微软雅黑" panose="020B0503020204020204" pitchFamily="34" charset="-122"/>
              </a:rPr>
              <a:t>    while n&gt;0 {</a:t>
            </a:r>
          </a:p>
          <a:p>
            <a:pPr marL="0" lvl="1" eaLnBrk="1" hangingPunct="1"/>
            <a:r>
              <a:rPr lang="nn-NO" altLang="zh-CN" sz="1600" dirty="0">
                <a:latin typeface="微软雅黑" panose="020B0503020204020204" pitchFamily="34" charset="-122"/>
                <a:ea typeface="微软雅黑" panose="020B0503020204020204" pitchFamily="34" charset="-122"/>
              </a:rPr>
              <a:t>        n=n-1;</a:t>
            </a:r>
          </a:p>
          <a:p>
            <a:pPr marL="0" lvl="1" eaLnBrk="1" hangingPunct="1"/>
            <a:r>
              <a:rPr lang="nn-NO" altLang="zh-CN" sz="1600" dirty="0">
                <a:latin typeface="微软雅黑" panose="020B0503020204020204" pitchFamily="34" charset="-122"/>
                <a:ea typeface="微软雅黑" panose="020B0503020204020204" pitchFamily="34" charset="-122"/>
              </a:rPr>
              <a:t>    }</a:t>
            </a:r>
          </a:p>
          <a:p>
            <a:pPr marL="0" lvl="1" eaLnBrk="1" hangingPunct="1"/>
            <a:r>
              <a:rPr lang="nn-NO" altLang="zh-CN" sz="1600" dirty="0">
                <a:latin typeface="微软雅黑" panose="020B0503020204020204" pitchFamily="34" charset="-122"/>
                <a:ea typeface="微软雅黑" panose="020B0503020204020204" pitchFamily="34" charset="-122"/>
              </a:rPr>
              <a:t>}</a:t>
            </a:r>
          </a:p>
          <a:p>
            <a:pPr marL="0" lvl="1" eaLnBrk="1" hangingPunct="1"/>
            <a:endParaRPr lang="nn-NO" altLang="zh-CN" sz="1600" dirty="0">
              <a:latin typeface="微软雅黑" panose="020B0503020204020204" pitchFamily="34" charset="-122"/>
              <a:ea typeface="微软雅黑" panose="020B0503020204020204" pitchFamily="34" charset="-122"/>
            </a:endParaRPr>
          </a:p>
          <a:p>
            <a:pPr marL="0" lvl="1" eaLnBrk="1" hangingPunct="1"/>
            <a:endParaRPr lang="nn-NO" altLang="zh-CN" sz="1600" dirty="0">
              <a:latin typeface="微软雅黑" panose="020B0503020204020204" pitchFamily="34" charset="-122"/>
              <a:ea typeface="微软雅黑" panose="020B0503020204020204" pitchFamily="34" charset="-122"/>
            </a:endParaRPr>
          </a:p>
          <a:p>
            <a:pPr marL="0" lvl="1" eaLnBrk="1" hangingPunct="1"/>
            <a:r>
              <a:rPr lang="nn-NO" altLang="zh-CN" sz="1600" dirty="0">
                <a:latin typeface="微软雅黑" panose="020B0503020204020204" pitchFamily="34" charset="-122"/>
                <a:ea typeface="微软雅黑" panose="020B0503020204020204" pitchFamily="34" charset="-122"/>
              </a:rPr>
              <a:t>fn program_5_2__1(mut n:i32) {</a:t>
            </a:r>
          </a:p>
          <a:p>
            <a:pPr marL="0" lvl="1" eaLnBrk="1" hangingPunct="1"/>
            <a:r>
              <a:rPr lang="nn-NO" altLang="zh-CN" sz="1600" dirty="0">
                <a:latin typeface="微软雅黑" panose="020B0503020204020204" pitchFamily="34" charset="-122"/>
                <a:ea typeface="微软雅黑" panose="020B0503020204020204" pitchFamily="34" charset="-122"/>
              </a:rPr>
              <a:t>    for mut i in 1..n+1 {</a:t>
            </a:r>
          </a:p>
          <a:p>
            <a:pPr marL="0" lvl="1" eaLnBrk="1" hangingPunct="1"/>
            <a:r>
              <a:rPr lang="nn-NO" altLang="zh-CN" sz="1600" dirty="0">
                <a:latin typeface="微软雅黑" panose="020B0503020204020204" pitchFamily="34" charset="-122"/>
                <a:ea typeface="微软雅黑" panose="020B0503020204020204" pitchFamily="34" charset="-122"/>
              </a:rPr>
              <a:t>        n=n-1;</a:t>
            </a:r>
          </a:p>
          <a:p>
            <a:pPr marL="0" lvl="1" eaLnBrk="1" hangingPunct="1"/>
            <a:r>
              <a:rPr lang="nn-NO" altLang="zh-CN" sz="1600" dirty="0">
                <a:latin typeface="微软雅黑" panose="020B0503020204020204" pitchFamily="34" charset="-122"/>
                <a:ea typeface="微软雅黑" panose="020B0503020204020204" pitchFamily="34" charset="-122"/>
              </a:rPr>
              <a:t>    }</a:t>
            </a:r>
          </a:p>
          <a:p>
            <a:pPr marL="0" lvl="1" eaLnBrk="1" hangingPunct="1"/>
            <a:r>
              <a:rPr lang="nn-NO" altLang="zh-CN" sz="1600" dirty="0">
                <a:latin typeface="微软雅黑" panose="020B0503020204020204" pitchFamily="34" charset="-122"/>
                <a:ea typeface="微软雅黑" panose="020B0503020204020204" pitchFamily="34" charset="-122"/>
              </a:rPr>
              <a:t>}</a:t>
            </a:r>
          </a:p>
          <a:p>
            <a:pPr marL="0" lvl="1"/>
            <a:r>
              <a:rPr lang="nn-NO" altLang="zh-CN" sz="1600" dirty="0">
                <a:latin typeface="微软雅黑" panose="020B0503020204020204" pitchFamily="34" charset="-122"/>
                <a:ea typeface="微软雅黑" panose="020B0503020204020204" pitchFamily="34" charset="-122"/>
              </a:rPr>
              <a:t>fn program_5_2__2(mut n:i32) {</a:t>
            </a:r>
          </a:p>
          <a:p>
            <a:pPr marL="0" lvl="1"/>
            <a:r>
              <a:rPr lang="nn-NO" altLang="zh-CN" sz="1600" dirty="0">
                <a:latin typeface="微软雅黑" panose="020B0503020204020204" pitchFamily="34" charset="-122"/>
                <a:ea typeface="微软雅黑" panose="020B0503020204020204" pitchFamily="34" charset="-122"/>
              </a:rPr>
              <a:t>    for mut i in 1..n+0.1 {</a:t>
            </a:r>
          </a:p>
          <a:p>
            <a:pPr marL="0" lvl="1"/>
            <a:r>
              <a:rPr lang="nn-NO" altLang="zh-CN" sz="1600" dirty="0">
                <a:latin typeface="微软雅黑" panose="020B0503020204020204" pitchFamily="34" charset="-122"/>
                <a:ea typeface="微软雅黑" panose="020B0503020204020204" pitchFamily="34" charset="-122"/>
              </a:rPr>
              <a:t>        n=n-1;</a:t>
            </a:r>
          </a:p>
          <a:p>
            <a:pPr marL="0" lvl="1"/>
            <a:r>
              <a:rPr lang="nn-NO" altLang="zh-CN" sz="1600" dirty="0">
                <a:latin typeface="微软雅黑" panose="020B0503020204020204" pitchFamily="34" charset="-122"/>
                <a:ea typeface="微软雅黑" panose="020B0503020204020204" pitchFamily="34" charset="-122"/>
              </a:rPr>
              <a:t>    }</a:t>
            </a:r>
          </a:p>
          <a:p>
            <a:pPr marL="0" lvl="1"/>
            <a:r>
              <a:rPr lang="nn-NO" altLang="zh-CN" sz="1600" dirty="0">
                <a:latin typeface="微软雅黑" panose="020B0503020204020204" pitchFamily="34" charset="-122"/>
                <a:ea typeface="微软雅黑" panose="020B0503020204020204" pitchFamily="34" charset="-122"/>
              </a:rPr>
              <a:t>}</a:t>
            </a:r>
          </a:p>
          <a:p>
            <a:pPr marL="0" lvl="1" eaLnBrk="1" hangingPunct="1"/>
            <a:endParaRPr lang="nn-NO" altLang="zh-CN" sz="1600"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A7EBBE37-2E24-051D-BDBC-378AB516DC6A}"/>
              </a:ext>
            </a:extLst>
          </p:cNvPr>
          <p:cNvSpPr txBox="1"/>
          <p:nvPr/>
        </p:nvSpPr>
        <p:spPr>
          <a:xfrm>
            <a:off x="10056440" y="5589240"/>
            <a:ext cx="2016224" cy="2951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n+0.1</a:t>
            </a:r>
            <a:r>
              <a:rPr lang="zh-CN" altLang="en-US" sz="1200" dirty="0">
                <a:solidFill>
                  <a:srgbClr val="FF0000"/>
                </a:solidFill>
                <a:latin typeface="微软雅黑" panose="020B0503020204020204" pitchFamily="34" charset="-122"/>
                <a:ea typeface="微软雅黑" panose="020B0503020204020204" pitchFamily="34" charset="-122"/>
              </a:rPr>
              <a:t>类型不是整型</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21002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F306C-E275-4211-941E-62D427BBB14E}"/>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3B65AAEA-964C-0BAA-B43D-5B6594984079}"/>
              </a:ext>
            </a:extLst>
          </p:cNvPr>
          <p:cNvSpPr txBox="1">
            <a:spLocks/>
          </p:cNvSpPr>
          <p:nvPr/>
        </p:nvSpPr>
        <p:spPr>
          <a:xfrm>
            <a:off x="72008" y="-12202"/>
            <a:ext cx="7752184" cy="848914"/>
          </a:xfrm>
          <a:prstGeom prst="rect">
            <a:avLst/>
          </a:prstGeom>
        </p:spPr>
        <p:txBody>
          <a:bodyPr/>
          <a:lstStyle>
            <a:lvl1pPr algn="ctr" defTabSz="1219200" rtl="0" eaLnBrk="1" latinLnBrk="0" hangingPunct="1">
              <a:spcBef>
                <a:spcPct val="0"/>
              </a:spcBef>
              <a:buNone/>
              <a:defRPr sz="5865" kern="1200">
                <a:solidFill>
                  <a:schemeClr val="tx1"/>
                </a:solidFill>
                <a:latin typeface="+mj-lt"/>
                <a:ea typeface="+mj-ea"/>
                <a:cs typeface="+mj-cs"/>
              </a:defRPr>
            </a:lvl1pPr>
          </a:lstStyle>
          <a:p>
            <a:pPr algn="l"/>
            <a:r>
              <a:rPr lang="zh-CN" altLang="en-US" sz="3600" b="1" dirty="0">
                <a:solidFill>
                  <a:schemeClr val="bg1"/>
                </a:solidFill>
                <a:latin typeface="微软雅黑" panose="020B0503020204020204" pitchFamily="34" charset="-122"/>
                <a:ea typeface="微软雅黑" panose="020B0503020204020204" pitchFamily="34" charset="-122"/>
              </a:rPr>
              <a:t>类</a:t>
            </a:r>
            <a:r>
              <a:rPr lang="en-US" altLang="zh-CN" sz="3600" b="1" dirty="0">
                <a:solidFill>
                  <a:schemeClr val="bg1"/>
                </a:solidFill>
                <a:latin typeface="微软雅黑" panose="020B0503020204020204" pitchFamily="34" charset="-122"/>
                <a:ea typeface="微软雅黑" panose="020B0503020204020204" pitchFamily="34" charset="-122"/>
              </a:rPr>
              <a:t>Rust</a:t>
            </a:r>
            <a:r>
              <a:rPr lang="zh-CN" altLang="en-US" sz="3600" b="1" dirty="0">
                <a:solidFill>
                  <a:schemeClr val="bg1"/>
                </a:solidFill>
                <a:latin typeface="微软雅黑" panose="020B0503020204020204" pitchFamily="34" charset="-122"/>
                <a:ea typeface="微软雅黑" panose="020B0503020204020204" pitchFamily="34" charset="-122"/>
              </a:rPr>
              <a:t>语法和语义规则</a:t>
            </a:r>
          </a:p>
        </p:txBody>
      </p:sp>
      <p:sp>
        <p:nvSpPr>
          <p:cNvPr id="2" name="文本框 1">
            <a:extLst>
              <a:ext uri="{FF2B5EF4-FFF2-40B4-BE49-F238E27FC236}">
                <a16:creationId xmlns:a16="http://schemas.microsoft.com/office/drawing/2014/main" id="{3F9AAB82-328A-F0E1-00C9-A04614E3770A}"/>
              </a:ext>
            </a:extLst>
          </p:cNvPr>
          <p:cNvSpPr txBox="1"/>
          <p:nvPr/>
        </p:nvSpPr>
        <p:spPr>
          <a:xfrm>
            <a:off x="0" y="864816"/>
            <a:ext cx="8394004" cy="4717766"/>
          </a:xfrm>
          <a:prstGeom prst="rect">
            <a:avLst/>
          </a:prstGeom>
          <a:noFill/>
        </p:spPr>
        <p:txBody>
          <a:bodyPr wrap="square">
            <a:spAutoFit/>
          </a:bodyPr>
          <a:lstStyle/>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5.3 loop</a:t>
            </a:r>
            <a:r>
              <a:rPr lang="zh-CN" altLang="en-US" sz="1800" b="1" dirty="0">
                <a:solidFill>
                  <a:srgbClr val="003366"/>
                </a:solidFill>
                <a:latin typeface="微软雅黑" panose="020B0503020204020204" pitchFamily="34" charset="-122"/>
                <a:ea typeface="微软雅黑" panose="020B0503020204020204" pitchFamily="34" charset="-122"/>
              </a:rPr>
              <a:t>循环结构（依赖</a:t>
            </a:r>
            <a:r>
              <a:rPr lang="en-US" altLang="zh-CN" sz="1800" b="1" dirty="0">
                <a:solidFill>
                  <a:srgbClr val="003366"/>
                </a:solidFill>
                <a:latin typeface="微软雅黑" panose="020B0503020204020204" pitchFamily="34" charset="-122"/>
                <a:ea typeface="微软雅黑" panose="020B0503020204020204" pitchFamily="34" charset="-122"/>
              </a:rPr>
              <a:t>1.1</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5.0</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循环语句</a:t>
            </a:r>
            <a:r>
              <a:rPr lang="en-US" altLang="zh-CN" sz="1800" dirty="0">
                <a:solidFill>
                  <a:srgbClr val="003366"/>
                </a:solidFill>
                <a:latin typeface="微软雅黑" panose="020B0503020204020204" pitchFamily="34" charset="-122"/>
                <a:ea typeface="微软雅黑" panose="020B0503020204020204" pitchFamily="34" charset="-122"/>
              </a:rPr>
              <a:t>&gt; -&gt; &lt;loop</a:t>
            </a:r>
            <a:r>
              <a:rPr lang="zh-CN" altLang="en-US" sz="1800" dirty="0">
                <a:solidFill>
                  <a:srgbClr val="003366"/>
                </a:solidFill>
                <a:latin typeface="微软雅黑" panose="020B0503020204020204" pitchFamily="34" charset="-122"/>
                <a:ea typeface="微软雅黑" panose="020B0503020204020204" pitchFamily="34" charset="-122"/>
              </a:rPr>
              <a:t>语句</a:t>
            </a:r>
            <a:r>
              <a:rPr lang="en-US" altLang="zh-CN" sz="18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&lt;loop</a:t>
            </a:r>
            <a:r>
              <a:rPr lang="zh-CN" altLang="en-US" sz="1800" dirty="0">
                <a:solidFill>
                  <a:srgbClr val="003366"/>
                </a:solidFill>
                <a:latin typeface="微软雅黑" panose="020B0503020204020204" pitchFamily="34" charset="-122"/>
                <a:ea typeface="微软雅黑" panose="020B0503020204020204" pitchFamily="34" charset="-122"/>
              </a:rPr>
              <a:t>语句</a:t>
            </a:r>
            <a:r>
              <a:rPr lang="en-US" altLang="zh-CN" sz="1800" dirty="0">
                <a:solidFill>
                  <a:srgbClr val="003366"/>
                </a:solidFill>
                <a:latin typeface="微软雅黑" panose="020B0503020204020204" pitchFamily="34" charset="-122"/>
                <a:ea typeface="微软雅黑" panose="020B0503020204020204" pitchFamily="34" charset="-122"/>
              </a:rPr>
              <a:t>&gt;-&gt;loop  &lt;</a:t>
            </a:r>
            <a:r>
              <a:rPr lang="zh-CN" altLang="en-US" sz="1800" dirty="0">
                <a:solidFill>
                  <a:srgbClr val="003366"/>
                </a:solidFill>
                <a:latin typeface="微软雅黑" panose="020B0503020204020204" pitchFamily="34" charset="-122"/>
                <a:ea typeface="微软雅黑" panose="020B0503020204020204" pitchFamily="34" charset="-122"/>
              </a:rPr>
              <a:t>语句块</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语义说明：拓展无条件无限循环的能力，定义一个无限循环，每次迭代时执行 </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语句块</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中的内容，只有通过显式退出指令（如 </a:t>
            </a:r>
            <a:r>
              <a:rPr lang="en-US" altLang="zh-CN" sz="1800" dirty="0">
                <a:solidFill>
                  <a:srgbClr val="003366"/>
                </a:solidFill>
                <a:latin typeface="微软雅黑" panose="020B0503020204020204" pitchFamily="34" charset="-122"/>
                <a:ea typeface="微软雅黑" panose="020B0503020204020204" pitchFamily="34" charset="-122"/>
              </a:rPr>
              <a:t>break</a:t>
            </a:r>
            <a:r>
              <a:rPr lang="zh-CN" altLang="en-US" sz="1800" dirty="0">
                <a:solidFill>
                  <a:srgbClr val="003366"/>
                </a:solidFill>
                <a:latin typeface="微软雅黑" panose="020B0503020204020204" pitchFamily="34" charset="-122"/>
                <a:ea typeface="微软雅黑" panose="020B0503020204020204" pitchFamily="34" charset="-122"/>
              </a:rPr>
              <a:t>）才能终止循环。</a:t>
            </a:r>
          </a:p>
          <a:p>
            <a:pPr marL="0" lvl="1" indent="457200">
              <a:lnSpc>
                <a:spcPct val="120000"/>
              </a:lnSpc>
            </a:pPr>
            <a:endParaRPr lang="zh-CN" altLang="en-US" sz="1800" dirty="0">
              <a:solidFill>
                <a:srgbClr val="003366"/>
              </a:solidFill>
              <a:latin typeface="微软雅黑" panose="020B0503020204020204" pitchFamily="34" charset="-122"/>
              <a:ea typeface="微软雅黑" panose="020B0503020204020204" pitchFamily="34" charset="-122"/>
            </a:endParaRPr>
          </a:p>
          <a:p>
            <a:pPr marL="0" lvl="1" indent="457200">
              <a:lnSpc>
                <a:spcPct val="120000"/>
              </a:lnSpc>
            </a:pPr>
            <a:endParaRPr lang="en-US" altLang="zh-CN" sz="1800" dirty="0">
              <a:solidFill>
                <a:srgbClr val="003366"/>
              </a:solidFill>
              <a:latin typeface="微软雅黑" panose="020B0503020204020204" pitchFamily="34" charset="-122"/>
              <a:ea typeface="微软雅黑" panose="020B0503020204020204" pitchFamily="34" charset="-122"/>
            </a:endParaRPr>
          </a:p>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5.4 </a:t>
            </a:r>
            <a:r>
              <a:rPr lang="zh-CN" altLang="en-US" sz="1800" b="1" dirty="0">
                <a:solidFill>
                  <a:srgbClr val="003366"/>
                </a:solidFill>
                <a:latin typeface="微软雅黑" panose="020B0503020204020204" pitchFamily="34" charset="-122"/>
                <a:ea typeface="微软雅黑" panose="020B0503020204020204" pitchFamily="34" charset="-122"/>
              </a:rPr>
              <a:t>增加</a:t>
            </a:r>
            <a:r>
              <a:rPr lang="en-US" altLang="zh-CN" sz="1800" b="1" dirty="0">
                <a:solidFill>
                  <a:srgbClr val="003366"/>
                </a:solidFill>
                <a:latin typeface="微软雅黑" panose="020B0503020204020204" pitchFamily="34" charset="-122"/>
                <a:ea typeface="微软雅黑" panose="020B0503020204020204" pitchFamily="34" charset="-122"/>
              </a:rPr>
              <a:t>break</a:t>
            </a:r>
            <a:r>
              <a:rPr lang="zh-CN" altLang="en-US" sz="1800" b="1" dirty="0">
                <a:solidFill>
                  <a:srgbClr val="003366"/>
                </a:solidFill>
                <a:latin typeface="微软雅黑" panose="020B0503020204020204" pitchFamily="34" charset="-122"/>
                <a:ea typeface="微软雅黑" panose="020B0503020204020204" pitchFamily="34" charset="-122"/>
              </a:rPr>
              <a:t>和</a:t>
            </a:r>
            <a:r>
              <a:rPr lang="en-US" altLang="zh-CN" sz="1800" b="1" dirty="0">
                <a:solidFill>
                  <a:srgbClr val="003366"/>
                </a:solidFill>
                <a:latin typeface="微软雅黑" panose="020B0503020204020204" pitchFamily="34" charset="-122"/>
                <a:ea typeface="微软雅黑" panose="020B0503020204020204" pitchFamily="34" charset="-122"/>
              </a:rPr>
              <a:t>continue</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1.2</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语句</a:t>
            </a:r>
            <a:r>
              <a:rPr lang="en-US" altLang="zh-CN" sz="1800" dirty="0">
                <a:solidFill>
                  <a:srgbClr val="003366"/>
                </a:solidFill>
                <a:latin typeface="微软雅黑" panose="020B0503020204020204" pitchFamily="34" charset="-122"/>
                <a:ea typeface="微软雅黑" panose="020B0503020204020204" pitchFamily="34" charset="-122"/>
              </a:rPr>
              <a:t>&gt; -&gt; break ';' | continue ';'</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语义说明：增强循环逻辑的灵活性和表达能力。</a:t>
            </a:r>
            <a:endParaRPr lang="en-US" altLang="zh-CN" sz="1800" dirty="0">
              <a:solidFill>
                <a:srgbClr val="003366"/>
              </a:solidFill>
              <a:latin typeface="微软雅黑" panose="020B0503020204020204" pitchFamily="34" charset="-122"/>
              <a:ea typeface="微软雅黑" panose="020B0503020204020204" pitchFamily="34" charset="-122"/>
            </a:endParaRPr>
          </a:p>
          <a:p>
            <a:pPr marL="895350" lvl="2" indent="-28575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break ';' </a:t>
            </a:r>
            <a:r>
              <a:rPr lang="zh-CN" altLang="en-US" sz="1800" dirty="0">
                <a:solidFill>
                  <a:srgbClr val="003366"/>
                </a:solidFill>
                <a:latin typeface="微软雅黑" panose="020B0503020204020204" pitchFamily="34" charset="-122"/>
                <a:ea typeface="微软雅黑" panose="020B0503020204020204" pitchFamily="34" charset="-122"/>
              </a:rPr>
              <a:t>表示立即终止最内层当前所在的循环，控制流将跳出循环；必须出现在循环体内；在嵌套循环中使用仅跳出当前最内层循环。</a:t>
            </a:r>
            <a:endParaRPr lang="en-US" altLang="zh-CN" sz="1800" dirty="0">
              <a:solidFill>
                <a:srgbClr val="003366"/>
              </a:solidFill>
              <a:latin typeface="微软雅黑" panose="020B0503020204020204" pitchFamily="34" charset="-122"/>
              <a:ea typeface="微软雅黑" panose="020B0503020204020204" pitchFamily="34" charset="-122"/>
            </a:endParaRPr>
          </a:p>
          <a:p>
            <a:pPr marL="895350" lvl="2" indent="-28575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continue ';' </a:t>
            </a:r>
            <a:r>
              <a:rPr lang="zh-CN" altLang="en-US" sz="1800" dirty="0">
                <a:solidFill>
                  <a:srgbClr val="003366"/>
                </a:solidFill>
                <a:latin typeface="微软雅黑" panose="020B0503020204020204" pitchFamily="34" charset="-122"/>
                <a:ea typeface="微软雅黑" panose="020B0503020204020204" pitchFamily="34" charset="-122"/>
              </a:rPr>
              <a:t>表示跳过当前循环体中剩余的代码，控制流将跳转到下一次循环；必须出现在循环体内；在嵌套循环中使用仅影响当前所在循环。</a:t>
            </a:r>
            <a:endParaRPr lang="en-US" altLang="zh-CN" sz="1800" dirty="0">
              <a:solidFill>
                <a:srgbClr val="003366"/>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91BA991A-82F3-1B32-3621-9D570428DA6E}"/>
              </a:ext>
            </a:extLst>
          </p:cNvPr>
          <p:cNvSpPr txBox="1"/>
          <p:nvPr/>
        </p:nvSpPr>
        <p:spPr>
          <a:xfrm>
            <a:off x="8775236" y="737116"/>
            <a:ext cx="3404816" cy="6247864"/>
          </a:xfrm>
          <a:prstGeom prst="rect">
            <a:avLst/>
          </a:prstGeom>
          <a:noFill/>
        </p:spPr>
        <p:txBody>
          <a:bodyPr wrap="square">
            <a:spAutoFit/>
          </a:bodyPr>
          <a:lstStyle/>
          <a:p>
            <a:pPr marL="0" lvl="1" eaLnBrk="1" hangingPunct="1"/>
            <a:r>
              <a:rPr lang="nn-NO" altLang="zh-CN" sz="1600" dirty="0">
                <a:latin typeface="微软雅黑" panose="020B0503020204020204" pitchFamily="34" charset="-122"/>
                <a:ea typeface="微软雅黑" panose="020B0503020204020204" pitchFamily="34" charset="-122"/>
              </a:rPr>
              <a:t>fn program_5_3() {</a:t>
            </a:r>
          </a:p>
          <a:p>
            <a:pPr marL="0" lvl="1" eaLnBrk="1" hangingPunct="1"/>
            <a:r>
              <a:rPr lang="nn-NO" altLang="zh-CN" sz="1600" dirty="0">
                <a:latin typeface="微软雅黑" panose="020B0503020204020204" pitchFamily="34" charset="-122"/>
                <a:ea typeface="微软雅黑" panose="020B0503020204020204" pitchFamily="34" charset="-122"/>
              </a:rPr>
              <a:t>    loop {</a:t>
            </a:r>
          </a:p>
          <a:p>
            <a:pPr marL="0" lvl="1" eaLnBrk="1" hangingPunct="1"/>
            <a:endParaRPr lang="nn-NO" altLang="zh-CN" sz="1600" dirty="0">
              <a:latin typeface="微软雅黑" panose="020B0503020204020204" pitchFamily="34" charset="-122"/>
              <a:ea typeface="微软雅黑" panose="020B0503020204020204" pitchFamily="34" charset="-122"/>
            </a:endParaRPr>
          </a:p>
          <a:p>
            <a:pPr marL="0" lvl="1" eaLnBrk="1" hangingPunct="1"/>
            <a:r>
              <a:rPr lang="nn-NO" altLang="zh-CN" sz="1600" dirty="0">
                <a:latin typeface="微软雅黑" panose="020B0503020204020204" pitchFamily="34" charset="-122"/>
                <a:ea typeface="微软雅黑" panose="020B0503020204020204" pitchFamily="34" charset="-122"/>
              </a:rPr>
              <a:t>    }</a:t>
            </a:r>
          </a:p>
          <a:p>
            <a:pPr marL="0" lvl="1" eaLnBrk="1" hangingPunct="1"/>
            <a:r>
              <a:rPr lang="nn-NO" altLang="zh-CN" sz="1600" dirty="0">
                <a:latin typeface="微软雅黑" panose="020B0503020204020204" pitchFamily="34" charset="-122"/>
                <a:ea typeface="微软雅黑" panose="020B0503020204020204" pitchFamily="34" charset="-122"/>
              </a:rPr>
              <a:t>}</a:t>
            </a:r>
          </a:p>
          <a:p>
            <a:pPr marL="0" lvl="1" eaLnBrk="1" hangingPunct="1"/>
            <a:endParaRPr lang="nn-NO" altLang="zh-CN" sz="1600" dirty="0">
              <a:latin typeface="微软雅黑" panose="020B0503020204020204" pitchFamily="34" charset="-122"/>
              <a:ea typeface="微软雅黑" panose="020B0503020204020204" pitchFamily="34" charset="-122"/>
            </a:endParaRPr>
          </a:p>
          <a:p>
            <a:pPr marL="0" lvl="1" eaLnBrk="1" hangingPunct="1"/>
            <a:r>
              <a:rPr lang="nn-NO" altLang="zh-CN" sz="1600" dirty="0">
                <a:latin typeface="微软雅黑" panose="020B0503020204020204" pitchFamily="34" charset="-122"/>
                <a:ea typeface="微软雅黑" panose="020B0503020204020204" pitchFamily="34" charset="-122"/>
              </a:rPr>
              <a:t>fn program_5_4__1() {</a:t>
            </a:r>
          </a:p>
          <a:p>
            <a:pPr marL="0" lvl="1" eaLnBrk="1" hangingPunct="1"/>
            <a:r>
              <a:rPr lang="nn-NO" altLang="zh-CN" sz="1600" dirty="0">
                <a:latin typeface="微软雅黑" panose="020B0503020204020204" pitchFamily="34" charset="-122"/>
                <a:ea typeface="微软雅黑" panose="020B0503020204020204" pitchFamily="34" charset="-122"/>
              </a:rPr>
              <a:t>    while 1==1 {</a:t>
            </a:r>
          </a:p>
          <a:p>
            <a:pPr marL="0" lvl="1" eaLnBrk="1" hangingPunct="1"/>
            <a:r>
              <a:rPr lang="nn-NO" altLang="zh-CN" sz="1600" dirty="0">
                <a:latin typeface="微软雅黑" panose="020B0503020204020204" pitchFamily="34" charset="-122"/>
                <a:ea typeface="微软雅黑" panose="020B0503020204020204" pitchFamily="34" charset="-122"/>
              </a:rPr>
              <a:t>        break;</a:t>
            </a:r>
          </a:p>
          <a:p>
            <a:pPr marL="0" lvl="1" eaLnBrk="1" hangingPunct="1"/>
            <a:r>
              <a:rPr lang="nn-NO" altLang="zh-CN" sz="1600" dirty="0">
                <a:latin typeface="微软雅黑" panose="020B0503020204020204" pitchFamily="34" charset="-122"/>
                <a:ea typeface="微软雅黑" panose="020B0503020204020204" pitchFamily="34" charset="-122"/>
              </a:rPr>
              <a:t>    }</a:t>
            </a:r>
          </a:p>
          <a:p>
            <a:pPr marL="0" lvl="1" eaLnBrk="1" hangingPunct="1"/>
            <a:r>
              <a:rPr lang="nn-NO" altLang="zh-CN" sz="1600" dirty="0">
                <a:latin typeface="微软雅黑" panose="020B0503020204020204" pitchFamily="34" charset="-122"/>
                <a:ea typeface="微软雅黑" panose="020B0503020204020204" pitchFamily="34" charset="-122"/>
              </a:rPr>
              <a:t>}</a:t>
            </a:r>
          </a:p>
          <a:p>
            <a:pPr marL="0" lvl="1" eaLnBrk="1" hangingPunct="1"/>
            <a:endParaRPr lang="nn-NO" altLang="zh-CN" sz="1600" dirty="0">
              <a:latin typeface="微软雅黑" panose="020B0503020204020204" pitchFamily="34" charset="-122"/>
              <a:ea typeface="微软雅黑" panose="020B0503020204020204" pitchFamily="34" charset="-122"/>
            </a:endParaRPr>
          </a:p>
          <a:p>
            <a:pPr marL="0" lvl="1" eaLnBrk="1" hangingPunct="1"/>
            <a:r>
              <a:rPr lang="nn-NO" altLang="zh-CN" sz="1600" dirty="0">
                <a:latin typeface="微软雅黑" panose="020B0503020204020204" pitchFamily="34" charset="-122"/>
                <a:ea typeface="微软雅黑" panose="020B0503020204020204" pitchFamily="34" charset="-122"/>
              </a:rPr>
              <a:t>fn program_5_4__2() {</a:t>
            </a:r>
          </a:p>
          <a:p>
            <a:pPr marL="0" lvl="1" eaLnBrk="1" hangingPunct="1"/>
            <a:r>
              <a:rPr lang="nn-NO" altLang="zh-CN" sz="1600" dirty="0">
                <a:latin typeface="微软雅黑" panose="020B0503020204020204" pitchFamily="34" charset="-122"/>
                <a:ea typeface="微软雅黑" panose="020B0503020204020204" pitchFamily="34" charset="-122"/>
              </a:rPr>
              <a:t>    break;</a:t>
            </a:r>
          </a:p>
          <a:p>
            <a:pPr marL="0" lvl="1" eaLnBrk="1" hangingPunct="1"/>
            <a:r>
              <a:rPr lang="nn-NO" altLang="zh-CN" sz="1600" dirty="0">
                <a:latin typeface="微软雅黑" panose="020B0503020204020204" pitchFamily="34" charset="-122"/>
                <a:ea typeface="微软雅黑" panose="020B0503020204020204" pitchFamily="34" charset="-122"/>
              </a:rPr>
              <a:t>}</a:t>
            </a:r>
          </a:p>
          <a:p>
            <a:pPr marL="0" lvl="1" eaLnBrk="1" hangingPunct="1"/>
            <a:endParaRPr lang="nn-NO" altLang="zh-CN" sz="1600" dirty="0">
              <a:latin typeface="微软雅黑" panose="020B0503020204020204" pitchFamily="34" charset="-122"/>
              <a:ea typeface="微软雅黑" panose="020B0503020204020204" pitchFamily="34" charset="-122"/>
            </a:endParaRPr>
          </a:p>
          <a:p>
            <a:pPr marL="0" lvl="1" eaLnBrk="1" hangingPunct="1"/>
            <a:r>
              <a:rPr lang="nn-NO" altLang="zh-CN" sz="1600" dirty="0">
                <a:latin typeface="微软雅黑" panose="020B0503020204020204" pitchFamily="34" charset="-122"/>
                <a:ea typeface="微软雅黑" panose="020B0503020204020204" pitchFamily="34" charset="-122"/>
              </a:rPr>
              <a:t>fn program_5_4__3() {</a:t>
            </a:r>
          </a:p>
          <a:p>
            <a:pPr marL="0" lvl="1" eaLnBrk="1" hangingPunct="1"/>
            <a:r>
              <a:rPr lang="nn-NO" altLang="zh-CN" sz="1600" dirty="0">
                <a:latin typeface="微软雅黑" panose="020B0503020204020204" pitchFamily="34" charset="-122"/>
                <a:ea typeface="微软雅黑" panose="020B0503020204020204" pitchFamily="34" charset="-122"/>
              </a:rPr>
              <a:t>    while 1==0 {</a:t>
            </a:r>
          </a:p>
          <a:p>
            <a:pPr marL="0" lvl="1" eaLnBrk="1" hangingPunct="1"/>
            <a:r>
              <a:rPr lang="nn-NO" altLang="zh-CN" sz="1600" dirty="0">
                <a:latin typeface="微软雅黑" panose="020B0503020204020204" pitchFamily="34" charset="-122"/>
                <a:ea typeface="微软雅黑" panose="020B0503020204020204" pitchFamily="34" charset="-122"/>
              </a:rPr>
              <a:t>        continue;</a:t>
            </a:r>
          </a:p>
          <a:p>
            <a:pPr marL="0" lvl="1" eaLnBrk="1" hangingPunct="1"/>
            <a:r>
              <a:rPr lang="nn-NO" altLang="zh-CN" sz="1600" dirty="0">
                <a:latin typeface="微软雅黑" panose="020B0503020204020204" pitchFamily="34" charset="-122"/>
                <a:ea typeface="微软雅黑" panose="020B0503020204020204" pitchFamily="34" charset="-122"/>
              </a:rPr>
              <a:t>    }</a:t>
            </a:r>
          </a:p>
          <a:p>
            <a:pPr marL="0" lvl="1" eaLnBrk="1" hangingPunct="1"/>
            <a:r>
              <a:rPr lang="nn-NO" altLang="zh-CN" sz="1600" dirty="0">
                <a:latin typeface="微软雅黑" panose="020B0503020204020204" pitchFamily="34" charset="-122"/>
                <a:ea typeface="微软雅黑" panose="020B0503020204020204" pitchFamily="34" charset="-122"/>
              </a:rPr>
              <a:t>}</a:t>
            </a:r>
          </a:p>
          <a:p>
            <a:pPr marL="0" lvl="1" eaLnBrk="1" hangingPunct="1"/>
            <a:endParaRPr lang="nn-NO" altLang="zh-CN" sz="1600" dirty="0">
              <a:latin typeface="微软雅黑" panose="020B0503020204020204" pitchFamily="34" charset="-122"/>
              <a:ea typeface="微软雅黑" panose="020B0503020204020204" pitchFamily="34" charset="-122"/>
            </a:endParaRPr>
          </a:p>
          <a:p>
            <a:pPr marL="0" lvl="1" eaLnBrk="1" hangingPunct="1"/>
            <a:r>
              <a:rPr lang="nn-NO" altLang="zh-CN" sz="1600" dirty="0">
                <a:latin typeface="微软雅黑" panose="020B0503020204020204" pitchFamily="34" charset="-122"/>
                <a:ea typeface="微软雅黑" panose="020B0503020204020204" pitchFamily="34" charset="-122"/>
              </a:rPr>
              <a:t>fn program_5_4__4() {</a:t>
            </a:r>
          </a:p>
          <a:p>
            <a:pPr marL="0" lvl="1" eaLnBrk="1" hangingPunct="1"/>
            <a:r>
              <a:rPr lang="nn-NO" altLang="zh-CN" sz="1600" dirty="0">
                <a:latin typeface="微软雅黑" panose="020B0503020204020204" pitchFamily="34" charset="-122"/>
                <a:ea typeface="微软雅黑" panose="020B0503020204020204" pitchFamily="34" charset="-122"/>
              </a:rPr>
              <a:t>    continue;</a:t>
            </a:r>
          </a:p>
          <a:p>
            <a:pPr marL="0" lvl="1" eaLnBrk="1" hangingPunct="1"/>
            <a:r>
              <a:rPr lang="nn-NO" altLang="zh-CN" sz="1600" dirty="0">
                <a:latin typeface="微软雅黑" panose="020B0503020204020204" pitchFamily="34" charset="-122"/>
                <a:ea typeface="微软雅黑" panose="020B0503020204020204" pitchFamily="34" charset="-122"/>
              </a:rPr>
              <a:t>}</a:t>
            </a:r>
          </a:p>
        </p:txBody>
      </p:sp>
      <p:sp>
        <p:nvSpPr>
          <p:cNvPr id="7" name="文本框 6">
            <a:extLst>
              <a:ext uri="{FF2B5EF4-FFF2-40B4-BE49-F238E27FC236}">
                <a16:creationId xmlns:a16="http://schemas.microsoft.com/office/drawing/2014/main" id="{F12F2CC2-D8F0-839A-B8C3-E208E92CEA03}"/>
              </a:ext>
            </a:extLst>
          </p:cNvPr>
          <p:cNvSpPr txBox="1"/>
          <p:nvPr/>
        </p:nvSpPr>
        <p:spPr>
          <a:xfrm>
            <a:off x="10056440" y="3869356"/>
            <a:ext cx="1502570" cy="5167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break; </a:t>
            </a:r>
            <a:r>
              <a:rPr lang="zh-CN" altLang="en-US" sz="1200" dirty="0">
                <a:solidFill>
                  <a:srgbClr val="FF0000"/>
                </a:solidFill>
                <a:latin typeface="微软雅黑" panose="020B0503020204020204" pitchFamily="34" charset="-122"/>
                <a:ea typeface="微软雅黑" panose="020B0503020204020204" pitchFamily="34" charset="-122"/>
              </a:rPr>
              <a:t>必须出现在循环体内</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7619DCAA-EB97-FBAD-E999-BD1F93EBFC31}"/>
              </a:ext>
            </a:extLst>
          </p:cNvPr>
          <p:cNvSpPr txBox="1"/>
          <p:nvPr/>
        </p:nvSpPr>
        <p:spPr>
          <a:xfrm>
            <a:off x="10056440" y="6341255"/>
            <a:ext cx="1502570" cy="5167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continue; </a:t>
            </a:r>
            <a:r>
              <a:rPr lang="zh-CN" altLang="en-US" sz="1200" dirty="0">
                <a:solidFill>
                  <a:srgbClr val="FF0000"/>
                </a:solidFill>
                <a:latin typeface="微软雅黑" panose="020B0503020204020204" pitchFamily="34" charset="-122"/>
                <a:ea typeface="微软雅黑" panose="020B0503020204020204" pitchFamily="34" charset="-122"/>
              </a:rPr>
              <a:t>必须出现在循环体内</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48860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35470-D9CD-1291-8BEE-D1B8C6B2759E}"/>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7F5E6E73-C51F-285C-D6A1-DD9B7EFEA525}"/>
              </a:ext>
            </a:extLst>
          </p:cNvPr>
          <p:cNvSpPr txBox="1">
            <a:spLocks/>
          </p:cNvSpPr>
          <p:nvPr/>
        </p:nvSpPr>
        <p:spPr>
          <a:xfrm>
            <a:off x="72008" y="-12202"/>
            <a:ext cx="7752184" cy="848914"/>
          </a:xfrm>
          <a:prstGeom prst="rect">
            <a:avLst/>
          </a:prstGeom>
        </p:spPr>
        <p:txBody>
          <a:bodyPr/>
          <a:lstStyle>
            <a:lvl1pPr algn="ctr" defTabSz="1219200" rtl="0" eaLnBrk="1" latinLnBrk="0" hangingPunct="1">
              <a:spcBef>
                <a:spcPct val="0"/>
              </a:spcBef>
              <a:buNone/>
              <a:defRPr sz="5865" kern="1200">
                <a:solidFill>
                  <a:schemeClr val="tx1"/>
                </a:solidFill>
                <a:latin typeface="+mj-lt"/>
                <a:ea typeface="+mj-ea"/>
                <a:cs typeface="+mj-cs"/>
              </a:defRPr>
            </a:lvl1pPr>
          </a:lstStyle>
          <a:p>
            <a:pPr algn="l"/>
            <a:r>
              <a:rPr lang="zh-CN" altLang="en-US" sz="3600" b="1" dirty="0">
                <a:solidFill>
                  <a:schemeClr val="bg1"/>
                </a:solidFill>
                <a:latin typeface="微软雅黑" panose="020B0503020204020204" pitchFamily="34" charset="-122"/>
                <a:ea typeface="微软雅黑" panose="020B0503020204020204" pitchFamily="34" charset="-122"/>
              </a:rPr>
              <a:t>类</a:t>
            </a:r>
            <a:r>
              <a:rPr lang="en-US" altLang="zh-CN" sz="3600" b="1" dirty="0">
                <a:solidFill>
                  <a:schemeClr val="bg1"/>
                </a:solidFill>
                <a:latin typeface="微软雅黑" panose="020B0503020204020204" pitchFamily="34" charset="-122"/>
                <a:ea typeface="微软雅黑" panose="020B0503020204020204" pitchFamily="34" charset="-122"/>
              </a:rPr>
              <a:t>Rust</a:t>
            </a:r>
            <a:r>
              <a:rPr lang="zh-CN" altLang="en-US" sz="3600" b="1" dirty="0">
                <a:solidFill>
                  <a:schemeClr val="bg1"/>
                </a:solidFill>
                <a:latin typeface="微软雅黑" panose="020B0503020204020204" pitchFamily="34" charset="-122"/>
                <a:ea typeface="微软雅黑" panose="020B0503020204020204" pitchFamily="34" charset="-122"/>
              </a:rPr>
              <a:t>语法和语义规则</a:t>
            </a:r>
          </a:p>
        </p:txBody>
      </p:sp>
      <p:sp>
        <p:nvSpPr>
          <p:cNvPr id="2" name="文本框 1">
            <a:extLst>
              <a:ext uri="{FF2B5EF4-FFF2-40B4-BE49-F238E27FC236}">
                <a16:creationId xmlns:a16="http://schemas.microsoft.com/office/drawing/2014/main" id="{11DFECA6-584F-D470-8098-F0F071C38B8D}"/>
              </a:ext>
            </a:extLst>
          </p:cNvPr>
          <p:cNvSpPr txBox="1"/>
          <p:nvPr/>
        </p:nvSpPr>
        <p:spPr>
          <a:xfrm>
            <a:off x="0" y="810639"/>
            <a:ext cx="8394004" cy="6047361"/>
          </a:xfrm>
          <a:prstGeom prst="rect">
            <a:avLst/>
          </a:prstGeom>
          <a:noFill/>
        </p:spPr>
        <p:txBody>
          <a:bodyPr wrap="square">
            <a:spAutoFit/>
          </a:bodyPr>
          <a:lstStyle/>
          <a:p>
            <a:pPr marL="381000" indent="-5334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6.1 </a:t>
            </a:r>
            <a:r>
              <a:rPr lang="zh-CN" altLang="en-US" sz="1800" b="1" dirty="0">
                <a:solidFill>
                  <a:srgbClr val="003366"/>
                </a:solidFill>
                <a:latin typeface="微软雅黑" panose="020B0503020204020204" pitchFamily="34" charset="-122"/>
                <a:ea typeface="微软雅黑" panose="020B0503020204020204" pitchFamily="34" charset="-122"/>
              </a:rPr>
              <a:t>变量不可变属性（拓展</a:t>
            </a:r>
            <a:r>
              <a:rPr lang="en-US" altLang="zh-CN" sz="1800" b="1" dirty="0">
                <a:solidFill>
                  <a:srgbClr val="003366"/>
                </a:solidFill>
                <a:latin typeface="微软雅黑" panose="020B0503020204020204" pitchFamily="34" charset="-122"/>
                <a:ea typeface="微软雅黑" panose="020B0503020204020204" pitchFamily="34" charset="-122"/>
              </a:rPr>
              <a:t>0.1</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90600" lvl="1" indent="-5334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变量属性</a:t>
            </a:r>
            <a:r>
              <a:rPr lang="en-US" altLang="zh-CN" sz="1800" dirty="0">
                <a:solidFill>
                  <a:srgbClr val="003366"/>
                </a:solidFill>
                <a:latin typeface="微软雅黑" panose="020B0503020204020204" pitchFamily="34" charset="-122"/>
                <a:ea typeface="微软雅黑" panose="020B0503020204020204" pitchFamily="34" charset="-122"/>
              </a:rPr>
              <a:t>&gt; -&gt; </a:t>
            </a:r>
            <a:r>
              <a:rPr lang="zh-CN" altLang="en-US" sz="1800" dirty="0">
                <a:solidFill>
                  <a:srgbClr val="003366"/>
                </a:solidFill>
                <a:latin typeface="微软雅黑" panose="020B0503020204020204" pitchFamily="34" charset="-122"/>
                <a:ea typeface="微软雅黑" panose="020B0503020204020204" pitchFamily="34" charset="-122"/>
              </a:rPr>
              <a:t>空</a:t>
            </a:r>
            <a:endParaRPr lang="en-US" altLang="zh-CN" sz="1800" dirty="0">
              <a:solidFill>
                <a:srgbClr val="003366"/>
              </a:solidFill>
              <a:latin typeface="微软雅黑" panose="020B0503020204020204" pitchFamily="34" charset="-122"/>
              <a:ea typeface="微软雅黑" panose="020B0503020204020204" pitchFamily="34" charset="-122"/>
            </a:endParaRP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语义说明：变量声明时可以不标注</a:t>
            </a:r>
            <a:r>
              <a:rPr lang="en-US" altLang="zh-CN" sz="1800" dirty="0">
                <a:solidFill>
                  <a:srgbClr val="003366"/>
                </a:solidFill>
                <a:latin typeface="微软雅黑" panose="020B0503020204020204" pitchFamily="34" charset="-122"/>
                <a:ea typeface="微软雅黑" panose="020B0503020204020204" pitchFamily="34" charset="-122"/>
              </a:rPr>
              <a:t>mut</a:t>
            </a:r>
            <a:r>
              <a:rPr lang="zh-CN" altLang="en-US" sz="1800" dirty="0">
                <a:solidFill>
                  <a:srgbClr val="003366"/>
                </a:solidFill>
                <a:latin typeface="微软雅黑" panose="020B0503020204020204" pitchFamily="34" charset="-122"/>
                <a:ea typeface="微软雅黑" panose="020B0503020204020204" pitchFamily="34" charset="-122"/>
              </a:rPr>
              <a:t>关键字，如此变量不可被二次赋值；若变量是复合类型（如数组），其元素也不可被二次赋值。</a:t>
            </a:r>
            <a:endParaRPr lang="en-US" altLang="zh-CN" sz="1800" dirty="0">
              <a:solidFill>
                <a:srgbClr val="003366"/>
              </a:solidFill>
              <a:latin typeface="微软雅黑" panose="020B0503020204020204" pitchFamily="34" charset="-122"/>
              <a:ea typeface="微软雅黑" panose="020B0503020204020204" pitchFamily="34" charset="-122"/>
            </a:endParaRPr>
          </a:p>
          <a:p>
            <a:pPr marL="381000" indent="-533400">
              <a:lnSpc>
                <a:spcPct val="120000"/>
              </a:lnSpc>
              <a:buFont typeface="Wingdings" panose="05000000000000000000" pitchFamily="2" charset="2"/>
              <a:buChar char="Ø"/>
            </a:pPr>
            <a:endParaRPr lang="en-US" altLang="zh-CN" sz="1800" b="1" dirty="0">
              <a:solidFill>
                <a:srgbClr val="003366"/>
              </a:solidFill>
              <a:latin typeface="微软雅黑" panose="020B0503020204020204" pitchFamily="34" charset="-122"/>
              <a:ea typeface="微软雅黑" panose="020B0503020204020204" pitchFamily="34" charset="-122"/>
            </a:endParaRPr>
          </a:p>
          <a:p>
            <a:pPr marL="381000" indent="-5334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6.2 </a:t>
            </a:r>
            <a:r>
              <a:rPr lang="zh-CN" altLang="en-US" sz="1800" b="1" dirty="0">
                <a:solidFill>
                  <a:srgbClr val="003366"/>
                </a:solidFill>
                <a:latin typeface="微软雅黑" panose="020B0503020204020204" pitchFamily="34" charset="-122"/>
                <a:ea typeface="微软雅黑" panose="020B0503020204020204" pitchFamily="34" charset="-122"/>
              </a:rPr>
              <a:t>不可变引用（依赖</a:t>
            </a:r>
            <a:r>
              <a:rPr lang="en-US" altLang="zh-CN" sz="1800" b="1" dirty="0">
                <a:solidFill>
                  <a:srgbClr val="003366"/>
                </a:solidFill>
                <a:latin typeface="微软雅黑" panose="020B0503020204020204" pitchFamily="34" charset="-122"/>
                <a:ea typeface="微软雅黑" panose="020B0503020204020204" pitchFamily="34" charset="-122"/>
              </a:rPr>
              <a:t>0.2</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0.2</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90600" lvl="1" indent="-5334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 -&gt; '&amp;' &lt;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a:t>
            </a:r>
          </a:p>
          <a:p>
            <a:pPr marL="990600" lvl="1" indent="-5334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可取引用</a:t>
            </a:r>
            <a:r>
              <a:rPr lang="en-US" altLang="zh-CN" sz="1800" dirty="0">
                <a:solidFill>
                  <a:srgbClr val="003366"/>
                </a:solidFill>
                <a:latin typeface="微软雅黑" panose="020B0503020204020204" pitchFamily="34" charset="-122"/>
                <a:ea typeface="微软雅黑" panose="020B0503020204020204" pitchFamily="34" charset="-122"/>
              </a:rPr>
              <a:t>&gt; -&gt; '&amp;' &lt;</a:t>
            </a:r>
            <a:r>
              <a:rPr lang="zh-CN" altLang="en-US" sz="1800" dirty="0">
                <a:solidFill>
                  <a:srgbClr val="003366"/>
                </a:solidFill>
                <a:latin typeface="微软雅黑" panose="020B0503020204020204" pitchFamily="34" charset="-122"/>
                <a:ea typeface="微软雅黑" panose="020B0503020204020204" pitchFamily="34" charset="-122"/>
              </a:rPr>
              <a:t>可取引用</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a:t>
            </a:r>
            <a:r>
              <a:rPr lang="en-US" altLang="zh-CN" sz="1800" dirty="0">
                <a:solidFill>
                  <a:srgbClr val="003366"/>
                </a:solidFill>
                <a:latin typeface="微软雅黑" panose="020B0503020204020204" pitchFamily="34" charset="-122"/>
                <a:ea typeface="微软雅黑" panose="020B0503020204020204" pitchFamily="34" charset="-122"/>
              </a:rPr>
              <a:t>'&amp;' &lt;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表示一个指向对应数据类型的不可变引用类型。</a:t>
            </a:r>
            <a:r>
              <a:rPr lang="en-US" altLang="zh-CN" sz="1800" dirty="0">
                <a:solidFill>
                  <a:srgbClr val="003366"/>
                </a:solidFill>
                <a:latin typeface="微软雅黑" panose="020B0503020204020204" pitchFamily="34" charset="-122"/>
                <a:ea typeface="微软雅黑" panose="020B0503020204020204" pitchFamily="34" charset="-122"/>
              </a:rPr>
              <a:t> '&amp;' &lt;</a:t>
            </a:r>
            <a:r>
              <a:rPr lang="zh-CN" altLang="en-US" sz="1800" dirty="0">
                <a:solidFill>
                  <a:srgbClr val="003366"/>
                </a:solidFill>
                <a:latin typeface="微软雅黑" panose="020B0503020204020204" pitchFamily="34" charset="-122"/>
                <a:ea typeface="微软雅黑" panose="020B0503020204020204" pitchFamily="34" charset="-122"/>
              </a:rPr>
              <a:t>可取引用</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表示创建一个变量的不可变引用；允许通过该引用读取但不允许修改指向数据；可以同时存在多个不可变引用。</a:t>
            </a:r>
            <a:endParaRPr lang="en-US" altLang="zh-CN" sz="1800" dirty="0">
              <a:solidFill>
                <a:srgbClr val="003366"/>
              </a:solidFill>
              <a:latin typeface="微软雅黑" panose="020B0503020204020204" pitchFamily="34" charset="-122"/>
              <a:ea typeface="微软雅黑" panose="020B0503020204020204" pitchFamily="34" charset="-122"/>
            </a:endParaRPr>
          </a:p>
          <a:p>
            <a:pPr marL="0" lvl="1" indent="457200">
              <a:lnSpc>
                <a:spcPct val="120000"/>
              </a:lnSpc>
            </a:pPr>
            <a:endParaRPr lang="en-US" altLang="zh-CN" sz="1800" dirty="0">
              <a:solidFill>
                <a:srgbClr val="003366"/>
              </a:solidFill>
              <a:latin typeface="微软雅黑" panose="020B0503020204020204" pitchFamily="34" charset="-122"/>
              <a:ea typeface="微软雅黑" panose="020B0503020204020204" pitchFamily="34" charset="-122"/>
            </a:endParaRPr>
          </a:p>
          <a:p>
            <a:pPr marL="381000" indent="-5334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6.3 </a:t>
            </a:r>
            <a:r>
              <a:rPr lang="zh-CN" altLang="en-US" sz="1800" b="1" dirty="0">
                <a:solidFill>
                  <a:srgbClr val="003366"/>
                </a:solidFill>
                <a:latin typeface="微软雅黑" panose="020B0503020204020204" pitchFamily="34" charset="-122"/>
                <a:ea typeface="微软雅黑" panose="020B0503020204020204" pitchFamily="34" charset="-122"/>
              </a:rPr>
              <a:t>可变引用（依赖</a:t>
            </a:r>
            <a:r>
              <a:rPr lang="en-US" altLang="zh-CN" sz="1800" b="1" dirty="0">
                <a:solidFill>
                  <a:srgbClr val="003366"/>
                </a:solidFill>
                <a:latin typeface="微软雅黑" panose="020B0503020204020204" pitchFamily="34" charset="-122"/>
                <a:ea typeface="微软雅黑" panose="020B0503020204020204" pitchFamily="34" charset="-122"/>
              </a:rPr>
              <a:t>0.2</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0.2</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90600" lvl="1" indent="-5334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 -&gt; '&amp;' mut &lt;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a:t>
            </a:r>
          </a:p>
          <a:p>
            <a:pPr marL="990600" lvl="1" indent="-5334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可取引用</a:t>
            </a:r>
            <a:r>
              <a:rPr lang="en-US" altLang="zh-CN" sz="1800" dirty="0">
                <a:solidFill>
                  <a:srgbClr val="003366"/>
                </a:solidFill>
                <a:latin typeface="微软雅黑" panose="020B0503020204020204" pitchFamily="34" charset="-122"/>
                <a:ea typeface="微软雅黑" panose="020B0503020204020204" pitchFamily="34" charset="-122"/>
              </a:rPr>
              <a:t>&gt; -&gt; '&amp;' mut &lt;</a:t>
            </a:r>
            <a:r>
              <a:rPr lang="zh-CN" altLang="en-US" sz="1800" dirty="0">
                <a:solidFill>
                  <a:srgbClr val="003366"/>
                </a:solidFill>
                <a:latin typeface="微软雅黑" panose="020B0503020204020204" pitchFamily="34" charset="-122"/>
                <a:ea typeface="微软雅黑" panose="020B0503020204020204" pitchFamily="34" charset="-122"/>
              </a:rPr>
              <a:t>可取引用</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a:t>
            </a:r>
            <a:r>
              <a:rPr lang="en-US" altLang="zh-CN" sz="1800" dirty="0">
                <a:solidFill>
                  <a:srgbClr val="003366"/>
                </a:solidFill>
                <a:latin typeface="微软雅黑" panose="020B0503020204020204" pitchFamily="34" charset="-122"/>
                <a:ea typeface="微软雅黑" panose="020B0503020204020204" pitchFamily="34" charset="-122"/>
              </a:rPr>
              <a:t>'&amp;' mut &lt;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表示一个指向对应数据类型的可变引用类型。</a:t>
            </a:r>
            <a:r>
              <a:rPr lang="en-US" altLang="zh-CN" sz="1800" dirty="0">
                <a:solidFill>
                  <a:srgbClr val="003366"/>
                </a:solidFill>
                <a:latin typeface="微软雅黑" panose="020B0503020204020204" pitchFamily="34" charset="-122"/>
                <a:ea typeface="微软雅黑" panose="020B0503020204020204" pitchFamily="34" charset="-122"/>
              </a:rPr>
              <a:t>'&amp;' mut &lt;</a:t>
            </a:r>
            <a:r>
              <a:rPr lang="zh-CN" altLang="en-US" sz="1800" dirty="0">
                <a:solidFill>
                  <a:srgbClr val="003366"/>
                </a:solidFill>
                <a:latin typeface="微软雅黑" panose="020B0503020204020204" pitchFamily="34" charset="-122"/>
                <a:ea typeface="微软雅黑" panose="020B0503020204020204" pitchFamily="34" charset="-122"/>
              </a:rPr>
              <a:t>可取引用</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表示创建一个变量的可变引用；允许通过该引用修改指向数据；不允许存在其他的不可变或可变引用；仅允许从可变变量创建可变引用。</a:t>
            </a:r>
          </a:p>
        </p:txBody>
      </p:sp>
      <p:sp>
        <p:nvSpPr>
          <p:cNvPr id="8" name="文本框 7">
            <a:extLst>
              <a:ext uri="{FF2B5EF4-FFF2-40B4-BE49-F238E27FC236}">
                <a16:creationId xmlns:a16="http://schemas.microsoft.com/office/drawing/2014/main" id="{732D832B-F95E-2FC6-901F-5E8043766E88}"/>
              </a:ext>
            </a:extLst>
          </p:cNvPr>
          <p:cNvSpPr txBox="1"/>
          <p:nvPr/>
        </p:nvSpPr>
        <p:spPr>
          <a:xfrm>
            <a:off x="8775236" y="737116"/>
            <a:ext cx="3404816" cy="5016758"/>
          </a:xfrm>
          <a:prstGeom prst="rect">
            <a:avLst/>
          </a:prstGeom>
          <a:noFill/>
        </p:spPr>
        <p:txBody>
          <a:bodyPr wrap="square">
            <a:spAutoFit/>
          </a:bodyPr>
          <a:lstStyle/>
          <a:p>
            <a:pPr marL="0" lvl="1" eaLnBrk="1" hangingPunct="1"/>
            <a:r>
              <a:rPr lang="nn-NO" altLang="zh-CN" sz="1600" dirty="0">
                <a:latin typeface="微软雅黑" panose="020B0503020204020204" pitchFamily="34" charset="-122"/>
                <a:ea typeface="微软雅黑" panose="020B0503020204020204" pitchFamily="34" charset="-122"/>
              </a:rPr>
              <a:t>fn program_6_1__1() {</a:t>
            </a:r>
          </a:p>
          <a:p>
            <a:pPr marL="0" lvl="1" eaLnBrk="1" hangingPunct="1"/>
            <a:r>
              <a:rPr lang="nn-NO" altLang="zh-CN" sz="1600" dirty="0">
                <a:latin typeface="微软雅黑" panose="020B0503020204020204" pitchFamily="34" charset="-122"/>
                <a:ea typeface="微软雅黑" panose="020B0503020204020204" pitchFamily="34" charset="-122"/>
              </a:rPr>
              <a:t>    let a:i32=1;</a:t>
            </a:r>
          </a:p>
          <a:p>
            <a:pPr marL="0" lvl="1" eaLnBrk="1" hangingPunct="1"/>
            <a:r>
              <a:rPr lang="nn-NO" altLang="zh-CN" sz="1600" dirty="0">
                <a:latin typeface="微软雅黑" panose="020B0503020204020204" pitchFamily="34" charset="-122"/>
                <a:ea typeface="微软雅黑" panose="020B0503020204020204" pitchFamily="34" charset="-122"/>
              </a:rPr>
              <a:t>    let b=2;</a:t>
            </a:r>
          </a:p>
          <a:p>
            <a:pPr marL="0" lvl="1" eaLnBrk="1" hangingPunct="1"/>
            <a:r>
              <a:rPr lang="nn-NO" altLang="zh-CN" sz="1600" dirty="0">
                <a:latin typeface="微软雅黑" panose="020B0503020204020204" pitchFamily="34" charset="-122"/>
                <a:ea typeface="微软雅黑" panose="020B0503020204020204" pitchFamily="34" charset="-122"/>
              </a:rPr>
              <a:t>}</a:t>
            </a:r>
          </a:p>
          <a:p>
            <a:pPr marL="0" lvl="1" eaLnBrk="1" hangingPunct="1"/>
            <a:endParaRPr lang="nn-NO" altLang="zh-CN" sz="1600" dirty="0">
              <a:latin typeface="微软雅黑" panose="020B0503020204020204" pitchFamily="34" charset="-122"/>
              <a:ea typeface="微软雅黑" panose="020B0503020204020204" pitchFamily="34" charset="-122"/>
            </a:endParaRPr>
          </a:p>
          <a:p>
            <a:pPr marL="0" lvl="1" eaLnBrk="1" hangingPunct="1"/>
            <a:r>
              <a:rPr lang="nn-NO" altLang="zh-CN" sz="1600" dirty="0">
                <a:latin typeface="微软雅黑" panose="020B0503020204020204" pitchFamily="34" charset="-122"/>
                <a:ea typeface="微软雅黑" panose="020B0503020204020204" pitchFamily="34" charset="-122"/>
              </a:rPr>
              <a:t>fn program_6_1__2() {</a:t>
            </a:r>
          </a:p>
          <a:p>
            <a:pPr marL="0" lvl="1" eaLnBrk="1" hangingPunct="1"/>
            <a:r>
              <a:rPr lang="nn-NO" altLang="zh-CN" sz="1600" dirty="0">
                <a:latin typeface="微软雅黑" panose="020B0503020204020204" pitchFamily="34" charset="-122"/>
                <a:ea typeface="微软雅黑" panose="020B0503020204020204" pitchFamily="34" charset="-122"/>
              </a:rPr>
              <a:t>    let c:i32=1;</a:t>
            </a:r>
          </a:p>
          <a:p>
            <a:pPr marL="0" lvl="1" eaLnBrk="1" hangingPunct="1"/>
            <a:r>
              <a:rPr lang="nn-NO" altLang="zh-CN" sz="1600" dirty="0">
                <a:latin typeface="微软雅黑" panose="020B0503020204020204" pitchFamily="34" charset="-122"/>
                <a:ea typeface="微软雅黑" panose="020B0503020204020204" pitchFamily="34" charset="-122"/>
              </a:rPr>
              <a:t>    c=2;</a:t>
            </a:r>
          </a:p>
          <a:p>
            <a:pPr marL="0" lvl="1" eaLnBrk="1" hangingPunct="1"/>
            <a:r>
              <a:rPr lang="nn-NO" altLang="zh-CN" sz="1600" dirty="0">
                <a:latin typeface="微软雅黑" panose="020B0503020204020204" pitchFamily="34" charset="-122"/>
                <a:ea typeface="微软雅黑" panose="020B0503020204020204" pitchFamily="34" charset="-122"/>
              </a:rPr>
              <a:t>}</a:t>
            </a:r>
          </a:p>
          <a:p>
            <a:pPr marL="0" lvl="1" eaLnBrk="1" hangingPunct="1"/>
            <a:endParaRPr lang="nn-NO" altLang="zh-CN" sz="1600" dirty="0">
              <a:latin typeface="微软雅黑" panose="020B0503020204020204" pitchFamily="34" charset="-122"/>
              <a:ea typeface="微软雅黑" panose="020B0503020204020204" pitchFamily="34" charset="-122"/>
            </a:endParaRPr>
          </a:p>
          <a:p>
            <a:pPr marL="0" lvl="1" eaLnBrk="1" hangingPunct="1"/>
            <a:r>
              <a:rPr lang="nn-NO" altLang="zh-CN" sz="1600" dirty="0">
                <a:latin typeface="微软雅黑" panose="020B0503020204020204" pitchFamily="34" charset="-122"/>
                <a:ea typeface="微软雅黑" panose="020B0503020204020204" pitchFamily="34" charset="-122"/>
              </a:rPr>
              <a:t>fn program_6_2</a:t>
            </a:r>
            <a:r>
              <a:rPr lang="en-US" altLang="zh-CN" sz="1600" dirty="0">
                <a:latin typeface="微软雅黑" panose="020B0503020204020204" pitchFamily="34" charset="-122"/>
                <a:ea typeface="微软雅黑" panose="020B0503020204020204" pitchFamily="34" charset="-122"/>
              </a:rPr>
              <a:t>__1</a:t>
            </a:r>
            <a:r>
              <a:rPr lang="nn-NO" altLang="zh-CN" sz="1600" dirty="0">
                <a:latin typeface="微软雅黑" panose="020B0503020204020204" pitchFamily="34" charset="-122"/>
                <a:ea typeface="微软雅黑" panose="020B0503020204020204" pitchFamily="34" charset="-122"/>
              </a:rPr>
              <a:t>() {</a:t>
            </a:r>
          </a:p>
          <a:p>
            <a:pPr marL="0" lvl="1" eaLnBrk="1" hangingPunct="1"/>
            <a:r>
              <a:rPr lang="nn-NO" altLang="zh-CN" sz="1600" dirty="0">
                <a:latin typeface="微软雅黑" panose="020B0503020204020204" pitchFamily="34" charset="-122"/>
                <a:ea typeface="微软雅黑" panose="020B0503020204020204" pitchFamily="34" charset="-122"/>
              </a:rPr>
              <a:t>    let a:i32=1;</a:t>
            </a:r>
          </a:p>
          <a:p>
            <a:pPr marL="0" lvl="1" eaLnBrk="1" hangingPunct="1"/>
            <a:r>
              <a:rPr lang="nn-NO" altLang="zh-CN" sz="1600" dirty="0">
                <a:latin typeface="微软雅黑" panose="020B0503020204020204" pitchFamily="34" charset="-122"/>
                <a:ea typeface="微软雅黑" panose="020B0503020204020204" pitchFamily="34" charset="-122"/>
              </a:rPr>
              <a:t>    let b:</a:t>
            </a:r>
            <a:r>
              <a:rPr lang="nn-NO" altLang="zh-CN" sz="1600" dirty="0">
                <a:solidFill>
                  <a:srgbClr val="00B0F0"/>
                </a:solidFill>
                <a:latin typeface="微软雅黑" panose="020B0503020204020204" pitchFamily="34" charset="-122"/>
                <a:ea typeface="微软雅黑" panose="020B0503020204020204" pitchFamily="34" charset="-122"/>
              </a:rPr>
              <a:t>&amp;</a:t>
            </a:r>
            <a:r>
              <a:rPr lang="nn-NO" altLang="zh-CN" sz="1600" dirty="0">
                <a:latin typeface="微软雅黑" panose="020B0503020204020204" pitchFamily="34" charset="-122"/>
                <a:ea typeface="微软雅黑" panose="020B0503020204020204" pitchFamily="34" charset="-122"/>
              </a:rPr>
              <a:t> i32=</a:t>
            </a:r>
            <a:r>
              <a:rPr lang="nn-NO" altLang="zh-CN" sz="1600" dirty="0">
                <a:solidFill>
                  <a:srgbClr val="00B0F0"/>
                </a:solidFill>
                <a:latin typeface="微软雅黑" panose="020B0503020204020204" pitchFamily="34" charset="-122"/>
                <a:ea typeface="微软雅黑" panose="020B0503020204020204" pitchFamily="34" charset="-122"/>
              </a:rPr>
              <a:t>&amp;</a:t>
            </a:r>
            <a:r>
              <a:rPr lang="nn-NO" altLang="zh-CN" sz="1600" dirty="0">
                <a:latin typeface="微软雅黑" panose="020B0503020204020204" pitchFamily="34" charset="-122"/>
                <a:ea typeface="微软雅黑" panose="020B0503020204020204" pitchFamily="34" charset="-122"/>
              </a:rPr>
              <a:t>a;</a:t>
            </a:r>
          </a:p>
          <a:p>
            <a:pPr marL="0" lvl="1" eaLnBrk="1" hangingPunct="1"/>
            <a:r>
              <a:rPr lang="nn-NO" altLang="zh-CN" sz="1600" dirty="0">
                <a:latin typeface="微软雅黑" panose="020B0503020204020204" pitchFamily="34" charset="-122"/>
                <a:ea typeface="微软雅黑" panose="020B0503020204020204" pitchFamily="34" charset="-122"/>
              </a:rPr>
              <a:t>}</a:t>
            </a:r>
          </a:p>
          <a:p>
            <a:pPr marL="0" lvl="1" eaLnBrk="1" hangingPunct="1"/>
            <a:endParaRPr lang="nn-NO" altLang="zh-CN" sz="1600" dirty="0">
              <a:latin typeface="微软雅黑" panose="020B0503020204020204" pitchFamily="34" charset="-122"/>
              <a:ea typeface="微软雅黑" panose="020B0503020204020204" pitchFamily="34" charset="-122"/>
            </a:endParaRPr>
          </a:p>
          <a:p>
            <a:pPr marL="0" lvl="1"/>
            <a:r>
              <a:rPr lang="en-US" altLang="zh-CN" sz="1600" dirty="0" err="1">
                <a:latin typeface="微软雅黑" panose="020B0503020204020204" pitchFamily="34" charset="-122"/>
                <a:ea typeface="微软雅黑" panose="020B0503020204020204" pitchFamily="34" charset="-122"/>
              </a:rPr>
              <a:t>fn</a:t>
            </a:r>
            <a:r>
              <a:rPr lang="en-US" altLang="zh-CN" sz="1600" dirty="0">
                <a:latin typeface="微软雅黑" panose="020B0503020204020204" pitchFamily="34" charset="-122"/>
                <a:ea typeface="微软雅黑" panose="020B0503020204020204" pitchFamily="34" charset="-122"/>
              </a:rPr>
              <a:t> program_6_2__2() {</a:t>
            </a:r>
          </a:p>
          <a:p>
            <a:pPr marL="0" lvl="1"/>
            <a:r>
              <a:rPr lang="en-US" altLang="zh-CN" sz="1600" dirty="0">
                <a:latin typeface="微软雅黑" panose="020B0503020204020204" pitchFamily="34" charset="-122"/>
                <a:ea typeface="微软雅黑" panose="020B0503020204020204" pitchFamily="34" charset="-122"/>
              </a:rPr>
              <a:t>    let mut a:i32=1;</a:t>
            </a:r>
          </a:p>
          <a:p>
            <a:pPr marL="0" lvl="1"/>
            <a:r>
              <a:rPr lang="en-US" altLang="zh-CN" sz="1600" dirty="0">
                <a:latin typeface="微软雅黑" panose="020B0503020204020204" pitchFamily="34" charset="-122"/>
                <a:ea typeface="微软雅黑" panose="020B0503020204020204" pitchFamily="34" charset="-122"/>
              </a:rPr>
              <a:t>    let b=</a:t>
            </a:r>
            <a:r>
              <a:rPr lang="en-US" altLang="zh-CN" sz="1600" dirty="0">
                <a:solidFill>
                  <a:srgbClr val="00B0F0"/>
                </a:solidFill>
                <a:latin typeface="微软雅黑" panose="020B0503020204020204" pitchFamily="34" charset="-122"/>
                <a:ea typeface="微软雅黑" panose="020B0503020204020204" pitchFamily="34" charset="-122"/>
              </a:rPr>
              <a:t>&amp;</a:t>
            </a:r>
            <a:r>
              <a:rPr lang="en-US" altLang="zh-CN" sz="1600" dirty="0">
                <a:latin typeface="微软雅黑" panose="020B0503020204020204" pitchFamily="34" charset="-122"/>
                <a:ea typeface="微软雅黑" panose="020B0503020204020204" pitchFamily="34" charset="-122"/>
              </a:rPr>
              <a:t>a;</a:t>
            </a:r>
          </a:p>
          <a:p>
            <a:pPr marL="0" lvl="1"/>
            <a:r>
              <a:rPr lang="en-US" altLang="zh-CN" sz="1600" dirty="0">
                <a:latin typeface="微软雅黑" panose="020B0503020204020204" pitchFamily="34" charset="-122"/>
                <a:ea typeface="微软雅黑" panose="020B0503020204020204" pitchFamily="34" charset="-122"/>
              </a:rPr>
              <a:t>    let c=</a:t>
            </a:r>
            <a:r>
              <a:rPr lang="en-US" altLang="zh-CN" sz="1600" dirty="0">
                <a:solidFill>
                  <a:srgbClr val="00B0F0"/>
                </a:solidFill>
                <a:latin typeface="微软雅黑" panose="020B0503020204020204" pitchFamily="34" charset="-122"/>
                <a:ea typeface="微软雅黑" panose="020B0503020204020204" pitchFamily="34" charset="-122"/>
              </a:rPr>
              <a:t>&amp;</a:t>
            </a:r>
            <a:r>
              <a:rPr lang="en-US" altLang="zh-CN" sz="1600" dirty="0">
                <a:latin typeface="微软雅黑" panose="020B0503020204020204" pitchFamily="34" charset="-122"/>
                <a:ea typeface="微软雅黑" panose="020B0503020204020204" pitchFamily="34" charset="-122"/>
              </a:rPr>
              <a:t>a;</a:t>
            </a:r>
          </a:p>
          <a:p>
            <a:pPr marL="0" lvl="1"/>
            <a:r>
              <a:rPr lang="en-US" altLang="zh-CN" sz="1600" dirty="0">
                <a:latin typeface="微软雅黑" panose="020B0503020204020204" pitchFamily="34" charset="-122"/>
                <a:ea typeface="微软雅黑" panose="020B0503020204020204" pitchFamily="34" charset="-122"/>
              </a:rPr>
              <a:t>}</a:t>
            </a:r>
            <a:endParaRPr lang="nn-NO" altLang="zh-CN" sz="16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D084CAF4-D2AD-31A4-3059-B9D733394740}"/>
              </a:ext>
            </a:extLst>
          </p:cNvPr>
          <p:cNvSpPr txBox="1"/>
          <p:nvPr/>
        </p:nvSpPr>
        <p:spPr>
          <a:xfrm>
            <a:off x="10232582" y="2276872"/>
            <a:ext cx="1502570" cy="5167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不可变变量不可被二次赋值</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D7882159-7A36-E7DB-2E88-EC74B6E6F0A2}"/>
              </a:ext>
            </a:extLst>
          </p:cNvPr>
          <p:cNvSpPr txBox="1"/>
          <p:nvPr/>
        </p:nvSpPr>
        <p:spPr>
          <a:xfrm>
            <a:off x="10344472" y="5013176"/>
            <a:ext cx="1502570" cy="516745"/>
          </a:xfrm>
          <a:prstGeom prst="rect">
            <a:avLst/>
          </a:prstGeom>
          <a:noFill/>
        </p:spPr>
        <p:txBody>
          <a:bodyPr wrap="square">
            <a:spAutoFit/>
          </a:bodyPr>
          <a:lstStyle/>
          <a:p>
            <a:pPr marL="0" lvl="1">
              <a:lnSpc>
                <a:spcPct val="120000"/>
              </a:lnSpc>
            </a:pPr>
            <a:r>
              <a:rPr lang="zh-CN" altLang="en-US" sz="1200" dirty="0">
                <a:solidFill>
                  <a:srgbClr val="00B050"/>
                </a:solidFill>
                <a:latin typeface="微软雅黑" panose="020B0503020204020204" pitchFamily="34" charset="-122"/>
                <a:ea typeface="微软雅黑" panose="020B0503020204020204" pitchFamily="34" charset="-122"/>
              </a:rPr>
              <a:t>✓</a:t>
            </a:r>
            <a:r>
              <a:rPr lang="en-US" altLang="zh-CN" sz="1200" dirty="0">
                <a:solidFill>
                  <a:srgbClr val="00B050"/>
                </a:solidFill>
                <a:latin typeface="微软雅黑" panose="020B0503020204020204" pitchFamily="34" charset="-122"/>
                <a:ea typeface="微软雅黑" panose="020B0503020204020204" pitchFamily="34" charset="-122"/>
              </a:rPr>
              <a:t> </a:t>
            </a:r>
            <a:r>
              <a:rPr lang="zh-CN" altLang="en-US" sz="1200" dirty="0">
                <a:solidFill>
                  <a:srgbClr val="00B050"/>
                </a:solidFill>
                <a:latin typeface="微软雅黑" panose="020B0503020204020204" pitchFamily="34" charset="-122"/>
                <a:ea typeface="微软雅黑" panose="020B0503020204020204" pitchFamily="34" charset="-122"/>
              </a:rPr>
              <a:t>可以存在多个不可变引用</a:t>
            </a:r>
            <a:endParaRPr lang="en-US" altLang="zh-CN" sz="1200" dirty="0">
              <a:solidFill>
                <a:srgbClr val="00B05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56414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B100F-ED31-ADD4-41CB-02EB330B51A6}"/>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BED4022B-CA43-E82A-0702-1183BDE812B7}"/>
              </a:ext>
            </a:extLst>
          </p:cNvPr>
          <p:cNvSpPr txBox="1">
            <a:spLocks/>
          </p:cNvSpPr>
          <p:nvPr/>
        </p:nvSpPr>
        <p:spPr>
          <a:xfrm>
            <a:off x="72008" y="-12202"/>
            <a:ext cx="7752184" cy="848914"/>
          </a:xfrm>
          <a:prstGeom prst="rect">
            <a:avLst/>
          </a:prstGeom>
        </p:spPr>
        <p:txBody>
          <a:bodyPr/>
          <a:lstStyle>
            <a:lvl1pPr algn="ctr" defTabSz="1219200" rtl="0" eaLnBrk="1" latinLnBrk="0" hangingPunct="1">
              <a:spcBef>
                <a:spcPct val="0"/>
              </a:spcBef>
              <a:buNone/>
              <a:defRPr sz="5865" kern="1200">
                <a:solidFill>
                  <a:schemeClr val="tx1"/>
                </a:solidFill>
                <a:latin typeface="+mj-lt"/>
                <a:ea typeface="+mj-ea"/>
                <a:cs typeface="+mj-cs"/>
              </a:defRPr>
            </a:lvl1pPr>
          </a:lstStyle>
          <a:p>
            <a:pPr algn="l"/>
            <a:r>
              <a:rPr lang="zh-CN" altLang="en-US" sz="3600" b="1" dirty="0">
                <a:solidFill>
                  <a:schemeClr val="bg1"/>
                </a:solidFill>
                <a:latin typeface="微软雅黑" panose="020B0503020204020204" pitchFamily="34" charset="-122"/>
                <a:ea typeface="微软雅黑" panose="020B0503020204020204" pitchFamily="34" charset="-122"/>
              </a:rPr>
              <a:t>类</a:t>
            </a:r>
            <a:r>
              <a:rPr lang="en-US" altLang="zh-CN" sz="3600" b="1" dirty="0">
                <a:solidFill>
                  <a:schemeClr val="bg1"/>
                </a:solidFill>
                <a:latin typeface="微软雅黑" panose="020B0503020204020204" pitchFamily="34" charset="-122"/>
                <a:ea typeface="微软雅黑" panose="020B0503020204020204" pitchFamily="34" charset="-122"/>
              </a:rPr>
              <a:t>Rust</a:t>
            </a:r>
            <a:r>
              <a:rPr lang="zh-CN" altLang="en-US" sz="3600" b="1" dirty="0">
                <a:solidFill>
                  <a:schemeClr val="bg1"/>
                </a:solidFill>
                <a:latin typeface="微软雅黑" panose="020B0503020204020204" pitchFamily="34" charset="-122"/>
                <a:ea typeface="微软雅黑" panose="020B0503020204020204" pitchFamily="34" charset="-122"/>
              </a:rPr>
              <a:t>语法和语义规则</a:t>
            </a:r>
          </a:p>
        </p:txBody>
      </p:sp>
      <p:sp>
        <p:nvSpPr>
          <p:cNvPr id="2" name="文本框 1">
            <a:extLst>
              <a:ext uri="{FF2B5EF4-FFF2-40B4-BE49-F238E27FC236}">
                <a16:creationId xmlns:a16="http://schemas.microsoft.com/office/drawing/2014/main" id="{0904A267-8CCB-40E0-AAF8-8F0ABFD71B5C}"/>
              </a:ext>
            </a:extLst>
          </p:cNvPr>
          <p:cNvSpPr txBox="1"/>
          <p:nvPr/>
        </p:nvSpPr>
        <p:spPr>
          <a:xfrm>
            <a:off x="0" y="810639"/>
            <a:ext cx="8394004" cy="6047361"/>
          </a:xfrm>
          <a:prstGeom prst="rect">
            <a:avLst/>
          </a:prstGeom>
          <a:noFill/>
        </p:spPr>
        <p:txBody>
          <a:bodyPr wrap="square">
            <a:spAutoFit/>
          </a:bodyPr>
          <a:lstStyle/>
          <a:p>
            <a:pPr marL="381000" indent="-5334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6.1 </a:t>
            </a:r>
            <a:r>
              <a:rPr lang="zh-CN" altLang="en-US" sz="1800" b="1" dirty="0">
                <a:solidFill>
                  <a:srgbClr val="003366"/>
                </a:solidFill>
                <a:latin typeface="微软雅黑" panose="020B0503020204020204" pitchFamily="34" charset="-122"/>
                <a:ea typeface="微软雅黑" panose="020B0503020204020204" pitchFamily="34" charset="-122"/>
              </a:rPr>
              <a:t>变量不可变属性（拓展</a:t>
            </a:r>
            <a:r>
              <a:rPr lang="en-US" altLang="zh-CN" sz="1800" b="1" dirty="0">
                <a:solidFill>
                  <a:srgbClr val="003366"/>
                </a:solidFill>
                <a:latin typeface="微软雅黑" panose="020B0503020204020204" pitchFamily="34" charset="-122"/>
                <a:ea typeface="微软雅黑" panose="020B0503020204020204" pitchFamily="34" charset="-122"/>
              </a:rPr>
              <a:t>0.1</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90600" lvl="1" indent="-5334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变量属性</a:t>
            </a:r>
            <a:r>
              <a:rPr lang="en-US" altLang="zh-CN" sz="1800" dirty="0">
                <a:solidFill>
                  <a:srgbClr val="003366"/>
                </a:solidFill>
                <a:latin typeface="微软雅黑" panose="020B0503020204020204" pitchFamily="34" charset="-122"/>
                <a:ea typeface="微软雅黑" panose="020B0503020204020204" pitchFamily="34" charset="-122"/>
              </a:rPr>
              <a:t>&gt; -&gt; </a:t>
            </a:r>
            <a:r>
              <a:rPr lang="zh-CN" altLang="en-US" sz="1800" dirty="0">
                <a:solidFill>
                  <a:srgbClr val="003366"/>
                </a:solidFill>
                <a:latin typeface="微软雅黑" panose="020B0503020204020204" pitchFamily="34" charset="-122"/>
                <a:ea typeface="微软雅黑" panose="020B0503020204020204" pitchFamily="34" charset="-122"/>
              </a:rPr>
              <a:t>空</a:t>
            </a:r>
            <a:endParaRPr lang="en-US" altLang="zh-CN" sz="1800" dirty="0">
              <a:solidFill>
                <a:srgbClr val="003366"/>
              </a:solidFill>
              <a:latin typeface="微软雅黑" panose="020B0503020204020204" pitchFamily="34" charset="-122"/>
              <a:ea typeface="微软雅黑" panose="020B0503020204020204" pitchFamily="34" charset="-122"/>
            </a:endParaRP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语义说明：变量声明时可以不标注</a:t>
            </a:r>
            <a:r>
              <a:rPr lang="en-US" altLang="zh-CN" sz="1800" dirty="0">
                <a:solidFill>
                  <a:srgbClr val="003366"/>
                </a:solidFill>
                <a:latin typeface="微软雅黑" panose="020B0503020204020204" pitchFamily="34" charset="-122"/>
                <a:ea typeface="微软雅黑" panose="020B0503020204020204" pitchFamily="34" charset="-122"/>
              </a:rPr>
              <a:t>mut</a:t>
            </a:r>
            <a:r>
              <a:rPr lang="zh-CN" altLang="en-US" sz="1800" dirty="0">
                <a:solidFill>
                  <a:srgbClr val="003366"/>
                </a:solidFill>
                <a:latin typeface="微软雅黑" panose="020B0503020204020204" pitchFamily="34" charset="-122"/>
                <a:ea typeface="微软雅黑" panose="020B0503020204020204" pitchFamily="34" charset="-122"/>
              </a:rPr>
              <a:t>关键字，如此变量不可被二次赋值；若变量是复合类型（如数组），其元素也不可被二次赋值。</a:t>
            </a:r>
            <a:endParaRPr lang="en-US" altLang="zh-CN" sz="1800" dirty="0">
              <a:solidFill>
                <a:srgbClr val="003366"/>
              </a:solidFill>
              <a:latin typeface="微软雅黑" panose="020B0503020204020204" pitchFamily="34" charset="-122"/>
              <a:ea typeface="微软雅黑" panose="020B0503020204020204" pitchFamily="34" charset="-122"/>
            </a:endParaRPr>
          </a:p>
          <a:p>
            <a:pPr marL="381000" indent="-533400">
              <a:lnSpc>
                <a:spcPct val="120000"/>
              </a:lnSpc>
              <a:buFont typeface="Wingdings" panose="05000000000000000000" pitchFamily="2" charset="2"/>
              <a:buChar char="Ø"/>
            </a:pPr>
            <a:endParaRPr lang="en-US" altLang="zh-CN" sz="1800" b="1" dirty="0">
              <a:solidFill>
                <a:srgbClr val="003366"/>
              </a:solidFill>
              <a:latin typeface="微软雅黑" panose="020B0503020204020204" pitchFamily="34" charset="-122"/>
              <a:ea typeface="微软雅黑" panose="020B0503020204020204" pitchFamily="34" charset="-122"/>
            </a:endParaRPr>
          </a:p>
          <a:p>
            <a:pPr marL="381000" indent="-5334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6.2 </a:t>
            </a:r>
            <a:r>
              <a:rPr lang="zh-CN" altLang="en-US" sz="1800" b="1" dirty="0">
                <a:solidFill>
                  <a:srgbClr val="003366"/>
                </a:solidFill>
                <a:latin typeface="微软雅黑" panose="020B0503020204020204" pitchFamily="34" charset="-122"/>
                <a:ea typeface="微软雅黑" panose="020B0503020204020204" pitchFamily="34" charset="-122"/>
              </a:rPr>
              <a:t>不可变引用（依赖</a:t>
            </a:r>
            <a:r>
              <a:rPr lang="en-US" altLang="zh-CN" sz="1800" b="1" dirty="0">
                <a:solidFill>
                  <a:srgbClr val="003366"/>
                </a:solidFill>
                <a:latin typeface="微软雅黑" panose="020B0503020204020204" pitchFamily="34" charset="-122"/>
                <a:ea typeface="微软雅黑" panose="020B0503020204020204" pitchFamily="34" charset="-122"/>
              </a:rPr>
              <a:t>0.2</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0.2</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90600" lvl="1" indent="-5334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 -&gt; '&amp;' &lt;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a:t>
            </a:r>
          </a:p>
          <a:p>
            <a:pPr marL="990600" lvl="1" indent="-5334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可取引用</a:t>
            </a:r>
            <a:r>
              <a:rPr lang="en-US" altLang="zh-CN" sz="1800" dirty="0">
                <a:solidFill>
                  <a:srgbClr val="003366"/>
                </a:solidFill>
                <a:latin typeface="微软雅黑" panose="020B0503020204020204" pitchFamily="34" charset="-122"/>
                <a:ea typeface="微软雅黑" panose="020B0503020204020204" pitchFamily="34" charset="-122"/>
              </a:rPr>
              <a:t>&gt; -&gt; '&amp;' &lt;</a:t>
            </a:r>
            <a:r>
              <a:rPr lang="zh-CN" altLang="en-US" sz="1800" dirty="0">
                <a:solidFill>
                  <a:srgbClr val="003366"/>
                </a:solidFill>
                <a:latin typeface="微软雅黑" panose="020B0503020204020204" pitchFamily="34" charset="-122"/>
                <a:ea typeface="微软雅黑" panose="020B0503020204020204" pitchFamily="34" charset="-122"/>
              </a:rPr>
              <a:t>可取引用</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a:t>
            </a:r>
            <a:r>
              <a:rPr lang="en-US" altLang="zh-CN" sz="1800" dirty="0">
                <a:solidFill>
                  <a:srgbClr val="003366"/>
                </a:solidFill>
                <a:latin typeface="微软雅黑" panose="020B0503020204020204" pitchFamily="34" charset="-122"/>
                <a:ea typeface="微软雅黑" panose="020B0503020204020204" pitchFamily="34" charset="-122"/>
              </a:rPr>
              <a:t>'&amp;' &lt;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表示一个指向对应数据类型的不可变引用类型。</a:t>
            </a:r>
            <a:r>
              <a:rPr lang="en-US" altLang="zh-CN" sz="1800" dirty="0">
                <a:solidFill>
                  <a:srgbClr val="003366"/>
                </a:solidFill>
                <a:latin typeface="微软雅黑" panose="020B0503020204020204" pitchFamily="34" charset="-122"/>
                <a:ea typeface="微软雅黑" panose="020B0503020204020204" pitchFamily="34" charset="-122"/>
              </a:rPr>
              <a:t> '&amp;' &lt;</a:t>
            </a:r>
            <a:r>
              <a:rPr lang="zh-CN" altLang="en-US" sz="1800" dirty="0">
                <a:solidFill>
                  <a:srgbClr val="003366"/>
                </a:solidFill>
                <a:latin typeface="微软雅黑" panose="020B0503020204020204" pitchFamily="34" charset="-122"/>
                <a:ea typeface="微软雅黑" panose="020B0503020204020204" pitchFamily="34" charset="-122"/>
              </a:rPr>
              <a:t>可取引用</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表示创建一个变量的不可变引用；允许通过该引用读取但不允许修改指向数据；可以同时存在多个不可变引用。</a:t>
            </a:r>
            <a:endParaRPr lang="en-US" altLang="zh-CN" sz="1800" dirty="0">
              <a:solidFill>
                <a:srgbClr val="003366"/>
              </a:solidFill>
              <a:latin typeface="微软雅黑" panose="020B0503020204020204" pitchFamily="34" charset="-122"/>
              <a:ea typeface="微软雅黑" panose="020B0503020204020204" pitchFamily="34" charset="-122"/>
            </a:endParaRPr>
          </a:p>
          <a:p>
            <a:pPr marL="0" lvl="1" indent="457200">
              <a:lnSpc>
                <a:spcPct val="120000"/>
              </a:lnSpc>
            </a:pPr>
            <a:endParaRPr lang="en-US" altLang="zh-CN" sz="1800" dirty="0">
              <a:solidFill>
                <a:srgbClr val="003366"/>
              </a:solidFill>
              <a:latin typeface="微软雅黑" panose="020B0503020204020204" pitchFamily="34" charset="-122"/>
              <a:ea typeface="微软雅黑" panose="020B0503020204020204" pitchFamily="34" charset="-122"/>
            </a:endParaRPr>
          </a:p>
          <a:p>
            <a:pPr marL="381000" indent="-5334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6.3 </a:t>
            </a:r>
            <a:r>
              <a:rPr lang="zh-CN" altLang="en-US" sz="1800" b="1" dirty="0">
                <a:solidFill>
                  <a:srgbClr val="003366"/>
                </a:solidFill>
                <a:latin typeface="微软雅黑" panose="020B0503020204020204" pitchFamily="34" charset="-122"/>
                <a:ea typeface="微软雅黑" panose="020B0503020204020204" pitchFamily="34" charset="-122"/>
              </a:rPr>
              <a:t>可变引用（依赖</a:t>
            </a:r>
            <a:r>
              <a:rPr lang="en-US" altLang="zh-CN" sz="1800" b="1" dirty="0">
                <a:solidFill>
                  <a:srgbClr val="003366"/>
                </a:solidFill>
                <a:latin typeface="微软雅黑" panose="020B0503020204020204" pitchFamily="34" charset="-122"/>
                <a:ea typeface="微软雅黑" panose="020B0503020204020204" pitchFamily="34" charset="-122"/>
              </a:rPr>
              <a:t>0.2</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0.2</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90600" lvl="1" indent="-5334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 -&gt; '&amp;' mut &lt;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a:t>
            </a:r>
          </a:p>
          <a:p>
            <a:pPr marL="990600" lvl="1" indent="-5334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可取引用</a:t>
            </a:r>
            <a:r>
              <a:rPr lang="en-US" altLang="zh-CN" sz="1800" dirty="0">
                <a:solidFill>
                  <a:srgbClr val="003366"/>
                </a:solidFill>
                <a:latin typeface="微软雅黑" panose="020B0503020204020204" pitchFamily="34" charset="-122"/>
                <a:ea typeface="微软雅黑" panose="020B0503020204020204" pitchFamily="34" charset="-122"/>
              </a:rPr>
              <a:t>&gt; -&gt; '&amp;' mut &lt;</a:t>
            </a:r>
            <a:r>
              <a:rPr lang="zh-CN" altLang="en-US" sz="1800" dirty="0">
                <a:solidFill>
                  <a:srgbClr val="003366"/>
                </a:solidFill>
                <a:latin typeface="微软雅黑" panose="020B0503020204020204" pitchFamily="34" charset="-122"/>
                <a:ea typeface="微软雅黑" panose="020B0503020204020204" pitchFamily="34" charset="-122"/>
              </a:rPr>
              <a:t>可取引用</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a:t>
            </a:r>
            <a:r>
              <a:rPr lang="en-US" altLang="zh-CN" sz="1800" dirty="0">
                <a:solidFill>
                  <a:srgbClr val="003366"/>
                </a:solidFill>
                <a:latin typeface="微软雅黑" panose="020B0503020204020204" pitchFamily="34" charset="-122"/>
                <a:ea typeface="微软雅黑" panose="020B0503020204020204" pitchFamily="34" charset="-122"/>
              </a:rPr>
              <a:t>'&amp;' mut &lt;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表示一个指向对应数据类型的可变引用类型。</a:t>
            </a:r>
            <a:r>
              <a:rPr lang="en-US" altLang="zh-CN" sz="1800" dirty="0">
                <a:solidFill>
                  <a:srgbClr val="003366"/>
                </a:solidFill>
                <a:latin typeface="微软雅黑" panose="020B0503020204020204" pitchFamily="34" charset="-122"/>
                <a:ea typeface="微软雅黑" panose="020B0503020204020204" pitchFamily="34" charset="-122"/>
              </a:rPr>
              <a:t>'&amp;' mut &lt;</a:t>
            </a:r>
            <a:r>
              <a:rPr lang="zh-CN" altLang="en-US" sz="1800" dirty="0">
                <a:solidFill>
                  <a:srgbClr val="003366"/>
                </a:solidFill>
                <a:latin typeface="微软雅黑" panose="020B0503020204020204" pitchFamily="34" charset="-122"/>
                <a:ea typeface="微软雅黑" panose="020B0503020204020204" pitchFamily="34" charset="-122"/>
              </a:rPr>
              <a:t>可取引用</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表示创建一个变量的可变引用；允许通过该引用修改指向数据；不允许存在其他的不可变或可变引用；仅允许从可变变量创建可变引用。</a:t>
            </a:r>
          </a:p>
        </p:txBody>
      </p:sp>
      <p:sp>
        <p:nvSpPr>
          <p:cNvPr id="8" name="文本框 7">
            <a:extLst>
              <a:ext uri="{FF2B5EF4-FFF2-40B4-BE49-F238E27FC236}">
                <a16:creationId xmlns:a16="http://schemas.microsoft.com/office/drawing/2014/main" id="{AE1E5BEC-ABC2-539C-AC65-799568C8FB4A}"/>
              </a:ext>
            </a:extLst>
          </p:cNvPr>
          <p:cNvSpPr txBox="1"/>
          <p:nvPr/>
        </p:nvSpPr>
        <p:spPr>
          <a:xfrm>
            <a:off x="8775236" y="1808410"/>
            <a:ext cx="3404816" cy="5016758"/>
          </a:xfrm>
          <a:prstGeom prst="rect">
            <a:avLst/>
          </a:prstGeom>
          <a:noFill/>
        </p:spPr>
        <p:txBody>
          <a:bodyPr wrap="square">
            <a:spAutoFit/>
          </a:bodyPr>
          <a:lstStyle/>
          <a:p>
            <a:pPr marL="0" lvl="1" eaLnBrk="1" hangingPunct="1"/>
            <a:endParaRPr lang="nn-NO" altLang="zh-CN" sz="1600" dirty="0">
              <a:latin typeface="微软雅黑" panose="020B0503020204020204" pitchFamily="34" charset="-122"/>
              <a:ea typeface="微软雅黑" panose="020B0503020204020204" pitchFamily="34" charset="-122"/>
            </a:endParaRPr>
          </a:p>
          <a:p>
            <a:pPr marL="0" lvl="1"/>
            <a:r>
              <a:rPr lang="nn-NO" altLang="zh-CN" sz="1600" dirty="0">
                <a:latin typeface="微软雅黑" panose="020B0503020204020204" pitchFamily="34" charset="-122"/>
                <a:ea typeface="微软雅黑" panose="020B0503020204020204" pitchFamily="34" charset="-122"/>
              </a:rPr>
              <a:t>fn program_6_3() {</a:t>
            </a:r>
          </a:p>
          <a:p>
            <a:pPr marL="0" lvl="1"/>
            <a:r>
              <a:rPr lang="nn-NO" altLang="zh-CN" sz="1600" dirty="0">
                <a:latin typeface="微软雅黑" panose="020B0503020204020204" pitchFamily="34" charset="-122"/>
                <a:ea typeface="微软雅黑" panose="020B0503020204020204" pitchFamily="34" charset="-122"/>
              </a:rPr>
              <a:t>    let mut a:i32=1;</a:t>
            </a:r>
          </a:p>
          <a:p>
            <a:pPr marL="0" lvl="1"/>
            <a:r>
              <a:rPr lang="nn-NO" altLang="zh-CN" sz="1600" dirty="0">
                <a:latin typeface="微软雅黑" panose="020B0503020204020204" pitchFamily="34" charset="-122"/>
                <a:ea typeface="微软雅黑" panose="020B0503020204020204" pitchFamily="34" charset="-122"/>
              </a:rPr>
              <a:t>    let mut b:</a:t>
            </a:r>
            <a:r>
              <a:rPr lang="nn-NO" altLang="zh-CN" sz="1600" dirty="0">
                <a:solidFill>
                  <a:srgbClr val="00B0F0"/>
                </a:solidFill>
                <a:latin typeface="微软雅黑" panose="020B0503020204020204" pitchFamily="34" charset="-122"/>
                <a:ea typeface="微软雅黑" panose="020B0503020204020204" pitchFamily="34" charset="-122"/>
              </a:rPr>
              <a:t>&amp;mut</a:t>
            </a:r>
            <a:r>
              <a:rPr lang="nn-NO" altLang="zh-CN" sz="1600" dirty="0">
                <a:latin typeface="微软雅黑" panose="020B0503020204020204" pitchFamily="34" charset="-122"/>
                <a:ea typeface="微软雅黑" panose="020B0503020204020204" pitchFamily="34" charset="-122"/>
              </a:rPr>
              <a:t> i32=</a:t>
            </a:r>
            <a:r>
              <a:rPr lang="nn-NO" altLang="zh-CN" sz="1600" dirty="0">
                <a:solidFill>
                  <a:srgbClr val="00B0F0"/>
                </a:solidFill>
                <a:latin typeface="微软雅黑" panose="020B0503020204020204" pitchFamily="34" charset="-122"/>
                <a:ea typeface="微软雅黑" panose="020B0503020204020204" pitchFamily="34" charset="-122"/>
              </a:rPr>
              <a:t>&amp;mut</a:t>
            </a:r>
            <a:r>
              <a:rPr lang="nn-NO" altLang="zh-CN" sz="1600" dirty="0">
                <a:latin typeface="微软雅黑" panose="020B0503020204020204" pitchFamily="34" charset="-122"/>
                <a:ea typeface="微软雅黑" panose="020B0503020204020204" pitchFamily="34" charset="-122"/>
              </a:rPr>
              <a:t> a;</a:t>
            </a:r>
          </a:p>
          <a:p>
            <a:pPr marL="0" lvl="1"/>
            <a:r>
              <a:rPr lang="nn-NO" altLang="zh-CN" sz="1600" dirty="0">
                <a:latin typeface="微软雅黑" panose="020B0503020204020204" pitchFamily="34" charset="-122"/>
                <a:ea typeface="微软雅黑" panose="020B0503020204020204" pitchFamily="34" charset="-122"/>
              </a:rPr>
              <a:t>}</a:t>
            </a:r>
          </a:p>
          <a:p>
            <a:pPr marL="0" lvl="1"/>
            <a:endParaRPr lang="en-US" altLang="zh-CN" sz="1600" dirty="0">
              <a:latin typeface="微软雅黑" panose="020B0503020204020204" pitchFamily="34" charset="-122"/>
              <a:ea typeface="微软雅黑" panose="020B0503020204020204" pitchFamily="34" charset="-122"/>
            </a:endParaRPr>
          </a:p>
          <a:p>
            <a:pPr marL="0" lvl="1"/>
            <a:r>
              <a:rPr lang="en-US" altLang="zh-CN" sz="1600" dirty="0" err="1">
                <a:latin typeface="微软雅黑" panose="020B0503020204020204" pitchFamily="34" charset="-122"/>
                <a:ea typeface="微软雅黑" panose="020B0503020204020204" pitchFamily="34" charset="-122"/>
              </a:rPr>
              <a:t>fn</a:t>
            </a:r>
            <a:r>
              <a:rPr lang="en-US" altLang="zh-CN" sz="1600" dirty="0">
                <a:latin typeface="微软雅黑" panose="020B0503020204020204" pitchFamily="34" charset="-122"/>
                <a:ea typeface="微软雅黑" panose="020B0503020204020204" pitchFamily="34" charset="-122"/>
              </a:rPr>
              <a:t> program_6_3__4() {</a:t>
            </a:r>
          </a:p>
          <a:p>
            <a:pPr marL="0" lvl="1"/>
            <a:r>
              <a:rPr lang="en-US" altLang="zh-CN" sz="1600" dirty="0">
                <a:latin typeface="微软雅黑" panose="020B0503020204020204" pitchFamily="34" charset="-122"/>
                <a:ea typeface="微软雅黑" panose="020B0503020204020204" pitchFamily="34" charset="-122"/>
              </a:rPr>
              <a:t>    let mut a:i32=1;</a:t>
            </a:r>
          </a:p>
          <a:p>
            <a:pPr marL="0" lvl="1"/>
            <a:r>
              <a:rPr lang="en-US" altLang="zh-CN" sz="1600" dirty="0">
                <a:latin typeface="微软雅黑" panose="020B0503020204020204" pitchFamily="34" charset="-122"/>
                <a:ea typeface="微软雅黑" panose="020B0503020204020204" pitchFamily="34" charset="-122"/>
              </a:rPr>
              <a:t>    let b=</a:t>
            </a:r>
            <a:r>
              <a:rPr lang="en-US" altLang="zh-CN" sz="1600" dirty="0">
                <a:solidFill>
                  <a:srgbClr val="00B0F0"/>
                </a:solidFill>
                <a:latin typeface="微软雅黑" panose="020B0503020204020204" pitchFamily="34" charset="-122"/>
                <a:ea typeface="微软雅黑" panose="020B0503020204020204" pitchFamily="34" charset="-122"/>
              </a:rPr>
              <a:t>&amp;</a:t>
            </a:r>
            <a:r>
              <a:rPr lang="en-US" altLang="zh-CN" sz="1600" dirty="0">
                <a:latin typeface="微软雅黑" panose="020B0503020204020204" pitchFamily="34" charset="-122"/>
                <a:ea typeface="微软雅黑" panose="020B0503020204020204" pitchFamily="34" charset="-122"/>
              </a:rPr>
              <a:t>a;</a:t>
            </a:r>
          </a:p>
          <a:p>
            <a:pPr marL="0" lvl="1"/>
            <a:r>
              <a:rPr lang="en-US" altLang="zh-CN" sz="1600" dirty="0">
                <a:latin typeface="微软雅黑" panose="020B0503020204020204" pitchFamily="34" charset="-122"/>
                <a:ea typeface="微软雅黑" panose="020B0503020204020204" pitchFamily="34" charset="-122"/>
              </a:rPr>
              <a:t>    let mut c=</a:t>
            </a:r>
            <a:r>
              <a:rPr lang="en-US" altLang="zh-CN" sz="1600" dirty="0">
                <a:solidFill>
                  <a:srgbClr val="00B0F0"/>
                </a:solidFill>
                <a:latin typeface="微软雅黑" panose="020B0503020204020204" pitchFamily="34" charset="-122"/>
                <a:ea typeface="微软雅黑" panose="020B0503020204020204" pitchFamily="34" charset="-122"/>
              </a:rPr>
              <a:t>&amp;mut</a:t>
            </a:r>
            <a:r>
              <a:rPr lang="en-US" altLang="zh-CN" sz="1600" dirty="0">
                <a:latin typeface="微软雅黑" panose="020B0503020204020204" pitchFamily="34" charset="-122"/>
                <a:ea typeface="微软雅黑" panose="020B0503020204020204" pitchFamily="34" charset="-122"/>
              </a:rPr>
              <a:t> a;</a:t>
            </a:r>
          </a:p>
          <a:p>
            <a:pPr marL="0" lvl="1"/>
            <a:r>
              <a:rPr lang="en-US" altLang="zh-CN" sz="1600" dirty="0">
                <a:latin typeface="微软雅黑" panose="020B0503020204020204" pitchFamily="34" charset="-122"/>
                <a:ea typeface="微软雅黑" panose="020B0503020204020204" pitchFamily="34" charset="-122"/>
              </a:rPr>
              <a:t>}</a:t>
            </a:r>
          </a:p>
          <a:p>
            <a:pPr marL="0" lvl="1"/>
            <a:endParaRPr lang="en-US" altLang="zh-CN" sz="1600" dirty="0">
              <a:latin typeface="微软雅黑" panose="020B0503020204020204" pitchFamily="34" charset="-122"/>
              <a:ea typeface="微软雅黑" panose="020B0503020204020204" pitchFamily="34" charset="-122"/>
            </a:endParaRPr>
          </a:p>
          <a:p>
            <a:pPr marL="0" lvl="1"/>
            <a:r>
              <a:rPr lang="en-US" altLang="zh-CN" sz="1600" dirty="0" err="1">
                <a:latin typeface="微软雅黑" panose="020B0503020204020204" pitchFamily="34" charset="-122"/>
                <a:ea typeface="微软雅黑" panose="020B0503020204020204" pitchFamily="34" charset="-122"/>
              </a:rPr>
              <a:t>fn</a:t>
            </a:r>
            <a:r>
              <a:rPr lang="en-US" altLang="zh-CN" sz="1600" dirty="0">
                <a:latin typeface="微软雅黑" panose="020B0503020204020204" pitchFamily="34" charset="-122"/>
                <a:ea typeface="微软雅黑" panose="020B0503020204020204" pitchFamily="34" charset="-122"/>
              </a:rPr>
              <a:t> program_6_3__5() {</a:t>
            </a:r>
          </a:p>
          <a:p>
            <a:pPr marL="0" lvl="1"/>
            <a:r>
              <a:rPr lang="en-US" altLang="zh-CN" sz="1600" dirty="0">
                <a:latin typeface="微软雅黑" panose="020B0503020204020204" pitchFamily="34" charset="-122"/>
                <a:ea typeface="微软雅黑" panose="020B0503020204020204" pitchFamily="34" charset="-122"/>
              </a:rPr>
              <a:t>    let a:i32=1;</a:t>
            </a:r>
          </a:p>
          <a:p>
            <a:pPr marL="0" lvl="1"/>
            <a:r>
              <a:rPr lang="en-US" altLang="zh-CN" sz="1600" dirty="0">
                <a:latin typeface="微软雅黑" panose="020B0503020204020204" pitchFamily="34" charset="-122"/>
                <a:ea typeface="微软雅黑" panose="020B0503020204020204" pitchFamily="34" charset="-122"/>
              </a:rPr>
              <a:t>    let mut b=</a:t>
            </a:r>
            <a:r>
              <a:rPr lang="en-US" altLang="zh-CN" sz="1600" dirty="0">
                <a:solidFill>
                  <a:srgbClr val="00B0F0"/>
                </a:solidFill>
                <a:latin typeface="微软雅黑" panose="020B0503020204020204" pitchFamily="34" charset="-122"/>
                <a:ea typeface="微软雅黑" panose="020B0503020204020204" pitchFamily="34" charset="-122"/>
              </a:rPr>
              <a:t>&amp;mut</a:t>
            </a:r>
            <a:r>
              <a:rPr lang="en-US" altLang="zh-CN" sz="1600" dirty="0">
                <a:latin typeface="微软雅黑" panose="020B0503020204020204" pitchFamily="34" charset="-122"/>
                <a:ea typeface="微软雅黑" panose="020B0503020204020204" pitchFamily="34" charset="-122"/>
              </a:rPr>
              <a:t> a;</a:t>
            </a:r>
          </a:p>
          <a:p>
            <a:pPr marL="0" lvl="1"/>
            <a:r>
              <a:rPr lang="en-US" altLang="zh-CN" sz="1600" dirty="0">
                <a:latin typeface="微软雅黑" panose="020B0503020204020204" pitchFamily="34" charset="-122"/>
                <a:ea typeface="微软雅黑" panose="020B0503020204020204" pitchFamily="34" charset="-122"/>
              </a:rPr>
              <a:t>}</a:t>
            </a:r>
          </a:p>
          <a:p>
            <a:pPr marL="0" lvl="1"/>
            <a:endParaRPr lang="en-US" altLang="zh-CN" sz="1600" dirty="0">
              <a:latin typeface="微软雅黑" panose="020B0503020204020204" pitchFamily="34" charset="-122"/>
              <a:ea typeface="微软雅黑" panose="020B0503020204020204" pitchFamily="34" charset="-122"/>
            </a:endParaRPr>
          </a:p>
          <a:p>
            <a:pPr marL="0" lvl="1"/>
            <a:endParaRPr lang="en-US" altLang="zh-CN" sz="1600" dirty="0">
              <a:latin typeface="微软雅黑" panose="020B0503020204020204" pitchFamily="34" charset="-122"/>
              <a:ea typeface="微软雅黑" panose="020B0503020204020204" pitchFamily="34" charset="-122"/>
            </a:endParaRPr>
          </a:p>
          <a:p>
            <a:pPr marL="0" lvl="1"/>
            <a:endParaRPr lang="nn-NO" altLang="zh-CN" sz="1600" dirty="0">
              <a:latin typeface="微软雅黑" panose="020B0503020204020204" pitchFamily="34" charset="-122"/>
              <a:ea typeface="微软雅黑" panose="020B0503020204020204" pitchFamily="34" charset="-122"/>
            </a:endParaRPr>
          </a:p>
          <a:p>
            <a:pPr marL="0" lvl="1" eaLnBrk="1" hangingPunct="1"/>
            <a:endParaRPr lang="nn-NO" altLang="zh-CN" sz="1600"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6BE3568F-CBF0-753E-C219-53B70C956C07}"/>
              </a:ext>
            </a:extLst>
          </p:cNvPr>
          <p:cNvSpPr txBox="1"/>
          <p:nvPr/>
        </p:nvSpPr>
        <p:spPr>
          <a:xfrm>
            <a:off x="10671446" y="4204563"/>
            <a:ext cx="1502570" cy="5167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可变引用不能和其他的引用共存</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114ABB1E-B063-C8A0-BEC2-2E8364C83BE3}"/>
              </a:ext>
            </a:extLst>
          </p:cNvPr>
          <p:cNvSpPr txBox="1"/>
          <p:nvPr/>
        </p:nvSpPr>
        <p:spPr>
          <a:xfrm>
            <a:off x="10671446" y="5445224"/>
            <a:ext cx="1502570" cy="5167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仅支持从可变变量创建可变引用</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87091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8BFFF-FAEF-3FB0-B985-198F2A3DE86F}"/>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4645C661-EAE6-F832-A067-14711AEB0F73}"/>
              </a:ext>
            </a:extLst>
          </p:cNvPr>
          <p:cNvSpPr txBox="1">
            <a:spLocks/>
          </p:cNvSpPr>
          <p:nvPr/>
        </p:nvSpPr>
        <p:spPr>
          <a:xfrm>
            <a:off x="72008" y="-12202"/>
            <a:ext cx="7752184" cy="848914"/>
          </a:xfrm>
          <a:prstGeom prst="rect">
            <a:avLst/>
          </a:prstGeom>
        </p:spPr>
        <p:txBody>
          <a:bodyPr/>
          <a:lstStyle>
            <a:lvl1pPr algn="ctr" defTabSz="1219200" rtl="0" eaLnBrk="1" latinLnBrk="0" hangingPunct="1">
              <a:spcBef>
                <a:spcPct val="0"/>
              </a:spcBef>
              <a:buNone/>
              <a:defRPr sz="5865" kern="1200">
                <a:solidFill>
                  <a:schemeClr val="tx1"/>
                </a:solidFill>
                <a:latin typeface="+mj-lt"/>
                <a:ea typeface="+mj-ea"/>
                <a:cs typeface="+mj-cs"/>
              </a:defRPr>
            </a:lvl1pPr>
          </a:lstStyle>
          <a:p>
            <a:pPr algn="l"/>
            <a:r>
              <a:rPr lang="zh-CN" altLang="en-US" sz="3600" b="1" dirty="0">
                <a:solidFill>
                  <a:schemeClr val="bg1"/>
                </a:solidFill>
                <a:latin typeface="微软雅黑" panose="020B0503020204020204" pitchFamily="34" charset="-122"/>
                <a:ea typeface="微软雅黑" panose="020B0503020204020204" pitchFamily="34" charset="-122"/>
              </a:rPr>
              <a:t>类</a:t>
            </a:r>
            <a:r>
              <a:rPr lang="en-US" altLang="zh-CN" sz="3600" b="1" dirty="0">
                <a:solidFill>
                  <a:schemeClr val="bg1"/>
                </a:solidFill>
                <a:latin typeface="微软雅黑" panose="020B0503020204020204" pitchFamily="34" charset="-122"/>
                <a:ea typeface="微软雅黑" panose="020B0503020204020204" pitchFamily="34" charset="-122"/>
              </a:rPr>
              <a:t>Rust</a:t>
            </a:r>
            <a:r>
              <a:rPr lang="zh-CN" altLang="en-US" sz="3600" b="1" dirty="0">
                <a:solidFill>
                  <a:schemeClr val="bg1"/>
                </a:solidFill>
                <a:latin typeface="微软雅黑" panose="020B0503020204020204" pitchFamily="34" charset="-122"/>
                <a:ea typeface="微软雅黑" panose="020B0503020204020204" pitchFamily="34" charset="-122"/>
              </a:rPr>
              <a:t>语法和语义规则</a:t>
            </a:r>
          </a:p>
        </p:txBody>
      </p:sp>
      <p:sp>
        <p:nvSpPr>
          <p:cNvPr id="2" name="文本框 1">
            <a:extLst>
              <a:ext uri="{FF2B5EF4-FFF2-40B4-BE49-F238E27FC236}">
                <a16:creationId xmlns:a16="http://schemas.microsoft.com/office/drawing/2014/main" id="{2526CBA0-CC5A-4388-2FFE-6860D06F7C17}"/>
              </a:ext>
            </a:extLst>
          </p:cNvPr>
          <p:cNvSpPr txBox="1"/>
          <p:nvPr/>
        </p:nvSpPr>
        <p:spPr>
          <a:xfrm>
            <a:off x="0" y="810639"/>
            <a:ext cx="8394004" cy="6047361"/>
          </a:xfrm>
          <a:prstGeom prst="rect">
            <a:avLst/>
          </a:prstGeom>
          <a:noFill/>
        </p:spPr>
        <p:txBody>
          <a:bodyPr wrap="square">
            <a:spAutoFit/>
          </a:bodyPr>
          <a:lstStyle/>
          <a:p>
            <a:pPr marL="381000" indent="-5334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6.2 </a:t>
            </a:r>
            <a:r>
              <a:rPr lang="zh-CN" altLang="en-US" sz="1800" b="1" dirty="0">
                <a:solidFill>
                  <a:srgbClr val="003366"/>
                </a:solidFill>
                <a:latin typeface="微软雅黑" panose="020B0503020204020204" pitchFamily="34" charset="-122"/>
                <a:ea typeface="微软雅黑" panose="020B0503020204020204" pitchFamily="34" charset="-122"/>
              </a:rPr>
              <a:t>不可变引用（依赖</a:t>
            </a:r>
            <a:r>
              <a:rPr lang="en-US" altLang="zh-CN" sz="1800" b="1" dirty="0">
                <a:solidFill>
                  <a:srgbClr val="003366"/>
                </a:solidFill>
                <a:latin typeface="微软雅黑" panose="020B0503020204020204" pitchFamily="34" charset="-122"/>
                <a:ea typeface="微软雅黑" panose="020B0503020204020204" pitchFamily="34" charset="-122"/>
              </a:rPr>
              <a:t>0.2</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0.2</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90600" lvl="1" indent="-5334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 -&gt; '&amp;' &lt;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a:t>
            </a:r>
          </a:p>
          <a:p>
            <a:pPr marL="990600" lvl="1" indent="-5334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可取引用</a:t>
            </a:r>
            <a:r>
              <a:rPr lang="en-US" altLang="zh-CN" sz="1800" dirty="0">
                <a:solidFill>
                  <a:srgbClr val="003366"/>
                </a:solidFill>
                <a:latin typeface="微软雅黑" panose="020B0503020204020204" pitchFamily="34" charset="-122"/>
                <a:ea typeface="微软雅黑" panose="020B0503020204020204" pitchFamily="34" charset="-122"/>
              </a:rPr>
              <a:t>&gt; -&gt; '&amp;' &lt;</a:t>
            </a:r>
            <a:r>
              <a:rPr lang="zh-CN" altLang="en-US" sz="1800" dirty="0">
                <a:solidFill>
                  <a:srgbClr val="003366"/>
                </a:solidFill>
                <a:latin typeface="微软雅黑" panose="020B0503020204020204" pitchFamily="34" charset="-122"/>
                <a:ea typeface="微软雅黑" panose="020B0503020204020204" pitchFamily="34" charset="-122"/>
              </a:rPr>
              <a:t>可取引用</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a:t>
            </a:r>
            <a:r>
              <a:rPr lang="en-US" altLang="zh-CN" sz="1800" dirty="0">
                <a:solidFill>
                  <a:srgbClr val="003366"/>
                </a:solidFill>
                <a:latin typeface="微软雅黑" panose="020B0503020204020204" pitchFamily="34" charset="-122"/>
                <a:ea typeface="微软雅黑" panose="020B0503020204020204" pitchFamily="34" charset="-122"/>
              </a:rPr>
              <a:t>'&amp;' &lt;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表示一个指向对应数据类型的不可变引用类型。</a:t>
            </a:r>
            <a:r>
              <a:rPr lang="en-US" altLang="zh-CN" sz="1800" dirty="0">
                <a:solidFill>
                  <a:srgbClr val="003366"/>
                </a:solidFill>
                <a:latin typeface="微软雅黑" panose="020B0503020204020204" pitchFamily="34" charset="-122"/>
                <a:ea typeface="微软雅黑" panose="020B0503020204020204" pitchFamily="34" charset="-122"/>
              </a:rPr>
              <a:t> '&amp;' &lt;</a:t>
            </a:r>
            <a:r>
              <a:rPr lang="zh-CN" altLang="en-US" sz="1800" dirty="0">
                <a:solidFill>
                  <a:srgbClr val="003366"/>
                </a:solidFill>
                <a:latin typeface="微软雅黑" panose="020B0503020204020204" pitchFamily="34" charset="-122"/>
                <a:ea typeface="微软雅黑" panose="020B0503020204020204" pitchFamily="34" charset="-122"/>
              </a:rPr>
              <a:t>可取引用</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表示创建一个变量的不可变引用；允许通过该引用读取但不允许修改指向数据；可以同时存在多个不可变引用。</a:t>
            </a:r>
            <a:endParaRPr lang="en-US" altLang="zh-CN" sz="1800" dirty="0">
              <a:solidFill>
                <a:srgbClr val="003366"/>
              </a:solidFill>
              <a:latin typeface="微软雅黑" panose="020B0503020204020204" pitchFamily="34" charset="-122"/>
              <a:ea typeface="微软雅黑" panose="020B0503020204020204" pitchFamily="34" charset="-122"/>
            </a:endParaRPr>
          </a:p>
          <a:p>
            <a:pPr marL="0" lvl="1" indent="457200">
              <a:lnSpc>
                <a:spcPct val="120000"/>
              </a:lnSpc>
            </a:pPr>
            <a:endParaRPr lang="en-US" altLang="zh-CN" sz="1800" dirty="0">
              <a:solidFill>
                <a:srgbClr val="003366"/>
              </a:solidFill>
              <a:latin typeface="微软雅黑" panose="020B0503020204020204" pitchFamily="34" charset="-122"/>
              <a:ea typeface="微软雅黑" panose="020B0503020204020204" pitchFamily="34" charset="-122"/>
            </a:endParaRPr>
          </a:p>
          <a:p>
            <a:pPr marL="381000" indent="-5334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6.3 </a:t>
            </a:r>
            <a:r>
              <a:rPr lang="zh-CN" altLang="en-US" sz="1800" b="1" dirty="0">
                <a:solidFill>
                  <a:srgbClr val="003366"/>
                </a:solidFill>
                <a:latin typeface="微软雅黑" panose="020B0503020204020204" pitchFamily="34" charset="-122"/>
                <a:ea typeface="微软雅黑" panose="020B0503020204020204" pitchFamily="34" charset="-122"/>
              </a:rPr>
              <a:t>可变引用（依赖</a:t>
            </a:r>
            <a:r>
              <a:rPr lang="en-US" altLang="zh-CN" sz="1800" b="1" dirty="0">
                <a:solidFill>
                  <a:srgbClr val="003366"/>
                </a:solidFill>
                <a:latin typeface="微软雅黑" panose="020B0503020204020204" pitchFamily="34" charset="-122"/>
                <a:ea typeface="微软雅黑" panose="020B0503020204020204" pitchFamily="34" charset="-122"/>
              </a:rPr>
              <a:t>0.2</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0.2</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90600" lvl="1" indent="-5334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 -&gt; '&amp;' mut &lt;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a:t>
            </a:r>
          </a:p>
          <a:p>
            <a:pPr marL="990600" lvl="1" indent="-5334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可取引用</a:t>
            </a:r>
            <a:r>
              <a:rPr lang="en-US" altLang="zh-CN" sz="1800" dirty="0">
                <a:solidFill>
                  <a:srgbClr val="003366"/>
                </a:solidFill>
                <a:latin typeface="微软雅黑" panose="020B0503020204020204" pitchFamily="34" charset="-122"/>
                <a:ea typeface="微软雅黑" panose="020B0503020204020204" pitchFamily="34" charset="-122"/>
              </a:rPr>
              <a:t>&gt; -&gt; '&amp;' mut &lt;</a:t>
            </a:r>
            <a:r>
              <a:rPr lang="zh-CN" altLang="en-US" sz="1800" dirty="0">
                <a:solidFill>
                  <a:srgbClr val="003366"/>
                </a:solidFill>
                <a:latin typeface="微软雅黑" panose="020B0503020204020204" pitchFamily="34" charset="-122"/>
                <a:ea typeface="微软雅黑" panose="020B0503020204020204" pitchFamily="34" charset="-122"/>
              </a:rPr>
              <a:t>可取引用</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a:t>
            </a:r>
            <a:r>
              <a:rPr lang="en-US" altLang="zh-CN" sz="1800" dirty="0">
                <a:solidFill>
                  <a:srgbClr val="003366"/>
                </a:solidFill>
                <a:latin typeface="微软雅黑" panose="020B0503020204020204" pitchFamily="34" charset="-122"/>
                <a:ea typeface="微软雅黑" panose="020B0503020204020204" pitchFamily="34" charset="-122"/>
              </a:rPr>
              <a:t>'&amp;' mut &lt;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表示一个指向对应数据类型的可变引用类型。</a:t>
            </a:r>
            <a:r>
              <a:rPr lang="en-US" altLang="zh-CN" sz="1800" dirty="0">
                <a:solidFill>
                  <a:srgbClr val="003366"/>
                </a:solidFill>
                <a:latin typeface="微软雅黑" panose="020B0503020204020204" pitchFamily="34" charset="-122"/>
                <a:ea typeface="微软雅黑" panose="020B0503020204020204" pitchFamily="34" charset="-122"/>
              </a:rPr>
              <a:t>'&amp;' mut &lt;</a:t>
            </a:r>
            <a:r>
              <a:rPr lang="zh-CN" altLang="en-US" sz="1800" dirty="0">
                <a:solidFill>
                  <a:srgbClr val="003366"/>
                </a:solidFill>
                <a:latin typeface="微软雅黑" panose="020B0503020204020204" pitchFamily="34" charset="-122"/>
                <a:ea typeface="微软雅黑" panose="020B0503020204020204" pitchFamily="34" charset="-122"/>
              </a:rPr>
              <a:t>可取引用</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表示创建一个变量的可变引用；允许通过该引用修改指向数据；不允许存在其他的不可变或可变引用；仅允许从可变变量创建可变引用。</a:t>
            </a:r>
          </a:p>
          <a:p>
            <a:pPr marL="0" lvl="1" indent="457200">
              <a:lnSpc>
                <a:spcPct val="120000"/>
              </a:lnSpc>
            </a:pPr>
            <a:endParaRPr lang="en-US" altLang="zh-CN" sz="1800" dirty="0">
              <a:solidFill>
                <a:srgbClr val="003366"/>
              </a:solidFill>
              <a:latin typeface="微软雅黑" panose="020B0503020204020204" pitchFamily="34" charset="-122"/>
              <a:ea typeface="微软雅黑" panose="020B0503020204020204" pitchFamily="34" charset="-122"/>
            </a:endParaRPr>
          </a:p>
          <a:p>
            <a:pPr marL="381000" indent="-5334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6.4 </a:t>
            </a:r>
            <a:r>
              <a:rPr lang="zh-CN" altLang="en-US" sz="1800" b="1" dirty="0">
                <a:solidFill>
                  <a:srgbClr val="003366"/>
                </a:solidFill>
                <a:latin typeface="微软雅黑" panose="020B0503020204020204" pitchFamily="34" charset="-122"/>
                <a:ea typeface="微软雅黑" panose="020B0503020204020204" pitchFamily="34" charset="-122"/>
              </a:rPr>
              <a:t>借用（依赖</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90600" lvl="1" indent="-5334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左值</a:t>
            </a:r>
            <a:r>
              <a:rPr lang="en-US" altLang="zh-CN" sz="1800" dirty="0">
                <a:solidFill>
                  <a:srgbClr val="003366"/>
                </a:solidFill>
                <a:latin typeface="微软雅黑" panose="020B0503020204020204" pitchFamily="34" charset="-122"/>
                <a:ea typeface="微软雅黑" panose="020B0503020204020204" pitchFamily="34" charset="-122"/>
              </a:rPr>
              <a:t>&gt; -&gt; '*' &lt;</a:t>
            </a:r>
            <a:r>
              <a:rPr lang="zh-CN" altLang="en-US" sz="1800" dirty="0">
                <a:solidFill>
                  <a:srgbClr val="003366"/>
                </a:solidFill>
                <a:latin typeface="微软雅黑" panose="020B0503020204020204" pitchFamily="34" charset="-122"/>
                <a:ea typeface="微软雅黑" panose="020B0503020204020204" pitchFamily="34" charset="-122"/>
              </a:rPr>
              <a:t>左值</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语义说明：表示对一个引用类型的值进行解引用操作，访问其指向的数据；不允许对非引用类型变量进行解引用。</a:t>
            </a:r>
            <a:endParaRPr lang="en-US" altLang="zh-CN" sz="1800" dirty="0">
              <a:solidFill>
                <a:srgbClr val="003366"/>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2C54C988-4BEA-09E0-FE2D-DC78CCF0F20D}"/>
              </a:ext>
            </a:extLst>
          </p:cNvPr>
          <p:cNvSpPr txBox="1"/>
          <p:nvPr/>
        </p:nvSpPr>
        <p:spPr>
          <a:xfrm>
            <a:off x="8775236" y="2348880"/>
            <a:ext cx="3404816" cy="4031873"/>
          </a:xfrm>
          <a:prstGeom prst="rect">
            <a:avLst/>
          </a:prstGeom>
          <a:noFill/>
        </p:spPr>
        <p:txBody>
          <a:bodyPr wrap="square">
            <a:spAutoFit/>
          </a:bodyPr>
          <a:lstStyle/>
          <a:p>
            <a:pPr marL="0" lvl="1"/>
            <a:r>
              <a:rPr lang="en-US" altLang="zh-CN" sz="1600" dirty="0" err="1">
                <a:latin typeface="微软雅黑" panose="020B0503020204020204" pitchFamily="34" charset="-122"/>
                <a:ea typeface="微软雅黑" panose="020B0503020204020204" pitchFamily="34" charset="-122"/>
              </a:rPr>
              <a:t>fn</a:t>
            </a:r>
            <a:r>
              <a:rPr lang="en-US" altLang="zh-CN" sz="1600" dirty="0">
                <a:latin typeface="微软雅黑" panose="020B0503020204020204" pitchFamily="34" charset="-122"/>
                <a:ea typeface="微软雅黑" panose="020B0503020204020204" pitchFamily="34" charset="-122"/>
              </a:rPr>
              <a:t> program_6_4__1() {</a:t>
            </a:r>
          </a:p>
          <a:p>
            <a:pPr marL="0" lvl="1"/>
            <a:r>
              <a:rPr lang="en-US" altLang="zh-CN" sz="1600" dirty="0">
                <a:latin typeface="微软雅黑" panose="020B0503020204020204" pitchFamily="34" charset="-122"/>
                <a:ea typeface="微软雅黑" panose="020B0503020204020204" pitchFamily="34" charset="-122"/>
              </a:rPr>
              <a:t>    let mut a:i32=1;</a:t>
            </a:r>
          </a:p>
          <a:p>
            <a:pPr marL="0" lvl="1"/>
            <a:r>
              <a:rPr lang="en-US" altLang="zh-CN" sz="1600" dirty="0">
                <a:latin typeface="微软雅黑" panose="020B0503020204020204" pitchFamily="34" charset="-122"/>
                <a:ea typeface="微软雅黑" panose="020B0503020204020204" pitchFamily="34" charset="-122"/>
              </a:rPr>
              <a:t>    let mut b=</a:t>
            </a:r>
            <a:r>
              <a:rPr lang="en-US" altLang="zh-CN" sz="1600" dirty="0">
                <a:solidFill>
                  <a:srgbClr val="00B0F0"/>
                </a:solidFill>
                <a:latin typeface="微软雅黑" panose="020B0503020204020204" pitchFamily="34" charset="-122"/>
                <a:ea typeface="微软雅黑" panose="020B0503020204020204" pitchFamily="34" charset="-122"/>
              </a:rPr>
              <a:t>&amp;mut</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a:t>
            </a:r>
          </a:p>
          <a:p>
            <a:pPr marL="0" lvl="1"/>
            <a:r>
              <a:rPr lang="en-US" altLang="zh-CN" sz="1600" dirty="0">
                <a:latin typeface="微软雅黑" panose="020B0503020204020204" pitchFamily="34" charset="-122"/>
                <a:ea typeface="微软雅黑" panose="020B0503020204020204" pitchFamily="34" charset="-122"/>
              </a:rPr>
              <a:t>    </a:t>
            </a:r>
            <a:r>
              <a:rPr lang="en-US" altLang="zh-CN" sz="1600" dirty="0">
                <a:solidFill>
                  <a:srgbClr val="00B0F0"/>
                </a:solidFill>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b=2;</a:t>
            </a:r>
          </a:p>
          <a:p>
            <a:pPr marL="0" lvl="1"/>
            <a:r>
              <a:rPr lang="en-US" altLang="zh-CN" sz="1600" dirty="0">
                <a:latin typeface="微软雅黑" panose="020B0503020204020204" pitchFamily="34" charset="-122"/>
                <a:ea typeface="微软雅黑" panose="020B0503020204020204" pitchFamily="34" charset="-122"/>
              </a:rPr>
              <a:t>}</a:t>
            </a:r>
          </a:p>
          <a:p>
            <a:pPr marL="0" lvl="1"/>
            <a:endParaRPr lang="en-US" altLang="zh-CN" sz="1600" dirty="0">
              <a:latin typeface="微软雅黑" panose="020B0503020204020204" pitchFamily="34" charset="-122"/>
              <a:ea typeface="微软雅黑" panose="020B0503020204020204" pitchFamily="34" charset="-122"/>
            </a:endParaRPr>
          </a:p>
          <a:p>
            <a:pPr marL="0" lvl="1"/>
            <a:r>
              <a:rPr lang="en-US" altLang="zh-CN" sz="1600" dirty="0" err="1">
                <a:latin typeface="微软雅黑" panose="020B0503020204020204" pitchFamily="34" charset="-122"/>
                <a:ea typeface="微软雅黑" panose="020B0503020204020204" pitchFamily="34" charset="-122"/>
              </a:rPr>
              <a:t>fn</a:t>
            </a:r>
            <a:r>
              <a:rPr lang="en-US" altLang="zh-CN" sz="1600" dirty="0">
                <a:latin typeface="微软雅黑" panose="020B0503020204020204" pitchFamily="34" charset="-122"/>
                <a:ea typeface="微软雅黑" panose="020B0503020204020204" pitchFamily="34" charset="-122"/>
              </a:rPr>
              <a:t> program_6_4__2() {</a:t>
            </a:r>
          </a:p>
          <a:p>
            <a:pPr marL="0" lvl="1"/>
            <a:r>
              <a:rPr lang="en-US" altLang="zh-CN" sz="1600" dirty="0">
                <a:latin typeface="微软雅黑" panose="020B0503020204020204" pitchFamily="34" charset="-122"/>
                <a:ea typeface="微软雅黑" panose="020B0503020204020204" pitchFamily="34" charset="-122"/>
              </a:rPr>
              <a:t>    let mut a:i32=1;</a:t>
            </a:r>
          </a:p>
          <a:p>
            <a:pPr marL="0" lvl="1"/>
            <a:r>
              <a:rPr lang="en-US" altLang="zh-CN" sz="1600" dirty="0">
                <a:latin typeface="微软雅黑" panose="020B0503020204020204" pitchFamily="34" charset="-122"/>
                <a:ea typeface="微软雅黑" panose="020B0503020204020204" pitchFamily="34" charset="-122"/>
              </a:rPr>
              <a:t>    let mut b=</a:t>
            </a:r>
            <a:r>
              <a:rPr lang="en-US" altLang="zh-CN" sz="1600" dirty="0">
                <a:solidFill>
                  <a:srgbClr val="00B0F0"/>
                </a:solidFill>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a;</a:t>
            </a:r>
          </a:p>
          <a:p>
            <a:pPr marL="0" lvl="1"/>
            <a:r>
              <a:rPr lang="en-US" altLang="zh-CN" sz="1600" dirty="0">
                <a:latin typeface="微软雅黑" panose="020B0503020204020204" pitchFamily="34" charset="-122"/>
                <a:ea typeface="微软雅黑" panose="020B0503020204020204" pitchFamily="34" charset="-122"/>
              </a:rPr>
              <a:t>}</a:t>
            </a:r>
          </a:p>
          <a:p>
            <a:pPr marL="0" lvl="1"/>
            <a:endParaRPr lang="en-US" altLang="zh-CN" sz="1600" dirty="0">
              <a:latin typeface="微软雅黑" panose="020B0503020204020204" pitchFamily="34" charset="-122"/>
              <a:ea typeface="微软雅黑" panose="020B0503020204020204" pitchFamily="34" charset="-122"/>
            </a:endParaRPr>
          </a:p>
          <a:p>
            <a:pPr marL="0" lvl="1"/>
            <a:r>
              <a:rPr lang="en-US" altLang="zh-CN" sz="1600" dirty="0" err="1">
                <a:latin typeface="微软雅黑" panose="020B0503020204020204" pitchFamily="34" charset="-122"/>
                <a:ea typeface="微软雅黑" panose="020B0503020204020204" pitchFamily="34" charset="-122"/>
              </a:rPr>
              <a:t>fn</a:t>
            </a:r>
            <a:r>
              <a:rPr lang="en-US" altLang="zh-CN" sz="1600" dirty="0">
                <a:latin typeface="微软雅黑" panose="020B0503020204020204" pitchFamily="34" charset="-122"/>
                <a:ea typeface="微软雅黑" panose="020B0503020204020204" pitchFamily="34" charset="-122"/>
              </a:rPr>
              <a:t> program_6_4__3() {</a:t>
            </a:r>
          </a:p>
          <a:p>
            <a:pPr marL="0" lvl="1"/>
            <a:r>
              <a:rPr lang="en-US" altLang="zh-CN" sz="1600" dirty="0">
                <a:latin typeface="微软雅黑" panose="020B0503020204020204" pitchFamily="34" charset="-122"/>
                <a:ea typeface="微软雅黑" panose="020B0503020204020204" pitchFamily="34" charset="-122"/>
              </a:rPr>
              <a:t>    let mut a:i32=1;</a:t>
            </a:r>
          </a:p>
          <a:p>
            <a:pPr marL="0" lvl="1"/>
            <a:r>
              <a:rPr lang="en-US" altLang="zh-CN" sz="1600" dirty="0">
                <a:latin typeface="微软雅黑" panose="020B0503020204020204" pitchFamily="34" charset="-122"/>
                <a:ea typeface="微软雅黑" panose="020B0503020204020204" pitchFamily="34" charset="-122"/>
              </a:rPr>
              <a:t>    let mut b=</a:t>
            </a:r>
            <a:r>
              <a:rPr lang="en-US" altLang="zh-CN" sz="1600" dirty="0">
                <a:solidFill>
                  <a:srgbClr val="00B0F0"/>
                </a:solidFill>
                <a:latin typeface="微软雅黑" panose="020B0503020204020204" pitchFamily="34" charset="-122"/>
                <a:ea typeface="微软雅黑" panose="020B0503020204020204" pitchFamily="34" charset="-122"/>
              </a:rPr>
              <a:t>&amp;</a:t>
            </a:r>
            <a:r>
              <a:rPr lang="en-US" altLang="zh-CN" sz="1600" dirty="0">
                <a:latin typeface="微软雅黑" panose="020B0503020204020204" pitchFamily="34" charset="-122"/>
                <a:ea typeface="微软雅黑" panose="020B0503020204020204" pitchFamily="34" charset="-122"/>
              </a:rPr>
              <a:t>a;</a:t>
            </a:r>
          </a:p>
          <a:p>
            <a:pPr marL="0" lvl="1"/>
            <a:r>
              <a:rPr lang="en-US" altLang="zh-CN" sz="1600" dirty="0">
                <a:latin typeface="微软雅黑" panose="020B0503020204020204" pitchFamily="34" charset="-122"/>
                <a:ea typeface="微软雅黑" panose="020B0503020204020204" pitchFamily="34" charset="-122"/>
              </a:rPr>
              <a:t>    </a:t>
            </a:r>
            <a:r>
              <a:rPr lang="en-US" altLang="zh-CN" sz="1600" dirty="0">
                <a:solidFill>
                  <a:srgbClr val="00B0F0"/>
                </a:solidFill>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b=2;</a:t>
            </a:r>
          </a:p>
          <a:p>
            <a:pPr marL="0" lvl="1"/>
            <a:r>
              <a:rPr lang="en-US" altLang="zh-CN" sz="1600" dirty="0">
                <a:latin typeface="微软雅黑" panose="020B0503020204020204" pitchFamily="34" charset="-122"/>
                <a:ea typeface="微软雅黑" panose="020B0503020204020204" pitchFamily="34" charset="-122"/>
              </a:rPr>
              <a:t>}</a:t>
            </a:r>
          </a:p>
        </p:txBody>
      </p:sp>
      <p:sp>
        <p:nvSpPr>
          <p:cNvPr id="4" name="文本框 3">
            <a:extLst>
              <a:ext uri="{FF2B5EF4-FFF2-40B4-BE49-F238E27FC236}">
                <a16:creationId xmlns:a16="http://schemas.microsoft.com/office/drawing/2014/main" id="{0139DFDB-072C-12B3-323E-D752773CDB83}"/>
              </a:ext>
            </a:extLst>
          </p:cNvPr>
          <p:cNvSpPr txBox="1"/>
          <p:nvPr/>
        </p:nvSpPr>
        <p:spPr>
          <a:xfrm>
            <a:off x="10477644" y="4365104"/>
            <a:ext cx="1502570" cy="5167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不允许对非引用类型进行解引用</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DCA7670E-40D9-AC32-FA29-1F1F9930DF5F}"/>
              </a:ext>
            </a:extLst>
          </p:cNvPr>
          <p:cNvSpPr txBox="1"/>
          <p:nvPr/>
        </p:nvSpPr>
        <p:spPr>
          <a:xfrm>
            <a:off x="10497636" y="5733256"/>
            <a:ext cx="1502570" cy="5167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不可变引用不可以修改指向数据</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47671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932C7-693B-41C3-120D-4B666B7DD591}"/>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D40132D7-DFA4-CC5C-7008-79D3F8066BFA}"/>
              </a:ext>
            </a:extLst>
          </p:cNvPr>
          <p:cNvSpPr txBox="1">
            <a:spLocks/>
          </p:cNvSpPr>
          <p:nvPr/>
        </p:nvSpPr>
        <p:spPr>
          <a:xfrm>
            <a:off x="72008" y="-12202"/>
            <a:ext cx="7752184" cy="848914"/>
          </a:xfrm>
          <a:prstGeom prst="rect">
            <a:avLst/>
          </a:prstGeom>
        </p:spPr>
        <p:txBody>
          <a:bodyPr/>
          <a:lstStyle>
            <a:lvl1pPr algn="ctr" defTabSz="1219200" rtl="0" eaLnBrk="1" latinLnBrk="0" hangingPunct="1">
              <a:spcBef>
                <a:spcPct val="0"/>
              </a:spcBef>
              <a:buNone/>
              <a:defRPr sz="5865" kern="1200">
                <a:solidFill>
                  <a:schemeClr val="tx1"/>
                </a:solidFill>
                <a:latin typeface="+mj-lt"/>
                <a:ea typeface="+mj-ea"/>
                <a:cs typeface="+mj-cs"/>
              </a:defRPr>
            </a:lvl1pPr>
          </a:lstStyle>
          <a:p>
            <a:pPr algn="l"/>
            <a:r>
              <a:rPr lang="zh-CN" altLang="en-US" sz="3600" b="1" dirty="0">
                <a:solidFill>
                  <a:schemeClr val="bg1"/>
                </a:solidFill>
                <a:latin typeface="微软雅黑" panose="020B0503020204020204" pitchFamily="34" charset="-122"/>
                <a:ea typeface="微软雅黑" panose="020B0503020204020204" pitchFamily="34" charset="-122"/>
              </a:rPr>
              <a:t>类</a:t>
            </a:r>
            <a:r>
              <a:rPr lang="en-US" altLang="zh-CN" sz="3600" b="1" dirty="0">
                <a:solidFill>
                  <a:schemeClr val="bg1"/>
                </a:solidFill>
                <a:latin typeface="微软雅黑" panose="020B0503020204020204" pitchFamily="34" charset="-122"/>
                <a:ea typeface="微软雅黑" panose="020B0503020204020204" pitchFamily="34" charset="-122"/>
              </a:rPr>
              <a:t>Rust</a:t>
            </a:r>
            <a:r>
              <a:rPr lang="zh-CN" altLang="en-US" sz="3600" b="1" dirty="0">
                <a:solidFill>
                  <a:schemeClr val="bg1"/>
                </a:solidFill>
                <a:latin typeface="微软雅黑" panose="020B0503020204020204" pitchFamily="34" charset="-122"/>
                <a:ea typeface="微软雅黑" panose="020B0503020204020204" pitchFamily="34" charset="-122"/>
              </a:rPr>
              <a:t>语法和语义规则</a:t>
            </a:r>
          </a:p>
        </p:txBody>
      </p:sp>
      <p:sp>
        <p:nvSpPr>
          <p:cNvPr id="2" name="文本框 1">
            <a:extLst>
              <a:ext uri="{FF2B5EF4-FFF2-40B4-BE49-F238E27FC236}">
                <a16:creationId xmlns:a16="http://schemas.microsoft.com/office/drawing/2014/main" id="{D92BB6A3-556A-3F56-067F-29F01DA8FC44}"/>
              </a:ext>
            </a:extLst>
          </p:cNvPr>
          <p:cNvSpPr txBox="1"/>
          <p:nvPr/>
        </p:nvSpPr>
        <p:spPr>
          <a:xfrm>
            <a:off x="0" y="864816"/>
            <a:ext cx="12192000" cy="4052969"/>
          </a:xfrm>
          <a:prstGeom prst="rect">
            <a:avLst/>
          </a:prstGeom>
          <a:noFill/>
        </p:spPr>
        <p:txBody>
          <a:bodyPr wrap="square">
            <a:spAutoFit/>
          </a:bodyPr>
          <a:lstStyle/>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7.0 </a:t>
            </a:r>
            <a:r>
              <a:rPr lang="zh-CN" altLang="en-US" sz="1800" b="1" dirty="0">
                <a:solidFill>
                  <a:srgbClr val="003366"/>
                </a:solidFill>
                <a:latin typeface="微软雅黑" panose="020B0503020204020204" pitchFamily="34" charset="-122"/>
                <a:ea typeface="微软雅黑" panose="020B0503020204020204" pitchFamily="34" charset="-122"/>
              </a:rPr>
              <a:t>函数表达式块（依赖</a:t>
            </a:r>
            <a:r>
              <a:rPr lang="en-US" altLang="zh-CN" sz="1800" b="1" dirty="0">
                <a:solidFill>
                  <a:srgbClr val="003366"/>
                </a:solidFill>
                <a:latin typeface="微软雅黑" panose="020B0503020204020204" pitchFamily="34" charset="-122"/>
                <a:ea typeface="微软雅黑" panose="020B0503020204020204" pitchFamily="34" charset="-122"/>
              </a:rPr>
              <a:t>1.1</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3.1</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3.1</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函数表达式语句块</a:t>
            </a:r>
            <a:r>
              <a:rPr lang="en-US" altLang="zh-CN" sz="1800" dirty="0">
                <a:solidFill>
                  <a:srgbClr val="003366"/>
                </a:solidFill>
                <a:latin typeface="微软雅黑" panose="020B0503020204020204" pitchFamily="34" charset="-122"/>
                <a:ea typeface="微软雅黑" panose="020B0503020204020204" pitchFamily="34" charset="-122"/>
              </a:rPr>
              <a:t>&gt;-&gt;'{'  &lt;</a:t>
            </a:r>
            <a:r>
              <a:rPr lang="zh-CN" altLang="en-US" sz="1800" dirty="0">
                <a:solidFill>
                  <a:srgbClr val="003366"/>
                </a:solidFill>
                <a:latin typeface="微软雅黑" panose="020B0503020204020204" pitchFamily="34" charset="-122"/>
                <a:ea typeface="微软雅黑" panose="020B0503020204020204" pitchFamily="34" charset="-122"/>
              </a:rPr>
              <a:t>函数表达式语句串</a:t>
            </a:r>
            <a:r>
              <a:rPr lang="en-US" altLang="zh-CN" sz="1800" dirty="0">
                <a:solidFill>
                  <a:srgbClr val="003366"/>
                </a:solidFill>
                <a:latin typeface="微软雅黑" panose="020B0503020204020204" pitchFamily="34" charset="-122"/>
                <a:ea typeface="微软雅黑" panose="020B0503020204020204" pitchFamily="34" charset="-122"/>
              </a:rPr>
              <a:t>&gt;  '}'</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函数表达式语句串</a:t>
            </a:r>
            <a:r>
              <a:rPr lang="en-US" altLang="zh-CN" sz="1800" dirty="0">
                <a:solidFill>
                  <a:srgbClr val="003366"/>
                </a:solidFill>
                <a:latin typeface="微软雅黑" panose="020B0503020204020204" pitchFamily="34" charset="-122"/>
                <a:ea typeface="微软雅黑" panose="020B0503020204020204" pitchFamily="34" charset="-122"/>
              </a:rPr>
              <a:t>&gt;-&gt;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 &lt;</a:t>
            </a:r>
            <a:r>
              <a:rPr lang="zh-CN" altLang="en-US" sz="1800" dirty="0">
                <a:solidFill>
                  <a:srgbClr val="003366"/>
                </a:solidFill>
                <a:latin typeface="微软雅黑" panose="020B0503020204020204" pitchFamily="34" charset="-122"/>
                <a:ea typeface="微软雅黑" panose="020B0503020204020204" pitchFamily="34" charset="-122"/>
              </a:rPr>
              <a:t>语句</a:t>
            </a:r>
            <a:r>
              <a:rPr lang="en-US" altLang="zh-CN" sz="1800" dirty="0">
                <a:solidFill>
                  <a:srgbClr val="003366"/>
                </a:solidFill>
                <a:latin typeface="微软雅黑" panose="020B0503020204020204" pitchFamily="34" charset="-122"/>
                <a:ea typeface="微软雅黑" panose="020B0503020204020204" pitchFamily="34" charset="-122"/>
              </a:rPr>
              <a:t>&gt; &lt;</a:t>
            </a:r>
            <a:r>
              <a:rPr lang="zh-CN" altLang="en-US" sz="1800" dirty="0">
                <a:solidFill>
                  <a:srgbClr val="003366"/>
                </a:solidFill>
                <a:latin typeface="微软雅黑" panose="020B0503020204020204" pitchFamily="34" charset="-122"/>
                <a:ea typeface="微软雅黑" panose="020B0503020204020204" pitchFamily="34" charset="-122"/>
              </a:rPr>
              <a:t>函数表达式语句串</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语义说明：允许将复杂的逻辑封装在一个块里，其中包含一系列 </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语句</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和一个末尾的 </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的代码块，末尾的 </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的值作为返回值。</a:t>
            </a:r>
            <a:endParaRPr lang="en-US" altLang="zh-CN" sz="1800" dirty="0">
              <a:solidFill>
                <a:srgbClr val="003366"/>
              </a:solidFill>
              <a:latin typeface="微软雅黑" panose="020B0503020204020204" pitchFamily="34" charset="-122"/>
              <a:ea typeface="微软雅黑" panose="020B0503020204020204" pitchFamily="34" charset="-122"/>
            </a:endParaRPr>
          </a:p>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7.1 </a:t>
            </a:r>
            <a:r>
              <a:rPr lang="zh-CN" altLang="en-US" sz="1800" b="1" dirty="0">
                <a:solidFill>
                  <a:srgbClr val="003366"/>
                </a:solidFill>
                <a:latin typeface="微软雅黑" panose="020B0503020204020204" pitchFamily="34" charset="-122"/>
                <a:ea typeface="微软雅黑" panose="020B0503020204020204" pitchFamily="34" charset="-122"/>
              </a:rPr>
              <a:t>函数表达式块作为表达式（依赖</a:t>
            </a:r>
            <a:r>
              <a:rPr lang="en-US" altLang="zh-CN" sz="1800" b="1" dirty="0">
                <a:solidFill>
                  <a:srgbClr val="003366"/>
                </a:solidFill>
                <a:latin typeface="微软雅黑" panose="020B0503020204020204" pitchFamily="34" charset="-122"/>
                <a:ea typeface="微软雅黑" panose="020B0503020204020204" pitchFamily="34" charset="-122"/>
              </a:rPr>
              <a:t>7.0</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可取元素</a:t>
            </a:r>
            <a:r>
              <a:rPr lang="en-US" altLang="zh-CN" sz="1800" dirty="0">
                <a:solidFill>
                  <a:srgbClr val="003366"/>
                </a:solidFill>
                <a:latin typeface="微软雅黑" panose="020B0503020204020204" pitchFamily="34" charset="-122"/>
                <a:ea typeface="微软雅黑" panose="020B0503020204020204" pitchFamily="34" charset="-122"/>
              </a:rPr>
              <a:t>&gt; -&gt; &lt;</a:t>
            </a:r>
            <a:r>
              <a:rPr lang="zh-CN" altLang="en-US" sz="1800" dirty="0">
                <a:solidFill>
                  <a:srgbClr val="003366"/>
                </a:solidFill>
                <a:latin typeface="微软雅黑" panose="020B0503020204020204" pitchFamily="34" charset="-122"/>
                <a:ea typeface="微软雅黑" panose="020B0503020204020204" pitchFamily="34" charset="-122"/>
              </a:rPr>
              <a:t>函数表达式语句块</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语义说明：函数表达式语句块可以作为表达式参与计算，通常是作为右值赋值给变量。</a:t>
            </a:r>
            <a:endParaRPr lang="en-US" altLang="zh-CN" sz="1800" dirty="0">
              <a:solidFill>
                <a:srgbClr val="003366"/>
              </a:solidFill>
              <a:latin typeface="微软雅黑" panose="020B0503020204020204" pitchFamily="34" charset="-122"/>
              <a:ea typeface="微软雅黑" panose="020B0503020204020204" pitchFamily="34" charset="-122"/>
            </a:endParaRPr>
          </a:p>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7.2 </a:t>
            </a:r>
            <a:r>
              <a:rPr lang="zh-CN" altLang="en-US" sz="1800" b="1" dirty="0">
                <a:solidFill>
                  <a:srgbClr val="003366"/>
                </a:solidFill>
                <a:latin typeface="微软雅黑" panose="020B0503020204020204" pitchFamily="34" charset="-122"/>
                <a:ea typeface="微软雅黑" panose="020B0503020204020204" pitchFamily="34" charset="-122"/>
              </a:rPr>
              <a:t>函数表达式块作为函数体（依赖</a:t>
            </a:r>
            <a:r>
              <a:rPr lang="en-US" altLang="zh-CN" sz="1800" b="1" dirty="0">
                <a:solidFill>
                  <a:srgbClr val="003366"/>
                </a:solidFill>
                <a:latin typeface="微软雅黑" panose="020B0503020204020204" pitchFamily="34" charset="-122"/>
                <a:ea typeface="微软雅黑" panose="020B0503020204020204" pitchFamily="34" charset="-122"/>
              </a:rPr>
              <a:t>1.1</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7.0</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1.1</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函数声明</a:t>
            </a:r>
            <a:r>
              <a:rPr lang="en-US" altLang="zh-CN" sz="1800" dirty="0">
                <a:solidFill>
                  <a:srgbClr val="003366"/>
                </a:solidFill>
                <a:latin typeface="微软雅黑" panose="020B0503020204020204" pitchFamily="34" charset="-122"/>
                <a:ea typeface="微软雅黑" panose="020B0503020204020204" pitchFamily="34" charset="-122"/>
              </a:rPr>
              <a:t>&gt; -&gt; &lt;</a:t>
            </a:r>
            <a:r>
              <a:rPr lang="zh-CN" altLang="en-US" sz="1800" dirty="0">
                <a:solidFill>
                  <a:srgbClr val="003366"/>
                </a:solidFill>
                <a:latin typeface="微软雅黑" panose="020B0503020204020204" pitchFamily="34" charset="-122"/>
                <a:ea typeface="微软雅黑" panose="020B0503020204020204" pitchFamily="34" charset="-122"/>
              </a:rPr>
              <a:t>函数头声明</a:t>
            </a:r>
            <a:r>
              <a:rPr lang="en-US" altLang="zh-CN" sz="1800" dirty="0">
                <a:solidFill>
                  <a:srgbClr val="003366"/>
                </a:solidFill>
                <a:latin typeface="微软雅黑" panose="020B0503020204020204" pitchFamily="34" charset="-122"/>
                <a:ea typeface="微软雅黑" panose="020B0503020204020204" pitchFamily="34" charset="-122"/>
              </a:rPr>
              <a:t>&gt; &lt;</a:t>
            </a:r>
            <a:r>
              <a:rPr lang="zh-CN" altLang="en-US" sz="1800" dirty="0">
                <a:solidFill>
                  <a:srgbClr val="003366"/>
                </a:solidFill>
                <a:latin typeface="微软雅黑" panose="020B0503020204020204" pitchFamily="34" charset="-122"/>
                <a:ea typeface="微软雅黑" panose="020B0503020204020204" pitchFamily="34" charset="-122"/>
              </a:rPr>
              <a:t>函数表达式语句块</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语义说明：提供使用结构化表达式块作为函数执行内容的能力，一个完整的函数可由 </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函数头</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和 </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函数表达式语句块</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组成，</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函数表达式代码块</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的最后一个 </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的值作为返回值。</a:t>
            </a:r>
            <a:endParaRPr lang="en-US" altLang="zh-CN" sz="1800" dirty="0">
              <a:solidFill>
                <a:srgbClr val="003366"/>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5156F9A9-769E-79B5-C74B-07B9F0A99E77}"/>
              </a:ext>
            </a:extLst>
          </p:cNvPr>
          <p:cNvSpPr txBox="1"/>
          <p:nvPr/>
        </p:nvSpPr>
        <p:spPr>
          <a:xfrm>
            <a:off x="1141412" y="5045516"/>
            <a:ext cx="4367808" cy="1815882"/>
          </a:xfrm>
          <a:prstGeom prst="rect">
            <a:avLst/>
          </a:prstGeom>
          <a:noFill/>
        </p:spPr>
        <p:txBody>
          <a:bodyPr wrap="square">
            <a:spAutoFit/>
          </a:bodyPr>
          <a:lstStyle/>
          <a:p>
            <a:pPr marL="0" lvl="1" eaLnBrk="1" hangingPunct="1"/>
            <a:r>
              <a:rPr lang="nn-NO" altLang="zh-CN" sz="1600" dirty="0">
                <a:latin typeface="微软雅黑" panose="020B0503020204020204" pitchFamily="34" charset="-122"/>
                <a:ea typeface="微软雅黑" panose="020B0503020204020204" pitchFamily="34" charset="-122"/>
              </a:rPr>
              <a:t>fn program_7_1(mut x:i32,mut y:i32) {</a:t>
            </a:r>
          </a:p>
          <a:p>
            <a:pPr marL="0" lvl="1" eaLnBrk="1" hangingPunct="1"/>
            <a:r>
              <a:rPr lang="nn-NO" altLang="zh-CN" sz="1600" dirty="0">
                <a:latin typeface="微软雅黑" panose="020B0503020204020204" pitchFamily="34" charset="-122"/>
                <a:ea typeface="微软雅黑" panose="020B0503020204020204" pitchFamily="34" charset="-122"/>
              </a:rPr>
              <a:t>    let mut z=</a:t>
            </a:r>
            <a:r>
              <a:rPr lang="nn-NO" altLang="zh-CN" sz="1600" dirty="0">
                <a:solidFill>
                  <a:srgbClr val="00B0F0"/>
                </a:solidFill>
                <a:latin typeface="微软雅黑" panose="020B0503020204020204" pitchFamily="34" charset="-122"/>
                <a:ea typeface="微软雅黑" panose="020B0503020204020204" pitchFamily="34" charset="-122"/>
              </a:rPr>
              <a:t>{</a:t>
            </a:r>
          </a:p>
          <a:p>
            <a:pPr marL="0" lvl="1" eaLnBrk="1" hangingPunct="1"/>
            <a:r>
              <a:rPr lang="nn-NO" altLang="zh-CN" sz="1600" dirty="0">
                <a:solidFill>
                  <a:srgbClr val="00B0F0"/>
                </a:solidFill>
                <a:latin typeface="微软雅黑" panose="020B0503020204020204" pitchFamily="34" charset="-122"/>
                <a:ea typeface="微软雅黑" panose="020B0503020204020204" pitchFamily="34" charset="-122"/>
              </a:rPr>
              <a:t>        let mut t=x*x+x;</a:t>
            </a:r>
          </a:p>
          <a:p>
            <a:pPr marL="0" lvl="1" eaLnBrk="1" hangingPunct="1"/>
            <a:r>
              <a:rPr lang="nn-NO" altLang="zh-CN" sz="1600" dirty="0">
                <a:solidFill>
                  <a:srgbClr val="00B0F0"/>
                </a:solidFill>
                <a:latin typeface="微软雅黑" panose="020B0503020204020204" pitchFamily="34" charset="-122"/>
                <a:ea typeface="微软雅黑" panose="020B0503020204020204" pitchFamily="34" charset="-122"/>
              </a:rPr>
              <a:t>        t=t+x*y;</a:t>
            </a:r>
          </a:p>
          <a:p>
            <a:pPr marL="0" lvl="1" eaLnBrk="1" hangingPunct="1"/>
            <a:r>
              <a:rPr lang="nn-NO" altLang="zh-CN" sz="1600" dirty="0">
                <a:solidFill>
                  <a:srgbClr val="00B0F0"/>
                </a:solidFill>
                <a:latin typeface="微软雅黑" panose="020B0503020204020204" pitchFamily="34" charset="-122"/>
                <a:ea typeface="微软雅黑" panose="020B0503020204020204" pitchFamily="34" charset="-122"/>
              </a:rPr>
              <a:t>        t</a:t>
            </a:r>
          </a:p>
          <a:p>
            <a:pPr marL="0" lvl="1" eaLnBrk="1" hangingPunct="1"/>
            <a:r>
              <a:rPr lang="nn-NO" altLang="zh-CN" sz="1600" dirty="0">
                <a:solidFill>
                  <a:srgbClr val="00B0F0"/>
                </a:solidFill>
                <a:latin typeface="微软雅黑" panose="020B0503020204020204" pitchFamily="34" charset="-122"/>
                <a:ea typeface="微软雅黑" panose="020B0503020204020204" pitchFamily="34" charset="-122"/>
              </a:rPr>
              <a:t>    }</a:t>
            </a:r>
            <a:r>
              <a:rPr lang="nn-NO" altLang="zh-CN" sz="1600" dirty="0">
                <a:latin typeface="微软雅黑" panose="020B0503020204020204" pitchFamily="34" charset="-122"/>
                <a:ea typeface="微软雅黑" panose="020B0503020204020204" pitchFamily="34" charset="-122"/>
              </a:rPr>
              <a:t>;</a:t>
            </a:r>
          </a:p>
          <a:p>
            <a:pPr marL="0" lvl="1" eaLnBrk="1" hangingPunct="1"/>
            <a:r>
              <a:rPr lang="nn-NO" altLang="zh-CN" sz="1600" dirty="0">
                <a:latin typeface="微软雅黑" panose="020B0503020204020204" pitchFamily="34" charset="-122"/>
                <a:ea typeface="微软雅黑" panose="020B0503020204020204" pitchFamily="34" charset="-122"/>
              </a:rPr>
              <a:t>}</a:t>
            </a:r>
          </a:p>
        </p:txBody>
      </p:sp>
      <p:sp>
        <p:nvSpPr>
          <p:cNvPr id="9" name="文本框 8">
            <a:extLst>
              <a:ext uri="{FF2B5EF4-FFF2-40B4-BE49-F238E27FC236}">
                <a16:creationId xmlns:a16="http://schemas.microsoft.com/office/drawing/2014/main" id="{667CD676-CB52-917B-5C8C-8F76036D5D35}"/>
              </a:ext>
            </a:extLst>
          </p:cNvPr>
          <p:cNvSpPr txBox="1"/>
          <p:nvPr/>
        </p:nvSpPr>
        <p:spPr>
          <a:xfrm>
            <a:off x="6744072" y="5045516"/>
            <a:ext cx="4570931" cy="1323439"/>
          </a:xfrm>
          <a:prstGeom prst="rect">
            <a:avLst/>
          </a:prstGeom>
          <a:noFill/>
        </p:spPr>
        <p:txBody>
          <a:bodyPr wrap="square">
            <a:spAutoFit/>
          </a:bodyPr>
          <a:lstStyle/>
          <a:p>
            <a:pPr marL="0" lvl="1" eaLnBrk="1" hangingPunct="1"/>
            <a:r>
              <a:rPr lang="nn-NO" altLang="zh-CN" sz="1600" dirty="0">
                <a:latin typeface="微软雅黑" panose="020B0503020204020204" pitchFamily="34" charset="-122"/>
                <a:ea typeface="微软雅黑" panose="020B0503020204020204" pitchFamily="34" charset="-122"/>
              </a:rPr>
              <a:t>fn program_7_2(mut x:i32,mut y:i32) -&gt; i32 </a:t>
            </a:r>
            <a:r>
              <a:rPr lang="nn-NO" altLang="zh-CN" sz="1600" dirty="0">
                <a:solidFill>
                  <a:srgbClr val="00B0F0"/>
                </a:solidFill>
                <a:latin typeface="微软雅黑" panose="020B0503020204020204" pitchFamily="34" charset="-122"/>
                <a:ea typeface="微软雅黑" panose="020B0503020204020204" pitchFamily="34" charset="-122"/>
              </a:rPr>
              <a:t>{</a:t>
            </a:r>
          </a:p>
          <a:p>
            <a:pPr marL="0" lvl="1" eaLnBrk="1" hangingPunct="1"/>
            <a:r>
              <a:rPr lang="nn-NO" altLang="zh-CN" sz="1600" dirty="0">
                <a:solidFill>
                  <a:srgbClr val="00B0F0"/>
                </a:solidFill>
                <a:latin typeface="微软雅黑" panose="020B0503020204020204" pitchFamily="34" charset="-122"/>
                <a:ea typeface="微软雅黑" panose="020B0503020204020204" pitchFamily="34" charset="-122"/>
              </a:rPr>
              <a:t>    let mut t=x*x+x;</a:t>
            </a:r>
          </a:p>
          <a:p>
            <a:pPr marL="0" lvl="1" eaLnBrk="1" hangingPunct="1"/>
            <a:r>
              <a:rPr lang="nn-NO" altLang="zh-CN" sz="1600" dirty="0">
                <a:solidFill>
                  <a:srgbClr val="00B0F0"/>
                </a:solidFill>
                <a:latin typeface="微软雅黑" panose="020B0503020204020204" pitchFamily="34" charset="-122"/>
                <a:ea typeface="微软雅黑" panose="020B0503020204020204" pitchFamily="34" charset="-122"/>
              </a:rPr>
              <a:t>    t=t+x*y;</a:t>
            </a:r>
          </a:p>
          <a:p>
            <a:pPr marL="0" lvl="1" eaLnBrk="1" hangingPunct="1"/>
            <a:r>
              <a:rPr lang="nn-NO" altLang="zh-CN" sz="1600" dirty="0">
                <a:solidFill>
                  <a:srgbClr val="00B0F0"/>
                </a:solidFill>
                <a:latin typeface="微软雅黑" panose="020B0503020204020204" pitchFamily="34" charset="-122"/>
                <a:ea typeface="微软雅黑" panose="020B0503020204020204" pitchFamily="34" charset="-122"/>
              </a:rPr>
              <a:t>    t</a:t>
            </a:r>
          </a:p>
          <a:p>
            <a:pPr marL="0" lvl="1" eaLnBrk="1" hangingPunct="1"/>
            <a:r>
              <a:rPr lang="nn-NO" altLang="zh-CN" sz="1600" dirty="0">
                <a:solidFill>
                  <a:srgbClr val="00B0F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921973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9A485-8A51-1FB2-7D21-74FA205BE7F5}"/>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E25B2DE6-5CC2-D12F-C856-CBF7A4796400}"/>
              </a:ext>
            </a:extLst>
          </p:cNvPr>
          <p:cNvSpPr txBox="1">
            <a:spLocks/>
          </p:cNvSpPr>
          <p:nvPr/>
        </p:nvSpPr>
        <p:spPr>
          <a:xfrm>
            <a:off x="72008" y="-12202"/>
            <a:ext cx="7752184" cy="848914"/>
          </a:xfrm>
          <a:prstGeom prst="rect">
            <a:avLst/>
          </a:prstGeom>
        </p:spPr>
        <p:txBody>
          <a:bodyPr/>
          <a:lstStyle>
            <a:lvl1pPr algn="ctr" defTabSz="1219200" rtl="0" eaLnBrk="1" latinLnBrk="0" hangingPunct="1">
              <a:spcBef>
                <a:spcPct val="0"/>
              </a:spcBef>
              <a:buNone/>
              <a:defRPr sz="5865" kern="1200">
                <a:solidFill>
                  <a:schemeClr val="tx1"/>
                </a:solidFill>
                <a:latin typeface="+mj-lt"/>
                <a:ea typeface="+mj-ea"/>
                <a:cs typeface="+mj-cs"/>
              </a:defRPr>
            </a:lvl1pPr>
          </a:lstStyle>
          <a:p>
            <a:pPr algn="l"/>
            <a:r>
              <a:rPr lang="zh-CN" altLang="en-US" sz="3600" b="1" dirty="0">
                <a:solidFill>
                  <a:schemeClr val="bg1"/>
                </a:solidFill>
                <a:latin typeface="微软雅黑" panose="020B0503020204020204" pitchFamily="34" charset="-122"/>
                <a:ea typeface="微软雅黑" panose="020B0503020204020204" pitchFamily="34" charset="-122"/>
              </a:rPr>
              <a:t>类</a:t>
            </a:r>
            <a:r>
              <a:rPr lang="en-US" altLang="zh-CN" sz="3600" b="1" dirty="0">
                <a:solidFill>
                  <a:schemeClr val="bg1"/>
                </a:solidFill>
                <a:latin typeface="微软雅黑" panose="020B0503020204020204" pitchFamily="34" charset="-122"/>
                <a:ea typeface="微软雅黑" panose="020B0503020204020204" pitchFamily="34" charset="-122"/>
              </a:rPr>
              <a:t>Rust</a:t>
            </a:r>
            <a:r>
              <a:rPr lang="zh-CN" altLang="en-US" sz="3600" b="1" dirty="0">
                <a:solidFill>
                  <a:schemeClr val="bg1"/>
                </a:solidFill>
                <a:latin typeface="微软雅黑" panose="020B0503020204020204" pitchFamily="34" charset="-122"/>
                <a:ea typeface="微软雅黑" panose="020B0503020204020204" pitchFamily="34" charset="-122"/>
              </a:rPr>
              <a:t>语法和语义规则</a:t>
            </a:r>
          </a:p>
        </p:txBody>
      </p:sp>
      <p:sp>
        <p:nvSpPr>
          <p:cNvPr id="4" name="文本框 3">
            <a:extLst>
              <a:ext uri="{FF2B5EF4-FFF2-40B4-BE49-F238E27FC236}">
                <a16:creationId xmlns:a16="http://schemas.microsoft.com/office/drawing/2014/main" id="{17EE26C5-A939-8D02-FFB9-98B623FB8919}"/>
              </a:ext>
            </a:extLst>
          </p:cNvPr>
          <p:cNvSpPr txBox="1"/>
          <p:nvPr/>
        </p:nvSpPr>
        <p:spPr>
          <a:xfrm>
            <a:off x="0" y="864816"/>
            <a:ext cx="12192000" cy="4052969"/>
          </a:xfrm>
          <a:prstGeom prst="rect">
            <a:avLst/>
          </a:prstGeom>
          <a:noFill/>
        </p:spPr>
        <p:txBody>
          <a:bodyPr wrap="square">
            <a:spAutoFit/>
          </a:bodyPr>
          <a:lstStyle/>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7.3 </a:t>
            </a:r>
            <a:r>
              <a:rPr lang="zh-CN" altLang="en-US" sz="1800" b="1" dirty="0">
                <a:solidFill>
                  <a:srgbClr val="003366"/>
                </a:solidFill>
                <a:latin typeface="微软雅黑" panose="020B0503020204020204" pitchFamily="34" charset="-122"/>
                <a:ea typeface="微软雅黑" panose="020B0503020204020204" pitchFamily="34" charset="-122"/>
              </a:rPr>
              <a:t>选择表达式（依赖</a:t>
            </a:r>
            <a:r>
              <a:rPr lang="en-US" altLang="zh-CN" sz="1800" b="1" dirty="0">
                <a:solidFill>
                  <a:srgbClr val="003366"/>
                </a:solidFill>
                <a:latin typeface="微软雅黑" panose="020B0503020204020204" pitchFamily="34" charset="-122"/>
                <a:ea typeface="微软雅黑" panose="020B0503020204020204" pitchFamily="34" charset="-122"/>
              </a:rPr>
              <a:t>3.1</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7.0</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-&gt; &lt;</a:t>
            </a:r>
            <a:r>
              <a:rPr lang="zh-CN" altLang="en-US" sz="1800" dirty="0">
                <a:solidFill>
                  <a:srgbClr val="003366"/>
                </a:solidFill>
                <a:latin typeface="微软雅黑" panose="020B0503020204020204" pitchFamily="34" charset="-122"/>
                <a:ea typeface="微软雅黑" panose="020B0503020204020204" pitchFamily="34" charset="-122"/>
              </a:rPr>
              <a:t>选择表达式</a:t>
            </a:r>
            <a:r>
              <a:rPr lang="en-US" altLang="zh-CN" sz="18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选择表达式</a:t>
            </a:r>
            <a:r>
              <a:rPr lang="en-US" altLang="zh-CN" sz="1800" dirty="0">
                <a:solidFill>
                  <a:srgbClr val="003366"/>
                </a:solidFill>
                <a:latin typeface="微软雅黑" panose="020B0503020204020204" pitchFamily="34" charset="-122"/>
                <a:ea typeface="微软雅黑" panose="020B0503020204020204" pitchFamily="34" charset="-122"/>
              </a:rPr>
              <a:t>&gt;-&gt; if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&lt;</a:t>
            </a:r>
            <a:r>
              <a:rPr lang="zh-CN" altLang="en-US" sz="1800" dirty="0">
                <a:solidFill>
                  <a:srgbClr val="003366"/>
                </a:solidFill>
                <a:latin typeface="微软雅黑" panose="020B0503020204020204" pitchFamily="34" charset="-122"/>
                <a:ea typeface="微软雅黑" panose="020B0503020204020204" pitchFamily="34" charset="-122"/>
              </a:rPr>
              <a:t>函数表达式语句块</a:t>
            </a:r>
            <a:r>
              <a:rPr lang="en-US" altLang="zh-CN" sz="1800" dirty="0">
                <a:solidFill>
                  <a:srgbClr val="003366"/>
                </a:solidFill>
                <a:latin typeface="微软雅黑" panose="020B0503020204020204" pitchFamily="34" charset="-122"/>
                <a:ea typeface="微软雅黑" panose="020B0503020204020204" pitchFamily="34" charset="-122"/>
              </a:rPr>
              <a:t>&gt; else &lt;</a:t>
            </a:r>
            <a:r>
              <a:rPr lang="zh-CN" altLang="en-US" sz="1800" dirty="0">
                <a:solidFill>
                  <a:srgbClr val="003366"/>
                </a:solidFill>
                <a:latin typeface="微软雅黑" panose="020B0503020204020204" pitchFamily="34" charset="-122"/>
                <a:ea typeface="微软雅黑" panose="020B0503020204020204" pitchFamily="34" charset="-122"/>
              </a:rPr>
              <a:t>函数表达式语句块</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语义说明：提供将 </a:t>
            </a:r>
            <a:r>
              <a:rPr lang="en-US" altLang="zh-CN" sz="1800" dirty="0">
                <a:solidFill>
                  <a:srgbClr val="003366"/>
                </a:solidFill>
                <a:latin typeface="微软雅黑" panose="020B0503020204020204" pitchFamily="34" charset="-122"/>
                <a:ea typeface="微软雅黑" panose="020B0503020204020204" pitchFamily="34" charset="-122"/>
              </a:rPr>
              <a:t>if-else </a:t>
            </a:r>
            <a:r>
              <a:rPr lang="zh-CN" altLang="en-US" sz="1800" dirty="0">
                <a:solidFill>
                  <a:srgbClr val="003366"/>
                </a:solidFill>
                <a:latin typeface="微软雅黑" panose="020B0503020204020204" pitchFamily="34" charset="-122"/>
                <a:ea typeface="微软雅黑" panose="020B0503020204020204" pitchFamily="34" charset="-122"/>
              </a:rPr>
              <a:t>结构用作表达式并返回值的能力，一个 </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可以是 </a:t>
            </a:r>
            <a:r>
              <a:rPr lang="en-US" altLang="zh-CN" sz="1800" dirty="0">
                <a:solidFill>
                  <a:srgbClr val="003366"/>
                </a:solidFill>
                <a:latin typeface="微软雅黑" panose="020B0503020204020204" pitchFamily="34" charset="-122"/>
                <a:ea typeface="微软雅黑" panose="020B0503020204020204" pitchFamily="34" charset="-122"/>
              </a:rPr>
              <a:t>if-else </a:t>
            </a:r>
            <a:r>
              <a:rPr lang="zh-CN" altLang="en-US" sz="1800" dirty="0">
                <a:solidFill>
                  <a:srgbClr val="003366"/>
                </a:solidFill>
                <a:latin typeface="微软雅黑" panose="020B0503020204020204" pitchFamily="34" charset="-122"/>
                <a:ea typeface="微软雅黑" panose="020B0503020204020204" pitchFamily="34" charset="-122"/>
              </a:rPr>
              <a:t>结构和 </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函数表达式语句块</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的组合，根据</a:t>
            </a:r>
            <a:r>
              <a:rPr lang="en-US" altLang="zh-CN" sz="1800" dirty="0">
                <a:solidFill>
                  <a:srgbClr val="003366"/>
                </a:solidFill>
                <a:latin typeface="微软雅黑" panose="020B0503020204020204" pitchFamily="34" charset="-122"/>
                <a:ea typeface="微软雅黑" panose="020B0503020204020204" pitchFamily="34" charset="-122"/>
              </a:rPr>
              <a:t> if </a:t>
            </a:r>
            <a:r>
              <a:rPr lang="zh-CN" altLang="en-US" sz="1800" dirty="0">
                <a:solidFill>
                  <a:srgbClr val="003366"/>
                </a:solidFill>
                <a:latin typeface="微软雅黑" panose="020B0503020204020204" pitchFamily="34" charset="-122"/>
                <a:ea typeface="微软雅黑" panose="020B0503020204020204" pitchFamily="34" charset="-122"/>
              </a:rPr>
              <a:t>后的 </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的真假，决定执行哪一个 </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函数表达式语句块</a:t>
            </a:r>
            <a:r>
              <a:rPr lang="en-US" altLang="zh-CN" sz="1800" dirty="0">
                <a:solidFill>
                  <a:srgbClr val="003366"/>
                </a:solidFill>
                <a:latin typeface="微软雅黑" panose="020B0503020204020204" pitchFamily="34" charset="-122"/>
                <a:ea typeface="微软雅黑" panose="020B0503020204020204" pitchFamily="34" charset="-122"/>
              </a:rPr>
              <a:t>&gt;</a:t>
            </a:r>
            <a:r>
              <a:rPr lang="zh-CN" altLang="en-US" sz="1800" dirty="0">
                <a:solidFill>
                  <a:srgbClr val="003366"/>
                </a:solidFill>
                <a:latin typeface="微软雅黑" panose="020B0503020204020204" pitchFamily="34" charset="-122"/>
                <a:ea typeface="微软雅黑" panose="020B0503020204020204" pitchFamily="34" charset="-122"/>
              </a:rPr>
              <a:t>，该语句块的返回值作为该</a:t>
            </a:r>
            <a:r>
              <a:rPr lang="en-US" altLang="zh-CN" sz="1800" dirty="0">
                <a:solidFill>
                  <a:srgbClr val="003366"/>
                </a:solidFill>
                <a:latin typeface="微软雅黑" panose="020B0503020204020204" pitchFamily="34" charset="-122"/>
                <a:ea typeface="微软雅黑" panose="020B0503020204020204" pitchFamily="34" charset="-122"/>
              </a:rPr>
              <a:t> &lt;</a:t>
            </a:r>
            <a:r>
              <a:rPr lang="zh-CN" altLang="en-US" sz="1800" dirty="0">
                <a:solidFill>
                  <a:srgbClr val="003366"/>
                </a:solidFill>
                <a:latin typeface="微软雅黑" panose="020B0503020204020204" pitchFamily="34" charset="-122"/>
                <a:ea typeface="微软雅黑" panose="020B0503020204020204" pitchFamily="34" charset="-122"/>
              </a:rPr>
              <a:t>选择表达式</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的返回值。</a:t>
            </a:r>
            <a:endParaRPr lang="en-US" altLang="zh-CN" sz="1800" dirty="0">
              <a:solidFill>
                <a:srgbClr val="003366"/>
              </a:solidFill>
              <a:latin typeface="微软雅黑" panose="020B0503020204020204" pitchFamily="34" charset="-122"/>
              <a:ea typeface="微软雅黑" panose="020B0503020204020204" pitchFamily="34" charset="-122"/>
            </a:endParaRPr>
          </a:p>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7.4 </a:t>
            </a:r>
            <a:r>
              <a:rPr lang="zh-CN" altLang="en-US" sz="1800" b="1" dirty="0">
                <a:solidFill>
                  <a:srgbClr val="003366"/>
                </a:solidFill>
                <a:latin typeface="微软雅黑" panose="020B0503020204020204" pitchFamily="34" charset="-122"/>
                <a:ea typeface="微软雅黑" panose="020B0503020204020204" pitchFamily="34" charset="-122"/>
              </a:rPr>
              <a:t>循环表达式（依赖</a:t>
            </a:r>
            <a:r>
              <a:rPr lang="en-US" altLang="zh-CN" sz="1800" b="1" dirty="0">
                <a:solidFill>
                  <a:srgbClr val="003366"/>
                </a:solidFill>
                <a:latin typeface="微软雅黑" panose="020B0503020204020204" pitchFamily="34" charset="-122"/>
                <a:ea typeface="微软雅黑" panose="020B0503020204020204" pitchFamily="34" charset="-122"/>
              </a:rPr>
              <a:t>3.1</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5.3</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-&gt; &lt;loop</a:t>
            </a:r>
            <a:r>
              <a:rPr lang="zh-CN" altLang="en-US" sz="1800" dirty="0">
                <a:solidFill>
                  <a:srgbClr val="003366"/>
                </a:solidFill>
                <a:latin typeface="微软雅黑" panose="020B0503020204020204" pitchFamily="34" charset="-122"/>
                <a:ea typeface="微软雅黑" panose="020B0503020204020204" pitchFamily="34" charset="-122"/>
              </a:rPr>
              <a:t>语句</a:t>
            </a:r>
            <a:r>
              <a:rPr lang="en-US" altLang="zh-CN" sz="18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语句</a:t>
            </a:r>
            <a:r>
              <a:rPr lang="en-US" altLang="zh-CN" sz="1800" dirty="0">
                <a:solidFill>
                  <a:srgbClr val="003366"/>
                </a:solidFill>
                <a:latin typeface="微软雅黑" panose="020B0503020204020204" pitchFamily="34" charset="-122"/>
                <a:ea typeface="微软雅黑" panose="020B0503020204020204" pitchFamily="34" charset="-122"/>
              </a:rPr>
              <a:t>&gt; -&gt; break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语义说明：提供将循环结构作表达式并返回值的能力，一个 </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可以是一个 </a:t>
            </a:r>
            <a:r>
              <a:rPr lang="en-US" altLang="zh-CN" sz="1800" dirty="0">
                <a:solidFill>
                  <a:srgbClr val="003366"/>
                </a:solidFill>
                <a:latin typeface="微软雅黑" panose="020B0503020204020204" pitchFamily="34" charset="-122"/>
                <a:ea typeface="微软雅黑" panose="020B0503020204020204" pitchFamily="34" charset="-122"/>
              </a:rPr>
              <a:t>&lt;loop</a:t>
            </a:r>
            <a:r>
              <a:rPr lang="zh-CN" altLang="en-US" sz="1800" dirty="0">
                <a:solidFill>
                  <a:srgbClr val="003366"/>
                </a:solidFill>
                <a:latin typeface="微软雅黑" panose="020B0503020204020204" pitchFamily="34" charset="-122"/>
                <a:ea typeface="微软雅黑" panose="020B0503020204020204" pitchFamily="34" charset="-122"/>
              </a:rPr>
              <a:t>语句</a:t>
            </a:r>
            <a:r>
              <a:rPr lang="en-US" altLang="zh-CN" sz="1800" dirty="0">
                <a:solidFill>
                  <a:srgbClr val="003366"/>
                </a:solidFill>
                <a:latin typeface="微软雅黑" panose="020B0503020204020204" pitchFamily="34" charset="-122"/>
                <a:ea typeface="微软雅黑" panose="020B0503020204020204" pitchFamily="34" charset="-122"/>
              </a:rPr>
              <a:t>&gt;</a:t>
            </a:r>
            <a:r>
              <a:rPr lang="zh-CN" altLang="en-US" sz="1800" dirty="0">
                <a:solidFill>
                  <a:srgbClr val="003366"/>
                </a:solidFill>
                <a:latin typeface="微软雅黑" panose="020B0503020204020204" pitchFamily="34" charset="-122"/>
                <a:ea typeface="微软雅黑" panose="020B0503020204020204" pitchFamily="34" charset="-122"/>
              </a:rPr>
              <a:t>，其最终返回值由某个分支中的 </a:t>
            </a:r>
            <a:r>
              <a:rPr lang="en-US" altLang="zh-CN" sz="1800" dirty="0">
                <a:solidFill>
                  <a:srgbClr val="003366"/>
                </a:solidFill>
                <a:latin typeface="微软雅黑" panose="020B0503020204020204" pitchFamily="34" charset="-122"/>
                <a:ea typeface="微软雅黑" panose="020B0503020204020204" pitchFamily="34" charset="-122"/>
              </a:rPr>
              <a:t>break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决定。</a:t>
            </a:r>
            <a:r>
              <a:rPr lang="en-US" altLang="zh-CN" sz="1800" dirty="0">
                <a:solidFill>
                  <a:srgbClr val="003366"/>
                </a:solidFill>
                <a:latin typeface="微软雅黑" panose="020B0503020204020204" pitchFamily="34" charset="-122"/>
                <a:ea typeface="微软雅黑" panose="020B0503020204020204" pitchFamily="34" charset="-122"/>
              </a:rPr>
              <a:t>break </a:t>
            </a:r>
            <a:r>
              <a:rPr lang="zh-CN" altLang="en-US" sz="1800" dirty="0">
                <a:solidFill>
                  <a:srgbClr val="003366"/>
                </a:solidFill>
                <a:latin typeface="微软雅黑" panose="020B0503020204020204" pitchFamily="34" charset="-122"/>
                <a:ea typeface="微软雅黑" panose="020B0503020204020204" pitchFamily="34" charset="-122"/>
              </a:rPr>
              <a:t>必须出现在循环体内，否则应报错；</a:t>
            </a:r>
            <a:r>
              <a:rPr lang="en-US" altLang="zh-CN" sz="1800" dirty="0">
                <a:solidFill>
                  <a:srgbClr val="003366"/>
                </a:solidFill>
                <a:latin typeface="微软雅黑" panose="020B0503020204020204" pitchFamily="34" charset="-122"/>
                <a:ea typeface="微软雅黑" panose="020B0503020204020204" pitchFamily="34" charset="-122"/>
              </a:rPr>
              <a:t>break </a:t>
            </a:r>
            <a:r>
              <a:rPr lang="zh-CN" altLang="en-US" sz="1800" dirty="0">
                <a:solidFill>
                  <a:srgbClr val="003366"/>
                </a:solidFill>
                <a:latin typeface="微软雅黑" panose="020B0503020204020204" pitchFamily="34" charset="-122"/>
                <a:ea typeface="微软雅黑" panose="020B0503020204020204" pitchFamily="34" charset="-122"/>
              </a:rPr>
              <a:t>后的表达式必须能求值；若多个 </a:t>
            </a:r>
            <a:r>
              <a:rPr lang="en-US" altLang="zh-CN" sz="1800" dirty="0">
                <a:solidFill>
                  <a:srgbClr val="003366"/>
                </a:solidFill>
                <a:latin typeface="微软雅黑" panose="020B0503020204020204" pitchFamily="34" charset="-122"/>
                <a:ea typeface="微软雅黑" panose="020B0503020204020204" pitchFamily="34" charset="-122"/>
              </a:rPr>
              <a:t>break </a:t>
            </a:r>
            <a:r>
              <a:rPr lang="zh-CN" altLang="en-US" sz="1800" dirty="0">
                <a:solidFill>
                  <a:srgbClr val="003366"/>
                </a:solidFill>
                <a:latin typeface="微软雅黑" panose="020B0503020204020204" pitchFamily="34" charset="-122"/>
                <a:ea typeface="微软雅黑" panose="020B0503020204020204" pitchFamily="34" charset="-122"/>
              </a:rPr>
              <a:t>存在于同一循环体中，它们必须返回相同类型。</a:t>
            </a:r>
          </a:p>
        </p:txBody>
      </p:sp>
      <p:sp>
        <p:nvSpPr>
          <p:cNvPr id="16" name="文本框 15">
            <a:extLst>
              <a:ext uri="{FF2B5EF4-FFF2-40B4-BE49-F238E27FC236}">
                <a16:creationId xmlns:a16="http://schemas.microsoft.com/office/drawing/2014/main" id="{7730E596-489F-088A-D5CF-C05424C46DD1}"/>
              </a:ext>
            </a:extLst>
          </p:cNvPr>
          <p:cNvSpPr txBox="1"/>
          <p:nvPr/>
        </p:nvSpPr>
        <p:spPr>
          <a:xfrm>
            <a:off x="605796" y="4945889"/>
            <a:ext cx="2916883" cy="1815882"/>
          </a:xfrm>
          <a:prstGeom prst="rect">
            <a:avLst/>
          </a:prstGeom>
          <a:noFill/>
        </p:spPr>
        <p:txBody>
          <a:bodyPr wrap="square">
            <a:spAutoFit/>
          </a:bodyPr>
          <a:lstStyle/>
          <a:p>
            <a:pPr marL="0" lvl="1" eaLnBrk="1" hangingPunct="1"/>
            <a:r>
              <a:rPr lang="nn-NO" altLang="zh-CN" sz="1600" dirty="0">
                <a:latin typeface="微软雅黑" panose="020B0503020204020204" pitchFamily="34" charset="-122"/>
                <a:ea typeface="微软雅黑" panose="020B0503020204020204" pitchFamily="34" charset="-122"/>
              </a:rPr>
              <a:t>fn program_7_3(mut a:i32) {</a:t>
            </a:r>
          </a:p>
          <a:p>
            <a:pPr marL="0" lvl="1" eaLnBrk="1" hangingPunct="1"/>
            <a:r>
              <a:rPr lang="nn-NO" altLang="zh-CN" sz="1600" dirty="0">
                <a:latin typeface="微软雅黑" panose="020B0503020204020204" pitchFamily="34" charset="-122"/>
                <a:ea typeface="微软雅黑" panose="020B0503020204020204" pitchFamily="34" charset="-122"/>
              </a:rPr>
              <a:t>    let mut b=</a:t>
            </a:r>
            <a:r>
              <a:rPr lang="nn-NO" altLang="zh-CN" sz="1600" dirty="0">
                <a:solidFill>
                  <a:srgbClr val="00B0F0"/>
                </a:solidFill>
                <a:latin typeface="微软雅黑" panose="020B0503020204020204" pitchFamily="34" charset="-122"/>
                <a:ea typeface="微软雅黑" panose="020B0503020204020204" pitchFamily="34" charset="-122"/>
              </a:rPr>
              <a:t>if a&gt;0 {</a:t>
            </a:r>
          </a:p>
          <a:p>
            <a:pPr marL="0" lvl="1" eaLnBrk="1" hangingPunct="1"/>
            <a:r>
              <a:rPr lang="nn-NO" altLang="zh-CN" sz="1600" dirty="0">
                <a:solidFill>
                  <a:srgbClr val="00B0F0"/>
                </a:solidFill>
                <a:latin typeface="微软雅黑" panose="020B0503020204020204" pitchFamily="34" charset="-122"/>
                <a:ea typeface="微软雅黑" panose="020B0503020204020204" pitchFamily="34" charset="-122"/>
              </a:rPr>
              <a:t>        1</a:t>
            </a:r>
          </a:p>
          <a:p>
            <a:pPr marL="0" lvl="1" eaLnBrk="1" hangingPunct="1"/>
            <a:r>
              <a:rPr lang="nn-NO" altLang="zh-CN" sz="1600" dirty="0">
                <a:solidFill>
                  <a:srgbClr val="00B0F0"/>
                </a:solidFill>
                <a:latin typeface="微软雅黑" panose="020B0503020204020204" pitchFamily="34" charset="-122"/>
                <a:ea typeface="微软雅黑" panose="020B0503020204020204" pitchFamily="34" charset="-122"/>
              </a:rPr>
              <a:t>    } else {</a:t>
            </a:r>
          </a:p>
          <a:p>
            <a:pPr marL="0" lvl="1" eaLnBrk="1" hangingPunct="1"/>
            <a:r>
              <a:rPr lang="nn-NO" altLang="zh-CN" sz="1600" dirty="0">
                <a:solidFill>
                  <a:srgbClr val="00B0F0"/>
                </a:solidFill>
                <a:latin typeface="微软雅黑" panose="020B0503020204020204" pitchFamily="34" charset="-122"/>
                <a:ea typeface="微软雅黑" panose="020B0503020204020204" pitchFamily="34" charset="-122"/>
              </a:rPr>
              <a:t>        0</a:t>
            </a:r>
          </a:p>
          <a:p>
            <a:pPr marL="0" lvl="1" eaLnBrk="1" hangingPunct="1"/>
            <a:r>
              <a:rPr lang="nn-NO" altLang="zh-CN" sz="1600" dirty="0">
                <a:solidFill>
                  <a:srgbClr val="00B0F0"/>
                </a:solidFill>
                <a:latin typeface="微软雅黑" panose="020B0503020204020204" pitchFamily="34" charset="-122"/>
                <a:ea typeface="微软雅黑" panose="020B0503020204020204" pitchFamily="34" charset="-122"/>
              </a:rPr>
              <a:t>    }</a:t>
            </a:r>
            <a:r>
              <a:rPr lang="nn-NO" altLang="zh-CN" sz="1600" dirty="0">
                <a:latin typeface="微软雅黑" panose="020B0503020204020204" pitchFamily="34" charset="-122"/>
                <a:ea typeface="微软雅黑" panose="020B0503020204020204" pitchFamily="34" charset="-122"/>
              </a:rPr>
              <a:t>;</a:t>
            </a:r>
          </a:p>
          <a:p>
            <a:pPr marL="0" lvl="1" eaLnBrk="1" hangingPunct="1"/>
            <a:r>
              <a:rPr lang="nn-NO" altLang="zh-CN" sz="1600" dirty="0">
                <a:latin typeface="微软雅黑" panose="020B0503020204020204" pitchFamily="34" charset="-122"/>
                <a:ea typeface="微软雅黑" panose="020B0503020204020204" pitchFamily="34" charset="-122"/>
              </a:rPr>
              <a:t>}</a:t>
            </a:r>
          </a:p>
        </p:txBody>
      </p:sp>
      <p:sp>
        <p:nvSpPr>
          <p:cNvPr id="17" name="文本框 16">
            <a:extLst>
              <a:ext uri="{FF2B5EF4-FFF2-40B4-BE49-F238E27FC236}">
                <a16:creationId xmlns:a16="http://schemas.microsoft.com/office/drawing/2014/main" id="{FC8980E0-22CE-9198-06D3-1682469E6272}"/>
              </a:ext>
            </a:extLst>
          </p:cNvPr>
          <p:cNvSpPr txBox="1"/>
          <p:nvPr/>
        </p:nvSpPr>
        <p:spPr>
          <a:xfrm>
            <a:off x="4727848" y="4945889"/>
            <a:ext cx="2916883" cy="1323439"/>
          </a:xfrm>
          <a:prstGeom prst="rect">
            <a:avLst/>
          </a:prstGeom>
          <a:noFill/>
        </p:spPr>
        <p:txBody>
          <a:bodyPr wrap="square">
            <a:spAutoFit/>
          </a:bodyPr>
          <a:lstStyle/>
          <a:p>
            <a:pPr marL="0" lvl="1" eaLnBrk="1" hangingPunct="1"/>
            <a:r>
              <a:rPr lang="en-US" altLang="zh-CN" sz="1600" dirty="0">
                <a:latin typeface="微软雅黑" panose="020B0503020204020204" pitchFamily="34" charset="-122"/>
                <a:ea typeface="微软雅黑" panose="020B0503020204020204" pitchFamily="34" charset="-122"/>
              </a:rPr>
              <a:t>fn program_7_4__1() {</a:t>
            </a:r>
          </a:p>
          <a:p>
            <a:pPr marL="0" lvl="1" eaLnBrk="1" hangingPunct="1"/>
            <a:r>
              <a:rPr lang="en-US" altLang="zh-CN" sz="1600" dirty="0">
                <a:latin typeface="微软雅黑" panose="020B0503020204020204" pitchFamily="34" charset="-122"/>
                <a:ea typeface="微软雅黑" panose="020B0503020204020204" pitchFamily="34" charset="-122"/>
              </a:rPr>
              <a:t>    let mut a=</a:t>
            </a:r>
            <a:r>
              <a:rPr lang="en-US" altLang="zh-CN" sz="1600" dirty="0">
                <a:solidFill>
                  <a:srgbClr val="00B0F0"/>
                </a:solidFill>
                <a:latin typeface="微软雅黑" panose="020B0503020204020204" pitchFamily="34" charset="-122"/>
                <a:ea typeface="微软雅黑" panose="020B0503020204020204" pitchFamily="34" charset="-122"/>
              </a:rPr>
              <a:t>loop {</a:t>
            </a:r>
          </a:p>
          <a:p>
            <a:pPr marL="0" lvl="1" eaLnBrk="1" hangingPunct="1"/>
            <a:r>
              <a:rPr lang="en-US" altLang="zh-CN" sz="1600" dirty="0">
                <a:solidFill>
                  <a:srgbClr val="00B0F0"/>
                </a:solidFill>
                <a:latin typeface="微软雅黑" panose="020B0503020204020204" pitchFamily="34" charset="-122"/>
                <a:ea typeface="微软雅黑" panose="020B0503020204020204" pitchFamily="34" charset="-122"/>
              </a:rPr>
              <a:t>        break 1;</a:t>
            </a:r>
          </a:p>
          <a:p>
            <a:pPr marL="0" lvl="1" eaLnBrk="1" hangingPunct="1"/>
            <a:r>
              <a:rPr lang="en-US" altLang="zh-CN" sz="1600" dirty="0">
                <a:solidFill>
                  <a:srgbClr val="00B0F0"/>
                </a:solidFill>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p>
          <a:p>
            <a:pPr marL="0" lvl="1" eaLnBrk="1" hangingPunct="1"/>
            <a:r>
              <a:rPr lang="en-US" altLang="zh-CN" sz="1600" dirty="0">
                <a:latin typeface="微软雅黑" panose="020B0503020204020204" pitchFamily="34" charset="-122"/>
                <a:ea typeface="微软雅黑" panose="020B0503020204020204" pitchFamily="34" charset="-122"/>
              </a:rPr>
              <a:t>}</a:t>
            </a:r>
          </a:p>
        </p:txBody>
      </p:sp>
      <p:sp>
        <p:nvSpPr>
          <p:cNvPr id="2" name="文本框 1">
            <a:extLst>
              <a:ext uri="{FF2B5EF4-FFF2-40B4-BE49-F238E27FC236}">
                <a16:creationId xmlns:a16="http://schemas.microsoft.com/office/drawing/2014/main" id="{CC63207A-A27E-32F8-18A1-67BA02CB4CD7}"/>
              </a:ext>
            </a:extLst>
          </p:cNvPr>
          <p:cNvSpPr txBox="1"/>
          <p:nvPr/>
        </p:nvSpPr>
        <p:spPr>
          <a:xfrm>
            <a:off x="8651725" y="4945889"/>
            <a:ext cx="2916883" cy="830997"/>
          </a:xfrm>
          <a:prstGeom prst="rect">
            <a:avLst/>
          </a:prstGeom>
          <a:noFill/>
        </p:spPr>
        <p:txBody>
          <a:bodyPr wrap="square">
            <a:spAutoFit/>
          </a:bodyPr>
          <a:lstStyle/>
          <a:p>
            <a:pPr marL="0" lvl="1" eaLnBrk="1" hangingPunct="1"/>
            <a:r>
              <a:rPr lang="en-US" altLang="zh-CN" sz="1600" dirty="0">
                <a:latin typeface="微软雅黑" panose="020B0503020204020204" pitchFamily="34" charset="-122"/>
                <a:ea typeface="微软雅黑" panose="020B0503020204020204" pitchFamily="34" charset="-122"/>
              </a:rPr>
              <a:t>fn program_7_4__2() {</a:t>
            </a:r>
          </a:p>
          <a:p>
            <a:pPr marL="0" lvl="1" eaLnBrk="1" hangingPunct="1"/>
            <a:r>
              <a:rPr lang="en-US" altLang="zh-CN" sz="1600" dirty="0">
                <a:latin typeface="微软雅黑" panose="020B0503020204020204" pitchFamily="34" charset="-122"/>
                <a:ea typeface="微软雅黑" panose="020B0503020204020204" pitchFamily="34" charset="-122"/>
              </a:rPr>
              <a:t>    break 2;</a:t>
            </a:r>
          </a:p>
          <a:p>
            <a:pPr marL="0" lvl="1" eaLnBrk="1" hangingPunct="1"/>
            <a:r>
              <a:rPr lang="en-US" altLang="zh-CN" sz="1600" dirty="0">
                <a:latin typeface="微软雅黑" panose="020B0503020204020204" pitchFamily="34" charset="-122"/>
                <a:ea typeface="微软雅黑" panose="020B0503020204020204" pitchFamily="34" charset="-122"/>
              </a:rPr>
              <a:t>}</a:t>
            </a:r>
          </a:p>
        </p:txBody>
      </p:sp>
      <p:sp>
        <p:nvSpPr>
          <p:cNvPr id="3" name="文本框 2">
            <a:extLst>
              <a:ext uri="{FF2B5EF4-FFF2-40B4-BE49-F238E27FC236}">
                <a16:creationId xmlns:a16="http://schemas.microsoft.com/office/drawing/2014/main" id="{FE6067FE-FF43-C3AB-6B4D-7C4F5EF09B2A}"/>
              </a:ext>
            </a:extLst>
          </p:cNvPr>
          <p:cNvSpPr txBox="1"/>
          <p:nvPr/>
        </p:nvSpPr>
        <p:spPr>
          <a:xfrm>
            <a:off x="9912424" y="5247990"/>
            <a:ext cx="1656184" cy="5167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break &lt;</a:t>
            </a:r>
            <a:r>
              <a:rPr lang="zh-CN" altLang="en-US" sz="1200" dirty="0">
                <a:solidFill>
                  <a:srgbClr val="FF0000"/>
                </a:solidFill>
                <a:latin typeface="微软雅黑" panose="020B0503020204020204" pitchFamily="34" charset="-122"/>
                <a:ea typeface="微软雅黑" panose="020B0503020204020204" pitchFamily="34" charset="-122"/>
              </a:rPr>
              <a:t>表达式</a:t>
            </a:r>
            <a:r>
              <a:rPr lang="en-US" altLang="zh-CN" sz="1200" dirty="0">
                <a:solidFill>
                  <a:srgbClr val="FF0000"/>
                </a:solidFill>
                <a:latin typeface="微软雅黑" panose="020B0503020204020204" pitchFamily="34" charset="-122"/>
                <a:ea typeface="微软雅黑" panose="020B0503020204020204" pitchFamily="34" charset="-122"/>
              </a:rPr>
              <a:t>&gt;; </a:t>
            </a:r>
            <a:r>
              <a:rPr lang="zh-CN" altLang="en-US" sz="1200" dirty="0">
                <a:solidFill>
                  <a:srgbClr val="FF0000"/>
                </a:solidFill>
                <a:latin typeface="微软雅黑" panose="020B0503020204020204" pitchFamily="34" charset="-122"/>
                <a:ea typeface="微软雅黑" panose="020B0503020204020204" pitchFamily="34" charset="-122"/>
              </a:rPr>
              <a:t>必须出现在循环体内</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61363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805B0-58CE-B7F2-9DAE-C3C85F130F41}"/>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3168C8A3-BA3D-D63B-469D-8D860068501F}"/>
              </a:ext>
            </a:extLst>
          </p:cNvPr>
          <p:cNvSpPr txBox="1">
            <a:spLocks/>
          </p:cNvSpPr>
          <p:nvPr/>
        </p:nvSpPr>
        <p:spPr>
          <a:xfrm>
            <a:off x="72008" y="-12202"/>
            <a:ext cx="7752184" cy="848914"/>
          </a:xfrm>
          <a:prstGeom prst="rect">
            <a:avLst/>
          </a:prstGeom>
        </p:spPr>
        <p:txBody>
          <a:bodyPr/>
          <a:lstStyle>
            <a:lvl1pPr algn="ctr" defTabSz="1219200" rtl="0" eaLnBrk="1" latinLnBrk="0" hangingPunct="1">
              <a:spcBef>
                <a:spcPct val="0"/>
              </a:spcBef>
              <a:buNone/>
              <a:defRPr sz="5865" kern="1200">
                <a:solidFill>
                  <a:schemeClr val="tx1"/>
                </a:solidFill>
                <a:latin typeface="+mj-lt"/>
                <a:ea typeface="+mj-ea"/>
                <a:cs typeface="+mj-cs"/>
              </a:defRPr>
            </a:lvl1pPr>
          </a:lstStyle>
          <a:p>
            <a:pPr algn="l"/>
            <a:r>
              <a:rPr lang="zh-CN" altLang="en-US" sz="3600" b="1" dirty="0">
                <a:solidFill>
                  <a:schemeClr val="bg1"/>
                </a:solidFill>
                <a:latin typeface="微软雅黑" panose="020B0503020204020204" pitchFamily="34" charset="-122"/>
                <a:ea typeface="微软雅黑" panose="020B0503020204020204" pitchFamily="34" charset="-122"/>
              </a:rPr>
              <a:t>类</a:t>
            </a:r>
            <a:r>
              <a:rPr lang="en-US" altLang="zh-CN" sz="3600" b="1" dirty="0">
                <a:solidFill>
                  <a:schemeClr val="bg1"/>
                </a:solidFill>
                <a:latin typeface="微软雅黑" panose="020B0503020204020204" pitchFamily="34" charset="-122"/>
                <a:ea typeface="微软雅黑" panose="020B0503020204020204" pitchFamily="34" charset="-122"/>
              </a:rPr>
              <a:t>Rust</a:t>
            </a:r>
            <a:r>
              <a:rPr lang="zh-CN" altLang="en-US" sz="3600" b="1" dirty="0">
                <a:solidFill>
                  <a:schemeClr val="bg1"/>
                </a:solidFill>
                <a:latin typeface="微软雅黑" panose="020B0503020204020204" pitchFamily="34" charset="-122"/>
                <a:ea typeface="微软雅黑" panose="020B0503020204020204" pitchFamily="34" charset="-122"/>
              </a:rPr>
              <a:t>语法和语义规则</a:t>
            </a:r>
          </a:p>
        </p:txBody>
      </p:sp>
      <p:sp>
        <p:nvSpPr>
          <p:cNvPr id="2" name="文本框 1">
            <a:extLst>
              <a:ext uri="{FF2B5EF4-FFF2-40B4-BE49-F238E27FC236}">
                <a16:creationId xmlns:a16="http://schemas.microsoft.com/office/drawing/2014/main" id="{A3C61958-F614-EE0A-47EE-F532E812C876}"/>
              </a:ext>
            </a:extLst>
          </p:cNvPr>
          <p:cNvSpPr txBox="1"/>
          <p:nvPr/>
        </p:nvSpPr>
        <p:spPr>
          <a:xfrm>
            <a:off x="0" y="864816"/>
            <a:ext cx="12072664" cy="4052969"/>
          </a:xfrm>
          <a:prstGeom prst="rect">
            <a:avLst/>
          </a:prstGeom>
          <a:noFill/>
        </p:spPr>
        <p:txBody>
          <a:bodyPr wrap="square">
            <a:spAutoFit/>
          </a:bodyPr>
          <a:lstStyle/>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8.1 </a:t>
            </a:r>
            <a:r>
              <a:rPr lang="zh-CN" altLang="en-US" sz="1800" b="1" dirty="0">
                <a:solidFill>
                  <a:srgbClr val="003366"/>
                </a:solidFill>
                <a:latin typeface="微软雅黑" panose="020B0503020204020204" pitchFamily="34" charset="-122"/>
                <a:ea typeface="微软雅黑" panose="020B0503020204020204" pitchFamily="34" charset="-122"/>
              </a:rPr>
              <a:t>数组类型（依赖</a:t>
            </a:r>
            <a:r>
              <a:rPr lang="en-US" altLang="zh-CN" sz="1800" b="1" dirty="0">
                <a:solidFill>
                  <a:srgbClr val="003366"/>
                </a:solidFill>
                <a:latin typeface="微软雅黑" panose="020B0503020204020204" pitchFamily="34" charset="-122"/>
                <a:ea typeface="微软雅黑" panose="020B0503020204020204" pitchFamily="34" charset="-122"/>
              </a:rPr>
              <a:t>0.2</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0.2</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&gt;-&gt; '[' &lt;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 ';' &lt;NUM&gt;']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语义说明：拓展数组类型，产生式右边的</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是数组中元素的类型，</a:t>
            </a:r>
            <a:r>
              <a:rPr lang="en-US" altLang="zh-CN" sz="1800" dirty="0">
                <a:solidFill>
                  <a:srgbClr val="003366"/>
                </a:solidFill>
                <a:latin typeface="微软雅黑" panose="020B0503020204020204" pitchFamily="34" charset="-122"/>
                <a:ea typeface="微软雅黑" panose="020B0503020204020204" pitchFamily="34" charset="-122"/>
              </a:rPr>
              <a:t>&lt;NUM&gt; </a:t>
            </a:r>
            <a:r>
              <a:rPr lang="zh-CN" altLang="en-US" sz="1800" dirty="0">
                <a:solidFill>
                  <a:srgbClr val="003366"/>
                </a:solidFill>
                <a:latin typeface="微软雅黑" panose="020B0503020204020204" pitchFamily="34" charset="-122"/>
                <a:ea typeface="微软雅黑" panose="020B0503020204020204" pitchFamily="34" charset="-122"/>
              </a:rPr>
              <a:t>是数组的长度，必须是一个正整数常量。</a:t>
            </a:r>
            <a:endParaRPr lang="en-US" altLang="zh-CN" sz="1800" dirty="0">
              <a:solidFill>
                <a:srgbClr val="003366"/>
              </a:solidFill>
              <a:latin typeface="微软雅黑" panose="020B0503020204020204" pitchFamily="34" charset="-122"/>
              <a:ea typeface="微软雅黑" panose="020B0503020204020204" pitchFamily="34" charset="-122"/>
            </a:endParaRPr>
          </a:p>
          <a:p>
            <a:pPr marL="0" lvl="1" indent="457200">
              <a:lnSpc>
                <a:spcPct val="120000"/>
              </a:lnSpc>
            </a:pPr>
            <a:endParaRPr lang="en-US" altLang="zh-CN" sz="1800" dirty="0">
              <a:solidFill>
                <a:srgbClr val="003366"/>
              </a:solidFill>
              <a:latin typeface="微软雅黑" panose="020B0503020204020204" pitchFamily="34" charset="-122"/>
              <a:ea typeface="微软雅黑" panose="020B0503020204020204" pitchFamily="34" charset="-122"/>
            </a:endParaRPr>
          </a:p>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8.2 </a:t>
            </a:r>
            <a:r>
              <a:rPr lang="zh-CN" altLang="en-US" sz="1800" b="1" dirty="0">
                <a:solidFill>
                  <a:srgbClr val="003366"/>
                </a:solidFill>
                <a:latin typeface="微软雅黑" panose="020B0503020204020204" pitchFamily="34" charset="-122"/>
                <a:ea typeface="微软雅黑" panose="020B0503020204020204" pitchFamily="34" charset="-122"/>
              </a:rPr>
              <a:t>数组表达式（依赖</a:t>
            </a:r>
            <a:r>
              <a:rPr lang="en-US" altLang="zh-CN" sz="1800" b="1" dirty="0">
                <a:solidFill>
                  <a:srgbClr val="003366"/>
                </a:solidFill>
                <a:latin typeface="微软雅黑" panose="020B0503020204020204" pitchFamily="34" charset="-122"/>
                <a:ea typeface="微软雅黑" panose="020B0503020204020204" pitchFamily="34" charset="-122"/>
              </a:rPr>
              <a:t>3.1</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5.2</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可取元素</a:t>
            </a:r>
            <a:r>
              <a:rPr lang="en-US" altLang="zh-CN" sz="1800" dirty="0">
                <a:solidFill>
                  <a:srgbClr val="003366"/>
                </a:solidFill>
                <a:latin typeface="微软雅黑" panose="020B0503020204020204" pitchFamily="34" charset="-122"/>
                <a:ea typeface="微软雅黑" panose="020B0503020204020204" pitchFamily="34" charset="-122"/>
              </a:rPr>
              <a:t>&gt; -&gt; '['  &lt;</a:t>
            </a:r>
            <a:r>
              <a:rPr lang="zh-CN" altLang="en-US" sz="1800" dirty="0">
                <a:solidFill>
                  <a:srgbClr val="003366"/>
                </a:solidFill>
                <a:latin typeface="微软雅黑" panose="020B0503020204020204" pitchFamily="34" charset="-122"/>
                <a:ea typeface="微软雅黑" panose="020B0503020204020204" pitchFamily="34" charset="-122"/>
              </a:rPr>
              <a:t>数组元素列表</a:t>
            </a:r>
            <a:r>
              <a:rPr lang="en-US" altLang="zh-CN" sz="1800" dirty="0">
                <a:solidFill>
                  <a:srgbClr val="003366"/>
                </a:solidFill>
                <a:latin typeface="微软雅黑" panose="020B0503020204020204" pitchFamily="34" charset="-122"/>
                <a:ea typeface="微软雅黑" panose="020B0503020204020204" pitchFamily="34" charset="-122"/>
              </a:rPr>
              <a:t>&gt;  ']'</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数组元素列表</a:t>
            </a:r>
            <a:r>
              <a:rPr lang="en-US" altLang="zh-CN" sz="1800" dirty="0">
                <a:solidFill>
                  <a:srgbClr val="003366"/>
                </a:solidFill>
                <a:latin typeface="微软雅黑" panose="020B0503020204020204" pitchFamily="34" charset="-122"/>
                <a:ea typeface="微软雅黑" panose="020B0503020204020204" pitchFamily="34" charset="-122"/>
              </a:rPr>
              <a:t>&gt;-&gt; </a:t>
            </a:r>
            <a:r>
              <a:rPr lang="zh-CN" altLang="en-US" sz="1800" dirty="0">
                <a:solidFill>
                  <a:srgbClr val="003366"/>
                </a:solidFill>
                <a:latin typeface="微软雅黑" panose="020B0503020204020204" pitchFamily="34" charset="-122"/>
                <a:ea typeface="微软雅黑" panose="020B0503020204020204" pitchFamily="34" charset="-122"/>
              </a:rPr>
              <a:t>空 </a:t>
            </a:r>
            <a:r>
              <a:rPr lang="en-US" altLang="zh-CN" sz="1800" dirty="0">
                <a:solidFill>
                  <a:srgbClr val="003366"/>
                </a:solidFill>
                <a:latin typeface="微软雅黑" panose="020B0503020204020204" pitchFamily="34" charset="-122"/>
                <a:ea typeface="微软雅黑" panose="020B0503020204020204" pitchFamily="34" charset="-122"/>
              </a:rPr>
              <a:t>|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 &lt;</a:t>
            </a:r>
            <a:r>
              <a:rPr lang="zh-CN" altLang="en-US" sz="1800" dirty="0">
                <a:solidFill>
                  <a:srgbClr val="003366"/>
                </a:solidFill>
                <a:latin typeface="微软雅黑" panose="020B0503020204020204" pitchFamily="34" charset="-122"/>
                <a:ea typeface="微软雅黑" panose="020B0503020204020204" pitchFamily="34" charset="-122"/>
              </a:rPr>
              <a:t>数组元素列表</a:t>
            </a:r>
            <a:r>
              <a:rPr lang="en-US" altLang="zh-CN" sz="18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可迭代结构</a:t>
            </a:r>
            <a:r>
              <a:rPr lang="en-US" altLang="zh-CN" sz="1800" dirty="0">
                <a:solidFill>
                  <a:srgbClr val="003366"/>
                </a:solidFill>
                <a:latin typeface="微软雅黑" panose="020B0503020204020204" pitchFamily="34" charset="-122"/>
                <a:ea typeface="微软雅黑" panose="020B0503020204020204" pitchFamily="34" charset="-122"/>
              </a:rPr>
              <a:t>&gt; -&gt;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语义说明：数组是由方括号</a:t>
            </a:r>
            <a:r>
              <a:rPr lang="en-US" altLang="zh-CN" sz="1800" dirty="0">
                <a:solidFill>
                  <a:srgbClr val="003366"/>
                </a:solidFill>
                <a:latin typeface="微软雅黑" panose="020B0503020204020204" pitchFamily="34" charset="-122"/>
                <a:ea typeface="微软雅黑" panose="020B0503020204020204" pitchFamily="34" charset="-122"/>
              </a:rPr>
              <a:t>'[]'</a:t>
            </a:r>
            <a:r>
              <a:rPr lang="zh-CN" altLang="en-US" sz="1800" dirty="0">
                <a:solidFill>
                  <a:srgbClr val="003366"/>
                </a:solidFill>
                <a:latin typeface="微软雅黑" panose="020B0503020204020204" pitchFamily="34" charset="-122"/>
                <a:ea typeface="微软雅黑" panose="020B0503020204020204" pitchFamily="34" charset="-122"/>
              </a:rPr>
              <a:t>包裹，逗号</a:t>
            </a:r>
            <a:r>
              <a:rPr lang="en-US" altLang="zh-CN" sz="1800" dirty="0">
                <a:solidFill>
                  <a:srgbClr val="003366"/>
                </a:solidFill>
                <a:latin typeface="微软雅黑" panose="020B0503020204020204" pitchFamily="34" charset="-122"/>
                <a:ea typeface="微软雅黑" panose="020B0503020204020204" pitchFamily="34" charset="-122"/>
              </a:rPr>
              <a:t>','</a:t>
            </a:r>
            <a:r>
              <a:rPr lang="zh-CN" altLang="en-US" sz="1800" dirty="0">
                <a:solidFill>
                  <a:srgbClr val="003366"/>
                </a:solidFill>
                <a:latin typeface="微软雅黑" panose="020B0503020204020204" pitchFamily="34" charset="-122"/>
                <a:ea typeface="微软雅黑" panose="020B0503020204020204" pitchFamily="34" charset="-122"/>
              </a:rPr>
              <a:t>分隔元素</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a:t>
            </a:r>
            <a:r>
              <a:rPr lang="zh-CN" altLang="en-US" sz="1800" dirty="0">
                <a:solidFill>
                  <a:srgbClr val="003366"/>
                </a:solidFill>
                <a:latin typeface="微软雅黑" panose="020B0503020204020204" pitchFamily="34" charset="-122"/>
                <a:ea typeface="微软雅黑" panose="020B0503020204020204" pitchFamily="34" charset="-122"/>
              </a:rPr>
              <a:t>的结构，</a:t>
            </a:r>
            <a:r>
              <a:rPr lang="en-US" altLang="zh-CN" sz="1800" dirty="0">
                <a:solidFill>
                  <a:srgbClr val="003366"/>
                </a:solidFill>
                <a:latin typeface="微软雅黑" panose="020B0503020204020204" pitchFamily="34" charset="-122"/>
                <a:ea typeface="微软雅黑" panose="020B0503020204020204" pitchFamily="34" charset="-122"/>
              </a:rPr>
              <a:t>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a:t>
            </a:r>
            <a:r>
              <a:rPr lang="zh-CN" altLang="en-US" sz="1800" dirty="0">
                <a:solidFill>
                  <a:srgbClr val="003366"/>
                </a:solidFill>
                <a:latin typeface="微软雅黑" panose="020B0503020204020204" pitchFamily="34" charset="-122"/>
                <a:ea typeface="微软雅黑" panose="020B0503020204020204" pitchFamily="34" charset="-122"/>
              </a:rPr>
              <a:t>的数量必须与数组的长度一致，每个 </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的类型要与数组元素类型一致。</a:t>
            </a:r>
            <a:endParaRPr lang="en-US" altLang="zh-CN" sz="1800" dirty="0">
              <a:solidFill>
                <a:srgbClr val="003366"/>
              </a:solidFill>
              <a:latin typeface="微软雅黑" panose="020B0503020204020204" pitchFamily="34" charset="-122"/>
              <a:ea typeface="微软雅黑" panose="020B0503020204020204" pitchFamily="34" charset="-122"/>
            </a:endParaRPr>
          </a:p>
          <a:p>
            <a:pPr marL="0" lvl="1" indent="457200">
              <a:lnSpc>
                <a:spcPct val="120000"/>
              </a:lnSpc>
            </a:pPr>
            <a:endParaRPr lang="en-US" altLang="zh-CN" sz="1800" dirty="0">
              <a:solidFill>
                <a:srgbClr val="003366"/>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1BD39690-8C83-9FA6-F22E-E810A31661E5}"/>
              </a:ext>
            </a:extLst>
          </p:cNvPr>
          <p:cNvSpPr txBox="1"/>
          <p:nvPr/>
        </p:nvSpPr>
        <p:spPr>
          <a:xfrm>
            <a:off x="425707" y="4716498"/>
            <a:ext cx="3679388" cy="1077218"/>
          </a:xfrm>
          <a:prstGeom prst="rect">
            <a:avLst/>
          </a:prstGeom>
          <a:noFill/>
        </p:spPr>
        <p:txBody>
          <a:bodyPr wrap="square">
            <a:spAutoFit/>
          </a:bodyPr>
          <a:lstStyle/>
          <a:p>
            <a:pPr marL="0" lvl="1" eaLnBrk="1" hangingPunct="1"/>
            <a:r>
              <a:rPr lang="en-US" altLang="zh-CN" sz="1600" dirty="0">
                <a:latin typeface="微软雅黑" panose="020B0503020204020204" pitchFamily="34" charset="-122"/>
                <a:ea typeface="微软雅黑" panose="020B0503020204020204" pitchFamily="34" charset="-122"/>
              </a:rPr>
              <a:t>fn program_8_1() {</a:t>
            </a:r>
          </a:p>
          <a:p>
            <a:pPr marL="0" lvl="1" eaLnBrk="1" hangingPunct="1"/>
            <a:r>
              <a:rPr lang="en-US" altLang="zh-CN" sz="1600" dirty="0">
                <a:latin typeface="微软雅黑" panose="020B0503020204020204" pitchFamily="34" charset="-122"/>
                <a:ea typeface="微软雅黑" panose="020B0503020204020204" pitchFamily="34" charset="-122"/>
              </a:rPr>
              <a:t>    let mut a:</a:t>
            </a:r>
            <a:r>
              <a:rPr lang="en-US" altLang="zh-CN" sz="1600" dirty="0">
                <a:solidFill>
                  <a:srgbClr val="00B0F0"/>
                </a:solidFill>
                <a:latin typeface="微软雅黑" panose="020B0503020204020204" pitchFamily="34" charset="-122"/>
                <a:ea typeface="微软雅黑" panose="020B0503020204020204" pitchFamily="34" charset="-122"/>
              </a:rPr>
              <a:t>[i32;3]</a:t>
            </a:r>
            <a:r>
              <a:rPr lang="en-US" altLang="zh-CN" sz="1600" dirty="0">
                <a:latin typeface="微软雅黑" panose="020B0503020204020204" pitchFamily="34" charset="-122"/>
                <a:ea typeface="微软雅黑" panose="020B0503020204020204" pitchFamily="34" charset="-122"/>
              </a:rPr>
              <a:t>;</a:t>
            </a:r>
          </a:p>
          <a:p>
            <a:pPr marL="0" lvl="1"/>
            <a:r>
              <a:rPr lang="en-US" altLang="zh-CN" sz="1600" dirty="0">
                <a:latin typeface="微软雅黑" panose="020B0503020204020204" pitchFamily="34" charset="-122"/>
                <a:ea typeface="微软雅黑" panose="020B0503020204020204" pitchFamily="34" charset="-122"/>
              </a:rPr>
              <a:t>    let mut b:</a:t>
            </a:r>
            <a:r>
              <a:rPr lang="en-US" altLang="zh-CN" sz="1600" dirty="0">
                <a:solidFill>
                  <a:srgbClr val="00B0F0"/>
                </a:solidFill>
                <a:latin typeface="微软雅黑" panose="020B0503020204020204" pitchFamily="34" charset="-122"/>
                <a:ea typeface="微软雅黑" panose="020B0503020204020204" pitchFamily="34" charset="-122"/>
              </a:rPr>
              <a:t>[[i32;3];3]</a:t>
            </a:r>
            <a:r>
              <a:rPr lang="en-US" altLang="zh-CN" sz="1600" dirty="0">
                <a:latin typeface="微软雅黑" panose="020B0503020204020204" pitchFamily="34" charset="-122"/>
                <a:ea typeface="微软雅黑" panose="020B0503020204020204" pitchFamily="34" charset="-122"/>
              </a:rPr>
              <a:t>;</a:t>
            </a:r>
          </a:p>
          <a:p>
            <a:pPr marL="0" lvl="1" eaLnBrk="1" hangingPunct="1"/>
            <a:r>
              <a:rPr lang="en-US" altLang="zh-CN" sz="1600" dirty="0">
                <a:latin typeface="微软雅黑" panose="020B0503020204020204" pitchFamily="34" charset="-122"/>
                <a:ea typeface="微软雅黑" panose="020B0503020204020204" pitchFamily="34" charset="-122"/>
              </a:rPr>
              <a:t>}</a:t>
            </a:r>
          </a:p>
        </p:txBody>
      </p:sp>
      <p:sp>
        <p:nvSpPr>
          <p:cNvPr id="3" name="文本框 2">
            <a:extLst>
              <a:ext uri="{FF2B5EF4-FFF2-40B4-BE49-F238E27FC236}">
                <a16:creationId xmlns:a16="http://schemas.microsoft.com/office/drawing/2014/main" id="{A4B23869-8FC7-387B-48F8-251D001ACDE9}"/>
              </a:ext>
            </a:extLst>
          </p:cNvPr>
          <p:cNvSpPr txBox="1"/>
          <p:nvPr/>
        </p:nvSpPr>
        <p:spPr>
          <a:xfrm>
            <a:off x="4018820" y="4716499"/>
            <a:ext cx="3329964" cy="1077218"/>
          </a:xfrm>
          <a:prstGeom prst="rect">
            <a:avLst/>
          </a:prstGeom>
          <a:noFill/>
        </p:spPr>
        <p:txBody>
          <a:bodyPr wrap="square">
            <a:spAutoFit/>
          </a:bodyPr>
          <a:lstStyle/>
          <a:p>
            <a:pPr marL="0" lvl="1" eaLnBrk="1" hangingPunct="1"/>
            <a:r>
              <a:rPr lang="nn-NO" altLang="zh-CN" sz="1600" dirty="0">
                <a:latin typeface="微软雅黑" panose="020B0503020204020204" pitchFamily="34" charset="-122"/>
                <a:ea typeface="微软雅黑" panose="020B0503020204020204" pitchFamily="34" charset="-122"/>
              </a:rPr>
              <a:t>fn program_8_2</a:t>
            </a:r>
            <a:r>
              <a:rPr lang="en-US" altLang="zh-CN" sz="1600" dirty="0">
                <a:latin typeface="微软雅黑" panose="020B0503020204020204" pitchFamily="34" charset="-122"/>
                <a:ea typeface="微软雅黑" panose="020B0503020204020204" pitchFamily="34" charset="-122"/>
              </a:rPr>
              <a:t>__1</a:t>
            </a:r>
            <a:r>
              <a:rPr lang="nn-NO" altLang="zh-CN" sz="1600" dirty="0">
                <a:latin typeface="微软雅黑" panose="020B0503020204020204" pitchFamily="34" charset="-122"/>
                <a:ea typeface="微软雅黑" panose="020B0503020204020204" pitchFamily="34" charset="-122"/>
              </a:rPr>
              <a:t>(mut a:i32) {</a:t>
            </a:r>
          </a:p>
          <a:p>
            <a:pPr marL="0" lvl="1" eaLnBrk="1" hangingPunct="1"/>
            <a:r>
              <a:rPr lang="nn-NO" altLang="zh-CN" sz="1600" dirty="0">
                <a:latin typeface="微软雅黑" panose="020B0503020204020204" pitchFamily="34" charset="-122"/>
                <a:ea typeface="微软雅黑" panose="020B0503020204020204" pitchFamily="34" charset="-122"/>
              </a:rPr>
              <a:t>    let mut </a:t>
            </a:r>
            <a:r>
              <a:rPr lang="en-US" altLang="zh-CN" sz="1600" dirty="0">
                <a:latin typeface="微软雅黑" panose="020B0503020204020204" pitchFamily="34" charset="-122"/>
                <a:ea typeface="微软雅黑" panose="020B0503020204020204" pitchFamily="34" charset="-122"/>
              </a:rPr>
              <a:t>a:[i32;2]</a:t>
            </a:r>
            <a:r>
              <a:rPr lang="nn-NO" altLang="zh-CN" sz="1600" dirty="0">
                <a:latin typeface="微软雅黑" panose="020B0503020204020204" pitchFamily="34" charset="-122"/>
                <a:ea typeface="微软雅黑" panose="020B0503020204020204" pitchFamily="34" charset="-122"/>
              </a:rPr>
              <a:t>;</a:t>
            </a:r>
          </a:p>
          <a:p>
            <a:pPr marL="0" lvl="1" eaLnBrk="1" hangingPunct="1"/>
            <a:r>
              <a:rPr lang="nn-NO" altLang="zh-CN" sz="1600" dirty="0">
                <a:latin typeface="微软雅黑" panose="020B0503020204020204" pitchFamily="34" charset="-122"/>
                <a:ea typeface="微软雅黑" panose="020B0503020204020204" pitchFamily="34" charset="-122"/>
              </a:rPr>
              <a:t>    a=[1,2,3];</a:t>
            </a:r>
          </a:p>
          <a:p>
            <a:pPr marL="0" lvl="1" eaLnBrk="1" hangingPunct="1"/>
            <a:r>
              <a:rPr lang="nn-NO" altLang="zh-CN" sz="1600" dirty="0">
                <a:latin typeface="微软雅黑" panose="020B0503020204020204" pitchFamily="34" charset="-122"/>
                <a:ea typeface="微软雅黑" panose="020B0503020204020204" pitchFamily="34" charset="-122"/>
              </a:rPr>
              <a:t>}</a:t>
            </a:r>
          </a:p>
        </p:txBody>
      </p:sp>
      <p:sp>
        <p:nvSpPr>
          <p:cNvPr id="4" name="文本框 3">
            <a:extLst>
              <a:ext uri="{FF2B5EF4-FFF2-40B4-BE49-F238E27FC236}">
                <a16:creationId xmlns:a16="http://schemas.microsoft.com/office/drawing/2014/main" id="{2BB494D4-195A-8485-325A-BE1CDE785C1F}"/>
              </a:ext>
            </a:extLst>
          </p:cNvPr>
          <p:cNvSpPr txBox="1"/>
          <p:nvPr/>
        </p:nvSpPr>
        <p:spPr>
          <a:xfrm>
            <a:off x="8025014" y="4716499"/>
            <a:ext cx="2916883" cy="1077218"/>
          </a:xfrm>
          <a:prstGeom prst="rect">
            <a:avLst/>
          </a:prstGeom>
          <a:noFill/>
        </p:spPr>
        <p:txBody>
          <a:bodyPr wrap="square">
            <a:spAutoFit/>
          </a:bodyPr>
          <a:lstStyle/>
          <a:p>
            <a:pPr marL="0" lvl="1" eaLnBrk="1" hangingPunct="1"/>
            <a:r>
              <a:rPr lang="en-US" altLang="zh-CN" sz="1600" dirty="0">
                <a:latin typeface="微软雅黑" panose="020B0503020204020204" pitchFamily="34" charset="-122"/>
                <a:ea typeface="微软雅黑" panose="020B0503020204020204" pitchFamily="34" charset="-122"/>
              </a:rPr>
              <a:t>fn program_8_2__2() {</a:t>
            </a:r>
          </a:p>
          <a:p>
            <a:pPr marL="0" lvl="1" eaLnBrk="1" hangingPunct="1"/>
            <a:r>
              <a:rPr lang="en-US" altLang="zh-CN" sz="1600" dirty="0">
                <a:latin typeface="微软雅黑" panose="020B0503020204020204" pitchFamily="34" charset="-122"/>
                <a:ea typeface="微软雅黑" panose="020B0503020204020204" pitchFamily="34" charset="-122"/>
              </a:rPr>
              <a:t>    let mut a:[[i32;1];1];</a:t>
            </a:r>
          </a:p>
          <a:p>
            <a:pPr marL="0" lvl="1" eaLnBrk="1" hangingPunct="1"/>
            <a:r>
              <a:rPr lang="en-US" altLang="zh-CN" sz="1600" dirty="0">
                <a:latin typeface="微软雅黑" panose="020B0503020204020204" pitchFamily="34" charset="-122"/>
                <a:ea typeface="微软雅黑" panose="020B0503020204020204" pitchFamily="34" charset="-122"/>
              </a:rPr>
              <a:t>    a=[1];</a:t>
            </a:r>
          </a:p>
          <a:p>
            <a:pPr marL="0" lvl="1" eaLnBrk="1" hangingPunct="1"/>
            <a:r>
              <a:rPr lang="en-US" altLang="zh-CN" sz="1600" dirty="0">
                <a:latin typeface="微软雅黑" panose="020B0503020204020204" pitchFamily="34" charset="-122"/>
                <a:ea typeface="微软雅黑" panose="020B0503020204020204" pitchFamily="34" charset="-122"/>
              </a:rPr>
              <a:t>}</a:t>
            </a:r>
          </a:p>
        </p:txBody>
      </p:sp>
      <p:sp>
        <p:nvSpPr>
          <p:cNvPr id="8" name="文本框 7">
            <a:extLst>
              <a:ext uri="{FF2B5EF4-FFF2-40B4-BE49-F238E27FC236}">
                <a16:creationId xmlns:a16="http://schemas.microsoft.com/office/drawing/2014/main" id="{FDACB0BF-72F4-990B-CE14-72DFFBE78FF1}"/>
              </a:ext>
            </a:extLst>
          </p:cNvPr>
          <p:cNvSpPr txBox="1"/>
          <p:nvPr/>
        </p:nvSpPr>
        <p:spPr>
          <a:xfrm>
            <a:off x="6024867" y="4996735"/>
            <a:ext cx="1656184" cy="5167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初始化时的元素数量与数组长度不一致</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C774A2F3-99B6-8FF1-96F5-D77B51BFB30D}"/>
              </a:ext>
            </a:extLst>
          </p:cNvPr>
          <p:cNvSpPr txBox="1"/>
          <p:nvPr/>
        </p:nvSpPr>
        <p:spPr>
          <a:xfrm>
            <a:off x="10217471" y="4996735"/>
            <a:ext cx="1801318" cy="738344"/>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初始化时元素的类型与数组的元素类型不一致</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14569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D1200-EB4B-F022-BB1F-34D59DA64A19}"/>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37BF477E-1446-7195-3016-E628C928DE0D}"/>
              </a:ext>
            </a:extLst>
          </p:cNvPr>
          <p:cNvSpPr txBox="1">
            <a:spLocks/>
          </p:cNvSpPr>
          <p:nvPr/>
        </p:nvSpPr>
        <p:spPr>
          <a:xfrm>
            <a:off x="72008" y="-12202"/>
            <a:ext cx="7752184" cy="848914"/>
          </a:xfrm>
          <a:prstGeom prst="rect">
            <a:avLst/>
          </a:prstGeom>
        </p:spPr>
        <p:txBody>
          <a:bodyPr/>
          <a:lstStyle>
            <a:lvl1pPr algn="ctr" defTabSz="1219200" rtl="0" eaLnBrk="1" latinLnBrk="0" hangingPunct="1">
              <a:spcBef>
                <a:spcPct val="0"/>
              </a:spcBef>
              <a:buNone/>
              <a:defRPr sz="5865" kern="1200">
                <a:solidFill>
                  <a:schemeClr val="tx1"/>
                </a:solidFill>
                <a:latin typeface="+mj-lt"/>
                <a:ea typeface="+mj-ea"/>
                <a:cs typeface="+mj-cs"/>
              </a:defRPr>
            </a:lvl1pPr>
          </a:lstStyle>
          <a:p>
            <a:pPr algn="l"/>
            <a:r>
              <a:rPr lang="zh-CN" altLang="en-US" sz="3600" b="1" dirty="0">
                <a:solidFill>
                  <a:schemeClr val="bg1"/>
                </a:solidFill>
                <a:latin typeface="微软雅黑" panose="020B0503020204020204" pitchFamily="34" charset="-122"/>
                <a:ea typeface="微软雅黑" panose="020B0503020204020204" pitchFamily="34" charset="-122"/>
              </a:rPr>
              <a:t>类</a:t>
            </a:r>
            <a:r>
              <a:rPr lang="en-US" altLang="zh-CN" sz="3600" b="1" dirty="0">
                <a:solidFill>
                  <a:schemeClr val="bg1"/>
                </a:solidFill>
                <a:latin typeface="微软雅黑" panose="020B0503020204020204" pitchFamily="34" charset="-122"/>
                <a:ea typeface="微软雅黑" panose="020B0503020204020204" pitchFamily="34" charset="-122"/>
              </a:rPr>
              <a:t>Rust</a:t>
            </a:r>
            <a:r>
              <a:rPr lang="zh-CN" altLang="en-US" sz="3600" b="1" dirty="0">
                <a:solidFill>
                  <a:schemeClr val="bg1"/>
                </a:solidFill>
                <a:latin typeface="微软雅黑" panose="020B0503020204020204" pitchFamily="34" charset="-122"/>
                <a:ea typeface="微软雅黑" panose="020B0503020204020204" pitchFamily="34" charset="-122"/>
              </a:rPr>
              <a:t>语法和语义规则</a:t>
            </a:r>
          </a:p>
        </p:txBody>
      </p:sp>
      <p:sp>
        <p:nvSpPr>
          <p:cNvPr id="2" name="文本框 1">
            <a:extLst>
              <a:ext uri="{FF2B5EF4-FFF2-40B4-BE49-F238E27FC236}">
                <a16:creationId xmlns:a16="http://schemas.microsoft.com/office/drawing/2014/main" id="{04805B0A-7A6E-C2FD-F09C-62EF73D11719}"/>
              </a:ext>
            </a:extLst>
          </p:cNvPr>
          <p:cNvSpPr txBox="1"/>
          <p:nvPr/>
        </p:nvSpPr>
        <p:spPr>
          <a:xfrm>
            <a:off x="0" y="864816"/>
            <a:ext cx="12072664" cy="1726178"/>
          </a:xfrm>
          <a:prstGeom prst="rect">
            <a:avLst/>
          </a:prstGeom>
          <a:noFill/>
        </p:spPr>
        <p:txBody>
          <a:bodyPr wrap="square">
            <a:spAutoFit/>
          </a:bodyPr>
          <a:lstStyle/>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8.3 </a:t>
            </a:r>
            <a:r>
              <a:rPr lang="zh-CN" altLang="en-US" sz="1800" b="1" dirty="0">
                <a:solidFill>
                  <a:srgbClr val="003366"/>
                </a:solidFill>
                <a:latin typeface="微软雅黑" panose="020B0503020204020204" pitchFamily="34" charset="-122"/>
                <a:ea typeface="微软雅黑" panose="020B0503020204020204" pitchFamily="34" charset="-122"/>
              </a:rPr>
              <a:t>数组元素（依赖</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a:t>
            </a:r>
            <a:r>
              <a:rPr lang="en-US" altLang="zh-CN" sz="1800" b="1" dirty="0">
                <a:solidFill>
                  <a:srgbClr val="003366"/>
                </a:solidFill>
                <a:latin typeface="微软雅黑" panose="020B0503020204020204" pitchFamily="34" charset="-122"/>
                <a:ea typeface="微软雅黑" panose="020B0503020204020204" pitchFamily="34" charset="-122"/>
              </a:rPr>
              <a:t>3.1</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可取元素</a:t>
            </a:r>
            <a:r>
              <a:rPr lang="en-US" altLang="zh-CN" sz="1800" dirty="0">
                <a:solidFill>
                  <a:srgbClr val="003366"/>
                </a:solidFill>
                <a:latin typeface="微软雅黑" panose="020B0503020204020204" pitchFamily="34" charset="-122"/>
                <a:ea typeface="微软雅黑" panose="020B0503020204020204" pitchFamily="34" charset="-122"/>
              </a:rPr>
              <a:t>&gt; -&gt; &lt;</a:t>
            </a:r>
            <a:r>
              <a:rPr lang="zh-CN" altLang="en-US" sz="1800" dirty="0">
                <a:solidFill>
                  <a:srgbClr val="003366"/>
                </a:solidFill>
                <a:latin typeface="微软雅黑" panose="020B0503020204020204" pitchFamily="34" charset="-122"/>
                <a:ea typeface="微软雅黑" panose="020B0503020204020204" pitchFamily="34" charset="-122"/>
              </a:rPr>
              <a:t>可取元素</a:t>
            </a:r>
            <a:r>
              <a:rPr lang="en-US" altLang="zh-CN" sz="1800" dirty="0">
                <a:solidFill>
                  <a:srgbClr val="003366"/>
                </a:solidFill>
                <a:latin typeface="微软雅黑" panose="020B0503020204020204" pitchFamily="34" charset="-122"/>
                <a:ea typeface="微软雅黑" panose="020B0503020204020204" pitchFamily="34" charset="-122"/>
              </a:rPr>
              <a:t>&gt; '['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 </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语义说明：提供按索引访问数组元素的能力，元素可以被取元素、可以参与计算、可以作为左值被修改。索引</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a:t>
            </a:r>
            <a:r>
              <a:rPr lang="zh-CN" altLang="en-US" sz="1800" dirty="0">
                <a:solidFill>
                  <a:srgbClr val="003366"/>
                </a:solidFill>
                <a:latin typeface="微软雅黑" panose="020B0503020204020204" pitchFamily="34" charset="-122"/>
                <a:ea typeface="微软雅黑" panose="020B0503020204020204" pitchFamily="34" charset="-122"/>
              </a:rPr>
              <a:t>的类型必须是整型；索引</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a:t>
            </a:r>
            <a:r>
              <a:rPr lang="zh-CN" altLang="en-US" sz="1800" dirty="0">
                <a:solidFill>
                  <a:srgbClr val="003366"/>
                </a:solidFill>
                <a:latin typeface="微软雅黑" panose="020B0503020204020204" pitchFamily="34" charset="-122"/>
                <a:ea typeface="微软雅黑" panose="020B0503020204020204" pitchFamily="34" charset="-122"/>
              </a:rPr>
              <a:t>必须在合法范围 </a:t>
            </a:r>
            <a:r>
              <a:rPr lang="en-US" altLang="zh-CN" sz="1800" dirty="0">
                <a:solidFill>
                  <a:srgbClr val="003366"/>
                </a:solidFill>
                <a:latin typeface="微软雅黑" panose="020B0503020204020204" pitchFamily="34" charset="-122"/>
                <a:ea typeface="微软雅黑" panose="020B0503020204020204" pitchFamily="34" charset="-122"/>
              </a:rPr>
              <a:t>[0, </a:t>
            </a:r>
            <a:r>
              <a:rPr lang="en-US" altLang="zh-CN" sz="1800" dirty="0" err="1">
                <a:solidFill>
                  <a:srgbClr val="003366"/>
                </a:solidFill>
                <a:latin typeface="微软雅黑" panose="020B0503020204020204" pitchFamily="34" charset="-122"/>
                <a:ea typeface="微软雅黑" panose="020B0503020204020204" pitchFamily="34" charset="-122"/>
              </a:rPr>
              <a:t>len</a:t>
            </a:r>
            <a:r>
              <a:rPr lang="en-US" altLang="zh-CN" sz="1800" dirty="0">
                <a:solidFill>
                  <a:srgbClr val="003366"/>
                </a:solidFill>
                <a:latin typeface="微软雅黑" panose="020B0503020204020204" pitchFamily="34" charset="-122"/>
                <a:ea typeface="微软雅黑" panose="020B0503020204020204" pitchFamily="34" charset="-122"/>
              </a:rPr>
              <a:t>)</a:t>
            </a:r>
            <a:r>
              <a:rPr lang="zh-CN" altLang="en-US" sz="1800" dirty="0">
                <a:solidFill>
                  <a:srgbClr val="003366"/>
                </a:solidFill>
                <a:latin typeface="微软雅黑" panose="020B0503020204020204" pitchFamily="34" charset="-122"/>
                <a:ea typeface="微软雅黑" panose="020B0503020204020204" pitchFamily="34" charset="-122"/>
              </a:rPr>
              <a:t>内；若数组变量不可变，则数组或其子元素不允许被二次赋值。</a:t>
            </a:r>
            <a:endParaRPr lang="en-US" altLang="zh-CN" sz="1800" dirty="0">
              <a:solidFill>
                <a:srgbClr val="003366"/>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38A68625-1928-1D96-AA03-E58E8C156D95}"/>
              </a:ext>
            </a:extLst>
          </p:cNvPr>
          <p:cNvSpPr txBox="1"/>
          <p:nvPr/>
        </p:nvSpPr>
        <p:spPr>
          <a:xfrm>
            <a:off x="268712" y="3248062"/>
            <a:ext cx="3955080" cy="830997"/>
          </a:xfrm>
          <a:prstGeom prst="rect">
            <a:avLst/>
          </a:prstGeom>
          <a:noFill/>
        </p:spPr>
        <p:txBody>
          <a:bodyPr wrap="square">
            <a:spAutoFit/>
          </a:bodyPr>
          <a:lstStyle/>
          <a:p>
            <a:pPr marL="0" lvl="1" eaLnBrk="1" hangingPunct="1"/>
            <a:r>
              <a:rPr lang="en-US" altLang="zh-CN" sz="1600" dirty="0">
                <a:latin typeface="微软雅黑" panose="020B0503020204020204" pitchFamily="34" charset="-122"/>
                <a:ea typeface="微软雅黑" panose="020B0503020204020204" pitchFamily="34" charset="-122"/>
              </a:rPr>
              <a:t>fn program_8_3__1(mut a:[[i32;3];3]) {</a:t>
            </a:r>
          </a:p>
          <a:p>
            <a:pPr marL="0" lvl="1" eaLnBrk="1" hangingPunct="1"/>
            <a:r>
              <a:rPr lang="en-US" altLang="zh-CN" sz="1600" dirty="0">
                <a:latin typeface="微软雅黑" panose="020B0503020204020204" pitchFamily="34" charset="-122"/>
                <a:ea typeface="微软雅黑" panose="020B0503020204020204" pitchFamily="34" charset="-122"/>
              </a:rPr>
              <a:t>    let mut b:i32=</a:t>
            </a:r>
            <a:r>
              <a:rPr lang="en-US" altLang="zh-CN" sz="1600" dirty="0">
                <a:solidFill>
                  <a:srgbClr val="00B0F0"/>
                </a:solidFill>
                <a:latin typeface="微软雅黑" panose="020B0503020204020204" pitchFamily="34" charset="-122"/>
                <a:ea typeface="微软雅黑" panose="020B0503020204020204" pitchFamily="34" charset="-122"/>
              </a:rPr>
              <a:t>a[0][0]</a:t>
            </a:r>
            <a:r>
              <a:rPr lang="en-US" altLang="zh-CN" sz="1600" dirty="0">
                <a:latin typeface="微软雅黑" panose="020B0503020204020204" pitchFamily="34" charset="-122"/>
                <a:ea typeface="微软雅黑" panose="020B0503020204020204" pitchFamily="34" charset="-122"/>
              </a:rPr>
              <a:t>;</a:t>
            </a:r>
          </a:p>
          <a:p>
            <a:pPr marL="0" lvl="1" eaLnBrk="1" hangingPunct="1"/>
            <a:r>
              <a:rPr lang="en-US" altLang="zh-CN" sz="1600" dirty="0">
                <a:latin typeface="微软雅黑" panose="020B0503020204020204" pitchFamily="34" charset="-122"/>
                <a:ea typeface="微软雅黑" panose="020B0503020204020204" pitchFamily="34" charset="-122"/>
              </a:rPr>
              <a:t>}</a:t>
            </a:r>
            <a:endParaRPr lang="nn-NO" altLang="zh-CN" sz="1600" dirty="0">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5734A560-9D23-C645-135F-F85EF2EDCB83}"/>
              </a:ext>
            </a:extLst>
          </p:cNvPr>
          <p:cNvSpPr txBox="1"/>
          <p:nvPr/>
        </p:nvSpPr>
        <p:spPr>
          <a:xfrm>
            <a:off x="199005" y="4509120"/>
            <a:ext cx="3329964" cy="1077218"/>
          </a:xfrm>
          <a:prstGeom prst="rect">
            <a:avLst/>
          </a:prstGeom>
          <a:noFill/>
        </p:spPr>
        <p:txBody>
          <a:bodyPr wrap="square">
            <a:spAutoFit/>
          </a:bodyPr>
          <a:lstStyle/>
          <a:p>
            <a:pPr marL="0" lvl="1" eaLnBrk="1" hangingPunct="1"/>
            <a:r>
              <a:rPr lang="nn-NO" altLang="zh-CN" sz="1600" dirty="0">
                <a:latin typeface="微软雅黑" panose="020B0503020204020204" pitchFamily="34" charset="-122"/>
                <a:ea typeface="微软雅黑" panose="020B0503020204020204" pitchFamily="34" charset="-122"/>
              </a:rPr>
              <a:t>fn program_8_3</a:t>
            </a:r>
            <a:r>
              <a:rPr lang="en-US" altLang="zh-CN" sz="1600" dirty="0">
                <a:latin typeface="微软雅黑" panose="020B0503020204020204" pitchFamily="34" charset="-122"/>
                <a:ea typeface="微软雅黑" panose="020B0503020204020204" pitchFamily="34" charset="-122"/>
              </a:rPr>
              <a:t>__4</a:t>
            </a:r>
            <a:r>
              <a:rPr lang="nn-NO" altLang="zh-CN" sz="1600" dirty="0">
                <a:latin typeface="微软雅黑" panose="020B0503020204020204" pitchFamily="34" charset="-122"/>
                <a:ea typeface="微软雅黑" panose="020B0503020204020204" pitchFamily="34" charset="-122"/>
              </a:rPr>
              <a:t>(mut a:i32) {</a:t>
            </a:r>
          </a:p>
          <a:p>
            <a:pPr marL="0" lvl="1" eaLnBrk="1" hangingPunct="1"/>
            <a:r>
              <a:rPr lang="nn-NO" altLang="zh-CN" sz="1600" dirty="0">
                <a:latin typeface="微软雅黑" panose="020B0503020204020204" pitchFamily="34" charset="-122"/>
                <a:ea typeface="微软雅黑" panose="020B0503020204020204" pitchFamily="34" charset="-122"/>
              </a:rPr>
              <a:t>    let mut </a:t>
            </a:r>
            <a:r>
              <a:rPr lang="en-US" altLang="zh-CN" sz="1600" dirty="0">
                <a:latin typeface="微软雅黑" panose="020B0503020204020204" pitchFamily="34" charset="-122"/>
                <a:ea typeface="微软雅黑" panose="020B0503020204020204" pitchFamily="34" charset="-122"/>
              </a:rPr>
              <a:t>a=[1,2,3]</a:t>
            </a:r>
            <a:r>
              <a:rPr lang="nn-NO" altLang="zh-CN" sz="1600" dirty="0">
                <a:latin typeface="微软雅黑" panose="020B0503020204020204" pitchFamily="34" charset="-122"/>
                <a:ea typeface="微软雅黑" panose="020B0503020204020204" pitchFamily="34" charset="-122"/>
              </a:rPr>
              <a:t>;</a:t>
            </a:r>
          </a:p>
          <a:p>
            <a:pPr marL="0" lvl="1" eaLnBrk="1" hangingPunct="1"/>
            <a:r>
              <a:rPr lang="nn-NO" altLang="zh-CN" sz="1600" dirty="0">
                <a:latin typeface="微软雅黑" panose="020B0503020204020204" pitchFamily="34" charset="-122"/>
                <a:ea typeface="微软雅黑" panose="020B0503020204020204" pitchFamily="34" charset="-122"/>
              </a:rPr>
              <a:t>    let mut b=a[a];</a:t>
            </a:r>
          </a:p>
          <a:p>
            <a:pPr marL="0" lvl="1" eaLnBrk="1" hangingPunct="1"/>
            <a:r>
              <a:rPr lang="nn-NO" altLang="zh-CN" sz="1600" dirty="0">
                <a:latin typeface="微软雅黑" panose="020B0503020204020204" pitchFamily="34" charset="-122"/>
                <a:ea typeface="微软雅黑" panose="020B0503020204020204" pitchFamily="34" charset="-122"/>
              </a:rPr>
              <a:t>}</a:t>
            </a:r>
          </a:p>
        </p:txBody>
      </p:sp>
      <p:sp>
        <p:nvSpPr>
          <p:cNvPr id="4" name="文本框 3">
            <a:extLst>
              <a:ext uri="{FF2B5EF4-FFF2-40B4-BE49-F238E27FC236}">
                <a16:creationId xmlns:a16="http://schemas.microsoft.com/office/drawing/2014/main" id="{682F980D-AB78-CA48-4884-7D1BC7E4BD21}"/>
              </a:ext>
            </a:extLst>
          </p:cNvPr>
          <p:cNvSpPr txBox="1"/>
          <p:nvPr/>
        </p:nvSpPr>
        <p:spPr>
          <a:xfrm>
            <a:off x="4314957" y="4509120"/>
            <a:ext cx="2916883" cy="1077218"/>
          </a:xfrm>
          <a:prstGeom prst="rect">
            <a:avLst/>
          </a:prstGeom>
          <a:noFill/>
        </p:spPr>
        <p:txBody>
          <a:bodyPr wrap="square">
            <a:spAutoFit/>
          </a:bodyPr>
          <a:lstStyle/>
          <a:p>
            <a:pPr marL="0" lvl="1" eaLnBrk="1" hangingPunct="1"/>
            <a:r>
              <a:rPr lang="en-US" altLang="zh-CN" sz="1600" dirty="0">
                <a:latin typeface="微软雅黑" panose="020B0503020204020204" pitchFamily="34" charset="-122"/>
                <a:ea typeface="微软雅黑" panose="020B0503020204020204" pitchFamily="34" charset="-122"/>
              </a:rPr>
              <a:t>fn program_8_3__5() {</a:t>
            </a:r>
          </a:p>
          <a:p>
            <a:pPr marL="0" lvl="1" eaLnBrk="1" hangingPunct="1"/>
            <a:r>
              <a:rPr lang="en-US" altLang="zh-CN" sz="1600" dirty="0">
                <a:latin typeface="微软雅黑" panose="020B0503020204020204" pitchFamily="34" charset="-122"/>
                <a:ea typeface="微软雅黑" panose="020B0503020204020204" pitchFamily="34" charset="-122"/>
              </a:rPr>
              <a:t>    let mut a=[1,2,3];</a:t>
            </a:r>
          </a:p>
          <a:p>
            <a:pPr marL="0" lvl="1" eaLnBrk="1" hangingPunct="1"/>
            <a:r>
              <a:rPr lang="en-US" altLang="zh-CN" sz="1600" dirty="0">
                <a:latin typeface="微软雅黑" panose="020B0503020204020204" pitchFamily="34" charset="-122"/>
                <a:ea typeface="微软雅黑" panose="020B0503020204020204" pitchFamily="34" charset="-122"/>
              </a:rPr>
              <a:t>    let mut b=a[3];</a:t>
            </a:r>
          </a:p>
          <a:p>
            <a:pPr marL="0" lvl="1" eaLnBrk="1" hangingPunct="1"/>
            <a:r>
              <a:rPr lang="en-US" altLang="zh-CN" sz="1600" dirty="0">
                <a:latin typeface="微软雅黑" panose="020B0503020204020204" pitchFamily="34" charset="-122"/>
                <a:ea typeface="微软雅黑" panose="020B0503020204020204" pitchFamily="34" charset="-122"/>
              </a:rPr>
              <a:t>}</a:t>
            </a:r>
          </a:p>
        </p:txBody>
      </p:sp>
      <p:sp>
        <p:nvSpPr>
          <p:cNvPr id="5" name="文本框 4">
            <a:extLst>
              <a:ext uri="{FF2B5EF4-FFF2-40B4-BE49-F238E27FC236}">
                <a16:creationId xmlns:a16="http://schemas.microsoft.com/office/drawing/2014/main" id="{0C2CC648-BC7D-B32D-6E6B-7FC437E96E42}"/>
              </a:ext>
            </a:extLst>
          </p:cNvPr>
          <p:cNvSpPr txBox="1"/>
          <p:nvPr/>
        </p:nvSpPr>
        <p:spPr>
          <a:xfrm>
            <a:off x="2310920" y="4789356"/>
            <a:ext cx="1656184" cy="5167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数组的索引的类型必须是整数类型</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3D7498F7-36E9-3C08-0CB7-7676F48D1EB3}"/>
              </a:ext>
            </a:extLst>
          </p:cNvPr>
          <p:cNvSpPr txBox="1"/>
          <p:nvPr/>
        </p:nvSpPr>
        <p:spPr>
          <a:xfrm>
            <a:off x="6423176" y="4789356"/>
            <a:ext cx="1801318" cy="5167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数组的索引必须在合法范围</a:t>
            </a:r>
            <a:r>
              <a:rPr lang="en-US" altLang="zh-CN" sz="1200" dirty="0">
                <a:solidFill>
                  <a:srgbClr val="FF0000"/>
                </a:solidFill>
                <a:latin typeface="微软雅黑" panose="020B0503020204020204" pitchFamily="34" charset="-122"/>
                <a:ea typeface="微软雅黑" panose="020B0503020204020204" pitchFamily="34" charset="-122"/>
              </a:rPr>
              <a:t>[0,3)</a:t>
            </a:r>
            <a:r>
              <a:rPr lang="zh-CN" altLang="en-US" sz="1200" dirty="0">
                <a:solidFill>
                  <a:srgbClr val="FF0000"/>
                </a:solidFill>
                <a:latin typeface="微软雅黑" panose="020B0503020204020204" pitchFamily="34" charset="-122"/>
                <a:ea typeface="微软雅黑" panose="020B0503020204020204" pitchFamily="34" charset="-122"/>
              </a:rPr>
              <a:t>内</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55B99A65-8A60-4B8F-AFE3-8399410CFE74}"/>
              </a:ext>
            </a:extLst>
          </p:cNvPr>
          <p:cNvSpPr txBox="1"/>
          <p:nvPr/>
        </p:nvSpPr>
        <p:spPr>
          <a:xfrm>
            <a:off x="8184232" y="4509120"/>
            <a:ext cx="2916883" cy="1077218"/>
          </a:xfrm>
          <a:prstGeom prst="rect">
            <a:avLst/>
          </a:prstGeom>
          <a:noFill/>
        </p:spPr>
        <p:txBody>
          <a:bodyPr wrap="square">
            <a:spAutoFit/>
          </a:bodyPr>
          <a:lstStyle/>
          <a:p>
            <a:pPr marL="0" lvl="1" eaLnBrk="1" hangingPunct="1"/>
            <a:r>
              <a:rPr lang="en-US" altLang="zh-CN" sz="1600" dirty="0">
                <a:latin typeface="微软雅黑" panose="020B0503020204020204" pitchFamily="34" charset="-122"/>
                <a:ea typeface="微软雅黑" panose="020B0503020204020204" pitchFamily="34" charset="-122"/>
              </a:rPr>
              <a:t>fn program_8_3__6() {</a:t>
            </a:r>
          </a:p>
          <a:p>
            <a:pPr marL="0" lvl="1" eaLnBrk="1" hangingPunct="1"/>
            <a:r>
              <a:rPr lang="en-US" altLang="zh-CN" sz="1600" dirty="0">
                <a:latin typeface="微软雅黑" panose="020B0503020204020204" pitchFamily="34" charset="-122"/>
                <a:ea typeface="微软雅黑" panose="020B0503020204020204" pitchFamily="34" charset="-122"/>
              </a:rPr>
              <a:t>    let a:[i32;3]=[1,2,3];</a:t>
            </a:r>
          </a:p>
          <a:p>
            <a:pPr marL="0" lvl="1" eaLnBrk="1" hangingPunct="1"/>
            <a:r>
              <a:rPr lang="en-US" altLang="zh-CN" sz="1600" dirty="0">
                <a:latin typeface="微软雅黑" panose="020B0503020204020204" pitchFamily="34" charset="-122"/>
                <a:ea typeface="微软雅黑" panose="020B0503020204020204" pitchFamily="34" charset="-122"/>
              </a:rPr>
              <a:t>    a[0]=4;</a:t>
            </a:r>
          </a:p>
          <a:p>
            <a:pPr marL="0" lvl="1" eaLnBrk="1" hangingPunct="1"/>
            <a:r>
              <a:rPr lang="en-US" altLang="zh-CN" sz="1600" dirty="0">
                <a:latin typeface="微软雅黑" panose="020B0503020204020204" pitchFamily="34" charset="-122"/>
                <a:ea typeface="微软雅黑" panose="020B0503020204020204" pitchFamily="34" charset="-122"/>
              </a:rPr>
              <a:t>}</a:t>
            </a:r>
          </a:p>
        </p:txBody>
      </p:sp>
      <p:sp>
        <p:nvSpPr>
          <p:cNvPr id="10" name="文本框 9">
            <a:extLst>
              <a:ext uri="{FF2B5EF4-FFF2-40B4-BE49-F238E27FC236}">
                <a16:creationId xmlns:a16="http://schemas.microsoft.com/office/drawing/2014/main" id="{A071781E-E5EF-D885-CEBA-0CB3943A3AE5}"/>
              </a:ext>
            </a:extLst>
          </p:cNvPr>
          <p:cNvSpPr txBox="1"/>
          <p:nvPr/>
        </p:nvSpPr>
        <p:spPr>
          <a:xfrm>
            <a:off x="10466885" y="4789356"/>
            <a:ext cx="1801318" cy="738344"/>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不可变数组的元素也不可变，不允许被二次赋值</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7C3140AA-6E2B-ECB3-4A8B-AECBEA2CD453}"/>
              </a:ext>
            </a:extLst>
          </p:cNvPr>
          <p:cNvSpPr txBox="1"/>
          <p:nvPr/>
        </p:nvSpPr>
        <p:spPr>
          <a:xfrm>
            <a:off x="4314957" y="3248062"/>
            <a:ext cx="3739056" cy="830997"/>
          </a:xfrm>
          <a:prstGeom prst="rect">
            <a:avLst/>
          </a:prstGeom>
          <a:noFill/>
        </p:spPr>
        <p:txBody>
          <a:bodyPr wrap="square">
            <a:spAutoFit/>
          </a:bodyPr>
          <a:lstStyle/>
          <a:p>
            <a:pPr marL="0" lvl="1"/>
            <a:r>
              <a:rPr lang="en-US" altLang="zh-CN" sz="1600" dirty="0" err="1">
                <a:latin typeface="微软雅黑" panose="020B0503020204020204" pitchFamily="34" charset="-122"/>
                <a:ea typeface="微软雅黑" panose="020B0503020204020204" pitchFamily="34" charset="-122"/>
              </a:rPr>
              <a:t>fn</a:t>
            </a:r>
            <a:r>
              <a:rPr lang="en-US" altLang="zh-CN" sz="1600" dirty="0">
                <a:latin typeface="微软雅黑" panose="020B0503020204020204" pitchFamily="34" charset="-122"/>
                <a:ea typeface="微软雅黑" panose="020B0503020204020204" pitchFamily="34" charset="-122"/>
              </a:rPr>
              <a:t> program_8_3__2(mut a:[i32;3]) {</a:t>
            </a:r>
          </a:p>
          <a:p>
            <a:pPr marL="0" lvl="1"/>
            <a:r>
              <a:rPr lang="en-US" altLang="zh-CN" sz="1600" dirty="0">
                <a:latin typeface="微软雅黑" panose="020B0503020204020204" pitchFamily="34" charset="-122"/>
                <a:ea typeface="微软雅黑" panose="020B0503020204020204" pitchFamily="34" charset="-122"/>
              </a:rPr>
              <a:t>    let mut b:i32=</a:t>
            </a:r>
            <a:r>
              <a:rPr lang="en-US" altLang="zh-CN" sz="1600" dirty="0">
                <a:solidFill>
                  <a:srgbClr val="00B0F0"/>
                </a:solidFill>
                <a:latin typeface="微软雅黑" panose="020B0503020204020204" pitchFamily="34" charset="-122"/>
                <a:ea typeface="微软雅黑" panose="020B0503020204020204" pitchFamily="34" charset="-122"/>
              </a:rPr>
              <a:t>a[0]+a[1]+a[2]</a:t>
            </a:r>
            <a:r>
              <a:rPr lang="en-US" altLang="zh-CN" sz="1600" dirty="0">
                <a:latin typeface="微软雅黑" panose="020B0503020204020204" pitchFamily="34" charset="-122"/>
                <a:ea typeface="微软雅黑" panose="020B0503020204020204" pitchFamily="34" charset="-122"/>
              </a:rPr>
              <a:t>;</a:t>
            </a:r>
          </a:p>
          <a:p>
            <a:pPr marL="0" lvl="1"/>
            <a:r>
              <a:rPr lang="en-US" altLang="zh-CN" sz="1600" dirty="0">
                <a:latin typeface="微软雅黑" panose="020B0503020204020204" pitchFamily="34" charset="-122"/>
                <a:ea typeface="微软雅黑" panose="020B0503020204020204" pitchFamily="34" charset="-122"/>
              </a:rPr>
              <a:t>}</a:t>
            </a:r>
            <a:endParaRPr lang="nn-NO" altLang="zh-CN" sz="1600" dirty="0">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62EB3399-DD0F-A5FD-AF34-15A68B69702C}"/>
              </a:ext>
            </a:extLst>
          </p:cNvPr>
          <p:cNvSpPr txBox="1"/>
          <p:nvPr/>
        </p:nvSpPr>
        <p:spPr>
          <a:xfrm>
            <a:off x="8184232" y="3248062"/>
            <a:ext cx="3739056" cy="830997"/>
          </a:xfrm>
          <a:prstGeom prst="rect">
            <a:avLst/>
          </a:prstGeom>
          <a:noFill/>
        </p:spPr>
        <p:txBody>
          <a:bodyPr wrap="square">
            <a:spAutoFit/>
          </a:bodyPr>
          <a:lstStyle/>
          <a:p>
            <a:pPr marL="0" lvl="1"/>
            <a:r>
              <a:rPr lang="en-US" altLang="zh-CN" sz="1600" dirty="0" err="1">
                <a:latin typeface="微软雅黑" panose="020B0503020204020204" pitchFamily="34" charset="-122"/>
                <a:ea typeface="微软雅黑" panose="020B0503020204020204" pitchFamily="34" charset="-122"/>
              </a:rPr>
              <a:t>fn</a:t>
            </a:r>
            <a:r>
              <a:rPr lang="en-US" altLang="zh-CN" sz="1600" dirty="0">
                <a:latin typeface="微软雅黑" panose="020B0503020204020204" pitchFamily="34" charset="-122"/>
                <a:ea typeface="微软雅黑" panose="020B0503020204020204" pitchFamily="34" charset="-122"/>
              </a:rPr>
              <a:t> program_8_3__3(mut a:[i32;3]) {</a:t>
            </a:r>
          </a:p>
          <a:p>
            <a:pPr marL="0" lvl="1"/>
            <a:r>
              <a:rPr lang="en-US" altLang="zh-CN" sz="1600" dirty="0">
                <a:latin typeface="微软雅黑" panose="020B0503020204020204" pitchFamily="34" charset="-122"/>
                <a:ea typeface="微软雅黑" panose="020B0503020204020204" pitchFamily="34" charset="-122"/>
              </a:rPr>
              <a:t>    </a:t>
            </a:r>
            <a:r>
              <a:rPr lang="en-US" altLang="zh-CN" sz="1600" dirty="0">
                <a:solidFill>
                  <a:srgbClr val="00B0F0"/>
                </a:solidFill>
                <a:latin typeface="微软雅黑" panose="020B0503020204020204" pitchFamily="34" charset="-122"/>
                <a:ea typeface="微软雅黑" panose="020B0503020204020204" pitchFamily="34" charset="-122"/>
              </a:rPr>
              <a:t>a[0]</a:t>
            </a:r>
            <a:r>
              <a:rPr lang="en-US" altLang="zh-CN" sz="1600" dirty="0">
                <a:latin typeface="微软雅黑" panose="020B0503020204020204" pitchFamily="34" charset="-122"/>
                <a:ea typeface="微软雅黑" panose="020B0503020204020204" pitchFamily="34" charset="-122"/>
              </a:rPr>
              <a:t>=1;</a:t>
            </a:r>
          </a:p>
          <a:p>
            <a:pPr marL="0" lvl="1"/>
            <a:r>
              <a:rPr lang="en-US" altLang="zh-CN" sz="1600" dirty="0">
                <a:latin typeface="微软雅黑" panose="020B0503020204020204" pitchFamily="34" charset="-122"/>
                <a:ea typeface="微软雅黑" panose="020B0503020204020204" pitchFamily="34" charset="-122"/>
              </a:rPr>
              <a:t>}</a:t>
            </a:r>
            <a:endParaRPr lang="nn-NO" altLang="zh-CN" sz="1600" dirty="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16B76DC8-C753-7639-E144-BBBF883C0D37}"/>
              </a:ext>
            </a:extLst>
          </p:cNvPr>
          <p:cNvSpPr txBox="1"/>
          <p:nvPr/>
        </p:nvSpPr>
        <p:spPr>
          <a:xfrm>
            <a:off x="2310920" y="3820686"/>
            <a:ext cx="1801318" cy="295145"/>
          </a:xfrm>
          <a:prstGeom prst="rect">
            <a:avLst/>
          </a:prstGeom>
          <a:noFill/>
        </p:spPr>
        <p:txBody>
          <a:bodyPr wrap="square">
            <a:spAutoFit/>
          </a:bodyPr>
          <a:lstStyle/>
          <a:p>
            <a:pPr marL="0" lvl="1">
              <a:lnSpc>
                <a:spcPct val="120000"/>
              </a:lnSpc>
            </a:pPr>
            <a:r>
              <a:rPr lang="zh-CN" altLang="en-US" sz="1200" dirty="0">
                <a:solidFill>
                  <a:srgbClr val="00B050"/>
                </a:solidFill>
                <a:latin typeface="微软雅黑" panose="020B0503020204020204" pitchFamily="34" charset="-122"/>
                <a:ea typeface="微软雅黑" panose="020B0503020204020204" pitchFamily="34" charset="-122"/>
              </a:rPr>
              <a:t>√</a:t>
            </a:r>
            <a:r>
              <a:rPr lang="en-US" altLang="zh-CN" sz="1200" dirty="0">
                <a:solidFill>
                  <a:srgbClr val="00B050"/>
                </a:solidFill>
                <a:latin typeface="微软雅黑" panose="020B0503020204020204" pitchFamily="34" charset="-122"/>
                <a:ea typeface="微软雅黑" panose="020B0503020204020204" pitchFamily="34" charset="-122"/>
              </a:rPr>
              <a:t> </a:t>
            </a:r>
            <a:r>
              <a:rPr lang="zh-CN" altLang="en-US" sz="1200" dirty="0">
                <a:solidFill>
                  <a:srgbClr val="00B050"/>
                </a:solidFill>
                <a:latin typeface="微软雅黑" panose="020B0503020204020204" pitchFamily="34" charset="-122"/>
                <a:ea typeface="微软雅黑" panose="020B0503020204020204" pitchFamily="34" charset="-122"/>
              </a:rPr>
              <a:t>元素可以被取子元素</a:t>
            </a:r>
            <a:endParaRPr lang="en-US" altLang="zh-CN" sz="1200" dirty="0">
              <a:solidFill>
                <a:srgbClr val="00B050"/>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ADC28728-EEA6-58C5-1089-57E414428509}"/>
              </a:ext>
            </a:extLst>
          </p:cNvPr>
          <p:cNvSpPr txBox="1"/>
          <p:nvPr/>
        </p:nvSpPr>
        <p:spPr>
          <a:xfrm>
            <a:off x="6423176" y="3820686"/>
            <a:ext cx="1801318" cy="295145"/>
          </a:xfrm>
          <a:prstGeom prst="rect">
            <a:avLst/>
          </a:prstGeom>
          <a:noFill/>
        </p:spPr>
        <p:txBody>
          <a:bodyPr wrap="square">
            <a:spAutoFit/>
          </a:bodyPr>
          <a:lstStyle/>
          <a:p>
            <a:pPr marL="0" lvl="1">
              <a:lnSpc>
                <a:spcPct val="120000"/>
              </a:lnSpc>
            </a:pPr>
            <a:r>
              <a:rPr lang="zh-CN" altLang="en-US" sz="1200" dirty="0">
                <a:solidFill>
                  <a:srgbClr val="00B050"/>
                </a:solidFill>
                <a:latin typeface="微软雅黑" panose="020B0503020204020204" pitchFamily="34" charset="-122"/>
                <a:ea typeface="微软雅黑" panose="020B0503020204020204" pitchFamily="34" charset="-122"/>
              </a:rPr>
              <a:t>√</a:t>
            </a:r>
            <a:r>
              <a:rPr lang="en-US" altLang="zh-CN" sz="1200" dirty="0">
                <a:solidFill>
                  <a:srgbClr val="00B050"/>
                </a:solidFill>
                <a:latin typeface="微软雅黑" panose="020B0503020204020204" pitchFamily="34" charset="-122"/>
                <a:ea typeface="微软雅黑" panose="020B0503020204020204" pitchFamily="34" charset="-122"/>
              </a:rPr>
              <a:t> </a:t>
            </a:r>
            <a:r>
              <a:rPr lang="zh-CN" altLang="en-US" sz="1200" dirty="0">
                <a:solidFill>
                  <a:srgbClr val="00B050"/>
                </a:solidFill>
                <a:latin typeface="微软雅黑" panose="020B0503020204020204" pitchFamily="34" charset="-122"/>
                <a:ea typeface="微软雅黑" panose="020B0503020204020204" pitchFamily="34" charset="-122"/>
              </a:rPr>
              <a:t>元素可以参与计算</a:t>
            </a:r>
            <a:endParaRPr lang="en-US" altLang="zh-CN" sz="1200" dirty="0">
              <a:solidFill>
                <a:srgbClr val="00B050"/>
              </a:solidFill>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C4DAFBAA-79BA-1016-FF01-E1DF77979F0C}"/>
              </a:ext>
            </a:extLst>
          </p:cNvPr>
          <p:cNvSpPr txBox="1"/>
          <p:nvPr/>
        </p:nvSpPr>
        <p:spPr>
          <a:xfrm>
            <a:off x="9192344" y="3820686"/>
            <a:ext cx="3075859" cy="295145"/>
          </a:xfrm>
          <a:prstGeom prst="rect">
            <a:avLst/>
          </a:prstGeom>
          <a:noFill/>
        </p:spPr>
        <p:txBody>
          <a:bodyPr wrap="square">
            <a:spAutoFit/>
          </a:bodyPr>
          <a:lstStyle/>
          <a:p>
            <a:pPr marL="0" lvl="1">
              <a:lnSpc>
                <a:spcPct val="120000"/>
              </a:lnSpc>
            </a:pPr>
            <a:r>
              <a:rPr lang="zh-CN" altLang="en-US" sz="1200" dirty="0">
                <a:solidFill>
                  <a:srgbClr val="00B050"/>
                </a:solidFill>
                <a:latin typeface="微软雅黑" panose="020B0503020204020204" pitchFamily="34" charset="-122"/>
                <a:ea typeface="微软雅黑" panose="020B0503020204020204" pitchFamily="34" charset="-122"/>
              </a:rPr>
              <a:t>√</a:t>
            </a:r>
            <a:r>
              <a:rPr lang="en-US" altLang="zh-CN" sz="1200" dirty="0">
                <a:solidFill>
                  <a:srgbClr val="00B050"/>
                </a:solidFill>
                <a:latin typeface="微软雅黑" panose="020B0503020204020204" pitchFamily="34" charset="-122"/>
                <a:ea typeface="微软雅黑" panose="020B0503020204020204" pitchFamily="34" charset="-122"/>
              </a:rPr>
              <a:t> </a:t>
            </a:r>
            <a:r>
              <a:rPr lang="zh-CN" altLang="en-US" sz="1200" dirty="0">
                <a:solidFill>
                  <a:srgbClr val="00B050"/>
                </a:solidFill>
                <a:latin typeface="微软雅黑" panose="020B0503020204020204" pitchFamily="34" charset="-122"/>
                <a:ea typeface="微软雅黑" panose="020B0503020204020204" pitchFamily="34" charset="-122"/>
              </a:rPr>
              <a:t>元素可以作为左值被修改</a:t>
            </a:r>
            <a:endParaRPr lang="en-US" altLang="zh-CN" sz="1200" dirty="0">
              <a:solidFill>
                <a:srgbClr val="00B05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572135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9FCD5-2DD2-3CC9-DFE5-F2DA5F1DC95A}"/>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71472E5F-7AC8-905B-F47B-295757A6ECEB}"/>
              </a:ext>
            </a:extLst>
          </p:cNvPr>
          <p:cNvSpPr txBox="1">
            <a:spLocks/>
          </p:cNvSpPr>
          <p:nvPr/>
        </p:nvSpPr>
        <p:spPr>
          <a:xfrm>
            <a:off x="72008" y="-12202"/>
            <a:ext cx="7752184" cy="848914"/>
          </a:xfrm>
          <a:prstGeom prst="rect">
            <a:avLst/>
          </a:prstGeom>
        </p:spPr>
        <p:txBody>
          <a:bodyPr/>
          <a:lstStyle>
            <a:lvl1pPr algn="ctr" defTabSz="1219200" rtl="0" eaLnBrk="1" latinLnBrk="0" hangingPunct="1">
              <a:spcBef>
                <a:spcPct val="0"/>
              </a:spcBef>
              <a:buNone/>
              <a:defRPr sz="5865" kern="1200">
                <a:solidFill>
                  <a:schemeClr val="tx1"/>
                </a:solidFill>
                <a:latin typeface="+mj-lt"/>
                <a:ea typeface="+mj-ea"/>
                <a:cs typeface="+mj-cs"/>
              </a:defRPr>
            </a:lvl1pPr>
          </a:lstStyle>
          <a:p>
            <a:pPr algn="l"/>
            <a:r>
              <a:rPr lang="zh-CN" altLang="en-US" sz="3600" b="1" dirty="0">
                <a:solidFill>
                  <a:schemeClr val="bg1"/>
                </a:solidFill>
                <a:latin typeface="微软雅黑" panose="020B0503020204020204" pitchFamily="34" charset="-122"/>
                <a:ea typeface="微软雅黑" panose="020B0503020204020204" pitchFamily="34" charset="-122"/>
              </a:rPr>
              <a:t>类</a:t>
            </a:r>
            <a:r>
              <a:rPr lang="en-US" altLang="zh-CN" sz="3600" b="1" dirty="0">
                <a:solidFill>
                  <a:schemeClr val="bg1"/>
                </a:solidFill>
                <a:latin typeface="微软雅黑" panose="020B0503020204020204" pitchFamily="34" charset="-122"/>
                <a:ea typeface="微软雅黑" panose="020B0503020204020204" pitchFamily="34" charset="-122"/>
              </a:rPr>
              <a:t>Rust</a:t>
            </a:r>
            <a:r>
              <a:rPr lang="zh-CN" altLang="en-US" sz="3600" b="1" dirty="0">
                <a:solidFill>
                  <a:schemeClr val="bg1"/>
                </a:solidFill>
                <a:latin typeface="微软雅黑" panose="020B0503020204020204" pitchFamily="34" charset="-122"/>
                <a:ea typeface="微软雅黑" panose="020B0503020204020204" pitchFamily="34" charset="-122"/>
              </a:rPr>
              <a:t>语法和语义规则</a:t>
            </a:r>
          </a:p>
        </p:txBody>
      </p:sp>
      <p:sp>
        <p:nvSpPr>
          <p:cNvPr id="9" name="文本框 8">
            <a:extLst>
              <a:ext uri="{FF2B5EF4-FFF2-40B4-BE49-F238E27FC236}">
                <a16:creationId xmlns:a16="http://schemas.microsoft.com/office/drawing/2014/main" id="{83D04FBA-9706-3122-B39E-ACF0ADBD0729}"/>
              </a:ext>
            </a:extLst>
          </p:cNvPr>
          <p:cNvSpPr txBox="1"/>
          <p:nvPr/>
        </p:nvSpPr>
        <p:spPr>
          <a:xfrm>
            <a:off x="0" y="864816"/>
            <a:ext cx="12072664" cy="4717766"/>
          </a:xfrm>
          <a:prstGeom prst="rect">
            <a:avLst/>
          </a:prstGeom>
          <a:noFill/>
        </p:spPr>
        <p:txBody>
          <a:bodyPr wrap="square">
            <a:spAutoFit/>
          </a:bodyPr>
          <a:lstStyle/>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9.1 </a:t>
            </a:r>
            <a:r>
              <a:rPr lang="zh-CN" altLang="en-US" sz="1800" b="1" dirty="0">
                <a:solidFill>
                  <a:srgbClr val="003366"/>
                </a:solidFill>
                <a:latin typeface="微软雅黑" panose="020B0503020204020204" pitchFamily="34" charset="-122"/>
                <a:ea typeface="微软雅黑" panose="020B0503020204020204" pitchFamily="34" charset="-122"/>
              </a:rPr>
              <a:t>元组类型（依赖</a:t>
            </a:r>
            <a:r>
              <a:rPr lang="en-US" altLang="zh-CN" sz="1800" b="1" dirty="0">
                <a:solidFill>
                  <a:srgbClr val="003366"/>
                </a:solidFill>
                <a:latin typeface="微软雅黑" panose="020B0503020204020204" pitchFamily="34" charset="-122"/>
                <a:ea typeface="微软雅黑" panose="020B0503020204020204" pitchFamily="34" charset="-122"/>
              </a:rPr>
              <a:t>0.2</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0.2</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 -&gt; '('  &lt;</a:t>
            </a:r>
            <a:r>
              <a:rPr lang="zh-CN" altLang="en-US" sz="1800" dirty="0">
                <a:solidFill>
                  <a:srgbClr val="003366"/>
                </a:solidFill>
                <a:latin typeface="微软雅黑" panose="020B0503020204020204" pitchFamily="34" charset="-122"/>
                <a:ea typeface="微软雅黑" panose="020B0503020204020204" pitchFamily="34" charset="-122"/>
              </a:rPr>
              <a:t>元组类型内部</a:t>
            </a:r>
            <a:r>
              <a:rPr lang="en-US" altLang="zh-CN" sz="1800" dirty="0">
                <a:solidFill>
                  <a:srgbClr val="003366"/>
                </a:solidFill>
                <a:latin typeface="微软雅黑" panose="020B0503020204020204" pitchFamily="34" charset="-122"/>
                <a:ea typeface="微软雅黑" panose="020B0503020204020204" pitchFamily="34" charset="-122"/>
              </a:rPr>
              <a:t>&gt; ')'</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元组类型内部</a:t>
            </a:r>
            <a:r>
              <a:rPr lang="en-US" altLang="zh-CN" sz="1800" dirty="0">
                <a:solidFill>
                  <a:srgbClr val="003366"/>
                </a:solidFill>
                <a:latin typeface="微软雅黑" panose="020B0503020204020204" pitchFamily="34" charset="-122"/>
                <a:ea typeface="微软雅黑" panose="020B0503020204020204" pitchFamily="34" charset="-122"/>
              </a:rPr>
              <a:t>&gt; -&gt; </a:t>
            </a:r>
            <a:r>
              <a:rPr lang="zh-CN" altLang="en-US" sz="1800" dirty="0">
                <a:solidFill>
                  <a:srgbClr val="003366"/>
                </a:solidFill>
                <a:latin typeface="微软雅黑" panose="020B0503020204020204" pitchFamily="34" charset="-122"/>
                <a:ea typeface="微软雅黑" panose="020B0503020204020204" pitchFamily="34" charset="-122"/>
              </a:rPr>
              <a:t>空 </a:t>
            </a:r>
            <a:r>
              <a:rPr lang="en-US" altLang="zh-CN" sz="1800" dirty="0">
                <a:solidFill>
                  <a:srgbClr val="003366"/>
                </a:solidFill>
                <a:latin typeface="微软雅黑" panose="020B0503020204020204" pitchFamily="34" charset="-122"/>
                <a:ea typeface="微软雅黑" panose="020B0503020204020204" pitchFamily="34" charset="-122"/>
              </a:rPr>
              <a:t>| &lt;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 ',' &lt;</a:t>
            </a:r>
            <a:r>
              <a:rPr lang="zh-CN" altLang="en-US" sz="1800" dirty="0">
                <a:solidFill>
                  <a:srgbClr val="003366"/>
                </a:solidFill>
                <a:latin typeface="微软雅黑" panose="020B0503020204020204" pitchFamily="34" charset="-122"/>
                <a:ea typeface="微软雅黑" panose="020B0503020204020204" pitchFamily="34" charset="-122"/>
              </a:rPr>
              <a:t>类型列表</a:t>
            </a:r>
            <a:r>
              <a:rPr lang="en-US" altLang="zh-CN" sz="18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类型列表</a:t>
            </a:r>
            <a:r>
              <a:rPr lang="en-US" altLang="zh-CN" sz="1800" dirty="0">
                <a:solidFill>
                  <a:srgbClr val="003366"/>
                </a:solidFill>
                <a:latin typeface="微软雅黑" panose="020B0503020204020204" pitchFamily="34" charset="-122"/>
                <a:ea typeface="微软雅黑" panose="020B0503020204020204" pitchFamily="34" charset="-122"/>
              </a:rPr>
              <a:t>&gt; -&gt;</a:t>
            </a:r>
            <a:r>
              <a:rPr lang="zh-CN" altLang="en-US" sz="1800" dirty="0">
                <a:solidFill>
                  <a:srgbClr val="003366"/>
                </a:solidFill>
                <a:latin typeface="微软雅黑" panose="020B0503020204020204" pitchFamily="34" charset="-122"/>
                <a:ea typeface="微软雅黑" panose="020B0503020204020204" pitchFamily="34" charset="-122"/>
              </a:rPr>
              <a:t>空 </a:t>
            </a:r>
            <a:r>
              <a:rPr lang="en-US" altLang="zh-CN" sz="1800" dirty="0">
                <a:solidFill>
                  <a:srgbClr val="003366"/>
                </a:solidFill>
                <a:latin typeface="微软雅黑" panose="020B0503020204020204" pitchFamily="34" charset="-122"/>
                <a:ea typeface="微软雅黑" panose="020B0503020204020204" pitchFamily="34" charset="-122"/>
              </a:rPr>
              <a:t>| &lt;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 | &lt;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 ',' &lt;</a:t>
            </a:r>
            <a:r>
              <a:rPr lang="zh-CN" altLang="en-US" sz="1800" dirty="0">
                <a:solidFill>
                  <a:srgbClr val="003366"/>
                </a:solidFill>
                <a:latin typeface="微软雅黑" panose="020B0503020204020204" pitchFamily="34" charset="-122"/>
                <a:ea typeface="微软雅黑" panose="020B0503020204020204" pitchFamily="34" charset="-122"/>
              </a:rPr>
              <a:t>类型列表</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语义说明：拓展元组类型，是由圆括号</a:t>
            </a:r>
            <a:r>
              <a:rPr lang="en-US" altLang="zh-CN" sz="1800" dirty="0">
                <a:solidFill>
                  <a:srgbClr val="003366"/>
                </a:solidFill>
                <a:latin typeface="微软雅黑" panose="020B0503020204020204" pitchFamily="34" charset="-122"/>
                <a:ea typeface="微软雅黑" panose="020B0503020204020204" pitchFamily="34" charset="-122"/>
              </a:rPr>
              <a:t>'()'</a:t>
            </a:r>
            <a:r>
              <a:rPr lang="zh-CN" altLang="en-US" sz="1800" dirty="0">
                <a:solidFill>
                  <a:srgbClr val="003366"/>
                </a:solidFill>
                <a:latin typeface="微软雅黑" panose="020B0503020204020204" pitchFamily="34" charset="-122"/>
                <a:ea typeface="微软雅黑" panose="020B0503020204020204" pitchFamily="34" charset="-122"/>
              </a:rPr>
              <a:t>包裹，逗号</a:t>
            </a:r>
            <a:r>
              <a:rPr lang="en-US" altLang="zh-CN" sz="1800" dirty="0">
                <a:solidFill>
                  <a:srgbClr val="003366"/>
                </a:solidFill>
                <a:latin typeface="微软雅黑" panose="020B0503020204020204" pitchFamily="34" charset="-122"/>
                <a:ea typeface="微软雅黑" panose="020B0503020204020204" pitchFamily="34" charset="-122"/>
              </a:rPr>
              <a:t>','</a:t>
            </a:r>
            <a:r>
              <a:rPr lang="zh-CN" altLang="en-US" sz="1800" dirty="0">
                <a:solidFill>
                  <a:srgbClr val="003366"/>
                </a:solidFill>
                <a:latin typeface="微软雅黑" panose="020B0503020204020204" pitchFamily="34" charset="-122"/>
                <a:ea typeface="微软雅黑" panose="020B0503020204020204" pitchFamily="34" charset="-122"/>
              </a:rPr>
              <a:t>分隔元素类型的结构。支持空元组类型</a:t>
            </a:r>
            <a:r>
              <a:rPr lang="en-US" altLang="zh-CN" sz="1800" dirty="0">
                <a:solidFill>
                  <a:srgbClr val="003366"/>
                </a:solidFill>
                <a:latin typeface="微软雅黑" panose="020B0503020204020204" pitchFamily="34" charset="-122"/>
                <a:ea typeface="微软雅黑" panose="020B0503020204020204" pitchFamily="34" charset="-122"/>
              </a:rPr>
              <a:t>()</a:t>
            </a:r>
            <a:r>
              <a:rPr lang="zh-CN" altLang="en-US" sz="1800" dirty="0">
                <a:solidFill>
                  <a:srgbClr val="003366"/>
                </a:solidFill>
                <a:latin typeface="微软雅黑" panose="020B0503020204020204" pitchFamily="34" charset="-122"/>
                <a:ea typeface="微软雅黑" panose="020B0503020204020204" pitchFamily="34" charset="-122"/>
              </a:rPr>
              <a:t>和非零数量元素的元组类型。</a:t>
            </a:r>
            <a:endParaRPr lang="en-US" altLang="zh-CN" sz="1800" dirty="0">
              <a:solidFill>
                <a:srgbClr val="003366"/>
              </a:solidFill>
              <a:latin typeface="微软雅黑" panose="020B0503020204020204" pitchFamily="34" charset="-122"/>
              <a:ea typeface="微软雅黑" panose="020B0503020204020204" pitchFamily="34" charset="-122"/>
            </a:endParaRPr>
          </a:p>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9.2 </a:t>
            </a:r>
            <a:r>
              <a:rPr lang="zh-CN" altLang="en-US" sz="1800" b="1" dirty="0">
                <a:solidFill>
                  <a:srgbClr val="003366"/>
                </a:solidFill>
                <a:latin typeface="微软雅黑" panose="020B0503020204020204" pitchFamily="34" charset="-122"/>
                <a:ea typeface="微软雅黑" panose="020B0503020204020204" pitchFamily="34" charset="-122"/>
              </a:rPr>
              <a:t>元组类型（依赖</a:t>
            </a:r>
            <a:r>
              <a:rPr lang="en-US" altLang="zh-CN" sz="1800" b="1" dirty="0">
                <a:solidFill>
                  <a:srgbClr val="003366"/>
                </a:solidFill>
                <a:latin typeface="微软雅黑" panose="020B0503020204020204" pitchFamily="34" charset="-122"/>
                <a:ea typeface="微软雅黑" panose="020B0503020204020204" pitchFamily="34" charset="-122"/>
              </a:rPr>
              <a:t>3.1</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可取元素</a:t>
            </a:r>
            <a:r>
              <a:rPr lang="en-US" altLang="zh-CN" sz="1800" dirty="0">
                <a:solidFill>
                  <a:srgbClr val="003366"/>
                </a:solidFill>
                <a:latin typeface="微软雅黑" panose="020B0503020204020204" pitchFamily="34" charset="-122"/>
                <a:ea typeface="微软雅黑" panose="020B0503020204020204" pitchFamily="34" charset="-122"/>
              </a:rPr>
              <a:t>&gt; -&gt; '(' &lt;</a:t>
            </a:r>
            <a:r>
              <a:rPr lang="zh-CN" altLang="en-US" sz="1800" dirty="0">
                <a:solidFill>
                  <a:srgbClr val="003366"/>
                </a:solidFill>
                <a:latin typeface="微软雅黑" panose="020B0503020204020204" pitchFamily="34" charset="-122"/>
                <a:ea typeface="微软雅黑" panose="020B0503020204020204" pitchFamily="34" charset="-122"/>
              </a:rPr>
              <a:t>元组赋值内部</a:t>
            </a:r>
            <a:r>
              <a:rPr lang="en-US" altLang="zh-CN" sz="1800" dirty="0">
                <a:solidFill>
                  <a:srgbClr val="003366"/>
                </a:solidFill>
                <a:latin typeface="微软雅黑" panose="020B0503020204020204" pitchFamily="34" charset="-122"/>
                <a:ea typeface="微软雅黑" panose="020B0503020204020204" pitchFamily="34" charset="-122"/>
              </a:rPr>
              <a:t>&gt; ')'</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元组赋值内部</a:t>
            </a:r>
            <a:r>
              <a:rPr lang="en-US" altLang="zh-CN" sz="1800" dirty="0">
                <a:solidFill>
                  <a:srgbClr val="003366"/>
                </a:solidFill>
                <a:latin typeface="微软雅黑" panose="020B0503020204020204" pitchFamily="34" charset="-122"/>
                <a:ea typeface="微软雅黑" panose="020B0503020204020204" pitchFamily="34" charset="-122"/>
              </a:rPr>
              <a:t>&gt; -&gt; </a:t>
            </a:r>
            <a:r>
              <a:rPr lang="zh-CN" altLang="en-US" sz="1800" dirty="0">
                <a:solidFill>
                  <a:srgbClr val="003366"/>
                </a:solidFill>
                <a:latin typeface="微软雅黑" panose="020B0503020204020204" pitchFamily="34" charset="-122"/>
                <a:ea typeface="微软雅黑" panose="020B0503020204020204" pitchFamily="34" charset="-122"/>
              </a:rPr>
              <a:t>空 </a:t>
            </a:r>
            <a:r>
              <a:rPr lang="en-US" altLang="zh-CN" sz="1800" dirty="0">
                <a:solidFill>
                  <a:srgbClr val="003366"/>
                </a:solidFill>
                <a:latin typeface="微软雅黑" panose="020B0503020204020204" pitchFamily="34" charset="-122"/>
                <a:ea typeface="微软雅黑" panose="020B0503020204020204" pitchFamily="34" charset="-122"/>
              </a:rPr>
              <a:t>|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 &lt;</a:t>
            </a:r>
            <a:r>
              <a:rPr lang="zh-CN" altLang="en-US" sz="1800" dirty="0">
                <a:solidFill>
                  <a:srgbClr val="003366"/>
                </a:solidFill>
                <a:latin typeface="微软雅黑" panose="020B0503020204020204" pitchFamily="34" charset="-122"/>
                <a:ea typeface="微软雅黑" panose="020B0503020204020204" pitchFamily="34" charset="-122"/>
              </a:rPr>
              <a:t>元组元素列表</a:t>
            </a:r>
            <a:r>
              <a:rPr lang="en-US" altLang="zh-CN" sz="1800" dirty="0">
                <a:solidFill>
                  <a:srgbClr val="003366"/>
                </a:solidFill>
                <a:latin typeface="微软雅黑" panose="020B0503020204020204" pitchFamily="34" charset="-122"/>
                <a:ea typeface="微软雅黑" panose="020B0503020204020204" pitchFamily="34" charset="-122"/>
              </a:rPr>
              <a:t>&gt;</a:t>
            </a: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元组元素列表</a:t>
            </a:r>
            <a:r>
              <a:rPr lang="en-US" altLang="zh-CN" sz="1800" dirty="0">
                <a:solidFill>
                  <a:srgbClr val="003366"/>
                </a:solidFill>
                <a:latin typeface="微软雅黑" panose="020B0503020204020204" pitchFamily="34" charset="-122"/>
                <a:ea typeface="微软雅黑" panose="020B0503020204020204" pitchFamily="34" charset="-122"/>
              </a:rPr>
              <a:t>&gt;-&gt;</a:t>
            </a:r>
            <a:r>
              <a:rPr lang="zh-CN" altLang="en-US" sz="1800" dirty="0">
                <a:solidFill>
                  <a:srgbClr val="003366"/>
                </a:solidFill>
                <a:latin typeface="微软雅黑" panose="020B0503020204020204" pitchFamily="34" charset="-122"/>
                <a:ea typeface="微软雅黑" panose="020B0503020204020204" pitchFamily="34" charset="-122"/>
              </a:rPr>
              <a:t>空 </a:t>
            </a:r>
            <a:r>
              <a:rPr lang="en-US" altLang="zh-CN" sz="1800" dirty="0">
                <a:solidFill>
                  <a:srgbClr val="003366"/>
                </a:solidFill>
                <a:latin typeface="微软雅黑" panose="020B0503020204020204" pitchFamily="34" charset="-122"/>
                <a:ea typeface="微软雅黑" panose="020B0503020204020204" pitchFamily="34" charset="-122"/>
              </a:rPr>
              <a:t>|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 &lt;</a:t>
            </a:r>
            <a:r>
              <a:rPr lang="zh-CN" altLang="en-US" sz="1800" dirty="0">
                <a:solidFill>
                  <a:srgbClr val="003366"/>
                </a:solidFill>
                <a:latin typeface="微软雅黑" panose="020B0503020204020204" pitchFamily="34" charset="-122"/>
                <a:ea typeface="微软雅黑" panose="020B0503020204020204" pitchFamily="34" charset="-122"/>
              </a:rPr>
              <a:t>元组元素列表</a:t>
            </a:r>
            <a:r>
              <a:rPr lang="en-US" altLang="zh-CN" sz="1800" dirty="0">
                <a:solidFill>
                  <a:srgbClr val="003366"/>
                </a:solidFill>
                <a:latin typeface="微软雅黑" panose="020B0503020204020204" pitchFamily="34" charset="-122"/>
                <a:ea typeface="微软雅黑" panose="020B0503020204020204" pitchFamily="34" charset="-122"/>
              </a:rPr>
              <a:t>&gt;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语义说明：元组是由圆括号</a:t>
            </a:r>
            <a:r>
              <a:rPr lang="en-US" altLang="zh-CN" sz="1800" dirty="0">
                <a:solidFill>
                  <a:srgbClr val="003366"/>
                </a:solidFill>
                <a:latin typeface="微软雅黑" panose="020B0503020204020204" pitchFamily="34" charset="-122"/>
                <a:ea typeface="微软雅黑" panose="020B0503020204020204" pitchFamily="34" charset="-122"/>
              </a:rPr>
              <a:t>'()'</a:t>
            </a:r>
            <a:r>
              <a:rPr lang="zh-CN" altLang="en-US" sz="1800" dirty="0">
                <a:solidFill>
                  <a:srgbClr val="003366"/>
                </a:solidFill>
                <a:latin typeface="微软雅黑" panose="020B0503020204020204" pitchFamily="34" charset="-122"/>
                <a:ea typeface="微软雅黑" panose="020B0503020204020204" pitchFamily="34" charset="-122"/>
              </a:rPr>
              <a:t>包裹，逗号</a:t>
            </a:r>
            <a:r>
              <a:rPr lang="en-US" altLang="zh-CN" sz="1800" dirty="0">
                <a:solidFill>
                  <a:srgbClr val="003366"/>
                </a:solidFill>
                <a:latin typeface="微软雅黑" panose="020B0503020204020204" pitchFamily="34" charset="-122"/>
                <a:ea typeface="微软雅黑" panose="020B0503020204020204" pitchFamily="34" charset="-122"/>
              </a:rPr>
              <a:t>','</a:t>
            </a:r>
            <a:r>
              <a:rPr lang="zh-CN" altLang="en-US" sz="1800" dirty="0">
                <a:solidFill>
                  <a:srgbClr val="003366"/>
                </a:solidFill>
                <a:latin typeface="微软雅黑" panose="020B0503020204020204" pitchFamily="34" charset="-122"/>
                <a:ea typeface="微软雅黑" panose="020B0503020204020204" pitchFamily="34" charset="-122"/>
              </a:rPr>
              <a:t>分隔元素</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a:t>
            </a:r>
            <a:r>
              <a:rPr lang="zh-CN" altLang="en-US" sz="1800" dirty="0">
                <a:solidFill>
                  <a:srgbClr val="003366"/>
                </a:solidFill>
                <a:latin typeface="微软雅黑" panose="020B0503020204020204" pitchFamily="34" charset="-122"/>
                <a:ea typeface="微软雅黑" panose="020B0503020204020204" pitchFamily="34" charset="-122"/>
              </a:rPr>
              <a:t>的结构，</a:t>
            </a:r>
            <a:r>
              <a:rPr lang="en-US" altLang="zh-CN" sz="1800" dirty="0">
                <a:solidFill>
                  <a:srgbClr val="003366"/>
                </a:solidFill>
                <a:latin typeface="微软雅黑" panose="020B0503020204020204" pitchFamily="34" charset="-122"/>
                <a:ea typeface="微软雅黑" panose="020B0503020204020204" pitchFamily="34" charset="-122"/>
              </a:rPr>
              <a:t> </a:t>
            </a:r>
            <a:r>
              <a:rPr lang="zh-CN" altLang="en-US" sz="1800" dirty="0">
                <a:solidFill>
                  <a:srgbClr val="003366"/>
                </a:solidFill>
                <a:latin typeface="微软雅黑" panose="020B0503020204020204" pitchFamily="34" charset="-122"/>
                <a:ea typeface="微软雅黑" panose="020B0503020204020204" pitchFamily="34" charset="-122"/>
              </a:rPr>
              <a:t>支持空元组</a:t>
            </a:r>
            <a:r>
              <a:rPr lang="en-US" altLang="zh-CN" sz="1800" dirty="0">
                <a:solidFill>
                  <a:srgbClr val="003366"/>
                </a:solidFill>
                <a:latin typeface="微软雅黑" panose="020B0503020204020204" pitchFamily="34" charset="-122"/>
                <a:ea typeface="微软雅黑" panose="020B0503020204020204" pitchFamily="34" charset="-122"/>
              </a:rPr>
              <a:t>()</a:t>
            </a:r>
            <a:r>
              <a:rPr lang="zh-CN" altLang="en-US" sz="1800" dirty="0">
                <a:solidFill>
                  <a:srgbClr val="003366"/>
                </a:solidFill>
                <a:latin typeface="微软雅黑" panose="020B0503020204020204" pitchFamily="34" charset="-122"/>
                <a:ea typeface="微软雅黑" panose="020B0503020204020204" pitchFamily="34" charset="-122"/>
              </a:rPr>
              <a:t>和带元素的元组表达式，</a:t>
            </a:r>
            <a:r>
              <a:rPr lang="en-US" altLang="zh-CN" sz="1800" dirty="0">
                <a:solidFill>
                  <a:srgbClr val="003366"/>
                </a:solidFill>
                <a:latin typeface="微软雅黑" panose="020B0503020204020204" pitchFamily="34" charset="-122"/>
                <a:ea typeface="微软雅黑" panose="020B0503020204020204" pitchFamily="34" charset="-122"/>
              </a:rPr>
              <a:t> &lt;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a:t>
            </a:r>
            <a:r>
              <a:rPr lang="zh-CN" altLang="en-US" sz="1800" dirty="0">
                <a:solidFill>
                  <a:srgbClr val="003366"/>
                </a:solidFill>
                <a:latin typeface="微软雅黑" panose="020B0503020204020204" pitchFamily="34" charset="-122"/>
                <a:ea typeface="微软雅黑" panose="020B0503020204020204" pitchFamily="34" charset="-122"/>
              </a:rPr>
              <a:t>的数量必须与元组类型中的</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a:t>
            </a:r>
            <a:r>
              <a:rPr lang="zh-CN" altLang="en-US" sz="1800" dirty="0">
                <a:solidFill>
                  <a:srgbClr val="003366"/>
                </a:solidFill>
                <a:latin typeface="微软雅黑" panose="020B0503020204020204" pitchFamily="34" charset="-122"/>
                <a:ea typeface="微软雅黑" panose="020B0503020204020204" pitchFamily="34" charset="-122"/>
              </a:rPr>
              <a:t>数量一致；每个 </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表达式</a:t>
            </a:r>
            <a:r>
              <a:rPr lang="en-US" altLang="zh-CN" sz="1800" dirty="0">
                <a:solidFill>
                  <a:srgbClr val="003366"/>
                </a:solidFill>
                <a:latin typeface="微软雅黑" panose="020B0503020204020204" pitchFamily="34" charset="-122"/>
                <a:ea typeface="微软雅黑" panose="020B0503020204020204" pitchFamily="34" charset="-122"/>
              </a:rPr>
              <a:t>&gt; </a:t>
            </a:r>
            <a:r>
              <a:rPr lang="zh-CN" altLang="en-US" sz="1800" dirty="0">
                <a:solidFill>
                  <a:srgbClr val="003366"/>
                </a:solidFill>
                <a:latin typeface="微软雅黑" panose="020B0503020204020204" pitchFamily="34" charset="-122"/>
                <a:ea typeface="微软雅黑" panose="020B0503020204020204" pitchFamily="34" charset="-122"/>
              </a:rPr>
              <a:t>的类型要与元组对应位置元素</a:t>
            </a: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类型</a:t>
            </a:r>
            <a:r>
              <a:rPr lang="en-US" altLang="zh-CN" sz="1800" dirty="0">
                <a:solidFill>
                  <a:srgbClr val="003366"/>
                </a:solidFill>
                <a:latin typeface="微软雅黑" panose="020B0503020204020204" pitchFamily="34" charset="-122"/>
                <a:ea typeface="微软雅黑" panose="020B0503020204020204" pitchFamily="34" charset="-122"/>
              </a:rPr>
              <a:t>&gt;</a:t>
            </a:r>
            <a:r>
              <a:rPr lang="zh-CN" altLang="en-US" sz="1800" dirty="0">
                <a:solidFill>
                  <a:srgbClr val="003366"/>
                </a:solidFill>
                <a:latin typeface="微软雅黑" panose="020B0503020204020204" pitchFamily="34" charset="-122"/>
                <a:ea typeface="微软雅黑" panose="020B0503020204020204" pitchFamily="34" charset="-122"/>
              </a:rPr>
              <a:t>一致；仅有一个元素的元组的元素后必须要加逗号</a:t>
            </a:r>
            <a:r>
              <a:rPr lang="en-US" altLang="zh-CN" sz="1800" dirty="0">
                <a:solidFill>
                  <a:srgbClr val="003366"/>
                </a:solidFill>
                <a:latin typeface="微软雅黑" panose="020B0503020204020204" pitchFamily="34" charset="-122"/>
                <a:ea typeface="微软雅黑" panose="020B0503020204020204" pitchFamily="34" charset="-122"/>
              </a:rPr>
              <a:t>',' </a:t>
            </a:r>
            <a:r>
              <a:rPr lang="zh-CN" altLang="en-US" sz="1800" dirty="0">
                <a:solidFill>
                  <a:srgbClr val="003366"/>
                </a:solidFill>
                <a:latin typeface="微软雅黑" panose="020B0503020204020204" pitchFamily="34" charset="-122"/>
                <a:ea typeface="微软雅黑" panose="020B0503020204020204" pitchFamily="34" charset="-122"/>
              </a:rPr>
              <a:t>，从而与加括号的表达式区分。</a:t>
            </a:r>
            <a:endParaRPr lang="en-US" altLang="zh-CN" sz="1800" dirty="0">
              <a:solidFill>
                <a:srgbClr val="003366"/>
              </a:solidFill>
              <a:latin typeface="微软雅黑" panose="020B0503020204020204" pitchFamily="34" charset="-122"/>
              <a:ea typeface="微软雅黑" panose="020B0503020204020204" pitchFamily="34" charset="-122"/>
            </a:endParaRPr>
          </a:p>
          <a:p>
            <a:pPr marL="0" lvl="1" indent="457200">
              <a:lnSpc>
                <a:spcPct val="120000"/>
              </a:lnSpc>
            </a:pPr>
            <a:endParaRPr lang="en-US" altLang="zh-CN" sz="1800" dirty="0">
              <a:solidFill>
                <a:srgbClr val="003366"/>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6EDA5465-4DD6-0714-AF40-9816CE484206}"/>
              </a:ext>
            </a:extLst>
          </p:cNvPr>
          <p:cNvSpPr txBox="1"/>
          <p:nvPr/>
        </p:nvSpPr>
        <p:spPr>
          <a:xfrm>
            <a:off x="468324" y="5454575"/>
            <a:ext cx="3679388" cy="1323439"/>
          </a:xfrm>
          <a:prstGeom prst="rect">
            <a:avLst/>
          </a:prstGeom>
          <a:noFill/>
        </p:spPr>
        <p:txBody>
          <a:bodyPr wrap="square">
            <a:spAutoFit/>
          </a:bodyPr>
          <a:lstStyle/>
          <a:p>
            <a:pPr marL="0" lvl="1" eaLnBrk="1" hangingPunct="1"/>
            <a:r>
              <a:rPr lang="en-US" altLang="zh-CN" sz="1600" dirty="0">
                <a:latin typeface="微软雅黑" panose="020B0503020204020204" pitchFamily="34" charset="-122"/>
                <a:ea typeface="微软雅黑" panose="020B0503020204020204" pitchFamily="34" charset="-122"/>
              </a:rPr>
              <a:t>fn program_9_1() {</a:t>
            </a:r>
          </a:p>
          <a:p>
            <a:pPr marL="0" lvl="1" eaLnBrk="1" hangingPunct="1"/>
            <a:r>
              <a:rPr lang="en-US" altLang="zh-CN" sz="1600" dirty="0">
                <a:latin typeface="微软雅黑" panose="020B0503020204020204" pitchFamily="34" charset="-122"/>
                <a:ea typeface="微软雅黑" panose="020B0503020204020204" pitchFamily="34" charset="-122"/>
              </a:rPr>
              <a:t>    let a:</a:t>
            </a:r>
            <a:r>
              <a:rPr lang="en-US" altLang="zh-CN" sz="1600" dirty="0">
                <a:solidFill>
                  <a:srgbClr val="00B0F0"/>
                </a:solidFill>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a:t>
            </a:r>
          </a:p>
          <a:p>
            <a:pPr marL="0" lvl="1"/>
            <a:r>
              <a:rPr lang="en-US" altLang="zh-CN" sz="1600" dirty="0">
                <a:latin typeface="微软雅黑" panose="020B0503020204020204" pitchFamily="34" charset="-122"/>
                <a:ea typeface="微软雅黑" panose="020B0503020204020204" pitchFamily="34" charset="-122"/>
              </a:rPr>
              <a:t>    let b:</a:t>
            </a:r>
            <a:r>
              <a:rPr lang="en-US" altLang="zh-CN" sz="1600" dirty="0">
                <a:solidFill>
                  <a:srgbClr val="00B0F0"/>
                </a:solidFill>
                <a:latin typeface="微软雅黑" panose="020B0503020204020204" pitchFamily="34" charset="-122"/>
                <a:ea typeface="微软雅黑" panose="020B0503020204020204" pitchFamily="34" charset="-122"/>
              </a:rPr>
              <a:t>(i32;i32;)</a:t>
            </a:r>
            <a:r>
              <a:rPr lang="en-US" altLang="zh-CN" sz="1600" dirty="0">
                <a:latin typeface="微软雅黑" panose="020B0503020204020204" pitchFamily="34" charset="-122"/>
                <a:ea typeface="微软雅黑" panose="020B0503020204020204" pitchFamily="34" charset="-122"/>
              </a:rPr>
              <a:t>;</a:t>
            </a:r>
          </a:p>
          <a:p>
            <a:pPr marL="0" lvl="1"/>
            <a:r>
              <a:rPr lang="en-US" altLang="zh-CN" sz="1600" dirty="0">
                <a:latin typeface="微软雅黑" panose="020B0503020204020204" pitchFamily="34" charset="-122"/>
                <a:ea typeface="微软雅黑" panose="020B0503020204020204" pitchFamily="34" charset="-122"/>
              </a:rPr>
              <a:t>    let a:</a:t>
            </a:r>
            <a:r>
              <a:rPr lang="en-US" altLang="zh-CN" sz="1600" dirty="0">
                <a:solidFill>
                  <a:srgbClr val="00B0F0"/>
                </a:solidFill>
                <a:latin typeface="微软雅黑" panose="020B0503020204020204" pitchFamily="34" charset="-122"/>
                <a:ea typeface="微软雅黑" panose="020B0503020204020204" pitchFamily="34" charset="-122"/>
              </a:rPr>
              <a:t>(();i32)</a:t>
            </a:r>
            <a:r>
              <a:rPr lang="en-US" altLang="zh-CN" sz="1600" dirty="0">
                <a:latin typeface="微软雅黑" panose="020B0503020204020204" pitchFamily="34" charset="-122"/>
                <a:ea typeface="微软雅黑" panose="020B0503020204020204" pitchFamily="34" charset="-122"/>
              </a:rPr>
              <a:t>;</a:t>
            </a:r>
          </a:p>
          <a:p>
            <a:pPr marL="0" lvl="1" eaLnBrk="1" hangingPunct="1"/>
            <a:r>
              <a:rPr lang="en-US" altLang="zh-CN" sz="1600" dirty="0">
                <a:latin typeface="微软雅黑" panose="020B0503020204020204" pitchFamily="34" charset="-122"/>
                <a:ea typeface="微软雅黑" panose="020B0503020204020204" pitchFamily="34" charset="-122"/>
              </a:rPr>
              <a:t>}</a:t>
            </a:r>
          </a:p>
        </p:txBody>
      </p:sp>
      <p:sp>
        <p:nvSpPr>
          <p:cNvPr id="3" name="文本框 2">
            <a:extLst>
              <a:ext uri="{FF2B5EF4-FFF2-40B4-BE49-F238E27FC236}">
                <a16:creationId xmlns:a16="http://schemas.microsoft.com/office/drawing/2014/main" id="{79F8EDD8-4E7E-64CD-9055-CCDFDA1E7491}"/>
              </a:ext>
            </a:extLst>
          </p:cNvPr>
          <p:cNvSpPr txBox="1"/>
          <p:nvPr/>
        </p:nvSpPr>
        <p:spPr>
          <a:xfrm>
            <a:off x="3719736" y="5454575"/>
            <a:ext cx="3329964" cy="1077218"/>
          </a:xfrm>
          <a:prstGeom prst="rect">
            <a:avLst/>
          </a:prstGeom>
          <a:noFill/>
        </p:spPr>
        <p:txBody>
          <a:bodyPr wrap="square">
            <a:spAutoFit/>
          </a:bodyPr>
          <a:lstStyle/>
          <a:p>
            <a:pPr marL="0" lvl="1" eaLnBrk="1" hangingPunct="1"/>
            <a:r>
              <a:rPr lang="nn-NO" altLang="zh-CN" sz="1600" dirty="0">
                <a:latin typeface="微软雅黑" panose="020B0503020204020204" pitchFamily="34" charset="-122"/>
                <a:ea typeface="微软雅黑" panose="020B0503020204020204" pitchFamily="34" charset="-122"/>
              </a:rPr>
              <a:t>fn program_9_2</a:t>
            </a:r>
            <a:r>
              <a:rPr lang="en-US" altLang="zh-CN" sz="1600" dirty="0">
                <a:latin typeface="微软雅黑" panose="020B0503020204020204" pitchFamily="34" charset="-122"/>
                <a:ea typeface="微软雅黑" panose="020B0503020204020204" pitchFamily="34" charset="-122"/>
              </a:rPr>
              <a:t>__1</a:t>
            </a:r>
            <a:r>
              <a:rPr lang="nn-NO" altLang="zh-CN" sz="1600" dirty="0">
                <a:latin typeface="微软雅黑" panose="020B0503020204020204" pitchFamily="34" charset="-122"/>
                <a:ea typeface="微软雅黑" panose="020B0503020204020204" pitchFamily="34" charset="-122"/>
              </a:rPr>
              <a:t>(mut a:i32) {</a:t>
            </a:r>
          </a:p>
          <a:p>
            <a:pPr marL="0" lvl="1" eaLnBrk="1" hangingPunct="1"/>
            <a:r>
              <a:rPr lang="nn-NO" altLang="zh-CN" sz="1600" dirty="0">
                <a:latin typeface="微软雅黑" panose="020B0503020204020204" pitchFamily="34" charset="-122"/>
                <a:ea typeface="微软雅黑" panose="020B0503020204020204" pitchFamily="34" charset="-122"/>
              </a:rPr>
              <a:t>    let mut </a:t>
            </a:r>
            <a:r>
              <a:rPr lang="en-US" altLang="zh-CN" sz="1600" dirty="0">
                <a:latin typeface="微软雅黑" panose="020B0503020204020204" pitchFamily="34" charset="-122"/>
                <a:ea typeface="微软雅黑" panose="020B0503020204020204" pitchFamily="34" charset="-122"/>
              </a:rPr>
              <a:t>a</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:(i32,i32)</a:t>
            </a:r>
            <a:r>
              <a:rPr lang="nn-NO" altLang="zh-CN" sz="1600" dirty="0">
                <a:latin typeface="微软雅黑" panose="020B0503020204020204" pitchFamily="34" charset="-122"/>
                <a:ea typeface="微软雅黑" panose="020B0503020204020204" pitchFamily="34" charset="-122"/>
              </a:rPr>
              <a:t>;</a:t>
            </a:r>
          </a:p>
          <a:p>
            <a:pPr marL="0" lvl="1" eaLnBrk="1" hangingPunct="1"/>
            <a:r>
              <a:rPr lang="nn-NO" altLang="zh-CN" sz="1600" dirty="0">
                <a:latin typeface="微软雅黑" panose="020B0503020204020204" pitchFamily="34" charset="-122"/>
                <a:ea typeface="微软雅黑" panose="020B0503020204020204" pitchFamily="34" charset="-122"/>
              </a:rPr>
              <a:t>    a=(1,2,3);</a:t>
            </a:r>
          </a:p>
          <a:p>
            <a:pPr marL="0" lvl="1" eaLnBrk="1" hangingPunct="1"/>
            <a:r>
              <a:rPr lang="nn-NO" altLang="zh-CN" sz="1600" dirty="0">
                <a:latin typeface="微软雅黑" panose="020B0503020204020204" pitchFamily="34" charset="-122"/>
                <a:ea typeface="微软雅黑" panose="020B0503020204020204" pitchFamily="34" charset="-122"/>
              </a:rPr>
              <a:t>}</a:t>
            </a:r>
          </a:p>
        </p:txBody>
      </p:sp>
      <p:sp>
        <p:nvSpPr>
          <p:cNvPr id="4" name="文本框 3">
            <a:extLst>
              <a:ext uri="{FF2B5EF4-FFF2-40B4-BE49-F238E27FC236}">
                <a16:creationId xmlns:a16="http://schemas.microsoft.com/office/drawing/2014/main" id="{190D79F5-9AAD-2707-D339-BFF9A77FD4F8}"/>
              </a:ext>
            </a:extLst>
          </p:cNvPr>
          <p:cNvSpPr txBox="1"/>
          <p:nvPr/>
        </p:nvSpPr>
        <p:spPr>
          <a:xfrm>
            <a:off x="7909753" y="5454575"/>
            <a:ext cx="2916883" cy="1077218"/>
          </a:xfrm>
          <a:prstGeom prst="rect">
            <a:avLst/>
          </a:prstGeom>
          <a:noFill/>
        </p:spPr>
        <p:txBody>
          <a:bodyPr wrap="square">
            <a:spAutoFit/>
          </a:bodyPr>
          <a:lstStyle/>
          <a:p>
            <a:pPr marL="0" lvl="1" eaLnBrk="1" hangingPunct="1"/>
            <a:r>
              <a:rPr lang="en-US" altLang="zh-CN" sz="1600" dirty="0">
                <a:latin typeface="微软雅黑" panose="020B0503020204020204" pitchFamily="34" charset="-122"/>
                <a:ea typeface="微软雅黑" panose="020B0503020204020204" pitchFamily="34" charset="-122"/>
              </a:rPr>
              <a:t>fn program_9_2__2() {</a:t>
            </a:r>
          </a:p>
          <a:p>
            <a:pPr marL="0" lvl="1" eaLnBrk="1" hangingPunct="1"/>
            <a:r>
              <a:rPr lang="en-US" altLang="zh-CN" sz="1600" dirty="0">
                <a:latin typeface="微软雅黑" panose="020B0503020204020204" pitchFamily="34" charset="-122"/>
                <a:ea typeface="微软雅黑" panose="020B0503020204020204" pitchFamily="34" charset="-122"/>
              </a:rPr>
              <a:t>    let mut a:((),);</a:t>
            </a:r>
          </a:p>
          <a:p>
            <a:pPr marL="0" lvl="1" eaLnBrk="1" hangingPunct="1"/>
            <a:r>
              <a:rPr lang="en-US" altLang="zh-CN" sz="1600" dirty="0">
                <a:latin typeface="微软雅黑" panose="020B0503020204020204" pitchFamily="34" charset="-122"/>
                <a:ea typeface="微软雅黑" panose="020B0503020204020204" pitchFamily="34" charset="-122"/>
              </a:rPr>
              <a:t>    a=(1,);</a:t>
            </a:r>
          </a:p>
          <a:p>
            <a:pPr marL="0" lvl="1" eaLnBrk="1" hangingPunct="1"/>
            <a:r>
              <a:rPr lang="en-US" altLang="zh-CN" sz="1600" dirty="0">
                <a:latin typeface="微软雅黑" panose="020B0503020204020204" pitchFamily="34" charset="-122"/>
                <a:ea typeface="微软雅黑" panose="020B0503020204020204" pitchFamily="34" charset="-122"/>
              </a:rPr>
              <a:t>}</a:t>
            </a:r>
          </a:p>
        </p:txBody>
      </p:sp>
      <p:sp>
        <p:nvSpPr>
          <p:cNvPr id="5" name="文本框 4">
            <a:extLst>
              <a:ext uri="{FF2B5EF4-FFF2-40B4-BE49-F238E27FC236}">
                <a16:creationId xmlns:a16="http://schemas.microsoft.com/office/drawing/2014/main" id="{EB50EA04-0F5E-FBE2-934A-1BD6B1AAB48C}"/>
              </a:ext>
            </a:extLst>
          </p:cNvPr>
          <p:cNvSpPr txBox="1"/>
          <p:nvPr/>
        </p:nvSpPr>
        <p:spPr>
          <a:xfrm>
            <a:off x="5951984" y="5734811"/>
            <a:ext cx="1656184" cy="5167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初始化时的元素数量与元组长度不一致</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647089FB-B891-1137-30A2-81D7A8E48AD2}"/>
              </a:ext>
            </a:extLst>
          </p:cNvPr>
          <p:cNvSpPr txBox="1"/>
          <p:nvPr/>
        </p:nvSpPr>
        <p:spPr>
          <a:xfrm>
            <a:off x="9918387" y="5734811"/>
            <a:ext cx="1801318" cy="738344"/>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初始化时元素的类型与元组定义的元素类型不一致</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512217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2B75D-7B51-C698-35D6-1982F0486DF3}"/>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9B21D62D-FE92-71A6-79BF-6ECEA5304E8E}"/>
              </a:ext>
            </a:extLst>
          </p:cNvPr>
          <p:cNvSpPr txBox="1">
            <a:spLocks/>
          </p:cNvSpPr>
          <p:nvPr/>
        </p:nvSpPr>
        <p:spPr>
          <a:xfrm>
            <a:off x="72008" y="-12202"/>
            <a:ext cx="7752184" cy="848914"/>
          </a:xfrm>
          <a:prstGeom prst="rect">
            <a:avLst/>
          </a:prstGeom>
        </p:spPr>
        <p:txBody>
          <a:bodyPr/>
          <a:lstStyle>
            <a:lvl1pPr algn="ctr" defTabSz="1219200" rtl="0" eaLnBrk="1" latinLnBrk="0" hangingPunct="1">
              <a:spcBef>
                <a:spcPct val="0"/>
              </a:spcBef>
              <a:buNone/>
              <a:defRPr sz="5865" kern="1200">
                <a:solidFill>
                  <a:schemeClr val="tx1"/>
                </a:solidFill>
                <a:latin typeface="+mj-lt"/>
                <a:ea typeface="+mj-ea"/>
                <a:cs typeface="+mj-cs"/>
              </a:defRPr>
            </a:lvl1pPr>
          </a:lstStyle>
          <a:p>
            <a:pPr algn="l"/>
            <a:r>
              <a:rPr lang="zh-CN" altLang="en-US" sz="3600" b="1" dirty="0">
                <a:solidFill>
                  <a:schemeClr val="bg1"/>
                </a:solidFill>
                <a:latin typeface="微软雅黑" panose="020B0503020204020204" pitchFamily="34" charset="-122"/>
                <a:ea typeface="微软雅黑" panose="020B0503020204020204" pitchFamily="34" charset="-122"/>
              </a:rPr>
              <a:t>类</a:t>
            </a:r>
            <a:r>
              <a:rPr lang="en-US" altLang="zh-CN" sz="3600" b="1" dirty="0">
                <a:solidFill>
                  <a:schemeClr val="bg1"/>
                </a:solidFill>
                <a:latin typeface="微软雅黑" panose="020B0503020204020204" pitchFamily="34" charset="-122"/>
                <a:ea typeface="微软雅黑" panose="020B0503020204020204" pitchFamily="34" charset="-122"/>
              </a:rPr>
              <a:t>Rust</a:t>
            </a:r>
            <a:r>
              <a:rPr lang="zh-CN" altLang="en-US" sz="3600" b="1" dirty="0">
                <a:solidFill>
                  <a:schemeClr val="bg1"/>
                </a:solidFill>
                <a:latin typeface="微软雅黑" panose="020B0503020204020204" pitchFamily="34" charset="-122"/>
                <a:ea typeface="微软雅黑" panose="020B0503020204020204" pitchFamily="34" charset="-122"/>
              </a:rPr>
              <a:t>语法和语义规则</a:t>
            </a:r>
          </a:p>
        </p:txBody>
      </p:sp>
      <p:sp>
        <p:nvSpPr>
          <p:cNvPr id="9" name="文本框 8">
            <a:extLst>
              <a:ext uri="{FF2B5EF4-FFF2-40B4-BE49-F238E27FC236}">
                <a16:creationId xmlns:a16="http://schemas.microsoft.com/office/drawing/2014/main" id="{D6B09A7B-9745-DE86-3E87-16B7E55D590A}"/>
              </a:ext>
            </a:extLst>
          </p:cNvPr>
          <p:cNvSpPr txBox="1"/>
          <p:nvPr/>
        </p:nvSpPr>
        <p:spPr>
          <a:xfrm>
            <a:off x="0" y="998974"/>
            <a:ext cx="12072664" cy="1393779"/>
          </a:xfrm>
          <a:prstGeom prst="rect">
            <a:avLst/>
          </a:prstGeom>
          <a:noFill/>
        </p:spPr>
        <p:txBody>
          <a:bodyPr wrap="square">
            <a:spAutoFit/>
          </a:bodyPr>
          <a:lstStyle/>
          <a:p>
            <a:pPr marL="342900" lvl="1" indent="-342900">
              <a:lnSpc>
                <a:spcPct val="120000"/>
              </a:lnSpc>
              <a:buFont typeface="Wingdings" panose="05000000000000000000" pitchFamily="2" charset="2"/>
              <a:buChar char="Ø"/>
            </a:pPr>
            <a:r>
              <a:rPr lang="en-US" altLang="zh-CN" sz="1800" b="1" dirty="0">
                <a:solidFill>
                  <a:srgbClr val="003366"/>
                </a:solidFill>
                <a:latin typeface="微软雅黑" panose="020B0503020204020204" pitchFamily="34" charset="-122"/>
                <a:ea typeface="微软雅黑" panose="020B0503020204020204" pitchFamily="34" charset="-122"/>
              </a:rPr>
              <a:t>9.3 </a:t>
            </a:r>
            <a:r>
              <a:rPr lang="zh-CN" altLang="en-US" sz="1800" b="1" dirty="0">
                <a:solidFill>
                  <a:srgbClr val="003366"/>
                </a:solidFill>
                <a:latin typeface="微软雅黑" panose="020B0503020204020204" pitchFamily="34" charset="-122"/>
                <a:ea typeface="微软雅黑" panose="020B0503020204020204" pitchFamily="34" charset="-122"/>
              </a:rPr>
              <a:t>元组元素（依赖</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，拓展</a:t>
            </a:r>
            <a:r>
              <a:rPr lang="en-US" altLang="zh-CN" sz="1800" b="1" dirty="0">
                <a:solidFill>
                  <a:srgbClr val="003366"/>
                </a:solidFill>
                <a:latin typeface="微软雅黑" panose="020B0503020204020204" pitchFamily="34" charset="-122"/>
                <a:ea typeface="微软雅黑" panose="020B0503020204020204" pitchFamily="34" charset="-122"/>
              </a:rPr>
              <a:t>0.3</a:t>
            </a:r>
            <a:r>
              <a:rPr lang="zh-CN" altLang="en-US" sz="1800" b="1" dirty="0">
                <a:solidFill>
                  <a:srgbClr val="003366"/>
                </a:solidFill>
                <a:latin typeface="微软雅黑" panose="020B0503020204020204" pitchFamily="34" charset="-122"/>
                <a:ea typeface="微软雅黑" panose="020B0503020204020204" pitchFamily="34" charset="-122"/>
              </a:rPr>
              <a:t>）</a:t>
            </a:r>
            <a:endParaRPr lang="en-US" altLang="zh-CN" sz="1800" b="1" dirty="0">
              <a:solidFill>
                <a:srgbClr val="003366"/>
              </a:solidFill>
              <a:latin typeface="微软雅黑" panose="020B0503020204020204" pitchFamily="34" charset="-122"/>
              <a:ea typeface="微软雅黑" panose="020B0503020204020204" pitchFamily="34" charset="-122"/>
            </a:endParaRPr>
          </a:p>
          <a:p>
            <a:pPr marL="952500" lvl="2" indent="-342900">
              <a:lnSpc>
                <a:spcPct val="120000"/>
              </a:lnSpc>
              <a:buFont typeface="Arial" panose="020B0604020202020204" pitchFamily="34" charset="0"/>
              <a:buChar char="•"/>
            </a:pPr>
            <a:r>
              <a:rPr lang="en-US" altLang="zh-CN" sz="1800" dirty="0">
                <a:solidFill>
                  <a:srgbClr val="003366"/>
                </a:solidFill>
                <a:latin typeface="微软雅黑" panose="020B0503020204020204" pitchFamily="34" charset="-122"/>
                <a:ea typeface="微软雅黑" panose="020B0503020204020204" pitchFamily="34" charset="-122"/>
              </a:rPr>
              <a:t>&lt;</a:t>
            </a:r>
            <a:r>
              <a:rPr lang="zh-CN" altLang="en-US" sz="1800" dirty="0">
                <a:solidFill>
                  <a:srgbClr val="003366"/>
                </a:solidFill>
                <a:latin typeface="微软雅黑" panose="020B0503020204020204" pitchFamily="34" charset="-122"/>
                <a:ea typeface="微软雅黑" panose="020B0503020204020204" pitchFamily="34" charset="-122"/>
              </a:rPr>
              <a:t>可赋值元素</a:t>
            </a:r>
            <a:r>
              <a:rPr lang="en-US" altLang="zh-CN" sz="1800" dirty="0">
                <a:solidFill>
                  <a:srgbClr val="003366"/>
                </a:solidFill>
                <a:latin typeface="微软雅黑" panose="020B0503020204020204" pitchFamily="34" charset="-122"/>
                <a:ea typeface="微软雅黑" panose="020B0503020204020204" pitchFamily="34" charset="-122"/>
              </a:rPr>
              <a:t>&gt;-&gt;&lt;</a:t>
            </a:r>
            <a:r>
              <a:rPr lang="zh-CN" altLang="en-US" sz="1800" dirty="0">
                <a:solidFill>
                  <a:srgbClr val="003366"/>
                </a:solidFill>
                <a:latin typeface="微软雅黑" panose="020B0503020204020204" pitchFamily="34" charset="-122"/>
                <a:ea typeface="微软雅黑" panose="020B0503020204020204" pitchFamily="34" charset="-122"/>
              </a:rPr>
              <a:t>元素</a:t>
            </a:r>
            <a:r>
              <a:rPr lang="en-US" altLang="zh-CN" sz="1800" dirty="0">
                <a:solidFill>
                  <a:srgbClr val="003366"/>
                </a:solidFill>
                <a:latin typeface="微软雅黑" panose="020B0503020204020204" pitchFamily="34" charset="-122"/>
                <a:ea typeface="微软雅黑" panose="020B0503020204020204" pitchFamily="34" charset="-122"/>
              </a:rPr>
              <a:t>&gt; '.' &lt;NUM&gt;</a:t>
            </a:r>
          </a:p>
          <a:p>
            <a:pPr marL="0" lvl="1" indent="457200">
              <a:lnSpc>
                <a:spcPct val="120000"/>
              </a:lnSpc>
            </a:pPr>
            <a:r>
              <a:rPr lang="zh-CN" altLang="en-US" sz="1800" dirty="0">
                <a:solidFill>
                  <a:srgbClr val="003366"/>
                </a:solidFill>
                <a:latin typeface="微软雅黑" panose="020B0503020204020204" pitchFamily="34" charset="-122"/>
                <a:ea typeface="微软雅黑" panose="020B0503020204020204" pitchFamily="34" charset="-122"/>
              </a:rPr>
              <a:t>语义说明：提供按索引访问元组元素的能力，元素可以被取元素、可以参与计算、可以作为左值被修改。索引必须是整型字面量；索引必须在合法范围 </a:t>
            </a:r>
            <a:r>
              <a:rPr lang="en-US" altLang="zh-CN" sz="1800" dirty="0">
                <a:solidFill>
                  <a:srgbClr val="003366"/>
                </a:solidFill>
                <a:latin typeface="微软雅黑" panose="020B0503020204020204" pitchFamily="34" charset="-122"/>
                <a:ea typeface="微软雅黑" panose="020B0503020204020204" pitchFamily="34" charset="-122"/>
              </a:rPr>
              <a:t>[0, </a:t>
            </a:r>
            <a:r>
              <a:rPr lang="en-US" altLang="zh-CN" sz="1800" dirty="0" err="1">
                <a:solidFill>
                  <a:srgbClr val="003366"/>
                </a:solidFill>
                <a:latin typeface="微软雅黑" panose="020B0503020204020204" pitchFamily="34" charset="-122"/>
                <a:ea typeface="微软雅黑" panose="020B0503020204020204" pitchFamily="34" charset="-122"/>
              </a:rPr>
              <a:t>len</a:t>
            </a:r>
            <a:r>
              <a:rPr lang="en-US" altLang="zh-CN" sz="1800" dirty="0">
                <a:solidFill>
                  <a:srgbClr val="003366"/>
                </a:solidFill>
                <a:latin typeface="微软雅黑" panose="020B0503020204020204" pitchFamily="34" charset="-122"/>
                <a:ea typeface="微软雅黑" panose="020B0503020204020204" pitchFamily="34" charset="-122"/>
              </a:rPr>
              <a:t>)</a:t>
            </a:r>
            <a:r>
              <a:rPr lang="zh-CN" altLang="en-US" sz="1800" dirty="0">
                <a:solidFill>
                  <a:srgbClr val="003366"/>
                </a:solidFill>
                <a:latin typeface="微软雅黑" panose="020B0503020204020204" pitchFamily="34" charset="-122"/>
                <a:ea typeface="微软雅黑" panose="020B0503020204020204" pitchFamily="34" charset="-122"/>
              </a:rPr>
              <a:t>内；若元组变量不可变，则元组或其子元素不允许被二次赋值。</a:t>
            </a:r>
          </a:p>
        </p:txBody>
      </p:sp>
      <p:sp>
        <p:nvSpPr>
          <p:cNvPr id="12" name="文本框 11">
            <a:extLst>
              <a:ext uri="{FF2B5EF4-FFF2-40B4-BE49-F238E27FC236}">
                <a16:creationId xmlns:a16="http://schemas.microsoft.com/office/drawing/2014/main" id="{02BD56AF-FD59-B47D-233F-BAE3EC93671B}"/>
              </a:ext>
            </a:extLst>
          </p:cNvPr>
          <p:cNvSpPr txBox="1"/>
          <p:nvPr/>
        </p:nvSpPr>
        <p:spPr>
          <a:xfrm>
            <a:off x="268712" y="3248062"/>
            <a:ext cx="3955080" cy="830997"/>
          </a:xfrm>
          <a:prstGeom prst="rect">
            <a:avLst/>
          </a:prstGeom>
          <a:noFill/>
        </p:spPr>
        <p:txBody>
          <a:bodyPr wrap="square">
            <a:spAutoFit/>
          </a:bodyPr>
          <a:lstStyle/>
          <a:p>
            <a:pPr marL="0" lvl="1" eaLnBrk="1" hangingPunct="1"/>
            <a:r>
              <a:rPr lang="en-US" altLang="zh-CN" sz="1600" dirty="0">
                <a:latin typeface="微软雅黑" panose="020B0503020204020204" pitchFamily="34" charset="-122"/>
                <a:ea typeface="微软雅黑" panose="020B0503020204020204" pitchFamily="34" charset="-122"/>
              </a:rPr>
              <a:t>fn program_9_3__1(mut a:((i32,i32),) {</a:t>
            </a:r>
          </a:p>
          <a:p>
            <a:pPr marL="0" lvl="1" eaLnBrk="1" hangingPunct="1"/>
            <a:r>
              <a:rPr lang="en-US" altLang="zh-CN" sz="1600" dirty="0">
                <a:latin typeface="微软雅黑" panose="020B0503020204020204" pitchFamily="34" charset="-122"/>
                <a:ea typeface="微软雅黑" panose="020B0503020204020204" pitchFamily="34" charset="-122"/>
              </a:rPr>
              <a:t>    let mut b:i32=</a:t>
            </a:r>
            <a:r>
              <a:rPr lang="en-US" altLang="zh-CN" sz="1600" dirty="0">
                <a:solidFill>
                  <a:srgbClr val="00B0F0"/>
                </a:solidFill>
                <a:latin typeface="微软雅黑" panose="020B0503020204020204" pitchFamily="34" charset="-122"/>
                <a:ea typeface="微软雅黑" panose="020B0503020204020204" pitchFamily="34" charset="-122"/>
              </a:rPr>
              <a:t>a.0.0</a:t>
            </a:r>
            <a:r>
              <a:rPr lang="en-US" altLang="zh-CN" sz="1600" dirty="0">
                <a:latin typeface="微软雅黑" panose="020B0503020204020204" pitchFamily="34" charset="-122"/>
                <a:ea typeface="微软雅黑" panose="020B0503020204020204" pitchFamily="34" charset="-122"/>
              </a:rPr>
              <a:t>;</a:t>
            </a:r>
          </a:p>
          <a:p>
            <a:pPr marL="0" lvl="1" eaLnBrk="1" hangingPunct="1"/>
            <a:r>
              <a:rPr lang="en-US" altLang="zh-CN" sz="1600" dirty="0">
                <a:latin typeface="微软雅黑" panose="020B0503020204020204" pitchFamily="34" charset="-122"/>
                <a:ea typeface="微软雅黑" panose="020B0503020204020204" pitchFamily="34" charset="-122"/>
              </a:rPr>
              <a:t>}</a:t>
            </a:r>
            <a:endParaRPr lang="nn-NO" altLang="zh-CN" sz="1600"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21CE8692-5FF8-E7FB-53C9-FBF3F3456097}"/>
              </a:ext>
            </a:extLst>
          </p:cNvPr>
          <p:cNvSpPr txBox="1"/>
          <p:nvPr/>
        </p:nvSpPr>
        <p:spPr>
          <a:xfrm>
            <a:off x="199005" y="4509120"/>
            <a:ext cx="3329964" cy="1077218"/>
          </a:xfrm>
          <a:prstGeom prst="rect">
            <a:avLst/>
          </a:prstGeom>
          <a:noFill/>
        </p:spPr>
        <p:txBody>
          <a:bodyPr wrap="square">
            <a:spAutoFit/>
          </a:bodyPr>
          <a:lstStyle/>
          <a:p>
            <a:pPr marL="0" lvl="1" eaLnBrk="1" hangingPunct="1"/>
            <a:r>
              <a:rPr lang="nn-NO" altLang="zh-CN" sz="1600" dirty="0">
                <a:latin typeface="微软雅黑" panose="020B0503020204020204" pitchFamily="34" charset="-122"/>
                <a:ea typeface="微软雅黑" panose="020B0503020204020204" pitchFamily="34" charset="-122"/>
              </a:rPr>
              <a:t>fn program_9_3</a:t>
            </a:r>
            <a:r>
              <a:rPr lang="en-US" altLang="zh-CN" sz="1600" dirty="0">
                <a:latin typeface="微软雅黑" panose="020B0503020204020204" pitchFamily="34" charset="-122"/>
                <a:ea typeface="微软雅黑" panose="020B0503020204020204" pitchFamily="34" charset="-122"/>
              </a:rPr>
              <a:t>__4</a:t>
            </a:r>
            <a:r>
              <a:rPr lang="nn-NO" altLang="zh-CN" sz="1600" dirty="0">
                <a:latin typeface="微软雅黑" panose="020B0503020204020204" pitchFamily="34" charset="-122"/>
                <a:ea typeface="微软雅黑" panose="020B0503020204020204" pitchFamily="34" charset="-122"/>
              </a:rPr>
              <a:t>(mut a:i32) {</a:t>
            </a:r>
          </a:p>
          <a:p>
            <a:pPr marL="0" lvl="1" eaLnBrk="1" hangingPunct="1"/>
            <a:r>
              <a:rPr lang="nn-NO" altLang="zh-CN" sz="1600" dirty="0">
                <a:latin typeface="微软雅黑" panose="020B0503020204020204" pitchFamily="34" charset="-122"/>
                <a:ea typeface="微软雅黑" panose="020B0503020204020204" pitchFamily="34" charset="-122"/>
              </a:rPr>
              <a:t>    let mut </a:t>
            </a:r>
            <a:r>
              <a:rPr lang="en-US" altLang="zh-CN" sz="1600" dirty="0">
                <a:latin typeface="微软雅黑" panose="020B0503020204020204" pitchFamily="34" charset="-122"/>
                <a:ea typeface="微软雅黑" panose="020B0503020204020204" pitchFamily="34" charset="-122"/>
              </a:rPr>
              <a:t>a=(1,2,3)</a:t>
            </a:r>
            <a:r>
              <a:rPr lang="nn-NO" altLang="zh-CN" sz="1600" dirty="0">
                <a:latin typeface="微软雅黑" panose="020B0503020204020204" pitchFamily="34" charset="-122"/>
                <a:ea typeface="微软雅黑" panose="020B0503020204020204" pitchFamily="34" charset="-122"/>
              </a:rPr>
              <a:t>;</a:t>
            </a:r>
          </a:p>
          <a:p>
            <a:pPr marL="0" lvl="1" eaLnBrk="1" hangingPunct="1"/>
            <a:r>
              <a:rPr lang="nn-NO" altLang="zh-CN" sz="1600" dirty="0">
                <a:latin typeface="微软雅黑" panose="020B0503020204020204" pitchFamily="34" charset="-122"/>
                <a:ea typeface="微软雅黑" panose="020B0503020204020204" pitchFamily="34" charset="-122"/>
              </a:rPr>
              <a:t>    let mut b=a</a:t>
            </a:r>
            <a:r>
              <a:rPr lang="en-US" altLang="zh-CN" sz="1600" dirty="0">
                <a:latin typeface="微软雅黑" panose="020B0503020204020204" pitchFamily="34" charset="-122"/>
                <a:ea typeface="微软雅黑" panose="020B0503020204020204" pitchFamily="34" charset="-122"/>
              </a:rPr>
              <a:t>.</a:t>
            </a:r>
            <a:r>
              <a:rPr lang="nn-NO" altLang="zh-CN" sz="1600" dirty="0">
                <a:latin typeface="微软雅黑" panose="020B0503020204020204" pitchFamily="34" charset="-122"/>
                <a:ea typeface="微软雅黑" panose="020B0503020204020204" pitchFamily="34" charset="-122"/>
              </a:rPr>
              <a:t>a;</a:t>
            </a:r>
          </a:p>
          <a:p>
            <a:pPr marL="0" lvl="1" eaLnBrk="1" hangingPunct="1"/>
            <a:r>
              <a:rPr lang="nn-NO" altLang="zh-CN" sz="1600" dirty="0">
                <a:latin typeface="微软雅黑" panose="020B0503020204020204" pitchFamily="34" charset="-122"/>
                <a:ea typeface="微软雅黑" panose="020B0503020204020204" pitchFamily="34" charset="-122"/>
              </a:rPr>
              <a:t>}</a:t>
            </a:r>
          </a:p>
        </p:txBody>
      </p:sp>
      <p:sp>
        <p:nvSpPr>
          <p:cNvPr id="14" name="文本框 13">
            <a:extLst>
              <a:ext uri="{FF2B5EF4-FFF2-40B4-BE49-F238E27FC236}">
                <a16:creationId xmlns:a16="http://schemas.microsoft.com/office/drawing/2014/main" id="{4AF0CFB3-04BC-567F-541F-1A326F5F35A6}"/>
              </a:ext>
            </a:extLst>
          </p:cNvPr>
          <p:cNvSpPr txBox="1"/>
          <p:nvPr/>
        </p:nvSpPr>
        <p:spPr>
          <a:xfrm>
            <a:off x="4182387" y="4509120"/>
            <a:ext cx="2916883" cy="1077218"/>
          </a:xfrm>
          <a:prstGeom prst="rect">
            <a:avLst/>
          </a:prstGeom>
          <a:noFill/>
        </p:spPr>
        <p:txBody>
          <a:bodyPr wrap="square">
            <a:spAutoFit/>
          </a:bodyPr>
          <a:lstStyle/>
          <a:p>
            <a:pPr marL="0" lvl="1" eaLnBrk="1" hangingPunct="1"/>
            <a:r>
              <a:rPr lang="en-US" altLang="zh-CN" sz="1600" dirty="0">
                <a:latin typeface="微软雅黑" panose="020B0503020204020204" pitchFamily="34" charset="-122"/>
                <a:ea typeface="微软雅黑" panose="020B0503020204020204" pitchFamily="34" charset="-122"/>
              </a:rPr>
              <a:t>fn program_9_3__5() {</a:t>
            </a:r>
          </a:p>
          <a:p>
            <a:pPr marL="0" lvl="1" eaLnBrk="1" hangingPunct="1"/>
            <a:r>
              <a:rPr lang="en-US" altLang="zh-CN" sz="1600" dirty="0">
                <a:latin typeface="微软雅黑" panose="020B0503020204020204" pitchFamily="34" charset="-122"/>
                <a:ea typeface="微软雅黑" panose="020B0503020204020204" pitchFamily="34" charset="-122"/>
              </a:rPr>
              <a:t>    let mut a=(1,2,3);</a:t>
            </a:r>
          </a:p>
          <a:p>
            <a:pPr marL="0" lvl="1" eaLnBrk="1" hangingPunct="1"/>
            <a:r>
              <a:rPr lang="en-US" altLang="zh-CN" sz="1600" dirty="0">
                <a:latin typeface="微软雅黑" panose="020B0503020204020204" pitchFamily="34" charset="-122"/>
                <a:ea typeface="微软雅黑" panose="020B0503020204020204" pitchFamily="34" charset="-122"/>
              </a:rPr>
              <a:t>    let mut b=a.3;</a:t>
            </a:r>
          </a:p>
          <a:p>
            <a:pPr marL="0" lvl="1" eaLnBrk="1" hangingPunct="1"/>
            <a:r>
              <a:rPr lang="en-US" altLang="zh-CN" sz="1600" dirty="0">
                <a:latin typeface="微软雅黑" panose="020B0503020204020204" pitchFamily="34" charset="-122"/>
                <a:ea typeface="微软雅黑" panose="020B0503020204020204" pitchFamily="34" charset="-122"/>
              </a:rPr>
              <a:t>}</a:t>
            </a:r>
          </a:p>
        </p:txBody>
      </p:sp>
      <p:sp>
        <p:nvSpPr>
          <p:cNvPr id="15" name="文本框 14">
            <a:extLst>
              <a:ext uri="{FF2B5EF4-FFF2-40B4-BE49-F238E27FC236}">
                <a16:creationId xmlns:a16="http://schemas.microsoft.com/office/drawing/2014/main" id="{DE6B66F8-DFD8-DC8B-2C01-F9C85023265B}"/>
              </a:ext>
            </a:extLst>
          </p:cNvPr>
          <p:cNvSpPr txBox="1"/>
          <p:nvPr/>
        </p:nvSpPr>
        <p:spPr>
          <a:xfrm>
            <a:off x="2310920" y="4789356"/>
            <a:ext cx="1656184" cy="5167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元组的索引的类型必须是整数类型</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2007A1A9-F383-56E4-89F5-725859A4BE2C}"/>
              </a:ext>
            </a:extLst>
          </p:cNvPr>
          <p:cNvSpPr txBox="1"/>
          <p:nvPr/>
        </p:nvSpPr>
        <p:spPr>
          <a:xfrm>
            <a:off x="6290606" y="4789356"/>
            <a:ext cx="1605594" cy="516745"/>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元组的索引必须在合法范围</a:t>
            </a:r>
            <a:r>
              <a:rPr lang="en-US" altLang="zh-CN" sz="1200" dirty="0">
                <a:solidFill>
                  <a:srgbClr val="FF0000"/>
                </a:solidFill>
                <a:latin typeface="微软雅黑" panose="020B0503020204020204" pitchFamily="34" charset="-122"/>
                <a:ea typeface="微软雅黑" panose="020B0503020204020204" pitchFamily="34" charset="-122"/>
              </a:rPr>
              <a:t>[0,3)</a:t>
            </a:r>
            <a:r>
              <a:rPr lang="zh-CN" altLang="en-US" sz="1200" dirty="0">
                <a:solidFill>
                  <a:srgbClr val="FF0000"/>
                </a:solidFill>
                <a:latin typeface="微软雅黑" panose="020B0503020204020204" pitchFamily="34" charset="-122"/>
                <a:ea typeface="微软雅黑" panose="020B0503020204020204" pitchFamily="34" charset="-122"/>
              </a:rPr>
              <a:t>内</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D42A4321-6934-9495-8E0F-E881D78F6111}"/>
              </a:ext>
            </a:extLst>
          </p:cNvPr>
          <p:cNvSpPr txBox="1"/>
          <p:nvPr/>
        </p:nvSpPr>
        <p:spPr>
          <a:xfrm>
            <a:off x="7897936" y="4509120"/>
            <a:ext cx="2916883" cy="1077218"/>
          </a:xfrm>
          <a:prstGeom prst="rect">
            <a:avLst/>
          </a:prstGeom>
          <a:noFill/>
        </p:spPr>
        <p:txBody>
          <a:bodyPr wrap="square">
            <a:spAutoFit/>
          </a:bodyPr>
          <a:lstStyle/>
          <a:p>
            <a:pPr marL="0" lvl="1" eaLnBrk="1" hangingPunct="1"/>
            <a:r>
              <a:rPr lang="en-US" altLang="zh-CN" sz="1600" dirty="0">
                <a:latin typeface="微软雅黑" panose="020B0503020204020204" pitchFamily="34" charset="-122"/>
                <a:ea typeface="微软雅黑" panose="020B0503020204020204" pitchFamily="34" charset="-122"/>
              </a:rPr>
              <a:t>fn program_9_3__6() {</a:t>
            </a:r>
          </a:p>
          <a:p>
            <a:pPr marL="0" lvl="1" eaLnBrk="1" hangingPunct="1"/>
            <a:r>
              <a:rPr lang="en-US" altLang="zh-CN" sz="1600" dirty="0">
                <a:latin typeface="微软雅黑" panose="020B0503020204020204" pitchFamily="34" charset="-122"/>
                <a:ea typeface="微软雅黑" panose="020B0503020204020204" pitchFamily="34" charset="-122"/>
              </a:rPr>
              <a:t>    let a:(i32,i32,i32)=(1,2,3)</a:t>
            </a:r>
          </a:p>
          <a:p>
            <a:pPr marL="0" lvl="1" eaLnBrk="1" hangingPunct="1"/>
            <a:r>
              <a:rPr lang="en-US" altLang="zh-CN" sz="1600" dirty="0">
                <a:latin typeface="微软雅黑" panose="020B0503020204020204" pitchFamily="34" charset="-122"/>
                <a:ea typeface="微软雅黑" panose="020B0503020204020204" pitchFamily="34" charset="-122"/>
              </a:rPr>
              <a:t>    a.0=4;</a:t>
            </a:r>
          </a:p>
          <a:p>
            <a:pPr marL="0" lvl="1" eaLnBrk="1" hangingPunct="1"/>
            <a:r>
              <a:rPr lang="en-US" altLang="zh-CN" sz="1600" dirty="0">
                <a:latin typeface="微软雅黑" panose="020B0503020204020204" pitchFamily="34" charset="-122"/>
                <a:ea typeface="微软雅黑" panose="020B0503020204020204" pitchFamily="34" charset="-122"/>
              </a:rPr>
              <a:t>}</a:t>
            </a:r>
          </a:p>
        </p:txBody>
      </p:sp>
      <p:sp>
        <p:nvSpPr>
          <p:cNvPr id="18" name="文本框 17">
            <a:extLst>
              <a:ext uri="{FF2B5EF4-FFF2-40B4-BE49-F238E27FC236}">
                <a16:creationId xmlns:a16="http://schemas.microsoft.com/office/drawing/2014/main" id="{B9221E7F-05E0-4541-84D5-96984368A428}"/>
              </a:ext>
            </a:extLst>
          </p:cNvPr>
          <p:cNvSpPr txBox="1"/>
          <p:nvPr/>
        </p:nvSpPr>
        <p:spPr>
          <a:xfrm>
            <a:off x="10494350" y="4789356"/>
            <a:ext cx="1801318" cy="738344"/>
          </a:xfrm>
          <a:prstGeom prst="rect">
            <a:avLst/>
          </a:prstGeom>
          <a:noFill/>
        </p:spPr>
        <p:txBody>
          <a:bodyPr wrap="square">
            <a:spAutoFit/>
          </a:bodyPr>
          <a:lstStyle/>
          <a:p>
            <a:pPr marL="0" lvl="1">
              <a:lnSpc>
                <a:spcPct val="120000"/>
              </a:lnSpc>
            </a:pPr>
            <a:r>
              <a:rPr lang="en-US" altLang="zh-CN" sz="1200" dirty="0">
                <a:solidFill>
                  <a:srgbClr val="FF0000"/>
                </a:solidFill>
                <a:latin typeface="微软雅黑" panose="020B0503020204020204" pitchFamily="34" charset="-122"/>
                <a:ea typeface="微软雅黑" panose="020B0503020204020204" pitchFamily="34" charset="-122"/>
              </a:rPr>
              <a:t>× </a:t>
            </a:r>
            <a:r>
              <a:rPr lang="zh-CN" altLang="en-US" sz="1200" dirty="0">
                <a:solidFill>
                  <a:srgbClr val="FF0000"/>
                </a:solidFill>
                <a:latin typeface="微软雅黑" panose="020B0503020204020204" pitchFamily="34" charset="-122"/>
                <a:ea typeface="微软雅黑" panose="020B0503020204020204" pitchFamily="34" charset="-122"/>
              </a:rPr>
              <a:t>不可变元组的元素也不可变，不允许被二次赋值</a:t>
            </a:r>
            <a:endParaRPr lang="en-US" altLang="zh-CN" sz="1200" dirty="0">
              <a:solidFill>
                <a:srgbClr val="FF0000"/>
              </a:solidFill>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A7BAC0DF-A38F-6BE7-900C-E78D597B809A}"/>
              </a:ext>
            </a:extLst>
          </p:cNvPr>
          <p:cNvSpPr txBox="1"/>
          <p:nvPr/>
        </p:nvSpPr>
        <p:spPr>
          <a:xfrm>
            <a:off x="4182386" y="3248062"/>
            <a:ext cx="4013292" cy="830997"/>
          </a:xfrm>
          <a:prstGeom prst="rect">
            <a:avLst/>
          </a:prstGeom>
          <a:noFill/>
        </p:spPr>
        <p:txBody>
          <a:bodyPr wrap="square">
            <a:spAutoFit/>
          </a:bodyPr>
          <a:lstStyle/>
          <a:p>
            <a:pPr marL="0" lvl="1"/>
            <a:r>
              <a:rPr lang="en-US" altLang="zh-CN" sz="1600" dirty="0" err="1">
                <a:latin typeface="微软雅黑" panose="020B0503020204020204" pitchFamily="34" charset="-122"/>
                <a:ea typeface="微软雅黑" panose="020B0503020204020204" pitchFamily="34" charset="-122"/>
              </a:rPr>
              <a:t>fn</a:t>
            </a:r>
            <a:r>
              <a:rPr lang="en-US" altLang="zh-CN" sz="1600" dirty="0">
                <a:latin typeface="微软雅黑" panose="020B0503020204020204" pitchFamily="34" charset="-122"/>
                <a:ea typeface="微软雅黑" panose="020B0503020204020204" pitchFamily="34" charset="-122"/>
              </a:rPr>
              <a:t> program_9_3__2(mut a:(i32,i32,i32)) {</a:t>
            </a:r>
          </a:p>
          <a:p>
            <a:pPr marL="0" lvl="1"/>
            <a:r>
              <a:rPr lang="en-US" altLang="zh-CN" sz="1600" dirty="0">
                <a:latin typeface="微软雅黑" panose="020B0503020204020204" pitchFamily="34" charset="-122"/>
                <a:ea typeface="微软雅黑" panose="020B0503020204020204" pitchFamily="34" charset="-122"/>
              </a:rPr>
              <a:t>    let mut b:i32=</a:t>
            </a:r>
            <a:r>
              <a:rPr lang="en-US" altLang="zh-CN" sz="1600" dirty="0">
                <a:solidFill>
                  <a:srgbClr val="00B0F0"/>
                </a:solidFill>
                <a:latin typeface="微软雅黑" panose="020B0503020204020204" pitchFamily="34" charset="-122"/>
                <a:ea typeface="微软雅黑" panose="020B0503020204020204" pitchFamily="34" charset="-122"/>
              </a:rPr>
              <a:t>a.0+a.1+a.2</a:t>
            </a:r>
            <a:r>
              <a:rPr lang="en-US" altLang="zh-CN" sz="1600" dirty="0">
                <a:latin typeface="微软雅黑" panose="020B0503020204020204" pitchFamily="34" charset="-122"/>
                <a:ea typeface="微软雅黑" panose="020B0503020204020204" pitchFamily="34" charset="-122"/>
              </a:rPr>
              <a:t>;</a:t>
            </a:r>
          </a:p>
          <a:p>
            <a:pPr marL="0" lvl="1"/>
            <a:r>
              <a:rPr lang="en-US" altLang="zh-CN" sz="1600" dirty="0">
                <a:latin typeface="微软雅黑" panose="020B0503020204020204" pitchFamily="34" charset="-122"/>
                <a:ea typeface="微软雅黑" panose="020B0503020204020204" pitchFamily="34" charset="-122"/>
              </a:rPr>
              <a:t>}</a:t>
            </a:r>
            <a:endParaRPr lang="nn-NO" altLang="zh-CN" sz="1600" dirty="0">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49833A73-D637-CF50-3288-133CAB516346}"/>
              </a:ext>
            </a:extLst>
          </p:cNvPr>
          <p:cNvSpPr txBox="1"/>
          <p:nvPr/>
        </p:nvSpPr>
        <p:spPr>
          <a:xfrm>
            <a:off x="8304956" y="3248062"/>
            <a:ext cx="3739056" cy="830997"/>
          </a:xfrm>
          <a:prstGeom prst="rect">
            <a:avLst/>
          </a:prstGeom>
          <a:noFill/>
        </p:spPr>
        <p:txBody>
          <a:bodyPr wrap="square">
            <a:spAutoFit/>
          </a:bodyPr>
          <a:lstStyle/>
          <a:p>
            <a:pPr marL="0" lvl="1"/>
            <a:r>
              <a:rPr lang="en-US" altLang="zh-CN" sz="1600" dirty="0" err="1">
                <a:latin typeface="微软雅黑" panose="020B0503020204020204" pitchFamily="34" charset="-122"/>
                <a:ea typeface="微软雅黑" panose="020B0503020204020204" pitchFamily="34" charset="-122"/>
              </a:rPr>
              <a:t>fn</a:t>
            </a:r>
            <a:r>
              <a:rPr lang="en-US" altLang="zh-CN" sz="1600" dirty="0">
                <a:latin typeface="微软雅黑" panose="020B0503020204020204" pitchFamily="34" charset="-122"/>
                <a:ea typeface="微软雅黑" panose="020B0503020204020204" pitchFamily="34" charset="-122"/>
              </a:rPr>
              <a:t> program_9_3__3(mut a:[i32;3]) {</a:t>
            </a:r>
          </a:p>
          <a:p>
            <a:pPr marL="0" lvl="1"/>
            <a:r>
              <a:rPr lang="en-US" altLang="zh-CN" sz="1600" dirty="0">
                <a:latin typeface="微软雅黑" panose="020B0503020204020204" pitchFamily="34" charset="-122"/>
                <a:ea typeface="微软雅黑" panose="020B0503020204020204" pitchFamily="34" charset="-122"/>
              </a:rPr>
              <a:t>    </a:t>
            </a:r>
            <a:r>
              <a:rPr lang="en-US" altLang="zh-CN" sz="1600" dirty="0">
                <a:solidFill>
                  <a:srgbClr val="00B0F0"/>
                </a:solidFill>
                <a:latin typeface="微软雅黑" panose="020B0503020204020204" pitchFamily="34" charset="-122"/>
                <a:ea typeface="微软雅黑" panose="020B0503020204020204" pitchFamily="34" charset="-122"/>
              </a:rPr>
              <a:t>a.0</a:t>
            </a:r>
            <a:r>
              <a:rPr lang="en-US" altLang="zh-CN" sz="1600" dirty="0">
                <a:latin typeface="微软雅黑" panose="020B0503020204020204" pitchFamily="34" charset="-122"/>
                <a:ea typeface="微软雅黑" panose="020B0503020204020204" pitchFamily="34" charset="-122"/>
              </a:rPr>
              <a:t>=1;</a:t>
            </a:r>
          </a:p>
          <a:p>
            <a:pPr marL="0" lvl="1"/>
            <a:r>
              <a:rPr lang="en-US" altLang="zh-CN" sz="1600" dirty="0">
                <a:latin typeface="微软雅黑" panose="020B0503020204020204" pitchFamily="34" charset="-122"/>
                <a:ea typeface="微软雅黑" panose="020B0503020204020204" pitchFamily="34" charset="-122"/>
              </a:rPr>
              <a:t>}</a:t>
            </a:r>
            <a:endParaRPr lang="nn-NO" altLang="zh-CN" sz="1600"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10078776-8D7E-9C78-873B-576AB58B8809}"/>
              </a:ext>
            </a:extLst>
          </p:cNvPr>
          <p:cNvSpPr txBox="1"/>
          <p:nvPr/>
        </p:nvSpPr>
        <p:spPr>
          <a:xfrm>
            <a:off x="2310920" y="3820686"/>
            <a:ext cx="1801318" cy="295145"/>
          </a:xfrm>
          <a:prstGeom prst="rect">
            <a:avLst/>
          </a:prstGeom>
          <a:noFill/>
        </p:spPr>
        <p:txBody>
          <a:bodyPr wrap="square">
            <a:spAutoFit/>
          </a:bodyPr>
          <a:lstStyle/>
          <a:p>
            <a:pPr marL="0" lvl="1">
              <a:lnSpc>
                <a:spcPct val="120000"/>
              </a:lnSpc>
            </a:pPr>
            <a:r>
              <a:rPr lang="zh-CN" altLang="en-US" sz="1200" dirty="0">
                <a:solidFill>
                  <a:srgbClr val="00B050"/>
                </a:solidFill>
                <a:latin typeface="微软雅黑" panose="020B0503020204020204" pitchFamily="34" charset="-122"/>
                <a:ea typeface="微软雅黑" panose="020B0503020204020204" pitchFamily="34" charset="-122"/>
              </a:rPr>
              <a:t>√</a:t>
            </a:r>
            <a:r>
              <a:rPr lang="en-US" altLang="zh-CN" sz="1200" dirty="0">
                <a:solidFill>
                  <a:srgbClr val="00B050"/>
                </a:solidFill>
                <a:latin typeface="微软雅黑" panose="020B0503020204020204" pitchFamily="34" charset="-122"/>
                <a:ea typeface="微软雅黑" panose="020B0503020204020204" pitchFamily="34" charset="-122"/>
              </a:rPr>
              <a:t> </a:t>
            </a:r>
            <a:r>
              <a:rPr lang="zh-CN" altLang="en-US" sz="1200" dirty="0">
                <a:solidFill>
                  <a:srgbClr val="00B050"/>
                </a:solidFill>
                <a:latin typeface="微软雅黑" panose="020B0503020204020204" pitchFamily="34" charset="-122"/>
                <a:ea typeface="微软雅黑" panose="020B0503020204020204" pitchFamily="34" charset="-122"/>
              </a:rPr>
              <a:t>元素可以被取子元素</a:t>
            </a:r>
            <a:endParaRPr lang="en-US" altLang="zh-CN" sz="1200" dirty="0">
              <a:solidFill>
                <a:srgbClr val="00B050"/>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20A2A377-80C7-50C6-DEFC-CA30825E142A}"/>
              </a:ext>
            </a:extLst>
          </p:cNvPr>
          <p:cNvSpPr txBox="1"/>
          <p:nvPr/>
        </p:nvSpPr>
        <p:spPr>
          <a:xfrm>
            <a:off x="6290606" y="3820686"/>
            <a:ext cx="1801318" cy="295145"/>
          </a:xfrm>
          <a:prstGeom prst="rect">
            <a:avLst/>
          </a:prstGeom>
          <a:noFill/>
        </p:spPr>
        <p:txBody>
          <a:bodyPr wrap="square">
            <a:spAutoFit/>
          </a:bodyPr>
          <a:lstStyle/>
          <a:p>
            <a:pPr marL="0" lvl="1">
              <a:lnSpc>
                <a:spcPct val="120000"/>
              </a:lnSpc>
            </a:pPr>
            <a:r>
              <a:rPr lang="zh-CN" altLang="en-US" sz="1200" dirty="0">
                <a:solidFill>
                  <a:srgbClr val="00B050"/>
                </a:solidFill>
                <a:latin typeface="微软雅黑" panose="020B0503020204020204" pitchFamily="34" charset="-122"/>
                <a:ea typeface="微软雅黑" panose="020B0503020204020204" pitchFamily="34" charset="-122"/>
              </a:rPr>
              <a:t>√</a:t>
            </a:r>
            <a:r>
              <a:rPr lang="en-US" altLang="zh-CN" sz="1200" dirty="0">
                <a:solidFill>
                  <a:srgbClr val="00B050"/>
                </a:solidFill>
                <a:latin typeface="微软雅黑" panose="020B0503020204020204" pitchFamily="34" charset="-122"/>
                <a:ea typeface="微软雅黑" panose="020B0503020204020204" pitchFamily="34" charset="-122"/>
              </a:rPr>
              <a:t> </a:t>
            </a:r>
            <a:r>
              <a:rPr lang="zh-CN" altLang="en-US" sz="1200" dirty="0">
                <a:solidFill>
                  <a:srgbClr val="00B050"/>
                </a:solidFill>
                <a:latin typeface="微软雅黑" panose="020B0503020204020204" pitchFamily="34" charset="-122"/>
                <a:ea typeface="微软雅黑" panose="020B0503020204020204" pitchFamily="34" charset="-122"/>
              </a:rPr>
              <a:t>元素可以参与计算</a:t>
            </a:r>
            <a:endParaRPr lang="en-US" altLang="zh-CN" sz="1200" dirty="0">
              <a:solidFill>
                <a:srgbClr val="00B050"/>
              </a:solidFill>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9CB6E449-37E4-9485-80A5-DE8E680D14A8}"/>
              </a:ext>
            </a:extLst>
          </p:cNvPr>
          <p:cNvSpPr txBox="1"/>
          <p:nvPr/>
        </p:nvSpPr>
        <p:spPr>
          <a:xfrm>
            <a:off x="9264352" y="3820686"/>
            <a:ext cx="3031316" cy="295145"/>
          </a:xfrm>
          <a:prstGeom prst="rect">
            <a:avLst/>
          </a:prstGeom>
          <a:noFill/>
        </p:spPr>
        <p:txBody>
          <a:bodyPr wrap="square">
            <a:spAutoFit/>
          </a:bodyPr>
          <a:lstStyle/>
          <a:p>
            <a:pPr marL="0" lvl="1">
              <a:lnSpc>
                <a:spcPct val="120000"/>
              </a:lnSpc>
            </a:pPr>
            <a:r>
              <a:rPr lang="zh-CN" altLang="en-US" sz="1200" dirty="0">
                <a:solidFill>
                  <a:srgbClr val="00B050"/>
                </a:solidFill>
                <a:latin typeface="微软雅黑" panose="020B0503020204020204" pitchFamily="34" charset="-122"/>
                <a:ea typeface="微软雅黑" panose="020B0503020204020204" pitchFamily="34" charset="-122"/>
              </a:rPr>
              <a:t>√</a:t>
            </a:r>
            <a:r>
              <a:rPr lang="en-US" altLang="zh-CN" sz="1200" dirty="0">
                <a:solidFill>
                  <a:srgbClr val="00B050"/>
                </a:solidFill>
                <a:latin typeface="微软雅黑" panose="020B0503020204020204" pitchFamily="34" charset="-122"/>
                <a:ea typeface="微软雅黑" panose="020B0503020204020204" pitchFamily="34" charset="-122"/>
              </a:rPr>
              <a:t> </a:t>
            </a:r>
            <a:r>
              <a:rPr lang="zh-CN" altLang="en-US" sz="1200" dirty="0">
                <a:solidFill>
                  <a:srgbClr val="00B050"/>
                </a:solidFill>
                <a:latin typeface="微软雅黑" panose="020B0503020204020204" pitchFamily="34" charset="-122"/>
                <a:ea typeface="微软雅黑" panose="020B0503020204020204" pitchFamily="34" charset="-122"/>
              </a:rPr>
              <a:t>元素可以作为左值被修改</a:t>
            </a:r>
            <a:endParaRPr lang="en-US" altLang="zh-CN" sz="1200" dirty="0">
              <a:solidFill>
                <a:srgbClr val="00B05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270157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A6FB9-B2D8-3D09-484D-1DB7F9AA1D5E}"/>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B5AA39BB-0C86-E08E-03AE-7462F42BD18A}"/>
              </a:ext>
            </a:extLst>
          </p:cNvPr>
          <p:cNvSpPr txBox="1">
            <a:spLocks/>
          </p:cNvSpPr>
          <p:nvPr/>
        </p:nvSpPr>
        <p:spPr>
          <a:xfrm>
            <a:off x="72008" y="-12202"/>
            <a:ext cx="4007768" cy="848914"/>
          </a:xfrm>
          <a:prstGeom prst="rect">
            <a:avLst/>
          </a:prstGeom>
        </p:spPr>
        <p:txBody>
          <a:bodyPr/>
          <a:lstStyle>
            <a:lvl1pPr algn="ctr" defTabSz="1219200" rtl="0" eaLnBrk="1" latinLnBrk="0" hangingPunct="1">
              <a:spcBef>
                <a:spcPct val="0"/>
              </a:spcBef>
              <a:buNone/>
              <a:defRPr sz="5865" kern="1200">
                <a:solidFill>
                  <a:schemeClr val="tx1"/>
                </a:solidFill>
                <a:latin typeface="+mj-lt"/>
                <a:ea typeface="+mj-ea"/>
                <a:cs typeface="+mj-cs"/>
              </a:defRPr>
            </a:lvl1pPr>
          </a:lstStyle>
          <a:p>
            <a:pPr algn="l"/>
            <a:r>
              <a:rPr lang="zh-CN" altLang="en-US" sz="3600" b="1">
                <a:solidFill>
                  <a:schemeClr val="bg1"/>
                </a:solidFill>
                <a:latin typeface="微软雅黑" panose="020B0503020204020204" pitchFamily="34" charset="-122"/>
                <a:ea typeface="微软雅黑" panose="020B0503020204020204" pitchFamily="34" charset="-122"/>
              </a:rPr>
              <a:t>评分标准</a:t>
            </a:r>
          </a:p>
        </p:txBody>
      </p:sp>
      <p:graphicFrame>
        <p:nvGraphicFramePr>
          <p:cNvPr id="4" name="表格 3">
            <a:extLst>
              <a:ext uri="{FF2B5EF4-FFF2-40B4-BE49-F238E27FC236}">
                <a16:creationId xmlns:a16="http://schemas.microsoft.com/office/drawing/2014/main" id="{686396A4-5BA2-82AF-0E68-B5162B9EC604}"/>
              </a:ext>
            </a:extLst>
          </p:cNvPr>
          <p:cNvGraphicFramePr>
            <a:graphicFrameLocks noGrp="1"/>
          </p:cNvGraphicFramePr>
          <p:nvPr/>
        </p:nvGraphicFramePr>
        <p:xfrm>
          <a:off x="534988" y="836712"/>
          <a:ext cx="10889604" cy="5657749"/>
        </p:xfrm>
        <a:graphic>
          <a:graphicData uri="http://schemas.openxmlformats.org/drawingml/2006/table">
            <a:tbl>
              <a:tblPr firstRow="1" firstCol="1" bandRow="1">
                <a:tableStyleId>{5C22544A-7EE6-4342-B048-85BDC9FD1C3A}</a:tableStyleId>
              </a:tblPr>
              <a:tblGrid>
                <a:gridCol w="3249205">
                  <a:extLst>
                    <a:ext uri="{9D8B030D-6E8A-4147-A177-3AD203B41FA5}">
                      <a16:colId xmlns:a16="http://schemas.microsoft.com/office/drawing/2014/main" val="20000"/>
                    </a:ext>
                  </a:extLst>
                </a:gridCol>
                <a:gridCol w="1542773">
                  <a:extLst>
                    <a:ext uri="{9D8B030D-6E8A-4147-A177-3AD203B41FA5}">
                      <a16:colId xmlns:a16="http://schemas.microsoft.com/office/drawing/2014/main" val="20001"/>
                    </a:ext>
                  </a:extLst>
                </a:gridCol>
                <a:gridCol w="6097626">
                  <a:extLst>
                    <a:ext uri="{9D8B030D-6E8A-4147-A177-3AD203B41FA5}">
                      <a16:colId xmlns:a16="http://schemas.microsoft.com/office/drawing/2014/main" val="20002"/>
                    </a:ext>
                  </a:extLst>
                </a:gridCol>
              </a:tblGrid>
              <a:tr h="471479">
                <a:tc>
                  <a:txBody>
                    <a:bodyPr/>
                    <a:lstStyle/>
                    <a:p>
                      <a:pPr algn="ctr">
                        <a:lnSpc>
                          <a:spcPct val="150000"/>
                        </a:lnSpc>
                        <a:spcAft>
                          <a:spcPts val="0"/>
                        </a:spcAft>
                      </a:pPr>
                      <a:r>
                        <a:rPr lang="zh-CN" sz="2000" b="1" kern="100" dirty="0">
                          <a:effectLst/>
                          <a:latin typeface="微软雅黑" panose="020B0503020204020204" pitchFamily="34" charset="-122"/>
                          <a:ea typeface="微软雅黑" panose="020B0503020204020204" pitchFamily="34" charset="-122"/>
                        </a:rPr>
                        <a:t>实验评价内容</a:t>
                      </a:r>
                    </a:p>
                  </a:txBody>
                  <a:tcPr marL="68570" marR="68570" marT="0" marB="0"/>
                </a:tc>
                <a:tc>
                  <a:txBody>
                    <a:bodyPr/>
                    <a:lstStyle/>
                    <a:p>
                      <a:pPr algn="ctr">
                        <a:lnSpc>
                          <a:spcPct val="150000"/>
                        </a:lnSpc>
                        <a:spcAft>
                          <a:spcPts val="0"/>
                        </a:spcAft>
                      </a:pPr>
                      <a:r>
                        <a:rPr lang="zh-CN" sz="2000" b="1" kern="100">
                          <a:effectLst/>
                          <a:latin typeface="微软雅黑" panose="020B0503020204020204" pitchFamily="34" charset="-122"/>
                          <a:ea typeface="微软雅黑" panose="020B0503020204020204" pitchFamily="34" charset="-122"/>
                        </a:rPr>
                        <a:t>所占比重</a:t>
                      </a:r>
                    </a:p>
                  </a:txBody>
                  <a:tcPr marL="68570" marR="68570" marT="0" marB="0"/>
                </a:tc>
                <a:tc>
                  <a:txBody>
                    <a:bodyPr/>
                    <a:lstStyle/>
                    <a:p>
                      <a:pPr algn="ctr">
                        <a:lnSpc>
                          <a:spcPct val="150000"/>
                        </a:lnSpc>
                        <a:spcAft>
                          <a:spcPts val="0"/>
                        </a:spcAft>
                      </a:pPr>
                      <a:r>
                        <a:rPr lang="zh-CN" sz="2000" b="1" kern="100">
                          <a:effectLst/>
                          <a:latin typeface="微软雅黑" panose="020B0503020204020204" pitchFamily="34" charset="-122"/>
                          <a:ea typeface="微软雅黑" panose="020B0503020204020204" pitchFamily="34" charset="-122"/>
                        </a:rPr>
                        <a:t>要求</a:t>
                      </a:r>
                    </a:p>
                  </a:txBody>
                  <a:tcPr marL="68570" marR="68570" marT="0" marB="0"/>
                </a:tc>
                <a:extLst>
                  <a:ext uri="{0D108BD9-81ED-4DB2-BD59-A6C34878D82A}">
                    <a16:rowId xmlns:a16="http://schemas.microsoft.com/office/drawing/2014/main" val="10000"/>
                  </a:ext>
                </a:extLst>
              </a:tr>
              <a:tr h="942958">
                <a:tc>
                  <a:txBody>
                    <a:bodyPr/>
                    <a:lstStyle/>
                    <a:p>
                      <a:pPr algn="ctr">
                        <a:lnSpc>
                          <a:spcPct val="150000"/>
                        </a:lnSpc>
                        <a:spcAft>
                          <a:spcPts val="0"/>
                        </a:spcAft>
                      </a:pPr>
                      <a:r>
                        <a:rPr lang="zh-CN" sz="2000" b="1" kern="100">
                          <a:effectLst/>
                          <a:latin typeface="微软雅黑" panose="020B0503020204020204" pitchFamily="34" charset="-122"/>
                          <a:ea typeface="微软雅黑" panose="020B0503020204020204" pitchFamily="34" charset="-122"/>
                        </a:rPr>
                        <a:t>问题分析能力</a:t>
                      </a:r>
                    </a:p>
                  </a:txBody>
                  <a:tcPr marL="68570" marR="68570" marT="0" marB="0" anchor="ctr"/>
                </a:tc>
                <a:tc>
                  <a:txBody>
                    <a:bodyPr/>
                    <a:lstStyle/>
                    <a:p>
                      <a:pPr algn="ctr">
                        <a:lnSpc>
                          <a:spcPct val="150000"/>
                        </a:lnSpc>
                        <a:spcAft>
                          <a:spcPts val="0"/>
                        </a:spcAft>
                      </a:pPr>
                      <a:r>
                        <a:rPr lang="en-US" sz="2000" b="1" kern="100" dirty="0">
                          <a:effectLst/>
                          <a:latin typeface="微软雅黑" panose="020B0503020204020204" pitchFamily="34" charset="-122"/>
                          <a:ea typeface="微软雅黑" panose="020B0503020204020204" pitchFamily="34" charset="-122"/>
                        </a:rPr>
                        <a:t>20%</a:t>
                      </a:r>
                      <a:endParaRPr lang="zh-CN" sz="2000" b="1" kern="100" dirty="0">
                        <a:effectLst/>
                        <a:latin typeface="微软雅黑" panose="020B0503020204020204" pitchFamily="34" charset="-122"/>
                        <a:ea typeface="微软雅黑" panose="020B0503020204020204" pitchFamily="34" charset="-122"/>
                      </a:endParaRPr>
                    </a:p>
                  </a:txBody>
                  <a:tcPr marL="68570" marR="68570" marT="0" marB="0" anchor="ctr"/>
                </a:tc>
                <a:tc>
                  <a:txBody>
                    <a:bodyPr/>
                    <a:lstStyle/>
                    <a:p>
                      <a:pPr algn="ctr">
                        <a:lnSpc>
                          <a:spcPct val="150000"/>
                        </a:lnSpc>
                        <a:spcAft>
                          <a:spcPts val="0"/>
                        </a:spcAft>
                      </a:pPr>
                      <a:r>
                        <a:rPr lang="zh-CN" sz="2000" b="1" kern="100" dirty="0">
                          <a:effectLst/>
                          <a:latin typeface="微软雅黑" panose="020B0503020204020204" pitchFamily="34" charset="-122"/>
                          <a:ea typeface="微软雅黑" panose="020B0503020204020204" pitchFamily="34" charset="-122"/>
                        </a:rPr>
                        <a:t>说明</a:t>
                      </a:r>
                      <a:r>
                        <a:rPr lang="zh-CN" altLang="en-US" sz="2000" b="1" kern="100" dirty="0">
                          <a:effectLst/>
                          <a:latin typeface="微软雅黑" panose="020B0503020204020204" pitchFamily="34" charset="-122"/>
                          <a:ea typeface="微软雅黑" panose="020B0503020204020204" pitchFamily="34" charset="-122"/>
                        </a:rPr>
                        <a:t>语义</a:t>
                      </a:r>
                      <a:r>
                        <a:rPr lang="zh-CN" sz="2000" b="1" kern="100" dirty="0">
                          <a:effectLst/>
                          <a:latin typeface="微软雅黑" panose="020B0503020204020204" pitchFamily="34" charset="-122"/>
                          <a:ea typeface="微软雅黑" panose="020B0503020204020204" pitchFamily="34" charset="-122"/>
                        </a:rPr>
                        <a:t>分析</a:t>
                      </a:r>
                      <a:r>
                        <a:rPr lang="zh-CN" altLang="en-US" sz="2000" b="1" kern="100" dirty="0">
                          <a:effectLst/>
                          <a:latin typeface="微软雅黑" panose="020B0503020204020204" pitchFamily="34" charset="-122"/>
                          <a:ea typeface="微软雅黑" panose="020B0503020204020204" pitchFamily="34" charset="-122"/>
                        </a:rPr>
                        <a:t>和中间代码生成</a:t>
                      </a:r>
                      <a:r>
                        <a:rPr lang="zh-CN" sz="2000" b="1" kern="100" dirty="0">
                          <a:effectLst/>
                          <a:latin typeface="微软雅黑" panose="020B0503020204020204" pitchFamily="34" charset="-122"/>
                          <a:ea typeface="微软雅黑" panose="020B0503020204020204" pitchFamily="34" charset="-122"/>
                        </a:rPr>
                        <a:t>原理，绘制必要的状态转换图。</a:t>
                      </a:r>
                    </a:p>
                  </a:txBody>
                  <a:tcPr marL="68570" marR="68570" marT="0" marB="0" anchor="ctr"/>
                </a:tc>
                <a:extLst>
                  <a:ext uri="{0D108BD9-81ED-4DB2-BD59-A6C34878D82A}">
                    <a16:rowId xmlns:a16="http://schemas.microsoft.com/office/drawing/2014/main" val="10001"/>
                  </a:ext>
                </a:extLst>
              </a:tr>
              <a:tr h="942958">
                <a:tc>
                  <a:txBody>
                    <a:bodyPr/>
                    <a:lstStyle/>
                    <a:p>
                      <a:pPr algn="ctr">
                        <a:lnSpc>
                          <a:spcPct val="150000"/>
                        </a:lnSpc>
                        <a:spcAft>
                          <a:spcPts val="0"/>
                        </a:spcAft>
                      </a:pPr>
                      <a:r>
                        <a:rPr lang="zh-CN" sz="2000" b="1" kern="100" dirty="0">
                          <a:effectLst/>
                          <a:latin typeface="微软雅黑" panose="020B0503020204020204" pitchFamily="34" charset="-122"/>
                          <a:ea typeface="微软雅黑" panose="020B0503020204020204" pitchFamily="34" charset="-122"/>
                        </a:rPr>
                        <a:t>系统方案（算法）设计能力</a:t>
                      </a:r>
                    </a:p>
                  </a:txBody>
                  <a:tcPr marL="68570" marR="68570" marT="0" marB="0" anchor="ctr"/>
                </a:tc>
                <a:tc>
                  <a:txBody>
                    <a:bodyPr/>
                    <a:lstStyle/>
                    <a:p>
                      <a:pPr algn="ctr">
                        <a:lnSpc>
                          <a:spcPct val="150000"/>
                        </a:lnSpc>
                        <a:spcAft>
                          <a:spcPts val="0"/>
                        </a:spcAft>
                      </a:pPr>
                      <a:r>
                        <a:rPr lang="en-US" sz="2000" b="1" kern="100">
                          <a:effectLst/>
                          <a:latin typeface="微软雅黑" panose="020B0503020204020204" pitchFamily="34" charset="-122"/>
                          <a:ea typeface="微软雅黑" panose="020B0503020204020204" pitchFamily="34" charset="-122"/>
                        </a:rPr>
                        <a:t>20%</a:t>
                      </a:r>
                      <a:endParaRPr lang="zh-CN" sz="2000" b="1" kern="100">
                        <a:effectLst/>
                        <a:latin typeface="微软雅黑" panose="020B0503020204020204" pitchFamily="34" charset="-122"/>
                        <a:ea typeface="微软雅黑" panose="020B0503020204020204" pitchFamily="34" charset="-122"/>
                      </a:endParaRPr>
                    </a:p>
                  </a:txBody>
                  <a:tcPr marL="68570" marR="68570" marT="0" marB="0" anchor="ctr"/>
                </a:tc>
                <a:tc>
                  <a:txBody>
                    <a:bodyPr/>
                    <a:lstStyle/>
                    <a:p>
                      <a:pPr algn="ctr">
                        <a:lnSpc>
                          <a:spcPct val="150000"/>
                        </a:lnSpc>
                        <a:spcAft>
                          <a:spcPts val="0"/>
                        </a:spcAft>
                      </a:pPr>
                      <a:r>
                        <a:rPr lang="zh-CN" sz="2000" b="1" kern="100" dirty="0">
                          <a:effectLst/>
                          <a:latin typeface="微软雅黑" panose="020B0503020204020204" pitchFamily="34" charset="-122"/>
                          <a:ea typeface="微软雅黑" panose="020B0503020204020204" pitchFamily="34" charset="-122"/>
                        </a:rPr>
                        <a:t>报告中体现系统各模块的总体设计和详细设计。</a:t>
                      </a:r>
                    </a:p>
                  </a:txBody>
                  <a:tcPr marL="68570" marR="68570" marT="0" marB="0" anchor="ctr"/>
                </a:tc>
                <a:extLst>
                  <a:ext uri="{0D108BD9-81ED-4DB2-BD59-A6C34878D82A}">
                    <a16:rowId xmlns:a16="http://schemas.microsoft.com/office/drawing/2014/main" val="10002"/>
                  </a:ext>
                </a:extLst>
              </a:tr>
              <a:tr h="942958">
                <a:tc>
                  <a:txBody>
                    <a:bodyPr/>
                    <a:lstStyle/>
                    <a:p>
                      <a:pPr algn="ctr">
                        <a:lnSpc>
                          <a:spcPct val="150000"/>
                        </a:lnSpc>
                        <a:spcAft>
                          <a:spcPts val="0"/>
                        </a:spcAft>
                      </a:pPr>
                      <a:r>
                        <a:rPr lang="zh-CN" sz="2000" b="1" kern="100">
                          <a:effectLst/>
                          <a:latin typeface="微软雅黑" panose="020B0503020204020204" pitchFamily="34" charset="-122"/>
                          <a:ea typeface="微软雅黑" panose="020B0503020204020204" pitchFamily="34" charset="-122"/>
                        </a:rPr>
                        <a:t>编程能力</a:t>
                      </a:r>
                    </a:p>
                  </a:txBody>
                  <a:tcPr marL="68570" marR="68570" marT="0" marB="0" anchor="ctr"/>
                </a:tc>
                <a:tc>
                  <a:txBody>
                    <a:bodyPr/>
                    <a:lstStyle/>
                    <a:p>
                      <a:pPr algn="ctr">
                        <a:lnSpc>
                          <a:spcPct val="150000"/>
                        </a:lnSpc>
                        <a:spcAft>
                          <a:spcPts val="0"/>
                        </a:spcAft>
                      </a:pPr>
                      <a:r>
                        <a:rPr lang="en-US" sz="2000" b="1" kern="100">
                          <a:effectLst/>
                          <a:latin typeface="微软雅黑" panose="020B0503020204020204" pitchFamily="34" charset="-122"/>
                          <a:ea typeface="微软雅黑" panose="020B0503020204020204" pitchFamily="34" charset="-122"/>
                        </a:rPr>
                        <a:t>20%</a:t>
                      </a:r>
                      <a:endParaRPr lang="zh-CN" sz="2000" b="1" kern="100">
                        <a:effectLst/>
                        <a:latin typeface="微软雅黑" panose="020B0503020204020204" pitchFamily="34" charset="-122"/>
                        <a:ea typeface="微软雅黑" panose="020B0503020204020204" pitchFamily="34" charset="-122"/>
                      </a:endParaRPr>
                    </a:p>
                  </a:txBody>
                  <a:tcPr marL="68570" marR="68570" marT="0" marB="0" anchor="ctr"/>
                </a:tc>
                <a:tc>
                  <a:txBody>
                    <a:bodyPr/>
                    <a:lstStyle/>
                    <a:p>
                      <a:pPr algn="ctr">
                        <a:lnSpc>
                          <a:spcPct val="150000"/>
                        </a:lnSpc>
                        <a:spcAft>
                          <a:spcPts val="0"/>
                        </a:spcAft>
                      </a:pPr>
                      <a:r>
                        <a:rPr lang="zh-CN" sz="2000" b="1" kern="100" dirty="0">
                          <a:effectLst/>
                          <a:latin typeface="微软雅黑" panose="020B0503020204020204" pitchFamily="34" charset="-122"/>
                          <a:ea typeface="微软雅黑" panose="020B0503020204020204" pitchFamily="34" charset="-122"/>
                        </a:rPr>
                        <a:t>独立编程实现要求的全部功能，正确无误。</a:t>
                      </a:r>
                    </a:p>
                  </a:txBody>
                  <a:tcPr marL="68570" marR="68570" marT="0" marB="0" anchor="ctr"/>
                </a:tc>
                <a:extLst>
                  <a:ext uri="{0D108BD9-81ED-4DB2-BD59-A6C34878D82A}">
                    <a16:rowId xmlns:a16="http://schemas.microsoft.com/office/drawing/2014/main" val="10003"/>
                  </a:ext>
                </a:extLst>
              </a:tr>
              <a:tr h="1414438">
                <a:tc>
                  <a:txBody>
                    <a:bodyPr/>
                    <a:lstStyle/>
                    <a:p>
                      <a:pPr algn="ctr">
                        <a:lnSpc>
                          <a:spcPct val="150000"/>
                        </a:lnSpc>
                        <a:spcAft>
                          <a:spcPts val="0"/>
                        </a:spcAft>
                      </a:pPr>
                      <a:r>
                        <a:rPr lang="zh-CN" sz="2000" b="1" kern="100" dirty="0">
                          <a:effectLst/>
                          <a:latin typeface="微软雅黑" panose="020B0503020204020204" pitchFamily="34" charset="-122"/>
                          <a:ea typeface="微软雅黑" panose="020B0503020204020204" pitchFamily="34" charset="-122"/>
                        </a:rPr>
                        <a:t>撰写报告能力</a:t>
                      </a:r>
                    </a:p>
                  </a:txBody>
                  <a:tcPr marL="68570" marR="68570" marT="0" marB="0" anchor="ctr"/>
                </a:tc>
                <a:tc>
                  <a:txBody>
                    <a:bodyPr/>
                    <a:lstStyle/>
                    <a:p>
                      <a:pPr algn="ctr">
                        <a:lnSpc>
                          <a:spcPct val="150000"/>
                        </a:lnSpc>
                        <a:spcAft>
                          <a:spcPts val="0"/>
                        </a:spcAft>
                      </a:pPr>
                      <a:r>
                        <a:rPr lang="en-US" sz="2000" b="1" kern="100">
                          <a:effectLst/>
                          <a:latin typeface="微软雅黑" panose="020B0503020204020204" pitchFamily="34" charset="-122"/>
                          <a:ea typeface="微软雅黑" panose="020B0503020204020204" pitchFamily="34" charset="-122"/>
                        </a:rPr>
                        <a:t>30%</a:t>
                      </a:r>
                      <a:endParaRPr lang="zh-CN" sz="2000" b="1" kern="100">
                        <a:effectLst/>
                        <a:latin typeface="微软雅黑" panose="020B0503020204020204" pitchFamily="34" charset="-122"/>
                        <a:ea typeface="微软雅黑" panose="020B0503020204020204" pitchFamily="34" charset="-122"/>
                      </a:endParaRPr>
                    </a:p>
                  </a:txBody>
                  <a:tcPr marL="68570" marR="68570" marT="0" marB="0" anchor="ctr"/>
                </a:tc>
                <a:tc>
                  <a:txBody>
                    <a:bodyPr/>
                    <a:lstStyle/>
                    <a:p>
                      <a:pPr algn="ctr">
                        <a:lnSpc>
                          <a:spcPct val="150000"/>
                        </a:lnSpc>
                        <a:spcAft>
                          <a:spcPts val="0"/>
                        </a:spcAft>
                      </a:pPr>
                      <a:r>
                        <a:rPr lang="zh-CN" sz="2000" b="1" kern="100" dirty="0">
                          <a:effectLst/>
                          <a:latin typeface="微软雅黑" panose="020B0503020204020204" pitchFamily="34" charset="-122"/>
                          <a:ea typeface="微软雅黑" panose="020B0503020204020204" pitchFamily="34" charset="-122"/>
                        </a:rPr>
                        <a:t>表达通顺、结构清晰、内容完整、实验充分、提出个人想法，不存在抄袭。</a:t>
                      </a:r>
                    </a:p>
                  </a:txBody>
                  <a:tcPr marL="68570" marR="68570" marT="0" marB="0" anchor="ctr"/>
                </a:tc>
                <a:extLst>
                  <a:ext uri="{0D108BD9-81ED-4DB2-BD59-A6C34878D82A}">
                    <a16:rowId xmlns:a16="http://schemas.microsoft.com/office/drawing/2014/main" val="10004"/>
                  </a:ext>
                </a:extLst>
              </a:tr>
              <a:tr h="942958">
                <a:tc>
                  <a:txBody>
                    <a:bodyPr/>
                    <a:lstStyle/>
                    <a:p>
                      <a:pPr algn="ctr">
                        <a:lnSpc>
                          <a:spcPct val="150000"/>
                        </a:lnSpc>
                        <a:spcAft>
                          <a:spcPts val="0"/>
                        </a:spcAft>
                      </a:pPr>
                      <a:r>
                        <a:rPr lang="zh-CN" sz="2000" b="1" kern="100">
                          <a:effectLst/>
                          <a:latin typeface="微软雅黑" panose="020B0503020204020204" pitchFamily="34" charset="-122"/>
                          <a:ea typeface="微软雅黑" panose="020B0503020204020204" pitchFamily="34" charset="-122"/>
                        </a:rPr>
                        <a:t>查阅文献资料能力</a:t>
                      </a:r>
                    </a:p>
                  </a:txBody>
                  <a:tcPr marL="68570" marR="68570" marT="0" marB="0" anchor="ctr"/>
                </a:tc>
                <a:tc>
                  <a:txBody>
                    <a:bodyPr/>
                    <a:lstStyle/>
                    <a:p>
                      <a:pPr algn="ctr">
                        <a:lnSpc>
                          <a:spcPct val="150000"/>
                        </a:lnSpc>
                        <a:spcAft>
                          <a:spcPts val="0"/>
                        </a:spcAft>
                      </a:pPr>
                      <a:r>
                        <a:rPr lang="en-US" sz="2000" b="1" kern="100">
                          <a:effectLst/>
                          <a:latin typeface="微软雅黑" panose="020B0503020204020204" pitchFamily="34" charset="-122"/>
                          <a:ea typeface="微软雅黑" panose="020B0503020204020204" pitchFamily="34" charset="-122"/>
                        </a:rPr>
                        <a:t>10%</a:t>
                      </a:r>
                      <a:endParaRPr lang="zh-CN" sz="2000" b="1" kern="100">
                        <a:effectLst/>
                        <a:latin typeface="微软雅黑" panose="020B0503020204020204" pitchFamily="34" charset="-122"/>
                        <a:ea typeface="微软雅黑" panose="020B0503020204020204" pitchFamily="34" charset="-122"/>
                      </a:endParaRPr>
                    </a:p>
                  </a:txBody>
                  <a:tcPr marL="68570" marR="68570" marT="0" marB="0" anchor="ctr"/>
                </a:tc>
                <a:tc>
                  <a:txBody>
                    <a:bodyPr/>
                    <a:lstStyle/>
                    <a:p>
                      <a:pPr algn="ctr">
                        <a:lnSpc>
                          <a:spcPct val="150000"/>
                        </a:lnSpc>
                        <a:spcAft>
                          <a:spcPts val="0"/>
                        </a:spcAft>
                      </a:pPr>
                      <a:r>
                        <a:rPr lang="zh-CN" sz="2000" b="1" kern="100" dirty="0">
                          <a:effectLst/>
                          <a:latin typeface="微软雅黑" panose="020B0503020204020204" pitchFamily="34" charset="-122"/>
                          <a:ea typeface="微软雅黑" panose="020B0503020204020204" pitchFamily="34" charset="-122"/>
                        </a:rPr>
                        <a:t>报告中列出所查阅的文献资料，含图书、论文、网络资源等。</a:t>
                      </a:r>
                    </a:p>
                  </a:txBody>
                  <a:tcPr marL="68570" marR="68570"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063414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3D7D7-9D18-D17D-D4E9-2BFF23800649}"/>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560FBF07-5A7E-4C78-E2A0-640AA28282EC}"/>
              </a:ext>
            </a:extLst>
          </p:cNvPr>
          <p:cNvSpPr txBox="1">
            <a:spLocks/>
          </p:cNvSpPr>
          <p:nvPr/>
        </p:nvSpPr>
        <p:spPr>
          <a:xfrm>
            <a:off x="72008" y="-12202"/>
            <a:ext cx="4007768" cy="848914"/>
          </a:xfrm>
          <a:prstGeom prst="rect">
            <a:avLst/>
          </a:prstGeom>
        </p:spPr>
        <p:txBody>
          <a:bodyPr/>
          <a:lstStyle>
            <a:lvl1pPr algn="ctr" defTabSz="1219200" rtl="0" eaLnBrk="1" latinLnBrk="0" hangingPunct="1">
              <a:spcBef>
                <a:spcPct val="0"/>
              </a:spcBef>
              <a:buNone/>
              <a:defRPr sz="5865" kern="1200">
                <a:solidFill>
                  <a:schemeClr val="tx1"/>
                </a:solidFill>
                <a:latin typeface="+mj-lt"/>
                <a:ea typeface="+mj-ea"/>
                <a:cs typeface="+mj-cs"/>
              </a:defRPr>
            </a:lvl1pPr>
          </a:lstStyle>
          <a:p>
            <a:pPr algn="l"/>
            <a:r>
              <a:rPr lang="zh-CN" altLang="en-US" sz="3600" b="1">
                <a:solidFill>
                  <a:schemeClr val="bg1"/>
                </a:solidFill>
                <a:latin typeface="微软雅黑" panose="020B0503020204020204" pitchFamily="34" charset="-122"/>
                <a:ea typeface="微软雅黑" panose="020B0503020204020204" pitchFamily="34" charset="-122"/>
              </a:rPr>
              <a:t>报告要求</a:t>
            </a:r>
          </a:p>
        </p:txBody>
      </p:sp>
      <p:sp>
        <p:nvSpPr>
          <p:cNvPr id="10" name="内容占位符 2">
            <a:extLst>
              <a:ext uri="{FF2B5EF4-FFF2-40B4-BE49-F238E27FC236}">
                <a16:creationId xmlns:a16="http://schemas.microsoft.com/office/drawing/2014/main" id="{8693F081-A6AB-2180-2B76-98A8A730A216}"/>
              </a:ext>
            </a:extLst>
          </p:cNvPr>
          <p:cNvSpPr txBox="1">
            <a:spLocks/>
          </p:cNvSpPr>
          <p:nvPr/>
        </p:nvSpPr>
        <p:spPr bwMode="auto">
          <a:xfrm>
            <a:off x="551384" y="980728"/>
            <a:ext cx="11352584" cy="3744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1">
                <a:solidFill>
                  <a:srgbClr val="003366"/>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b="1">
                <a:solidFill>
                  <a:srgbClr val="003366"/>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b="1">
                <a:solidFill>
                  <a:srgbClr val="003366"/>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b="1">
                <a:solidFill>
                  <a:srgbClr val="003366"/>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b="1">
                <a:solidFill>
                  <a:srgbClr val="003366"/>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b="1">
                <a:solidFill>
                  <a:srgbClr val="003366"/>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b="1">
                <a:solidFill>
                  <a:srgbClr val="003366"/>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b="1">
                <a:solidFill>
                  <a:srgbClr val="003366"/>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b="1">
                <a:solidFill>
                  <a:srgbClr val="003366"/>
                </a:solidFill>
                <a:latin typeface="+mn-lt"/>
                <a:ea typeface="+mn-ea"/>
              </a:defRPr>
            </a:lvl9pPr>
          </a:lstStyle>
          <a:p>
            <a:pPr marL="360000" marR="0" lvl="0" indent="-360000" algn="l" defTabSz="914400" rtl="0" eaLnBrk="0" fontAlgn="base" latinLnBrk="0" hangingPunct="0">
              <a:lnSpc>
                <a:spcPct val="150000"/>
              </a:lnSpc>
              <a:spcBef>
                <a:spcPct val="20000"/>
              </a:spcBef>
              <a:spcAft>
                <a:spcPct val="0"/>
              </a:spcAft>
              <a:buClrTx/>
              <a:buSzPct val="75000"/>
              <a:buFont typeface="Wingdings" panose="05000000000000000000" pitchFamily="2" charset="2"/>
              <a:buChar char="n"/>
              <a:tabLst/>
              <a:defRPr/>
            </a:pPr>
            <a:r>
              <a:rPr kumimoji="0" lang="zh-CN" altLang="en-US" b="1"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设计文档</a:t>
            </a:r>
            <a:r>
              <a:rPr kumimoji="0" lang="en-US" altLang="zh-CN" b="1"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1</a:t>
            </a:r>
            <a:r>
              <a:rPr kumimoji="0" lang="zh-CN" altLang="en-US" b="1"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份</a:t>
            </a:r>
          </a:p>
          <a:p>
            <a:pPr marL="360000" marR="0" lvl="0" indent="-360000" algn="l" defTabSz="914400" rtl="0" eaLnBrk="0" fontAlgn="base" latinLnBrk="0" hangingPunct="0">
              <a:lnSpc>
                <a:spcPct val="150000"/>
              </a:lnSpc>
              <a:spcBef>
                <a:spcPct val="20000"/>
              </a:spcBef>
              <a:spcAft>
                <a:spcPct val="0"/>
              </a:spcAft>
              <a:buClrTx/>
              <a:buSzPct val="75000"/>
              <a:buFont typeface="Wingdings" panose="05000000000000000000" pitchFamily="2" charset="2"/>
              <a:buChar char="n"/>
              <a:tabLst/>
              <a:defRPr/>
            </a:pPr>
            <a:r>
              <a:rPr kumimoji="0" lang="zh-CN" altLang="en-US" b="1"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程序源代码、可执行代码</a:t>
            </a:r>
            <a:r>
              <a:rPr kumimoji="0" lang="en-US" altLang="zh-CN" b="1"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1</a:t>
            </a:r>
            <a:r>
              <a:rPr kumimoji="0" lang="zh-CN" altLang="en-US" b="1"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份</a:t>
            </a:r>
          </a:p>
          <a:p>
            <a:pPr marL="360000" marR="0" lvl="0" indent="-360000" algn="l" defTabSz="914400" rtl="0" eaLnBrk="0" fontAlgn="base" latinLnBrk="0" hangingPunct="0">
              <a:lnSpc>
                <a:spcPct val="150000"/>
              </a:lnSpc>
              <a:spcBef>
                <a:spcPct val="20000"/>
              </a:spcBef>
              <a:spcAft>
                <a:spcPct val="0"/>
              </a:spcAft>
              <a:buClrTx/>
              <a:buSzPct val="75000"/>
              <a:buFont typeface="Wingdings" panose="05000000000000000000" pitchFamily="2" charset="2"/>
              <a:buChar char="n"/>
              <a:tabLst/>
              <a:defRPr/>
            </a:pPr>
            <a:r>
              <a:rPr kumimoji="0" lang="zh-CN" altLang="en-US" b="1"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程序实例与结果截屏</a:t>
            </a:r>
          </a:p>
          <a:p>
            <a:pPr marL="360000" marR="0" lvl="0" indent="-360000" algn="l" defTabSz="914400" rtl="0" eaLnBrk="0" fontAlgn="base" latinLnBrk="0" hangingPunct="0">
              <a:lnSpc>
                <a:spcPct val="150000"/>
              </a:lnSpc>
              <a:spcBef>
                <a:spcPct val="20000"/>
              </a:spcBef>
              <a:spcAft>
                <a:spcPct val="0"/>
              </a:spcAft>
              <a:buClrTx/>
              <a:buSzPct val="75000"/>
              <a:buFont typeface="Wingdings" panose="05000000000000000000" pitchFamily="2" charset="2"/>
              <a:buChar char="n"/>
              <a:tabLst/>
              <a:defRPr/>
            </a:pPr>
            <a:r>
              <a:rPr kumimoji="0" lang="zh-CN" altLang="en-US" b="1"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报告</a:t>
            </a:r>
            <a:r>
              <a:rPr kumimoji="0" lang="en-US" altLang="zh-CN" b="1"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PPT1</a:t>
            </a:r>
            <a:r>
              <a:rPr kumimoji="0" lang="zh-CN" altLang="en-US" b="1"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份</a:t>
            </a:r>
          </a:p>
        </p:txBody>
      </p:sp>
      <p:sp>
        <p:nvSpPr>
          <p:cNvPr id="2" name="文本框 1">
            <a:extLst>
              <a:ext uri="{FF2B5EF4-FFF2-40B4-BE49-F238E27FC236}">
                <a16:creationId xmlns:a16="http://schemas.microsoft.com/office/drawing/2014/main" id="{5FD1BEFA-99CA-9C65-2FED-54061CF7D6FA}"/>
              </a:ext>
            </a:extLst>
          </p:cNvPr>
          <p:cNvSpPr txBox="1"/>
          <p:nvPr/>
        </p:nvSpPr>
        <p:spPr>
          <a:xfrm>
            <a:off x="6038850" y="980728"/>
            <a:ext cx="6153150" cy="3157146"/>
          </a:xfrm>
          <a:prstGeom prst="rect">
            <a:avLst/>
          </a:prstGeom>
          <a:noFill/>
        </p:spPr>
        <p:txBody>
          <a:bodyPr wrap="square">
            <a:spAutoFit/>
          </a:bodyPr>
          <a:lstStyle/>
          <a:p>
            <a:pPr marL="457200" lvl="1">
              <a:lnSpc>
                <a:spcPct val="120000"/>
              </a:lnSpc>
            </a:pPr>
            <a:r>
              <a:rPr lang="zh-CN" altLang="en-US" b="1" dirty="0">
                <a:solidFill>
                  <a:srgbClr val="003366"/>
                </a:solidFill>
                <a:latin typeface="微软雅黑" panose="020B0503020204020204" pitchFamily="34" charset="-122"/>
                <a:ea typeface="微软雅黑" panose="020B0503020204020204" pitchFamily="34" charset="-122"/>
              </a:rPr>
              <a:t>语法规则至少完成以下：</a:t>
            </a:r>
            <a:endParaRPr lang="en-US" altLang="zh-CN" b="1" dirty="0">
              <a:solidFill>
                <a:srgbClr val="003366"/>
              </a:solidFill>
              <a:latin typeface="微软雅黑" panose="020B0503020204020204" pitchFamily="34" charset="-122"/>
              <a:ea typeface="微软雅黑" panose="020B0503020204020204" pitchFamily="34" charset="-122"/>
            </a:endParaRPr>
          </a:p>
          <a:p>
            <a:pPr marL="457200" lvl="1">
              <a:lnSpc>
                <a:spcPct val="120000"/>
              </a:lnSpc>
            </a:pPr>
            <a:r>
              <a:rPr lang="en-US" altLang="zh-CN" sz="2400" dirty="0">
                <a:solidFill>
                  <a:srgbClr val="003366"/>
                </a:solidFill>
                <a:latin typeface="微软雅黑" panose="020B0503020204020204" pitchFamily="34" charset="-122"/>
                <a:ea typeface="微软雅黑" panose="020B0503020204020204" pitchFamily="34" charset="-122"/>
              </a:rPr>
              <a:t>0.1</a:t>
            </a:r>
            <a:r>
              <a:rPr lang="zh-CN" altLang="en-US" sz="2400" dirty="0">
                <a:solidFill>
                  <a:srgbClr val="003366"/>
                </a:solidFill>
                <a:latin typeface="微软雅黑" panose="020B0503020204020204" pitchFamily="34" charset="-122"/>
                <a:ea typeface="微软雅黑" panose="020B0503020204020204" pitchFamily="34" charset="-122"/>
              </a:rPr>
              <a:t>、</a:t>
            </a:r>
            <a:r>
              <a:rPr lang="en-US" altLang="zh-CN" sz="2400" dirty="0">
                <a:solidFill>
                  <a:srgbClr val="003366"/>
                </a:solidFill>
                <a:latin typeface="微软雅黑" panose="020B0503020204020204" pitchFamily="34" charset="-122"/>
                <a:ea typeface="微软雅黑" panose="020B0503020204020204" pitchFamily="34" charset="-122"/>
              </a:rPr>
              <a:t>0.2</a:t>
            </a:r>
            <a:r>
              <a:rPr lang="zh-CN" altLang="en-US" sz="2400" dirty="0">
                <a:solidFill>
                  <a:srgbClr val="003366"/>
                </a:solidFill>
                <a:latin typeface="微软雅黑" panose="020B0503020204020204" pitchFamily="34" charset="-122"/>
                <a:ea typeface="微软雅黑" panose="020B0503020204020204" pitchFamily="34" charset="-122"/>
              </a:rPr>
              <a:t>、</a:t>
            </a:r>
            <a:r>
              <a:rPr lang="en-US" altLang="zh-CN" sz="2400" dirty="0">
                <a:solidFill>
                  <a:srgbClr val="003366"/>
                </a:solidFill>
                <a:latin typeface="微软雅黑" panose="020B0503020204020204" pitchFamily="34" charset="-122"/>
                <a:ea typeface="微软雅黑" panose="020B0503020204020204" pitchFamily="34" charset="-122"/>
              </a:rPr>
              <a:t>0.3</a:t>
            </a:r>
            <a:r>
              <a:rPr lang="zh-CN" altLang="en-US" sz="2400" dirty="0">
                <a:solidFill>
                  <a:srgbClr val="003366"/>
                </a:solidFill>
                <a:latin typeface="微软雅黑" panose="020B0503020204020204" pitchFamily="34" charset="-122"/>
                <a:ea typeface="微软雅黑" panose="020B0503020204020204" pitchFamily="34" charset="-122"/>
              </a:rPr>
              <a:t>、</a:t>
            </a:r>
            <a:endParaRPr lang="en-US" altLang="zh-CN" sz="2400" dirty="0">
              <a:solidFill>
                <a:srgbClr val="003366"/>
              </a:solidFill>
              <a:latin typeface="微软雅黑" panose="020B0503020204020204" pitchFamily="34" charset="-122"/>
              <a:ea typeface="微软雅黑" panose="020B0503020204020204" pitchFamily="34" charset="-122"/>
            </a:endParaRPr>
          </a:p>
          <a:p>
            <a:pPr marL="457200" lvl="1">
              <a:lnSpc>
                <a:spcPct val="120000"/>
              </a:lnSpc>
            </a:pPr>
            <a:r>
              <a:rPr lang="en-US" altLang="zh-CN" sz="2400" dirty="0">
                <a:solidFill>
                  <a:srgbClr val="003366"/>
                </a:solidFill>
                <a:latin typeface="微软雅黑" panose="020B0503020204020204" pitchFamily="34" charset="-122"/>
                <a:ea typeface="微软雅黑" panose="020B0503020204020204" pitchFamily="34" charset="-122"/>
              </a:rPr>
              <a:t>1.1</a:t>
            </a:r>
            <a:r>
              <a:rPr lang="zh-CN" altLang="en-US" sz="2400" dirty="0">
                <a:solidFill>
                  <a:srgbClr val="003366"/>
                </a:solidFill>
                <a:latin typeface="微软雅黑" panose="020B0503020204020204" pitchFamily="34" charset="-122"/>
                <a:ea typeface="微软雅黑" panose="020B0503020204020204" pitchFamily="34" charset="-122"/>
              </a:rPr>
              <a:t>、</a:t>
            </a:r>
            <a:r>
              <a:rPr lang="en-US" altLang="zh-CN" sz="2400" dirty="0">
                <a:solidFill>
                  <a:srgbClr val="003366"/>
                </a:solidFill>
                <a:latin typeface="微软雅黑" panose="020B0503020204020204" pitchFamily="34" charset="-122"/>
                <a:ea typeface="微软雅黑" panose="020B0503020204020204" pitchFamily="34" charset="-122"/>
              </a:rPr>
              <a:t>1.2</a:t>
            </a:r>
            <a:r>
              <a:rPr lang="zh-CN" altLang="en-US" sz="2400" dirty="0">
                <a:solidFill>
                  <a:srgbClr val="003366"/>
                </a:solidFill>
                <a:latin typeface="微软雅黑" panose="020B0503020204020204" pitchFamily="34" charset="-122"/>
                <a:ea typeface="微软雅黑" panose="020B0503020204020204" pitchFamily="34" charset="-122"/>
              </a:rPr>
              <a:t>、</a:t>
            </a:r>
            <a:r>
              <a:rPr lang="en-US" altLang="zh-CN" sz="2400" dirty="0">
                <a:solidFill>
                  <a:srgbClr val="003366"/>
                </a:solidFill>
                <a:latin typeface="微软雅黑" panose="020B0503020204020204" pitchFamily="34" charset="-122"/>
                <a:ea typeface="微软雅黑" panose="020B0503020204020204" pitchFamily="34" charset="-122"/>
              </a:rPr>
              <a:t>1.3</a:t>
            </a:r>
            <a:r>
              <a:rPr lang="zh-CN" altLang="en-US" sz="2400" dirty="0">
                <a:solidFill>
                  <a:srgbClr val="003366"/>
                </a:solidFill>
                <a:latin typeface="微软雅黑" panose="020B0503020204020204" pitchFamily="34" charset="-122"/>
                <a:ea typeface="微软雅黑" panose="020B0503020204020204" pitchFamily="34" charset="-122"/>
              </a:rPr>
              <a:t>、</a:t>
            </a:r>
            <a:r>
              <a:rPr lang="en-US" altLang="zh-CN" sz="2400" dirty="0">
                <a:solidFill>
                  <a:srgbClr val="003366"/>
                </a:solidFill>
                <a:latin typeface="微软雅黑" panose="020B0503020204020204" pitchFamily="34" charset="-122"/>
                <a:ea typeface="微软雅黑" panose="020B0503020204020204" pitchFamily="34" charset="-122"/>
              </a:rPr>
              <a:t>1.4</a:t>
            </a:r>
            <a:r>
              <a:rPr lang="zh-CN" altLang="en-US" sz="2400" dirty="0">
                <a:solidFill>
                  <a:srgbClr val="003366"/>
                </a:solidFill>
                <a:latin typeface="微软雅黑" panose="020B0503020204020204" pitchFamily="34" charset="-122"/>
                <a:ea typeface="微软雅黑" panose="020B0503020204020204" pitchFamily="34" charset="-122"/>
              </a:rPr>
              <a:t>、</a:t>
            </a:r>
            <a:r>
              <a:rPr lang="en-US" altLang="zh-CN" sz="2400" dirty="0">
                <a:solidFill>
                  <a:srgbClr val="003366"/>
                </a:solidFill>
                <a:latin typeface="微软雅黑" panose="020B0503020204020204" pitchFamily="34" charset="-122"/>
                <a:ea typeface="微软雅黑" panose="020B0503020204020204" pitchFamily="34" charset="-122"/>
              </a:rPr>
              <a:t>1.5</a:t>
            </a:r>
            <a:r>
              <a:rPr lang="zh-CN" altLang="en-US" sz="2400" dirty="0">
                <a:solidFill>
                  <a:srgbClr val="003366"/>
                </a:solidFill>
                <a:latin typeface="微软雅黑" panose="020B0503020204020204" pitchFamily="34" charset="-122"/>
                <a:ea typeface="微软雅黑" panose="020B0503020204020204" pitchFamily="34" charset="-122"/>
              </a:rPr>
              <a:t>、</a:t>
            </a:r>
            <a:endParaRPr lang="en-US" altLang="zh-CN" sz="2400" dirty="0">
              <a:solidFill>
                <a:srgbClr val="003366"/>
              </a:solidFill>
              <a:latin typeface="微软雅黑" panose="020B0503020204020204" pitchFamily="34" charset="-122"/>
              <a:ea typeface="微软雅黑" panose="020B0503020204020204" pitchFamily="34" charset="-122"/>
            </a:endParaRPr>
          </a:p>
          <a:p>
            <a:pPr marL="457200" lvl="1">
              <a:lnSpc>
                <a:spcPct val="120000"/>
              </a:lnSpc>
            </a:pPr>
            <a:r>
              <a:rPr lang="en-US" altLang="zh-CN" sz="2400" dirty="0">
                <a:solidFill>
                  <a:srgbClr val="003366"/>
                </a:solidFill>
                <a:latin typeface="微软雅黑" panose="020B0503020204020204" pitchFamily="34" charset="-122"/>
                <a:ea typeface="微软雅黑" panose="020B0503020204020204" pitchFamily="34" charset="-122"/>
              </a:rPr>
              <a:t>2.0</a:t>
            </a:r>
            <a:r>
              <a:rPr lang="zh-CN" altLang="en-US" sz="2400" dirty="0">
                <a:solidFill>
                  <a:srgbClr val="003366"/>
                </a:solidFill>
                <a:latin typeface="微软雅黑" panose="020B0503020204020204" pitchFamily="34" charset="-122"/>
                <a:ea typeface="微软雅黑" panose="020B0503020204020204" pitchFamily="34" charset="-122"/>
              </a:rPr>
              <a:t>、</a:t>
            </a:r>
            <a:r>
              <a:rPr lang="en-US" altLang="zh-CN" sz="2400" dirty="0">
                <a:solidFill>
                  <a:srgbClr val="003366"/>
                </a:solidFill>
                <a:latin typeface="微软雅黑" panose="020B0503020204020204" pitchFamily="34" charset="-122"/>
                <a:ea typeface="微软雅黑" panose="020B0503020204020204" pitchFamily="34" charset="-122"/>
              </a:rPr>
              <a:t>2.1</a:t>
            </a:r>
            <a:r>
              <a:rPr lang="zh-CN" altLang="en-US" sz="2400" dirty="0">
                <a:solidFill>
                  <a:srgbClr val="003366"/>
                </a:solidFill>
                <a:latin typeface="微软雅黑" panose="020B0503020204020204" pitchFamily="34" charset="-122"/>
                <a:ea typeface="微软雅黑" panose="020B0503020204020204" pitchFamily="34" charset="-122"/>
              </a:rPr>
              <a:t>、</a:t>
            </a:r>
            <a:r>
              <a:rPr lang="en-US" altLang="zh-CN" sz="2400" dirty="0">
                <a:solidFill>
                  <a:srgbClr val="003366"/>
                </a:solidFill>
                <a:latin typeface="微软雅黑" panose="020B0503020204020204" pitchFamily="34" charset="-122"/>
                <a:ea typeface="微软雅黑" panose="020B0503020204020204" pitchFamily="34" charset="-122"/>
              </a:rPr>
              <a:t>2.2</a:t>
            </a:r>
            <a:r>
              <a:rPr lang="zh-CN" altLang="en-US" sz="2400" dirty="0">
                <a:solidFill>
                  <a:srgbClr val="003366"/>
                </a:solidFill>
                <a:latin typeface="微软雅黑" panose="020B0503020204020204" pitchFamily="34" charset="-122"/>
                <a:ea typeface="微软雅黑" panose="020B0503020204020204" pitchFamily="34" charset="-122"/>
              </a:rPr>
              <a:t>、</a:t>
            </a:r>
            <a:endParaRPr lang="en-US" altLang="zh-CN" sz="2400" dirty="0">
              <a:solidFill>
                <a:srgbClr val="003366"/>
              </a:solidFill>
              <a:latin typeface="微软雅黑" panose="020B0503020204020204" pitchFamily="34" charset="-122"/>
              <a:ea typeface="微软雅黑" panose="020B0503020204020204" pitchFamily="34" charset="-122"/>
            </a:endParaRPr>
          </a:p>
          <a:p>
            <a:pPr marL="457200" lvl="1">
              <a:lnSpc>
                <a:spcPct val="120000"/>
              </a:lnSpc>
            </a:pPr>
            <a:r>
              <a:rPr lang="en-US" altLang="zh-CN" sz="2400" dirty="0">
                <a:solidFill>
                  <a:srgbClr val="003366"/>
                </a:solidFill>
                <a:latin typeface="微软雅黑" panose="020B0503020204020204" pitchFamily="34" charset="-122"/>
                <a:ea typeface="微软雅黑" panose="020B0503020204020204" pitchFamily="34" charset="-122"/>
              </a:rPr>
              <a:t>3.1</a:t>
            </a:r>
            <a:r>
              <a:rPr lang="zh-CN" altLang="en-US" sz="2400" dirty="0">
                <a:solidFill>
                  <a:srgbClr val="003366"/>
                </a:solidFill>
                <a:latin typeface="微软雅黑" panose="020B0503020204020204" pitchFamily="34" charset="-122"/>
                <a:ea typeface="微软雅黑" panose="020B0503020204020204" pitchFamily="34" charset="-122"/>
              </a:rPr>
              <a:t>、</a:t>
            </a:r>
            <a:r>
              <a:rPr lang="en-US" altLang="zh-CN" sz="2400" dirty="0">
                <a:solidFill>
                  <a:srgbClr val="003366"/>
                </a:solidFill>
                <a:latin typeface="微软雅黑" panose="020B0503020204020204" pitchFamily="34" charset="-122"/>
                <a:ea typeface="微软雅黑" panose="020B0503020204020204" pitchFamily="34" charset="-122"/>
              </a:rPr>
              <a:t>3.2</a:t>
            </a:r>
            <a:r>
              <a:rPr lang="zh-CN" altLang="en-US" sz="2400" dirty="0">
                <a:solidFill>
                  <a:srgbClr val="003366"/>
                </a:solidFill>
                <a:latin typeface="微软雅黑" panose="020B0503020204020204" pitchFamily="34" charset="-122"/>
                <a:ea typeface="微软雅黑" panose="020B0503020204020204" pitchFamily="34" charset="-122"/>
              </a:rPr>
              <a:t>、</a:t>
            </a:r>
            <a:r>
              <a:rPr lang="en-US" altLang="zh-CN" sz="2400" dirty="0">
                <a:solidFill>
                  <a:srgbClr val="003366"/>
                </a:solidFill>
                <a:latin typeface="微软雅黑" panose="020B0503020204020204" pitchFamily="34" charset="-122"/>
                <a:ea typeface="微软雅黑" panose="020B0503020204020204" pitchFamily="34" charset="-122"/>
              </a:rPr>
              <a:t>3.3</a:t>
            </a:r>
            <a:r>
              <a:rPr lang="zh-CN" altLang="en-US" sz="2400" dirty="0">
                <a:solidFill>
                  <a:srgbClr val="003366"/>
                </a:solidFill>
                <a:latin typeface="微软雅黑" panose="020B0503020204020204" pitchFamily="34" charset="-122"/>
                <a:ea typeface="微软雅黑" panose="020B0503020204020204" pitchFamily="34" charset="-122"/>
              </a:rPr>
              <a:t>、</a:t>
            </a:r>
            <a:r>
              <a:rPr lang="en-US" altLang="zh-CN" sz="2400" dirty="0">
                <a:solidFill>
                  <a:srgbClr val="003366"/>
                </a:solidFill>
                <a:latin typeface="微软雅黑" panose="020B0503020204020204" pitchFamily="34" charset="-122"/>
                <a:ea typeface="微软雅黑" panose="020B0503020204020204" pitchFamily="34" charset="-122"/>
              </a:rPr>
              <a:t>3.4</a:t>
            </a:r>
            <a:r>
              <a:rPr lang="zh-CN" altLang="en-US" sz="2400" dirty="0">
                <a:solidFill>
                  <a:srgbClr val="003366"/>
                </a:solidFill>
                <a:latin typeface="微软雅黑" panose="020B0503020204020204" pitchFamily="34" charset="-122"/>
                <a:ea typeface="微软雅黑" panose="020B0503020204020204" pitchFamily="34" charset="-122"/>
              </a:rPr>
              <a:t>、</a:t>
            </a:r>
            <a:r>
              <a:rPr lang="en-US" altLang="zh-CN" sz="2400" dirty="0">
                <a:solidFill>
                  <a:srgbClr val="003366"/>
                </a:solidFill>
                <a:latin typeface="微软雅黑" panose="020B0503020204020204" pitchFamily="34" charset="-122"/>
                <a:ea typeface="微软雅黑" panose="020B0503020204020204" pitchFamily="34" charset="-122"/>
              </a:rPr>
              <a:t>3.5</a:t>
            </a:r>
            <a:r>
              <a:rPr lang="zh-CN" altLang="en-US" sz="2400" dirty="0">
                <a:solidFill>
                  <a:srgbClr val="003366"/>
                </a:solidFill>
                <a:latin typeface="微软雅黑" panose="020B0503020204020204" pitchFamily="34" charset="-122"/>
                <a:ea typeface="微软雅黑" panose="020B0503020204020204" pitchFamily="34" charset="-122"/>
              </a:rPr>
              <a:t>、</a:t>
            </a:r>
            <a:endParaRPr lang="en-US" altLang="zh-CN" sz="2400" dirty="0">
              <a:solidFill>
                <a:srgbClr val="003366"/>
              </a:solidFill>
              <a:latin typeface="微软雅黑" panose="020B0503020204020204" pitchFamily="34" charset="-122"/>
              <a:ea typeface="微软雅黑" panose="020B0503020204020204" pitchFamily="34" charset="-122"/>
            </a:endParaRPr>
          </a:p>
          <a:p>
            <a:pPr marL="457200" lvl="1">
              <a:lnSpc>
                <a:spcPct val="120000"/>
              </a:lnSpc>
            </a:pPr>
            <a:r>
              <a:rPr lang="en-US" altLang="zh-CN" sz="2400" dirty="0">
                <a:solidFill>
                  <a:srgbClr val="003366"/>
                </a:solidFill>
                <a:latin typeface="微软雅黑" panose="020B0503020204020204" pitchFamily="34" charset="-122"/>
                <a:ea typeface="微软雅黑" panose="020B0503020204020204" pitchFamily="34" charset="-122"/>
              </a:rPr>
              <a:t>4.1</a:t>
            </a:r>
            <a:r>
              <a:rPr lang="zh-CN" altLang="en-US" sz="2400" dirty="0">
                <a:solidFill>
                  <a:srgbClr val="003366"/>
                </a:solidFill>
                <a:latin typeface="微软雅黑" panose="020B0503020204020204" pitchFamily="34" charset="-122"/>
                <a:ea typeface="微软雅黑" panose="020B0503020204020204" pitchFamily="34" charset="-122"/>
              </a:rPr>
              <a:t>、</a:t>
            </a:r>
            <a:r>
              <a:rPr lang="en-US" altLang="zh-CN" sz="2400" dirty="0">
                <a:solidFill>
                  <a:srgbClr val="003366"/>
                </a:solidFill>
                <a:latin typeface="微软雅黑" panose="020B0503020204020204" pitchFamily="34" charset="-122"/>
                <a:ea typeface="微软雅黑" panose="020B0503020204020204" pitchFamily="34" charset="-122"/>
              </a:rPr>
              <a:t>5.0</a:t>
            </a:r>
            <a:r>
              <a:rPr lang="zh-CN" altLang="en-US" sz="2400" dirty="0">
                <a:solidFill>
                  <a:srgbClr val="003366"/>
                </a:solidFill>
                <a:latin typeface="微软雅黑" panose="020B0503020204020204" pitchFamily="34" charset="-122"/>
                <a:ea typeface="微软雅黑" panose="020B0503020204020204" pitchFamily="34" charset="-122"/>
              </a:rPr>
              <a:t>、</a:t>
            </a:r>
            <a:r>
              <a:rPr lang="en-US" altLang="zh-CN" sz="2400" dirty="0">
                <a:solidFill>
                  <a:srgbClr val="003366"/>
                </a:solidFill>
                <a:latin typeface="微软雅黑" panose="020B0503020204020204" pitchFamily="34" charset="-122"/>
                <a:ea typeface="微软雅黑" panose="020B0503020204020204" pitchFamily="34" charset="-122"/>
              </a:rPr>
              <a:t>5.1</a:t>
            </a:r>
            <a:r>
              <a:rPr lang="zh-CN" altLang="en-US" sz="2400" dirty="0">
                <a:solidFill>
                  <a:srgbClr val="003366"/>
                </a:solidFill>
                <a:latin typeface="微软雅黑" panose="020B0503020204020204" pitchFamily="34" charset="-122"/>
                <a:ea typeface="微软雅黑" panose="020B0503020204020204" pitchFamily="34" charset="-122"/>
              </a:rPr>
              <a:t>。</a:t>
            </a:r>
            <a:endParaRPr lang="en-US" altLang="zh-CN" sz="2400" dirty="0">
              <a:solidFill>
                <a:srgbClr val="003366"/>
              </a:solidFill>
              <a:latin typeface="微软雅黑" panose="020B0503020204020204" pitchFamily="34" charset="-122"/>
              <a:ea typeface="微软雅黑" panose="020B0503020204020204" pitchFamily="34" charset="-122"/>
            </a:endParaRPr>
          </a:p>
          <a:p>
            <a:pPr marL="457200" lvl="1">
              <a:lnSpc>
                <a:spcPct val="120000"/>
              </a:lnSpc>
            </a:pPr>
            <a:r>
              <a:rPr lang="zh-CN" altLang="en-US" b="1" dirty="0">
                <a:solidFill>
                  <a:srgbClr val="003366"/>
                </a:solidFill>
                <a:latin typeface="微软雅黑" panose="020B0503020204020204" pitchFamily="34" charset="-122"/>
                <a:ea typeface="微软雅黑" panose="020B0503020204020204" pitchFamily="34" charset="-122"/>
              </a:rPr>
              <a:t>剩余规则不做强制要求。</a:t>
            </a:r>
            <a:endParaRPr lang="en-US" altLang="zh-CN" b="1" dirty="0">
              <a:solidFill>
                <a:srgbClr val="00336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500879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a15a9469-ee15-499b-b5b3-61796a49bb09"/>
  <p:tag name="COMMONDATA" val="eyJoZGlkIjoiNTA2M2FkNjU1MmQ3NWM5ZTEzMzgxNjY4ZjRmNzUzMjkifQ=="/>
  <p:tag name="RESOURCE_RECORD_KEY" val="{&quot;13&quot;:[4650186,4364900,19951219],&quot;70&quot;:[3314267]}"/>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551.1500000000001,&quot;left&quot;:26.4,&quot;top&quot;:71.45,&quot;width&quot;:905.4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Times New Roman"/>
        <a:ea typeface="宋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18013</TotalTime>
  <Words>6677</Words>
  <Application>Microsoft Macintosh PowerPoint</Application>
  <PresentationFormat>宽屏</PresentationFormat>
  <Paragraphs>719</Paragraphs>
  <Slides>25</Slides>
  <Notes>24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25</vt:i4>
      </vt:variant>
    </vt:vector>
  </HeadingPairs>
  <TitlesOfParts>
    <vt:vector size="33" baseType="lpstr">
      <vt:lpstr>等线</vt:lpstr>
      <vt:lpstr>黑体</vt:lpstr>
      <vt:lpstr>微软雅黑</vt:lpstr>
      <vt:lpstr>Arial</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Tongji</dc:title>
  <dc:creator>Tongji</dc:creator>
  <cp:lastModifiedBy>Zhen Gao</cp:lastModifiedBy>
  <cp:revision>507</cp:revision>
  <dcterms:created xsi:type="dcterms:W3CDTF">2025-01-31T02:10:00Z</dcterms:created>
  <dcterms:modified xsi:type="dcterms:W3CDTF">2026-04-29T03:35:04Z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94B39BF60ABD43C3BACBD483E12A7C98</vt:lpwstr>
  </property>
  <property fmtid="{D5CDD505-2E9C-101B-9397-08002B2CF9AE}" pid="3" name="KSOProductBuildVer">
    <vt:lpwstr>2052-12.1.0.19770</vt:lpwstr>
  </property>
</Properties>
</file>