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  <p:sldMasterId id="2147483672" r:id="rId6"/>
  </p:sldMasterIdLst>
  <p:notesMasterIdLst>
    <p:notesMasterId r:id="rId17"/>
  </p:notesMasterIdLst>
  <p:sldIdLst>
    <p:sldId id="256" r:id="rId7"/>
    <p:sldId id="397" r:id="rId8"/>
    <p:sldId id="696" r:id="rId9"/>
    <p:sldId id="699" r:id="rId10"/>
    <p:sldId id="698" r:id="rId11"/>
    <p:sldId id="697" r:id="rId12"/>
    <p:sldId id="700" r:id="rId13"/>
    <p:sldId id="701" r:id="rId14"/>
    <p:sldId id="702" r:id="rId15"/>
    <p:sldId id="63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27E"/>
    <a:srgbClr val="FD9E01"/>
    <a:srgbClr val="005CA2"/>
    <a:srgbClr val="DAE8FC"/>
    <a:srgbClr val="FFFFFF"/>
    <a:srgbClr val="FFFAA4"/>
    <a:srgbClr val="0E49B5"/>
    <a:srgbClr val="172C51"/>
    <a:srgbClr val="02A4EC"/>
    <a:srgbClr val="09DE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62" autoAdjust="0"/>
    <p:restoredTop sz="74056" autoAdjust="0"/>
  </p:normalViewPr>
  <p:slideViewPr>
    <p:cSldViewPr snapToGrid="0">
      <p:cViewPr varScale="1">
        <p:scale>
          <a:sx n="54" d="100"/>
          <a:sy n="54" d="100"/>
        </p:scale>
        <p:origin x="8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F742DD-816C-4114-8520-BD56706F227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112CA-49FA-4ADC-AC1B-1990E2AD9F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558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CE5C7-09BC-ABEA-5706-5817AC000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2BD9FC-8691-B3CA-7EFC-DFD2C065B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FBE665-1DB5-10F8-D256-5EDCC07AF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5CCB80-3E77-249D-EB2C-CBFCEE7C8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63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5821D-C5F4-D65E-BF78-0C5B02D42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BB33C9-923D-5123-8147-E8A2E77E5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B3D82A-DFEF-A7E3-E394-CBC7970B5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CAF2CD-2D64-9A28-77EE-ABF9B5DF48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490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3907C-5D3D-B522-6B5A-F4B52DDEE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D7A9F6-0C82-15CF-B83F-3CD34EEB7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F9C057-027B-D81D-9FB3-8C6664CF6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623584-79FC-3267-5881-EE2FE31E2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833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B7828-68B8-822B-8188-FFF998E20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BA8131-C474-DCCE-F6BE-FEDEB099A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3E2BDF-8343-0A8F-8037-3DB5CB78E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FEDE7E-CAFB-E458-FB3A-D93F2DA78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9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307CD-8E61-ED11-C8E9-0D850E56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F90838-E681-5954-0EFD-4204F5902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6C4895-7163-337E-9885-D494CBF4E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F37B8B-BBCF-AA39-9770-A76C1219F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0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DA665-300D-3EF7-3D76-63DDDE2F8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DACB50-5C1E-BFE7-AADE-6E15CCED8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241C0-85E2-350F-2125-191222889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B8FB67-7597-E530-C256-1ED521804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272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659E-B245-B33C-770A-337EB3353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0E718C-E2EB-3051-0CD2-B7A18ADAB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53F81A-1980-1010-DE4A-4443F1E29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106845-FFE5-BEAB-BF7F-FE02E420B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154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248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1515573"/>
            <a:ext cx="12192000" cy="38268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5182609" y="602182"/>
            <a:ext cx="1826782" cy="18267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5268952" y="688525"/>
            <a:ext cx="1654096" cy="1654096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846503"/>
            <a:ext cx="10515600" cy="1674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zh-CN" altLang="en-US" sz="4800" b="1" i="0" u="none" strike="noStrike" cap="none" spc="40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</a:lstStyle>
          <a:p>
            <a:pPr marL="0" marR="0" lvl="0" indent="0" algn="ctr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dirty="0"/>
              <a:t>单击此处编辑</a:t>
            </a:r>
            <a:br>
              <a:rPr lang="en-US" altLang="zh-CN" dirty="0"/>
            </a:br>
            <a:r>
              <a:rPr lang="zh-CN" altLang="en-US" dirty="0"/>
              <a:t>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 userDrawn="1"/>
        </p:nvSpPr>
        <p:spPr>
          <a:xfrm>
            <a:off x="417455" y="0"/>
            <a:ext cx="4011561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794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R" panose="00020600040101010101" pitchFamily="18" charset="-122"/>
              <a:ea typeface="阿里巴巴普惠体 R" panose="00020600040101010101" pitchFamily="18" charset="-122"/>
              <a:cs typeface="+mn-cs"/>
            </a:endParaRPr>
          </a:p>
        </p:txBody>
      </p:sp>
      <p:sp>
        <p:nvSpPr>
          <p:cNvPr id="3" name="圆角矩形 1"/>
          <p:cNvSpPr/>
          <p:nvPr userDrawn="1"/>
        </p:nvSpPr>
        <p:spPr>
          <a:xfrm>
            <a:off x="0" y="0"/>
            <a:ext cx="4215539" cy="6858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2794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R" panose="00020600040101010101" pitchFamily="18" charset="-122"/>
              <a:ea typeface="阿里巴巴普惠体 R" panose="00020600040101010101" pitchFamily="18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书馆, 场景, 房间, 室内&#10;&#10;已生成极高可信度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672"/>
                    </a14:imgEffect>
                    <a14:imgEffect>
                      <a14:saturation sat="16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66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5" name="矩形: 圆角 4"/>
          <p:cNvSpPr/>
          <p:nvPr userDrawn="1"/>
        </p:nvSpPr>
        <p:spPr>
          <a:xfrm>
            <a:off x="2133600" y="2494639"/>
            <a:ext cx="1143000" cy="1143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412988" y="2712196"/>
            <a:ext cx="2479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</a:rPr>
              <a:t>PART  </a:t>
            </a:r>
            <a:r>
              <a:rPr lang="en-US" altLang="zh-CN" sz="4000" b="1" dirty="0">
                <a:solidFill>
                  <a:schemeClr val="bg1"/>
                </a:solidFill>
                <a:latin typeface="+mj-lt"/>
                <a:ea typeface="阿里巴巴普惠体 B" panose="00020600040101010101" pitchFamily="18" charset="-122"/>
              </a:rPr>
              <a:t>02</a:t>
            </a:r>
            <a:endParaRPr lang="zh-CN" altLang="en-US" sz="4000" b="1" dirty="0">
              <a:solidFill>
                <a:schemeClr val="bg1"/>
              </a:solidFill>
              <a:latin typeface="阿里巴巴普惠体 B" panose="00020600040101010101" pitchFamily="18" charset="-122"/>
              <a:ea typeface="阿里巴巴普惠体 B" panose="00020600040101010101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096000" y="2700714"/>
            <a:ext cx="4292600" cy="652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</a:lstStyle>
          <a:p>
            <a:pPr marL="0" lvl="0"/>
            <a:r>
              <a:rPr lang="zh-CN" altLang="en-US" dirty="0"/>
              <a:t>编辑母版标题样式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书馆, 场景, 房间, 室内&#10;&#10;已生成极高可信度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672"/>
                    </a14:imgEffect>
                    <a14:imgEffect>
                      <a14:saturation sat="16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66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5" name="矩形: 圆角 4"/>
          <p:cNvSpPr/>
          <p:nvPr userDrawn="1"/>
        </p:nvSpPr>
        <p:spPr>
          <a:xfrm>
            <a:off x="2133600" y="2494639"/>
            <a:ext cx="1143000" cy="1143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412988" y="2712196"/>
            <a:ext cx="2479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</a:rPr>
              <a:t>PART  </a:t>
            </a:r>
            <a:r>
              <a:rPr lang="en-US" altLang="zh-CN" sz="4000" b="1" dirty="0">
                <a:solidFill>
                  <a:schemeClr val="bg1"/>
                </a:solidFill>
                <a:latin typeface="+mj-lt"/>
                <a:ea typeface="阿里巴巴普惠体 B" panose="00020600040101010101" pitchFamily="18" charset="-122"/>
              </a:rPr>
              <a:t>03</a:t>
            </a:r>
            <a:endParaRPr lang="zh-CN" altLang="en-US" sz="4000" b="1" dirty="0">
              <a:solidFill>
                <a:schemeClr val="bg1"/>
              </a:solidFill>
              <a:latin typeface="阿里巴巴普惠体 B" panose="00020600040101010101" pitchFamily="18" charset="-122"/>
              <a:ea typeface="阿里巴巴普惠体 B" panose="00020600040101010101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096000" y="2700714"/>
            <a:ext cx="4292600" cy="652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</a:lstStyle>
          <a:p>
            <a:pPr marL="0" lvl="0"/>
            <a:r>
              <a:rPr lang="zh-CN" altLang="en-US" dirty="0"/>
              <a:t>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书馆, 场景, 房间, 室内&#10;&#10;已生成极高可信度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672"/>
                    </a14:imgEffect>
                    <a14:imgEffect>
                      <a14:saturation sat="16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66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5" name="矩形: 圆角 4"/>
          <p:cNvSpPr/>
          <p:nvPr userDrawn="1"/>
        </p:nvSpPr>
        <p:spPr>
          <a:xfrm>
            <a:off x="2133600" y="2494639"/>
            <a:ext cx="1143000" cy="1143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412988" y="2712196"/>
            <a:ext cx="2479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</a:rPr>
              <a:t>PART  </a:t>
            </a:r>
            <a:r>
              <a:rPr lang="en-US" altLang="zh-CN" sz="4000" b="1" dirty="0">
                <a:solidFill>
                  <a:schemeClr val="bg1"/>
                </a:solidFill>
                <a:latin typeface="+mj-lt"/>
                <a:ea typeface="阿里巴巴普惠体 B" panose="00020600040101010101" pitchFamily="18" charset="-122"/>
              </a:rPr>
              <a:t>04</a:t>
            </a:r>
            <a:endParaRPr lang="zh-CN" altLang="en-US" sz="4000" b="1" dirty="0">
              <a:solidFill>
                <a:schemeClr val="bg1"/>
              </a:solidFill>
              <a:latin typeface="阿里巴巴普惠体 B" panose="00020600040101010101" pitchFamily="18" charset="-122"/>
              <a:ea typeface="阿里巴巴普惠体 B" panose="00020600040101010101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096000" y="2700714"/>
            <a:ext cx="4292600" cy="652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</a:lstStyle>
          <a:p>
            <a:pPr marL="0" lvl="0"/>
            <a:r>
              <a:rPr lang="zh-CN" altLang="en-US" dirty="0"/>
              <a:t>编辑母版标题样式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书馆, 场景, 房间, 室内&#10;&#10;已生成极高可信度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672"/>
                    </a14:imgEffect>
                    <a14:imgEffect>
                      <a14:saturation sat="16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66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5" name="矩形: 圆角 4"/>
          <p:cNvSpPr/>
          <p:nvPr userDrawn="1"/>
        </p:nvSpPr>
        <p:spPr>
          <a:xfrm>
            <a:off x="2133600" y="2494639"/>
            <a:ext cx="1143000" cy="1143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412988" y="2712196"/>
            <a:ext cx="2479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</a:rPr>
              <a:t>PART  </a:t>
            </a:r>
            <a:r>
              <a:rPr lang="en-US" altLang="zh-CN" sz="4000" b="1" dirty="0">
                <a:solidFill>
                  <a:schemeClr val="bg1"/>
                </a:solidFill>
                <a:latin typeface="+mj-lt"/>
                <a:ea typeface="阿里巴巴普惠体 B" panose="00020600040101010101" pitchFamily="18" charset="-122"/>
              </a:rPr>
              <a:t>05</a:t>
            </a:r>
            <a:endParaRPr lang="zh-CN" altLang="en-US" sz="4000" b="1" dirty="0">
              <a:solidFill>
                <a:schemeClr val="bg1"/>
              </a:solidFill>
              <a:latin typeface="阿里巴巴普惠体 B" panose="00020600040101010101" pitchFamily="18" charset="-122"/>
              <a:ea typeface="阿里巴巴普惠体 B" panose="00020600040101010101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096000" y="2700714"/>
            <a:ext cx="4292600" cy="652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</a:lstStyle>
          <a:p>
            <a:pPr marL="0" lvl="0"/>
            <a:r>
              <a:rPr lang="zh-CN" altLang="en-US" dirty="0"/>
              <a:t>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7913" y="357733"/>
            <a:ext cx="5685026" cy="4422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4727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8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30805-7512-46F2-82E6-AEB77E8322D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B8FBA-8770-4481-9839-DF8E9CCFFA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610437"/>
            <a:ext cx="12192000" cy="3780430"/>
          </a:xfrm>
          <a:prstGeom prst="rect">
            <a:avLst/>
          </a:prstGeom>
          <a:solidFill>
            <a:srgbClr val="0042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618129" y="2913875"/>
            <a:ext cx="695575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6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编译原理课程总结</a:t>
            </a:r>
          </a:p>
        </p:txBody>
      </p:sp>
      <p:sp>
        <p:nvSpPr>
          <p:cNvPr id="18" name="矩形 17"/>
          <p:cNvSpPr/>
          <p:nvPr/>
        </p:nvSpPr>
        <p:spPr>
          <a:xfrm>
            <a:off x="3870035" y="5773684"/>
            <a:ext cx="44796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同济大学    卫志华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zhihua_wei@tongji.edu.cn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226" y="935713"/>
            <a:ext cx="1332748" cy="1338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1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" name="内容占位符 5"/>
          <p:cNvSpPr txBox="1"/>
          <p:nvPr/>
        </p:nvSpPr>
        <p:spPr>
          <a:xfrm>
            <a:off x="1077913" y="357733"/>
            <a:ext cx="5685026" cy="4422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427E"/>
                </a:solidFill>
              </a:rPr>
              <a:t>第一章</a:t>
            </a:r>
          </a:p>
          <a:p>
            <a:endParaRPr lang="zh-CN" altLang="en-US" sz="2800" dirty="0">
              <a:solidFill>
                <a:srgbClr val="00427E"/>
              </a:solidFill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82C3C063-E27F-ACDA-1999-E125307AE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34" y="1433739"/>
            <a:ext cx="9916638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基本概念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编译程序与解释程序的区别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编译包括哪些阶段，每阶段的输入、输出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一遍扫描与多遍扫描的含义、执行过程的区别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都很重要！！！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8F1E9-0D00-5AB0-8533-1806BE50C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4C55BAA1-E4B3-2D4C-F427-AE6F520564AC}"/>
              </a:ext>
            </a:extLst>
          </p:cNvPr>
          <p:cNvGrpSpPr/>
          <p:nvPr/>
        </p:nvGrpSpPr>
        <p:grpSpPr>
          <a:xfrm>
            <a:off x="356797" y="31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577A389B-7EE5-E65D-6D5C-F36B907783D0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B2275FF7-950F-62D4-7149-B1C25844490D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FCFBDD98-C62C-6C2F-A4B3-8C52DC1F54A1}"/>
              </a:ext>
            </a:extLst>
          </p:cNvPr>
          <p:cNvSpPr txBox="1"/>
          <p:nvPr/>
        </p:nvSpPr>
        <p:spPr>
          <a:xfrm>
            <a:off x="1077913" y="357733"/>
            <a:ext cx="5685026" cy="4422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427E"/>
                </a:solidFill>
              </a:rPr>
              <a:t>第二、三章</a:t>
            </a:r>
          </a:p>
          <a:p>
            <a:endParaRPr lang="zh-CN" altLang="en-US" sz="2800" dirty="0">
              <a:solidFill>
                <a:srgbClr val="00427E"/>
              </a:solidFill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B7126A8A-4610-F3CA-EF31-94C40F7F3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34" y="1433739"/>
            <a:ext cx="10791908" cy="494331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文法的基本概念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文法的定义和分类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语言，句型，句子的概念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句型的推导、语法树与二义性：判定与证明二义性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正则表达式：文字描述向正则表达式的转化，正则表达式向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NFA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的转化相关概念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NFA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确定化为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DFA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DFA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最小化方法</a:t>
            </a:r>
          </a:p>
        </p:txBody>
      </p:sp>
    </p:spTree>
    <p:extLst>
      <p:ext uri="{BB962C8B-B14F-4D97-AF65-F5344CB8AC3E}">
        <p14:creationId xmlns:p14="http://schemas.microsoft.com/office/powerpoint/2010/main" val="673553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EEE75-C7E4-1AB1-FF4A-0D3B18765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2C6A60AE-2F8B-4DA5-220A-7EA13D928C10}"/>
              </a:ext>
            </a:extLst>
          </p:cNvPr>
          <p:cNvGrpSpPr/>
          <p:nvPr/>
        </p:nvGrpSpPr>
        <p:grpSpPr>
          <a:xfrm>
            <a:off x="356797" y="31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DE4AD0FE-D25A-9508-7850-651C85ACB470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562A6A38-BBAF-0664-756F-2E4E6FF9C7B8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D49A554D-D227-919C-E19A-4B92370712FF}"/>
              </a:ext>
            </a:extLst>
          </p:cNvPr>
          <p:cNvSpPr txBox="1"/>
          <p:nvPr/>
        </p:nvSpPr>
        <p:spPr>
          <a:xfrm>
            <a:off x="1077913" y="357733"/>
            <a:ext cx="5685026" cy="4422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427E"/>
                </a:solidFill>
              </a:rPr>
              <a:t>第四章</a:t>
            </a:r>
          </a:p>
          <a:p>
            <a:endParaRPr lang="zh-CN" altLang="en-US" sz="2800" dirty="0">
              <a:solidFill>
                <a:srgbClr val="00427E"/>
              </a:solidFill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00990F5-8D95-6D4E-626F-14AC014EF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34" y="1433739"/>
            <a:ext cx="9916638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LL(1)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和递归下降分析法是自上而下的分析方法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LL(1)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分析条件，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个条件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（分别采取怎样的处理才能满足这三个条件）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集和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FOLLOW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求预测分析表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熟悉分析过程中栈的变化和所使用的产生式</a:t>
            </a:r>
          </a:p>
        </p:txBody>
      </p:sp>
    </p:spTree>
    <p:extLst>
      <p:ext uri="{BB962C8B-B14F-4D97-AF65-F5344CB8AC3E}">
        <p14:creationId xmlns:p14="http://schemas.microsoft.com/office/powerpoint/2010/main" val="217215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F51DE-3ABB-97A6-58D6-8CDD06956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DE0BBBF0-43CE-4594-3D9B-3520DC309791}"/>
              </a:ext>
            </a:extLst>
          </p:cNvPr>
          <p:cNvGrpSpPr/>
          <p:nvPr/>
        </p:nvGrpSpPr>
        <p:grpSpPr>
          <a:xfrm>
            <a:off x="356797" y="31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EC79DD4C-3776-F26C-F04B-830CCC41BA8A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07EB4FE2-31B6-47D0-B825-351809715C19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105CDAAA-2350-EA8D-0ED5-6AF55F5E0692}"/>
              </a:ext>
            </a:extLst>
          </p:cNvPr>
          <p:cNvSpPr txBox="1"/>
          <p:nvPr/>
        </p:nvSpPr>
        <p:spPr>
          <a:xfrm>
            <a:off x="1077913" y="357733"/>
            <a:ext cx="5685026" cy="4422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427E"/>
                </a:solidFill>
              </a:rPr>
              <a:t>第五章</a:t>
            </a:r>
          </a:p>
          <a:p>
            <a:endParaRPr lang="zh-CN" altLang="en-US" sz="2800" dirty="0">
              <a:solidFill>
                <a:srgbClr val="00427E"/>
              </a:solidFill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B5F50761-65A4-6459-B78C-56B041B2D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34" y="1077481"/>
            <a:ext cx="9916638" cy="55845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LR(0)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和算符优先分析方法是自底向上的分析方法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概念：规范规约、短语、句柄、素短语、最左素短语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能够对给定的句型求出短语、句柄、素短语、最左素短语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熟悉算符优先文法及其分析方法的基本概念和过程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）文法的判定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）项目集规范族，识别活前缀的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）分析表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规约分析过程中栈的变化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LR(0), SLR, LR(1)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之间的关系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1465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03BE0-73A9-C6C1-0C38-68AB3A165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04844D68-C840-534C-62F9-3C70A6E0AE9E}"/>
              </a:ext>
            </a:extLst>
          </p:cNvPr>
          <p:cNvGrpSpPr/>
          <p:nvPr/>
        </p:nvGrpSpPr>
        <p:grpSpPr>
          <a:xfrm>
            <a:off x="356797" y="31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8D984DDC-C70A-DEB2-B541-B404E0C9214C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EDAA715C-7AF0-74B0-208A-1B19D9AD9419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22DF742D-B598-39CD-ECC7-146C43928277}"/>
              </a:ext>
            </a:extLst>
          </p:cNvPr>
          <p:cNvSpPr txBox="1"/>
          <p:nvPr/>
        </p:nvSpPr>
        <p:spPr>
          <a:xfrm>
            <a:off x="1077913" y="357733"/>
            <a:ext cx="5685026" cy="4422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427E"/>
                </a:solidFill>
              </a:rPr>
              <a:t>第六、七章</a:t>
            </a:r>
          </a:p>
          <a:p>
            <a:endParaRPr lang="zh-CN" altLang="en-US" sz="2800" dirty="0">
              <a:solidFill>
                <a:srgbClr val="00427E"/>
              </a:solidFill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B4A1AAE-EA39-6BC0-91DD-FBA24CE5F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34" y="1433738"/>
            <a:ext cx="10673154" cy="49314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基本概念：语法制导翻译、逆波兰表达式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能根据语义动作执行规约和相应的语义动作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中间代码生成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布尔表达式中间代码生成，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真假出口的标定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控制语句的中间代码生成，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回填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画出来树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务必注意细节！！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2884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E439E-6C8E-7DE0-6BE4-60821357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0CF8705D-33C6-F64A-374E-6D1DF7FD4C39}"/>
              </a:ext>
            </a:extLst>
          </p:cNvPr>
          <p:cNvGrpSpPr/>
          <p:nvPr/>
        </p:nvGrpSpPr>
        <p:grpSpPr>
          <a:xfrm>
            <a:off x="356797" y="31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7B718A2E-71C1-6700-299E-D1C908F5CA66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4FE3E610-ED25-7E42-5840-369EE4A9CD0E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020D146E-685B-EFB1-D304-AEB411857510}"/>
              </a:ext>
            </a:extLst>
          </p:cNvPr>
          <p:cNvSpPr txBox="1"/>
          <p:nvPr/>
        </p:nvSpPr>
        <p:spPr>
          <a:xfrm>
            <a:off x="1077913" y="357733"/>
            <a:ext cx="5685026" cy="4422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427E"/>
                </a:solidFill>
              </a:rPr>
              <a:t>第八、九章</a:t>
            </a:r>
          </a:p>
          <a:p>
            <a:endParaRPr lang="zh-CN" altLang="en-US" sz="2800" dirty="0">
              <a:solidFill>
                <a:srgbClr val="00427E"/>
              </a:solidFill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B33321BB-6AD9-7216-A867-452D37547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34" y="1433739"/>
            <a:ext cx="9916638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基本概念：符号表作用（贯穿整个编译过程，每个阶段的作用）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熟练掌握参数传递的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种方式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运行存储策略中动态链、静态链和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DISPLAY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表分别的作用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熟练掌握嵌套过程运行栈的构造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运行栈的内容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DISPLAY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表概念和构建方法</a:t>
            </a:r>
          </a:p>
        </p:txBody>
      </p:sp>
    </p:spTree>
    <p:extLst>
      <p:ext uri="{BB962C8B-B14F-4D97-AF65-F5344CB8AC3E}">
        <p14:creationId xmlns:p14="http://schemas.microsoft.com/office/powerpoint/2010/main" val="3028494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B4AE1-3564-9B9F-7430-DACEBB75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BEF7F769-1381-3BD7-CAAE-A2085F00D84B}"/>
              </a:ext>
            </a:extLst>
          </p:cNvPr>
          <p:cNvGrpSpPr/>
          <p:nvPr/>
        </p:nvGrpSpPr>
        <p:grpSpPr>
          <a:xfrm>
            <a:off x="356797" y="31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5135947B-E86E-A951-77C5-A659B0CB5757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C74C0D37-596C-324B-180C-6380FEBBD534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592BF81B-BD3C-6573-64E2-3D8EFCF60D1C}"/>
              </a:ext>
            </a:extLst>
          </p:cNvPr>
          <p:cNvSpPr txBox="1"/>
          <p:nvPr/>
        </p:nvSpPr>
        <p:spPr>
          <a:xfrm>
            <a:off x="1077913" y="357733"/>
            <a:ext cx="5685026" cy="4422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427E"/>
                </a:solidFill>
              </a:rPr>
              <a:t>第十章</a:t>
            </a:r>
          </a:p>
          <a:p>
            <a:endParaRPr lang="zh-CN" altLang="en-US" sz="2800" dirty="0">
              <a:solidFill>
                <a:srgbClr val="00427E"/>
              </a:solidFill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FDBB35F4-8F98-3DBB-0715-F7EE17FE7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33" y="1433739"/>
            <a:ext cx="10388147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划分基本块，程序流图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熟悉基本优化方法：局部优化和循环优化分别对应哪些优化方法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熟练掌握局部优化：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DAG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图优化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，能够写出优化后的四元式表示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熟练掌握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循环优化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：代码外提条件、强度削弱、删除基本归纳变量</a:t>
            </a:r>
          </a:p>
        </p:txBody>
      </p:sp>
    </p:spTree>
    <p:extLst>
      <p:ext uri="{BB962C8B-B14F-4D97-AF65-F5344CB8AC3E}">
        <p14:creationId xmlns:p14="http://schemas.microsoft.com/office/powerpoint/2010/main" val="3404647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A60EB-0B2D-3926-E640-A9779FE98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B961E088-B437-78AC-40D7-5B735B6F0725}"/>
              </a:ext>
            </a:extLst>
          </p:cNvPr>
          <p:cNvGrpSpPr/>
          <p:nvPr/>
        </p:nvGrpSpPr>
        <p:grpSpPr>
          <a:xfrm>
            <a:off x="356797" y="31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7DBD71AF-4A0A-EE50-B318-436365C6CBBC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ECBDC608-01FA-6A5C-2032-295599074668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CF7BCA7F-60D5-DD00-D1D4-61274436A196}"/>
              </a:ext>
            </a:extLst>
          </p:cNvPr>
          <p:cNvSpPr txBox="1"/>
          <p:nvPr/>
        </p:nvSpPr>
        <p:spPr>
          <a:xfrm>
            <a:off x="1077913" y="357733"/>
            <a:ext cx="5685026" cy="4422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427E"/>
                </a:solidFill>
              </a:rPr>
              <a:t>第十一章</a:t>
            </a:r>
          </a:p>
          <a:p>
            <a:endParaRPr lang="zh-CN" altLang="en-US" sz="2800" dirty="0">
              <a:solidFill>
                <a:srgbClr val="00427E"/>
              </a:solidFill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BE7283F-4B3E-838A-B5FC-FA75C9B51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33" y="1433739"/>
            <a:ext cx="10388147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目标代码生成的基本问题所涉及的基本概念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考虑寄存器分配的目标代码生成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待用与活跃信息表的构建</a:t>
            </a:r>
          </a:p>
        </p:txBody>
      </p:sp>
    </p:spTree>
    <p:extLst>
      <p:ext uri="{BB962C8B-B14F-4D97-AF65-F5344CB8AC3E}">
        <p14:creationId xmlns:p14="http://schemas.microsoft.com/office/powerpoint/2010/main" val="4128496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610437"/>
            <a:ext cx="12192000" cy="3780430"/>
          </a:xfrm>
          <a:prstGeom prst="rect">
            <a:avLst/>
          </a:prstGeom>
          <a:solidFill>
            <a:srgbClr val="0042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2807000"/>
            <a:ext cx="121721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72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祝大家期末考试顺利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226" y="935713"/>
            <a:ext cx="1332748" cy="133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630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5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005CA2"/>
      </a:accent1>
      <a:accent2>
        <a:srgbClr val="02A4EC"/>
      </a:accent2>
      <a:accent3>
        <a:srgbClr val="09DEE9"/>
      </a:accent3>
      <a:accent4>
        <a:srgbClr val="06DCA9"/>
      </a:accent4>
      <a:accent5>
        <a:srgbClr val="74DE95"/>
      </a:accent5>
      <a:accent6>
        <a:srgbClr val="EB9641"/>
      </a:accent6>
      <a:hlink>
        <a:srgbClr val="6B9F25"/>
      </a:hlink>
      <a:folHlink>
        <a:srgbClr val="9F6715"/>
      </a:folHlink>
    </a:clrScheme>
    <a:fontScheme name="自定义 1">
      <a:majorFont>
        <a:latin typeface="Segoe UI Light"/>
        <a:ea typeface="微软雅黑"/>
        <a:cs typeface=""/>
      </a:majorFont>
      <a:minorFont>
        <a:latin typeface="Segoe UI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6CF4D12F6D274388BA24624B09F71E" ma:contentTypeVersion="14" ma:contentTypeDescription="Create a new document." ma:contentTypeScope="" ma:versionID="a92876c77cfcbbe12ab191a9623f82f6">
  <xsd:schema xmlns:xsd="http://www.w3.org/2001/XMLSchema" xmlns:xs="http://www.w3.org/2001/XMLSchema" xmlns:p="http://schemas.microsoft.com/office/2006/metadata/properties" xmlns:ns3="3469d720-5ab8-4f6d-9e21-4825a85e22e0" targetNamespace="http://schemas.microsoft.com/office/2006/metadata/properties" ma:root="true" ma:fieldsID="3cb57053222f5d0c2304182915b5c594" ns3:_="">
    <xsd:import namespace="3469d720-5ab8-4f6d-9e21-4825a85e22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69d720-5ab8-4f6d-9e21-4825a85e22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E6F540-1808-45CF-AAC8-56B32EB153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C2065C-10D2-4E0F-9EA0-B4F02D97E9AB}">
  <ds:schemaRefs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3469d720-5ab8-4f6d-9e21-4825a85e22e0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EE73592-5B0A-40BB-934E-CB58F3BEA3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69d720-5ab8-4f6d-9e21-4825a85e22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5231</TotalTime>
  <Words>504</Words>
  <Application>Microsoft Office PowerPoint</Application>
  <PresentationFormat>宽屏</PresentationFormat>
  <Paragraphs>77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阿里巴巴普惠体 B</vt:lpstr>
      <vt:lpstr>阿里巴巴普惠体 R</vt:lpstr>
      <vt:lpstr>等线</vt:lpstr>
      <vt:lpstr>等线 Light</vt:lpstr>
      <vt:lpstr>思源黑体 CN Medium</vt:lpstr>
      <vt:lpstr>思源黑体 CN Normal</vt:lpstr>
      <vt:lpstr>微软雅黑</vt:lpstr>
      <vt:lpstr>Arial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www.51pptmoban.com</Manager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西南大学 论文答辩</dc:title>
  <dc:creator>小春</dc:creator>
  <cp:keywords>51PPT模板网</cp:keywords>
  <dc:description>www.51pptmoban.com</dc:description>
  <cp:lastModifiedBy>Zhihua Wei</cp:lastModifiedBy>
  <cp:revision>985</cp:revision>
  <dcterms:created xsi:type="dcterms:W3CDTF">2021-05-21T08:13:00Z</dcterms:created>
  <dcterms:modified xsi:type="dcterms:W3CDTF">2026-06-10T15:25:02Z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B175D9BCCE16487A8137978DDF27CB38</vt:lpwstr>
  </property>
  <property fmtid="{D5CDD505-2E9C-101B-9397-08002B2CF9AE}" pid="3" name="KSOProductBuildVer">
    <vt:lpwstr>2052-11.1.0.11115</vt:lpwstr>
  </property>
  <property fmtid="{D5CDD505-2E9C-101B-9397-08002B2CF9AE}" pid="4" name="ContentTypeId">
    <vt:lpwstr>0x010100B46CF4D12F6D274388BA24624B09F71E</vt:lpwstr>
  </property>
</Properties>
</file>